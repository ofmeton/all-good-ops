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-365760"/>
            <a:ext cx="4389120" cy="4389120"/>
          </a:xfrm>
          <a:prstGeom prst="ellipse">
            <a:avLst/>
          </a:prstGeom>
          <a:solidFill>
            <a:srgbClr val="D8F0F7"/>
          </a:solidFill>
          <a:ln w="9525">
            <a:solidFill>
              <a:srgbClr val="D8F0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640080" y="4663440"/>
            <a:ext cx="3840480" cy="3840480"/>
          </a:xfrm>
          <a:prstGeom prst="ellipse">
            <a:avLst/>
          </a:prstGeom>
          <a:solidFill>
            <a:srgbClr val="FFF3E6"/>
          </a:solidFill>
          <a:ln w="9525">
            <a:solidFill>
              <a:srgbClr val="FFF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1792" y="530352"/>
            <a:ext cx="164592" cy="4800600"/>
          </a:xfrm>
          <a:prstGeom prst="roundRect">
            <a:avLst>
              <a:gd name="adj" fmla="val 6000"/>
            </a:avLst>
          </a:prstGeom>
          <a:solidFill>
            <a:srgbClr val="2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987552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0F2A4F"/>
                </a:solidFill>
                <a:latin typeface="Hiragino Sans"/>
                <a:ea typeface="Hiragino Sans"/>
                <a:cs typeface="Hiragino Sans"/>
              </a:rPr>
              <a:t>高校、こんなところがあるよ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054096"/>
            <a:ext cx="85953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E6575"/>
                </a:solidFill>
                <a:latin typeface="Hiragino Sans"/>
                <a:ea typeface="Hiragino Sans"/>
                <a:cs typeface="Hiragino Sans"/>
              </a:rPr>
              <a:t>写真でゆっくり眺める、湘南エリアの高校紹介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968496"/>
            <a:ext cx="7772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A80"/>
                </a:solidFill>
                <a:latin typeface="Hiragino Sans"/>
                <a:ea typeface="Hiragino Sans"/>
                <a:cs typeface="Hiragino Sans"/>
              </a:rPr>
              <a:t>七里ヶ浜高校 / 鎌倉高校 / 大船高校 / 柏陽高校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" y="4754880"/>
            <a:ext cx="2743200" cy="54864"/>
          </a:xfrm>
          <a:prstGeom prst="roundRect">
            <a:avLst>
              <a:gd name="adj" fmla="val 6000"/>
            </a:avLst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96A8"/>
                </a:solidFill>
                <a:latin typeface="Hiragino Sans"/>
                <a:ea typeface="Hiragino Sans"/>
                <a:cs typeface="Hiragino Sans"/>
              </a:rPr>
              <a:t>家庭教師つかさ本人向け 私的教材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iki_campus_hero.jpg"/>
          <p:cNvPicPr>
            <a:picLocks noChangeAspect="1"/>
          </p:cNvPicPr>
          <p:nvPr/>
        </p:nvPicPr>
        <p:blipFill>
          <a:blip r:embed="rId2"/>
          <a:srcRect t="7825" b="78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892040"/>
            <a:ext cx="12191695" cy="1965960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56632"/>
            <a:ext cx="12191695" cy="1801368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221224"/>
            <a:ext cx="12191695" cy="1636776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385816"/>
            <a:ext cx="12191695" cy="1472184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285232"/>
            <a:ext cx="108813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七里ヶ浜高校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071616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8F0F7"/>
                </a:solidFill>
                <a:latin typeface="Hiragino Sans"/>
                <a:ea typeface="Hiragino Sans"/>
                <a:cs typeface="Hiragino Sans"/>
              </a:rPr>
              <a:t>海と江の島が見える、坂の上の学校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0624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2A4F"/>
                </a:solidFill>
                <a:latin typeface="Hiragino Sans"/>
                <a:ea typeface="Hiragino Sans"/>
                <a:cs typeface="Hiragino Sans"/>
              </a:rPr>
              <a:t>七里ヶ浜高校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877824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80"/>
                </a:solidFill>
                <a:latin typeface="Hiragino Sans"/>
                <a:ea typeface="Hiragino Sans"/>
                <a:cs typeface="Hiragino Sans"/>
              </a:rPr>
              <a:t>写真と一緒に見る、学校の空気</a:t>
            </a:r>
          </a:p>
        </p:txBody>
      </p:sp>
      <p:sp>
        <p:nvSpPr>
          <p:cNvPr id="6" name="Oval 5"/>
          <p:cNvSpPr/>
          <p:nvPr/>
        </p:nvSpPr>
        <p:spPr>
          <a:xfrm>
            <a:off x="658368" y="1691640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1572768"/>
            <a:ext cx="5806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教室から相模湾と江の島が一望できる、海沿いの立地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606040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487168"/>
            <a:ext cx="5806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校訓は「自学自習・自主自律」。自分で考えて動く自由な空気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20440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401568"/>
            <a:ext cx="58064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文化祭「七高祭」・体育祭「七里ンピック」は生徒が主役。野外ステージで盛り上がる行事も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709160"/>
            <a:ext cx="62179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882896"/>
            <a:ext cx="5669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6575"/>
                </a:solidFill>
                <a:latin typeface="Hiragino Sans"/>
                <a:ea typeface="Hiragino Sans"/>
                <a:cs typeface="Hiragino Sans"/>
              </a:rPr>
              <a:t>江ノ電「七里ヶ浜」駅から徒歩すぐ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389888"/>
            <a:ext cx="4224528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ichirinpic_card.jpg"/>
          <p:cNvPicPr>
            <a:picLocks noChangeAspect="1"/>
          </p:cNvPicPr>
          <p:nvPr/>
        </p:nvPicPr>
        <p:blipFill>
          <a:blip r:embed="rId2"/>
          <a:srcRect l="8580" r="8580"/>
          <a:stretch>
            <a:fillRect/>
          </a:stretch>
        </p:blipFill>
        <p:spPr>
          <a:xfrm>
            <a:off x="7434072" y="1463040"/>
            <a:ext cx="4078224" cy="234086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34072" y="1463040"/>
            <a:ext cx="4078224" cy="2340864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34072" y="3474720"/>
            <a:ext cx="4078224" cy="329184"/>
          </a:xfrm>
          <a:prstGeom prst="roundRect">
            <a:avLst>
              <a:gd name="adj" fmla="val 6000"/>
            </a:avLst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2088" y="3529584"/>
            <a:ext cx="38221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体育祭（七里ンピック）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236208"/>
            <a:ext cx="9875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8A96A8"/>
                </a:solidFill>
                <a:latin typeface="Hiragino Sans"/>
                <a:ea typeface="Hiragino Sans"/>
                <a:cs typeface="Hiragino Sans"/>
              </a:rPr>
              <a:t>出典: 神奈川県立七里ヶ浜高等学校 公式サイト / Wikimedia Commons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iki_campus_hero.jp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892040"/>
            <a:ext cx="12191695" cy="1965960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56632"/>
            <a:ext cx="12191695" cy="1801368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221224"/>
            <a:ext cx="12191695" cy="1636776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385816"/>
            <a:ext cx="12191695" cy="1472184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285232"/>
            <a:ext cx="108813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鎌倉高校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071616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8F0F7"/>
                </a:solidFill>
                <a:latin typeface="Hiragino Sans"/>
                <a:ea typeface="Hiragino Sans"/>
                <a:cs typeface="Hiragino Sans"/>
              </a:rPr>
              <a:t>「青春日本一」を名乗る、自由な学校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0624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2A4F"/>
                </a:solidFill>
                <a:latin typeface="Hiragino Sans"/>
                <a:ea typeface="Hiragino Sans"/>
                <a:cs typeface="Hiragino Sans"/>
              </a:rPr>
              <a:t>鎌倉高校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877824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80"/>
                </a:solidFill>
                <a:latin typeface="Hiragino Sans"/>
                <a:ea typeface="Hiragino Sans"/>
                <a:cs typeface="Hiragino Sans"/>
              </a:rPr>
              <a:t>写真と一緒に見る、学校の空気</a:t>
            </a:r>
          </a:p>
        </p:txBody>
      </p:sp>
      <p:sp>
        <p:nvSpPr>
          <p:cNvPr id="6" name="Oval 5"/>
          <p:cNvSpPr/>
          <p:nvPr/>
        </p:nvSpPr>
        <p:spPr>
          <a:xfrm>
            <a:off x="658368" y="1600200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1481328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江ノ電沿線。晴れた日は校内から富士山が見える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542032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423160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「自主自律」を大事に、生徒主体でいろいろ動く校風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483864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364992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ダンス部「カマダン」が名物。部活も行事もエネルギッシュ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709160"/>
            <a:ext cx="62179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882896"/>
            <a:ext cx="5669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6575"/>
                </a:solidFill>
                <a:latin typeface="Hiragino Sans"/>
                <a:ea typeface="Hiragino Sans"/>
                <a:cs typeface="Hiragino Sans"/>
              </a:rPr>
              <a:t>七里ヶ浜と同じ江ノ電沿線エリア（鎌倉・大船から）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335024"/>
            <a:ext cx="4224528" cy="25786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iki_campus_hero.jpg"/>
          <p:cNvPicPr>
            <a:picLocks noChangeAspect="1"/>
          </p:cNvPicPr>
          <p:nvPr/>
        </p:nvPicPr>
        <p:blipFill>
          <a:blip r:embed="rId2"/>
          <a:srcRect t="10239" b="10239"/>
          <a:stretch>
            <a:fillRect/>
          </a:stretch>
        </p:blipFill>
        <p:spPr>
          <a:xfrm>
            <a:off x="7434072" y="1408176"/>
            <a:ext cx="4078224" cy="243230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34072" y="1408176"/>
            <a:ext cx="4078224" cy="2432304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34072" y="3511296"/>
            <a:ext cx="4078224" cy="329184"/>
          </a:xfrm>
          <a:prstGeom prst="roundRect">
            <a:avLst>
              <a:gd name="adj" fmla="val 6000"/>
            </a:avLst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2088" y="3566160"/>
            <a:ext cx="38221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校舎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236208"/>
            <a:ext cx="9875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8A96A8"/>
                </a:solidFill>
                <a:latin typeface="Hiragino Sans"/>
                <a:ea typeface="Hiragino Sans"/>
                <a:cs typeface="Hiragino Sans"/>
              </a:rPr>
              <a:t>出典: 神奈川県立鎌倉高等学校 公式サイト / Wikimedia Commons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iki_campus_hero.jp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892040"/>
            <a:ext cx="12191695" cy="1965960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56632"/>
            <a:ext cx="12191695" cy="1801368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221224"/>
            <a:ext cx="12191695" cy="1636776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385816"/>
            <a:ext cx="12191695" cy="1472184"/>
          </a:xfrm>
          <a:prstGeom prst="rect">
            <a:avLst/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285232"/>
            <a:ext cx="108813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大船高校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071616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8F0F7"/>
                </a:solidFill>
                <a:latin typeface="Hiragino Sans"/>
                <a:ea typeface="Hiragino Sans"/>
                <a:cs typeface="Hiragino Sans"/>
              </a:rPr>
              <a:t>駅から近くて、行事が盛り上がる学校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0624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2A4F"/>
                </a:solidFill>
                <a:latin typeface="Hiragino Sans"/>
                <a:ea typeface="Hiragino Sans"/>
                <a:cs typeface="Hiragino Sans"/>
              </a:rPr>
              <a:t>大船高校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877824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80"/>
                </a:solidFill>
                <a:latin typeface="Hiragino Sans"/>
                <a:ea typeface="Hiragino Sans"/>
                <a:cs typeface="Hiragino Sans"/>
              </a:rPr>
              <a:t>写真と一緒に見る、学校の空気</a:t>
            </a:r>
          </a:p>
        </p:txBody>
      </p:sp>
      <p:sp>
        <p:nvSpPr>
          <p:cNvPr id="6" name="Oval 5"/>
          <p:cNvSpPr/>
          <p:nvPr/>
        </p:nvSpPr>
        <p:spPr>
          <a:xfrm>
            <a:off x="658368" y="1600200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1481328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大船駅から徒歩。藤沢・鎌倉どちらからも通いやすい近さ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542032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423160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自習室・図書館など施設が充実、落ち着いて過ごせる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483864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364992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文化祭「白帆祭」・体育祭「六国祭」は応援団やチアまで本気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709160"/>
            <a:ext cx="62179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882896"/>
            <a:ext cx="5669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6575"/>
                </a:solidFill>
                <a:latin typeface="Hiragino Sans"/>
                <a:ea typeface="Hiragino Sans"/>
                <a:cs typeface="Hiragino Sans"/>
              </a:rPr>
              <a:t>大船駅から徒歩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335024"/>
            <a:ext cx="4224528" cy="25786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iki_campus_hero.jpg"/>
          <p:cNvPicPr>
            <a:picLocks noChangeAspect="1"/>
          </p:cNvPicPr>
          <p:nvPr/>
        </p:nvPicPr>
        <p:blipFill>
          <a:blip r:embed="rId2"/>
          <a:srcRect t="10239" b="10239"/>
          <a:stretch>
            <a:fillRect/>
          </a:stretch>
        </p:blipFill>
        <p:spPr>
          <a:xfrm>
            <a:off x="7434072" y="1408176"/>
            <a:ext cx="4078224" cy="243230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34072" y="1408176"/>
            <a:ext cx="4078224" cy="2432304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34072" y="3511296"/>
            <a:ext cx="4078224" cy="329184"/>
          </a:xfrm>
          <a:prstGeom prst="roundRect">
            <a:avLst>
              <a:gd name="adj" fmla="val 6000"/>
            </a:avLst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2088" y="3566160"/>
            <a:ext cx="38221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校舎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236208"/>
            <a:ext cx="9875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8A96A8"/>
                </a:solidFill>
                <a:latin typeface="Hiragino Sans"/>
                <a:ea typeface="Hiragino Sans"/>
                <a:cs typeface="Hiragino Sans"/>
              </a:rPr>
              <a:t>出典: 神奈川県立大船高等学校 公式サイト / Wikimedia Commons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ki_campus_hero.jpg"/>
          <p:cNvPicPr>
            <a:picLocks noChangeAspect="1"/>
          </p:cNvPicPr>
          <p:nvPr/>
        </p:nvPicPr>
        <p:blipFill>
          <a:blip r:embed="rId2"/>
          <a:srcRect t="24173" b="24173"/>
          <a:stretch>
            <a:fillRect/>
          </a:stretch>
        </p:blipFill>
        <p:spPr>
          <a:xfrm>
            <a:off x="676656" y="411480"/>
            <a:ext cx="10835640" cy="41605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76656" y="411480"/>
            <a:ext cx="10835640" cy="416052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443984"/>
            <a:ext cx="12191695" cy="2414016"/>
          </a:xfrm>
          <a:prstGeom prst="rect">
            <a:avLst/>
          </a:prstGeom>
          <a:solidFill>
            <a:srgbClr val="0F2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443984"/>
            <a:ext cx="12191695" cy="73152"/>
          </a:xfrm>
          <a:prstGeom prst="rect">
            <a:avLst/>
          </a:prstGeom>
          <a:solidFill>
            <a:srgbClr val="2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4882896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柏陽高校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41848"/>
            <a:ext cx="101498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D8F0F7"/>
                </a:solidFill>
                <a:latin typeface="Hiragino Sans"/>
                <a:ea typeface="Hiragino Sans"/>
                <a:cs typeface="Hiragino Sans"/>
              </a:rPr>
              <a:t>自分でテーマを決めて、とことん掘る学校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420624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F2A4F"/>
                </a:solidFill>
                <a:latin typeface="Hiragino Sans"/>
                <a:ea typeface="Hiragino Sans"/>
                <a:cs typeface="Hiragino Sans"/>
              </a:rPr>
              <a:t>柏陽高校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877824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80"/>
                </a:solidFill>
                <a:latin typeface="Hiragino Sans"/>
                <a:ea typeface="Hiragino Sans"/>
                <a:cs typeface="Hiragino Sans"/>
              </a:rPr>
              <a:t>写真と一緒に見る、学校の空気</a:t>
            </a:r>
          </a:p>
        </p:txBody>
      </p:sp>
      <p:sp>
        <p:nvSpPr>
          <p:cNvPr id="6" name="Oval 5"/>
          <p:cNvSpPr/>
          <p:nvPr/>
        </p:nvSpPr>
        <p:spPr>
          <a:xfrm>
            <a:off x="658368" y="1600200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1481328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校訓は「己を拓く」。校則はゆるめで、自主性を大事にする自由な空気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542032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423160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理科の研究が特色（SSH）。「柏陽の知」で一年かけて自分のテーマを研究できる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483864"/>
            <a:ext cx="182880" cy="182880"/>
          </a:xfrm>
          <a:prstGeom prst="ellipse">
            <a:avLst/>
          </a:prstGeom>
          <a:solidFill>
            <a:srgbClr val="2E8FA3"/>
          </a:solidFill>
          <a:ln w="9525">
            <a:solidFill>
              <a:srgbClr val="2E8F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364992"/>
            <a:ext cx="58064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1A"/>
                </a:solidFill>
                <a:latin typeface="Hiragino Sans"/>
                <a:ea typeface="Hiragino Sans"/>
                <a:cs typeface="Hiragino Sans"/>
              </a:rPr>
              <a:t>横浜・栄区、本郷台駅エリア（大船から根岸線で行ける）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709160"/>
            <a:ext cx="62179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882896"/>
            <a:ext cx="5669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6575"/>
                </a:solidFill>
                <a:latin typeface="Hiragino Sans"/>
                <a:ea typeface="Hiragino Sans"/>
                <a:cs typeface="Hiragino Sans"/>
              </a:rPr>
              <a:t>JR根岸線「本郷台」駅から（大船から一本）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335024"/>
            <a:ext cx="4224528" cy="25786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D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iki_campus_hero.jpg"/>
          <p:cNvPicPr>
            <a:picLocks noChangeAspect="1"/>
          </p:cNvPicPr>
          <p:nvPr/>
        </p:nvPicPr>
        <p:blipFill>
          <a:blip r:embed="rId2"/>
          <a:srcRect t="9883" b="9883"/>
          <a:stretch>
            <a:fillRect/>
          </a:stretch>
        </p:blipFill>
        <p:spPr>
          <a:xfrm>
            <a:off x="7434072" y="1408176"/>
            <a:ext cx="4078224" cy="243230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434072" y="1408176"/>
            <a:ext cx="4078224" cy="2432304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34072" y="3511296"/>
            <a:ext cx="4078224" cy="329184"/>
          </a:xfrm>
          <a:prstGeom prst="roundRect">
            <a:avLst>
              <a:gd name="adj" fmla="val 6000"/>
            </a:avLst>
          </a:prstGeom>
          <a:solidFill>
            <a:srgbClr val="0A16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2088" y="3566160"/>
            <a:ext cx="38221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校舎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236208"/>
            <a:ext cx="9875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8A96A8"/>
                </a:solidFill>
                <a:latin typeface="Hiragino Sans"/>
                <a:ea typeface="Hiragino Sans"/>
                <a:cs typeface="Hiragino Sans"/>
              </a:rPr>
              <a:t>出典: 神奈川県立柏陽高等学校 公式サイト / Wikimedia Commons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