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-365760"/>
            <a:ext cx="4389120" cy="4389120"/>
          </a:xfrm>
          <a:prstGeom prst="ellipse">
            <a:avLst/>
          </a:prstGeom>
          <a:solidFill>
            <a:srgbClr val="D8F0F7"/>
          </a:solidFill>
          <a:ln w="9525">
            <a:solidFill>
              <a:srgbClr val="D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663440"/>
            <a:ext cx="3840480" cy="3840480"/>
          </a:xfrm>
          <a:prstGeom prst="ellipse">
            <a:avLst/>
          </a:prstGeom>
          <a:solidFill>
            <a:srgbClr val="FFF3E6"/>
          </a:solidFill>
          <a:ln w="9525">
            <a:solidFill>
              <a:srgbClr val="FF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530352"/>
            <a:ext cx="164592" cy="4800600"/>
          </a:xfrm>
          <a:prstGeom prst="roundRect">
            <a:avLst>
              <a:gd name="adj" fmla="val 6000"/>
            </a:avLst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987552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高校、こんなところがあるよ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054096"/>
            <a:ext cx="8595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写真でゆっくり眺める、湘南エリアの高校紹介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68496"/>
            <a:ext cx="7772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七里ヶ浜高校 / 鎌倉高校 / 大船高校 / 柏陽高校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4754880"/>
            <a:ext cx="2743200" cy="54864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家庭教師つかさ本人向け 私的教材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ki_beach_hero.jpg"/>
          <p:cNvPicPr>
            <a:picLocks noChangeAspect="1"/>
          </p:cNvPicPr>
          <p:nvPr/>
        </p:nvPicPr>
        <p:blipFill>
          <a:blip r:embed="rId2"/>
          <a:srcRect t="7982" b="798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6632"/>
            <a:ext cx="12191695" cy="1801368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21224"/>
            <a:ext cx="12191695" cy="1636776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85816"/>
            <a:ext cx="12191695" cy="1472184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七里ヶ浜高校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7161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8F0F7"/>
                </a:solidFill>
                <a:latin typeface="Hiragino Sans"/>
                <a:ea typeface="Hiragino Sans"/>
                <a:cs typeface="Hiragino Sans"/>
              </a:rPr>
              <a:t>教室の窓の外が、海。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七里ヶ浜高校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7782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写真と一緒に見る、学校の空気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34564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ki_campus_hero.jpg"/>
          <p:cNvPicPr>
            <a:picLocks noChangeAspect="1"/>
          </p:cNvPicPr>
          <p:nvPr/>
        </p:nvPicPr>
        <p:blipFill>
          <a:blip r:embed="rId2"/>
          <a:srcRect t="20589" b="20589"/>
          <a:stretch>
            <a:fillRect/>
          </a:stretch>
        </p:blipFill>
        <p:spPr>
          <a:xfrm>
            <a:off x="731520" y="1243584"/>
            <a:ext cx="3310128" cy="12984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243584"/>
            <a:ext cx="3310128" cy="129844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3310128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30540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校舎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170432"/>
            <a:ext cx="34564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iki_enoden_card.jpg"/>
          <p:cNvPicPr>
            <a:picLocks noChangeAspect="1"/>
          </p:cNvPicPr>
          <p:nvPr/>
        </p:nvPicPr>
        <p:blipFill>
          <a:blip r:embed="rId3"/>
          <a:srcRect l="34" r="34"/>
          <a:stretch>
            <a:fillRect/>
          </a:stretch>
        </p:blipFill>
        <p:spPr>
          <a:xfrm>
            <a:off x="4407408" y="1243584"/>
            <a:ext cx="3310128" cy="12984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407408" y="1243584"/>
            <a:ext cx="3310128" cy="129844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8" y="2212848"/>
            <a:ext cx="3310128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267712"/>
            <a:ext cx="30540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江ノ電で通学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170432"/>
            <a:ext cx="34564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chirinpic_card.jpg"/>
          <p:cNvPicPr>
            <a:picLocks noChangeAspect="1"/>
          </p:cNvPicPr>
          <p:nvPr/>
        </p:nvPicPr>
        <p:blipFill>
          <a:blip r:embed="rId4"/>
          <a:srcRect t="8751" b="8751"/>
          <a:stretch>
            <a:fillRect/>
          </a:stretch>
        </p:blipFill>
        <p:spPr>
          <a:xfrm>
            <a:off x="8083296" y="1243584"/>
            <a:ext cx="3310128" cy="129844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83296" y="1243584"/>
            <a:ext cx="3310128" cy="129844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6" y="2212848"/>
            <a:ext cx="3310128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267712"/>
            <a:ext cx="30540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体育祭（七里ンピック）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926080"/>
            <a:ext cx="1086307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3099816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008376"/>
            <a:ext cx="9966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教室や校庭から相模湾と江の島を一望。晴れた日は遠くに伊豆大島も見える、海沿いの坂の上の学校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29584"/>
            <a:ext cx="1086307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3703320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3611880"/>
            <a:ext cx="9966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体育祭「七里ンピック」はペアダンスが名物。海風の中、全校が一体になって盛り上がる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133087"/>
            <a:ext cx="1086307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4306823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215383"/>
            <a:ext cx="9966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校訓は「自学自習・自主自律」。自分で考えて動く、のびのびした自由な空気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36592"/>
            <a:ext cx="1086307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6112" y="4910328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4818888"/>
            <a:ext cx="9966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江ノ電の駅から徒歩すぐ、目の前は七里ヶ浜の海岸。通学路がもう湘南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6217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687568"/>
            <a:ext cx="5669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江ノ電「七里ヶ浜」駅から徒歩すぐ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神奈川県立七里ヶ浜高等学校 公式サイト / Wikimedia Commons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ki_fumikiri_hero.jpg"/>
          <p:cNvPicPr>
            <a:picLocks noChangeAspect="1"/>
          </p:cNvPicPr>
          <p:nvPr/>
        </p:nvPicPr>
        <p:blipFill>
          <a:blip r:embed="rId2"/>
          <a:srcRect l="14001" r="140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6632"/>
            <a:ext cx="12191695" cy="1801368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21224"/>
            <a:ext cx="12191695" cy="1636776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85816"/>
            <a:ext cx="12191695" cy="1472184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鎌倉高校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7161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8F0F7"/>
                </a:solidFill>
                <a:latin typeface="Hiragino Sans"/>
                <a:ea typeface="Hiragino Sans"/>
                <a:cs typeface="Hiragino Sans"/>
              </a:rPr>
              <a:t>江ノ電の踏切の、すぐそば。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鎌倉高校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7782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写真と一緒に見る、学校の空気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73152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ki_campus_hero.jpg"/>
          <p:cNvPicPr>
            <a:picLocks noChangeAspect="1"/>
          </p:cNvPicPr>
          <p:nvPr/>
        </p:nvPicPr>
        <p:blipFill>
          <a:blip r:embed="rId2"/>
          <a:srcRect t="34184" b="34184"/>
          <a:stretch>
            <a:fillRect/>
          </a:stretch>
        </p:blipFill>
        <p:spPr>
          <a:xfrm>
            <a:off x="731520" y="1243584"/>
            <a:ext cx="7168896" cy="17007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243584"/>
            <a:ext cx="7168896" cy="1700784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15184"/>
            <a:ext cx="7168896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70048"/>
            <a:ext cx="69128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校舎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82112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3383280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255264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江ノ電「鎌倉高校前」駅の踏切は、海と江の島が広がる超有名スポット（アニメの聖地で観光客も訪れる）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67328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968496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40480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晴れた日は校内から富士山が見える、海沿いの高台に建つ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52544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4553712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425696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ダンス部「カマダン」や弓道部など部活が活発。行事も生徒主体でにぎやか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37760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5138928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010912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校訓は「自主自律」。明るくのびのびした自由な校風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32704"/>
            <a:ext cx="6217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760720"/>
            <a:ext cx="5669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江ノ電「鎌倉高校前」駅から徒歩すぐ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神奈川県立鎌倉高等学校 公式サイト / Wikimedia Commons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ki_campus_hero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6632"/>
            <a:ext cx="12191695" cy="1801368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21224"/>
            <a:ext cx="12191695" cy="1636776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85816"/>
            <a:ext cx="12191695" cy="1472184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大船高校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7161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8F0F7"/>
                </a:solidFill>
                <a:latin typeface="Hiragino Sans"/>
                <a:ea typeface="Hiragino Sans"/>
                <a:cs typeface="Hiragino Sans"/>
              </a:rPr>
              <a:t>和の施設がそろう、大船の大きな学校。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大船高校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7782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写真と一緒に見る、学校の空気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5303520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ki_sportsday_card.jpg"/>
          <p:cNvPicPr>
            <a:picLocks noChangeAspect="1"/>
          </p:cNvPicPr>
          <p:nvPr/>
        </p:nvPicPr>
        <p:blipFill>
          <a:blip r:embed="rId2"/>
          <a:srcRect t="3050" b="3050"/>
          <a:stretch>
            <a:fillRect/>
          </a:stretch>
        </p:blipFill>
        <p:spPr>
          <a:xfrm>
            <a:off x="731520" y="1243584"/>
            <a:ext cx="5157216" cy="1554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243584"/>
            <a:ext cx="5157216" cy="155448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157216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23744"/>
            <a:ext cx="49011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体育祭（六国祭）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70432"/>
            <a:ext cx="5303520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iki_kannon_card.jpg"/>
          <p:cNvPicPr>
            <a:picLocks noChangeAspect="1"/>
          </p:cNvPicPr>
          <p:nvPr/>
        </p:nvPicPr>
        <p:blipFill>
          <a:blip r:embed="rId3"/>
          <a:srcRect t="3050" b="3050"/>
          <a:stretch>
            <a:fillRect/>
          </a:stretch>
        </p:blipFill>
        <p:spPr>
          <a:xfrm>
            <a:off x="6291072" y="1243584"/>
            <a:ext cx="5157216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91072" y="1243584"/>
            <a:ext cx="5157216" cy="155448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2468880"/>
            <a:ext cx="5157216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523744"/>
            <a:ext cx="49011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大船のシンボル・大船観音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72384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273552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3145536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能舞台付きの視聴覚室・純和風庭園・弓道場など、ちょっと珍しい和の施設がそろう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57600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858768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3730752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文化祭「白帆祭」・体育祭「六国祭」は大規模校ならではの活気。応援団やチアも盛り上がる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42816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2" y="4443984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4315968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部活・同好会が三十近く、加入率も高い（演劇部は全国大会の常連）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28032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5029200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4901184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大船駅から徒歩。藤沢・鎌倉どちらからも通いやすい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32704"/>
            <a:ext cx="6217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760720"/>
            <a:ext cx="5669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大船駅から徒歩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神奈川県立大船高等学校 公式サイト / Wikimedia Commons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ki_campus_hero.jpg"/>
          <p:cNvPicPr>
            <a:picLocks noChangeAspect="1"/>
          </p:cNvPicPr>
          <p:nvPr/>
        </p:nvPicPr>
        <p:blipFill>
          <a:blip r:embed="rId2"/>
          <a:srcRect t="12163" b="1216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6632"/>
            <a:ext cx="12191695" cy="1801368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21224"/>
            <a:ext cx="12191695" cy="1636776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85816"/>
            <a:ext cx="12191695" cy="1472184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柏陽高校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7161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8F0F7"/>
                </a:solidFill>
                <a:latin typeface="Hiragino Sans"/>
                <a:ea typeface="Hiragino Sans"/>
                <a:cs typeface="Hiragino Sans"/>
              </a:rPr>
              <a:t>自分のテーマを、とことん掘れる学校。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柏陽高校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7782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写真と一緒に見る、学校の空気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73152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ki_hongodai_card.jpg"/>
          <p:cNvPicPr>
            <a:picLocks noChangeAspect="1"/>
          </p:cNvPicPr>
          <p:nvPr/>
        </p:nvPicPr>
        <p:blipFill>
          <a:blip r:embed="rId2"/>
          <a:srcRect t="2928" b="2928"/>
          <a:stretch>
            <a:fillRect/>
          </a:stretch>
        </p:blipFill>
        <p:spPr>
          <a:xfrm>
            <a:off x="731520" y="1243584"/>
            <a:ext cx="7168896" cy="17007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243584"/>
            <a:ext cx="7168896" cy="1700784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15184"/>
            <a:ext cx="7168896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70048"/>
            <a:ext cx="69128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本郷台駅から通学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82112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3383280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255264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理科の研究が特色（SSH）。「柏陽の知」で一年かけて、自分で決めたテーマを研究できる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67328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968496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40480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校訓は「己を拓く」。校則はゆるめで、自主性を大事にする自由な空気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52544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4553712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425696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自分のペースで落ち着いて学べる環境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37760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5138928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010912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JR根岸線「本郷台」駅エリア（大船から一本）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32704"/>
            <a:ext cx="6217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760720"/>
            <a:ext cx="5669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JR根岸線「本郷台」駅から（大船から一本）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神奈川県立柏陽高等学校 公式サイト /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