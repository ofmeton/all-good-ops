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wiki_campus_hero.jpg"/>
          <p:cNvPicPr>
            <a:picLocks noChangeAspect="1"/>
          </p:cNvPicPr>
          <p:nvPr/>
        </p:nvPicPr>
        <p:blipFill>
          <a:blip r:embed="rId2"/>
          <a:srcRect t="12499" b="12499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4892040"/>
            <a:ext cx="12191695" cy="1965960"/>
          </a:xfrm>
          <a:prstGeom prst="rect">
            <a:avLst/>
          </a:prstGeom>
          <a:solidFill>
            <a:srgbClr val="0A16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056632"/>
            <a:ext cx="12191695" cy="1801368"/>
          </a:xfrm>
          <a:prstGeom prst="rect">
            <a:avLst/>
          </a:prstGeom>
          <a:solidFill>
            <a:srgbClr val="0A16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5221224"/>
            <a:ext cx="12191695" cy="1636776"/>
          </a:xfrm>
          <a:prstGeom prst="rect">
            <a:avLst/>
          </a:prstGeom>
          <a:solidFill>
            <a:srgbClr val="0A16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5385816"/>
            <a:ext cx="12191695" cy="1472184"/>
          </a:xfrm>
          <a:prstGeom prst="rect">
            <a:avLst/>
          </a:prstGeom>
          <a:solidFill>
            <a:srgbClr val="0A16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5285232"/>
            <a:ext cx="1088136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鎌倉高校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6071616"/>
            <a:ext cx="104241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D8F0F7"/>
                </a:solidFill>
                <a:latin typeface="Hiragino Sans"/>
                <a:ea typeface="Hiragino Sans"/>
                <a:cs typeface="Hiragino Sans"/>
              </a:rPr>
              <a:t>「青春日本一」を名乗る、自由な学校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A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E8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420624"/>
            <a:ext cx="58521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0F2A4F"/>
                </a:solidFill>
                <a:latin typeface="Hiragino Sans"/>
                <a:ea typeface="Hiragino Sans"/>
                <a:cs typeface="Hiragino Sans"/>
              </a:rPr>
              <a:t>鎌倉高校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" y="877824"/>
            <a:ext cx="5120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A6A80"/>
                </a:solidFill>
                <a:latin typeface="Hiragino Sans"/>
                <a:ea typeface="Hiragino Sans"/>
                <a:cs typeface="Hiragino Sans"/>
              </a:rPr>
              <a:t>写真と一緒に見る、学校の空気</a:t>
            </a:r>
          </a:p>
        </p:txBody>
      </p:sp>
      <p:sp>
        <p:nvSpPr>
          <p:cNvPr id="6" name="Oval 5"/>
          <p:cNvSpPr/>
          <p:nvPr/>
        </p:nvSpPr>
        <p:spPr>
          <a:xfrm>
            <a:off x="658368" y="1600200"/>
            <a:ext cx="182880" cy="182880"/>
          </a:xfrm>
          <a:prstGeom prst="ellipse">
            <a:avLst/>
          </a:prstGeom>
          <a:solidFill>
            <a:srgbClr val="2E8FA3"/>
          </a:solidFill>
          <a:ln w="9525">
            <a:solidFill>
              <a:srgbClr val="2E8FA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70432" y="1481328"/>
            <a:ext cx="5806440" cy="621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1A1A1A"/>
                </a:solidFill>
                <a:latin typeface="Hiragino Sans"/>
                <a:ea typeface="Hiragino Sans"/>
                <a:cs typeface="Hiragino Sans"/>
              </a:rPr>
              <a:t>江ノ電沿線。晴れた日は校内から富士山が見える</a:t>
            </a:r>
          </a:p>
        </p:txBody>
      </p:sp>
      <p:sp>
        <p:nvSpPr>
          <p:cNvPr id="8" name="Oval 7"/>
          <p:cNvSpPr/>
          <p:nvPr/>
        </p:nvSpPr>
        <p:spPr>
          <a:xfrm>
            <a:off x="658368" y="2542032"/>
            <a:ext cx="182880" cy="182880"/>
          </a:xfrm>
          <a:prstGeom prst="ellipse">
            <a:avLst/>
          </a:prstGeom>
          <a:solidFill>
            <a:srgbClr val="2E8FA3"/>
          </a:solidFill>
          <a:ln w="9525">
            <a:solidFill>
              <a:srgbClr val="2E8FA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70432" y="2423160"/>
            <a:ext cx="5806440" cy="621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1A1A1A"/>
                </a:solidFill>
                <a:latin typeface="Hiragino Sans"/>
                <a:ea typeface="Hiragino Sans"/>
                <a:cs typeface="Hiragino Sans"/>
              </a:rPr>
              <a:t>「自主自律」を大事に、生徒主体でいろいろ動く校風</a:t>
            </a:r>
          </a:p>
        </p:txBody>
      </p:sp>
      <p:sp>
        <p:nvSpPr>
          <p:cNvPr id="10" name="Oval 9"/>
          <p:cNvSpPr/>
          <p:nvPr/>
        </p:nvSpPr>
        <p:spPr>
          <a:xfrm>
            <a:off x="658368" y="3483864"/>
            <a:ext cx="182880" cy="182880"/>
          </a:xfrm>
          <a:prstGeom prst="ellipse">
            <a:avLst/>
          </a:prstGeom>
          <a:solidFill>
            <a:srgbClr val="2E8FA3"/>
          </a:solidFill>
          <a:ln w="9525">
            <a:solidFill>
              <a:srgbClr val="2E8FA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70432" y="3364992"/>
            <a:ext cx="5806440" cy="621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1A1A1A"/>
                </a:solidFill>
                <a:latin typeface="Hiragino Sans"/>
                <a:ea typeface="Hiragino Sans"/>
                <a:cs typeface="Hiragino Sans"/>
              </a:rPr>
              <a:t>ダンス部「カマダン」が名物。部活も行事もエネルギッシュ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8368" y="4709160"/>
            <a:ext cx="6217920" cy="5669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7DD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32688" y="4882896"/>
            <a:ext cx="5669280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E6575"/>
                </a:solidFill>
                <a:latin typeface="Hiragino Sans"/>
                <a:ea typeface="Hiragino Sans"/>
                <a:cs typeface="Hiragino Sans"/>
              </a:rPr>
              <a:t>七里ヶ浜と同じ江ノ電沿線エリア（鎌倉・大船から）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60920" y="1335024"/>
            <a:ext cx="4224528" cy="25786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7DD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wiki_campus_hero.jpg"/>
          <p:cNvPicPr>
            <a:picLocks noChangeAspect="1"/>
          </p:cNvPicPr>
          <p:nvPr/>
        </p:nvPicPr>
        <p:blipFill>
          <a:blip r:embed="rId2"/>
          <a:srcRect t="10239" b="10239"/>
          <a:stretch>
            <a:fillRect/>
          </a:stretch>
        </p:blipFill>
        <p:spPr>
          <a:xfrm>
            <a:off x="7434072" y="1408176"/>
            <a:ext cx="4078224" cy="2432304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7434072" y="1408176"/>
            <a:ext cx="4078224" cy="2432304"/>
          </a:xfrm>
          <a:prstGeom prst="roundRect">
            <a:avLst>
              <a:gd name="adj" fmla="val 4000"/>
            </a:avLst>
          </a:prstGeom>
          <a:noFill/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434072" y="3511296"/>
            <a:ext cx="4078224" cy="329184"/>
          </a:xfrm>
          <a:prstGeom prst="roundRect">
            <a:avLst>
              <a:gd name="adj" fmla="val 6000"/>
            </a:avLst>
          </a:prstGeom>
          <a:solidFill>
            <a:srgbClr val="0A16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562088" y="3566160"/>
            <a:ext cx="3822192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校舎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6236208"/>
            <a:ext cx="98755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>
                <a:solidFill>
                  <a:srgbClr val="8A96A8"/>
                </a:solidFill>
                <a:latin typeface="Hiragino Sans"/>
                <a:ea typeface="Hiragino Sans"/>
                <a:cs typeface="Hiragino Sans"/>
              </a:rPr>
              <a:t>出典: 神奈川県立鎌倉高等学校 公式サイト / Wikimedia Commons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