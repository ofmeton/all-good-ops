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ki_campus_hero.jpg"/>
          <p:cNvPicPr>
            <a:picLocks noChangeAspect="1"/>
          </p:cNvPicPr>
          <p:nvPr/>
        </p:nvPicPr>
        <p:blipFill>
          <a:blip r:embed="rId2"/>
          <a:srcRect t="12499" b="1249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56632"/>
            <a:ext cx="12191695" cy="1801368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221224"/>
            <a:ext cx="12191695" cy="1636776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5385816"/>
            <a:ext cx="12191695" cy="1472184"/>
          </a:xfrm>
          <a:prstGeom prst="rect">
            <a:avLst/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285232"/>
            <a:ext cx="108813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大船高校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6071616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D8F0F7"/>
                </a:solidFill>
                <a:latin typeface="Hiragino Sans"/>
                <a:ea typeface="Hiragino Sans"/>
                <a:cs typeface="Hiragino Sans"/>
              </a:rPr>
              <a:t>駅から近くて、行事が盛り上がる学校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A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E8F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0624"/>
            <a:ext cx="5852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0F2A4F"/>
                </a:solidFill>
                <a:latin typeface="Hiragino Sans"/>
                <a:ea typeface="Hiragino Sans"/>
                <a:cs typeface="Hiragino Sans"/>
              </a:rPr>
              <a:t>大船高校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877824"/>
            <a:ext cx="51206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A6A80"/>
                </a:solidFill>
                <a:latin typeface="Hiragino Sans"/>
                <a:ea typeface="Hiragino Sans"/>
                <a:cs typeface="Hiragino Sans"/>
              </a:rPr>
              <a:t>写真と一緒に見る、学校の空気</a:t>
            </a:r>
          </a:p>
        </p:txBody>
      </p:sp>
      <p:sp>
        <p:nvSpPr>
          <p:cNvPr id="6" name="Oval 5"/>
          <p:cNvSpPr/>
          <p:nvPr/>
        </p:nvSpPr>
        <p:spPr>
          <a:xfrm>
            <a:off x="658368" y="1600200"/>
            <a:ext cx="182880" cy="182880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481328"/>
            <a:ext cx="5806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大船駅から徒歩。藤沢・鎌倉どちらからも通いやすい近さ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2542032"/>
            <a:ext cx="182880" cy="182880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23160"/>
            <a:ext cx="5806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自習室・図書館など施設が充実、落ち着いて過ごせる</a:t>
            </a:r>
          </a:p>
        </p:txBody>
      </p:sp>
      <p:sp>
        <p:nvSpPr>
          <p:cNvPr id="10" name="Oval 9"/>
          <p:cNvSpPr/>
          <p:nvPr/>
        </p:nvSpPr>
        <p:spPr>
          <a:xfrm>
            <a:off x="658368" y="3483864"/>
            <a:ext cx="182880" cy="182880"/>
          </a:xfrm>
          <a:prstGeom prst="ellipse">
            <a:avLst/>
          </a:prstGeom>
          <a:solidFill>
            <a:srgbClr val="2E8FA3"/>
          </a:solidFill>
          <a:ln w="9525">
            <a:solidFill>
              <a:srgbClr val="2E8F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364992"/>
            <a:ext cx="580644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A1A1A"/>
                </a:solidFill>
                <a:latin typeface="Hiragino Sans"/>
                <a:ea typeface="Hiragino Sans"/>
                <a:cs typeface="Hiragino Sans"/>
              </a:rPr>
              <a:t>文化祭「白帆祭」・体育祭「六国祭」は応援団やチアまで本気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4709160"/>
            <a:ext cx="621792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4882896"/>
            <a:ext cx="5669280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6575"/>
                </a:solidFill>
                <a:latin typeface="Hiragino Sans"/>
                <a:ea typeface="Hiragino Sans"/>
                <a:cs typeface="Hiragino Sans"/>
              </a:rPr>
              <a:t>大船駅から徒歩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335024"/>
            <a:ext cx="4224528" cy="257860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7DD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wiki_campus_hero.jpg"/>
          <p:cNvPicPr>
            <a:picLocks noChangeAspect="1"/>
          </p:cNvPicPr>
          <p:nvPr/>
        </p:nvPicPr>
        <p:blipFill>
          <a:blip r:embed="rId2"/>
          <a:srcRect t="10239" b="10239"/>
          <a:stretch>
            <a:fillRect/>
          </a:stretch>
        </p:blipFill>
        <p:spPr>
          <a:xfrm>
            <a:off x="7434072" y="1408176"/>
            <a:ext cx="4078224" cy="2432304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7434072" y="1408176"/>
            <a:ext cx="4078224" cy="2432304"/>
          </a:xfrm>
          <a:prstGeom prst="roundRect">
            <a:avLst>
              <a:gd name="adj" fmla="val 4000"/>
            </a:avLst>
          </a:prstGeom>
          <a:noFill/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34072" y="3511296"/>
            <a:ext cx="4078224" cy="329184"/>
          </a:xfrm>
          <a:prstGeom prst="roundRect">
            <a:avLst>
              <a:gd name="adj" fmla="val 6000"/>
            </a:avLst>
          </a:prstGeom>
          <a:solidFill>
            <a:srgbClr val="0A16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3566160"/>
            <a:ext cx="3822192" cy="2194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FFFFF"/>
                </a:solidFill>
                <a:latin typeface="Hiragino Sans"/>
                <a:ea typeface="Hiragino Sans"/>
                <a:cs typeface="Hiragino Sans"/>
              </a:rPr>
              <a:t>校舎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236208"/>
            <a:ext cx="987552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>
                <a:solidFill>
                  <a:srgbClr val="8A96A8"/>
                </a:solidFill>
                <a:latin typeface="Hiragino Sans"/>
                <a:ea typeface="Hiragino Sans"/>
                <a:cs typeface="Hiragino Sans"/>
              </a:rPr>
              <a:t>出典: 神奈川県立大船高等学校 公式サイト / Wikimedia Commons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