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37160" cy="466344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97280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PART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37360"/>
            <a:ext cx="100584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54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AI 活用事例集 (前半)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29184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>
                <a:solidFill>
                  <a:srgbClr val="D7DDE8"/>
                </a:solidFill>
                <a:latin typeface="Hiragino Sans"/>
                <a:ea typeface="Hiragino Sans"/>
                <a:cs typeface="Hiragino Sans"/>
              </a:rPr>
              <a:t>クリエイティブ生成 ─ コピー / 画像 / 動画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4114800"/>
            <a:ext cx="9144000" cy="13716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429768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D7DDE8"/>
                </a:solidFill>
                <a:latin typeface="Hiragino Sans"/>
                <a:ea typeface="Hiragino Sans"/>
                <a:cs typeface="Hiragino Sans"/>
              </a:rPr>
              <a:t>ChatGPT / Claude / Gemini のテキスト生成、Midjourney / DALL-E / Firefly の画像、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D7DDE8"/>
                </a:solidFill>
                <a:latin typeface="Hiragino Sans"/>
                <a:ea typeface="Hiragino Sans"/>
                <a:cs typeface="Hiragino Sans"/>
              </a:rPr>
              <a:t>Sora / Veo / Runway の動画、そして媒体ネイティブの Advantage+ Creative / Symphony まで。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D7DDE8"/>
                </a:solidFill>
                <a:latin typeface="Hiragino Sans"/>
                <a:ea typeface="Hiragino Sans"/>
                <a:cs typeface="Hiragino Sans"/>
              </a:rPr>
              <a:t>副業運用代行で月20-30本のクリエイティブを1人で量産する基盤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39496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▸ AI for Creative TL;DR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539496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▸ コピー : ChatGPT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0" y="539496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▸ コピー : Claude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57607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▸ コピー : Gemini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57607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▸ 広告特化コピーツール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0" y="57607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▸ 画像 : Midjourney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612648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▸ 画像 : DALL-E / Imagen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612648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▸ 画像 : Firefly / Nano Banana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0" y="612648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▸ 動画 : Sora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649224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▸ 動画 : Veo 3 / Runway / Luma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649224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▸ 広告特化生成ツール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0" y="649224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▸ 媒体ネイティブ生成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685800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▸ 著作権・規制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685800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▸ プロンプト設計の鉄則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0" y="685800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▸ ABテスト × AI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722376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▸ AI クリエイティブWF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0" y="722376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▸ 5-A まとめ → 5-B 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64592" cy="164592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5-A : AI クリエイティブ生成 ランドスケープ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コピー / 画像 / 動画 の3レイヤー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P167 / 250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1110996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417320"/>
            <a:ext cx="137160" cy="14173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581912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コピー (テキスト)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01168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1秒で生成 / 即時改善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31720"/>
            <a:ext cx="10058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ChatGPT / Claude / Gemini</a:t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+ 広告特化 (Jasper / Copy.ai / Anyword)</a:t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副業代行 : 全クライアントで利用、最初のAIワークフロー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971800"/>
            <a:ext cx="1110996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971800"/>
            <a:ext cx="137160" cy="14173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136392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画像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5661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30秒〜数分 / 1枚数円〜数十円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886200"/>
            <a:ext cx="10058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Midjourney / DALL-E 4 / Imagen 4 /</a:t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Adobe Firefly / Nano Banana</a:t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副業代行 : 訴求軸ごとに10-20本量産が基本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526280"/>
            <a:ext cx="1110996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4526280"/>
            <a:ext cx="137160" cy="14173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690872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動画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12064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1-3分 / 1動画数百円〜数千円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5440680"/>
            <a:ext cx="10058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Sora 2 (OpenAI) / Veo 3 (Google) / Runway /</a:t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Luma / Pika</a:t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副業代行 : 縦型動画 (TikTok/Reels/Shorts) で広告素材化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943600"/>
            <a:ext cx="11109960" cy="411480"/>
          </a:xfrm>
          <a:prstGeom prst="roundRect">
            <a:avLst>
              <a:gd name="adj" fmla="val 6000"/>
            </a:avLst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603504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💡 共通原則 : AI生成は『ヒント発掘 + 量産』、最終調整 = 人間。完全自動化は信頼性に欠ける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Digital Marketing Catch-Up 2023→2026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64592" cy="164592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AI クリエイティブ 5つのインパクト (TL;DR)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現場の仕事がどう変わったか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P168 / 250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25880"/>
            <a:ext cx="1110996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325880"/>
            <a:ext cx="109728" cy="9601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508760"/>
            <a:ext cx="731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1490472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コピー生成は1分の作業に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1828800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ChatGPT/Claude/Gemini 経由で広告コピーを 5-10案を1分以内に生成。</a:t>
            </a:r>
          </a:p>
          <a:p>
            <a:pPr algn="l">
              <a:lnSpc>
                <a:spcPct val="15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従来の半日工数が 10分 (人間の最終選定+調整) に圧縮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313432"/>
            <a:ext cx="1110996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313432"/>
            <a:ext cx="109728" cy="9601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2496312"/>
            <a:ext cx="731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2478024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画像生成で訴求軸の量産が現実的に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2816352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1案件あたり 訴求軸ごとに 10-20本の画像クリエイティブ → 学習データ量が桁違い。</a:t>
            </a:r>
          </a:p>
          <a:p>
            <a:pPr algn="l">
              <a:lnSpc>
                <a:spcPct val="15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Smart+ / Advantage+ がより精度高く配信できるように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300984"/>
            <a:ext cx="1110996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300984"/>
            <a:ext cx="109728" cy="9601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3483864"/>
            <a:ext cx="731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3465576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動画生成 (Sora 2 / Veo 3) で短尺動画が量産可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37360" y="3803904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テキスト → 5-10秒動画が数百円〜数千円。</a:t>
            </a:r>
          </a:p>
          <a:p>
            <a:pPr algn="l">
              <a:lnSpc>
                <a:spcPct val="15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TikTok / Shorts / Reels の縦型素材を1日で20本作成可能に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288536"/>
            <a:ext cx="1110996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4288536"/>
            <a:ext cx="109728" cy="9601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471416"/>
            <a:ext cx="731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37360" y="4453128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媒体ネイティブAI生成が標準装備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37360" y="4791456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Advantage+ Creative (Meta) / Symphony (TikTok) / Gemini in Ads (Google)。</a:t>
            </a:r>
          </a:p>
          <a:p>
            <a:pPr algn="l">
              <a:lnSpc>
                <a:spcPct val="15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広告管理画面内で生成完結 → 外部ツールが不要なケースも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5276088"/>
            <a:ext cx="1110996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5276088"/>
            <a:ext cx="109728" cy="9601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5458968"/>
            <a:ext cx="731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37360" y="5440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副業代行の利益率が劇的改善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37360" y="5779008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クリエイティブ制作の外注費が大幅削減 (デザイナー外注 数万円 → AI 数百円)。</a:t>
            </a:r>
          </a:p>
          <a:p>
            <a:pPr algn="l">
              <a:lnSpc>
                <a:spcPct val="15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1人で月10-20クライアント対応も実現可能に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Digital Marketing Catch-Up 2023→2026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64592" cy="164592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コピー生成 : ChatGPT (OpenAI)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デファクト標準・幅広いユースケース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P169 / 250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主要モデル (2026年現在)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28800"/>
            <a:ext cx="26974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828800"/>
            <a:ext cx="2697480" cy="109728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057400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0F2A4F"/>
                </a:solidFill>
                <a:latin typeface="Helvetica Neue"/>
                <a:ea typeface="Helvetica Neue"/>
                <a:cs typeface="Helvetica Neue"/>
              </a:rPr>
              <a:t>GPT-5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46888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最高性能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788920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推論・コード・長文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37560" y="1828800"/>
            <a:ext cx="26974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37560" y="1828800"/>
            <a:ext cx="2697480" cy="109728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20440" y="2057400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0F2A4F"/>
                </a:solidFill>
                <a:latin typeface="Helvetica Neue"/>
                <a:ea typeface="Helvetica Neue"/>
                <a:cs typeface="Helvetica Neue"/>
              </a:rPr>
              <a:t>GPT-5 mini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246888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高速・コスパ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2788920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大量処理向け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1828800"/>
            <a:ext cx="26974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26480" y="1828800"/>
            <a:ext cx="2697480" cy="109728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2057400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0F2A4F"/>
                </a:solidFill>
                <a:latin typeface="Helvetica Neue"/>
                <a:ea typeface="Helvetica Neue"/>
                <a:cs typeface="Helvetica Neue"/>
              </a:rPr>
              <a:t>o4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246888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深い推論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2788920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戦略立案・分析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15400" y="1828800"/>
            <a:ext cx="26974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15400" y="1828800"/>
            <a:ext cx="2697480" cy="109728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98280" y="2057400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0F2A4F"/>
                </a:solidFill>
                <a:latin typeface="Helvetica Neue"/>
                <a:ea typeface="Helvetica Neue"/>
                <a:cs typeface="Helvetica Neue"/>
              </a:rPr>
              <a:t>GPT-Image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98280" y="246888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画像生成統合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98280" y="2788920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DALL-E後継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33832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広告運用代行でのユースケース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3749039"/>
            <a:ext cx="11109960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393192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3950208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広告コピー量産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0" y="395020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見出し10案 + 説明文5案を1分で。RSA / Smart+ 投入用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4315968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4334256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LP原稿作成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0" y="4334256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ヒアリングメモから LP の見出し+本文+CTAを生成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4700016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718304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検索クエリ分析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0" y="4718304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Search Terms Reportを貼って『無駄クエリ + 追加すべきクエリ』提案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5084064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510235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月次レポート要約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0" y="5102352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GA4 / Google Ads データを貼ってクライアント向け要約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608076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💡 ChatGPT Plus US$20/月で大半の機能利用可。API は別途従量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Digital Marketing Catch-Up 2023→2026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64592" cy="164592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コピー生成 : Claude (Anthropic)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長文・分析・整理に強い 推論型LLM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P170 / 250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主要モデル (2026年現在)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28800"/>
            <a:ext cx="361188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828800"/>
            <a:ext cx="3611880" cy="109728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057400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2A4F"/>
                </a:solidFill>
                <a:latin typeface="Helvetica Neue"/>
                <a:ea typeface="Helvetica Neue"/>
                <a:cs typeface="Helvetica Neue"/>
              </a:rPr>
              <a:t>Claude Opus 4.7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468880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最高性能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788920"/>
            <a:ext cx="3246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戦略立案 / 長文分析</a:t>
            </a:r>
          </a:p>
          <a:p>
            <a:pPr algn="l">
              <a:lnSpc>
                <a:spcPct val="15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コード生成も最強クラス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1828800"/>
            <a:ext cx="361188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1828800"/>
            <a:ext cx="3611880" cy="109728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2057400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2A4F"/>
                </a:solidFill>
                <a:latin typeface="Helvetica Neue"/>
                <a:ea typeface="Helvetica Neue"/>
                <a:cs typeface="Helvetica Neue"/>
              </a:rPr>
              <a:t>Claude Sonnet 4.6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2468880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バランス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2788920"/>
            <a:ext cx="3246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日常使い / 高速生成</a:t>
            </a:r>
          </a:p>
          <a:p>
            <a:pPr algn="l">
              <a:lnSpc>
                <a:spcPct val="15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コスパ最強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1828800"/>
            <a:ext cx="361188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46720" y="1828800"/>
            <a:ext cx="3611880" cy="109728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5320" y="2057400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2A4F"/>
                </a:solidFill>
                <a:latin typeface="Helvetica Neue"/>
                <a:ea typeface="Helvetica Neue"/>
                <a:cs typeface="Helvetica Neue"/>
              </a:rPr>
              <a:t>Claude Haiku 4.5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2468880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超高速・低コスト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2788920"/>
            <a:ext cx="3246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大量処理 / API活用</a:t>
            </a:r>
          </a:p>
          <a:p>
            <a:pPr algn="l">
              <a:lnSpc>
                <a:spcPct val="15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チャットボット向け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36118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広告運用代行で Claude が強い領域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977639"/>
            <a:ext cx="11109960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16052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178808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競合LP分析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417880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競合LP 5サイトの構成を貼って共通要素+差別化要素を抽出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4544568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4562856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ヒアリング要約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0" y="456285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クライアント MTG音声書き起こしを構造化、ToDoリスト+提案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4928616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4946904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レポート骨子作成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0" y="494690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数字データ + 過去レポを貼って今月の骨子を構造化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5312664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5330952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Computer Use (Agent)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0" y="5330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管理画面操作も可能 → 広告運用の自動化に活用 (Part 5-B 参照)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08076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💡 Claude Pro US$20/月。Sonnet / Opus / Haiku 切替可。Claude Code は開発者必須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Digital Marketing Catch-Up 2023→2026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64592" cy="164592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コピー生成 : Gemini (Google)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Google Workspace + Google Ads 連携が強み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P171 / 250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主要モデル (2026年現在)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17320"/>
            <a:ext cx="361188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417320"/>
            <a:ext cx="3611880" cy="109728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645920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2A4F"/>
                </a:solidFill>
                <a:latin typeface="Helvetica Neue"/>
                <a:ea typeface="Helvetica Neue"/>
                <a:cs typeface="Helvetica Neue"/>
              </a:rPr>
              <a:t>Gemini 2.5 Ultra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057400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最高性能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377440"/>
            <a:ext cx="3246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マルチモーダル / 長文</a:t>
            </a:r>
          </a:p>
          <a:p>
            <a:pPr algn="l">
              <a:lnSpc>
                <a:spcPct val="15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100万トークン対応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1417320"/>
            <a:ext cx="361188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1417320"/>
            <a:ext cx="3611880" cy="109728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1645920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2A4F"/>
                </a:solidFill>
                <a:latin typeface="Helvetica Neue"/>
                <a:ea typeface="Helvetica Neue"/>
                <a:cs typeface="Helvetica Neue"/>
              </a:rPr>
              <a:t>Gemini 2.5 Pro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2057400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バランス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2377440"/>
            <a:ext cx="3246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標準利用 / API</a:t>
            </a:r>
          </a:p>
          <a:p>
            <a:pPr algn="l">
              <a:lnSpc>
                <a:spcPct val="15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Google Workspace内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1417320"/>
            <a:ext cx="361188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46720" y="1417320"/>
            <a:ext cx="3611880" cy="109728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5320" y="1645920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2A4F"/>
                </a:solidFill>
                <a:latin typeface="Helvetica Neue"/>
                <a:ea typeface="Helvetica Neue"/>
                <a:cs typeface="Helvetica Neue"/>
              </a:rPr>
              <a:t>Gemini Nano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2057400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オンデバイス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2377440"/>
            <a:ext cx="3246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Pixel / Android搭載</a:t>
            </a:r>
          </a:p>
          <a:p>
            <a:pPr algn="l">
              <a:lnSpc>
                <a:spcPct val="15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ローカル処理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32004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Gemini × Google エコシステム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566160"/>
            <a:ext cx="11109960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749039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3767327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Gemini in Google Ads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3767327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Conversational Builder / アセット生成 / Optiscore提案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4133087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4151375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Gemini in GA4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4151375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Conversational Analytics でデータ質問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4517135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4535423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Gemini in Workspace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0" y="4535423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Gmail / Docs / Sheets / Slides に統合 (Premium プラン)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4901183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4919471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Gemini in Search (AI Overview)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4919471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検索結果上部のAI要約 → SEO/GEO対象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5486400"/>
            <a:ext cx="109728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💡 Gemini Advanced US$20/月 + Google One AI Premium。Workspace 連携で工数削減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Digital Marketing Catch-Up 2023→2026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64592" cy="164592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広告特化コピーツール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Jasper / Copy.ai / Anyword ─ 業務特化の選択肢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P172 / 250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2697480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417320"/>
            <a:ext cx="2697480" cy="77724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581912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Jasper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96596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$49/月〜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423160"/>
            <a:ext cx="233172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広告コピー特化</a:t>
            </a:r>
          </a:p>
          <a:p>
            <a:pPr algn="ctr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ブランドボイス保持</a:t>
            </a:r>
          </a:p>
          <a:p>
            <a:pPr algn="ctr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テンプレート豊富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7560" y="1417320"/>
            <a:ext cx="2697480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37560" y="1417320"/>
            <a:ext cx="2697480" cy="77724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20440" y="1581912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Copy.ai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196596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Free / $36/月〜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2423160"/>
            <a:ext cx="233172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Workflow自動化</a:t>
            </a:r>
          </a:p>
          <a:p>
            <a:pPr algn="ctr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セールス連携</a:t>
            </a:r>
          </a:p>
          <a:p>
            <a:pPr algn="ctr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ワークフロー型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1417320"/>
            <a:ext cx="2697480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26480" y="1417320"/>
            <a:ext cx="2697480" cy="77724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1581912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Anyword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196596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$49/月〜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2423160"/>
            <a:ext cx="233172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予測スコア表示</a:t>
            </a:r>
          </a:p>
          <a:p>
            <a:pPr algn="ctr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A/Bテスト用量産</a:t>
            </a:r>
          </a:p>
          <a:p>
            <a:pPr algn="ctr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媒体別最適化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15400" y="1417320"/>
            <a:ext cx="2697480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15400" y="1417320"/>
            <a:ext cx="2697480" cy="77724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98280" y="1581912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Persado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196596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Enterprise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98280" y="2423160"/>
            <a:ext cx="233172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感情分析+自動生成</a:t>
            </a:r>
          </a:p>
          <a:p>
            <a:pPr algn="ctr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大手ブランド向け</a:t>
            </a:r>
          </a:p>
          <a:p>
            <a:pPr algn="ctr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専門高単価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4069080"/>
            <a:ext cx="11109960" cy="2286000"/>
          </a:xfrm>
          <a:prstGeom prst="roundRect">
            <a:avLst>
              <a:gd name="adj" fmla="val 6000"/>
            </a:avLst>
          </a:prstGeom>
          <a:solidFill>
            <a:srgbClr val="FFF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420624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💡 副業代行の判断基準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4526280"/>
            <a:ext cx="10972800" cy="1783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月10案件以下 = ChatGPT / Claude のシンプル利用で十分 (US$20/月)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月10案件以上で『同じブランドボイス保持』が課題 = Jasper (Brand Voice機能)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A/Bテスト用に大量量産したい = Anyword (予測スコア付き)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Workflow自動化したい = Copy.ai (Zapier / Webhook連携豊富)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大手代理店で複数人運用 = Jasper Team / Persado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Digital Marketing Catch-Up 2023→2026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64592" cy="164592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画像生成 : Midjourney v7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クリエイティブのデファクト・最高品質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P173 / 250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プラン (2026)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28800"/>
            <a:ext cx="269748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828800"/>
            <a:ext cx="2697480" cy="5029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947672"/>
            <a:ext cx="2423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Basic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42316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$10/月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697480"/>
            <a:ext cx="2331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200画像/月 程度</a:t>
            </a:r>
          </a:p>
          <a:p>
            <a:pPr algn="ctr">
              <a:lnSpc>
                <a:spcPct val="15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スタンダード品質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37560" y="1828800"/>
            <a:ext cx="269748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37560" y="1828800"/>
            <a:ext cx="2697480" cy="5029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4720" y="1947672"/>
            <a:ext cx="2423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Standard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242316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$30/月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2697480"/>
            <a:ext cx="2331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Fast 15時間/月</a:t>
            </a:r>
          </a:p>
          <a:p>
            <a:pPr algn="ctr">
              <a:lnSpc>
                <a:spcPct val="15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Unlimited Relax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1828800"/>
            <a:ext cx="269748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26480" y="1828800"/>
            <a:ext cx="2697480" cy="5029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63640" y="1947672"/>
            <a:ext cx="2423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Pro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242316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$60/月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2697480"/>
            <a:ext cx="2331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Fast 30時間/月</a:t>
            </a:r>
          </a:p>
          <a:p>
            <a:pPr algn="ctr">
              <a:lnSpc>
                <a:spcPct val="15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Stealth Mode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15400" y="1828800"/>
            <a:ext cx="269748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15400" y="1828800"/>
            <a:ext cx="2697480" cy="5029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0" y="1947672"/>
            <a:ext cx="2423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Mega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98280" y="242316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$120/月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98280" y="2697480"/>
            <a:ext cx="2331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Fast 60時間/月</a:t>
            </a:r>
          </a:p>
          <a:p>
            <a:pPr algn="ctr">
              <a:lnSpc>
                <a:spcPct val="15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商用利用フル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3657600"/>
            <a:ext cx="11109960" cy="2697480"/>
          </a:xfrm>
          <a:prstGeom prst="roundRect">
            <a:avLst>
              <a:gd name="adj" fmla="val 6000"/>
            </a:avLst>
          </a:prstGeom>
          <a:solidFill>
            <a:srgbClr val="FFF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3794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💡 広告運用代行での使い方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4114800"/>
            <a:ext cx="109728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訴求軸ごとに 5-10案を量産 → クライアント承認後に Smart+ / Advantage+ に投入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Style References (--sref) で同一ブランドトーン維持 (2024年導入)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商用利用 : Standard以上で OK (Basic も可)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Discord UI に加え 公式Web UI も完成済 (2025-2026)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副業代行 : Standard $30/月で 月20-30案件のクリエイティブ量産可能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著作権 : Stealth Mode (Pro以上) で他人の Public生成画像から自分のが見られない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注意 : 人物の顔・既存ブランド・キャラクターの再現は使用禁止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Digital Marketing Catch-Up 2023→2026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64592" cy="164592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画像生成 : DALL-E / Imagen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ChatGPT / Gemini 内で使える画像生成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P174 / 250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5486400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417320"/>
            <a:ext cx="5486400" cy="777240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581912"/>
            <a:ext cx="4937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DALL-E 4 / GPT-Image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96596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ChatGPT統合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423160"/>
            <a:ext cx="493776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7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ChatGPT Plus / API</a:t>
            </a:r>
          </a:p>
          <a:p>
            <a:pPr algn="l">
              <a:lnSpc>
                <a:spcPct val="17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テキスト→画像</a:t>
            </a:r>
          </a:p>
          <a:p>
            <a:pPr algn="l">
              <a:lnSpc>
                <a:spcPct val="17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プロンプトに会話的に</a:t>
            </a:r>
          </a:p>
          <a:p>
            <a:pPr algn="l">
              <a:lnSpc>
                <a:spcPct val="17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強み : 自然言語で細かい指示</a:t>
            </a:r>
          </a:p>
          <a:p>
            <a:pPr algn="l">
              <a:lnSpc>
                <a:spcPct val="17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弱み : 細かい構図制御は苦手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417320"/>
            <a:ext cx="5486400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417320"/>
            <a:ext cx="5486400" cy="77724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581912"/>
            <a:ext cx="4937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Imagen 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196596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Google統合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423160"/>
            <a:ext cx="493776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7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Gemini / Vertex AI</a:t>
            </a:r>
          </a:p>
          <a:p>
            <a:pPr algn="l">
              <a:lnSpc>
                <a:spcPct val="17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Google Cloudで利用</a:t>
            </a:r>
          </a:p>
          <a:p>
            <a:pPr algn="l">
              <a:lnSpc>
                <a:spcPct val="17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強み : 写実的な画像</a:t>
            </a:r>
          </a:p>
          <a:p>
            <a:pPr algn="l">
              <a:lnSpc>
                <a:spcPct val="17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強み : 日本語プロンプト精度高</a:t>
            </a:r>
          </a:p>
          <a:p>
            <a:pPr algn="l">
              <a:lnSpc>
                <a:spcPct val="17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弱み : 商用利用は要規約確認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800600"/>
            <a:ext cx="11109960" cy="1554480"/>
          </a:xfrm>
          <a:prstGeom prst="roundRect">
            <a:avLst>
              <a:gd name="adj" fmla="val 6000"/>
            </a:avLst>
          </a:prstGeom>
          <a:solidFill>
            <a:srgbClr val="FFF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937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💡 副業代行のおすすめ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257800"/>
            <a:ext cx="1097280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ChatGPT Plus / Claude Pro を契約済 = DALL-E / GPT-Image を追加コストなしで利用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写実 + 日本語プロンプト精度求める = Imagen 4 (Vertex AI 経由)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ブランド統一感重視 = Midjourney (Style Reference 強い)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高品質+商用利用安心 = Adobe Firefly (次ページ)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Digital Marketing Catch-Up 2023→2026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64592" cy="164592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画像生成 : Adobe Firefly / Nano Banana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商用利用安心 + 多彩なスタイル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P175 / 250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5486400" cy="3383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417320"/>
            <a:ext cx="5486400" cy="77724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581912"/>
            <a:ext cx="4937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Adobe Firefly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96596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Creative Cloud統合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423160"/>
            <a:ext cx="493776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7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Adobe Stockのライセンス済画像で訓練</a:t>
            </a:r>
          </a:p>
          <a:p>
            <a:pPr algn="l">
              <a:lnSpc>
                <a:spcPct val="17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商用利用が安心</a:t>
            </a:r>
          </a:p>
          <a:p>
            <a:pPr algn="l">
              <a:lnSpc>
                <a:spcPct val="17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Photoshop / Illustrator に直接統合</a:t>
            </a:r>
          </a:p>
          <a:p>
            <a:pPr algn="l">
              <a:lnSpc>
                <a:spcPct val="17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Generative Fill / Generative Remove</a:t>
            </a:r>
          </a:p>
          <a:p>
            <a:pPr algn="l">
              <a:lnSpc>
                <a:spcPct val="17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副業代行 : Adobe CC ユーザーに最適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417320"/>
            <a:ext cx="5486400" cy="3383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417320"/>
            <a:ext cx="5486400" cy="77724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581912"/>
            <a:ext cx="4937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Nano Banana (Gemini Image)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196596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Google実験的モデル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423160"/>
            <a:ext cx="493776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7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Gemini 経由で利用可</a:t>
            </a:r>
          </a:p>
          <a:p>
            <a:pPr algn="l">
              <a:lnSpc>
                <a:spcPct val="17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プロンプト追従性が高い</a:t>
            </a:r>
          </a:p>
          <a:p>
            <a:pPr algn="l">
              <a:lnSpc>
                <a:spcPct val="17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コスト : Gemini API 経由で従量</a:t>
            </a:r>
          </a:p>
          <a:p>
            <a:pPr algn="l">
              <a:lnSpc>
                <a:spcPct val="17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副業代行 : 試験利用に向く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983480"/>
            <a:ext cx="11109960" cy="1371600"/>
          </a:xfrm>
          <a:prstGeom prst="roundRect">
            <a:avLst>
              <a:gd name="adj" fmla="val 6000"/>
            </a:avLst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512064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💡 商用利用の安心度ランキング (副業代行で重要)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44068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0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1. Adobe Firefly = 最高 (Adobe Stockライセンス済画像で訓練、企業向けの保証もあり)</a:t>
            </a:r>
          </a:p>
          <a:p>
            <a:pPr algn="l">
              <a:lnSpc>
                <a:spcPct val="155000"/>
              </a:lnSpc>
            </a:pPr>
            <a:r>
              <a:rPr sz="10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2. Midjourney (Standard以上) = 高 (商用利用OK、ただし規約遵守必要)</a:t>
            </a:r>
          </a:p>
          <a:p>
            <a:pPr algn="l">
              <a:lnSpc>
                <a:spcPct val="155000"/>
              </a:lnSpc>
            </a:pPr>
            <a:r>
              <a:rPr sz="10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3. DALL-E / GPT-Image = 中 (利用規約で商用OK、ただしモデル訓練データの透明性低)</a:t>
            </a:r>
          </a:p>
          <a:p>
            <a:pPr algn="l">
              <a:lnSpc>
                <a:spcPct val="155000"/>
              </a:lnSpc>
            </a:pPr>
            <a:r>
              <a:rPr sz="10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4. Stable Diffusion (オープンソース) = 中-低 (利用は自由だが法的リスク自己責任)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Digital Marketing Catch-Up 2023→2026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64592" cy="164592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🔥 動画生成 : Sora 2 (OpenAI)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テキスト → 高品質動画 / 2025-2026 で実用化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P176 / 250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11109960" cy="1188720"/>
          </a:xfrm>
          <a:prstGeom prst="roundRect">
            <a:avLst>
              <a:gd name="adj" fmla="val 6000"/>
            </a:avLst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087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Sora 2 (2025/12 リリース)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874519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テキスト+画像から最大60秒の動画を生成。物理シミュレーション精度が劇的向上。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ChatGPT Pro / Sora単体プラン (US$20-200/月) で利用可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7432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Sora 2 の主な機能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200400"/>
            <a:ext cx="269748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200400"/>
            <a:ext cx="2697480" cy="109728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429000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0F2A4F"/>
                </a:solidFill>
                <a:latin typeface="Helvetica Neue"/>
                <a:ea typeface="Helvetica Neue"/>
                <a:cs typeface="Helvetica Neue"/>
              </a:rPr>
              <a:t>Text → Video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840480"/>
            <a:ext cx="233172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プロンプトから動画</a:t>
            </a:r>
          </a:p>
          <a:p>
            <a:pPr algn="ctr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5-60秒対応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37560" y="3200400"/>
            <a:ext cx="269748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37560" y="3200400"/>
            <a:ext cx="2697480" cy="109728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0440" y="3429000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0F2A4F"/>
                </a:solidFill>
                <a:latin typeface="Helvetica Neue"/>
                <a:ea typeface="Helvetica Neue"/>
                <a:cs typeface="Helvetica Neue"/>
              </a:rPr>
              <a:t>Image → Video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3840480"/>
            <a:ext cx="233172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静止画を動かす</a:t>
            </a:r>
          </a:p>
          <a:p>
            <a:pPr algn="ctr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商品写真の動画化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0" y="3200400"/>
            <a:ext cx="269748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26480" y="3200400"/>
            <a:ext cx="2697480" cy="109728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3429000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0F2A4F"/>
                </a:solidFill>
                <a:latin typeface="Helvetica Neue"/>
                <a:ea typeface="Helvetica Neue"/>
                <a:cs typeface="Helvetica Neue"/>
              </a:rPr>
              <a:t>Video → Video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3840480"/>
            <a:ext cx="233172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既存動画を編集</a:t>
            </a:r>
          </a:p>
          <a:p>
            <a:pPr algn="ctr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スタイル変換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15400" y="3200400"/>
            <a:ext cx="269748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15400" y="3200400"/>
            <a:ext cx="2697480" cy="109728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98280" y="3429000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0F2A4F"/>
                </a:solidFill>
                <a:latin typeface="Helvetica Neue"/>
                <a:ea typeface="Helvetica Neue"/>
                <a:cs typeface="Helvetica Neue"/>
              </a:rPr>
              <a:t>Storyboard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98280" y="3840480"/>
            <a:ext cx="233172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複数カットを</a:t>
            </a:r>
          </a:p>
          <a:p>
            <a:pPr algn="ctr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連続再生で生成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5029200"/>
            <a:ext cx="11109960" cy="1325880"/>
          </a:xfrm>
          <a:prstGeom prst="roundRect">
            <a:avLst>
              <a:gd name="adj" fmla="val 6000"/>
            </a:avLst>
          </a:prstGeom>
          <a:solidFill>
            <a:srgbClr val="FFF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512064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💡 副業代行での Sora 2 活用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39496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縦型動画素材を1日10-20本量産 (TikTok / Reels / Shorts投入用)</a:t>
            </a:r>
          </a:p>
          <a:p>
            <a:pPr algn="l">
              <a:lnSpc>
                <a:spcPct val="15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商品写真 + プロンプトで簡易動画化 / Storyboard で15-30秒認知動画</a:t>
            </a:r>
          </a:p>
          <a:p>
            <a:pPr algn="l">
              <a:lnSpc>
                <a:spcPct val="15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価格 : ChatGPT Pro $200/月でフル活用 (素材コスト 月10万円以上削減)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Digital Marketing Catch-Up 2023→2026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64592" cy="164592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動画生成 : Veo 3 / Runway / Luma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Sora 以外の主要オプション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P177 / 250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269748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417320"/>
            <a:ext cx="2697480" cy="777240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581912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Veo 3 (Google)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96596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Vertex AI / Workspace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377440"/>
            <a:ext cx="23317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6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テキスト→動画 (最大2分)</a:t>
            </a:r>
          </a:p>
          <a:p>
            <a:pPr algn="ctr">
              <a:lnSpc>
                <a:spcPct val="16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音声生成も対応</a:t>
            </a:r>
          </a:p>
          <a:p>
            <a:pPr algn="ctr">
              <a:lnSpc>
                <a:spcPct val="16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Google エコシステム連携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7560" y="1417320"/>
            <a:ext cx="269748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37560" y="1417320"/>
            <a:ext cx="2697480" cy="777240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20440" y="1581912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Runway Gen-4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196596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Web UI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2377440"/>
            <a:ext cx="23317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6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Image to Video / Text to Video</a:t>
            </a:r>
          </a:p>
          <a:p>
            <a:pPr algn="ctr">
              <a:lnSpc>
                <a:spcPct val="16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Director Mode (細かい制御)</a:t>
            </a:r>
          </a:p>
          <a:p>
            <a:pPr algn="ctr">
              <a:lnSpc>
                <a:spcPct val="16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$15-95/月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1417320"/>
            <a:ext cx="269748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26480" y="1417320"/>
            <a:ext cx="2697480" cy="777240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1581912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Luma Dream Machine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196596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Web / API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2377440"/>
            <a:ext cx="23317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6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高速生成 (10秒以内)</a:t>
            </a:r>
          </a:p>
          <a:p>
            <a:pPr algn="ctr">
              <a:lnSpc>
                <a:spcPct val="16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コスパ最強</a:t>
            </a:r>
          </a:p>
          <a:p>
            <a:pPr algn="ctr">
              <a:lnSpc>
                <a:spcPct val="16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$10-100/月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15400" y="1417320"/>
            <a:ext cx="269748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15400" y="1417320"/>
            <a:ext cx="2697480" cy="777240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98280" y="1581912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Pika 2.0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196596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Web / Discord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98280" y="2377440"/>
            <a:ext cx="23317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6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Camera Movement制御</a:t>
            </a:r>
          </a:p>
          <a:p>
            <a:pPr algn="ctr">
              <a:lnSpc>
                <a:spcPct val="16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ループ動画特化</a:t>
            </a:r>
          </a:p>
          <a:p>
            <a:pPr algn="ctr">
              <a:lnSpc>
                <a:spcPct val="16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$10-70/月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3931920"/>
            <a:ext cx="11109960" cy="2423160"/>
          </a:xfrm>
          <a:prstGeom prst="roundRect">
            <a:avLst>
              <a:gd name="adj" fmla="val 6000"/>
            </a:avLst>
          </a:prstGeom>
          <a:solidFill>
            <a:srgbClr val="FFF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406908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💡 副業代行のおすすめ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4389120"/>
            <a:ext cx="1097280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高品質 + ストーリー性 = Sora 2 (ChatGPT Pro)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Google エコシステム + 音声 = Veo 3 (Vertex AI)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細かい制御 (カメラワーク) = Runway Gen-4 ($15-95/月)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大量生成 + コスパ = Luma Dream Machine ($10-100/月)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ループ動画 (バナー用) = Pika 2.0 ($10-70/月)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副業代行 : 最初は Luma で実験、慣れたら Sora 2 / Veo 3 にステップアップ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Digital Marketing Catch-Up 2023→2026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64592" cy="164592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広告特化生成ツール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Pencil / Omneky / AdCreative.ai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P178 / 250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2697480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417320"/>
            <a:ext cx="2697480" cy="77724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581912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Pencil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96596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WPP系 / 広告特化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423160"/>
            <a:ext cx="233172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6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ブランド学習型クリエイティブ生成</a:t>
            </a:r>
          </a:p>
          <a:p>
            <a:pPr algn="ctr">
              <a:lnSpc>
                <a:spcPct val="16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媒体ごとに最適化されたバリエーション</a:t>
            </a:r>
          </a:p>
          <a:p>
            <a:pPr algn="ctr">
              <a:lnSpc>
                <a:spcPct val="16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エンタープライズ価格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7560" y="1417320"/>
            <a:ext cx="2697480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37560" y="1417320"/>
            <a:ext cx="2697480" cy="77724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20440" y="1581912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Omneky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196596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$199/月〜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2423160"/>
            <a:ext cx="233172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6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クリエイティブ自動生成 + 配信</a:t>
            </a:r>
          </a:p>
          <a:p>
            <a:pPr algn="ctr">
              <a:lnSpc>
                <a:spcPct val="16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Meta / TikTok / Google 統合</a:t>
            </a:r>
          </a:p>
          <a:p>
            <a:pPr algn="ctr">
              <a:lnSpc>
                <a:spcPct val="16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ABテスト自動化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1417320"/>
            <a:ext cx="2697480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26480" y="1417320"/>
            <a:ext cx="2697480" cy="77724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1581912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AdCreative.ai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196596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$29-249/月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2423160"/>
            <a:ext cx="233172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6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中小向け SaaS</a:t>
            </a:r>
          </a:p>
          <a:p>
            <a:pPr algn="ctr">
              <a:lnSpc>
                <a:spcPct val="16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10秒で広告クリエイティブ生成</a:t>
            </a:r>
          </a:p>
          <a:p>
            <a:pPr algn="ctr">
              <a:lnSpc>
                <a:spcPct val="16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テンプレート豊富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15400" y="1417320"/>
            <a:ext cx="2697480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15400" y="1417320"/>
            <a:ext cx="2697480" cy="77724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98280" y="1581912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Smartly.io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196596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Enterprise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98280" y="2423160"/>
            <a:ext cx="233172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6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ECブランド向け統合プラットフォーム</a:t>
            </a:r>
          </a:p>
          <a:p>
            <a:pPr algn="ctr">
              <a:lnSpc>
                <a:spcPct val="16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クリエイティブ + 配信 + 計測</a:t>
            </a:r>
          </a:p>
          <a:p>
            <a:pPr algn="ctr">
              <a:lnSpc>
                <a:spcPct val="16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Meta公式パートナー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4069080"/>
            <a:ext cx="11109960" cy="2286000"/>
          </a:xfrm>
          <a:prstGeom prst="roundRect">
            <a:avLst>
              <a:gd name="adj" fmla="val 6000"/>
            </a:avLst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420624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💡 副業代行で『広告特化ツール』を使う判断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4526280"/>
            <a:ext cx="10972800" cy="1783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月予算 100万円以下のクライアント = 一般AI (ChatGPT/Midjourney等) で十分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月予算 300万円以上 + クリエイティブ量重視 = AdCreative.ai でAB大量生成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月予算 1,000万円以上 + 統合運用 = Omneky / Smartly.io で配信統合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高単価 / 広告会社統合 = Pencil / Persado (エンタープライズ)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副業代行スイートスポット : 一般AI で十分、特化ツールは月予算1,000万から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Digital Marketing Catch-Up 2023→2026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64592" cy="164592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媒体ネイティブ AI生成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管理画面内で完結する AI クリエイティブ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P179 / 250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2697480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417320"/>
            <a:ext cx="2697480" cy="777240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581912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Advantage+ Creative (Meta)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96596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管理画面内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423160"/>
            <a:ext cx="233172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6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Image Variations / Music /</a:t>
            </a:r>
          </a:p>
          <a:p>
            <a:pPr algn="ctr">
              <a:lnSpc>
                <a:spcPct val="16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Cropping / Text Variations /</a:t>
            </a:r>
          </a:p>
          <a:p>
            <a:pPr algn="ctr">
              <a:lnSpc>
                <a:spcPct val="16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Image Expansion</a:t>
            </a:r>
          </a:p>
          <a:p>
            <a:pPr algn="ctr">
              <a:lnSpc>
                <a:spcPct val="16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→ 6機能を ad set でON/OFF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7560" y="1417320"/>
            <a:ext cx="2697480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37560" y="1417320"/>
            <a:ext cx="2697480" cy="777240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20440" y="1581912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Symphony (TikTok)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196596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Creative Studio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2423160"/>
            <a:ext cx="233172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6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Image to Video / Text to Video</a:t>
            </a:r>
          </a:p>
          <a:p>
            <a:pPr algn="ctr">
              <a:lnSpc>
                <a:spcPct val="16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Digital Avatars (30+言語)</a:t>
            </a:r>
          </a:p>
          <a:p>
            <a:pPr algn="ctr">
              <a:lnSpc>
                <a:spcPct val="16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AI Dubbing / Daily Generations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1417320"/>
            <a:ext cx="2697480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26480" y="1417320"/>
            <a:ext cx="2697480" cy="777240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1581912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Gemini in Google Ads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196596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Conversational Builder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2423160"/>
            <a:ext cx="233172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6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URL → 広告セット自動生成</a:t>
            </a:r>
          </a:p>
          <a:p>
            <a:pPr algn="ctr">
              <a:lnSpc>
                <a:spcPct val="16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Asset Generation (画像/動画)</a:t>
            </a:r>
          </a:p>
          <a:p>
            <a:pPr algn="ctr">
              <a:lnSpc>
                <a:spcPct val="16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Ads Studio (β)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15400" y="1417320"/>
            <a:ext cx="2697480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15400" y="1417320"/>
            <a:ext cx="2697480" cy="777240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98280" y="1581912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AI Max Asset Optimization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196596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Search広告のAI拡張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98280" y="2423160"/>
            <a:ext cx="233172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6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ACA (Auto-Created Assets) 後継</a:t>
            </a:r>
          </a:p>
          <a:p>
            <a:pPr algn="ctr">
              <a:lnSpc>
                <a:spcPct val="16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LPから新アセット自動生成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4069080"/>
            <a:ext cx="11109960" cy="2286000"/>
          </a:xfrm>
          <a:prstGeom prst="roundRect">
            <a:avLst>
              <a:gd name="adj" fmla="val 6000"/>
            </a:avLst>
          </a:prstGeom>
          <a:solidFill>
            <a:srgbClr val="FFF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420624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💡 媒体ネイティブ vs 外部AI生成の使い分け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4526280"/>
            <a:ext cx="10972800" cy="1783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媒体ネイティブ = 配信に直結する『枠組みベース調整』 (Cropping / Music / 拡張)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外部AI生成 = 『ゼロから新規』 のクリエイティブ作成 (Midjourney / Sora 等)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副業代行ベストプラクティス :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  ① 外部AI で訴求軸ごとに 5-10案生成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  ② 媒体ネイティブの拡張 (Cropping/Music/Variations) でバリエーション量産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  ③ Smart+ / Advantage+ に大量投入で AI最適化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Digital Marketing Catch-Up 2023→2026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64592" cy="164592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AI クリエイティブの著作権・規制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副業代行でのリスク管理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P180 / 250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2697480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417320"/>
            <a:ext cx="2697480" cy="777240"/>
          </a:xfrm>
          <a:prstGeom prst="rect">
            <a:avLst/>
          </a:prstGeom>
          <a:solidFill>
            <a:srgbClr val="C64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581912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商用利用の可否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96596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各ツールの規約確認必須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423160"/>
            <a:ext cx="233172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6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Midjourney : Standard以上 OK</a:t>
            </a:r>
          </a:p>
          <a:p>
            <a:pPr algn="ctr">
              <a:lnSpc>
                <a:spcPct val="16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DALL-E / Sora : 規約準拠</a:t>
            </a:r>
          </a:p>
          <a:p>
            <a:pPr algn="ctr">
              <a:lnSpc>
                <a:spcPct val="16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Firefly : 商用利用安心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7560" y="1417320"/>
            <a:ext cx="2697480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37560" y="1417320"/>
            <a:ext cx="2697480" cy="777240"/>
          </a:xfrm>
          <a:prstGeom prst="rect">
            <a:avLst/>
          </a:prstGeom>
          <a:solidFill>
            <a:srgbClr val="C64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20440" y="1581912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既存ブランド・人物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196596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再現は使用禁止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2423160"/>
            <a:ext cx="233172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6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実在人物 / キャラクター /</a:t>
            </a:r>
          </a:p>
          <a:p>
            <a:pPr algn="ctr">
              <a:lnSpc>
                <a:spcPct val="16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ブランドロゴ の再現は</a:t>
            </a:r>
          </a:p>
          <a:p>
            <a:pPr algn="ctr">
              <a:lnSpc>
                <a:spcPct val="16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媒体審査で落ちる + 法的リスク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1417320"/>
            <a:ext cx="2697480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26480" y="1417320"/>
            <a:ext cx="2697480" cy="777240"/>
          </a:xfrm>
          <a:prstGeom prst="rect">
            <a:avLst/>
          </a:prstGeom>
          <a:solidFill>
            <a:srgbClr val="C64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1581912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AI生成表記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196596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媒体・規制で必須化進行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2423160"/>
            <a:ext cx="233172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6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EU DSA でAI生成広告は</a:t>
            </a:r>
          </a:p>
          <a:p>
            <a:pPr algn="ctr">
              <a:lnSpc>
                <a:spcPct val="16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表示義務化検討中。</a:t>
            </a:r>
          </a:p>
          <a:p>
            <a:pPr algn="ctr">
              <a:lnSpc>
                <a:spcPct val="16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TikTok Symphony は自動付与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15400" y="1417320"/>
            <a:ext cx="2697480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15400" y="1417320"/>
            <a:ext cx="2697480" cy="777240"/>
          </a:xfrm>
          <a:prstGeom prst="rect">
            <a:avLst/>
          </a:prstGeom>
          <a:solidFill>
            <a:srgbClr val="C64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98280" y="1581912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学習データの著作権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196596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進行中の論争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98280" y="2423160"/>
            <a:ext cx="233172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6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Stable Diffusion / OpenAI が</a:t>
            </a:r>
          </a:p>
          <a:p>
            <a:pPr algn="ctr">
              <a:lnSpc>
                <a:spcPct val="16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訴訟中。商用利用は</a:t>
            </a:r>
          </a:p>
          <a:p>
            <a:pPr algn="ctr">
              <a:lnSpc>
                <a:spcPct val="16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保証付きツール (Firefly等) を推奨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4069080"/>
            <a:ext cx="11109960" cy="2286000"/>
          </a:xfrm>
          <a:prstGeom prst="roundRect">
            <a:avLst>
              <a:gd name="adj" fmla="val 6000"/>
            </a:avLst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420624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💡 副業代行のリスク管理チェックリスト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4526280"/>
            <a:ext cx="10972800" cy="1783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✓ 利用ツールの『商用利用OK』確認 (規約読込)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✓ 商用利用安心ツール (Adobe Firefly等) を高単価案件で活用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✓ クライアント契約書に『AI生成素材使用』を明記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✓ 実在人物・既存IP の再現は禁止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✓ 媒体審査で落ちた場合の代替素材を別ツールで準備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✓ AI生成表記は将来的に必須になる前提で設計 (TikTok等は既に自動)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Digital Marketing Catch-Up 2023→2026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64592" cy="164592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プロンプト設計の鉄則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AI生成の品質はプロンプトで決まる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P181 / 250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361188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600200"/>
            <a:ext cx="548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645920"/>
            <a:ext cx="2606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目的を最初に明示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286000"/>
            <a:ext cx="3246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『この広告コピーは…』『商品紹介画像で…』</a:t>
            </a:r>
          </a:p>
          <a:p>
            <a:pPr algn="l">
              <a:lnSpc>
                <a:spcPct val="14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用途を冒頭で示す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417320"/>
            <a:ext cx="361188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1600200"/>
            <a:ext cx="548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66360" y="1645920"/>
            <a:ext cx="2606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ターゲットを具体的に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286000"/>
            <a:ext cx="3246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『30代女性 / 仕事疲れ / 美容意識高め』</a:t>
            </a:r>
          </a:p>
          <a:p>
            <a:pPr algn="l">
              <a:lnSpc>
                <a:spcPct val="14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属性 + 状況 + 関心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417320"/>
            <a:ext cx="361188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1600200"/>
            <a:ext cx="548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15400" y="1645920"/>
            <a:ext cx="2606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トーンを指定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2286000"/>
            <a:ext cx="3246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『カジュアル』『信頼感あり』『ユーモア』</a:t>
            </a:r>
          </a:p>
          <a:p>
            <a:pPr algn="l">
              <a:lnSpc>
                <a:spcPct val="14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ブランドボイスを言語化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108960"/>
            <a:ext cx="361188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291840"/>
            <a:ext cx="548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3337560"/>
            <a:ext cx="2606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出力形式を指定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3977640"/>
            <a:ext cx="3246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『見出し10案 + 説明文5案』</a:t>
            </a:r>
          </a:p>
          <a:p>
            <a:pPr algn="l">
              <a:lnSpc>
                <a:spcPct val="14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『カルーセル5枚分のセット』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97680" y="3108960"/>
            <a:ext cx="361188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80560" y="3291840"/>
            <a:ext cx="548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66360" y="3337560"/>
            <a:ext cx="2606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制約条件を伝える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3977640"/>
            <a:ext cx="3246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『漢字は40%以下』『PR表記必須』</a:t>
            </a:r>
          </a:p>
          <a:p>
            <a:pPr algn="l">
              <a:lnSpc>
                <a:spcPct val="14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『LP URLは含めない』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46720" y="3108960"/>
            <a:ext cx="361188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0" y="3291840"/>
            <a:ext cx="548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15400" y="3337560"/>
            <a:ext cx="2606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参照例 (Few-shot) を入れる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3977640"/>
            <a:ext cx="3246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『以下の過去の成功例と同じトーンで』</a:t>
            </a:r>
          </a:p>
          <a:p>
            <a:pPr algn="l">
              <a:lnSpc>
                <a:spcPct val="14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3-5案を例示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5029200"/>
            <a:ext cx="1097280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💡 プロンプトテンプレ集は Part 5-B P199-203 で詳細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Digital Marketing Catch-Up 2023→2026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64592" cy="164592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AB テスト × AI 生成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量産 → 配信 → 学習 → 改善 のサイクル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P182 / 250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269748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417320"/>
            <a:ext cx="2697480" cy="5029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536192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STEP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057400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量産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514600"/>
            <a:ext cx="233172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AI で 訴求軸ごとに 5-10案</a:t>
            </a:r>
          </a:p>
          <a:p>
            <a:pPr algn="ctr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→ 50-100本/週も現実的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7560" y="1417320"/>
            <a:ext cx="269748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37560" y="1417320"/>
            <a:ext cx="2697480" cy="5029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20440" y="1536192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STEP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2057400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配信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2514600"/>
            <a:ext cx="233172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Smart+ / Advantage+ に投入</a:t>
            </a:r>
          </a:p>
          <a:p>
            <a:pPr algn="ctr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AI が組合せ最適化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1417320"/>
            <a:ext cx="269748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26480" y="1417320"/>
            <a:ext cx="2697480" cy="5029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1536192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STEP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2057400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学習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2514600"/>
            <a:ext cx="233172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1-2週間で勝ちパターン抽出</a:t>
            </a:r>
          </a:p>
          <a:p>
            <a:pPr algn="ctr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クリエイティブ別の学習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15400" y="1417320"/>
            <a:ext cx="269748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15400" y="1417320"/>
            <a:ext cx="2697480" cy="5029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98280" y="1536192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STEP 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2057400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改善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98280" y="2514600"/>
            <a:ext cx="233172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勝ちパターンの要素を</a:t>
            </a:r>
          </a:p>
          <a:p>
            <a:pPr algn="ctr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次の AI生成プロンプトに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3794760"/>
            <a:ext cx="11109960" cy="2560320"/>
          </a:xfrm>
          <a:prstGeom prst="roundRect">
            <a:avLst>
              <a:gd name="adj" fmla="val 6000"/>
            </a:avLst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393192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💡 AI生成 + ABテストの鉄則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4251960"/>
            <a:ext cx="10972800" cy="2057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1回で完璧なクリエイティブを目指さない、量で勝つ (Smart+/Advantage+ が最適化)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訴求軸ごとに別個生成 (例: 価格訴求 / 機能訴求 / 体験訴求 / 信頼訴求)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勝ちパターン分析 = 共通要素 (色・キャプション形式・人物有無等) を抽出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次回プロンプト = 勝ちパターン要素を Few-shot として例示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季節性 = 月次で大きく訴求軸を更新 (春・夏・秋・冬・年末)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副業代行 : 月20-30本のクリエイティブを月初に大量量産 → 月末に勝ちパターン抽出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Digital Marketing Catch-Up 2023→2026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64592" cy="164592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AI クリエイティブのワークフロー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副業代行の標準的な制作フロー (1案件)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P183 / 250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2221992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417320"/>
            <a:ext cx="2221992" cy="502920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536192"/>
            <a:ext cx="19476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Day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057400"/>
            <a:ext cx="19476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ブリーフィング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468880"/>
            <a:ext cx="194767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クライアントヒアリング</a:t>
            </a:r>
          </a:p>
          <a:p>
            <a:pPr algn="ctr">
              <a:lnSpc>
                <a:spcPct val="15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ターゲット / 訴求軸 / NG事項</a:t>
            </a:r>
          </a:p>
          <a:p>
            <a:pPr algn="ctr">
              <a:lnSpc>
                <a:spcPct val="15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プロンプトテンプレ準備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16352" y="1417320"/>
            <a:ext cx="2221992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816352" y="1417320"/>
            <a:ext cx="2221992" cy="502920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53512" y="1536192"/>
            <a:ext cx="19476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Day 2-3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53512" y="2057400"/>
            <a:ext cx="19476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コピー量産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53512" y="2468880"/>
            <a:ext cx="194767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ChatGPT / Claude で</a:t>
            </a:r>
          </a:p>
          <a:p>
            <a:pPr algn="ctr">
              <a:lnSpc>
                <a:spcPct val="15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見出し50案 + 説明文30案</a:t>
            </a:r>
          </a:p>
          <a:p>
            <a:pPr algn="ctr">
              <a:lnSpc>
                <a:spcPct val="15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クライアント承認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84064" y="1417320"/>
            <a:ext cx="2221992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84064" y="1417320"/>
            <a:ext cx="2221992" cy="502920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21224" y="1536192"/>
            <a:ext cx="19476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Day 4-5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21224" y="2057400"/>
            <a:ext cx="19476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画像量産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21224" y="2468880"/>
            <a:ext cx="194767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Midjourney / Firefly で</a:t>
            </a:r>
          </a:p>
          <a:p>
            <a:pPr algn="ctr">
              <a:lnSpc>
                <a:spcPct val="15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画像 20-30案</a:t>
            </a:r>
          </a:p>
          <a:p>
            <a:pPr algn="ctr">
              <a:lnSpc>
                <a:spcPct val="15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媒体別アスペクト比対応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51776" y="1417320"/>
            <a:ext cx="2221992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51776" y="1417320"/>
            <a:ext cx="2221992" cy="502920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88936" y="1536192"/>
            <a:ext cx="19476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Day 6-7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88936" y="2057400"/>
            <a:ext cx="19476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動画量産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88936" y="2468880"/>
            <a:ext cx="194767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Sora 2 / Veo 3 / Luma で</a:t>
            </a:r>
          </a:p>
          <a:p>
            <a:pPr algn="ctr">
              <a:lnSpc>
                <a:spcPct val="15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縦型動画 10-15本</a:t>
            </a:r>
          </a:p>
          <a:p>
            <a:pPr algn="ctr">
              <a:lnSpc>
                <a:spcPct val="15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ABC原則準拠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619488" y="1417320"/>
            <a:ext cx="2221992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619488" y="1417320"/>
            <a:ext cx="2221992" cy="502920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56648" y="1536192"/>
            <a:ext cx="19476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Day 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56648" y="2057400"/>
            <a:ext cx="19476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配信投入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56648" y="2468880"/>
            <a:ext cx="194767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Smart+ / Advantage+ に</a:t>
            </a:r>
          </a:p>
          <a:p>
            <a:pPr algn="ctr">
              <a:lnSpc>
                <a:spcPct val="15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大量投入</a:t>
            </a:r>
          </a:p>
          <a:p>
            <a:pPr algn="ctr">
              <a:lnSpc>
                <a:spcPct val="15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学習開始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3794760"/>
            <a:ext cx="11109960" cy="2560320"/>
          </a:xfrm>
          <a:prstGeom prst="roundRect">
            <a:avLst>
              <a:gd name="adj" fmla="val 6000"/>
            </a:avLst>
          </a:prstGeom>
          <a:solidFill>
            <a:srgbClr val="FFF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" y="393192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💡 月次コスト試算 (1案件あたり)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4251960"/>
            <a:ext cx="10972800" cy="2057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ChatGPT Plus or Claude Pro : US$20/月 (全案件で共通)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Midjourney Standard : US$30/月 (全案件で共通)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Sora 2 (ChatGPT Pro) : US$200/月 (動画量産が必要な月のみ)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• Adobe Creative Cloud + Firefly : US$60/月 (高単価案件用)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= 1案件あたり追加コスト : 数千円〜1万円程度 (中規模案件)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→ デザイナー外注の数十万円から大幅コスト削減、副業代行の利益率改善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Digital Marketing Catch-Up 2023→2026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64592" cy="164592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AI クリエイティブ pitfalls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副業代行で『AIあるある』を防ぐ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P184 / 250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25880"/>
            <a:ext cx="544068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325880"/>
            <a:ext cx="91440" cy="1554480"/>
          </a:xfrm>
          <a:prstGeom prst="rect">
            <a:avLst/>
          </a:prstGeom>
          <a:solidFill>
            <a:srgbClr val="C64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46304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C6452D"/>
                </a:solidFill>
                <a:latin typeface="Hiragino Sans"/>
                <a:ea typeface="Hiragino Sans"/>
                <a:cs typeface="Hiragino Sans"/>
              </a:rPr>
              <a:t>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146304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AI生成丸投げで品質チェック放置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1920240"/>
            <a:ext cx="5074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ブランド毀損リスク + 規制違反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331720"/>
            <a:ext cx="5074920" cy="13716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423160"/>
            <a:ext cx="5074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→  必ず人間が最終確認、生成5件中1件は使えない前提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325880"/>
            <a:ext cx="544068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325880"/>
            <a:ext cx="91440" cy="1554480"/>
          </a:xfrm>
          <a:prstGeom prst="rect">
            <a:avLst/>
          </a:prstGeom>
          <a:solidFill>
            <a:srgbClr val="C64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46304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C6452D"/>
                </a:solidFill>
                <a:latin typeface="Hiragino Sans"/>
                <a:ea typeface="Hiragino Sans"/>
                <a:cs typeface="Hiragino Sans"/>
              </a:rPr>
              <a:t>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12280" y="146304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プロンプトの使い回し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1920240"/>
            <a:ext cx="5074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同じトーン・同じ訴求の量産 → 学習効果低い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2331720"/>
            <a:ext cx="5074920" cy="13716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2423160"/>
            <a:ext cx="5074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→  訴求軸 / ターゲット / トーン 別にプロンプト設計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017520"/>
            <a:ext cx="544068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3017520"/>
            <a:ext cx="91440" cy="1554480"/>
          </a:xfrm>
          <a:prstGeom prst="rect">
            <a:avLst/>
          </a:prstGeom>
          <a:solidFill>
            <a:srgbClr val="C64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315468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C6452D"/>
                </a:solidFill>
                <a:latin typeface="Hiragino Sans"/>
                <a:ea typeface="Hiragino Sans"/>
                <a:cs typeface="Hiragino Sans"/>
              </a:rPr>
              <a:t>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315468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商用利用規約を確認せず使用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3611880"/>
            <a:ext cx="5074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著作権侵害・賠償リスク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023360"/>
            <a:ext cx="5074920" cy="13716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4114800"/>
            <a:ext cx="5074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→  ツール毎に規約読込、不安なら Firefly等の保証付きを使用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72200" y="3017520"/>
            <a:ext cx="544068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72200" y="3017520"/>
            <a:ext cx="91440" cy="1554480"/>
          </a:xfrm>
          <a:prstGeom prst="rect">
            <a:avLst/>
          </a:prstGeom>
          <a:solidFill>
            <a:srgbClr val="C64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315468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C6452D"/>
                </a:solidFill>
                <a:latin typeface="Hiragino Sans"/>
                <a:ea typeface="Hiragino Sans"/>
                <a:cs typeface="Hiragino Sans"/>
              </a:rPr>
              <a:t>✗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12280" y="315468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実在人物・既存IPの再現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3611880"/>
            <a:ext cx="5074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媒体審査で落ちる + 法的リスク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4023360"/>
            <a:ext cx="5074920" cy="13716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0" y="4114800"/>
            <a:ext cx="5074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→  プロンプトに『一般的・抽象的な人物像』を指定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4709160"/>
            <a:ext cx="544068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48640" y="4709160"/>
            <a:ext cx="91440" cy="1554480"/>
          </a:xfrm>
          <a:prstGeom prst="rect">
            <a:avLst/>
          </a:prstGeom>
          <a:solidFill>
            <a:srgbClr val="C64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7240" y="484632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C6452D"/>
                </a:solidFill>
                <a:latin typeface="Hiragino Sans"/>
                <a:ea typeface="Hiragino Sans"/>
                <a:cs typeface="Hiragino Sans"/>
              </a:rPr>
              <a:t>✗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88720" y="484632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Sora / Veo 過剰使用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" y="5303520"/>
            <a:ext cx="5074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コスト爆発 (動画は高単価)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77240" y="5715000"/>
            <a:ext cx="5074920" cy="13716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77240" y="5806440"/>
            <a:ext cx="5074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→  静止画で十分な場合は静止画で、動画は『縦型必須』案件に限定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172200" y="4709160"/>
            <a:ext cx="544068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172200" y="4709160"/>
            <a:ext cx="91440" cy="1554480"/>
          </a:xfrm>
          <a:prstGeom prst="rect">
            <a:avLst/>
          </a:prstGeom>
          <a:solidFill>
            <a:srgbClr val="C64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0" y="484632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C6452D"/>
                </a:solidFill>
                <a:latin typeface="Hiragino Sans"/>
                <a:ea typeface="Hiragino Sans"/>
                <a:cs typeface="Hiragino Sans"/>
              </a:rPr>
              <a:t>✗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12280" y="484632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AI生成表記漏れ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0" y="5303520"/>
            <a:ext cx="5074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規制 + 信頼性低下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00800" y="5715000"/>
            <a:ext cx="5074920" cy="13716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00800" y="5806440"/>
            <a:ext cx="5074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→  AI生成と明示する文化が浸透中、躊躇せず明記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Digital Marketing Catch-Up 2023→2026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64592" cy="164592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5-A まとめ → 5-B 予告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AIクリエイティブ章のまとめ + 次は運用AI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P185 / 250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1110996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371600"/>
            <a:ext cx="137160" cy="86868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490472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1481328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コピー / 画像 / 動画 の3レイヤーが揃った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182880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ChatGPT/Claude/Gemini + Midjourney/Firefly + Sora 2/Veo 3 で</a:t>
            </a:r>
          </a:p>
          <a:p>
            <a:pPr algn="l">
              <a:lnSpc>
                <a:spcPct val="15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副業代行が1人で月20-30本のクリエイティブを量産可能に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331720"/>
            <a:ext cx="1110996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331720"/>
            <a:ext cx="137160" cy="86868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450592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2441448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媒体ネイティブ AI が標準装備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27889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Advantage+ Creative / Symphony / Gemini in Ads が完備</a:t>
            </a:r>
          </a:p>
          <a:p>
            <a:pPr algn="l">
              <a:lnSpc>
                <a:spcPct val="15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外部AI生成 + 媒体ネイティブ の2段構成が現代の鉄板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291840"/>
            <a:ext cx="1110996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291840"/>
            <a:ext cx="137160" cy="86868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410712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74519" y="3401568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副業代行の利益率が劇的改善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74519" y="374904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デザイナー外注の数十万円 → AI 数千円 の置き換えで</a:t>
            </a:r>
          </a:p>
          <a:p>
            <a:pPr algn="l">
              <a:lnSpc>
                <a:spcPct val="15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1案件あたりの収益性が大きく改善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434840"/>
            <a:ext cx="11109960" cy="1920240"/>
          </a:xfrm>
          <a:prstGeom prst="roundRect">
            <a:avLst>
              <a:gd name="adj" fmla="val 6000"/>
            </a:avLst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572000"/>
            <a:ext cx="10972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NEXT →  Part 5-B AI 運用・予測・Agent (20p, P186-P205)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029200"/>
            <a:ext cx="10972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Part 5-B で扱うトピック :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運用自動化 (Smart Bidding / Advantage+ / Smart+)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外部運用ツール (Skai / Marin / Optmyzr)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予測・分析 (LTV / Predictive Audiences / Vidmob)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🔥 Agent型広告運用 (Claude Computer Use / OpenAI Operator / Copilot)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副業運用者向けプロンプトテンプレ集 (5本)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Digital Marketing Catch-Up 2023→2026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