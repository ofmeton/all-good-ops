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7DDE8"/>
                </a:solidFill>
                <a:latin typeface="Helvetica Neue"/>
                <a:ea typeface="Helvetica Neue"/>
                <a:cs typeface="Helvetica Neue"/>
              </a:rPr>
              <a:t>2.5 years of blank, closed.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Digital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Catch-Up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880360"/>
            <a:ext cx="411480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06324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2023年10月 → 2026年4月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広告運用実務・9媒体・AI活用の現在地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669280"/>
            <a:ext cx="713232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806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作成 : 工藤陸 ( 内部資料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080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2026-04-25 | Part 1 / 8 | 総 250p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本書の使い方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How to read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73152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対象読者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2023年9月まで広告運用の現場にいた自分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（Google/Yahoo/Meta/YouTube 実務経験あり）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73152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期間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2023年10月 〜 2026年4月（約2.5年）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73152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718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8 Part / 約250ページ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Part 1=要約 / Part 2=市況 / Part 3=媒体別 ほか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603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560320"/>
            <a:ext cx="73152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読み方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718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通読: 3〜4時間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辞書的: Part 3の媒体別を引く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副業復帰特化: P1 → Part 6 → Part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推奨マーク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891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最重要アップデート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43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3891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間違えやすいポイント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343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891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副業で差がつくTips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4343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※要確認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3891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要裏取り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2064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なぜ今このキャッチアップか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321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BSA戦略（Rapid HP制作+広告運用初月セット L3）で広告運用パートの商品力を強化する。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同時に、副業として広告運用代行を再開できる実務ラインまで自分を戻す。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2.5年で何が変わったか — 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4つの地殻変動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4592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生成AIが"ツール"から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"運用レイヤー"へ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ChatGPT/Claude/Gemini/Sora…AIはツールから広告配信プラットフォームの内側に。クリエイティブ生成・入札最適化・アカウント構造提案まで AIが触る時代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64592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Cookie廃止は撤回されたが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シグナル減は戻らない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2024/07/22 Google は Cookie 廃止計画を撤回。しかし ATT / 規制 / ブラウザ制限で計測シグナル減の趨勢は不変。CAPI / SGTM / Consent Mode v2 は依然必須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2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アカウント運用が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"ブラックボックス化"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Advantage+ / Smart+ に収束。広告セット分割・手動入札調整の時代は終わり、人間の仕事は「AIを導く / 検証設計 / 翻訳」へ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052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MMM が復活、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Incrementality が標準装備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12080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ラストクリック計測崩壊の反動として Bayesian MMM（Meta Robyn / Google Meridian）が民主化。Meta は内製で Lift Test を標準提供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差分マップ 2023-09 → 2026-04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媒体・配信面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P04 /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10996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2023-09 当時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2026-04 現在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1554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変化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検索広告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2140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BMM廃止後、Phrase/Exact で細かく制御。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キーワード選定とマッチタイプ運用が肝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2140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Match + Smart Bidding 推奨。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Max for Search (2025/05) で自動拡張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212140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11109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9008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配信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99008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 Shopping / Local Campaigns 残存。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手動キャンペーン分け運用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99008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Performance Max に収束。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Demand Gen (Discovery統合)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299008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4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5876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Meta 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85876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ASC 初期、CBO 主流、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広告セット分割が基本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85876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全盛 (Shopping/Leads/App)。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Lattice / Andromeda で配信ML統合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385876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17720"/>
            <a:ext cx="11109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2744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2744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日本B2C限定、手動運用。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クリエイティブ職人的制作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2744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(2024/10) / Symphony AI。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Shop Ads が本格拡大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472744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9612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Yahoo! / 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59612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Yahoo!広告単独、YDA 手動中心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59612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LINEヤフー統合後、LINE広告と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連携前提の日本市場に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559612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★ = 変化の度合い (3段階)   |   出典: 各媒体公式発表 / Search Engine Land / 電通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差分マップ 2023-09 → 2026-04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計測・クリエイティブ・運用職の役割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P05 /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109960" cy="6400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2023-09 当時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554480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2026-04 現在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15544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変化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2140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計測基盤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2140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UA → GA4 移行中。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タグ直接配置 / Cookieベース中心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2140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完全移行済。SGTM / CAPI 標準。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(2024/03~) 必須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212140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11109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9008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99008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デザイナー制作。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 A/B テストで勝ち本決定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99008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生成AI + Advantage+ Creative。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動画は Sora / Veo / Runway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299008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4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5876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計測思想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85876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ラストクリック中心。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CV重視のアトリビューション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85876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Incrementality / MMM / LTV へ回帰。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Robyn / Google Meridian 民主化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385876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17720"/>
            <a:ext cx="11109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2744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運用職の役割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2744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配信設定 / 入札調整 /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クリエイティブ指示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72744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を導く / 検証設計 / ビジネス翻訳。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運用単純作業は AI 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472744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11109960" cy="86868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96128"/>
            <a:ext cx="2057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検索の位置づけ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59612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テキスト検索 = 購買導線の中心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596128"/>
            <a:ext cx="3794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Overview (2024/05) / ChatGPT検索 /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Perplexity で LLM経由流入が増加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5596128"/>
            <a:ext cx="9144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詳細は Part 3 (媒体別) / Part 4 (計測) / Part 5 (AI活用)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業界3大潮流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Three macro trends driving the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レイヤー化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306324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広告プラットフォーム各社が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配信の中核に ML を据えた。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Advantage+ / Smart+ に収束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29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人間は『AIを導く』役に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406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代理店の省人化・内製化が加速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46304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4630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8288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プライバシー持続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429000"/>
            <a:ext cx="306324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661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Cookie 廃止は撤回されたが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シグナル減少は不可逆。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6177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CAPI / SGTM は標準装備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029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(2024/03~)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4406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Privacy Sandbox 終了 (2025/10) → CHIPS/FedCMのみ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46304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4630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828800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803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購買導線の断片化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429000"/>
            <a:ext cx="306324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5661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検索→SNS→動画→AI検索へ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導線が分散。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617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6177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Overview (2024/05~)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0292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縦型動画の購買比率上昇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4406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GEO (Generative Engine Optimization) 胎動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媒体シェア推移（日本市場）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電通 日本の広告費 2024 (2025/02/27発表)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4114800" cy="4846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2024年 日本の総広告費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7.67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兆円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前年比 +4.9% ／ 3年連続で過去最高更新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94760"/>
            <a:ext cx="3657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うちインターネット広告費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3.65 兆円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前年比 +9.6% ／ 全広告費の 47.6%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うち広告媒体費 2.96 兆円 (+10.2%)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 : 電通「2024年 日本の広告費」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417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内訳 : 媒体別広告費 (億円)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98424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インターネット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984247"/>
            <a:ext cx="3840480" cy="32004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19659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36,517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2432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テレビメディア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624327"/>
            <a:ext cx="1791459" cy="3200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3779" y="260603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17,034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2644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プロモーションメディア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64407"/>
            <a:ext cx="1573232" cy="3200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05552" y="32461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14,959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90448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3904487"/>
            <a:ext cx="352423" cy="320040"/>
          </a:xfrm>
          <a:prstGeom prst="roundRect">
            <a:avLst>
              <a:gd name="adj" fmla="val 6000"/>
            </a:avLst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4743" y="38861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3,351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54456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雑誌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544567"/>
            <a:ext cx="217911" cy="320040"/>
          </a:xfrm>
          <a:prstGeom prst="roundRect">
            <a:avLst>
              <a:gd name="adj" fmla="val 6000"/>
            </a:avLst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0231" y="452627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2,072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18464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ラジオ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184647"/>
            <a:ext cx="111795" cy="320040"/>
          </a:xfrm>
          <a:prstGeom prst="roundRect">
            <a:avLst>
              <a:gd name="adj" fmla="val 6000"/>
            </a:avLst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4115" y="51663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1,063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5623560"/>
            <a:ext cx="6720840" cy="685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7150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66928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運用型ネット広告がマス4媒体 (TV+新聞+雑誌+ラジオ) の合計を上回る構造が定着。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リテールメディア / 縦型動画 / LINEヤフー合算シェアが今後の注目点。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2.5年で覚える10キーワード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読む前の前提知識マップ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35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3560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Performance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Google全面統合型AIキャンペーン。検索以外はほぼこれに寄せる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132588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5496" y="132588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435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43560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ASC (Meta)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17373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Advantage+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057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Meta版の統合AI配信。Shopping / Leads / App。EC/D2Cの鉄板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132588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2352" y="132588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1435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143560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2024/10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17373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TikTok Smart+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057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TikTok完全自動化キャンペーン。Web/Catalog/App/Lead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9208" y="132588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79208" y="132588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1435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143560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2025/05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17373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Max for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057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検索広告のAI拡張層。DSAを置換予定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56064" y="132588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56064" y="132588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38944" y="1435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4744" y="143560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Conversion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8944" y="173736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205740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サーバーサイド計測の業界標準。Meta/TikTok/LINE/X対応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65176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65176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27614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276148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2024/03~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30632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Consent Mode 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38328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EU同意必須化。日本実務でも実装が定着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25496" y="265176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25496" y="265176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08376" y="27614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94176" y="276148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Server-side GTM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08376" y="30632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SGTM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08376" y="338328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計測タグをサーバー経由で発火する標準構成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02352" y="265176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2352" y="265176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85232" y="27614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71032" y="276148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Media Mix Modeling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5232" y="30632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MMM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5232" y="338328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Robyn / Meridian で民主化された統計モデル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79208" y="265176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79208" y="265176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2088" y="27614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276148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2024/05~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62088" y="30632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Overview / GEO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62088" y="338328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Google検索の AI 要約表示 → LLM経由流入の新潮流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56064" y="2651760"/>
            <a:ext cx="22219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56064" y="2651760"/>
            <a:ext cx="73152" cy="12344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38944" y="27614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24744" y="2761488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2025~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8944" y="306324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Agent型広告運用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38944" y="338328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 Computer Use / OpenAI Operator で管理画面を操作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126480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各キーワードの深掘り : Part 3 (媒体固有) / Part 4 (計測) / Part 5 (AI活用) / 付録の用語集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副業復帰の最短ルート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Part 順ではなく効率順でなぞる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P09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" y="1463040"/>
            <a:ext cx="2103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5740" y="14630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" y="1645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" y="22402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Part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" y="256032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鉄板運用メソッド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2026年版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383280"/>
            <a:ext cx="1371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" y="3474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15p / 30分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" y="393192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現代の鉄板構成・入札戦略・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Learning Phase 突破手順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00300" y="3200400"/>
            <a:ext cx="228600" cy="320040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28900" y="1463040"/>
            <a:ext cx="2103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28900" y="14630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1780" y="1645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1780" y="22402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Part 3-1,2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1780" y="256032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+ Meta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重点読み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94660" y="3383280"/>
            <a:ext cx="1371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11780" y="3474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47p / 60分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1780" y="393192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Advantage+ の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統制術を集中インストール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823460" y="3200400"/>
            <a:ext cx="228600" cy="320040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52060" y="1463040"/>
            <a:ext cx="2103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52060" y="14630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4940" y="1645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4940" y="22402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Part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4940" y="256032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計測・データ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基盤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17820" y="3383280"/>
            <a:ext cx="1371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4940" y="3474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25p / 40分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4940" y="393192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SGTM / CAPI /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押さえる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246620" y="3200400"/>
            <a:ext cx="228600" cy="320040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75220" y="1463040"/>
            <a:ext cx="2103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75220" y="14630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58100" y="1645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8100" y="22402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Part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8100" y="256032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AI活用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40980" y="3383280"/>
            <a:ext cx="1371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58100" y="3474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40p / 60分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8100" y="393192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生成AIツール3つ決める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自分のワークフロー化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669780" y="3200400"/>
            <a:ext cx="228600" cy="320040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898380" y="1463040"/>
            <a:ext cx="2103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898380" y="1463040"/>
            <a:ext cx="2103120" cy="6400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81260" y="16459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STEP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1260" y="224028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Part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1260" y="256032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BSA L3</a:t>
            </a:r>
          </a:p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実装ガイド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64140" y="3383280"/>
            <a:ext cx="13716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81260" y="34747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10p / 20分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81260" y="393192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30日プランで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即クライアントに出せる状態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641848"/>
            <a:ext cx="11109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合計 約 3時間30分 で最低限の復帰ライン到達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1280160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39903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エグゼクティブサマリー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280160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4173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14173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847088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84248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1847088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1965960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市況・業界構造の変化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847088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98424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20p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198424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14016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5117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2414016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2532888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媒体別キャッチアップ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2414016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551176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110p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255117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P31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980944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18104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2980944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3099816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計測・データ基盤の激変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2980944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3118104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25p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31181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P141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547872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8503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74519" y="3547872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666744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AI活用事例集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3547872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3685032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40p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368503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P166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14800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25196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74519" y="4114800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423367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鉄板運用メソッド 2026年版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4114800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425196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15p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425196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P206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81728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818888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4519" y="4681728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4800600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BSA L3 実装ガイド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38360" y="4681728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481888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10p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5640" y="48188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P221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248656"/>
            <a:ext cx="1234440" cy="502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385816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 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74519" y="5248656"/>
            <a:ext cx="777240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5367528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付録 (用語・ツール・情報源)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60" y="5248656"/>
            <a:ext cx="1005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385816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15p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35640" y="538581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→ P231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6080760"/>
            <a:ext cx="11109960" cy="3657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現在 Part 1 完了 | 総 250 ページ構成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