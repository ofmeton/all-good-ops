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937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PART 3 / 媒体別キャッチアップ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3-A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2.5年で最も大きく変わった媒体。運用者の仕事そのものが書き換わった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0"/>
            <a:ext cx="1828800" cy="64008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10789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25p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57600"/>
            <a:ext cx="914400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PMaxの成熟、AI Max for Search、Gemini in Ads、Demand Gen、Enhanced Conversions、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Consent Mode v2 連携、Broad Match + Smart Bidding の思想、Attribution の進化。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D7DDE8"/>
                </a:solidFill>
                <a:latin typeface="Hiragino Sans"/>
                <a:ea typeface="Hiragino Sans"/>
                <a:cs typeface="Hiragino Sans"/>
              </a:rPr>
              <a:t>この章を読めば『今Google Adsを再開できる』状態になる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 章内の主要トピック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492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Google Ads 地殻変動 TL;DR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6418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キャンペーンタイプ現在地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934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Performance Max の全貌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270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PMax 統制術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5196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検索: Broad Match 復権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8122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AI Max for Search (2025/05)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71048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Gemini in Google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73974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Demand Gen (Discovery統合)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769010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Enhanced Conversions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3492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Consent Mode v2 連携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6418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Offline / Customer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9344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Value-based Bidding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622706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Predictive Audiences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651967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DDA / Attribution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681228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Optiscore 活用と罠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71048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鉄板運用メソッド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739749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よくある失敗・回避策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Ads : 地殻変動 TL;DR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2023年9月 → 2026年4月 で何が変わったか 5行で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9047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検索広告の思想逆転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288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キーワード選定 + Phrase/Exact 細かく制御 → Broad Match + Smart Bidding 推奨へ。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『AIにマッチさせ、ネガで絞る』が基本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13432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47802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キャンペーンタイプの整理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81635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 Shopping / Local Campaigns は廃止・PMax 統合。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Discovery Ads は Demand Gen に統合 (2023/10)。Video Action Campaign も Demand Gen 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00984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00984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83864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46557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PMax が成熟化 + 統制機能が拡充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 開示 / Asset Insights / 50検索テーマ / ブランド除外 / デバイス指定 /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キャンペーンレベル除外キーワード 10,000件 / 動画 15本/asset group (2025)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88536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88536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71416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531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+ AI Max の登場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7914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Gemini in Ads : 会話型で広告文・アセット生成。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 Max for Search (2025/05/06) : DSA置換の検索AI拡張層、14-27% CV向上の事例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76088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76088"/>
            <a:ext cx="109728" cy="960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58968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440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計測が 1stPD / SGTM / CAPI 前提に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77900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Conversions / Consent Mode v2 / Offline Conversion Import /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が実装必須。DDA (Data-Driven Attribution) が標準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キャンペーンタイプの現在地マップ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2026年: 5タイプに整理 + PMax中心の Hub &amp; Spoke 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6864" y="3017519"/>
            <a:ext cx="2926080" cy="146304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320039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Performance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356615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フル自動 / 全面配信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1828800"/>
            <a:ext cx="146304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965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31720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検索広告</a:t>
            </a:r>
          </a:p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Broad Match + AI Max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828800"/>
            <a:ext cx="146304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965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Demand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331720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YouTube+Discover+Gmail</a:t>
            </a:r>
          </a:p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縦型/InFeed/Shorts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572000"/>
            <a:ext cx="146304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7091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74920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アプリインストール</a:t>
            </a:r>
          </a:p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事前学習型自動配信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4572000"/>
            <a:ext cx="146304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47091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Video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5074920"/>
            <a:ext cx="1463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YouTubeブランディング</a:t>
            </a:r>
          </a:p>
          <a:p>
            <a:pPr algn="ctr">
              <a:lnSpc>
                <a:spcPct val="135000"/>
              </a:lnSpc>
            </a:pPr>
            <a:r>
              <a:rPr sz="9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TrueView/Bumper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 消えたタイプ: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53328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 Shopping → PMax / Local → PMax / Discovery → Demand Gen / Video Action → Demand Gen / ETA → RSA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Performance Max の全貌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Googleの全面統合AIキャンペーン (2021発表 → 2026成熟)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PMax とは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Google広告在庫 (検索 / ショッピング / YouTube / Discover / Gmail / ディスプレイ / Maps) を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一つのキャンペーンで自動配信。クリエイティブ・入札・配信面を Google AI が最適化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入力 (運用者が提供)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8036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6382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テキスト/画像/動画/ロゴ/URL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02152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935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60273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AIへのヒント (1PD / 興味関心)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41064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325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Conversion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0416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CV定義 + Value-based Bidding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79976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714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Negative Keywords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805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キャンペーン単位 10,000件 (2025~)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18888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03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Brand Exclusions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9194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除外ブランドリスト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57800"/>
            <a:ext cx="5486400" cy="38404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Themes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35838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検索テーマ 50件 (2025~)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560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AI が自動決定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8036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3063240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1546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配信面の選択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16382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検索/ショッピング/YT/Discover他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502152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5935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ビッド単価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360273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Target CPA / ROAS で自動入札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941064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0325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クリエイティブ組み合わせ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04164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アセットの組み合わせ最適化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379976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4714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ターゲティング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480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Signal を出発点に拡張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818888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9103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頻度 / タイミング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9194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ユーザー単位で最適な頻度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257800"/>
            <a:ext cx="5257800" cy="384048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3492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検索マッチタイプ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3583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Match 相当で広く意図マッチ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PMax アカウント構造ベストプラクティス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2026年版 : 成熟後に定着した5つの原則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商品/サービスの粒度でキャンペーン分割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LTV / ROAS 目標が異なるクラスタを混ぜない。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例: 新規獲得 vs 既存顧客 / 高単価 vs 低単価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002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 Group は 5-10 個が上限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718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AI最適化が効くため分割しすぎ NG。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テーマ別 (例: 訴求軸 / 顧客層) で分ける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002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Themes を積極活用 (2025~)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7180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AIへの 『このカテゴリを狙え』 ヒント。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Group あたり 50件まで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Signal は『AIへのヒント』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ターゲティングではない。1PD (Customer Match) +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Intent Segments を入れるのが効く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79476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94760"/>
            <a:ext cx="3611880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5488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Negative Keywords と Brand Exclusions 必須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440680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 KW の自己競合排除。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キャンペーン単位 10,000件活用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PMax データアクセスの改善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2023-2025 で透明性が段階的に開示された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P36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透明性改善のタイムライン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Terms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84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検索クエリの一部開示。カテゴリ別集約表示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5603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 Performance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786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アセット別の Best / Good / Low 評価と実数値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1752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154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Attribution 表示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72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Cross-channel アトリビューションの可視化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1188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1188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490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749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Campaign-level Negative Keywords (10,000件)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767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 / ショッピング在庫に対して除外可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0624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43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343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Search Themes 50件 / Video 15本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6168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Group の制限緩和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80060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83080" y="49377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Device / Demographic Targeting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956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デバイス指定 + 年齢性別指定が可能に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94960"/>
            <a:ext cx="11109960" cy="5029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394960"/>
            <a:ext cx="1097280" cy="50292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5321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2026/03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Ads Editor 2.12: Brand Guidelines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550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用語除外 25件 + メッセージ制限 40件 が指定可 ※要確認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PMax の統制術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AIを導くための 3レバー : Signal / Exclusions /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3611880" cy="86868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Audience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AIへのヒント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1460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791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1PD (Customer Match / Similar)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29184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Intent Segments / In-market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6908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33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カスタムセグメント (URLベース)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4632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109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Lookalike / Predictive Audiences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32588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325880"/>
            <a:ext cx="3611880" cy="8686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08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Exclusions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928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無駄配信の除去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51460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6791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Negative Keywords 10,000件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329184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45643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Brand Exclusions リスト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06908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33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Placement Exclusions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484632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50109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Account-level 除外アプリ/URL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325880"/>
            <a:ext cx="361188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1325880"/>
            <a:ext cx="3611880" cy="8686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508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Budget 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189280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予算による意思表示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51460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6791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キャンペーン単位の日予算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329184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45643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tCPA / tROAS の目標値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06908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2336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Bid Strategy : MaxConv vs MaxValue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4846320"/>
            <a:ext cx="306324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01091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▸  Seasonality Adjustment (短期)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検索広告 : Broad Match の復権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Smart Bidding 前提で BMM廃止後の混乱が終息した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P38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思想の逆転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109960" cy="2011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旧 (〜2023)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キーワード粒度で細かく制御。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Phrase / Exact 中心。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は無駄クリックが多いと忌避。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マッチタイプの細分化 → 管理コスト増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606040"/>
            <a:ext cx="548640" cy="457200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新 (2024〜)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Match + Smart Bidding 推奨。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ネガティブキーワードで絞る思想に反転。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公式: Broad の CV 貢献度が高い。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『AIにマッチさせ、ネガで絞る』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なぜ逆転したか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079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Smart Bidding (tCPA/tROAS) の精度向上で、雑なクリックもCV見込みでフィルタ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64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BERT / MUM / Gemini の言語理解で意図マッチが飛躍的に向上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486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76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Exact マッチのシェアが縮小 → 機会損失が増加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3270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013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Signal + 1PD の活用で AI 判断の補強可能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副業運用の実務 (鉄板設定)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9768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8056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079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Core KW は Exact / Phrase を土台に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646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8920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Match を同じ広告グループに入れる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2486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2760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Target CPA / Target ROAS を設定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327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6601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KW を 500件 程度で初期投入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0167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60441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Group + RSA で複数訴求をAIが選ぶ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RSA と広告アセット設計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Expanded Text Ads (ETA) 廃止後 (2022/06) の基本形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P39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RSA = Responsive Search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見出し最大15個 + 説明文最大4個 を登録し、Google AI が組み合わせを最適化。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ETA は 2022/06 で新規作成終了、現在も既存は配信されるが非推奨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RSA 設計のベストプラクティス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見出し 15個 上限で登録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AIの組み合わせ自由度を確保する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17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017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訴求軸の多様化 (価格/信頼/機能)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ABテスト対象を AIが自動選別してくれる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Pinning は最小限に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AI最適化を阻害するため、ブランド必須箇所のみ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160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160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 Strength: Excellent を目指す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Optiscore 上昇 + CVR改善効果あり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03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40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Assets (sitelink / callout / structured)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広告フォーマット拡大で表示面積とCTR UP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30352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530352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4406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動的アセット (Location / Price / Promotion)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0644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在庫連携で商品単位の訴求を自動生成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AI Max for Search (2025/05/06 発表)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検索広告のAI拡張レイヤー、DSA置換が確定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09728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Google Marketing Live 2025 (2025/05/21)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74519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検索広告の入札・マッチング・クリエイティブに Google AI を統合する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『オプション機能群』として正式ローンチ。Q3 2025 全面ロールアウト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3 つの主要機能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91440" cy="2103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① Search Term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Broad Match を拡張。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LLM ベースでユーザーの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意図に近いクエリにマッチ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1089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08960"/>
            <a:ext cx="91440" cy="2103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291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② Asset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8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ランディングページや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既存アセットから新アセットを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自動生成 (旧 ACA 後継)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10896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108960"/>
            <a:ext cx="91440" cy="21031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291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③ Text Customization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840480"/>
            <a:ext cx="3246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クエリ単位で見出し・説明文を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カスタマイズ。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個別最適化されたコピー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📊 Google 公式のパフォーマンス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+14% のコンバージョン or CV値 (同 CPA / ROAS ベース)   |   Exact/Phrase 中心の検索キャンペーンでは +27%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Dynamic Search Ads (DSA) は AI Max に置換される方針 ※要確認 (2026時点)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in Google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会話型で広告文・キャンペーン構築を補助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P41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Gemini が Google Ads 管理画面に統合 (2024~)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Conversational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Campaign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LPのURLを入力 → Gemini が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キーワード・広告文・画像・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除外設定を自動提案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188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LPコンテンツを解析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競合リサーチ結果を反映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5896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訴求軸を複数生成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77900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人間は確認・調整のみ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2024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9202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24028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1546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2024-2025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4747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61188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画像・動画・テキストの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生成を Google 内で実行。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外部ツール不要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8188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画像: Imagen モデル活用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13892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動画: 静止画を動画化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45896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テキスト: 複数パターン量産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760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577900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ブランドガイド準拠も2026で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192024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192024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240280"/>
            <a:ext cx="3246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Ads Studio</a:t>
            </a:r>
          </a:p>
          <a:p>
            <a:pPr algn="l">
              <a:lnSpc>
                <a:spcPct val="120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(Labs)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1546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2024 Beta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474720"/>
            <a:ext cx="315468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361188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クリエイティブ制作のための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統合スタジオUI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81888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複数フォーマット一括生成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13892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AIプロンプトインターフェース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440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45896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2026時点で一部Beta ※要確認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760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779008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/ CMS との連携拡張中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Demand Gen (旧Discovery Ads 統合, 2023/10)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YouTube + Discover + Gmail を横断する需要喚起型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Demand Gen は 2023/10 に Discovery Ads を統合して登場。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2024-2025 で Video Action Campaign (VAC) も Demand Gen に段階アップグレード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配信面 (2025~ チャネル別制御可)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22128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2212848" cy="109728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In-Stream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従来の動画広告枠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8" y="2926080"/>
            <a:ext cx="22128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7208" y="2926080"/>
            <a:ext cx="2212848" cy="109728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320040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In-Feed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93192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ホーム / 検索結果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5776" y="2926080"/>
            <a:ext cx="22128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2926080"/>
            <a:ext cx="2212848" cy="10972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320040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Shorts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393192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縦型9:16 専用 2025~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2926080"/>
            <a:ext cx="22128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4344" y="2926080"/>
            <a:ext cx="2212848" cy="109728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61504" y="320040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Discover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93192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Androidホームのフィード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2912" y="2926080"/>
            <a:ext cx="22128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2" y="2926080"/>
            <a:ext cx="2212848" cy="109728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20072" y="320040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Gmail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Promotions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3931920"/>
            <a:ext cx="19385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Gmailプロモーションタブ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2025年の主要アップデート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3776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20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480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Channel Controls: 配信面別の除外設定が可能に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681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49554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9:16 縦型画像アセットで YouTube Shorts 向け配信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1558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8430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動画拡張: 1本の動画から複数アスペクト比を自動生成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630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61904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Shorts 単独パフォーマンス指標が表示される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Enhanced Conversions (Web / Leads)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ハッシュ化1PDで計測を補強する業界標準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82296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Enhanced Conversions for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購入CVを補強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CV発生時に入力された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Email/電話番号をハッシュ化し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Googleへ送信。Cookieでの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計測漏れを補完する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8620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実装ポイント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GTM経由 / gtag.js 直接設定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SHA-256 ハッシュ化 (端末側)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3036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Google側でマッチング拡張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4184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典型: +5% 〜 +15% のCV復元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86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5486400" cy="8229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55448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Enhanced Conversions for Leads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B2Bリード計測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468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リード獲得時のEmail/電話を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アップロードし、後でCRM側の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クロージングを Google Ads に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戻してオフラインCV化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88620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23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実装ポイント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89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40740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 → Lead 獲得を認識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006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81888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後日 CRM でクローズ → 送信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3036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Value-based Bidding の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核になる設計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6235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64184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2024-2026 で普及拡大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Google Ads と Consent Mode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同意信号の送信が計測精度を分ける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Consent Mode v2 : ユーザー同意の状態を Google に送信する仕組み。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2024/03/06 EEA 義務化、グローバル企業は実装が事実上標準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Basic Consent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同意なし = タグ発火なし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✗ モデル推計が限定的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✗ Remarketing 対象不可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✗ コンバージョンロス大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317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Advanced Consent Mode (推奨)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80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同意有無に関わらずCookieless pingを送信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20040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37560"/>
            <a:ext cx="4937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✓ モデル推計でCVを復元 (+20〜65%)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✓ Bid Strategy の精度維持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✓ Optiscore 上昇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実装のポイント (2026年)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852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CMP (Cookiebot / OneTrust / usercentrics) を先に導入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504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577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Tag で Consent Mode v2 を Advanced に設定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430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8704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4つの consent パラメータを正しく送信 (ad_storage / ad_user_data / ad_personalization / analytics_storage)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13562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61630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Tag Assistant で動作確認 → GA4 / Google Ads 両方でチェック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Offline Conversions / Customer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1PD (ファーストパーティデータ) で Google Ads を武装する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Offline Conversion Import (OCI)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広告クリック → CRM上でクロージング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発生した売上・LTV を GCLID 紐付けで戻す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3832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実装ポイント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587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Lead Gen / B2B で必須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Conversions for Leads と並行実装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tROAS Bidding の基盤データ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303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週次 or 日次でアップロード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1732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417320"/>
            <a:ext cx="548640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Customer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既存顧客リスト (Email/電話) を Google にアップ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既存ユーザーへのターゲティング / 除外 / Lookalike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3832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実装ポイント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8587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ハッシュ化して送信 (SHA-256)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297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159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最低 100マッチ 必要 (媒体条件による)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54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7731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CRM → API 直接連携が現代的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303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の Audience Signal でも活用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Value-based Bidding (VBB)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売上金額・LTV で入札する現代の標準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P46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コンバージョン 1件ごとに『価値』を送信し、tROAS (Target ROAS) で入札。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同じCVでも高LTV顧客・高利益商品を重視して配信できる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従来の CV ベース vs Value ベース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11109960" cy="4572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03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CV件数ベース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39" y="2880360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Value ベース (VBB)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11099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649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評価軸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3649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CV件数 (tCPA / MaxConv)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336499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CV値 / 売上 (tROAS / MaxValue)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4904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679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最適化対象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8679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低単価CVの大量獲得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39" y="386791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高LTV・高利益のCVに偏重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51960"/>
            <a:ext cx="111099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データ要件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3708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CV発生のみ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437083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CV + 値 (購入金額 / LTV推定値)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87375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おすすめ業種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8737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リード獲得 / 新規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39" y="487375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EC / SaaS / 高単価商材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57800"/>
            <a:ext cx="111099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37667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導入難易度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376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低 (基本構成)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39" y="537667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中 (値の設計が必要)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943600"/>
            <a:ext cx="11109960" cy="4114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01675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LTV推定が難しい場合は『初回購入金額 × 係数』や『商品カテゴリ別固定値』から始める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/ Predictive Audiences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1PD + AI予測で攻めるオーディエンス設計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P47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1PD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Customer Match</a:t>
            </a: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Similar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既存顧客リスト・LAL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ハッシュ化 → API連携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69164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Intent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(Google)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In-market</a:t>
            </a: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Custom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803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検索意図・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Webサイト履歴ベース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9164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GA4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7744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Remarketing</a:t>
            </a: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Predictive Audiences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803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購入予測 / 離脱予測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有料ユーザー予測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26974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69164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7744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Affinity</a:t>
            </a: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視聴履歴ベース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880360"/>
            <a:ext cx="2331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興味関心カテゴリ</a:t>
            </a:r>
          </a:p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視聴行動からの推定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🔥 GA4 Predictive Audiences (副業代行で差別化できる)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2976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29768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348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Likely 7-day Purchasers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8006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7日以内に購入見込みのユーザー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42976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37560" y="429768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44348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Likely 7-day Churners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8006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7日以内に離脱見込みのユーザー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2976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429768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4348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Predicted Revenue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8006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予測される30日売上で重み付け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400" y="4297680"/>
            <a:ext cx="2697480" cy="100584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15400" y="4297680"/>
            <a:ext cx="73152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443484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Top Spenders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8006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累計支出上位ユーザーの LAL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💡 これらは GA4 の機械学習で自動生成される。Ecサイト / サブスクで強力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Attribution : DDA と Cross-channel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ラストクリック時代は終わり、DDA が標準に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P48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アトリビューションモデルの歴史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4767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Last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476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elvetica Neue"/>
                <a:ea typeface="Helvetica Neue"/>
                <a:cs typeface="Helvetica Neue"/>
              </a:rPr>
              <a:t>従来主流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965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最後のクリックに100%配分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7744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963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Position-Based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963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elvetica Neue"/>
                <a:ea typeface="Helvetica Neue"/>
                <a:cs typeface="Helvetica Neue"/>
              </a:rPr>
              <a:t>2019~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5146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First + Last を重視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2608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449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044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elvetica Neue"/>
                <a:ea typeface="Helvetica Neue"/>
                <a:cs typeface="Helvetica Neue"/>
              </a:rPr>
              <a:t>2019~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063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全タッチポイント均等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7472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74720"/>
            <a:ext cx="2286000" cy="457200"/>
          </a:xfrm>
          <a:prstGeom prst="rect">
            <a:avLst/>
          </a:prstGeom>
          <a:solidFill>
            <a:srgbClr val="5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9359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Time Decay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A6A80"/>
                </a:solidFill>
                <a:latin typeface="Helvetica Neue"/>
                <a:ea typeface="Helvetica Neue"/>
                <a:cs typeface="Helvetica Neue"/>
              </a:rPr>
              <a:t>2019~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611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直近のクリックほど重い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1110996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4223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Data-Driven (DDA)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1422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2022~デフォルト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60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ML で実データから配分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09160"/>
            <a:ext cx="11109960" cy="164592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463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Data-Driven Attribution (DDA) の中身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212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機械学習が実際の購入経路からタッチポイントの貢献度を算出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2022年に Google Ads / GA4 のデフォルトに昇格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Cross-channel : Search / Display / YouTube / Shopping を横断評価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副業代行のポイント : レポートで必ず『DDA設定済』を確認、Last Click は非推奨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Optiscore の活用と罠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100点満点を盲信しない、使いどころを選ぶ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P49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活用するべき提案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9339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Enhanced Conversions 有効化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シグナル補強 = 無料で効く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420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9631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Consent Mode v2 実装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974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モデリング精度向上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2608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449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9923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DDA への切り替え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0040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ラストクリック依存を脱する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2900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0215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Audience Signal 追加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0332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PMax の学習加速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31920"/>
            <a:ext cx="5486400" cy="45720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50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57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05072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Ad Strength 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062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アセット多様化で CVR 改善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鵜呑みにしない提案 (罠)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737360"/>
            <a:ext cx="525780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192024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03911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199339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予算増額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1945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CPA悪化のリスク, 目標と別基準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42316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5420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4963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tCPA/tROAS の緩和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6974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AIの『学習しやすい』提案、収益性劣化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92608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0449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99923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マッチタイプを全 Broad 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2004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同業種 KW侵食や無関係 Broad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42900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54787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5021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全自動入札への切替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7033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業種・商材で効かないケースあり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931920"/>
            <a:ext cx="5257800" cy="4572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05079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00507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キーワード追加 (意図不一致)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2062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競合・類語の関連KW混入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709160"/>
            <a:ext cx="11109960" cy="1600200"/>
          </a:xfrm>
          <a:prstGeom prst="roundRect">
            <a:avLst>
              <a:gd name="adj" fmla="val 6000"/>
            </a:avLst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💡 Optiscore との付き合い方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80%以上は目指す価値あり / 95%以上を追求すると過剰最適化 (予算爆増・CPA崩壊) のリスク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提案は『計測・学習補助系』を優先。『予算・入札緩和』は慎重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提案を適用しても月次レビューで必ずパフォーマンスを確認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• 副業代行 : クライアントには『適用した提案リストと理由』を月次レポートで明示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New Customer Acquisition (NCA)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新規顧客獲得を明示的に最適化する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P50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/ Demand Gen / Search に搭載された『新規顧客優先』設定。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過去の購入履歴を参照し、既存顧客 vs 新規顧客を識別して最適化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5486400" cy="6858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New Customer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新規顧客にのみ配信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既存顧客には一切配信しない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976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効果とフィット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コスト : 短期CPA高騰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ポテンシャル : 顧客ベース拡大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適合 : D2C / SaaS の CAC 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1460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514600"/>
            <a:ext cx="5486400" cy="6858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67919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New Customer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新規のCVに『プレミアム価値』を上乗せ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既存も配信 + AIへ新規志向を伝える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297680"/>
            <a:ext cx="49377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効果とフィット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63440"/>
            <a:ext cx="4937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コスト : 短期CPA は既存比で高め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ポテンシャル : LTV想定と整合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適合 : バランス重視の 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実装に必要なもの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リスト (既存顧客) のアップロード or GA4 の Purchaser Audience 接続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→ Google が識別し、新規 vs 既存でフラグを付けて最適化。副業代行の初回ヒアリングで必ず確認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Store Goals / Local キャンペーン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実店舗系の施策は PMax に吸収された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P51 /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2023年以前 vs 2026年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109960" cy="45720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8424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84247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旧 (〜2023)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984247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新 (2026)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19"/>
            <a:ext cx="11109960" cy="5943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05455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キャンペーンタイプ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05455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Local Campaigns (単独)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505455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 with Store Goals (統合)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79"/>
            <a:ext cx="11109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99815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最適化対象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99815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店舗訪問 / 電話 / ルート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099815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Store Visit + Online CV 同時最適化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11109960" cy="5943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5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配信面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94175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Maps / Search / YouTube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3694175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PMax全面 (Maps / 検索 / YT / Discover / Display)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799"/>
            <a:ext cx="111099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88535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アセット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88535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個別入稿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288535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Group で一元管理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09159"/>
            <a:ext cx="11109960" cy="5943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82895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計測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82895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Store Visit 独立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4882895"/>
            <a:ext cx="3703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Store Sales Direct + Store Visit 統合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15000"/>
            <a:ext cx="11109960" cy="64008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3387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実店舗 (飲食/小売/美容) の副業代行では Store Goals 付き PMax が基本構成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80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Maps / Google ビジネスプロフィール の連携が前提。Local Inventory Ads (LIA) も補助的に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App Campaigns (参考)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アプリインストール・エンゲージメント専用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P52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App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Ads for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新規ダウンロード獲得。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目標CPIで自動入札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App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488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App Campaigns for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1460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既存ユーザーの復帰・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ディープリンクで特定画面へ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App Pre-registration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4884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5E1A"/>
                </a:solidFill>
                <a:latin typeface="Helvetica Neue"/>
                <a:ea typeface="Helvetica Neue"/>
                <a:cs typeface="Helvetica Neue"/>
              </a:rPr>
              <a:t>リリース前の事前登録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1460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Google Play の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事前登録リスト獲得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2026年の主な変化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165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Advantage+ App (Meta) との比較でUAC vs Advantage+ の使い分けが定着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SKAN (iOS) と Consented Install Referrer (Android) でシグナル再設計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5721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84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Engagement 型では GA4 4 の Audience 連携が強化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4126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5686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Install の価値差 (高LTV vs 低LTV) 向け Value-based Bidding 推奨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080760"/>
            <a:ext cx="11109960" cy="274320"/>
          </a:xfrm>
          <a:prstGeom prst="roundRect">
            <a:avLst>
              <a:gd name="adj" fmla="val 6000"/>
            </a:avLst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144768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💡 Webクライアント中心の副業代行では低頻度。アプリ案件はUA / Firebase / App Campaigns 基本形を再学習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 面の Google Ads 側まとめ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Video Reach / Demand Gen / PMax で分担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P53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11880" cy="777240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8191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Video Reach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ブランド認知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TrueView / Bumper /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Skippable / Non-skippable を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統合配信。CPM 最適化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8191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Demand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96596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需要喚起・中間CV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YT In-Stream / In-Feed / Shorts +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Discover + Gmail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縦型対応, VAC 後継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611880" cy="777240"/>
          </a:xfrm>
          <a:prstGeom prst="rect">
            <a:avLst/>
          </a:prstGeom>
          <a:solidFill>
            <a:srgbClr val="2B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58191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Performance 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6596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コンバージョン獲得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23160"/>
            <a:ext cx="3154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YT枠を含む全在庫で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自動配信。tROAS / tCPA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YouTube広告クリエイティブの ABCD原則 (2026版)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11109960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983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21208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Attract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521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最初の3秒で掴む。人物/音/テロップで意表を突く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4983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512064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21208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8521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5秒以内にブランド露出。ロゴ/商品/色を前面に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983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12064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21208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8521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ベネフィットを具体的に。数字/事例を入れる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49834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512064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87722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521208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elvetica Neue"/>
                <a:ea typeface="Helvetica Neue"/>
                <a:cs typeface="Helvetica Neue"/>
              </a:rPr>
              <a:t>Direct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58521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CTA明確化 : 『今すぐ』『LINE友達追加』等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鉄板運用メソッド 2026年版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新規案件で最初の30日にやること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P54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0-2 : 計測基盤の整備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GA4 + GTM (or SGTM) + Consent Mode v2 導入状況の確認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562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Enhanced Conversions 有効化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Customer Match リストのアップロード (Customer 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7627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Offline Conversion Import の設定 (リード案件のみ)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5176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65176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788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3-7 : キャンペーン構造の設計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検索 (Broad Match + Smart Bidding) + PMax の2軸構成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Asset Group を 3-5 個で start (訴求軸ごと)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Audience Signal に 1PD を投入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Negative Keywords 500件 を初期投入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8-21 : 学習期間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Bid Strategy は tCPA / tROAS で固定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89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予算変動 ±20% 以内に抑える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アセット追加は慎重 (学習リセットのリスク)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3659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Optiscore の『計測・学習補助系』提案のみ適用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212080"/>
            <a:ext cx="1110996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137160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349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Day 22-30 : 最適化+レポート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Search Terms で無駄クエリ特定 → Negative 追加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669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69671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アセット Best / Low を入れ替え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DDA での Cross-channel 貢献度確認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989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7722"/>
                </a:solidFill>
                <a:latin typeface="Hiragino Sans"/>
                <a:ea typeface="Hiragino Sans"/>
                <a:cs typeface="Hiragino Sans"/>
              </a:rPr>
              <a:t>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6016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月次レポート + 次月提案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4747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よくある失敗と回避策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49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副業代行で『あ、やっちゃった』を防ぐチェック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D7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P55 / 250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学習期間中に予算を大きく動かす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Bid Strategy が不安定化 → CPA/ROAS 崩壊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最初2週間は ±20% 以内に制限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2588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63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Asset Group を分けすぎる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各 Asset Group のデータ量が不足 → AI学習弱体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3172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3-5 個 を上限に、訴求軸で分ける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Exact / Phrase だけで固める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機会損失大 + Broad にすべきクエリを逃す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Broad + Smart Bidding を併用、ネガで絞る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01752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1752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1546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Consent Mode 未実装で配信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1188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計測ロス + モデリング不可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2336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初回ヒアリングで必ず実装状況確認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Optiscore 100%を追求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予算爆増・CPA 高騰 → クライアント激怒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80-90% 前後で運用、提案は選別適用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70916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709160"/>
            <a:ext cx="91440" cy="1554480"/>
          </a:xfrm>
          <a:prstGeom prst="rect">
            <a:avLst/>
          </a:prstGeom>
          <a:solidFill>
            <a:srgbClr val="C64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C6452D"/>
                </a:solidFill>
                <a:latin typeface="Hiragino Sans"/>
                <a:ea typeface="Hiragino Sans"/>
                <a:cs typeface="Hiragino Sans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Last Click モデルで評価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0352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AI キャンペーンの貢献を正しく計れない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715000"/>
            <a:ext cx="5074920" cy="1371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80644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>
                <a:solidFill>
                  <a:srgbClr val="B85E1A"/>
                </a:solidFill>
                <a:latin typeface="Hiragino Sans"/>
                <a:ea typeface="Hiragino Sans"/>
                <a:cs typeface="Hiragino Sans"/>
              </a:rPr>
              <a:t>→  DDA に即切り替え、レポートも DDA 基準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Digital Marketing Catch-Up 2023→2026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