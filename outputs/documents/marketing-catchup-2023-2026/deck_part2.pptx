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663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3657600" cy="45720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PART 2</a:t>
            </a:r>
          </a:p>
        </p:txBody>
      </p:sp>
      <p:sp>
        <p:nvSpPr>
          <p:cNvPr id="5" name="TextBox 4"/>
          <p:cNvSpPr txBox="1"/>
          <p:nvPr/>
        </p:nvSpPr>
        <p:spPr>
          <a:xfrm>
            <a:off x="1097280" y="1737360"/>
            <a:ext cx="10058400" cy="1371600"/>
          </a:xfrm>
          <a:prstGeom prst="rect">
            <a:avLst/>
          </a:prstGeom>
          <a:noFill/>
        </p:spPr>
        <p:txBody>
          <a:bodyPr wrap="square" anchor="t" lIns="0" rIns="0" tIns="0" bIns="0">
            <a:spAutoFit/>
          </a:bodyPr>
          <a:lstStyle/>
          <a:p>
            <a:pPr algn="l">
              <a:lnSpc>
                <a:spcPct val="110000"/>
              </a:lnSpc>
            </a:pPr>
            <a:r>
              <a:rPr sz="5400" b="1">
                <a:solidFill>
                  <a:srgbClr val="FFFFFF"/>
                </a:solidFill>
                <a:latin typeface="Hiragino Sans"/>
                <a:ea typeface="Hiragino Sans"/>
                <a:cs typeface="Hiragino Sans"/>
              </a:rPr>
              <a:t>市況・業界構造の変化</a:t>
            </a:r>
          </a:p>
        </p:txBody>
      </p:sp>
      <p:sp>
        <p:nvSpPr>
          <p:cNvPr id="6" name="TextBox 5"/>
          <p:cNvSpPr txBox="1"/>
          <p:nvPr/>
        </p:nvSpPr>
        <p:spPr>
          <a:xfrm>
            <a:off x="1097280" y="3291840"/>
            <a:ext cx="10058400" cy="548640"/>
          </a:xfrm>
          <a:prstGeom prst="rect">
            <a:avLst/>
          </a:prstGeom>
          <a:noFill/>
        </p:spPr>
        <p:txBody>
          <a:bodyPr wrap="square" anchor="t" lIns="0" rIns="0" tIns="0" bIns="0">
            <a:spAutoFit/>
          </a:bodyPr>
          <a:lstStyle/>
          <a:p>
            <a:pPr algn="l">
              <a:lnSpc>
                <a:spcPct val="130000"/>
              </a:lnSpc>
            </a:pPr>
            <a:r>
              <a:rPr sz="1800" b="0">
                <a:solidFill>
                  <a:srgbClr val="D7DDE8"/>
                </a:solidFill>
                <a:latin typeface="Hiragino Sans"/>
                <a:ea typeface="Hiragino Sans"/>
                <a:cs typeface="Hiragino Sans"/>
              </a:rPr>
              <a:t>2年半で業界地図は書き換えられた</a:t>
            </a:r>
          </a:p>
        </p:txBody>
      </p:sp>
      <p:sp>
        <p:nvSpPr>
          <p:cNvPr id="7" name="Rectangle 6"/>
          <p:cNvSpPr/>
          <p:nvPr/>
        </p:nvSpPr>
        <p:spPr>
          <a:xfrm>
            <a:off x="1097280" y="4114800"/>
            <a:ext cx="91440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97680"/>
            <a:ext cx="10058400" cy="822960"/>
          </a:xfrm>
          <a:prstGeom prst="rect">
            <a:avLst/>
          </a:prstGeom>
          <a:noFill/>
        </p:spPr>
        <p:txBody>
          <a:bodyPr wrap="square" anchor="t" lIns="0" rIns="0" tIns="0" bIns="0">
            <a:spAutoFit/>
          </a:bodyPr>
          <a:lstStyle/>
          <a:p>
            <a:pPr algn="l">
              <a:lnSpc>
                <a:spcPct val="150000"/>
              </a:lnSpc>
            </a:pPr>
            <a:r>
              <a:rPr sz="1300" b="0">
                <a:solidFill>
                  <a:srgbClr val="D7DDE8"/>
                </a:solidFill>
                <a:latin typeface="Hiragino Sans"/>
                <a:ea typeface="Hiragino Sans"/>
                <a:cs typeface="Hiragino Sans"/>
              </a:rPr>
              <a:t>Cookieの『廃止→撤回→実質終了』の3幕劇、LINEヤフー統合、AI検索の勃興、</a:t>
            </a:r>
          </a:p>
          <a:p>
            <a:pPr algn="l">
              <a:lnSpc>
                <a:spcPct val="150000"/>
              </a:lnSpc>
            </a:pPr>
            <a:r>
              <a:rPr sz="1300" b="0">
                <a:solidFill>
                  <a:srgbClr val="D7DDE8"/>
                </a:solidFill>
                <a:latin typeface="Hiragino Sans"/>
                <a:ea typeface="Hiragino Sans"/>
                <a:cs typeface="Hiragino Sans"/>
              </a:rPr>
              <a:t>代理店業界の再編まで。個別媒体の話に入る前に、業界の地殻変動を俯瞰する。</a:t>
            </a:r>
          </a:p>
        </p:txBody>
      </p:sp>
      <p:sp>
        <p:nvSpPr>
          <p:cNvPr id="9" name="TextBox 8"/>
          <p:cNvSpPr txBox="1"/>
          <p:nvPr/>
        </p:nvSpPr>
        <p:spPr>
          <a:xfrm>
            <a:off x="10972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2024年 日本広告市場の構造</a:t>
            </a:r>
          </a:p>
        </p:txBody>
      </p:sp>
      <p:sp>
        <p:nvSpPr>
          <p:cNvPr id="10" name="TextBox 9"/>
          <p:cNvSpPr txBox="1"/>
          <p:nvPr/>
        </p:nvSpPr>
        <p:spPr>
          <a:xfrm>
            <a:off x="42976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Cookie / Privacy Sandbox の終焉</a:t>
            </a:r>
          </a:p>
        </p:txBody>
      </p:sp>
      <p:sp>
        <p:nvSpPr>
          <p:cNvPr id="11" name="TextBox 10"/>
          <p:cNvSpPr txBox="1"/>
          <p:nvPr/>
        </p:nvSpPr>
        <p:spPr>
          <a:xfrm>
            <a:off x="7498080" y="539496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Consent Mode v2 の実務</a:t>
            </a:r>
          </a:p>
        </p:txBody>
      </p:sp>
      <p:sp>
        <p:nvSpPr>
          <p:cNvPr id="12" name="TextBox 11"/>
          <p:cNvSpPr txBox="1"/>
          <p:nvPr/>
        </p:nvSpPr>
        <p:spPr>
          <a:xfrm>
            <a:off x="10972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LINEヤフー統合 2023→2026</a:t>
            </a:r>
          </a:p>
        </p:txBody>
      </p:sp>
      <p:sp>
        <p:nvSpPr>
          <p:cNvPr id="13" name="TextBox 12"/>
          <p:cNvSpPr txBox="1"/>
          <p:nvPr/>
        </p:nvSpPr>
        <p:spPr>
          <a:xfrm>
            <a:off x="42976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景表法ステマ規制・EU DSA</a:t>
            </a:r>
          </a:p>
        </p:txBody>
      </p:sp>
      <p:sp>
        <p:nvSpPr>
          <p:cNvPr id="14" name="TextBox 13"/>
          <p:cNvSpPr txBox="1"/>
          <p:nvPr/>
        </p:nvSpPr>
        <p:spPr>
          <a:xfrm>
            <a:off x="7498080" y="576072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生成AIの3波とAI検索</a:t>
            </a:r>
          </a:p>
        </p:txBody>
      </p:sp>
      <p:sp>
        <p:nvSpPr>
          <p:cNvPr id="15" name="TextBox 14"/>
          <p:cNvSpPr txBox="1"/>
          <p:nvPr/>
        </p:nvSpPr>
        <p:spPr>
          <a:xfrm>
            <a:off x="10972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代理店再編と運用職シフト</a:t>
            </a:r>
          </a:p>
        </p:txBody>
      </p:sp>
      <p:sp>
        <p:nvSpPr>
          <p:cNvPr id="16" name="TextBox 15"/>
          <p:cNvSpPr txBox="1"/>
          <p:nvPr/>
        </p:nvSpPr>
        <p:spPr>
          <a:xfrm>
            <a:off x="4297680" y="6126480"/>
            <a:ext cx="3017520" cy="320040"/>
          </a:xfrm>
          <a:prstGeom prst="rect">
            <a:avLst/>
          </a:prstGeom>
          <a:noFill/>
        </p:spPr>
        <p:txBody>
          <a:bodyPr wrap="square" anchor="t" lIns="0" rIns="0" tIns="0" bIns="0">
            <a:spAutoFit/>
          </a:bodyPr>
          <a:lstStyle/>
          <a:p>
            <a:pPr algn="l">
              <a:lnSpc>
                <a:spcPct val="115000"/>
              </a:lnSpc>
            </a:pPr>
            <a:r>
              <a:rPr sz="1100" b="0">
                <a:solidFill>
                  <a:srgbClr val="FFFFFF"/>
                </a:solidFill>
                <a:latin typeface="Hiragino Sans"/>
                <a:ea typeface="Hiragino Sans"/>
                <a:cs typeface="Hiragino Sans"/>
              </a:rPr>
              <a:t>▸ Part 3 への橋渡し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2024年 日本広告市場の構造</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電通『2024年 日本の広告費』(2025/02/27)</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P12 / 250</a:t>
            </a:r>
          </a:p>
        </p:txBody>
      </p:sp>
      <p:sp>
        <p:nvSpPr>
          <p:cNvPr id="8" name="Rounded Rectangle 7"/>
          <p:cNvSpPr/>
          <p:nvPr/>
        </p:nvSpPr>
        <p:spPr>
          <a:xfrm>
            <a:off x="548640" y="1371600"/>
            <a:ext cx="3657600" cy="48463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32004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2024年 総広告費</a:t>
            </a:r>
          </a:p>
        </p:txBody>
      </p:sp>
      <p:sp>
        <p:nvSpPr>
          <p:cNvPr id="10" name="TextBox 9"/>
          <p:cNvSpPr txBox="1"/>
          <p:nvPr/>
        </p:nvSpPr>
        <p:spPr>
          <a:xfrm>
            <a:off x="777240" y="2057400"/>
            <a:ext cx="2743200" cy="1097280"/>
          </a:xfrm>
          <a:prstGeom prst="rect">
            <a:avLst/>
          </a:prstGeom>
          <a:noFill/>
        </p:spPr>
        <p:txBody>
          <a:bodyPr wrap="square" anchor="t" lIns="0" rIns="0" tIns="0" bIns="0">
            <a:spAutoFit/>
          </a:bodyPr>
          <a:lstStyle/>
          <a:p>
            <a:pPr algn="l">
              <a:lnSpc>
                <a:spcPct val="115000"/>
              </a:lnSpc>
            </a:pPr>
            <a:r>
              <a:rPr sz="7200" b="1">
                <a:solidFill>
                  <a:srgbClr val="FFFFFF"/>
                </a:solidFill>
                <a:latin typeface="Helvetica Neue"/>
                <a:ea typeface="Helvetica Neue"/>
                <a:cs typeface="Helvetica Neue"/>
              </a:rPr>
              <a:t>7.67</a:t>
            </a:r>
          </a:p>
        </p:txBody>
      </p:sp>
      <p:sp>
        <p:nvSpPr>
          <p:cNvPr id="11" name="TextBox 10"/>
          <p:cNvSpPr txBox="1"/>
          <p:nvPr/>
        </p:nvSpPr>
        <p:spPr>
          <a:xfrm>
            <a:off x="3017520" y="2651760"/>
            <a:ext cx="914400" cy="548640"/>
          </a:xfrm>
          <a:prstGeom prst="rect">
            <a:avLst/>
          </a:prstGeom>
          <a:noFill/>
        </p:spPr>
        <p:txBody>
          <a:bodyPr wrap="square" anchor="t" lIns="0" rIns="0" tIns="0" bIns="0">
            <a:spAutoFit/>
          </a:bodyPr>
          <a:lstStyle/>
          <a:p>
            <a:pPr algn="l">
              <a:lnSpc>
                <a:spcPct val="115000"/>
              </a:lnSpc>
            </a:pPr>
            <a:r>
              <a:rPr sz="2200" b="1">
                <a:solidFill>
                  <a:srgbClr val="FFFFFF"/>
                </a:solidFill>
                <a:latin typeface="Hiragino Sans"/>
                <a:ea typeface="Hiragino Sans"/>
                <a:cs typeface="Hiragino Sans"/>
              </a:rPr>
              <a:t>兆円</a:t>
            </a:r>
          </a:p>
        </p:txBody>
      </p:sp>
      <p:sp>
        <p:nvSpPr>
          <p:cNvPr id="12" name="TextBox 11"/>
          <p:cNvSpPr txBox="1"/>
          <p:nvPr/>
        </p:nvSpPr>
        <p:spPr>
          <a:xfrm>
            <a:off x="777240" y="3474720"/>
            <a:ext cx="3200400" cy="640080"/>
          </a:xfrm>
          <a:prstGeom prst="rect">
            <a:avLst/>
          </a:prstGeom>
          <a:noFill/>
        </p:spPr>
        <p:txBody>
          <a:bodyPr wrap="square" anchor="t" lIns="0" rIns="0" tIns="0" bIns="0">
            <a:spAutoFit/>
          </a:bodyPr>
          <a:lstStyle/>
          <a:p>
            <a:pPr algn="l">
              <a:lnSpc>
                <a:spcPct val="140000"/>
              </a:lnSpc>
            </a:pPr>
            <a:r>
              <a:rPr sz="1100" b="0">
                <a:solidFill>
                  <a:srgbClr val="D7DDE8"/>
                </a:solidFill>
                <a:latin typeface="Hiragino Sans"/>
                <a:ea typeface="Hiragino Sans"/>
                <a:cs typeface="Hiragino Sans"/>
              </a:rPr>
              <a:t>前年比 +4.9%</a:t>
            </a:r>
          </a:p>
          <a:p>
            <a:pPr algn="l">
              <a:lnSpc>
                <a:spcPct val="140000"/>
              </a:lnSpc>
            </a:pPr>
            <a:r>
              <a:rPr sz="1100" b="0">
                <a:solidFill>
                  <a:srgbClr val="D7DDE8"/>
                </a:solidFill>
                <a:latin typeface="Hiragino Sans"/>
                <a:ea typeface="Hiragino Sans"/>
                <a:cs typeface="Hiragino Sans"/>
              </a:rPr>
              <a:t>3年連続で過去最高更新</a:t>
            </a:r>
          </a:p>
        </p:txBody>
      </p:sp>
      <p:sp>
        <p:nvSpPr>
          <p:cNvPr id="13" name="Rectangle 12"/>
          <p:cNvSpPr/>
          <p:nvPr/>
        </p:nvSpPr>
        <p:spPr>
          <a:xfrm>
            <a:off x="777240" y="4297680"/>
            <a:ext cx="320040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434840"/>
            <a:ext cx="3200400" cy="32004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ネット広告シェア</a:t>
            </a:r>
          </a:p>
        </p:txBody>
      </p:sp>
      <p:sp>
        <p:nvSpPr>
          <p:cNvPr id="15" name="TextBox 14"/>
          <p:cNvSpPr txBox="1"/>
          <p:nvPr/>
        </p:nvSpPr>
        <p:spPr>
          <a:xfrm>
            <a:off x="777240" y="4754880"/>
            <a:ext cx="3200400" cy="914400"/>
          </a:xfrm>
          <a:prstGeom prst="rect">
            <a:avLst/>
          </a:prstGeom>
          <a:noFill/>
        </p:spPr>
        <p:txBody>
          <a:bodyPr wrap="square" anchor="t" lIns="0" rIns="0" tIns="0" bIns="0">
            <a:spAutoFit/>
          </a:bodyPr>
          <a:lstStyle/>
          <a:p>
            <a:pPr algn="l">
              <a:lnSpc>
                <a:spcPct val="115000"/>
              </a:lnSpc>
            </a:pPr>
            <a:r>
              <a:rPr sz="5600" b="1">
                <a:solidFill>
                  <a:srgbClr val="FFFFFF"/>
                </a:solidFill>
                <a:latin typeface="Helvetica Neue"/>
                <a:ea typeface="Helvetica Neue"/>
                <a:cs typeface="Helvetica Neue"/>
              </a:rPr>
              <a:t>47.6%</a:t>
            </a:r>
          </a:p>
        </p:txBody>
      </p:sp>
      <p:sp>
        <p:nvSpPr>
          <p:cNvPr id="16" name="TextBox 15"/>
          <p:cNvSpPr txBox="1"/>
          <p:nvPr/>
        </p:nvSpPr>
        <p:spPr>
          <a:xfrm>
            <a:off x="777240" y="5623560"/>
            <a:ext cx="3200400" cy="320040"/>
          </a:xfrm>
          <a:prstGeom prst="rect">
            <a:avLst/>
          </a:prstGeom>
          <a:noFill/>
        </p:spPr>
        <p:txBody>
          <a:bodyPr wrap="square" anchor="t" lIns="0" rIns="0" tIns="0" bIns="0">
            <a:spAutoFit/>
          </a:bodyPr>
          <a:lstStyle/>
          <a:p>
            <a:pPr algn="l">
              <a:lnSpc>
                <a:spcPct val="115000"/>
              </a:lnSpc>
            </a:pPr>
            <a:r>
              <a:rPr sz="1100" b="0">
                <a:solidFill>
                  <a:srgbClr val="D7DDE8"/>
                </a:solidFill>
                <a:latin typeface="Hiragino Sans"/>
                <a:ea typeface="Hiragino Sans"/>
                <a:cs typeface="Hiragino Sans"/>
              </a:rPr>
              <a:t>= 3兆6,517億円 (+9.6%)</a:t>
            </a:r>
          </a:p>
        </p:txBody>
      </p:sp>
      <p:sp>
        <p:nvSpPr>
          <p:cNvPr id="17" name="TextBox 16"/>
          <p:cNvSpPr txBox="1"/>
          <p:nvPr/>
        </p:nvSpPr>
        <p:spPr>
          <a:xfrm>
            <a:off x="777240" y="5897880"/>
            <a:ext cx="3200400" cy="274320"/>
          </a:xfrm>
          <a:prstGeom prst="rect">
            <a:avLst/>
          </a:prstGeom>
          <a:noFill/>
        </p:spPr>
        <p:txBody>
          <a:bodyPr wrap="square" anchor="t" lIns="0" rIns="0" tIns="0" bIns="0">
            <a:spAutoFit/>
          </a:bodyPr>
          <a:lstStyle/>
          <a:p>
            <a:pPr algn="l">
              <a:lnSpc>
                <a:spcPct val="115000"/>
              </a:lnSpc>
            </a:pPr>
            <a:r>
              <a:rPr sz="1000" b="0">
                <a:solidFill>
                  <a:srgbClr val="8A96A8"/>
                </a:solidFill>
                <a:latin typeface="Hiragino Sans"/>
                <a:ea typeface="Hiragino Sans"/>
                <a:cs typeface="Hiragino Sans"/>
              </a:rPr>
              <a:t>媒体費は 2兆9,611億円 (+10.2%)</a:t>
            </a:r>
          </a:p>
        </p:txBody>
      </p:sp>
      <p:sp>
        <p:nvSpPr>
          <p:cNvPr id="18" name="TextBox 17"/>
          <p:cNvSpPr txBox="1"/>
          <p:nvPr/>
        </p:nvSpPr>
        <p:spPr>
          <a:xfrm>
            <a:off x="4572000" y="1417320"/>
            <a:ext cx="64008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媒体別内訳 (2024年, 億円)</a:t>
            </a:r>
          </a:p>
        </p:txBody>
      </p:sp>
      <p:sp>
        <p:nvSpPr>
          <p:cNvPr id="19" name="Rounded Rectangle 18"/>
          <p:cNvSpPr/>
          <p:nvPr/>
        </p:nvSpPr>
        <p:spPr>
          <a:xfrm>
            <a:off x="4572000" y="1920240"/>
            <a:ext cx="7086600" cy="5486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709160" y="2093976"/>
            <a:ext cx="201168" cy="201168"/>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0" y="2075688"/>
            <a:ext cx="347472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インターネット広告</a:t>
            </a:r>
          </a:p>
        </p:txBody>
      </p:sp>
      <p:sp>
        <p:nvSpPr>
          <p:cNvPr id="22" name="TextBox 21"/>
          <p:cNvSpPr txBox="1"/>
          <p:nvPr/>
        </p:nvSpPr>
        <p:spPr>
          <a:xfrm>
            <a:off x="8503920" y="2075688"/>
            <a:ext cx="1645920" cy="365760"/>
          </a:xfrm>
          <a:prstGeom prst="rect">
            <a:avLst/>
          </a:prstGeom>
          <a:noFill/>
        </p:spPr>
        <p:txBody>
          <a:bodyPr wrap="square" anchor="t" lIns="0" rIns="0" tIns="0" bIns="0">
            <a:spAutoFit/>
          </a:bodyPr>
          <a:lstStyle/>
          <a:p>
            <a:pPr algn="r">
              <a:lnSpc>
                <a:spcPct val="115000"/>
              </a:lnSpc>
            </a:pPr>
            <a:r>
              <a:rPr sz="1400" b="1">
                <a:solidFill>
                  <a:srgbClr val="E87722"/>
                </a:solidFill>
                <a:latin typeface="Helvetica Neue"/>
                <a:ea typeface="Helvetica Neue"/>
                <a:cs typeface="Helvetica Neue"/>
              </a:rPr>
              <a:t>36,517</a:t>
            </a:r>
          </a:p>
        </p:txBody>
      </p:sp>
      <p:sp>
        <p:nvSpPr>
          <p:cNvPr id="23" name="TextBox 22"/>
          <p:cNvSpPr txBox="1"/>
          <p:nvPr/>
        </p:nvSpPr>
        <p:spPr>
          <a:xfrm>
            <a:off x="10241280" y="2093976"/>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+9.6%</a:t>
            </a:r>
          </a:p>
        </p:txBody>
      </p:sp>
      <p:sp>
        <p:nvSpPr>
          <p:cNvPr id="24" name="Rounded Rectangle 23"/>
          <p:cNvSpPr/>
          <p:nvPr/>
        </p:nvSpPr>
        <p:spPr>
          <a:xfrm>
            <a:off x="4572000" y="2542032"/>
            <a:ext cx="70866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709160" y="271576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0" y="2697480"/>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テレビメディア</a:t>
            </a:r>
          </a:p>
        </p:txBody>
      </p:sp>
      <p:sp>
        <p:nvSpPr>
          <p:cNvPr id="27" name="TextBox 26"/>
          <p:cNvSpPr txBox="1"/>
          <p:nvPr/>
        </p:nvSpPr>
        <p:spPr>
          <a:xfrm>
            <a:off x="8503920" y="2697480"/>
            <a:ext cx="1645920" cy="365760"/>
          </a:xfrm>
          <a:prstGeom prst="rect">
            <a:avLst/>
          </a:prstGeom>
          <a:noFill/>
        </p:spPr>
        <p:txBody>
          <a:bodyPr wrap="square" anchor="t" lIns="0" rIns="0" tIns="0" bIns="0">
            <a:spAutoFit/>
          </a:bodyPr>
          <a:lstStyle/>
          <a:p>
            <a:pPr algn="r">
              <a:lnSpc>
                <a:spcPct val="115000"/>
              </a:lnSpc>
            </a:pPr>
            <a:r>
              <a:rPr sz="1400" b="1">
                <a:solidFill>
                  <a:srgbClr val="0F2A4F"/>
                </a:solidFill>
                <a:latin typeface="Helvetica Neue"/>
                <a:ea typeface="Helvetica Neue"/>
                <a:cs typeface="Helvetica Neue"/>
              </a:rPr>
              <a:t>17,034</a:t>
            </a:r>
          </a:p>
        </p:txBody>
      </p:sp>
      <p:sp>
        <p:nvSpPr>
          <p:cNvPr id="28" name="TextBox 27"/>
          <p:cNvSpPr txBox="1"/>
          <p:nvPr/>
        </p:nvSpPr>
        <p:spPr>
          <a:xfrm>
            <a:off x="10241280" y="2715768"/>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-1.1%</a:t>
            </a:r>
          </a:p>
        </p:txBody>
      </p:sp>
      <p:sp>
        <p:nvSpPr>
          <p:cNvPr id="29" name="Rounded Rectangle 28"/>
          <p:cNvSpPr/>
          <p:nvPr/>
        </p:nvSpPr>
        <p:spPr>
          <a:xfrm>
            <a:off x="4572000" y="3163824"/>
            <a:ext cx="70866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709160" y="3337560"/>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0" y="3319272"/>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プロモーションメディア</a:t>
            </a:r>
          </a:p>
        </p:txBody>
      </p:sp>
      <p:sp>
        <p:nvSpPr>
          <p:cNvPr id="32" name="TextBox 31"/>
          <p:cNvSpPr txBox="1"/>
          <p:nvPr/>
        </p:nvSpPr>
        <p:spPr>
          <a:xfrm>
            <a:off x="8503920" y="3319272"/>
            <a:ext cx="1645920" cy="365760"/>
          </a:xfrm>
          <a:prstGeom prst="rect">
            <a:avLst/>
          </a:prstGeom>
          <a:noFill/>
        </p:spPr>
        <p:txBody>
          <a:bodyPr wrap="square" anchor="t" lIns="0" rIns="0" tIns="0" bIns="0">
            <a:spAutoFit/>
          </a:bodyPr>
          <a:lstStyle/>
          <a:p>
            <a:pPr algn="r">
              <a:lnSpc>
                <a:spcPct val="115000"/>
              </a:lnSpc>
            </a:pPr>
            <a:r>
              <a:rPr sz="1400" b="1">
                <a:solidFill>
                  <a:srgbClr val="0F2A4F"/>
                </a:solidFill>
                <a:latin typeface="Helvetica Neue"/>
                <a:ea typeface="Helvetica Neue"/>
                <a:cs typeface="Helvetica Neue"/>
              </a:rPr>
              <a:t>14,959</a:t>
            </a:r>
          </a:p>
        </p:txBody>
      </p:sp>
      <p:sp>
        <p:nvSpPr>
          <p:cNvPr id="33" name="TextBox 32"/>
          <p:cNvSpPr txBox="1"/>
          <p:nvPr/>
        </p:nvSpPr>
        <p:spPr>
          <a:xfrm>
            <a:off x="10241280" y="3337560"/>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+0.4%</a:t>
            </a:r>
          </a:p>
        </p:txBody>
      </p:sp>
      <p:sp>
        <p:nvSpPr>
          <p:cNvPr id="34" name="Rounded Rectangle 33"/>
          <p:cNvSpPr/>
          <p:nvPr/>
        </p:nvSpPr>
        <p:spPr>
          <a:xfrm>
            <a:off x="4572000" y="3785616"/>
            <a:ext cx="70866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709160" y="3959352"/>
            <a:ext cx="201168" cy="201168"/>
          </a:xfrm>
          <a:prstGeom prst="roundRect">
            <a:avLst>
              <a:gd name="adj" fmla="val 6000"/>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0" y="3941064"/>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新聞</a:t>
            </a:r>
          </a:p>
        </p:txBody>
      </p:sp>
      <p:sp>
        <p:nvSpPr>
          <p:cNvPr id="37" name="TextBox 36"/>
          <p:cNvSpPr txBox="1"/>
          <p:nvPr/>
        </p:nvSpPr>
        <p:spPr>
          <a:xfrm>
            <a:off x="8503920" y="3941064"/>
            <a:ext cx="1645920" cy="365760"/>
          </a:xfrm>
          <a:prstGeom prst="rect">
            <a:avLst/>
          </a:prstGeom>
          <a:noFill/>
        </p:spPr>
        <p:txBody>
          <a:bodyPr wrap="square" anchor="t" lIns="0" rIns="0" tIns="0" bIns="0">
            <a:spAutoFit/>
          </a:bodyPr>
          <a:lstStyle/>
          <a:p>
            <a:pPr algn="r">
              <a:lnSpc>
                <a:spcPct val="115000"/>
              </a:lnSpc>
            </a:pPr>
            <a:r>
              <a:rPr sz="1400" b="1">
                <a:solidFill>
                  <a:srgbClr val="5A6A80"/>
                </a:solidFill>
                <a:latin typeface="Helvetica Neue"/>
                <a:ea typeface="Helvetica Neue"/>
                <a:cs typeface="Helvetica Neue"/>
              </a:rPr>
              <a:t>3,351</a:t>
            </a:r>
          </a:p>
        </p:txBody>
      </p:sp>
      <p:sp>
        <p:nvSpPr>
          <p:cNvPr id="38" name="TextBox 37"/>
          <p:cNvSpPr txBox="1"/>
          <p:nvPr/>
        </p:nvSpPr>
        <p:spPr>
          <a:xfrm>
            <a:off x="10241280" y="3959352"/>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-3.6%</a:t>
            </a:r>
          </a:p>
        </p:txBody>
      </p:sp>
      <p:sp>
        <p:nvSpPr>
          <p:cNvPr id="39" name="Rounded Rectangle 38"/>
          <p:cNvSpPr/>
          <p:nvPr/>
        </p:nvSpPr>
        <p:spPr>
          <a:xfrm>
            <a:off x="4572000" y="4407408"/>
            <a:ext cx="7086600" cy="5486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709160" y="4581144"/>
            <a:ext cx="201168" cy="201168"/>
          </a:xfrm>
          <a:prstGeom prst="roundRect">
            <a:avLst>
              <a:gd name="adj" fmla="val 6000"/>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0" y="4562856"/>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雑誌</a:t>
            </a:r>
          </a:p>
        </p:txBody>
      </p:sp>
      <p:sp>
        <p:nvSpPr>
          <p:cNvPr id="42" name="TextBox 41"/>
          <p:cNvSpPr txBox="1"/>
          <p:nvPr/>
        </p:nvSpPr>
        <p:spPr>
          <a:xfrm>
            <a:off x="8503920" y="4562856"/>
            <a:ext cx="1645920" cy="365760"/>
          </a:xfrm>
          <a:prstGeom prst="rect">
            <a:avLst/>
          </a:prstGeom>
          <a:noFill/>
        </p:spPr>
        <p:txBody>
          <a:bodyPr wrap="square" anchor="t" lIns="0" rIns="0" tIns="0" bIns="0">
            <a:spAutoFit/>
          </a:bodyPr>
          <a:lstStyle/>
          <a:p>
            <a:pPr algn="r">
              <a:lnSpc>
                <a:spcPct val="115000"/>
              </a:lnSpc>
            </a:pPr>
            <a:r>
              <a:rPr sz="1400" b="1">
                <a:solidFill>
                  <a:srgbClr val="5A6A80"/>
                </a:solidFill>
                <a:latin typeface="Helvetica Neue"/>
                <a:ea typeface="Helvetica Neue"/>
                <a:cs typeface="Helvetica Neue"/>
              </a:rPr>
              <a:t>2,072</a:t>
            </a:r>
          </a:p>
        </p:txBody>
      </p:sp>
      <p:sp>
        <p:nvSpPr>
          <p:cNvPr id="43" name="TextBox 42"/>
          <p:cNvSpPr txBox="1"/>
          <p:nvPr/>
        </p:nvSpPr>
        <p:spPr>
          <a:xfrm>
            <a:off x="10241280" y="4581144"/>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-2.8%</a:t>
            </a:r>
          </a:p>
        </p:txBody>
      </p:sp>
      <p:sp>
        <p:nvSpPr>
          <p:cNvPr id="44" name="Rounded Rectangle 43"/>
          <p:cNvSpPr/>
          <p:nvPr/>
        </p:nvSpPr>
        <p:spPr>
          <a:xfrm>
            <a:off x="4572000" y="5029200"/>
            <a:ext cx="7086600" cy="5486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709160" y="5202936"/>
            <a:ext cx="201168" cy="201168"/>
          </a:xfrm>
          <a:prstGeom prst="roundRect">
            <a:avLst>
              <a:gd name="adj" fmla="val 6000"/>
            </a:avLst>
          </a:prstGeom>
          <a:solidFill>
            <a:srgbClr val="5A6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0" y="5184648"/>
            <a:ext cx="3474720" cy="365760"/>
          </a:xfrm>
          <a:prstGeom prst="rect">
            <a:avLst/>
          </a:prstGeom>
          <a:noFill/>
        </p:spPr>
        <p:txBody>
          <a:bodyPr wrap="square" anchor="t" lIns="0" rIns="0" tIns="0" bIns="0">
            <a:spAutoFit/>
          </a:bodyPr>
          <a:lstStyle/>
          <a:p>
            <a:pPr algn="l">
              <a:lnSpc>
                <a:spcPct val="115000"/>
              </a:lnSpc>
            </a:pPr>
            <a:r>
              <a:rPr sz="1200" b="0">
                <a:solidFill>
                  <a:srgbClr val="0F2A4F"/>
                </a:solidFill>
                <a:latin typeface="Hiragino Sans"/>
                <a:ea typeface="Hiragino Sans"/>
                <a:cs typeface="Hiragino Sans"/>
              </a:rPr>
              <a:t>ラジオ</a:t>
            </a:r>
          </a:p>
        </p:txBody>
      </p:sp>
      <p:sp>
        <p:nvSpPr>
          <p:cNvPr id="47" name="TextBox 46"/>
          <p:cNvSpPr txBox="1"/>
          <p:nvPr/>
        </p:nvSpPr>
        <p:spPr>
          <a:xfrm>
            <a:off x="8503920" y="5184648"/>
            <a:ext cx="1645920" cy="365760"/>
          </a:xfrm>
          <a:prstGeom prst="rect">
            <a:avLst/>
          </a:prstGeom>
          <a:noFill/>
        </p:spPr>
        <p:txBody>
          <a:bodyPr wrap="square" anchor="t" lIns="0" rIns="0" tIns="0" bIns="0">
            <a:spAutoFit/>
          </a:bodyPr>
          <a:lstStyle/>
          <a:p>
            <a:pPr algn="r">
              <a:lnSpc>
                <a:spcPct val="115000"/>
              </a:lnSpc>
            </a:pPr>
            <a:r>
              <a:rPr sz="1400" b="1">
                <a:solidFill>
                  <a:srgbClr val="5A6A80"/>
                </a:solidFill>
                <a:latin typeface="Helvetica Neue"/>
                <a:ea typeface="Helvetica Neue"/>
                <a:cs typeface="Helvetica Neue"/>
              </a:rPr>
              <a:t>1,063</a:t>
            </a:r>
          </a:p>
        </p:txBody>
      </p:sp>
      <p:sp>
        <p:nvSpPr>
          <p:cNvPr id="48" name="TextBox 47"/>
          <p:cNvSpPr txBox="1"/>
          <p:nvPr/>
        </p:nvSpPr>
        <p:spPr>
          <a:xfrm>
            <a:off x="10241280" y="5202936"/>
            <a:ext cx="1371600" cy="365760"/>
          </a:xfrm>
          <a:prstGeom prst="rect">
            <a:avLst/>
          </a:prstGeom>
          <a:noFill/>
        </p:spPr>
        <p:txBody>
          <a:bodyPr wrap="square" anchor="t" lIns="0" rIns="0" tIns="0" bIns="0">
            <a:spAutoFit/>
          </a:bodyPr>
          <a:lstStyle/>
          <a:p>
            <a:pPr algn="r">
              <a:lnSpc>
                <a:spcPct val="115000"/>
              </a:lnSpc>
            </a:pPr>
            <a:r>
              <a:rPr sz="1100" b="0">
                <a:solidFill>
                  <a:srgbClr val="5A6A80"/>
                </a:solidFill>
                <a:latin typeface="Helvetica Neue"/>
                <a:ea typeface="Helvetica Neue"/>
                <a:cs typeface="Helvetica Neue"/>
              </a:rPr>
              <a:t>+0.8%</a:t>
            </a:r>
          </a:p>
        </p:txBody>
      </p:sp>
      <p:sp>
        <p:nvSpPr>
          <p:cNvPr id="49" name="TextBox 48"/>
          <p:cNvSpPr txBox="1"/>
          <p:nvPr/>
        </p:nvSpPr>
        <p:spPr>
          <a:xfrm>
            <a:off x="4572000" y="6080760"/>
            <a:ext cx="70866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 ネット広告媒体費 2兆9,611億円の内訳は P13 で詳述。リテールメディア・動画広告が牽引</a:t>
            </a:r>
          </a:p>
        </p:txBody>
      </p:sp>
      <p:sp>
        <p:nvSpPr>
          <p:cNvPr id="50" name="TextBox 4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運用型広告がマス4媒体を超える構造</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2021年以降の構造転換が定着</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P13 / 250</a:t>
            </a:r>
          </a:p>
        </p:txBody>
      </p:sp>
      <p:sp>
        <p:nvSpPr>
          <p:cNvPr id="8" name="Rounded Rectangle 7"/>
          <p:cNvSpPr/>
          <p:nvPr/>
        </p:nvSpPr>
        <p:spPr>
          <a:xfrm>
            <a:off x="548640" y="1371600"/>
            <a:ext cx="11109960" cy="7772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548640" cy="548640"/>
          </a:xfrm>
          <a:prstGeom prst="rect">
            <a:avLst/>
          </a:prstGeom>
          <a:noFill/>
        </p:spPr>
        <p:txBody>
          <a:bodyPr wrap="square" anchor="t" lIns="0" rIns="0" tIns="0" bIns="0">
            <a:spAutoFit/>
          </a:bodyPr>
          <a:lstStyle/>
          <a:p>
            <a:pPr algn="l">
              <a:lnSpc>
                <a:spcPct val="115000"/>
              </a:lnSpc>
            </a:pPr>
            <a:r>
              <a:rPr sz="2200" b="0">
                <a:solidFill>
                  <a:srgbClr val="1A1A1A"/>
                </a:solidFill>
                <a:latin typeface="Hiragino Sans"/>
                <a:ea typeface="Hiragino Sans"/>
                <a:cs typeface="Hiragino Sans"/>
              </a:rPr>
              <a:t>🔥</a:t>
            </a:r>
          </a:p>
        </p:txBody>
      </p:sp>
      <p:sp>
        <p:nvSpPr>
          <p:cNvPr id="10" name="TextBox 9"/>
          <p:cNvSpPr txBox="1"/>
          <p:nvPr/>
        </p:nvSpPr>
        <p:spPr>
          <a:xfrm>
            <a:off x="1325880" y="1463040"/>
            <a:ext cx="10058400" cy="457200"/>
          </a:xfrm>
          <a:prstGeom prst="rect">
            <a:avLst/>
          </a:prstGeom>
          <a:noFill/>
        </p:spPr>
        <p:txBody>
          <a:bodyPr wrap="square" anchor="t" lIns="0" rIns="0" tIns="0" bIns="0">
            <a:spAutoFit/>
          </a:bodyPr>
          <a:lstStyle/>
          <a:p>
            <a:pPr algn="l">
              <a:lnSpc>
                <a:spcPct val="115000"/>
              </a:lnSpc>
            </a:pPr>
            <a:r>
              <a:rPr sz="2000" b="1">
                <a:solidFill>
                  <a:srgbClr val="0F2A4F"/>
                </a:solidFill>
                <a:latin typeface="Hiragino Sans"/>
                <a:ea typeface="Hiragino Sans"/>
                <a:cs typeface="Hiragino Sans"/>
              </a:rPr>
              <a:t>運用型ネット広告費 ≒ 2.5兆円 &gt; マス4媒体合計 ≒ 2.4兆円</a:t>
            </a:r>
          </a:p>
        </p:txBody>
      </p:sp>
      <p:sp>
        <p:nvSpPr>
          <p:cNvPr id="11" name="TextBox 10"/>
          <p:cNvSpPr txBox="1"/>
          <p:nvPr/>
        </p:nvSpPr>
        <p:spPr>
          <a:xfrm>
            <a:off x="1325880" y="1874519"/>
            <a:ext cx="1005840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2021年に逆転、以降その差は拡大傾向</a:t>
            </a:r>
          </a:p>
        </p:txBody>
      </p:sp>
      <p:sp>
        <p:nvSpPr>
          <p:cNvPr id="12" name="TextBox 11"/>
          <p:cNvSpPr txBox="1"/>
          <p:nvPr/>
        </p:nvSpPr>
        <p:spPr>
          <a:xfrm>
            <a:off x="548640" y="2423160"/>
            <a:ext cx="73152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運用型 vs マス4媒体 (2024年, 億円)</a:t>
            </a:r>
          </a:p>
        </p:txBody>
      </p:sp>
      <p:sp>
        <p:nvSpPr>
          <p:cNvPr id="13" name="TextBox 12"/>
          <p:cNvSpPr txBox="1"/>
          <p:nvPr/>
        </p:nvSpPr>
        <p:spPr>
          <a:xfrm>
            <a:off x="548640" y="2926080"/>
            <a:ext cx="3200400" cy="320040"/>
          </a:xfrm>
          <a:prstGeom prst="rect">
            <a:avLst/>
          </a:prstGeom>
          <a:noFill/>
        </p:spPr>
        <p:txBody>
          <a:bodyPr wrap="square" anchor="t" lIns="0" rIns="0" tIns="0" bIns="0">
            <a:spAutoFit/>
          </a:bodyPr>
          <a:lstStyle/>
          <a:p>
            <a:pPr algn="l">
              <a:lnSpc>
                <a:spcPct val="115000"/>
              </a:lnSpc>
            </a:pPr>
            <a:r>
              <a:rPr sz="1300" b="1">
                <a:solidFill>
                  <a:srgbClr val="E87722"/>
                </a:solidFill>
                <a:latin typeface="Hiragino Sans"/>
                <a:ea typeface="Hiragino Sans"/>
                <a:cs typeface="Hiragino Sans"/>
              </a:rPr>
              <a:t>運用型ネット広告</a:t>
            </a:r>
          </a:p>
        </p:txBody>
      </p:sp>
      <p:sp>
        <p:nvSpPr>
          <p:cNvPr id="14" name="Rounded Rectangle 13"/>
          <p:cNvSpPr/>
          <p:nvPr/>
        </p:nvSpPr>
        <p:spPr>
          <a:xfrm>
            <a:off x="3840480" y="2971800"/>
            <a:ext cx="5943600" cy="5486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0" y="3063240"/>
            <a:ext cx="13716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24,931</a:t>
            </a:r>
          </a:p>
        </p:txBody>
      </p:sp>
      <p:sp>
        <p:nvSpPr>
          <p:cNvPr id="16" name="TextBox 15"/>
          <p:cNvSpPr txBox="1"/>
          <p:nvPr/>
        </p:nvSpPr>
        <p:spPr>
          <a:xfrm>
            <a:off x="548640" y="3584448"/>
            <a:ext cx="100584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検索+ディスプレイ+SNS+動画+その他</a:t>
            </a:r>
          </a:p>
        </p:txBody>
      </p:sp>
      <p:sp>
        <p:nvSpPr>
          <p:cNvPr id="17" name="TextBox 16"/>
          <p:cNvSpPr txBox="1"/>
          <p:nvPr/>
        </p:nvSpPr>
        <p:spPr>
          <a:xfrm>
            <a:off x="548640" y="3931920"/>
            <a:ext cx="3200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マス4媒体合計</a:t>
            </a:r>
          </a:p>
        </p:txBody>
      </p:sp>
      <p:sp>
        <p:nvSpPr>
          <p:cNvPr id="18" name="Rounded Rectangle 17"/>
          <p:cNvSpPr/>
          <p:nvPr/>
        </p:nvSpPr>
        <p:spPr>
          <a:xfrm>
            <a:off x="3840480" y="3977640"/>
            <a:ext cx="5607214" cy="5486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39134" y="4069080"/>
            <a:ext cx="1371600" cy="365760"/>
          </a:xfrm>
          <a:prstGeom prst="rect">
            <a:avLst/>
          </a:prstGeom>
          <a:noFill/>
        </p:spPr>
        <p:txBody>
          <a:bodyPr wrap="square" anchor="t" lIns="0" rIns="0" tIns="0" bIns="0">
            <a:spAutoFit/>
          </a:bodyPr>
          <a:lstStyle/>
          <a:p>
            <a:pPr algn="l">
              <a:lnSpc>
                <a:spcPct val="115000"/>
              </a:lnSpc>
            </a:pPr>
            <a:r>
              <a:rPr sz="1400" b="1">
                <a:solidFill>
                  <a:srgbClr val="0F2A4F"/>
                </a:solidFill>
                <a:latin typeface="Helvetica Neue"/>
                <a:ea typeface="Helvetica Neue"/>
                <a:cs typeface="Helvetica Neue"/>
              </a:rPr>
              <a:t>23,520</a:t>
            </a:r>
          </a:p>
        </p:txBody>
      </p:sp>
      <p:sp>
        <p:nvSpPr>
          <p:cNvPr id="20" name="TextBox 19"/>
          <p:cNvSpPr txBox="1"/>
          <p:nvPr/>
        </p:nvSpPr>
        <p:spPr>
          <a:xfrm>
            <a:off x="548640" y="4590288"/>
            <a:ext cx="100584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テレビ 17,034 + 新聞 3,351 + 雑誌 2,072 + ラジオ 1,063</a:t>
            </a:r>
          </a:p>
        </p:txBody>
      </p:sp>
      <p:sp>
        <p:nvSpPr>
          <p:cNvPr id="21" name="TextBox 20"/>
          <p:cNvSpPr txBox="1"/>
          <p:nvPr/>
        </p:nvSpPr>
        <p:spPr>
          <a:xfrm>
            <a:off x="548640" y="5120640"/>
            <a:ext cx="109728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構造的ドライバー</a:t>
            </a:r>
          </a:p>
        </p:txBody>
      </p:sp>
      <p:sp>
        <p:nvSpPr>
          <p:cNvPr id="22" name="Rectangle 21"/>
          <p:cNvSpPr/>
          <p:nvPr/>
        </p:nvSpPr>
        <p:spPr>
          <a:xfrm>
            <a:off x="548640" y="544068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5623560"/>
            <a:ext cx="3611880" cy="8229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696712"/>
            <a:ext cx="548640" cy="32004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01</a:t>
            </a:r>
          </a:p>
        </p:txBody>
      </p:sp>
      <p:sp>
        <p:nvSpPr>
          <p:cNvPr id="25" name="TextBox 24"/>
          <p:cNvSpPr txBox="1"/>
          <p:nvPr/>
        </p:nvSpPr>
        <p:spPr>
          <a:xfrm>
            <a:off x="1371600" y="5733288"/>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動画広告の急伸</a:t>
            </a:r>
          </a:p>
        </p:txBody>
      </p:sp>
      <p:sp>
        <p:nvSpPr>
          <p:cNvPr id="26" name="TextBox 25"/>
          <p:cNvSpPr txBox="1"/>
          <p:nvPr/>
        </p:nvSpPr>
        <p:spPr>
          <a:xfrm>
            <a:off x="731520" y="6080760"/>
            <a:ext cx="333756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TikTok / YouTube Shorts / Meta Reels の縦型が牽引</a:t>
            </a:r>
          </a:p>
        </p:txBody>
      </p:sp>
      <p:sp>
        <p:nvSpPr>
          <p:cNvPr id="27" name="Rounded Rectangle 26"/>
          <p:cNvSpPr/>
          <p:nvPr/>
        </p:nvSpPr>
        <p:spPr>
          <a:xfrm>
            <a:off x="4297680" y="5623560"/>
            <a:ext cx="3611880" cy="8229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5696712"/>
            <a:ext cx="548640" cy="32004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02</a:t>
            </a:r>
          </a:p>
        </p:txBody>
      </p:sp>
      <p:sp>
        <p:nvSpPr>
          <p:cNvPr id="29" name="TextBox 28"/>
          <p:cNvSpPr txBox="1"/>
          <p:nvPr/>
        </p:nvSpPr>
        <p:spPr>
          <a:xfrm>
            <a:off x="5120640" y="5733288"/>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AI配信キャンペーンの成熟</a:t>
            </a:r>
          </a:p>
        </p:txBody>
      </p:sp>
      <p:sp>
        <p:nvSpPr>
          <p:cNvPr id="30" name="TextBox 29"/>
          <p:cNvSpPr txBox="1"/>
          <p:nvPr/>
        </p:nvSpPr>
        <p:spPr>
          <a:xfrm>
            <a:off x="4480560" y="6080760"/>
            <a:ext cx="333756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PMax / Advantage+ / Smart+ で運用工数が激減</a:t>
            </a:r>
          </a:p>
        </p:txBody>
      </p:sp>
      <p:sp>
        <p:nvSpPr>
          <p:cNvPr id="31" name="Rounded Rectangle 30"/>
          <p:cNvSpPr/>
          <p:nvPr/>
        </p:nvSpPr>
        <p:spPr>
          <a:xfrm>
            <a:off x="8046720" y="5623560"/>
            <a:ext cx="3611880" cy="82296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5696712"/>
            <a:ext cx="548640" cy="32004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03</a:t>
            </a:r>
          </a:p>
        </p:txBody>
      </p:sp>
      <p:sp>
        <p:nvSpPr>
          <p:cNvPr id="33" name="TextBox 32"/>
          <p:cNvSpPr txBox="1"/>
          <p:nvPr/>
        </p:nvSpPr>
        <p:spPr>
          <a:xfrm>
            <a:off x="8869680" y="5733288"/>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リテールメディア拡大</a:t>
            </a:r>
          </a:p>
        </p:txBody>
      </p:sp>
      <p:sp>
        <p:nvSpPr>
          <p:cNvPr id="34" name="TextBox 33"/>
          <p:cNvSpPr txBox="1"/>
          <p:nvPr/>
        </p:nvSpPr>
        <p:spPr>
          <a:xfrm>
            <a:off x="8229600" y="6080760"/>
            <a:ext cx="333756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Amazon / 楽天 / Yahoo!ショッピング広告が新勢力</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リテールメディアの台頭</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Retail Media Network (RMN) が新勢力として確立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P14 / 250</a:t>
            </a:r>
          </a:p>
        </p:txBody>
      </p:sp>
      <p:sp>
        <p:nvSpPr>
          <p:cNvPr id="8" name="Rounded Rectangle 7"/>
          <p:cNvSpPr/>
          <p:nvPr/>
        </p:nvSpPr>
        <p:spPr>
          <a:xfrm>
            <a:off x="548640" y="1371600"/>
            <a:ext cx="11109960" cy="8229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1371600" cy="548640"/>
          </a:xfrm>
          <a:prstGeom prst="rect">
            <a:avLst/>
          </a:prstGeom>
          <a:noFill/>
        </p:spPr>
        <p:txBody>
          <a:bodyPr wrap="square" anchor="t" lIns="0" rIns="0" tIns="0" bIns="0">
            <a:spAutoFit/>
          </a:bodyPr>
          <a:lstStyle/>
          <a:p>
            <a:pPr algn="l">
              <a:lnSpc>
                <a:spcPct val="115000"/>
              </a:lnSpc>
            </a:pPr>
            <a:r>
              <a:rPr sz="2200" b="1">
                <a:solidFill>
                  <a:srgbClr val="E87722"/>
                </a:solidFill>
                <a:latin typeface="Helvetica Neue"/>
                <a:ea typeface="Helvetica Neue"/>
                <a:cs typeface="Helvetica Neue"/>
              </a:rPr>
              <a:t>RMN =</a:t>
            </a:r>
          </a:p>
        </p:txBody>
      </p:sp>
      <p:sp>
        <p:nvSpPr>
          <p:cNvPr id="10" name="TextBox 9"/>
          <p:cNvSpPr txBox="1"/>
          <p:nvPr/>
        </p:nvSpPr>
        <p:spPr>
          <a:xfrm>
            <a:off x="1920240" y="1463040"/>
            <a:ext cx="9601200" cy="731520"/>
          </a:xfrm>
          <a:prstGeom prst="rect">
            <a:avLst/>
          </a:prstGeom>
          <a:noFill/>
        </p:spPr>
        <p:txBody>
          <a:bodyPr wrap="square" anchor="t" lIns="0" rIns="0" tIns="0" bIns="0">
            <a:spAutoFit/>
          </a:bodyPr>
          <a:lstStyle/>
          <a:p>
            <a:pPr algn="l">
              <a:lnSpc>
                <a:spcPct val="140000"/>
              </a:lnSpc>
            </a:pPr>
            <a:r>
              <a:rPr sz="1200" b="0">
                <a:solidFill>
                  <a:srgbClr val="FFFFFF"/>
                </a:solidFill>
                <a:latin typeface="Hiragino Sans"/>
                <a:ea typeface="Hiragino Sans"/>
                <a:cs typeface="Hiragino Sans"/>
              </a:rPr>
              <a:t>購買データを持つEC/小売事業者が、自社面・他社面で広告を売るネットワーク。</a:t>
            </a:r>
          </a:p>
          <a:p>
            <a:pPr algn="l">
              <a:lnSpc>
                <a:spcPct val="140000"/>
              </a:lnSpc>
            </a:pPr>
            <a:r>
              <a:rPr sz="1200" b="0">
                <a:solidFill>
                  <a:srgbClr val="FFFFFF"/>
                </a:solidFill>
                <a:latin typeface="Hiragino Sans"/>
                <a:ea typeface="Hiragino Sans"/>
                <a:cs typeface="Hiragino Sans"/>
              </a:rPr>
              <a:t>検索CVR・商品詳細ページCVRが極めて高く、ラストクリック計測が効きやすい。</a:t>
            </a:r>
          </a:p>
        </p:txBody>
      </p:sp>
      <p:sp>
        <p:nvSpPr>
          <p:cNvPr id="11" name="Rounded Rectangle 10"/>
          <p:cNvSpPr/>
          <p:nvPr/>
        </p:nvSpPr>
        <p:spPr>
          <a:xfrm>
            <a:off x="548640" y="242316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42316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697480"/>
            <a:ext cx="3063240" cy="45720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Amazon Ads</a:t>
            </a:r>
          </a:p>
        </p:txBody>
      </p:sp>
      <p:sp>
        <p:nvSpPr>
          <p:cNvPr id="14" name="TextBox 13"/>
          <p:cNvSpPr txBox="1"/>
          <p:nvPr/>
        </p:nvSpPr>
        <p:spPr>
          <a:xfrm>
            <a:off x="822960" y="3200400"/>
            <a:ext cx="306324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$569億 (2024) ※要確認</a:t>
            </a:r>
          </a:p>
        </p:txBody>
      </p:sp>
      <p:sp>
        <p:nvSpPr>
          <p:cNvPr id="15" name="Rectangle 14"/>
          <p:cNvSpPr/>
          <p:nvPr/>
        </p:nvSpPr>
        <p:spPr>
          <a:xfrm>
            <a:off x="822960" y="356616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03320"/>
            <a:ext cx="3063240" cy="13716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世界広告売上 Google/Meta に次ぐ3位。</a:t>
            </a:r>
          </a:p>
          <a:p>
            <a:pPr algn="l">
              <a:lnSpc>
                <a:spcPct val="150000"/>
              </a:lnSpc>
            </a:pPr>
            <a:r>
              <a:rPr sz="1100" b="0">
                <a:solidFill>
                  <a:srgbClr val="1A1A1A"/>
                </a:solidFill>
                <a:latin typeface="Hiragino Sans"/>
                <a:ea typeface="Hiragino Sans"/>
                <a:cs typeface="Hiragino Sans"/>
              </a:rPr>
              <a:t>Sponsored Products / Brands / Display.</a:t>
            </a:r>
          </a:p>
          <a:p>
            <a:pPr algn="l">
              <a:lnSpc>
                <a:spcPct val="150000"/>
              </a:lnSpc>
            </a:pPr>
            <a:r>
              <a:rPr sz="1100" b="0">
                <a:solidFill>
                  <a:srgbClr val="1A1A1A"/>
                </a:solidFill>
                <a:latin typeface="Hiragino Sans"/>
                <a:ea typeface="Hiragino Sans"/>
                <a:cs typeface="Hiragino Sans"/>
              </a:rPr>
              <a:t>DSP / AMC (Amazon Marketing Cloud)</a:t>
            </a:r>
          </a:p>
        </p:txBody>
      </p:sp>
      <p:sp>
        <p:nvSpPr>
          <p:cNvPr id="17" name="Rounded Rectangle 16"/>
          <p:cNvSpPr/>
          <p:nvPr/>
        </p:nvSpPr>
        <p:spPr>
          <a:xfrm>
            <a:off x="4297680" y="242316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242316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2697480"/>
            <a:ext cx="3063240" cy="45720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楽天Ads</a:t>
            </a:r>
          </a:p>
        </p:txBody>
      </p:sp>
      <p:sp>
        <p:nvSpPr>
          <p:cNvPr id="20" name="TextBox 19"/>
          <p:cNvSpPr txBox="1"/>
          <p:nvPr/>
        </p:nvSpPr>
        <p:spPr>
          <a:xfrm>
            <a:off x="4572000" y="3200400"/>
            <a:ext cx="306324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国内シェア上位</a:t>
            </a:r>
          </a:p>
        </p:txBody>
      </p:sp>
      <p:sp>
        <p:nvSpPr>
          <p:cNvPr id="21" name="Rectangle 20"/>
          <p:cNvSpPr/>
          <p:nvPr/>
        </p:nvSpPr>
        <p:spPr>
          <a:xfrm>
            <a:off x="4572000" y="356616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3703320"/>
            <a:ext cx="3063240" cy="13716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楽天市場出店者向け RPP/CPA/CPC広告。</a:t>
            </a:r>
          </a:p>
          <a:p>
            <a:pPr algn="l">
              <a:lnSpc>
                <a:spcPct val="150000"/>
              </a:lnSpc>
            </a:pPr>
            <a:r>
              <a:rPr sz="1100" b="0">
                <a:solidFill>
                  <a:srgbClr val="1A1A1A"/>
                </a:solidFill>
                <a:latin typeface="Hiragino Sans"/>
                <a:ea typeface="Hiragino Sans"/>
                <a:cs typeface="Hiragino Sans"/>
              </a:rPr>
              <a:t>楽天RMP - Display Ads が新設。</a:t>
            </a:r>
          </a:p>
          <a:p>
            <a:pPr algn="l">
              <a:lnSpc>
                <a:spcPct val="150000"/>
              </a:lnSpc>
            </a:pPr>
            <a:r>
              <a:rPr sz="1100" b="0">
                <a:solidFill>
                  <a:srgbClr val="1A1A1A"/>
                </a:solidFill>
                <a:latin typeface="Hiragino Sans"/>
                <a:ea typeface="Hiragino Sans"/>
                <a:cs typeface="Hiragino Sans"/>
              </a:rPr>
              <a:t>購買履歴+検索履歴で精緻</a:t>
            </a:r>
          </a:p>
        </p:txBody>
      </p:sp>
      <p:sp>
        <p:nvSpPr>
          <p:cNvPr id="23" name="Rounded Rectangle 22"/>
          <p:cNvSpPr/>
          <p:nvPr/>
        </p:nvSpPr>
        <p:spPr>
          <a:xfrm>
            <a:off x="8046720" y="2423160"/>
            <a:ext cx="3611880" cy="27432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0" y="2423160"/>
            <a:ext cx="3611880" cy="1371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2697480"/>
            <a:ext cx="3063240" cy="457200"/>
          </a:xfrm>
          <a:prstGeom prst="rect">
            <a:avLst/>
          </a:prstGeom>
          <a:noFill/>
        </p:spPr>
        <p:txBody>
          <a:bodyPr wrap="square" anchor="t" lIns="0" rIns="0" tIns="0" bIns="0">
            <a:spAutoFit/>
          </a:bodyPr>
          <a:lstStyle/>
          <a:p>
            <a:pPr algn="l">
              <a:lnSpc>
                <a:spcPct val="115000"/>
              </a:lnSpc>
            </a:pPr>
            <a:r>
              <a:rPr sz="1800" b="1">
                <a:solidFill>
                  <a:srgbClr val="0F2A4F"/>
                </a:solidFill>
                <a:latin typeface="Hiragino Sans"/>
                <a:ea typeface="Hiragino Sans"/>
                <a:cs typeface="Hiragino Sans"/>
              </a:rPr>
              <a:t>Yahoo!ショッピング広告</a:t>
            </a:r>
          </a:p>
        </p:txBody>
      </p:sp>
      <p:sp>
        <p:nvSpPr>
          <p:cNvPr id="26" name="TextBox 25"/>
          <p:cNvSpPr txBox="1"/>
          <p:nvPr/>
        </p:nvSpPr>
        <p:spPr>
          <a:xfrm>
            <a:off x="8321040" y="3200400"/>
            <a:ext cx="3063240" cy="32004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LINEヤフー傘下</a:t>
            </a:r>
          </a:p>
        </p:txBody>
      </p:sp>
      <p:sp>
        <p:nvSpPr>
          <p:cNvPr id="27" name="Rectangle 26"/>
          <p:cNvSpPr/>
          <p:nvPr/>
        </p:nvSpPr>
        <p:spPr>
          <a:xfrm>
            <a:off x="8321040" y="3566160"/>
            <a:ext cx="3063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3703320"/>
            <a:ext cx="3063240" cy="13716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ストアページ広告 / アイテムマッチ / ブランドサーチ。</a:t>
            </a:r>
          </a:p>
          <a:p>
            <a:pPr algn="l">
              <a:lnSpc>
                <a:spcPct val="150000"/>
              </a:lnSpc>
            </a:pPr>
            <a:r>
              <a:rPr sz="1100" b="0">
                <a:solidFill>
                  <a:srgbClr val="1A1A1A"/>
                </a:solidFill>
                <a:latin typeface="Hiragino Sans"/>
                <a:ea typeface="Hiragino Sans"/>
                <a:cs typeface="Hiragino Sans"/>
              </a:rPr>
              <a:t>2026春統合の LINEヤフー広告 に内包予定</a:t>
            </a:r>
          </a:p>
        </p:txBody>
      </p:sp>
      <p:sp>
        <p:nvSpPr>
          <p:cNvPr id="29" name="Rounded Rectangle 28"/>
          <p:cNvSpPr/>
          <p:nvPr/>
        </p:nvSpPr>
        <p:spPr>
          <a:xfrm>
            <a:off x="548640" y="5394960"/>
            <a:ext cx="11109960" cy="9144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53212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副業運用代行の観点</a:t>
            </a:r>
          </a:p>
        </p:txBody>
      </p:sp>
      <p:sp>
        <p:nvSpPr>
          <p:cNvPr id="31" name="TextBox 30"/>
          <p:cNvSpPr txBox="1"/>
          <p:nvPr/>
        </p:nvSpPr>
        <p:spPr>
          <a:xfrm>
            <a:off x="777240" y="5852160"/>
            <a:ext cx="10972800" cy="45720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Google/Meta/TikTok に加えて『クライアントの販売チャネル依存でリテールメディア』が標準。</a:t>
            </a:r>
          </a:p>
          <a:p>
            <a:pPr algn="l">
              <a:lnSpc>
                <a:spcPct val="140000"/>
              </a:lnSpc>
            </a:pPr>
            <a:r>
              <a:rPr sz="1100" b="0">
                <a:solidFill>
                  <a:srgbClr val="1A1A1A"/>
                </a:solidFill>
                <a:latin typeface="Hiragino Sans"/>
                <a:ea typeface="Hiragino Sans"/>
                <a:cs typeface="Hiragino Sans"/>
              </a:rPr>
              <a:t>EC案件なら Amazon Ads / 楽天Ads の運用経験が強い差別化になる。</a:t>
            </a:r>
          </a:p>
        </p:txBody>
      </p:sp>
      <p:sp>
        <p:nvSpPr>
          <p:cNvPr id="32" name="TextBox 3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動画広告の急伸と縦型の覇権</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ネット広告費の最大セグメントは『動画』に</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P15 / 250</a:t>
            </a:r>
          </a:p>
        </p:txBody>
      </p:sp>
      <p:sp>
        <p:nvSpPr>
          <p:cNvPr id="8" name="Rounded Rectangle 7"/>
          <p:cNvSpPr/>
          <p:nvPr/>
        </p:nvSpPr>
        <p:spPr>
          <a:xfrm>
            <a:off x="548640" y="1371600"/>
            <a:ext cx="5029200" cy="48463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45720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2024年 日本のビデオ広告費</a:t>
            </a:r>
          </a:p>
        </p:txBody>
      </p:sp>
      <p:sp>
        <p:nvSpPr>
          <p:cNvPr id="10" name="TextBox 9"/>
          <p:cNvSpPr txBox="1"/>
          <p:nvPr/>
        </p:nvSpPr>
        <p:spPr>
          <a:xfrm>
            <a:off x="777240" y="2057400"/>
            <a:ext cx="4114800" cy="1097280"/>
          </a:xfrm>
          <a:prstGeom prst="rect">
            <a:avLst/>
          </a:prstGeom>
          <a:noFill/>
        </p:spPr>
        <p:txBody>
          <a:bodyPr wrap="square" anchor="t" lIns="0" rIns="0" tIns="0" bIns="0">
            <a:spAutoFit/>
          </a:bodyPr>
          <a:lstStyle/>
          <a:p>
            <a:pPr algn="l">
              <a:lnSpc>
                <a:spcPct val="115000"/>
              </a:lnSpc>
            </a:pPr>
            <a:r>
              <a:rPr sz="6800" b="1">
                <a:solidFill>
                  <a:srgbClr val="E87722"/>
                </a:solidFill>
                <a:latin typeface="Helvetica Neue"/>
                <a:ea typeface="Helvetica Neue"/>
                <a:cs typeface="Helvetica Neue"/>
              </a:rPr>
              <a:t>9,300+</a:t>
            </a:r>
          </a:p>
        </p:txBody>
      </p:sp>
      <p:sp>
        <p:nvSpPr>
          <p:cNvPr id="11" name="TextBox 10"/>
          <p:cNvSpPr txBox="1"/>
          <p:nvPr/>
        </p:nvSpPr>
        <p:spPr>
          <a:xfrm>
            <a:off x="777240" y="3200400"/>
            <a:ext cx="3657600" cy="36576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億円 (推計)</a:t>
            </a:r>
          </a:p>
        </p:txBody>
      </p:sp>
      <p:sp>
        <p:nvSpPr>
          <p:cNvPr id="12" name="TextBox 11"/>
          <p:cNvSpPr txBox="1"/>
          <p:nvPr/>
        </p:nvSpPr>
        <p:spPr>
          <a:xfrm>
            <a:off x="777240" y="3657600"/>
            <a:ext cx="4572000" cy="640080"/>
          </a:xfrm>
          <a:prstGeom prst="rect">
            <a:avLst/>
          </a:prstGeom>
          <a:noFill/>
        </p:spPr>
        <p:txBody>
          <a:bodyPr wrap="square" anchor="t" lIns="0" rIns="0" tIns="0" bIns="0">
            <a:spAutoFit/>
          </a:bodyPr>
          <a:lstStyle/>
          <a:p>
            <a:pPr algn="l">
              <a:lnSpc>
                <a:spcPct val="140000"/>
              </a:lnSpc>
            </a:pPr>
            <a:r>
              <a:rPr sz="1000" b="0">
                <a:solidFill>
                  <a:srgbClr val="5A6A80"/>
                </a:solidFill>
                <a:latin typeface="Hiragino Sans"/>
                <a:ea typeface="Hiragino Sans"/>
                <a:cs typeface="Hiragino Sans"/>
              </a:rPr>
              <a:t>※ 電通2024レポートより筆者推計</a:t>
            </a:r>
          </a:p>
          <a:p>
            <a:pPr algn="l">
              <a:lnSpc>
                <a:spcPct val="140000"/>
              </a:lnSpc>
            </a:pPr>
            <a:r>
              <a:rPr sz="1000" b="0">
                <a:solidFill>
                  <a:srgbClr val="5A6A80"/>
                </a:solidFill>
                <a:latin typeface="Hiragino Sans"/>
                <a:ea typeface="Hiragino Sans"/>
                <a:cs typeface="Hiragino Sans"/>
              </a:rPr>
              <a:t>ネット広告媒体費の約31%が動画</a:t>
            </a:r>
          </a:p>
        </p:txBody>
      </p:sp>
      <p:sp>
        <p:nvSpPr>
          <p:cNvPr id="13" name="TextBox 12"/>
          <p:cNvSpPr txBox="1"/>
          <p:nvPr/>
        </p:nvSpPr>
        <p:spPr>
          <a:xfrm>
            <a:off x="777240" y="4480560"/>
            <a:ext cx="45720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動画広告の3つのシフト</a:t>
            </a:r>
          </a:p>
        </p:txBody>
      </p:sp>
      <p:sp>
        <p:nvSpPr>
          <p:cNvPr id="14" name="Rectangle 13"/>
          <p:cNvSpPr/>
          <p:nvPr/>
        </p:nvSpPr>
        <p:spPr>
          <a:xfrm>
            <a:off x="777240" y="4800600"/>
            <a:ext cx="45720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937760"/>
            <a:ext cx="45720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①</a:t>
            </a:r>
          </a:p>
        </p:txBody>
      </p:sp>
      <p:sp>
        <p:nvSpPr>
          <p:cNvPr id="16" name="TextBox 15"/>
          <p:cNvSpPr txBox="1"/>
          <p:nvPr/>
        </p:nvSpPr>
        <p:spPr>
          <a:xfrm>
            <a:off x="1280160" y="4937760"/>
            <a:ext cx="4114800" cy="32004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横型 → 縦型9:16 が主流</a:t>
            </a:r>
          </a:p>
        </p:txBody>
      </p:sp>
      <p:sp>
        <p:nvSpPr>
          <p:cNvPr id="17" name="TextBox 16"/>
          <p:cNvSpPr txBox="1"/>
          <p:nvPr/>
        </p:nvSpPr>
        <p:spPr>
          <a:xfrm>
            <a:off x="777240" y="5285232"/>
            <a:ext cx="45720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②</a:t>
            </a:r>
          </a:p>
        </p:txBody>
      </p:sp>
      <p:sp>
        <p:nvSpPr>
          <p:cNvPr id="18" name="TextBox 17"/>
          <p:cNvSpPr txBox="1"/>
          <p:nvPr/>
        </p:nvSpPr>
        <p:spPr>
          <a:xfrm>
            <a:off x="1280160" y="5285232"/>
            <a:ext cx="4114800" cy="32004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インストリーム → インフィード型</a:t>
            </a:r>
          </a:p>
        </p:txBody>
      </p:sp>
      <p:sp>
        <p:nvSpPr>
          <p:cNvPr id="19" name="TextBox 18"/>
          <p:cNvSpPr txBox="1"/>
          <p:nvPr/>
        </p:nvSpPr>
        <p:spPr>
          <a:xfrm>
            <a:off x="777240" y="5632704"/>
            <a:ext cx="45720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③</a:t>
            </a:r>
          </a:p>
        </p:txBody>
      </p:sp>
      <p:sp>
        <p:nvSpPr>
          <p:cNvPr id="20" name="TextBox 19"/>
          <p:cNvSpPr txBox="1"/>
          <p:nvPr/>
        </p:nvSpPr>
        <p:spPr>
          <a:xfrm>
            <a:off x="1280160" y="5632704"/>
            <a:ext cx="4114800" cy="320040"/>
          </a:xfrm>
          <a:prstGeom prst="rect">
            <a:avLst/>
          </a:prstGeom>
          <a:noFill/>
        </p:spPr>
        <p:txBody>
          <a:bodyPr wrap="square" anchor="t" lIns="0" rIns="0" tIns="0" bIns="0">
            <a:spAutoFit/>
          </a:bodyPr>
          <a:lstStyle/>
          <a:p>
            <a:pPr algn="l">
              <a:lnSpc>
                <a:spcPct val="115000"/>
              </a:lnSpc>
            </a:pPr>
            <a:r>
              <a:rPr sz="1100" b="0">
                <a:solidFill>
                  <a:srgbClr val="1A1A1A"/>
                </a:solidFill>
                <a:latin typeface="Hiragino Sans"/>
                <a:ea typeface="Hiragino Sans"/>
                <a:cs typeface="Hiragino Sans"/>
              </a:rPr>
              <a:t>ブランディング → 購買導線</a:t>
            </a:r>
          </a:p>
        </p:txBody>
      </p:sp>
      <p:sp>
        <p:nvSpPr>
          <p:cNvPr id="21" name="TextBox 20"/>
          <p:cNvSpPr txBox="1"/>
          <p:nvPr/>
        </p:nvSpPr>
        <p:spPr>
          <a:xfrm>
            <a:off x="5760720" y="1417320"/>
            <a:ext cx="59436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主要縦型動画プラットフォーム</a:t>
            </a:r>
          </a:p>
        </p:txBody>
      </p:sp>
      <p:sp>
        <p:nvSpPr>
          <p:cNvPr id="22" name="Rounded Rectangle 21"/>
          <p:cNvSpPr/>
          <p:nvPr/>
        </p:nvSpPr>
        <p:spPr>
          <a:xfrm>
            <a:off x="5760720" y="1920240"/>
            <a:ext cx="2880360" cy="1965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60720" y="1920240"/>
            <a:ext cx="109728" cy="196596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2103120"/>
            <a:ext cx="2514600" cy="640080"/>
          </a:xfrm>
          <a:prstGeom prst="rect">
            <a:avLst/>
          </a:prstGeom>
          <a:noFill/>
        </p:spPr>
        <p:txBody>
          <a:bodyPr wrap="square" anchor="t" lIns="0" rIns="0" tIns="0" bIns="0">
            <a:spAutoFit/>
          </a:bodyPr>
          <a:lstStyle/>
          <a:p>
            <a:pPr algn="l">
              <a:lnSpc>
                <a:spcPct val="110000"/>
              </a:lnSpc>
            </a:pPr>
            <a:r>
              <a:rPr sz="1500" b="1">
                <a:solidFill>
                  <a:srgbClr val="0F2A4F"/>
                </a:solidFill>
                <a:latin typeface="Hiragino Sans"/>
                <a:ea typeface="Hiragino Sans"/>
                <a:cs typeface="Hiragino Sans"/>
              </a:rPr>
              <a:t>TikTok</a:t>
            </a:r>
          </a:p>
        </p:txBody>
      </p:sp>
      <p:sp>
        <p:nvSpPr>
          <p:cNvPr id="25" name="TextBox 24"/>
          <p:cNvSpPr txBox="1"/>
          <p:nvPr/>
        </p:nvSpPr>
        <p:spPr>
          <a:xfrm>
            <a:off x="6035040" y="2788920"/>
            <a:ext cx="2514600" cy="594360"/>
          </a:xfrm>
          <a:prstGeom prst="rect">
            <a:avLst/>
          </a:prstGeom>
          <a:noFill/>
        </p:spPr>
        <p:txBody>
          <a:bodyPr wrap="square" anchor="t" lIns="0" rIns="0" tIns="0" bIns="0">
            <a:spAutoFit/>
          </a:bodyPr>
          <a:lstStyle/>
          <a:p>
            <a:pPr algn="l">
              <a:lnSpc>
                <a:spcPct val="135000"/>
              </a:lnSpc>
            </a:pPr>
            <a:r>
              <a:rPr sz="1000" b="0">
                <a:solidFill>
                  <a:srgbClr val="5A6A80"/>
                </a:solidFill>
                <a:latin typeface="Hiragino Sans"/>
                <a:ea typeface="Hiragino Sans"/>
                <a:cs typeface="Hiragino Sans"/>
              </a:rPr>
              <a:t>10代-30代</a:t>
            </a:r>
          </a:p>
          <a:p>
            <a:pPr algn="l">
              <a:lnSpc>
                <a:spcPct val="135000"/>
              </a:lnSpc>
            </a:pPr>
            <a:r>
              <a:rPr sz="1000" b="0">
                <a:solidFill>
                  <a:srgbClr val="5A6A80"/>
                </a:solidFill>
                <a:latin typeface="Hiragino Sans"/>
                <a:ea typeface="Hiragino Sans"/>
                <a:cs typeface="Hiragino Sans"/>
              </a:rPr>
              <a:t>B2C エンタメ/美容/Z世代</a:t>
            </a:r>
          </a:p>
        </p:txBody>
      </p:sp>
      <p:sp>
        <p:nvSpPr>
          <p:cNvPr id="26" name="TextBox 25"/>
          <p:cNvSpPr txBox="1"/>
          <p:nvPr/>
        </p:nvSpPr>
        <p:spPr>
          <a:xfrm>
            <a:off x="6035040" y="3337560"/>
            <a:ext cx="2514600" cy="54864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Smart+ / Symphony AI / Shop Ads</a:t>
            </a:r>
          </a:p>
        </p:txBody>
      </p:sp>
      <p:sp>
        <p:nvSpPr>
          <p:cNvPr id="27" name="Rounded Rectangle 26"/>
          <p:cNvSpPr/>
          <p:nvPr/>
        </p:nvSpPr>
        <p:spPr>
          <a:xfrm>
            <a:off x="8823960" y="1920240"/>
            <a:ext cx="2880360" cy="1965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920240"/>
            <a:ext cx="109728" cy="196596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98280" y="2103120"/>
            <a:ext cx="2514600" cy="640080"/>
          </a:xfrm>
          <a:prstGeom prst="rect">
            <a:avLst/>
          </a:prstGeom>
          <a:noFill/>
        </p:spPr>
        <p:txBody>
          <a:bodyPr wrap="square" anchor="t" lIns="0" rIns="0" tIns="0" bIns="0">
            <a:spAutoFit/>
          </a:bodyPr>
          <a:lstStyle/>
          <a:p>
            <a:pPr algn="l">
              <a:lnSpc>
                <a:spcPct val="110000"/>
              </a:lnSpc>
            </a:pPr>
            <a:r>
              <a:rPr sz="1500" b="1">
                <a:solidFill>
                  <a:srgbClr val="0F2A4F"/>
                </a:solidFill>
                <a:latin typeface="Hiragino Sans"/>
                <a:ea typeface="Hiragino Sans"/>
                <a:cs typeface="Hiragino Sans"/>
              </a:rPr>
              <a:t>YouTube</a:t>
            </a:r>
          </a:p>
          <a:p>
            <a:pPr algn="l">
              <a:lnSpc>
                <a:spcPct val="110000"/>
              </a:lnSpc>
            </a:pPr>
            <a:r>
              <a:rPr sz="1500" b="1">
                <a:solidFill>
                  <a:srgbClr val="0F2A4F"/>
                </a:solidFill>
                <a:latin typeface="Hiragino Sans"/>
                <a:ea typeface="Hiragino Sans"/>
                <a:cs typeface="Hiragino Sans"/>
              </a:rPr>
              <a:t>Shorts</a:t>
            </a:r>
          </a:p>
        </p:txBody>
      </p:sp>
      <p:sp>
        <p:nvSpPr>
          <p:cNvPr id="30" name="TextBox 29"/>
          <p:cNvSpPr txBox="1"/>
          <p:nvPr/>
        </p:nvSpPr>
        <p:spPr>
          <a:xfrm>
            <a:off x="9098280" y="2788920"/>
            <a:ext cx="2514600" cy="594360"/>
          </a:xfrm>
          <a:prstGeom prst="rect">
            <a:avLst/>
          </a:prstGeom>
          <a:noFill/>
        </p:spPr>
        <p:txBody>
          <a:bodyPr wrap="square" anchor="t" lIns="0" rIns="0" tIns="0" bIns="0">
            <a:spAutoFit/>
          </a:bodyPr>
          <a:lstStyle/>
          <a:p>
            <a:pPr algn="l">
              <a:lnSpc>
                <a:spcPct val="135000"/>
              </a:lnSpc>
            </a:pPr>
            <a:r>
              <a:rPr sz="1000" b="0">
                <a:solidFill>
                  <a:srgbClr val="5A6A80"/>
                </a:solidFill>
                <a:latin typeface="Hiragino Sans"/>
                <a:ea typeface="Hiragino Sans"/>
                <a:cs typeface="Hiragino Sans"/>
              </a:rPr>
              <a:t>幅広い層</a:t>
            </a:r>
          </a:p>
          <a:p>
            <a:pPr algn="l">
              <a:lnSpc>
                <a:spcPct val="135000"/>
              </a:lnSpc>
            </a:pPr>
            <a:r>
              <a:rPr sz="1000" b="0">
                <a:solidFill>
                  <a:srgbClr val="5A6A80"/>
                </a:solidFill>
                <a:latin typeface="Hiragino Sans"/>
                <a:ea typeface="Hiragino Sans"/>
                <a:cs typeface="Hiragino Sans"/>
              </a:rPr>
              <a:t>動画全年代</a:t>
            </a:r>
          </a:p>
        </p:txBody>
      </p:sp>
      <p:sp>
        <p:nvSpPr>
          <p:cNvPr id="31" name="TextBox 30"/>
          <p:cNvSpPr txBox="1"/>
          <p:nvPr/>
        </p:nvSpPr>
        <p:spPr>
          <a:xfrm>
            <a:off x="9098280" y="3337560"/>
            <a:ext cx="2514600" cy="54864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Demand Gen / Video Reach Campaign</a:t>
            </a:r>
          </a:p>
        </p:txBody>
      </p:sp>
      <p:sp>
        <p:nvSpPr>
          <p:cNvPr id="32" name="Rounded Rectangle 31"/>
          <p:cNvSpPr/>
          <p:nvPr/>
        </p:nvSpPr>
        <p:spPr>
          <a:xfrm>
            <a:off x="5760720" y="4069080"/>
            <a:ext cx="2880360" cy="1965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760720" y="4069080"/>
            <a:ext cx="109728" cy="1965960"/>
          </a:xfrm>
          <a:prstGeom prst="rect">
            <a:avLst/>
          </a:prstGeom>
          <a:solidFill>
            <a:srgbClr val="2B4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4251960"/>
            <a:ext cx="2514600" cy="640080"/>
          </a:xfrm>
          <a:prstGeom prst="rect">
            <a:avLst/>
          </a:prstGeom>
          <a:noFill/>
        </p:spPr>
        <p:txBody>
          <a:bodyPr wrap="square" anchor="t" lIns="0" rIns="0" tIns="0" bIns="0">
            <a:spAutoFit/>
          </a:bodyPr>
          <a:lstStyle/>
          <a:p>
            <a:pPr algn="l">
              <a:lnSpc>
                <a:spcPct val="110000"/>
              </a:lnSpc>
            </a:pPr>
            <a:r>
              <a:rPr sz="1500" b="1">
                <a:solidFill>
                  <a:srgbClr val="0F2A4F"/>
                </a:solidFill>
                <a:latin typeface="Hiragino Sans"/>
                <a:ea typeface="Hiragino Sans"/>
                <a:cs typeface="Hiragino Sans"/>
              </a:rPr>
              <a:t>Meta</a:t>
            </a:r>
          </a:p>
          <a:p>
            <a:pPr algn="l">
              <a:lnSpc>
                <a:spcPct val="110000"/>
              </a:lnSpc>
            </a:pPr>
            <a:r>
              <a:rPr sz="1500" b="1">
                <a:solidFill>
                  <a:srgbClr val="0F2A4F"/>
                </a:solidFill>
                <a:latin typeface="Hiragino Sans"/>
                <a:ea typeface="Hiragino Sans"/>
                <a:cs typeface="Hiragino Sans"/>
              </a:rPr>
              <a:t>Reels</a:t>
            </a:r>
          </a:p>
        </p:txBody>
      </p:sp>
      <p:sp>
        <p:nvSpPr>
          <p:cNvPr id="35" name="TextBox 34"/>
          <p:cNvSpPr txBox="1"/>
          <p:nvPr/>
        </p:nvSpPr>
        <p:spPr>
          <a:xfrm>
            <a:off x="6035040" y="4937760"/>
            <a:ext cx="2514600" cy="594360"/>
          </a:xfrm>
          <a:prstGeom prst="rect">
            <a:avLst/>
          </a:prstGeom>
          <a:noFill/>
        </p:spPr>
        <p:txBody>
          <a:bodyPr wrap="square" anchor="t" lIns="0" rIns="0" tIns="0" bIns="0">
            <a:spAutoFit/>
          </a:bodyPr>
          <a:lstStyle/>
          <a:p>
            <a:pPr algn="l">
              <a:lnSpc>
                <a:spcPct val="135000"/>
              </a:lnSpc>
            </a:pPr>
            <a:r>
              <a:rPr sz="1000" b="0">
                <a:solidFill>
                  <a:srgbClr val="5A6A80"/>
                </a:solidFill>
                <a:latin typeface="Hiragino Sans"/>
                <a:ea typeface="Hiragino Sans"/>
                <a:cs typeface="Hiragino Sans"/>
              </a:rPr>
              <a:t>Instagram+Facebook</a:t>
            </a:r>
          </a:p>
          <a:p>
            <a:pPr algn="l">
              <a:lnSpc>
                <a:spcPct val="135000"/>
              </a:lnSpc>
            </a:pPr>
            <a:r>
              <a:rPr sz="1000" b="0">
                <a:solidFill>
                  <a:srgbClr val="5A6A80"/>
                </a:solidFill>
                <a:latin typeface="Hiragino Sans"/>
                <a:ea typeface="Hiragino Sans"/>
                <a:cs typeface="Hiragino Sans"/>
              </a:rPr>
              <a:t>20-50代</a:t>
            </a:r>
          </a:p>
        </p:txBody>
      </p:sp>
      <p:sp>
        <p:nvSpPr>
          <p:cNvPr id="36" name="TextBox 35"/>
          <p:cNvSpPr txBox="1"/>
          <p:nvPr/>
        </p:nvSpPr>
        <p:spPr>
          <a:xfrm>
            <a:off x="6035040" y="5486400"/>
            <a:ext cx="2514600" cy="54864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Advantage+ Creative / 自動動画生成</a:t>
            </a:r>
          </a:p>
        </p:txBody>
      </p:sp>
      <p:sp>
        <p:nvSpPr>
          <p:cNvPr id="37" name="Rounded Rectangle 36"/>
          <p:cNvSpPr/>
          <p:nvPr/>
        </p:nvSpPr>
        <p:spPr>
          <a:xfrm>
            <a:off x="8823960" y="4069080"/>
            <a:ext cx="2880360" cy="196596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23960" y="4069080"/>
            <a:ext cx="109728" cy="1965960"/>
          </a:xfrm>
          <a:prstGeom prst="rect">
            <a:avLst/>
          </a:prstGeom>
          <a:solidFill>
            <a:srgbClr val="B85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98280" y="4251960"/>
            <a:ext cx="2514600" cy="640080"/>
          </a:xfrm>
          <a:prstGeom prst="rect">
            <a:avLst/>
          </a:prstGeom>
          <a:noFill/>
        </p:spPr>
        <p:txBody>
          <a:bodyPr wrap="square" anchor="t" lIns="0" rIns="0" tIns="0" bIns="0">
            <a:spAutoFit/>
          </a:bodyPr>
          <a:lstStyle/>
          <a:p>
            <a:pPr algn="l">
              <a:lnSpc>
                <a:spcPct val="110000"/>
              </a:lnSpc>
            </a:pPr>
            <a:r>
              <a:rPr sz="1500" b="1">
                <a:solidFill>
                  <a:srgbClr val="0F2A4F"/>
                </a:solidFill>
                <a:latin typeface="Hiragino Sans"/>
                <a:ea typeface="Hiragino Sans"/>
                <a:cs typeface="Hiragino Sans"/>
              </a:rPr>
              <a:t>LINE</a:t>
            </a:r>
          </a:p>
          <a:p>
            <a:pPr algn="l">
              <a:lnSpc>
                <a:spcPct val="110000"/>
              </a:lnSpc>
            </a:pPr>
            <a:r>
              <a:rPr sz="1500" b="1">
                <a:solidFill>
                  <a:srgbClr val="0F2A4F"/>
                </a:solidFill>
                <a:latin typeface="Hiragino Sans"/>
                <a:ea typeface="Hiragino Sans"/>
                <a:cs typeface="Hiragino Sans"/>
              </a:rPr>
              <a:t>VOOM</a:t>
            </a:r>
          </a:p>
        </p:txBody>
      </p:sp>
      <p:sp>
        <p:nvSpPr>
          <p:cNvPr id="40" name="TextBox 39"/>
          <p:cNvSpPr txBox="1"/>
          <p:nvPr/>
        </p:nvSpPr>
        <p:spPr>
          <a:xfrm>
            <a:off x="9098280" y="4937760"/>
            <a:ext cx="2514600" cy="594360"/>
          </a:xfrm>
          <a:prstGeom prst="rect">
            <a:avLst/>
          </a:prstGeom>
          <a:noFill/>
        </p:spPr>
        <p:txBody>
          <a:bodyPr wrap="square" anchor="t" lIns="0" rIns="0" tIns="0" bIns="0">
            <a:spAutoFit/>
          </a:bodyPr>
          <a:lstStyle/>
          <a:p>
            <a:pPr algn="l">
              <a:lnSpc>
                <a:spcPct val="135000"/>
              </a:lnSpc>
            </a:pPr>
            <a:r>
              <a:rPr sz="1000" b="0">
                <a:solidFill>
                  <a:srgbClr val="5A6A80"/>
                </a:solidFill>
                <a:latin typeface="Hiragino Sans"/>
                <a:ea typeface="Hiragino Sans"/>
                <a:cs typeface="Hiragino Sans"/>
              </a:rPr>
              <a:t>日本特化</a:t>
            </a:r>
          </a:p>
          <a:p>
            <a:pPr algn="l">
              <a:lnSpc>
                <a:spcPct val="135000"/>
              </a:lnSpc>
            </a:pPr>
            <a:r>
              <a:rPr sz="1000" b="0">
                <a:solidFill>
                  <a:srgbClr val="5A6A80"/>
                </a:solidFill>
                <a:latin typeface="Hiragino Sans"/>
                <a:ea typeface="Hiragino Sans"/>
                <a:cs typeface="Hiragino Sans"/>
              </a:rPr>
              <a:t>LINEユーザーベース</a:t>
            </a:r>
          </a:p>
        </p:txBody>
      </p:sp>
      <p:sp>
        <p:nvSpPr>
          <p:cNvPr id="41" name="TextBox 40"/>
          <p:cNvSpPr txBox="1"/>
          <p:nvPr/>
        </p:nvSpPr>
        <p:spPr>
          <a:xfrm>
            <a:off x="9098280" y="5486400"/>
            <a:ext cx="2514600" cy="548640"/>
          </a:xfrm>
          <a:prstGeom prst="rect">
            <a:avLst/>
          </a:prstGeom>
          <a:noFill/>
        </p:spPr>
        <p:txBody>
          <a:bodyPr wrap="square" anchor="t" lIns="0" rIns="0" tIns="0" bIns="0">
            <a:spAutoFit/>
          </a:bodyPr>
          <a:lstStyle/>
          <a:p>
            <a:pPr algn="l">
              <a:lnSpc>
                <a:spcPct val="130000"/>
              </a:lnSpc>
            </a:pPr>
            <a:r>
              <a:rPr sz="1000" b="1">
                <a:solidFill>
                  <a:srgbClr val="B85E1A"/>
                </a:solidFill>
                <a:latin typeface="Hiragino Sans"/>
                <a:ea typeface="Hiragino Sans"/>
                <a:cs typeface="Hiragino Sans"/>
              </a:rPr>
              <a:t>LINE広告 VOOM面配信</a:t>
            </a:r>
          </a:p>
        </p:txBody>
      </p:sp>
      <p:sp>
        <p:nvSpPr>
          <p:cNvPr id="42" name="TextBox 41"/>
          <p:cNvSpPr txBox="1"/>
          <p:nvPr/>
        </p:nvSpPr>
        <p:spPr>
          <a:xfrm>
            <a:off x="548640" y="6355080"/>
            <a:ext cx="1097280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 媒体別の詳細は Part 3 (TikTok / YouTube / Meta / LINE)</a:t>
            </a:r>
          </a:p>
        </p:txBody>
      </p:sp>
      <p:sp>
        <p:nvSpPr>
          <p:cNvPr id="43" name="TextBox 42"/>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iOS/ATT シグナル減の系譜</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2021年から2026年までの4年半</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P16 / 250</a:t>
            </a:r>
          </a:p>
        </p:txBody>
      </p:sp>
      <p:sp>
        <p:nvSpPr>
          <p:cNvPr id="8" name="Rectangle 7"/>
          <p:cNvSpPr/>
          <p:nvPr/>
        </p:nvSpPr>
        <p:spPr>
          <a:xfrm>
            <a:off x="1554480" y="3017520"/>
            <a:ext cx="9052560"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53896" y="299008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137160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elvetica Neue"/>
                <a:ea typeface="Helvetica Neue"/>
                <a:cs typeface="Helvetica Neue"/>
              </a:rPr>
              <a:t>2021/04</a:t>
            </a:r>
          </a:p>
        </p:txBody>
      </p:sp>
      <p:sp>
        <p:nvSpPr>
          <p:cNvPr id="11" name="TextBox 10"/>
          <p:cNvSpPr txBox="1"/>
          <p:nvPr/>
        </p:nvSpPr>
        <p:spPr>
          <a:xfrm>
            <a:off x="640080" y="219456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iOS 14.5</a:t>
            </a:r>
          </a:p>
          <a:p>
            <a:pPr algn="ctr">
              <a:lnSpc>
                <a:spcPct val="120000"/>
              </a:lnSpc>
            </a:pPr>
            <a:r>
              <a:rPr sz="1200" b="1">
                <a:solidFill>
                  <a:srgbClr val="0F2A4F"/>
                </a:solidFill>
                <a:latin typeface="Hiragino Sans"/>
                <a:ea typeface="Hiragino Sans"/>
                <a:cs typeface="Hiragino Sans"/>
              </a:rPr>
              <a:t>ATT 実装</a:t>
            </a:r>
          </a:p>
        </p:txBody>
      </p:sp>
      <p:sp>
        <p:nvSpPr>
          <p:cNvPr id="12" name="TextBox 11"/>
          <p:cNvSpPr txBox="1"/>
          <p:nvPr/>
        </p:nvSpPr>
        <p:spPr>
          <a:xfrm>
            <a:off x="411480" y="276148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App Tracking Transparency 開始</a:t>
            </a:r>
          </a:p>
        </p:txBody>
      </p:sp>
      <p:sp>
        <p:nvSpPr>
          <p:cNvPr id="13" name="Rectangle 12"/>
          <p:cNvSpPr/>
          <p:nvPr/>
        </p:nvSpPr>
        <p:spPr>
          <a:xfrm>
            <a:off x="1545336" y="2788920"/>
            <a:ext cx="13716" cy="22860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64408" y="299008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9192" y="3337560"/>
            <a:ext cx="137160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elvetica Neue"/>
                <a:ea typeface="Helvetica Neue"/>
                <a:cs typeface="Helvetica Neue"/>
              </a:rPr>
              <a:t>2022</a:t>
            </a:r>
          </a:p>
        </p:txBody>
      </p:sp>
      <p:sp>
        <p:nvSpPr>
          <p:cNvPr id="16" name="TextBox 15"/>
          <p:cNvSpPr txBox="1"/>
          <p:nvPr/>
        </p:nvSpPr>
        <p:spPr>
          <a:xfrm>
            <a:off x="2450592" y="361188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Meta 影響</a:t>
            </a:r>
          </a:p>
          <a:p>
            <a:pPr algn="ctr">
              <a:lnSpc>
                <a:spcPct val="120000"/>
              </a:lnSpc>
            </a:pPr>
            <a:r>
              <a:rPr sz="1200" b="1">
                <a:solidFill>
                  <a:srgbClr val="0F2A4F"/>
                </a:solidFill>
                <a:latin typeface="Hiragino Sans"/>
                <a:ea typeface="Hiragino Sans"/>
                <a:cs typeface="Hiragino Sans"/>
              </a:rPr>
              <a:t>公表</a:t>
            </a:r>
          </a:p>
        </p:txBody>
      </p:sp>
      <p:sp>
        <p:nvSpPr>
          <p:cNvPr id="17" name="TextBox 16"/>
          <p:cNvSpPr txBox="1"/>
          <p:nvPr/>
        </p:nvSpPr>
        <p:spPr>
          <a:xfrm>
            <a:off x="2221992" y="417880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計測困難・CPA高騰の影響確定</a:t>
            </a:r>
          </a:p>
        </p:txBody>
      </p:sp>
      <p:sp>
        <p:nvSpPr>
          <p:cNvPr id="18" name="Rectangle 17"/>
          <p:cNvSpPr/>
          <p:nvPr/>
        </p:nvSpPr>
        <p:spPr>
          <a:xfrm>
            <a:off x="3355848" y="312724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74920" y="299008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704" y="1920240"/>
            <a:ext cx="1371600" cy="274320"/>
          </a:xfrm>
          <a:prstGeom prst="rect">
            <a:avLst/>
          </a:prstGeom>
          <a:noFill/>
        </p:spPr>
        <p:txBody>
          <a:bodyPr wrap="square" anchor="t" lIns="0" rIns="0" tIns="0" bIns="0">
            <a:spAutoFit/>
          </a:bodyPr>
          <a:lstStyle/>
          <a:p>
            <a:pPr algn="ctr">
              <a:lnSpc>
                <a:spcPct val="115000"/>
              </a:lnSpc>
            </a:pPr>
            <a:r>
              <a:rPr sz="1100" b="1">
                <a:solidFill>
                  <a:srgbClr val="0F2A4F"/>
                </a:solidFill>
                <a:latin typeface="Helvetica Neue"/>
                <a:ea typeface="Helvetica Neue"/>
                <a:cs typeface="Helvetica Neue"/>
              </a:rPr>
              <a:t>2023/07</a:t>
            </a:r>
          </a:p>
        </p:txBody>
      </p:sp>
      <p:sp>
        <p:nvSpPr>
          <p:cNvPr id="21" name="TextBox 20"/>
          <p:cNvSpPr txBox="1"/>
          <p:nvPr/>
        </p:nvSpPr>
        <p:spPr>
          <a:xfrm>
            <a:off x="4261104" y="219456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Consent Mode v2</a:t>
            </a:r>
          </a:p>
          <a:p>
            <a:pPr algn="ctr">
              <a:lnSpc>
                <a:spcPct val="120000"/>
              </a:lnSpc>
            </a:pPr>
            <a:r>
              <a:rPr sz="1200" b="1">
                <a:solidFill>
                  <a:srgbClr val="0F2A4F"/>
                </a:solidFill>
                <a:latin typeface="Hiragino Sans"/>
                <a:ea typeface="Hiragino Sans"/>
                <a:cs typeface="Hiragino Sans"/>
              </a:rPr>
              <a:t>発表</a:t>
            </a:r>
          </a:p>
        </p:txBody>
      </p:sp>
      <p:sp>
        <p:nvSpPr>
          <p:cNvPr id="22" name="TextBox 21"/>
          <p:cNvSpPr txBox="1"/>
          <p:nvPr/>
        </p:nvSpPr>
        <p:spPr>
          <a:xfrm>
            <a:off x="4032504" y="276148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Google が後継仕様発表</a:t>
            </a:r>
          </a:p>
        </p:txBody>
      </p:sp>
      <p:sp>
        <p:nvSpPr>
          <p:cNvPr id="23" name="Rectangle 22"/>
          <p:cNvSpPr/>
          <p:nvPr/>
        </p:nvSpPr>
        <p:spPr>
          <a:xfrm>
            <a:off x="5166360" y="2788920"/>
            <a:ext cx="13716" cy="22860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25996" y="293065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0216" y="3337560"/>
            <a:ext cx="13716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2024/03</a:t>
            </a:r>
          </a:p>
        </p:txBody>
      </p:sp>
      <p:sp>
        <p:nvSpPr>
          <p:cNvPr id="26" name="TextBox 25"/>
          <p:cNvSpPr txBox="1"/>
          <p:nvPr/>
        </p:nvSpPr>
        <p:spPr>
          <a:xfrm>
            <a:off x="6071616" y="361188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Consent Mode v2</a:t>
            </a:r>
          </a:p>
          <a:p>
            <a:pPr algn="ctr">
              <a:lnSpc>
                <a:spcPct val="120000"/>
              </a:lnSpc>
            </a:pPr>
            <a:r>
              <a:rPr sz="1200" b="1">
                <a:solidFill>
                  <a:srgbClr val="0F2A4F"/>
                </a:solidFill>
                <a:latin typeface="Hiragino Sans"/>
                <a:ea typeface="Hiragino Sans"/>
                <a:cs typeface="Hiragino Sans"/>
              </a:rPr>
              <a:t>EEA義務化</a:t>
            </a:r>
          </a:p>
        </p:txBody>
      </p:sp>
      <p:sp>
        <p:nvSpPr>
          <p:cNvPr id="27" name="TextBox 26"/>
          <p:cNvSpPr txBox="1"/>
          <p:nvPr/>
        </p:nvSpPr>
        <p:spPr>
          <a:xfrm>
            <a:off x="5843016" y="417880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EUで実装必須化</a:t>
            </a:r>
          </a:p>
        </p:txBody>
      </p:sp>
      <p:sp>
        <p:nvSpPr>
          <p:cNvPr id="28" name="Rectangle 27"/>
          <p:cNvSpPr/>
          <p:nvPr/>
        </p:nvSpPr>
        <p:spPr>
          <a:xfrm>
            <a:off x="6976872" y="312724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636508" y="293065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10728" y="1920240"/>
            <a:ext cx="13716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2024/07</a:t>
            </a:r>
          </a:p>
        </p:txBody>
      </p:sp>
      <p:sp>
        <p:nvSpPr>
          <p:cNvPr id="31" name="TextBox 30"/>
          <p:cNvSpPr txBox="1"/>
          <p:nvPr/>
        </p:nvSpPr>
        <p:spPr>
          <a:xfrm>
            <a:off x="7882128" y="219456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Cookie廃止</a:t>
            </a:r>
          </a:p>
          <a:p>
            <a:pPr algn="ctr">
              <a:lnSpc>
                <a:spcPct val="120000"/>
              </a:lnSpc>
            </a:pPr>
            <a:r>
              <a:rPr sz="1200" b="1">
                <a:solidFill>
                  <a:srgbClr val="0F2A4F"/>
                </a:solidFill>
                <a:latin typeface="Hiragino Sans"/>
                <a:ea typeface="Hiragino Sans"/>
                <a:cs typeface="Hiragino Sans"/>
              </a:rPr>
              <a:t>撤回</a:t>
            </a:r>
          </a:p>
        </p:txBody>
      </p:sp>
      <p:sp>
        <p:nvSpPr>
          <p:cNvPr id="32" name="TextBox 31"/>
          <p:cNvSpPr txBox="1"/>
          <p:nvPr/>
        </p:nvSpPr>
        <p:spPr>
          <a:xfrm>
            <a:off x="7653528" y="276148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Google 方針転換</a:t>
            </a:r>
          </a:p>
        </p:txBody>
      </p:sp>
      <p:sp>
        <p:nvSpPr>
          <p:cNvPr id="33" name="Rectangle 32"/>
          <p:cNvSpPr/>
          <p:nvPr/>
        </p:nvSpPr>
        <p:spPr>
          <a:xfrm>
            <a:off x="8787384" y="2788920"/>
            <a:ext cx="13716" cy="22860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447020" y="293065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21240" y="3337560"/>
            <a:ext cx="1371600" cy="274320"/>
          </a:xfrm>
          <a:prstGeom prst="rect">
            <a:avLst/>
          </a:prstGeom>
          <a:noFill/>
        </p:spPr>
        <p:txBody>
          <a:bodyPr wrap="square" anchor="t" lIns="0" rIns="0" tIns="0" bIns="0">
            <a:spAutoFit/>
          </a:bodyPr>
          <a:lstStyle/>
          <a:p>
            <a:pPr algn="ctr">
              <a:lnSpc>
                <a:spcPct val="115000"/>
              </a:lnSpc>
            </a:pPr>
            <a:r>
              <a:rPr sz="1100" b="1">
                <a:solidFill>
                  <a:srgbClr val="E87722"/>
                </a:solidFill>
                <a:latin typeface="Helvetica Neue"/>
                <a:ea typeface="Helvetica Neue"/>
                <a:cs typeface="Helvetica Neue"/>
              </a:rPr>
              <a:t>2025/10</a:t>
            </a:r>
          </a:p>
        </p:txBody>
      </p:sp>
      <p:sp>
        <p:nvSpPr>
          <p:cNvPr id="36" name="TextBox 35"/>
          <p:cNvSpPr txBox="1"/>
          <p:nvPr/>
        </p:nvSpPr>
        <p:spPr>
          <a:xfrm>
            <a:off x="9692640" y="3611880"/>
            <a:ext cx="182880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Privacy Sandbox</a:t>
            </a:r>
          </a:p>
          <a:p>
            <a:pPr algn="ctr">
              <a:lnSpc>
                <a:spcPct val="120000"/>
              </a:lnSpc>
            </a:pPr>
            <a:r>
              <a:rPr sz="1200" b="1">
                <a:solidFill>
                  <a:srgbClr val="0F2A4F"/>
                </a:solidFill>
                <a:latin typeface="Hiragino Sans"/>
                <a:ea typeface="Hiragino Sans"/>
                <a:cs typeface="Hiragino Sans"/>
              </a:rPr>
              <a:t>実質終了</a:t>
            </a:r>
          </a:p>
        </p:txBody>
      </p:sp>
      <p:sp>
        <p:nvSpPr>
          <p:cNvPr id="37" name="TextBox 36"/>
          <p:cNvSpPr txBox="1"/>
          <p:nvPr/>
        </p:nvSpPr>
        <p:spPr>
          <a:xfrm>
            <a:off x="9464040" y="4178808"/>
            <a:ext cx="2286000" cy="36576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Google 大半の技術を廃止</a:t>
            </a:r>
          </a:p>
        </p:txBody>
      </p:sp>
      <p:sp>
        <p:nvSpPr>
          <p:cNvPr id="38" name="Rectangle 37"/>
          <p:cNvSpPr/>
          <p:nvPr/>
        </p:nvSpPr>
        <p:spPr>
          <a:xfrm>
            <a:off x="10597896" y="312724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48640" y="4937760"/>
            <a:ext cx="11109960" cy="13716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074920"/>
            <a:ext cx="2743200" cy="320040"/>
          </a:xfrm>
          <a:prstGeom prst="rect">
            <a:avLst/>
          </a:prstGeom>
          <a:noFill/>
        </p:spPr>
        <p:txBody>
          <a:bodyPr wrap="square" anchor="t" lIns="0" rIns="0" tIns="0" bIns="0">
            <a:spAutoFit/>
          </a:bodyPr>
          <a:lstStyle/>
          <a:p>
            <a:pPr algn="l">
              <a:lnSpc>
                <a:spcPct val="115000"/>
              </a:lnSpc>
            </a:pPr>
            <a:r>
              <a:rPr sz="1400" b="1">
                <a:solidFill>
                  <a:srgbClr val="B85E1A"/>
                </a:solidFill>
                <a:latin typeface="Hiragino Sans"/>
                <a:ea typeface="Hiragino Sans"/>
                <a:cs typeface="Hiragino Sans"/>
              </a:rPr>
              <a:t>結論</a:t>
            </a:r>
          </a:p>
        </p:txBody>
      </p:sp>
      <p:sp>
        <p:nvSpPr>
          <p:cNvPr id="41" name="TextBox 40"/>
          <p:cNvSpPr txBox="1"/>
          <p:nvPr/>
        </p:nvSpPr>
        <p:spPr>
          <a:xfrm>
            <a:off x="777240" y="5440680"/>
            <a:ext cx="10972800" cy="914400"/>
          </a:xfrm>
          <a:prstGeom prst="rect">
            <a:avLst/>
          </a:prstGeom>
          <a:noFill/>
        </p:spPr>
        <p:txBody>
          <a:bodyPr wrap="square" anchor="t" lIns="0" rIns="0" tIns="0" bIns="0">
            <a:spAutoFit/>
          </a:bodyPr>
          <a:lstStyle/>
          <a:p>
            <a:pPr algn="l">
              <a:lnSpc>
                <a:spcPct val="150000"/>
              </a:lnSpc>
            </a:pPr>
            <a:r>
              <a:rPr sz="1200" b="0">
                <a:solidFill>
                  <a:srgbClr val="1A1A1A"/>
                </a:solidFill>
                <a:latin typeface="Hiragino Sans"/>
                <a:ea typeface="Hiragino Sans"/>
                <a:cs typeface="Hiragino Sans"/>
              </a:rPr>
              <a:t>Cookieの 「廃止予定 → 撤回 → Privacy Sandbox 実質終了」 という3幕を経て、3rd Party Cookie は Chrome に残存することになった。</a:t>
            </a:r>
          </a:p>
          <a:p>
            <a:pPr algn="l">
              <a:lnSpc>
                <a:spcPct val="150000"/>
              </a:lnSpc>
            </a:pPr>
            <a:r>
              <a:rPr sz="1200" b="0">
                <a:solidFill>
                  <a:srgbClr val="1A1A1A"/>
                </a:solidFill>
                <a:latin typeface="Hiragino Sans"/>
                <a:ea typeface="Hiragino Sans"/>
                <a:cs typeface="Hiragino Sans"/>
              </a:rPr>
              <a:t>しかし ATT 以降のシグナル減少自体は続いており、CAPI / Enhanced Conversions / SGTM / 1PD は依然として業界標準である。</a:t>
            </a:r>
          </a:p>
        </p:txBody>
      </p:sp>
      <p:sp>
        <p:nvSpPr>
          <p:cNvPr id="42" name="TextBox 41"/>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Google Cookie廃止『撤回』 2024/07/22</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6年越しの Privacy Sandbox 計画が方向転換</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P17 / 250</a:t>
            </a:r>
          </a:p>
        </p:txBody>
      </p:sp>
      <p:sp>
        <p:nvSpPr>
          <p:cNvPr id="8" name="Rounded Rectangle 7"/>
          <p:cNvSpPr/>
          <p:nvPr/>
        </p:nvSpPr>
        <p:spPr>
          <a:xfrm>
            <a:off x="548640" y="1371600"/>
            <a:ext cx="11109960" cy="11887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200" b="1">
                <a:solidFill>
                  <a:srgbClr val="E87722"/>
                </a:solidFill>
                <a:latin typeface="Hiragino Sans"/>
                <a:ea typeface="Hiragino Sans"/>
                <a:cs typeface="Hiragino Sans"/>
              </a:rPr>
              <a:t>Google 公式発表 (Privacy Sandbox Blog)</a:t>
            </a:r>
          </a:p>
        </p:txBody>
      </p:sp>
      <p:sp>
        <p:nvSpPr>
          <p:cNvPr id="11" name="TextBox 10"/>
          <p:cNvSpPr txBox="1"/>
          <p:nvPr/>
        </p:nvSpPr>
        <p:spPr>
          <a:xfrm>
            <a:off x="1554480" y="1874519"/>
            <a:ext cx="10058400" cy="640080"/>
          </a:xfrm>
          <a:prstGeom prst="rect">
            <a:avLst/>
          </a:prstGeom>
          <a:noFill/>
        </p:spPr>
        <p:txBody>
          <a:bodyPr wrap="square" anchor="t" lIns="0" rIns="0" tIns="0" bIns="0">
            <a:spAutoFit/>
          </a:bodyPr>
          <a:lstStyle/>
          <a:p>
            <a:pPr algn="l">
              <a:lnSpc>
                <a:spcPct val="145000"/>
              </a:lnSpc>
            </a:pPr>
            <a:r>
              <a:rPr sz="1400" b="1">
                <a:solidFill>
                  <a:srgbClr val="FFFFFF"/>
                </a:solidFill>
                <a:latin typeface="Hiragino Sans"/>
                <a:ea typeface="Hiragino Sans"/>
                <a:cs typeface="Hiragino Sans"/>
              </a:rPr>
              <a:t>Chromeで3rd Party Cookieを廃止する計画を撤回。</a:t>
            </a:r>
          </a:p>
          <a:p>
            <a:pPr algn="l">
              <a:lnSpc>
                <a:spcPct val="145000"/>
              </a:lnSpc>
            </a:pPr>
            <a:r>
              <a:rPr sz="1400" b="1">
                <a:solidFill>
                  <a:srgbClr val="FFFFFF"/>
                </a:solidFill>
                <a:latin typeface="Hiragino Sans"/>
                <a:ea typeface="Hiragino Sans"/>
                <a:cs typeface="Hiragino Sans"/>
              </a:rPr>
              <a:t>代わりにユーザーが Cookie 利用を選択できる新UIを提供する</a:t>
            </a:r>
          </a:p>
        </p:txBody>
      </p:sp>
      <p:sp>
        <p:nvSpPr>
          <p:cNvPr id="12" name="TextBox 11"/>
          <p:cNvSpPr txBox="1"/>
          <p:nvPr/>
        </p:nvSpPr>
        <p:spPr>
          <a:xfrm>
            <a:off x="548640" y="274320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なぜ撤回したか</a:t>
            </a:r>
          </a:p>
        </p:txBody>
      </p:sp>
      <p:sp>
        <p:nvSpPr>
          <p:cNvPr id="13" name="Rectangle 12"/>
          <p:cNvSpPr/>
          <p:nvPr/>
        </p:nvSpPr>
        <p:spPr>
          <a:xfrm>
            <a:off x="548640" y="306324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246120"/>
            <a:ext cx="5486400" cy="7772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55848"/>
            <a:ext cx="548640" cy="36576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01</a:t>
            </a:r>
          </a:p>
        </p:txBody>
      </p:sp>
      <p:sp>
        <p:nvSpPr>
          <p:cNvPr id="16" name="TextBox 15"/>
          <p:cNvSpPr txBox="1"/>
          <p:nvPr/>
        </p:nvSpPr>
        <p:spPr>
          <a:xfrm>
            <a:off x="1463040" y="3355848"/>
            <a:ext cx="3931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初期テストでの収益ショック</a:t>
            </a:r>
          </a:p>
        </p:txBody>
      </p:sp>
      <p:sp>
        <p:nvSpPr>
          <p:cNvPr id="17" name="TextBox 16"/>
          <p:cNvSpPr txBox="1"/>
          <p:nvPr/>
        </p:nvSpPr>
        <p:spPr>
          <a:xfrm>
            <a:off x="1463040" y="3657600"/>
            <a:ext cx="39319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Google Ad Manager -34% / AdSense -21% (publisher側)</a:t>
            </a:r>
          </a:p>
        </p:txBody>
      </p:sp>
      <p:sp>
        <p:nvSpPr>
          <p:cNvPr id="18" name="Rounded Rectangle 17"/>
          <p:cNvSpPr/>
          <p:nvPr/>
        </p:nvSpPr>
        <p:spPr>
          <a:xfrm>
            <a:off x="548640" y="4114800"/>
            <a:ext cx="5486400" cy="7772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224528"/>
            <a:ext cx="548640" cy="36576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02</a:t>
            </a:r>
          </a:p>
        </p:txBody>
      </p:sp>
      <p:sp>
        <p:nvSpPr>
          <p:cNvPr id="20" name="TextBox 19"/>
          <p:cNvSpPr txBox="1"/>
          <p:nvPr/>
        </p:nvSpPr>
        <p:spPr>
          <a:xfrm>
            <a:off x="1463040" y="4224528"/>
            <a:ext cx="3931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規制当局の継続的懸念</a:t>
            </a:r>
          </a:p>
        </p:txBody>
      </p:sp>
      <p:sp>
        <p:nvSpPr>
          <p:cNvPr id="21" name="TextBox 20"/>
          <p:cNvSpPr txBox="1"/>
          <p:nvPr/>
        </p:nvSpPr>
        <p:spPr>
          <a:xfrm>
            <a:off x="1463040" y="4526280"/>
            <a:ext cx="39319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UK CMA / EU Commission / 米DOJ から競争上の懸念</a:t>
            </a:r>
          </a:p>
        </p:txBody>
      </p:sp>
      <p:sp>
        <p:nvSpPr>
          <p:cNvPr id="22" name="Rounded Rectangle 21"/>
          <p:cNvSpPr/>
          <p:nvPr/>
        </p:nvSpPr>
        <p:spPr>
          <a:xfrm>
            <a:off x="548640" y="4983480"/>
            <a:ext cx="5486400" cy="77724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093208"/>
            <a:ext cx="548640" cy="36576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03</a:t>
            </a:r>
          </a:p>
        </p:txBody>
      </p:sp>
      <p:sp>
        <p:nvSpPr>
          <p:cNvPr id="24" name="TextBox 23"/>
          <p:cNvSpPr txBox="1"/>
          <p:nvPr/>
        </p:nvSpPr>
        <p:spPr>
          <a:xfrm>
            <a:off x="1463040" y="5093208"/>
            <a:ext cx="39319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業界の反発</a:t>
            </a:r>
          </a:p>
        </p:txBody>
      </p:sp>
      <p:sp>
        <p:nvSpPr>
          <p:cNvPr id="25" name="TextBox 24"/>
          <p:cNvSpPr txBox="1"/>
          <p:nvPr/>
        </p:nvSpPr>
        <p:spPr>
          <a:xfrm>
            <a:off x="1463040" y="5394960"/>
            <a:ext cx="39319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広告業界・publishers が Cookie依存から抜け出せず</a:t>
            </a:r>
          </a:p>
        </p:txBody>
      </p:sp>
      <p:sp>
        <p:nvSpPr>
          <p:cNvPr id="26" name="TextBox 25"/>
          <p:cNvSpPr txBox="1"/>
          <p:nvPr/>
        </p:nvSpPr>
        <p:spPr>
          <a:xfrm>
            <a:off x="6400800" y="2743200"/>
            <a:ext cx="530352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運用者にとっての含意</a:t>
            </a:r>
          </a:p>
        </p:txBody>
      </p:sp>
      <p:sp>
        <p:nvSpPr>
          <p:cNvPr id="27" name="Rectangle 26"/>
          <p:cNvSpPr/>
          <p:nvPr/>
        </p:nvSpPr>
        <p:spPr>
          <a:xfrm>
            <a:off x="6400800" y="3063240"/>
            <a:ext cx="52578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0" y="3246120"/>
            <a:ext cx="525780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3355848"/>
            <a:ext cx="457200" cy="365760"/>
          </a:xfrm>
          <a:prstGeom prst="rect">
            <a:avLst/>
          </a:prstGeom>
          <a:noFill/>
        </p:spPr>
        <p:txBody>
          <a:bodyPr wrap="square" anchor="t" lIns="0" rIns="0" tIns="0" bIns="0">
            <a:spAutoFit/>
          </a:bodyPr>
          <a:lstStyle/>
          <a:p>
            <a:pPr algn="ctr">
              <a:lnSpc>
                <a:spcPct val="115000"/>
              </a:lnSpc>
            </a:pPr>
            <a:r>
              <a:rPr sz="2200" b="1">
                <a:solidFill>
                  <a:srgbClr val="E87722"/>
                </a:solidFill>
                <a:latin typeface="Hiragino Sans"/>
                <a:ea typeface="Hiragino Sans"/>
                <a:cs typeface="Hiragino Sans"/>
              </a:rPr>
              <a:t>✓</a:t>
            </a:r>
          </a:p>
        </p:txBody>
      </p:sp>
      <p:sp>
        <p:nvSpPr>
          <p:cNvPr id="30" name="TextBox 29"/>
          <p:cNvSpPr txBox="1"/>
          <p:nvPr/>
        </p:nvSpPr>
        <p:spPr>
          <a:xfrm>
            <a:off x="7178040" y="3355848"/>
            <a:ext cx="4114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Cookie計測は当面使える</a:t>
            </a:r>
          </a:p>
        </p:txBody>
      </p:sp>
      <p:sp>
        <p:nvSpPr>
          <p:cNvPr id="31" name="TextBox 30"/>
          <p:cNvSpPr txBox="1"/>
          <p:nvPr/>
        </p:nvSpPr>
        <p:spPr>
          <a:xfrm>
            <a:off x="7178040" y="3657600"/>
            <a:ext cx="43891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3PCD待ちの実装延期は不要</a:t>
            </a:r>
          </a:p>
        </p:txBody>
      </p:sp>
      <p:sp>
        <p:nvSpPr>
          <p:cNvPr id="32" name="Rounded Rectangle 31"/>
          <p:cNvSpPr/>
          <p:nvPr/>
        </p:nvSpPr>
        <p:spPr>
          <a:xfrm>
            <a:off x="6400800" y="4114800"/>
            <a:ext cx="525780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4224528"/>
            <a:ext cx="457200" cy="365760"/>
          </a:xfrm>
          <a:prstGeom prst="rect">
            <a:avLst/>
          </a:prstGeom>
          <a:noFill/>
        </p:spPr>
        <p:txBody>
          <a:bodyPr wrap="square" anchor="t" lIns="0" rIns="0" tIns="0" bIns="0">
            <a:spAutoFit/>
          </a:bodyPr>
          <a:lstStyle/>
          <a:p>
            <a:pPr algn="ctr">
              <a:lnSpc>
                <a:spcPct val="115000"/>
              </a:lnSpc>
            </a:pPr>
            <a:r>
              <a:rPr sz="2200" b="1">
                <a:solidFill>
                  <a:srgbClr val="E87722"/>
                </a:solidFill>
                <a:latin typeface="Hiragino Sans"/>
                <a:ea typeface="Hiragino Sans"/>
                <a:cs typeface="Hiragino Sans"/>
              </a:rPr>
              <a:t>✗</a:t>
            </a:r>
          </a:p>
        </p:txBody>
      </p:sp>
      <p:sp>
        <p:nvSpPr>
          <p:cNvPr id="34" name="TextBox 33"/>
          <p:cNvSpPr txBox="1"/>
          <p:nvPr/>
        </p:nvSpPr>
        <p:spPr>
          <a:xfrm>
            <a:off x="7178040" y="4224528"/>
            <a:ext cx="4114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だが シグナル減は戻らない</a:t>
            </a:r>
          </a:p>
        </p:txBody>
      </p:sp>
      <p:sp>
        <p:nvSpPr>
          <p:cNvPr id="35" name="TextBox 34"/>
          <p:cNvSpPr txBox="1"/>
          <p:nvPr/>
        </p:nvSpPr>
        <p:spPr>
          <a:xfrm>
            <a:off x="7178040" y="4526280"/>
            <a:ext cx="43891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ATT / 各国規制 / ブラウザ固有制限は継続</a:t>
            </a:r>
          </a:p>
        </p:txBody>
      </p:sp>
      <p:sp>
        <p:nvSpPr>
          <p:cNvPr id="36" name="Rounded Rectangle 35"/>
          <p:cNvSpPr/>
          <p:nvPr/>
        </p:nvSpPr>
        <p:spPr>
          <a:xfrm>
            <a:off x="6400800" y="4983480"/>
            <a:ext cx="525780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5093208"/>
            <a:ext cx="457200" cy="365760"/>
          </a:xfrm>
          <a:prstGeom prst="rect">
            <a:avLst/>
          </a:prstGeom>
          <a:noFill/>
        </p:spPr>
        <p:txBody>
          <a:bodyPr wrap="square" anchor="t" lIns="0" rIns="0" tIns="0" bIns="0">
            <a:spAutoFit/>
          </a:bodyPr>
          <a:lstStyle/>
          <a:p>
            <a:pPr algn="ctr">
              <a:lnSpc>
                <a:spcPct val="115000"/>
              </a:lnSpc>
            </a:pPr>
            <a:r>
              <a:rPr sz="2200" b="1">
                <a:solidFill>
                  <a:srgbClr val="E87722"/>
                </a:solidFill>
                <a:latin typeface="Hiragino Sans"/>
                <a:ea typeface="Hiragino Sans"/>
                <a:cs typeface="Hiragino Sans"/>
              </a:rPr>
              <a:t>→</a:t>
            </a:r>
          </a:p>
        </p:txBody>
      </p:sp>
      <p:sp>
        <p:nvSpPr>
          <p:cNvPr id="38" name="TextBox 37"/>
          <p:cNvSpPr txBox="1"/>
          <p:nvPr/>
        </p:nvSpPr>
        <p:spPr>
          <a:xfrm>
            <a:off x="7178040" y="5093208"/>
            <a:ext cx="4114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CAPI / SGTM / 1PD は必須</a:t>
            </a:r>
          </a:p>
        </p:txBody>
      </p:sp>
      <p:sp>
        <p:nvSpPr>
          <p:cNvPr id="39" name="TextBox 38"/>
          <p:cNvSpPr txBox="1"/>
          <p:nvPr/>
        </p:nvSpPr>
        <p:spPr>
          <a:xfrm>
            <a:off x="7178040" y="5394960"/>
            <a:ext cx="438912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業界標準は変わらない、移行は進行中</a:t>
            </a:r>
          </a:p>
        </p:txBody>
      </p:sp>
      <p:sp>
        <p:nvSpPr>
          <p:cNvPr id="40" name="TextBox 39"/>
          <p:cNvSpPr txBox="1"/>
          <p:nvPr/>
        </p:nvSpPr>
        <p:spPr>
          <a:xfrm>
            <a:off x="548640" y="6355080"/>
            <a:ext cx="109728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出典: Google Privacy Sandbox Blog (2024/07/22) / Digiday / The Hacker News</a:t>
            </a:r>
          </a:p>
        </p:txBody>
      </p:sp>
      <p:sp>
        <p:nvSpPr>
          <p:cNvPr id="41" name="TextBox 40"/>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Privacy Sandbox 実質終了 2025/10/17</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3rd Party Cookie 問題の『6年の旅』が終結</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P18 / 250</a:t>
            </a:r>
          </a:p>
        </p:txBody>
      </p:sp>
      <p:sp>
        <p:nvSpPr>
          <p:cNvPr id="8" name="Rounded Rectangle 7"/>
          <p:cNvSpPr/>
          <p:nvPr/>
        </p:nvSpPr>
        <p:spPr>
          <a:xfrm>
            <a:off x="548640" y="1371600"/>
            <a:ext cx="11109960" cy="1188720"/>
          </a:xfrm>
          <a:prstGeom prst="roundRect">
            <a:avLst>
              <a:gd name="adj" fmla="val 6000"/>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731520" cy="731520"/>
          </a:xfrm>
          <a:prstGeom prst="rect">
            <a:avLst/>
          </a:prstGeom>
          <a:noFill/>
        </p:spPr>
        <p:txBody>
          <a:bodyPr wrap="square" anchor="t" lIns="0" rIns="0" tIns="0" bIns="0">
            <a:spAutoFit/>
          </a:bodyPr>
          <a:lstStyle/>
          <a:p>
            <a:pPr algn="l">
              <a:lnSpc>
                <a:spcPct val="115000"/>
              </a:lnSpc>
            </a:pPr>
            <a:r>
              <a:rPr sz="3000" b="0">
                <a:solidFill>
                  <a:srgbClr val="1A1A1A"/>
                </a:solidFill>
                <a:latin typeface="Hiragino Sans"/>
                <a:ea typeface="Hiragino Sans"/>
                <a:cs typeface="Hiragino Sans"/>
              </a:rPr>
              <a:t>⚠</a:t>
            </a:r>
          </a:p>
        </p:txBody>
      </p:sp>
      <p:sp>
        <p:nvSpPr>
          <p:cNvPr id="10" name="TextBox 9"/>
          <p:cNvSpPr txBox="1"/>
          <p:nvPr/>
        </p:nvSpPr>
        <p:spPr>
          <a:xfrm>
            <a:off x="1554480" y="1554480"/>
            <a:ext cx="10058400" cy="36576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Google公式 (2025/10/17) : Privacy Sandbox Update</a:t>
            </a:r>
          </a:p>
        </p:txBody>
      </p:sp>
      <p:sp>
        <p:nvSpPr>
          <p:cNvPr id="11" name="TextBox 10"/>
          <p:cNvSpPr txBox="1"/>
          <p:nvPr/>
        </p:nvSpPr>
        <p:spPr>
          <a:xfrm>
            <a:off x="1554480" y="1874519"/>
            <a:ext cx="10058400" cy="640080"/>
          </a:xfrm>
          <a:prstGeom prst="rect">
            <a:avLst/>
          </a:prstGeom>
          <a:noFill/>
        </p:spPr>
        <p:txBody>
          <a:bodyPr wrap="square" anchor="t" lIns="0" rIns="0" tIns="0" bIns="0">
            <a:spAutoFit/>
          </a:bodyPr>
          <a:lstStyle/>
          <a:p>
            <a:pPr algn="l">
              <a:lnSpc>
                <a:spcPct val="145000"/>
              </a:lnSpc>
            </a:pPr>
            <a:r>
              <a:rPr sz="1300" b="1">
                <a:solidFill>
                  <a:srgbClr val="FFFFFF"/>
                </a:solidFill>
                <a:latin typeface="Hiragino Sans"/>
                <a:ea typeface="Hiragino Sans"/>
                <a:cs typeface="Hiragino Sans"/>
              </a:rPr>
              <a:t>Privacy Sandbox の大半の技術を廃止。『小さな機能セットと標準化に注力』へ転換。</a:t>
            </a:r>
          </a:p>
          <a:p>
            <a:pPr algn="l">
              <a:lnSpc>
                <a:spcPct val="145000"/>
              </a:lnSpc>
            </a:pPr>
            <a:r>
              <a:rPr sz="1300" b="1">
                <a:solidFill>
                  <a:srgbClr val="FFFFFF"/>
                </a:solidFill>
                <a:latin typeface="Hiragino Sans"/>
                <a:ea typeface="Hiragino Sans"/>
                <a:cs typeface="Hiragino Sans"/>
              </a:rPr>
              <a:t>採用率の低さと規制当局の懸念が理由</a:t>
            </a:r>
          </a:p>
        </p:txBody>
      </p:sp>
      <p:sp>
        <p:nvSpPr>
          <p:cNvPr id="12" name="TextBox 11"/>
          <p:cNvSpPr txBox="1"/>
          <p:nvPr/>
        </p:nvSpPr>
        <p:spPr>
          <a:xfrm>
            <a:off x="548640" y="2743200"/>
            <a:ext cx="5303520" cy="320040"/>
          </a:xfrm>
          <a:prstGeom prst="rect">
            <a:avLst/>
          </a:prstGeom>
          <a:noFill/>
        </p:spPr>
        <p:txBody>
          <a:bodyPr wrap="square" anchor="t" lIns="0" rIns="0" tIns="0" bIns="0">
            <a:spAutoFit/>
          </a:bodyPr>
          <a:lstStyle/>
          <a:p>
            <a:pPr algn="l">
              <a:lnSpc>
                <a:spcPct val="115000"/>
              </a:lnSpc>
            </a:pPr>
            <a:r>
              <a:rPr sz="1300" b="1">
                <a:solidFill>
                  <a:srgbClr val="C6452D"/>
                </a:solidFill>
                <a:latin typeface="Hiragino Sans"/>
                <a:ea typeface="Hiragino Sans"/>
                <a:cs typeface="Hiragino Sans"/>
              </a:rPr>
              <a:t>廃止される技術 (Retired)</a:t>
            </a:r>
          </a:p>
        </p:txBody>
      </p:sp>
      <p:sp>
        <p:nvSpPr>
          <p:cNvPr id="13" name="Rectangle 12"/>
          <p:cNvSpPr/>
          <p:nvPr/>
        </p:nvSpPr>
        <p:spPr>
          <a:xfrm>
            <a:off x="548640" y="3063240"/>
            <a:ext cx="53035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24612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3756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16" name="TextBox 15"/>
          <p:cNvSpPr txBox="1"/>
          <p:nvPr/>
        </p:nvSpPr>
        <p:spPr>
          <a:xfrm>
            <a:off x="1097280" y="333756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Protected Audience API</a:t>
            </a:r>
          </a:p>
        </p:txBody>
      </p:sp>
      <p:sp>
        <p:nvSpPr>
          <p:cNvPr id="17" name="TextBox 16"/>
          <p:cNvSpPr txBox="1"/>
          <p:nvPr/>
        </p:nvSpPr>
        <p:spPr>
          <a:xfrm>
            <a:off x="3657600" y="337413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旧FLEDGE。リマーケ用途</a:t>
            </a:r>
          </a:p>
        </p:txBody>
      </p:sp>
      <p:sp>
        <p:nvSpPr>
          <p:cNvPr id="18" name="Rounded Rectangle 17"/>
          <p:cNvSpPr/>
          <p:nvPr/>
        </p:nvSpPr>
        <p:spPr>
          <a:xfrm>
            <a:off x="548640" y="374904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4048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0" name="TextBox 19"/>
          <p:cNvSpPr txBox="1"/>
          <p:nvPr/>
        </p:nvSpPr>
        <p:spPr>
          <a:xfrm>
            <a:off x="1097280" y="384048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Topics API</a:t>
            </a:r>
          </a:p>
        </p:txBody>
      </p:sp>
      <p:sp>
        <p:nvSpPr>
          <p:cNvPr id="21" name="TextBox 20"/>
          <p:cNvSpPr txBox="1"/>
          <p:nvPr/>
        </p:nvSpPr>
        <p:spPr>
          <a:xfrm>
            <a:off x="3657600" y="387705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カテゴリベースターゲティング</a:t>
            </a:r>
          </a:p>
        </p:txBody>
      </p:sp>
      <p:sp>
        <p:nvSpPr>
          <p:cNvPr id="22" name="Rounded Rectangle 21"/>
          <p:cNvSpPr/>
          <p:nvPr/>
        </p:nvSpPr>
        <p:spPr>
          <a:xfrm>
            <a:off x="548640" y="425196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34340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4" name="TextBox 23"/>
          <p:cNvSpPr txBox="1"/>
          <p:nvPr/>
        </p:nvSpPr>
        <p:spPr>
          <a:xfrm>
            <a:off x="1097280" y="434340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Attribution Reporting API</a:t>
            </a:r>
          </a:p>
        </p:txBody>
      </p:sp>
      <p:sp>
        <p:nvSpPr>
          <p:cNvPr id="25" name="TextBox 24"/>
          <p:cNvSpPr txBox="1"/>
          <p:nvPr/>
        </p:nvSpPr>
        <p:spPr>
          <a:xfrm>
            <a:off x="3657600" y="437997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計測用途</a:t>
            </a:r>
          </a:p>
        </p:txBody>
      </p:sp>
      <p:sp>
        <p:nvSpPr>
          <p:cNvPr id="26" name="Rounded Rectangle 25"/>
          <p:cNvSpPr/>
          <p:nvPr/>
        </p:nvSpPr>
        <p:spPr>
          <a:xfrm>
            <a:off x="548640" y="475488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84632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28" name="TextBox 27"/>
          <p:cNvSpPr txBox="1"/>
          <p:nvPr/>
        </p:nvSpPr>
        <p:spPr>
          <a:xfrm>
            <a:off x="1097280" y="484632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Related Website Sets</a:t>
            </a:r>
          </a:p>
        </p:txBody>
      </p:sp>
      <p:sp>
        <p:nvSpPr>
          <p:cNvPr id="29" name="TextBox 28"/>
          <p:cNvSpPr txBox="1"/>
          <p:nvPr/>
        </p:nvSpPr>
        <p:spPr>
          <a:xfrm>
            <a:off x="3657600" y="488289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同一運営サイトの識別</a:t>
            </a:r>
          </a:p>
        </p:txBody>
      </p:sp>
      <p:sp>
        <p:nvSpPr>
          <p:cNvPr id="30" name="Rounded Rectangle 29"/>
          <p:cNvSpPr/>
          <p:nvPr/>
        </p:nvSpPr>
        <p:spPr>
          <a:xfrm>
            <a:off x="548640" y="5257800"/>
            <a:ext cx="530352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349240"/>
            <a:ext cx="365760" cy="320040"/>
          </a:xfrm>
          <a:prstGeom prst="rect">
            <a:avLst/>
          </a:prstGeom>
          <a:noFill/>
        </p:spPr>
        <p:txBody>
          <a:bodyPr wrap="square" anchor="t" lIns="0" rIns="0" tIns="0" bIns="0">
            <a:spAutoFit/>
          </a:bodyPr>
          <a:lstStyle/>
          <a:p>
            <a:pPr algn="l">
              <a:lnSpc>
                <a:spcPct val="115000"/>
              </a:lnSpc>
            </a:pPr>
            <a:r>
              <a:rPr sz="1600" b="1">
                <a:solidFill>
                  <a:srgbClr val="C6452D"/>
                </a:solidFill>
                <a:latin typeface="Hiragino Sans"/>
                <a:ea typeface="Hiragino Sans"/>
                <a:cs typeface="Hiragino Sans"/>
              </a:rPr>
              <a:t>✗</a:t>
            </a:r>
          </a:p>
        </p:txBody>
      </p:sp>
      <p:sp>
        <p:nvSpPr>
          <p:cNvPr id="32" name="TextBox 31"/>
          <p:cNvSpPr txBox="1"/>
          <p:nvPr/>
        </p:nvSpPr>
        <p:spPr>
          <a:xfrm>
            <a:off x="1097280" y="5349240"/>
            <a:ext cx="25603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Shared Storage / Private Aggregation</a:t>
            </a:r>
          </a:p>
        </p:txBody>
      </p:sp>
      <p:sp>
        <p:nvSpPr>
          <p:cNvPr id="33" name="TextBox 32"/>
          <p:cNvSpPr txBox="1"/>
          <p:nvPr/>
        </p:nvSpPr>
        <p:spPr>
          <a:xfrm>
            <a:off x="3657600" y="5385816"/>
            <a:ext cx="2011680" cy="274320"/>
          </a:xfrm>
          <a:prstGeom prst="rect">
            <a:avLst/>
          </a:prstGeom>
          <a:noFill/>
        </p:spPr>
        <p:txBody>
          <a:bodyPr wrap="square" anchor="t" lIns="0" rIns="0" tIns="0" bIns="0">
            <a:spAutoFit/>
          </a:bodyPr>
          <a:lstStyle/>
          <a:p>
            <a:pPr algn="l">
              <a:lnSpc>
                <a:spcPct val="115000"/>
              </a:lnSpc>
            </a:pPr>
            <a:r>
              <a:rPr sz="1000" b="0">
                <a:solidFill>
                  <a:srgbClr val="5A6A80"/>
                </a:solidFill>
                <a:latin typeface="Hiragino Sans"/>
                <a:ea typeface="Hiragino Sans"/>
                <a:cs typeface="Hiragino Sans"/>
              </a:rPr>
              <a:t>クロスサイト集計</a:t>
            </a:r>
          </a:p>
        </p:txBody>
      </p:sp>
      <p:sp>
        <p:nvSpPr>
          <p:cNvPr id="34" name="TextBox 33"/>
          <p:cNvSpPr txBox="1"/>
          <p:nvPr/>
        </p:nvSpPr>
        <p:spPr>
          <a:xfrm>
            <a:off x="6309360" y="2743200"/>
            <a:ext cx="5303520" cy="320040"/>
          </a:xfrm>
          <a:prstGeom prst="rect">
            <a:avLst/>
          </a:prstGeom>
          <a:noFill/>
        </p:spPr>
        <p:txBody>
          <a:bodyPr wrap="square" anchor="t" lIns="0" rIns="0" tIns="0" bIns="0">
            <a:spAutoFit/>
          </a:bodyPr>
          <a:lstStyle/>
          <a:p>
            <a:pPr algn="l">
              <a:lnSpc>
                <a:spcPct val="115000"/>
              </a:lnSpc>
            </a:pPr>
            <a:r>
              <a:rPr sz="1300" b="1">
                <a:solidFill>
                  <a:srgbClr val="2E8B57"/>
                </a:solidFill>
                <a:latin typeface="Hiragino Sans"/>
                <a:ea typeface="Hiragino Sans"/>
                <a:cs typeface="Hiragino Sans"/>
              </a:rPr>
              <a:t>継続する技術 (Continue)</a:t>
            </a:r>
          </a:p>
        </p:txBody>
      </p:sp>
      <p:sp>
        <p:nvSpPr>
          <p:cNvPr id="35" name="Rectangle 34"/>
          <p:cNvSpPr/>
          <p:nvPr/>
        </p:nvSpPr>
        <p:spPr>
          <a:xfrm>
            <a:off x="6309360" y="3063240"/>
            <a:ext cx="534924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09360" y="3246120"/>
            <a:ext cx="534924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3429000"/>
            <a:ext cx="365760" cy="365760"/>
          </a:xfrm>
          <a:prstGeom prst="rect">
            <a:avLst/>
          </a:prstGeom>
          <a:noFill/>
        </p:spPr>
        <p:txBody>
          <a:bodyPr wrap="square" anchor="t" lIns="0" rIns="0" tIns="0" bIns="0">
            <a:spAutoFit/>
          </a:bodyPr>
          <a:lstStyle/>
          <a:p>
            <a:pPr algn="l">
              <a:lnSpc>
                <a:spcPct val="115000"/>
              </a:lnSpc>
            </a:pPr>
            <a:r>
              <a:rPr sz="1800" b="1">
                <a:solidFill>
                  <a:srgbClr val="2E8B57"/>
                </a:solidFill>
                <a:latin typeface="Hiragino Sans"/>
                <a:ea typeface="Hiragino Sans"/>
                <a:cs typeface="Hiragino Sans"/>
              </a:rPr>
              <a:t>✓</a:t>
            </a:r>
          </a:p>
        </p:txBody>
      </p:sp>
      <p:sp>
        <p:nvSpPr>
          <p:cNvPr id="38" name="TextBox 37"/>
          <p:cNvSpPr txBox="1"/>
          <p:nvPr/>
        </p:nvSpPr>
        <p:spPr>
          <a:xfrm>
            <a:off x="6903720" y="3355848"/>
            <a:ext cx="41148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CHIPS</a:t>
            </a:r>
          </a:p>
        </p:txBody>
      </p:sp>
      <p:sp>
        <p:nvSpPr>
          <p:cNvPr id="39" name="TextBox 38"/>
          <p:cNvSpPr txBox="1"/>
          <p:nvPr/>
        </p:nvSpPr>
        <p:spPr>
          <a:xfrm>
            <a:off x="6903720" y="3657600"/>
            <a:ext cx="457200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Cookie Having Independent Partitioned State。Cookie分離</a:t>
            </a:r>
          </a:p>
        </p:txBody>
      </p:sp>
      <p:sp>
        <p:nvSpPr>
          <p:cNvPr id="40" name="Rounded Rectangle 39"/>
          <p:cNvSpPr/>
          <p:nvPr/>
        </p:nvSpPr>
        <p:spPr>
          <a:xfrm>
            <a:off x="6309360" y="4069080"/>
            <a:ext cx="5349240" cy="77724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92240" y="4251960"/>
            <a:ext cx="365760" cy="365760"/>
          </a:xfrm>
          <a:prstGeom prst="rect">
            <a:avLst/>
          </a:prstGeom>
          <a:noFill/>
        </p:spPr>
        <p:txBody>
          <a:bodyPr wrap="square" anchor="t" lIns="0" rIns="0" tIns="0" bIns="0">
            <a:spAutoFit/>
          </a:bodyPr>
          <a:lstStyle/>
          <a:p>
            <a:pPr algn="l">
              <a:lnSpc>
                <a:spcPct val="115000"/>
              </a:lnSpc>
            </a:pPr>
            <a:r>
              <a:rPr sz="1800" b="1">
                <a:solidFill>
                  <a:srgbClr val="2E8B57"/>
                </a:solidFill>
                <a:latin typeface="Hiragino Sans"/>
                <a:ea typeface="Hiragino Sans"/>
                <a:cs typeface="Hiragino Sans"/>
              </a:rPr>
              <a:t>✓</a:t>
            </a:r>
          </a:p>
        </p:txBody>
      </p:sp>
      <p:sp>
        <p:nvSpPr>
          <p:cNvPr id="42" name="TextBox 41"/>
          <p:cNvSpPr txBox="1"/>
          <p:nvPr/>
        </p:nvSpPr>
        <p:spPr>
          <a:xfrm>
            <a:off x="6903720" y="4178808"/>
            <a:ext cx="41148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FedCM</a:t>
            </a:r>
          </a:p>
        </p:txBody>
      </p:sp>
      <p:sp>
        <p:nvSpPr>
          <p:cNvPr id="43" name="TextBox 42"/>
          <p:cNvSpPr txBox="1"/>
          <p:nvPr/>
        </p:nvSpPr>
        <p:spPr>
          <a:xfrm>
            <a:off x="6903720" y="4480560"/>
            <a:ext cx="4572000" cy="36576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Federated Credential Management。SSO 認証</a:t>
            </a:r>
          </a:p>
        </p:txBody>
      </p:sp>
      <p:sp>
        <p:nvSpPr>
          <p:cNvPr id="44" name="Rounded Rectangle 43"/>
          <p:cNvSpPr/>
          <p:nvPr/>
        </p:nvSpPr>
        <p:spPr>
          <a:xfrm>
            <a:off x="6309360" y="4983480"/>
            <a:ext cx="5349240" cy="128016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92240" y="5074920"/>
            <a:ext cx="27432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結果 :</a:t>
            </a:r>
          </a:p>
        </p:txBody>
      </p:sp>
      <p:sp>
        <p:nvSpPr>
          <p:cNvPr id="46" name="TextBox 45"/>
          <p:cNvSpPr txBox="1"/>
          <p:nvPr/>
        </p:nvSpPr>
        <p:spPr>
          <a:xfrm>
            <a:off x="6492240" y="5349240"/>
            <a:ext cx="5120640" cy="868680"/>
          </a:xfrm>
          <a:prstGeom prst="rect">
            <a:avLst/>
          </a:prstGeom>
          <a:noFill/>
        </p:spPr>
        <p:txBody>
          <a:bodyPr wrap="square" anchor="t" lIns="0" rIns="0" tIns="0" bIns="0">
            <a:spAutoFit/>
          </a:bodyPr>
          <a:lstStyle/>
          <a:p>
            <a:pPr algn="l">
              <a:lnSpc>
                <a:spcPct val="140000"/>
              </a:lnSpc>
            </a:pPr>
            <a:r>
              <a:rPr sz="1300" b="1">
                <a:solidFill>
                  <a:srgbClr val="FFFFFF"/>
                </a:solidFill>
                <a:latin typeface="Hiragino Sans"/>
                <a:ea typeface="Hiragino Sans"/>
                <a:cs typeface="Hiragino Sans"/>
              </a:rPr>
              <a:t>3rd Party Cookie は Chrome に無期限残存。</a:t>
            </a:r>
          </a:p>
          <a:p>
            <a:pPr algn="l">
              <a:lnSpc>
                <a:spcPct val="140000"/>
              </a:lnSpc>
            </a:pPr>
            <a:r>
              <a:rPr sz="1300" b="1">
                <a:solidFill>
                  <a:srgbClr val="FFFFFF"/>
                </a:solidFill>
                <a:latin typeface="Hiragino Sans"/>
                <a:ea typeface="Hiragino Sans"/>
                <a:cs typeface="Hiragino Sans"/>
              </a:rPr>
              <a:t>廃止タイムラインは未定</a:t>
            </a:r>
          </a:p>
        </p:txBody>
      </p:sp>
      <p:sp>
        <p:nvSpPr>
          <p:cNvPr id="47" name="TextBox 46"/>
          <p:cNvSpPr txBox="1"/>
          <p:nvPr/>
        </p:nvSpPr>
        <p:spPr>
          <a:xfrm>
            <a:off x="548640" y="6355080"/>
            <a:ext cx="109728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出典: Google Privacy Sandbox Blog (2025/10/17) / Search Engine Land / AdExchanger</a:t>
            </a:r>
          </a:p>
        </p:txBody>
      </p:sp>
      <p:sp>
        <p:nvSpPr>
          <p:cNvPr id="48" name="TextBox 4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Consent Mode v2 の義務化と日本実務</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2024/03/06 EEA 内で義務化</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P19 / 250</a:t>
            </a:r>
          </a:p>
        </p:txBody>
      </p:sp>
      <p:sp>
        <p:nvSpPr>
          <p:cNvPr id="8" name="Rounded Rectangle 7"/>
          <p:cNvSpPr/>
          <p:nvPr/>
        </p:nvSpPr>
        <p:spPr>
          <a:xfrm>
            <a:off x="548640" y="1371600"/>
            <a:ext cx="11109960" cy="9144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54864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Consent Mode v2 とは</a:t>
            </a:r>
          </a:p>
        </p:txBody>
      </p:sp>
      <p:sp>
        <p:nvSpPr>
          <p:cNvPr id="10" name="TextBox 9"/>
          <p:cNvSpPr txBox="1"/>
          <p:nvPr/>
        </p:nvSpPr>
        <p:spPr>
          <a:xfrm>
            <a:off x="777240" y="1828800"/>
            <a:ext cx="10972800" cy="502920"/>
          </a:xfrm>
          <a:prstGeom prst="rect">
            <a:avLst/>
          </a:prstGeom>
          <a:noFill/>
        </p:spPr>
        <p:txBody>
          <a:bodyPr wrap="square" anchor="t" lIns="0" rIns="0" tIns="0" bIns="0">
            <a:spAutoFit/>
          </a:bodyPr>
          <a:lstStyle/>
          <a:p>
            <a:pPr algn="l">
              <a:lnSpc>
                <a:spcPct val="140000"/>
              </a:lnSpc>
            </a:pPr>
            <a:r>
              <a:rPr sz="1100" b="0">
                <a:solidFill>
                  <a:srgbClr val="1A1A1A"/>
                </a:solidFill>
                <a:latin typeface="Hiragino Sans"/>
                <a:ea typeface="Hiragino Sans"/>
                <a:cs typeface="Hiragino Sans"/>
              </a:rPr>
              <a:t>ユーザーの同意状態を Google 広告・分析プロダクトに伝える仕組み。</a:t>
            </a:r>
          </a:p>
          <a:p>
            <a:pPr algn="l">
              <a:lnSpc>
                <a:spcPct val="140000"/>
              </a:lnSpc>
            </a:pPr>
            <a:r>
              <a:rPr sz="1100" b="0">
                <a:solidFill>
                  <a:srgbClr val="1A1A1A"/>
                </a:solidFill>
                <a:latin typeface="Hiragino Sans"/>
                <a:ea typeface="Hiragino Sans"/>
                <a:cs typeface="Hiragino Sans"/>
              </a:rPr>
              <a:t>同意がない場合はモデルベースで推計、同意がある場合は正確な計測データを送信する</a:t>
            </a:r>
          </a:p>
        </p:txBody>
      </p:sp>
      <p:sp>
        <p:nvSpPr>
          <p:cNvPr id="11" name="TextBox 10"/>
          <p:cNvSpPr txBox="1"/>
          <p:nvPr/>
        </p:nvSpPr>
        <p:spPr>
          <a:xfrm>
            <a:off x="548640" y="2514600"/>
            <a:ext cx="54864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4 つの同意パラメータ</a:t>
            </a:r>
          </a:p>
        </p:txBody>
      </p:sp>
      <p:sp>
        <p:nvSpPr>
          <p:cNvPr id="12" name="Rectangle 11"/>
          <p:cNvSpPr/>
          <p:nvPr/>
        </p:nvSpPr>
        <p:spPr>
          <a:xfrm>
            <a:off x="548640" y="283464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017520"/>
            <a:ext cx="54406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1752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127248"/>
            <a:ext cx="27432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ad_storage</a:t>
            </a:r>
          </a:p>
        </p:txBody>
      </p:sp>
      <p:sp>
        <p:nvSpPr>
          <p:cNvPr id="16" name="TextBox 15"/>
          <p:cNvSpPr txBox="1"/>
          <p:nvPr/>
        </p:nvSpPr>
        <p:spPr>
          <a:xfrm>
            <a:off x="822960" y="3429000"/>
            <a:ext cx="50292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広告Cookieの使用</a:t>
            </a:r>
          </a:p>
        </p:txBody>
      </p:sp>
      <p:sp>
        <p:nvSpPr>
          <p:cNvPr id="17" name="TextBox 16"/>
          <p:cNvSpPr txBox="1"/>
          <p:nvPr/>
        </p:nvSpPr>
        <p:spPr>
          <a:xfrm>
            <a:off x="822960" y="3657600"/>
            <a:ext cx="5029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広告計測・リマーケ・コンバージョンに使用</a:t>
            </a:r>
          </a:p>
        </p:txBody>
      </p:sp>
      <p:sp>
        <p:nvSpPr>
          <p:cNvPr id="18" name="Rounded Rectangle 17"/>
          <p:cNvSpPr/>
          <p:nvPr/>
        </p:nvSpPr>
        <p:spPr>
          <a:xfrm>
            <a:off x="6108192" y="3017520"/>
            <a:ext cx="54406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08192" y="301752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3127248"/>
            <a:ext cx="27432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ad_user_data</a:t>
            </a:r>
          </a:p>
        </p:txBody>
      </p:sp>
      <p:sp>
        <p:nvSpPr>
          <p:cNvPr id="21" name="TextBox 20"/>
          <p:cNvSpPr txBox="1"/>
          <p:nvPr/>
        </p:nvSpPr>
        <p:spPr>
          <a:xfrm>
            <a:off x="6382512" y="3429000"/>
            <a:ext cx="50292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ユーザーデータのGoogle共有</a:t>
            </a:r>
          </a:p>
        </p:txBody>
      </p:sp>
      <p:sp>
        <p:nvSpPr>
          <p:cNvPr id="22" name="TextBox 21"/>
          <p:cNvSpPr txBox="1"/>
          <p:nvPr/>
        </p:nvSpPr>
        <p:spPr>
          <a:xfrm>
            <a:off x="6382512" y="3657600"/>
            <a:ext cx="5029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顧客データ(メール/電話)をGoogleに送るか</a:t>
            </a:r>
          </a:p>
        </p:txBody>
      </p:sp>
      <p:sp>
        <p:nvSpPr>
          <p:cNvPr id="23" name="Rounded Rectangle 22"/>
          <p:cNvSpPr/>
          <p:nvPr/>
        </p:nvSpPr>
        <p:spPr>
          <a:xfrm>
            <a:off x="548640" y="4069080"/>
            <a:ext cx="54406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06908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178808"/>
            <a:ext cx="27432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ad_personalization</a:t>
            </a:r>
          </a:p>
        </p:txBody>
      </p:sp>
      <p:sp>
        <p:nvSpPr>
          <p:cNvPr id="26" name="TextBox 25"/>
          <p:cNvSpPr txBox="1"/>
          <p:nvPr/>
        </p:nvSpPr>
        <p:spPr>
          <a:xfrm>
            <a:off x="822960" y="4480560"/>
            <a:ext cx="50292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広告パーソナライズ</a:t>
            </a:r>
          </a:p>
        </p:txBody>
      </p:sp>
      <p:sp>
        <p:nvSpPr>
          <p:cNvPr id="27" name="TextBox 26"/>
          <p:cNvSpPr txBox="1"/>
          <p:nvPr/>
        </p:nvSpPr>
        <p:spPr>
          <a:xfrm>
            <a:off x="822960" y="4709160"/>
            <a:ext cx="5029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履歴に基づくターゲティング可否</a:t>
            </a:r>
          </a:p>
        </p:txBody>
      </p:sp>
      <p:sp>
        <p:nvSpPr>
          <p:cNvPr id="28" name="Rounded Rectangle 27"/>
          <p:cNvSpPr/>
          <p:nvPr/>
        </p:nvSpPr>
        <p:spPr>
          <a:xfrm>
            <a:off x="6108192" y="4069080"/>
            <a:ext cx="5440680" cy="9144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08192" y="4069080"/>
            <a:ext cx="91440" cy="9144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2512" y="4178808"/>
            <a:ext cx="27432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elvetica Neue"/>
                <a:ea typeface="Helvetica Neue"/>
                <a:cs typeface="Helvetica Neue"/>
              </a:rPr>
              <a:t>analytics_storage</a:t>
            </a:r>
          </a:p>
        </p:txBody>
      </p:sp>
      <p:sp>
        <p:nvSpPr>
          <p:cNvPr id="31" name="TextBox 30"/>
          <p:cNvSpPr txBox="1"/>
          <p:nvPr/>
        </p:nvSpPr>
        <p:spPr>
          <a:xfrm>
            <a:off x="6382512" y="4480560"/>
            <a:ext cx="50292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分析Cookie使用</a:t>
            </a:r>
          </a:p>
        </p:txBody>
      </p:sp>
      <p:sp>
        <p:nvSpPr>
          <p:cNvPr id="32" name="TextBox 31"/>
          <p:cNvSpPr txBox="1"/>
          <p:nvPr/>
        </p:nvSpPr>
        <p:spPr>
          <a:xfrm>
            <a:off x="6382512" y="4709160"/>
            <a:ext cx="5029200" cy="274320"/>
          </a:xfrm>
          <a:prstGeom prst="rect">
            <a:avLst/>
          </a:prstGeom>
          <a:noFill/>
        </p:spPr>
        <p:txBody>
          <a:bodyPr wrap="square" anchor="t" lIns="0" rIns="0" tIns="0" bIns="0">
            <a:spAutoFit/>
          </a:bodyPr>
          <a:lstStyle/>
          <a:p>
            <a:pPr algn="l">
              <a:lnSpc>
                <a:spcPct val="115000"/>
              </a:lnSpc>
            </a:pPr>
            <a:r>
              <a:rPr sz="900" b="0">
                <a:solidFill>
                  <a:srgbClr val="5A6A80"/>
                </a:solidFill>
                <a:latin typeface="Hiragino Sans"/>
                <a:ea typeface="Hiragino Sans"/>
                <a:cs typeface="Hiragino Sans"/>
              </a:rPr>
              <a:t>GA4計測Cookieの保存可否</a:t>
            </a:r>
          </a:p>
        </p:txBody>
      </p:sp>
      <p:sp>
        <p:nvSpPr>
          <p:cNvPr id="33" name="Rounded Rectangle 32"/>
          <p:cNvSpPr/>
          <p:nvPr/>
        </p:nvSpPr>
        <p:spPr>
          <a:xfrm>
            <a:off x="548640" y="5257800"/>
            <a:ext cx="11109960" cy="10515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376672"/>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日本実務への影響</a:t>
            </a:r>
          </a:p>
        </p:txBody>
      </p:sp>
      <p:sp>
        <p:nvSpPr>
          <p:cNvPr id="35" name="TextBox 34"/>
          <p:cNvSpPr txBox="1"/>
          <p:nvPr/>
        </p:nvSpPr>
        <p:spPr>
          <a:xfrm>
            <a:off x="777240" y="5687568"/>
            <a:ext cx="10972800" cy="59436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 EEA外（日本）は義務ではないが、グローバル企業は同実装が事実上標準</a:t>
            </a:r>
          </a:p>
          <a:p>
            <a:pPr algn="l">
              <a:lnSpc>
                <a:spcPct val="150000"/>
              </a:lnSpc>
            </a:pPr>
            <a:r>
              <a:rPr sz="1100" b="0">
                <a:solidFill>
                  <a:srgbClr val="1A1A1A"/>
                </a:solidFill>
                <a:latin typeface="Hiragino Sans"/>
                <a:ea typeface="Hiragino Sans"/>
                <a:cs typeface="Hiragino Sans"/>
              </a:rPr>
              <a:t>• CMP (Cookiebot / OneTrust / usercentrics / TrustArc) 導入案件が2024-2025で急増</a:t>
            </a:r>
          </a:p>
          <a:p>
            <a:pPr algn="l">
              <a:lnSpc>
                <a:spcPct val="150000"/>
              </a:lnSpc>
            </a:pPr>
            <a:r>
              <a:rPr sz="1100" b="0">
                <a:solidFill>
                  <a:srgbClr val="1A1A1A"/>
                </a:solidFill>
                <a:latin typeface="Hiragino Sans"/>
                <a:ea typeface="Hiragino Sans"/>
                <a:cs typeface="Hiragino Sans"/>
              </a:rPr>
              <a:t>• 運用者側: ad_personalization 無効時のビッド低下・DDAモデルの精度低下を説明できる必要</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LINEヤフー統合タイムライン 2023 →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日本広告市場の構造変化を時系列で把握</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P20 / 250</a:t>
            </a:r>
          </a:p>
        </p:txBody>
      </p:sp>
      <p:sp>
        <p:nvSpPr>
          <p:cNvPr id="8" name="Rectangle 7"/>
          <p:cNvSpPr/>
          <p:nvPr/>
        </p:nvSpPr>
        <p:spPr>
          <a:xfrm>
            <a:off x="1554480" y="3200400"/>
            <a:ext cx="9052560"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53896" y="317296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11680"/>
            <a:ext cx="1645920" cy="274320"/>
          </a:xfrm>
          <a:prstGeom prst="rect">
            <a:avLst/>
          </a:prstGeom>
          <a:noFill/>
        </p:spPr>
        <p:txBody>
          <a:bodyPr wrap="square" anchor="t" lIns="0" rIns="0" tIns="0" bIns="0">
            <a:spAutoFit/>
          </a:bodyPr>
          <a:lstStyle/>
          <a:p>
            <a:pPr algn="ctr">
              <a:lnSpc>
                <a:spcPct val="115000"/>
              </a:lnSpc>
            </a:pPr>
            <a:r>
              <a:rPr sz="1000" b="1">
                <a:solidFill>
                  <a:srgbClr val="0F2A4F"/>
                </a:solidFill>
                <a:latin typeface="Helvetica Neue"/>
                <a:ea typeface="Helvetica Neue"/>
                <a:cs typeface="Helvetica Neue"/>
              </a:rPr>
              <a:t>2023/10/01</a:t>
            </a:r>
          </a:p>
        </p:txBody>
      </p:sp>
      <p:sp>
        <p:nvSpPr>
          <p:cNvPr id="11" name="TextBox 10"/>
          <p:cNvSpPr txBox="1"/>
          <p:nvPr/>
        </p:nvSpPr>
        <p:spPr>
          <a:xfrm>
            <a:off x="548640" y="228600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LINEヤフー</a:t>
            </a:r>
          </a:p>
          <a:p>
            <a:pPr algn="ctr">
              <a:lnSpc>
                <a:spcPct val="120000"/>
              </a:lnSpc>
            </a:pPr>
            <a:r>
              <a:rPr sz="1200" b="1">
                <a:solidFill>
                  <a:srgbClr val="0F2A4F"/>
                </a:solidFill>
                <a:latin typeface="Hiragino Sans"/>
                <a:ea typeface="Hiragino Sans"/>
                <a:cs typeface="Hiragino Sans"/>
              </a:rPr>
              <a:t>発足</a:t>
            </a:r>
          </a:p>
        </p:txBody>
      </p:sp>
      <p:sp>
        <p:nvSpPr>
          <p:cNvPr id="12" name="TextBox 11"/>
          <p:cNvSpPr txBox="1"/>
          <p:nvPr/>
        </p:nvSpPr>
        <p:spPr>
          <a:xfrm>
            <a:off x="411480" y="2880360"/>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LINE/ヤフー等5社合併</a:t>
            </a:r>
          </a:p>
        </p:txBody>
      </p:sp>
      <p:sp>
        <p:nvSpPr>
          <p:cNvPr id="13" name="Rectangle 12"/>
          <p:cNvSpPr/>
          <p:nvPr/>
        </p:nvSpPr>
        <p:spPr>
          <a:xfrm>
            <a:off x="1545336" y="2880360"/>
            <a:ext cx="13716" cy="32004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64408" y="317296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42032" y="3520440"/>
            <a:ext cx="1645920" cy="274320"/>
          </a:xfrm>
          <a:prstGeom prst="rect">
            <a:avLst/>
          </a:prstGeom>
          <a:noFill/>
        </p:spPr>
        <p:txBody>
          <a:bodyPr wrap="square" anchor="t" lIns="0" rIns="0" tIns="0" bIns="0">
            <a:spAutoFit/>
          </a:bodyPr>
          <a:lstStyle/>
          <a:p>
            <a:pPr algn="ctr">
              <a:lnSpc>
                <a:spcPct val="115000"/>
              </a:lnSpc>
            </a:pPr>
            <a:r>
              <a:rPr sz="1000" b="1">
                <a:solidFill>
                  <a:srgbClr val="0F2A4F"/>
                </a:solidFill>
                <a:latin typeface="Helvetica Neue"/>
                <a:ea typeface="Helvetica Neue"/>
                <a:cs typeface="Helvetica Neue"/>
              </a:rPr>
              <a:t>2023/10/02</a:t>
            </a:r>
          </a:p>
        </p:txBody>
      </p:sp>
      <p:sp>
        <p:nvSpPr>
          <p:cNvPr id="16" name="TextBox 15"/>
          <p:cNvSpPr txBox="1"/>
          <p:nvPr/>
        </p:nvSpPr>
        <p:spPr>
          <a:xfrm>
            <a:off x="2359152" y="379476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コネクトワン</a:t>
            </a:r>
          </a:p>
          <a:p>
            <a:pPr algn="ctr">
              <a:lnSpc>
                <a:spcPct val="120000"/>
              </a:lnSpc>
            </a:pPr>
            <a:r>
              <a:rPr sz="1200" b="1">
                <a:solidFill>
                  <a:srgbClr val="0F2A4F"/>
                </a:solidFill>
                <a:latin typeface="Hiragino Sans"/>
                <a:ea typeface="Hiragino Sans"/>
                <a:cs typeface="Hiragino Sans"/>
              </a:rPr>
              <a:t>構想発表</a:t>
            </a:r>
          </a:p>
        </p:txBody>
      </p:sp>
      <p:sp>
        <p:nvSpPr>
          <p:cNvPr id="17" name="TextBox 16"/>
          <p:cNvSpPr txBox="1"/>
          <p:nvPr/>
        </p:nvSpPr>
        <p:spPr>
          <a:xfrm>
            <a:off x="2221992" y="4361688"/>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LINE+Yahoo! ID統合ロードマップ</a:t>
            </a:r>
          </a:p>
        </p:txBody>
      </p:sp>
      <p:sp>
        <p:nvSpPr>
          <p:cNvPr id="18" name="Rectangle 17"/>
          <p:cNvSpPr/>
          <p:nvPr/>
        </p:nvSpPr>
        <p:spPr>
          <a:xfrm>
            <a:off x="3355848" y="331012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15484" y="311353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52544" y="2011680"/>
            <a:ext cx="1645920" cy="27432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2024/07</a:t>
            </a:r>
          </a:p>
        </p:txBody>
      </p:sp>
      <p:sp>
        <p:nvSpPr>
          <p:cNvPr id="21" name="TextBox 20"/>
          <p:cNvSpPr txBox="1"/>
          <p:nvPr/>
        </p:nvSpPr>
        <p:spPr>
          <a:xfrm>
            <a:off x="4169664" y="228600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DSP/LAP</a:t>
            </a:r>
          </a:p>
          <a:p>
            <a:pPr algn="ctr">
              <a:lnSpc>
                <a:spcPct val="120000"/>
              </a:lnSpc>
            </a:pPr>
            <a:r>
              <a:rPr sz="1200" b="1">
                <a:solidFill>
                  <a:srgbClr val="0F2A4F"/>
                </a:solidFill>
                <a:latin typeface="Hiragino Sans"/>
                <a:ea typeface="Hiragino Sans"/>
                <a:cs typeface="Hiragino Sans"/>
              </a:rPr>
              <a:t>統合開始</a:t>
            </a:r>
          </a:p>
        </p:txBody>
      </p:sp>
      <p:sp>
        <p:nvSpPr>
          <p:cNvPr id="22" name="TextBox 21"/>
          <p:cNvSpPr txBox="1"/>
          <p:nvPr/>
        </p:nvSpPr>
        <p:spPr>
          <a:xfrm>
            <a:off x="4032504" y="2880360"/>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ディスプレイ配信面の統合</a:t>
            </a:r>
          </a:p>
        </p:txBody>
      </p:sp>
      <p:sp>
        <p:nvSpPr>
          <p:cNvPr id="23" name="Rectangle 22"/>
          <p:cNvSpPr/>
          <p:nvPr/>
        </p:nvSpPr>
        <p:spPr>
          <a:xfrm>
            <a:off x="5166360" y="2880360"/>
            <a:ext cx="13716" cy="32004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85432" y="3172968"/>
            <a:ext cx="201168" cy="201168"/>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63056" y="3520440"/>
            <a:ext cx="1645920" cy="274320"/>
          </a:xfrm>
          <a:prstGeom prst="rect">
            <a:avLst/>
          </a:prstGeom>
          <a:noFill/>
        </p:spPr>
        <p:txBody>
          <a:bodyPr wrap="square" anchor="t" lIns="0" rIns="0" tIns="0" bIns="0">
            <a:spAutoFit/>
          </a:bodyPr>
          <a:lstStyle/>
          <a:p>
            <a:pPr algn="ctr">
              <a:lnSpc>
                <a:spcPct val="115000"/>
              </a:lnSpc>
            </a:pPr>
            <a:r>
              <a:rPr sz="1000" b="1">
                <a:solidFill>
                  <a:srgbClr val="0F2A4F"/>
                </a:solidFill>
                <a:latin typeface="Helvetica Neue"/>
                <a:ea typeface="Helvetica Neue"/>
                <a:cs typeface="Helvetica Neue"/>
              </a:rPr>
              <a:t>2024/10/04</a:t>
            </a:r>
          </a:p>
        </p:txBody>
      </p:sp>
      <p:sp>
        <p:nvSpPr>
          <p:cNvPr id="26" name="TextBox 25"/>
          <p:cNvSpPr txBox="1"/>
          <p:nvPr/>
        </p:nvSpPr>
        <p:spPr>
          <a:xfrm>
            <a:off x="5980176" y="379476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アカウント</a:t>
            </a:r>
          </a:p>
          <a:p>
            <a:pPr algn="ctr">
              <a:lnSpc>
                <a:spcPct val="120000"/>
              </a:lnSpc>
            </a:pPr>
            <a:r>
              <a:rPr sz="1200" b="1">
                <a:solidFill>
                  <a:srgbClr val="0F2A4F"/>
                </a:solidFill>
                <a:latin typeface="Hiragino Sans"/>
                <a:ea typeface="Hiragino Sans"/>
                <a:cs typeface="Hiragino Sans"/>
              </a:rPr>
              <a:t>連携開始</a:t>
            </a:r>
          </a:p>
        </p:txBody>
      </p:sp>
      <p:sp>
        <p:nvSpPr>
          <p:cNvPr id="27" name="TextBox 26"/>
          <p:cNvSpPr txBox="1"/>
          <p:nvPr/>
        </p:nvSpPr>
        <p:spPr>
          <a:xfrm>
            <a:off x="5843016" y="4361688"/>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LINE+Yahoo!アカウントの一元化</a:t>
            </a:r>
          </a:p>
        </p:txBody>
      </p:sp>
      <p:sp>
        <p:nvSpPr>
          <p:cNvPr id="28" name="Rectangle 27"/>
          <p:cNvSpPr/>
          <p:nvPr/>
        </p:nvSpPr>
        <p:spPr>
          <a:xfrm>
            <a:off x="6976872" y="331012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636508" y="311353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73568" y="2011680"/>
            <a:ext cx="1645920" cy="27432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2025/06/30</a:t>
            </a:r>
          </a:p>
        </p:txBody>
      </p:sp>
      <p:sp>
        <p:nvSpPr>
          <p:cNvPr id="31" name="TextBox 30"/>
          <p:cNvSpPr txBox="1"/>
          <p:nvPr/>
        </p:nvSpPr>
        <p:spPr>
          <a:xfrm>
            <a:off x="7790688" y="228600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ビジネスID</a:t>
            </a:r>
          </a:p>
          <a:p>
            <a:pPr algn="ctr">
              <a:lnSpc>
                <a:spcPct val="120000"/>
              </a:lnSpc>
            </a:pPr>
            <a:r>
              <a:rPr sz="1200" b="1">
                <a:solidFill>
                  <a:srgbClr val="0F2A4F"/>
                </a:solidFill>
                <a:latin typeface="Hiragino Sans"/>
                <a:ea typeface="Hiragino Sans"/>
                <a:cs typeface="Hiragino Sans"/>
              </a:rPr>
              <a:t>統合</a:t>
            </a:r>
          </a:p>
        </p:txBody>
      </p:sp>
      <p:sp>
        <p:nvSpPr>
          <p:cNvPr id="32" name="TextBox 31"/>
          <p:cNvSpPr txBox="1"/>
          <p:nvPr/>
        </p:nvSpPr>
        <p:spPr>
          <a:xfrm>
            <a:off x="7653528" y="2880360"/>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広告管理画面の共通ID</a:t>
            </a:r>
          </a:p>
        </p:txBody>
      </p:sp>
      <p:sp>
        <p:nvSpPr>
          <p:cNvPr id="33" name="Rectangle 32"/>
          <p:cNvSpPr/>
          <p:nvPr/>
        </p:nvSpPr>
        <p:spPr>
          <a:xfrm>
            <a:off x="8787384" y="2880360"/>
            <a:ext cx="13716" cy="32004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447020" y="3113532"/>
            <a:ext cx="320040" cy="320040"/>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3520440"/>
            <a:ext cx="1645920" cy="274320"/>
          </a:xfrm>
          <a:prstGeom prst="rect">
            <a:avLst/>
          </a:prstGeom>
          <a:noFill/>
        </p:spPr>
        <p:txBody>
          <a:bodyPr wrap="square" anchor="t" lIns="0" rIns="0" tIns="0" bIns="0">
            <a:spAutoFit/>
          </a:bodyPr>
          <a:lstStyle/>
          <a:p>
            <a:pPr algn="ctr">
              <a:lnSpc>
                <a:spcPct val="115000"/>
              </a:lnSpc>
            </a:pPr>
            <a:r>
              <a:rPr sz="1000" b="1">
                <a:solidFill>
                  <a:srgbClr val="E87722"/>
                </a:solidFill>
                <a:latin typeface="Helvetica Neue"/>
                <a:ea typeface="Helvetica Neue"/>
                <a:cs typeface="Helvetica Neue"/>
              </a:rPr>
              <a:t>2026/春</a:t>
            </a:r>
          </a:p>
        </p:txBody>
      </p:sp>
      <p:sp>
        <p:nvSpPr>
          <p:cNvPr id="36" name="TextBox 35"/>
          <p:cNvSpPr txBox="1"/>
          <p:nvPr/>
        </p:nvSpPr>
        <p:spPr>
          <a:xfrm>
            <a:off x="9601200" y="3794760"/>
            <a:ext cx="2011680" cy="548640"/>
          </a:xfrm>
          <a:prstGeom prst="rect">
            <a:avLst/>
          </a:prstGeom>
          <a:noFill/>
        </p:spPr>
        <p:txBody>
          <a:bodyPr wrap="square" anchor="t" lIns="0" rIns="0" tIns="0" bIns="0">
            <a:spAutoFit/>
          </a:bodyPr>
          <a:lstStyle/>
          <a:p>
            <a:pPr algn="ctr">
              <a:lnSpc>
                <a:spcPct val="120000"/>
              </a:lnSpc>
            </a:pPr>
            <a:r>
              <a:rPr sz="1200" b="1">
                <a:solidFill>
                  <a:srgbClr val="0F2A4F"/>
                </a:solidFill>
                <a:latin typeface="Hiragino Sans"/>
                <a:ea typeface="Hiragino Sans"/>
                <a:cs typeface="Hiragino Sans"/>
              </a:rPr>
              <a:t>LINEヤフー</a:t>
            </a:r>
          </a:p>
          <a:p>
            <a:pPr algn="ctr">
              <a:lnSpc>
                <a:spcPct val="120000"/>
              </a:lnSpc>
            </a:pPr>
            <a:r>
              <a:rPr sz="1200" b="1">
                <a:solidFill>
                  <a:srgbClr val="0F2A4F"/>
                </a:solidFill>
                <a:latin typeface="Hiragino Sans"/>
                <a:ea typeface="Hiragino Sans"/>
                <a:cs typeface="Hiragino Sans"/>
              </a:rPr>
              <a:t>広告 統合</a:t>
            </a:r>
          </a:p>
        </p:txBody>
      </p:sp>
      <p:sp>
        <p:nvSpPr>
          <p:cNvPr id="37" name="TextBox 36"/>
          <p:cNvSpPr txBox="1"/>
          <p:nvPr/>
        </p:nvSpPr>
        <p:spPr>
          <a:xfrm>
            <a:off x="9464040" y="4361688"/>
            <a:ext cx="2286000" cy="320040"/>
          </a:xfrm>
          <a:prstGeom prst="rect">
            <a:avLst/>
          </a:prstGeom>
          <a:noFill/>
        </p:spPr>
        <p:txBody>
          <a:bodyPr wrap="square" anchor="t" lIns="0" rIns="0" tIns="0" bIns="0">
            <a:spAutoFit/>
          </a:bodyPr>
          <a:lstStyle/>
          <a:p>
            <a:pPr algn="ctr">
              <a:lnSpc>
                <a:spcPct val="130000"/>
              </a:lnSpc>
            </a:pPr>
            <a:r>
              <a:rPr sz="900" b="0">
                <a:solidFill>
                  <a:srgbClr val="5A6A80"/>
                </a:solidFill>
                <a:latin typeface="Hiragino Sans"/>
                <a:ea typeface="Hiragino Sans"/>
                <a:cs typeface="Hiragino Sans"/>
              </a:rPr>
              <a:t>単一プラットフォームへ完成</a:t>
            </a:r>
          </a:p>
        </p:txBody>
      </p:sp>
      <p:sp>
        <p:nvSpPr>
          <p:cNvPr id="38" name="Rectangle 37"/>
          <p:cNvSpPr/>
          <p:nvPr/>
        </p:nvSpPr>
        <p:spPr>
          <a:xfrm>
            <a:off x="10597896" y="3310128"/>
            <a:ext cx="13716" cy="502920"/>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48640" y="5074920"/>
            <a:ext cx="11109960" cy="12344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212080"/>
            <a:ext cx="3657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統合後リーチ</a:t>
            </a:r>
          </a:p>
        </p:txBody>
      </p:sp>
      <p:sp>
        <p:nvSpPr>
          <p:cNvPr id="41" name="TextBox 40"/>
          <p:cNvSpPr txBox="1"/>
          <p:nvPr/>
        </p:nvSpPr>
        <p:spPr>
          <a:xfrm>
            <a:off x="777240" y="5468112"/>
            <a:ext cx="2286000" cy="640080"/>
          </a:xfrm>
          <a:prstGeom prst="rect">
            <a:avLst/>
          </a:prstGeom>
          <a:noFill/>
        </p:spPr>
        <p:txBody>
          <a:bodyPr wrap="square" anchor="t" lIns="0" rIns="0" tIns="0" bIns="0">
            <a:spAutoFit/>
          </a:bodyPr>
          <a:lstStyle/>
          <a:p>
            <a:pPr algn="l">
              <a:lnSpc>
                <a:spcPct val="115000"/>
              </a:lnSpc>
            </a:pPr>
            <a:r>
              <a:rPr sz="4200" b="1">
                <a:solidFill>
                  <a:srgbClr val="FFFFFF"/>
                </a:solidFill>
                <a:latin typeface="Helvetica Neue"/>
                <a:ea typeface="Helvetica Neue"/>
                <a:cs typeface="Helvetica Neue"/>
              </a:rPr>
              <a:t>94%</a:t>
            </a:r>
          </a:p>
        </p:txBody>
      </p:sp>
      <p:sp>
        <p:nvSpPr>
          <p:cNvPr id="42" name="TextBox 41"/>
          <p:cNvSpPr txBox="1"/>
          <p:nvPr/>
        </p:nvSpPr>
        <p:spPr>
          <a:xfrm>
            <a:off x="2926080" y="5532120"/>
            <a:ext cx="8229600" cy="320040"/>
          </a:xfrm>
          <a:prstGeom prst="rect">
            <a:avLst/>
          </a:prstGeom>
          <a:noFill/>
        </p:spPr>
        <p:txBody>
          <a:bodyPr wrap="square" anchor="t" lIns="0" rIns="0" tIns="0" bIns="0">
            <a:spAutoFit/>
          </a:bodyPr>
          <a:lstStyle/>
          <a:p>
            <a:pPr algn="l">
              <a:lnSpc>
                <a:spcPct val="115000"/>
              </a:lnSpc>
            </a:pPr>
            <a:r>
              <a:rPr sz="1300" b="0">
                <a:solidFill>
                  <a:srgbClr val="FFFFFF"/>
                </a:solidFill>
                <a:latin typeface="Hiragino Sans"/>
                <a:ea typeface="Hiragino Sans"/>
                <a:cs typeface="Hiragino Sans"/>
              </a:rPr>
              <a:t>of 国内スマートフォンユーザー (重複除く)</a:t>
            </a:r>
          </a:p>
        </p:txBody>
      </p:sp>
      <p:sp>
        <p:nvSpPr>
          <p:cNvPr id="43" name="TextBox 42"/>
          <p:cNvSpPr txBox="1"/>
          <p:nvPr/>
        </p:nvSpPr>
        <p:spPr>
          <a:xfrm>
            <a:off x="2926080" y="5833872"/>
            <a:ext cx="8229600" cy="457200"/>
          </a:xfrm>
          <a:prstGeom prst="rect">
            <a:avLst/>
          </a:prstGeom>
          <a:noFill/>
        </p:spPr>
        <p:txBody>
          <a:bodyPr wrap="square" anchor="t" lIns="0" rIns="0" tIns="0" bIns="0">
            <a:spAutoFit/>
          </a:bodyPr>
          <a:lstStyle/>
          <a:p>
            <a:pPr algn="l">
              <a:lnSpc>
                <a:spcPct val="135000"/>
              </a:lnSpc>
            </a:pPr>
            <a:r>
              <a:rPr sz="1000" b="0">
                <a:solidFill>
                  <a:srgbClr val="D7DDE8"/>
                </a:solidFill>
                <a:latin typeface="Hiragino Sans"/>
                <a:ea typeface="Hiragino Sans"/>
                <a:cs typeface="Hiragino Sans"/>
              </a:rPr>
              <a:t>Yahoo! の検索データ + LINE のチャット行動データの結合で</a:t>
            </a:r>
          </a:p>
          <a:p>
            <a:pPr algn="l">
              <a:lnSpc>
                <a:spcPct val="135000"/>
              </a:lnSpc>
            </a:pPr>
            <a:r>
              <a:rPr sz="1000" b="0">
                <a:solidFill>
                  <a:srgbClr val="D7DDE8"/>
                </a:solidFill>
                <a:latin typeface="Hiragino Sans"/>
                <a:ea typeface="Hiragino Sans"/>
                <a:cs typeface="Hiragino Sans"/>
              </a:rPr>
              <a:t>ターゲティング精度が向上、広告効果も改善傾向</a:t>
            </a:r>
          </a:p>
        </p:txBody>
      </p:sp>
      <p:sp>
        <p:nvSpPr>
          <p:cNvPr id="44" name="TextBox 43"/>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LINEヤフー広告 統合の実務インパクト</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運用者が押さえるべき変化ポイント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P21 / 250</a:t>
            </a:r>
          </a:p>
        </p:txBody>
      </p:sp>
      <p:sp>
        <p:nvSpPr>
          <p:cNvPr id="8" name="TextBox 7"/>
          <p:cNvSpPr txBox="1"/>
          <p:nvPr/>
        </p:nvSpPr>
        <p:spPr>
          <a:xfrm>
            <a:off x="548640" y="1371600"/>
            <a:ext cx="5486400" cy="365760"/>
          </a:xfrm>
          <a:prstGeom prst="rect">
            <a:avLst/>
          </a:prstGeom>
          <a:noFill/>
        </p:spPr>
        <p:txBody>
          <a:bodyPr wrap="square" anchor="t" lIns="0" rIns="0" tIns="0" bIns="0">
            <a:spAutoFit/>
          </a:bodyPr>
          <a:lstStyle/>
          <a:p>
            <a:pPr algn="l">
              <a:lnSpc>
                <a:spcPct val="115000"/>
              </a:lnSpc>
            </a:pPr>
            <a:r>
              <a:rPr sz="1400" b="1">
                <a:solidFill>
                  <a:srgbClr val="5A6A80"/>
                </a:solidFill>
                <a:latin typeface="Hiragino Sans"/>
                <a:ea typeface="Hiragino Sans"/>
                <a:cs typeface="Hiragino Sans"/>
              </a:rPr>
              <a:t>Before (2023)</a:t>
            </a:r>
          </a:p>
        </p:txBody>
      </p:sp>
      <p:sp>
        <p:nvSpPr>
          <p:cNvPr id="9" name="TextBox 8"/>
          <p:cNvSpPr txBox="1"/>
          <p:nvPr/>
        </p:nvSpPr>
        <p:spPr>
          <a:xfrm>
            <a:off x="6400800" y="1371600"/>
            <a:ext cx="5486400" cy="36576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After (2026 春~)</a:t>
            </a:r>
          </a:p>
        </p:txBody>
      </p:sp>
      <p:sp>
        <p:nvSpPr>
          <p:cNvPr id="10" name="Rounded Rectangle 9"/>
          <p:cNvSpPr/>
          <p:nvPr/>
        </p:nvSpPr>
        <p:spPr>
          <a:xfrm>
            <a:off x="548640" y="178308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7452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2" name="TextBox 11"/>
          <p:cNvSpPr txBox="1"/>
          <p:nvPr/>
        </p:nvSpPr>
        <p:spPr>
          <a:xfrm>
            <a:off x="1097280" y="190195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Yahoo!広告管理画面で別運用</a:t>
            </a:r>
          </a:p>
        </p:txBody>
      </p:sp>
      <p:sp>
        <p:nvSpPr>
          <p:cNvPr id="13" name="Rounded Rectangle 12"/>
          <p:cNvSpPr/>
          <p:nvPr/>
        </p:nvSpPr>
        <p:spPr>
          <a:xfrm>
            <a:off x="548640" y="228600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37744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5" name="TextBox 14"/>
          <p:cNvSpPr txBox="1"/>
          <p:nvPr/>
        </p:nvSpPr>
        <p:spPr>
          <a:xfrm>
            <a:off x="1097280" y="240487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LINE広告マネージャで別運用</a:t>
            </a:r>
          </a:p>
        </p:txBody>
      </p:sp>
      <p:sp>
        <p:nvSpPr>
          <p:cNvPr id="16" name="Rounded Rectangle 15"/>
          <p:cNvSpPr/>
          <p:nvPr/>
        </p:nvSpPr>
        <p:spPr>
          <a:xfrm>
            <a:off x="548640" y="278892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8036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8" name="TextBox 17"/>
          <p:cNvSpPr txBox="1"/>
          <p:nvPr/>
        </p:nvSpPr>
        <p:spPr>
          <a:xfrm>
            <a:off x="1097280" y="290779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データ連携なし (別ID)</a:t>
            </a:r>
          </a:p>
        </p:txBody>
      </p:sp>
      <p:sp>
        <p:nvSpPr>
          <p:cNvPr id="19" name="Rounded Rectangle 18"/>
          <p:cNvSpPr/>
          <p:nvPr/>
        </p:nvSpPr>
        <p:spPr>
          <a:xfrm>
            <a:off x="548640" y="329184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38328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21" name="TextBox 20"/>
          <p:cNvSpPr txBox="1"/>
          <p:nvPr/>
        </p:nvSpPr>
        <p:spPr>
          <a:xfrm>
            <a:off x="1097280" y="341071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在庫・面を横断できない</a:t>
            </a:r>
          </a:p>
        </p:txBody>
      </p:sp>
      <p:sp>
        <p:nvSpPr>
          <p:cNvPr id="22" name="Rounded Rectangle 21"/>
          <p:cNvSpPr/>
          <p:nvPr/>
        </p:nvSpPr>
        <p:spPr>
          <a:xfrm>
            <a:off x="548640" y="3794760"/>
            <a:ext cx="5486400" cy="45720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886200"/>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24" name="TextBox 23"/>
          <p:cNvSpPr txBox="1"/>
          <p:nvPr/>
        </p:nvSpPr>
        <p:spPr>
          <a:xfrm>
            <a:off x="1097280" y="3913632"/>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別々に予算設定・レポート作成</a:t>
            </a:r>
          </a:p>
        </p:txBody>
      </p:sp>
      <p:sp>
        <p:nvSpPr>
          <p:cNvPr id="25" name="Rounded Rectangle 24"/>
          <p:cNvSpPr/>
          <p:nvPr/>
        </p:nvSpPr>
        <p:spPr>
          <a:xfrm>
            <a:off x="6400800" y="178308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187452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7" name="TextBox 26"/>
          <p:cNvSpPr txBox="1"/>
          <p:nvPr/>
        </p:nvSpPr>
        <p:spPr>
          <a:xfrm>
            <a:off x="6949440" y="190195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LINEヤフー広告（統合管理画面）</a:t>
            </a:r>
          </a:p>
        </p:txBody>
      </p:sp>
      <p:sp>
        <p:nvSpPr>
          <p:cNvPr id="28" name="Rounded Rectangle 27"/>
          <p:cNvSpPr/>
          <p:nvPr/>
        </p:nvSpPr>
        <p:spPr>
          <a:xfrm>
            <a:off x="6400800" y="228600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237744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0" name="TextBox 29"/>
          <p:cNvSpPr txBox="1"/>
          <p:nvPr/>
        </p:nvSpPr>
        <p:spPr>
          <a:xfrm>
            <a:off x="6949440" y="240487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横断で配信面を指定可</a:t>
            </a:r>
          </a:p>
        </p:txBody>
      </p:sp>
      <p:sp>
        <p:nvSpPr>
          <p:cNvPr id="31" name="Rounded Rectangle 30"/>
          <p:cNvSpPr/>
          <p:nvPr/>
        </p:nvSpPr>
        <p:spPr>
          <a:xfrm>
            <a:off x="6400800" y="278892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288036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3" name="TextBox 32"/>
          <p:cNvSpPr txBox="1"/>
          <p:nvPr/>
        </p:nvSpPr>
        <p:spPr>
          <a:xfrm>
            <a:off x="6949440" y="290779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Yahoo!検索データ + LINE行動データ</a:t>
            </a:r>
          </a:p>
        </p:txBody>
      </p:sp>
      <p:sp>
        <p:nvSpPr>
          <p:cNvPr id="34" name="Rounded Rectangle 33"/>
          <p:cNvSpPr/>
          <p:nvPr/>
        </p:nvSpPr>
        <p:spPr>
          <a:xfrm>
            <a:off x="6400800" y="329184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338328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6" name="TextBox 35"/>
          <p:cNvSpPr txBox="1"/>
          <p:nvPr/>
        </p:nvSpPr>
        <p:spPr>
          <a:xfrm>
            <a:off x="6949440" y="341071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ビジネスID で一元管理</a:t>
            </a:r>
          </a:p>
        </p:txBody>
      </p:sp>
      <p:sp>
        <p:nvSpPr>
          <p:cNvPr id="37" name="Rounded Rectangle 36"/>
          <p:cNvSpPr/>
          <p:nvPr/>
        </p:nvSpPr>
        <p:spPr>
          <a:xfrm>
            <a:off x="6400800" y="3794760"/>
            <a:ext cx="5349240" cy="45720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3886200"/>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9" name="TextBox 38"/>
          <p:cNvSpPr txBox="1"/>
          <p:nvPr/>
        </p:nvSpPr>
        <p:spPr>
          <a:xfrm>
            <a:off x="6949440" y="3913632"/>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統合レポート・横断最適化</a:t>
            </a:r>
          </a:p>
        </p:txBody>
      </p:sp>
      <p:sp>
        <p:nvSpPr>
          <p:cNvPr id="40" name="TextBox 39"/>
          <p:cNvSpPr txBox="1"/>
          <p:nvPr/>
        </p:nvSpPr>
        <p:spPr>
          <a:xfrm>
            <a:off x="548640" y="4572000"/>
            <a:ext cx="10972800" cy="36576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主要広告フォーマット (統合後)</a:t>
            </a:r>
          </a:p>
        </p:txBody>
      </p:sp>
      <p:sp>
        <p:nvSpPr>
          <p:cNvPr id="41" name="Rectangle 40"/>
          <p:cNvSpPr/>
          <p:nvPr/>
        </p:nvSpPr>
        <p:spPr>
          <a:xfrm>
            <a:off x="548640" y="489204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48640" y="5074920"/>
            <a:ext cx="2697480"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5074920"/>
            <a:ext cx="2697480" cy="91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25780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ディスプレイ</a:t>
            </a:r>
          </a:p>
        </p:txBody>
      </p:sp>
      <p:sp>
        <p:nvSpPr>
          <p:cNvPr id="45" name="TextBox 44"/>
          <p:cNvSpPr txBox="1"/>
          <p:nvPr/>
        </p:nvSpPr>
        <p:spPr>
          <a:xfrm>
            <a:off x="731520" y="5577840"/>
            <a:ext cx="2331720" cy="6858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YDA + LAP統合。</a:t>
            </a:r>
          </a:p>
          <a:p>
            <a:pPr algn="l">
              <a:lnSpc>
                <a:spcPct val="140000"/>
              </a:lnSpc>
            </a:pPr>
            <a:r>
              <a:rPr sz="1000" b="0">
                <a:solidFill>
                  <a:srgbClr val="1A1A1A"/>
                </a:solidFill>
                <a:latin typeface="Hiragino Sans"/>
                <a:ea typeface="Hiragino Sans"/>
                <a:cs typeface="Hiragino Sans"/>
              </a:rPr>
              <a:t>Yahoo!面+LINE面+提携サイト</a:t>
            </a:r>
          </a:p>
        </p:txBody>
      </p:sp>
      <p:sp>
        <p:nvSpPr>
          <p:cNvPr id="46" name="Rounded Rectangle 45"/>
          <p:cNvSpPr/>
          <p:nvPr/>
        </p:nvSpPr>
        <p:spPr>
          <a:xfrm>
            <a:off x="3337560" y="5074920"/>
            <a:ext cx="2697480"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337560" y="5074920"/>
            <a:ext cx="2697480" cy="91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20440" y="525780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検索</a:t>
            </a:r>
          </a:p>
        </p:txBody>
      </p:sp>
      <p:sp>
        <p:nvSpPr>
          <p:cNvPr id="49" name="TextBox 48"/>
          <p:cNvSpPr txBox="1"/>
          <p:nvPr/>
        </p:nvSpPr>
        <p:spPr>
          <a:xfrm>
            <a:off x="3520440" y="5577840"/>
            <a:ext cx="2331720" cy="6858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Yahoo!検索広告。</a:t>
            </a:r>
          </a:p>
          <a:p>
            <a:pPr algn="l">
              <a:lnSpc>
                <a:spcPct val="140000"/>
              </a:lnSpc>
            </a:pPr>
            <a:r>
              <a:rPr sz="1000" b="0">
                <a:solidFill>
                  <a:srgbClr val="1A1A1A"/>
                </a:solidFill>
                <a:latin typeface="Hiragino Sans"/>
                <a:ea typeface="Hiragino Sans"/>
                <a:cs typeface="Hiragino Sans"/>
              </a:rPr>
              <a:t>AIアシスト機能追加</a:t>
            </a:r>
          </a:p>
        </p:txBody>
      </p:sp>
      <p:sp>
        <p:nvSpPr>
          <p:cNvPr id="50" name="Rounded Rectangle 49"/>
          <p:cNvSpPr/>
          <p:nvPr/>
        </p:nvSpPr>
        <p:spPr>
          <a:xfrm>
            <a:off x="6126480" y="5074920"/>
            <a:ext cx="2697480"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26480" y="5074920"/>
            <a:ext cx="2697480" cy="91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09360" y="525780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LINE公式アカウント</a:t>
            </a:r>
          </a:p>
        </p:txBody>
      </p:sp>
      <p:sp>
        <p:nvSpPr>
          <p:cNvPr id="53" name="TextBox 52"/>
          <p:cNvSpPr txBox="1"/>
          <p:nvPr/>
        </p:nvSpPr>
        <p:spPr>
          <a:xfrm>
            <a:off x="6309360" y="5577840"/>
            <a:ext cx="2331720" cy="6858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友だち獲得・</a:t>
            </a:r>
          </a:p>
          <a:p>
            <a:pPr algn="l">
              <a:lnSpc>
                <a:spcPct val="140000"/>
              </a:lnSpc>
            </a:pPr>
            <a:r>
              <a:rPr sz="1000" b="0">
                <a:solidFill>
                  <a:srgbClr val="1A1A1A"/>
                </a:solidFill>
                <a:latin typeface="Hiragino Sans"/>
                <a:ea typeface="Hiragino Sans"/>
                <a:cs typeface="Hiragino Sans"/>
              </a:rPr>
              <a:t>メッセージ配信</a:t>
            </a:r>
          </a:p>
        </p:txBody>
      </p:sp>
      <p:sp>
        <p:nvSpPr>
          <p:cNvPr id="54" name="Rounded Rectangle 53"/>
          <p:cNvSpPr/>
          <p:nvPr/>
        </p:nvSpPr>
        <p:spPr>
          <a:xfrm>
            <a:off x="8915400" y="5074920"/>
            <a:ext cx="2697480" cy="123444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15400" y="5074920"/>
            <a:ext cx="2697480" cy="914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98280" y="5257800"/>
            <a:ext cx="233172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LINE特有面</a:t>
            </a:r>
          </a:p>
        </p:txBody>
      </p:sp>
      <p:sp>
        <p:nvSpPr>
          <p:cNvPr id="57" name="TextBox 56"/>
          <p:cNvSpPr txBox="1"/>
          <p:nvPr/>
        </p:nvSpPr>
        <p:spPr>
          <a:xfrm>
            <a:off x="9098280" y="5577840"/>
            <a:ext cx="2331720" cy="68580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トーク上部 / LINE NEWS /</a:t>
            </a:r>
          </a:p>
          <a:p>
            <a:pPr algn="l">
              <a:lnSpc>
                <a:spcPct val="140000"/>
              </a:lnSpc>
            </a:pPr>
            <a:r>
              <a:rPr sz="1000" b="0">
                <a:solidFill>
                  <a:srgbClr val="1A1A1A"/>
                </a:solidFill>
                <a:latin typeface="Hiragino Sans"/>
                <a:ea typeface="Hiragino Sans"/>
                <a:cs typeface="Hiragino Sans"/>
              </a:rPr>
              <a:t>VOOM / ウォレット</a:t>
            </a:r>
          </a:p>
        </p:txBody>
      </p:sp>
      <p:sp>
        <p:nvSpPr>
          <p:cNvPr id="58" name="TextBox 5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 景表法ステマ規制 2023/10/01 施行</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事業者が広告であることを明示する義務</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P22 / 250</a:t>
            </a:r>
          </a:p>
        </p:txBody>
      </p:sp>
      <p:sp>
        <p:nvSpPr>
          <p:cNvPr id="8" name="Rounded Rectangle 7"/>
          <p:cNvSpPr/>
          <p:nvPr/>
        </p:nvSpPr>
        <p:spPr>
          <a:xfrm>
            <a:off x="548640" y="1371600"/>
            <a:ext cx="1110996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27432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法的根拠</a:t>
            </a:r>
          </a:p>
        </p:txBody>
      </p:sp>
      <p:sp>
        <p:nvSpPr>
          <p:cNvPr id="10" name="TextBox 9"/>
          <p:cNvSpPr txBox="1"/>
          <p:nvPr/>
        </p:nvSpPr>
        <p:spPr>
          <a:xfrm>
            <a:off x="777240" y="1783080"/>
            <a:ext cx="10972800" cy="320040"/>
          </a:xfrm>
          <a:prstGeom prst="rect">
            <a:avLst/>
          </a:prstGeom>
          <a:noFill/>
        </p:spPr>
        <p:txBody>
          <a:bodyPr wrap="square" anchor="t" lIns="0" rIns="0" tIns="0" bIns="0">
            <a:spAutoFit/>
          </a:bodyPr>
          <a:lstStyle/>
          <a:p>
            <a:pPr algn="l">
              <a:lnSpc>
                <a:spcPct val="115000"/>
              </a:lnSpc>
            </a:pPr>
            <a:r>
              <a:rPr sz="1400" b="1">
                <a:solidFill>
                  <a:srgbClr val="FFFFFF"/>
                </a:solidFill>
                <a:latin typeface="Hiragino Sans"/>
                <a:ea typeface="Hiragino Sans"/>
                <a:cs typeface="Hiragino Sans"/>
              </a:rPr>
              <a:t>景品表示法 第5条第3号 告示 (消費者庁)</a:t>
            </a:r>
          </a:p>
        </p:txBody>
      </p:sp>
      <p:sp>
        <p:nvSpPr>
          <p:cNvPr id="11" name="TextBox 10"/>
          <p:cNvSpPr txBox="1"/>
          <p:nvPr/>
        </p:nvSpPr>
        <p:spPr>
          <a:xfrm>
            <a:off x="777240" y="2103120"/>
            <a:ext cx="10972800" cy="274320"/>
          </a:xfrm>
          <a:prstGeom prst="rect">
            <a:avLst/>
          </a:prstGeom>
          <a:noFill/>
        </p:spPr>
        <p:txBody>
          <a:bodyPr wrap="square" anchor="t" lIns="0" rIns="0" tIns="0" bIns="0">
            <a:spAutoFit/>
          </a:bodyPr>
          <a:lstStyle/>
          <a:p>
            <a:pPr algn="l">
              <a:lnSpc>
                <a:spcPct val="115000"/>
              </a:lnSpc>
            </a:pPr>
            <a:r>
              <a:rPr sz="1100" b="0">
                <a:solidFill>
                  <a:srgbClr val="D7DDE8"/>
                </a:solidFill>
                <a:latin typeface="Hiragino Sans"/>
                <a:ea typeface="Hiragino Sans"/>
                <a:cs typeface="Hiragino Sans"/>
              </a:rPr>
              <a:t>告示公布 2023/03/28 / 施行 2023/10/01 / 違反は措置命令・課徴金の対象</a:t>
            </a:r>
          </a:p>
        </p:txBody>
      </p:sp>
      <p:sp>
        <p:nvSpPr>
          <p:cNvPr id="12" name="TextBox 11"/>
          <p:cNvSpPr txBox="1"/>
          <p:nvPr/>
        </p:nvSpPr>
        <p:spPr>
          <a:xfrm>
            <a:off x="548640" y="269748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規制される表示</a:t>
            </a:r>
          </a:p>
        </p:txBody>
      </p:sp>
      <p:sp>
        <p:nvSpPr>
          <p:cNvPr id="13" name="Rectangle 12"/>
          <p:cNvSpPr/>
          <p:nvPr/>
        </p:nvSpPr>
        <p:spPr>
          <a:xfrm>
            <a:off x="548640" y="3017520"/>
            <a:ext cx="548640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200400"/>
            <a:ext cx="5486400" cy="137160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383280"/>
            <a:ext cx="5212080" cy="10058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事業者が自己の供給する商品または役務について行う表示であって、</a:t>
            </a:r>
          </a:p>
          <a:p>
            <a:pPr algn="l">
              <a:lnSpc>
                <a:spcPct val="150000"/>
              </a:lnSpc>
            </a:pPr>
            <a:r>
              <a:rPr sz="1100" b="0">
                <a:solidFill>
                  <a:srgbClr val="1A1A1A"/>
                </a:solidFill>
                <a:latin typeface="Hiragino Sans"/>
                <a:ea typeface="Hiragino Sans"/>
                <a:cs typeface="Hiragino Sans"/>
              </a:rPr>
              <a:t>一般消費者が広告と判別することが困難なもの</a:t>
            </a:r>
          </a:p>
        </p:txBody>
      </p:sp>
      <p:sp>
        <p:nvSpPr>
          <p:cNvPr id="16" name="TextBox 15"/>
          <p:cNvSpPr txBox="1"/>
          <p:nvPr/>
        </p:nvSpPr>
        <p:spPr>
          <a:xfrm>
            <a:off x="6400800" y="269748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規制対象</a:t>
            </a:r>
          </a:p>
        </p:txBody>
      </p:sp>
      <p:sp>
        <p:nvSpPr>
          <p:cNvPr id="17" name="Rectangle 16"/>
          <p:cNvSpPr/>
          <p:nvPr/>
        </p:nvSpPr>
        <p:spPr>
          <a:xfrm>
            <a:off x="6400800" y="3017520"/>
            <a:ext cx="53035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0" y="3200400"/>
            <a:ext cx="5303520" cy="64008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383280"/>
            <a:ext cx="365760" cy="365760"/>
          </a:xfrm>
          <a:prstGeom prst="rect">
            <a:avLst/>
          </a:prstGeom>
          <a:noFill/>
        </p:spPr>
        <p:txBody>
          <a:bodyPr wrap="square" anchor="t" lIns="0" rIns="0" tIns="0" bIns="0">
            <a:spAutoFit/>
          </a:bodyPr>
          <a:lstStyle/>
          <a:p>
            <a:pPr algn="l">
              <a:lnSpc>
                <a:spcPct val="115000"/>
              </a:lnSpc>
            </a:pPr>
            <a:r>
              <a:rPr sz="1800" b="1">
                <a:solidFill>
                  <a:srgbClr val="E87722"/>
                </a:solidFill>
                <a:latin typeface="Hiragino Sans"/>
                <a:ea typeface="Hiragino Sans"/>
                <a:cs typeface="Hiragino Sans"/>
              </a:rPr>
              <a:t>✓</a:t>
            </a:r>
          </a:p>
        </p:txBody>
      </p:sp>
      <p:sp>
        <p:nvSpPr>
          <p:cNvPr id="20" name="TextBox 19"/>
          <p:cNvSpPr txBox="1"/>
          <p:nvPr/>
        </p:nvSpPr>
        <p:spPr>
          <a:xfrm>
            <a:off x="7040880" y="3310128"/>
            <a:ext cx="41148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事業者 (広告主)</a:t>
            </a:r>
          </a:p>
        </p:txBody>
      </p:sp>
      <p:sp>
        <p:nvSpPr>
          <p:cNvPr id="21" name="TextBox 20"/>
          <p:cNvSpPr txBox="1"/>
          <p:nvPr/>
        </p:nvSpPr>
        <p:spPr>
          <a:xfrm>
            <a:off x="7040880" y="3584448"/>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規制の対象 = 違反時は措置命令・課徴金</a:t>
            </a:r>
          </a:p>
        </p:txBody>
      </p:sp>
      <p:sp>
        <p:nvSpPr>
          <p:cNvPr id="22" name="Rounded Rectangle 21"/>
          <p:cNvSpPr/>
          <p:nvPr/>
        </p:nvSpPr>
        <p:spPr>
          <a:xfrm>
            <a:off x="6400800" y="3931920"/>
            <a:ext cx="5303520" cy="64008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4114800"/>
            <a:ext cx="365760" cy="365760"/>
          </a:xfrm>
          <a:prstGeom prst="rect">
            <a:avLst/>
          </a:prstGeom>
          <a:noFill/>
        </p:spPr>
        <p:txBody>
          <a:bodyPr wrap="square" anchor="t" lIns="0" rIns="0" tIns="0" bIns="0">
            <a:spAutoFit/>
          </a:bodyPr>
          <a:lstStyle/>
          <a:p>
            <a:pPr algn="l">
              <a:lnSpc>
                <a:spcPct val="115000"/>
              </a:lnSpc>
            </a:pPr>
            <a:r>
              <a:rPr sz="1800" b="1">
                <a:solidFill>
                  <a:srgbClr val="5A6A80"/>
                </a:solidFill>
                <a:latin typeface="Hiragino Sans"/>
                <a:ea typeface="Hiragino Sans"/>
                <a:cs typeface="Hiragino Sans"/>
              </a:rPr>
              <a:t>✗</a:t>
            </a:r>
          </a:p>
        </p:txBody>
      </p:sp>
      <p:sp>
        <p:nvSpPr>
          <p:cNvPr id="24" name="TextBox 23"/>
          <p:cNvSpPr txBox="1"/>
          <p:nvPr/>
        </p:nvSpPr>
        <p:spPr>
          <a:xfrm>
            <a:off x="7040880" y="4041648"/>
            <a:ext cx="411480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インフルエンサー・発信者</a:t>
            </a:r>
          </a:p>
        </p:txBody>
      </p:sp>
      <p:sp>
        <p:nvSpPr>
          <p:cNvPr id="25" name="TextBox 24"/>
          <p:cNvSpPr txBox="1"/>
          <p:nvPr/>
        </p:nvSpPr>
        <p:spPr>
          <a:xfrm>
            <a:off x="7040880" y="4315968"/>
            <a:ext cx="4389120" cy="27432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規制対象ではない (景表法上)</a:t>
            </a:r>
          </a:p>
        </p:txBody>
      </p:sp>
      <p:sp>
        <p:nvSpPr>
          <p:cNvPr id="26" name="Rounded Rectangle 25"/>
          <p:cNvSpPr/>
          <p:nvPr/>
        </p:nvSpPr>
        <p:spPr>
          <a:xfrm>
            <a:off x="548640" y="4754880"/>
            <a:ext cx="11109960" cy="16002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89204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副業運用代行での実務</a:t>
            </a:r>
          </a:p>
        </p:txBody>
      </p:sp>
      <p:sp>
        <p:nvSpPr>
          <p:cNvPr id="28" name="TextBox 27"/>
          <p:cNvSpPr txBox="1"/>
          <p:nvPr/>
        </p:nvSpPr>
        <p:spPr>
          <a:xfrm>
            <a:off x="777240" y="5257800"/>
            <a:ext cx="10972800" cy="1005840"/>
          </a:xfrm>
          <a:prstGeom prst="rect">
            <a:avLst/>
          </a:prstGeom>
          <a:noFill/>
        </p:spPr>
        <p:txBody>
          <a:bodyPr wrap="square" anchor="t" lIns="0" rIns="0" tIns="0" bIns="0">
            <a:spAutoFit/>
          </a:bodyPr>
          <a:lstStyle/>
          <a:p>
            <a:pPr algn="l">
              <a:lnSpc>
                <a:spcPct val="155000"/>
              </a:lnSpc>
            </a:pPr>
            <a:r>
              <a:rPr sz="1100" b="0">
                <a:solidFill>
                  <a:srgbClr val="1A1A1A"/>
                </a:solidFill>
                <a:latin typeface="Hiragino Sans"/>
                <a:ea typeface="Hiragino Sans"/>
                <a:cs typeface="Hiragino Sans"/>
              </a:rPr>
              <a:t>インフルエンサー案件・アフィリエイト案件では PR表記の徹底をクライアントに助言。</a:t>
            </a:r>
          </a:p>
          <a:p>
            <a:pPr algn="l">
              <a:lnSpc>
                <a:spcPct val="155000"/>
              </a:lnSpc>
            </a:pPr>
            <a:r>
              <a:rPr sz="1100" b="0">
                <a:solidFill>
                  <a:srgbClr val="1A1A1A"/>
                </a:solidFill>
                <a:latin typeface="Hiragino Sans"/>
                <a:ea typeface="Hiragino Sans"/>
                <a:cs typeface="Hiragino Sans"/>
              </a:rPr>
              <a:t>推奨表記: #PR / #広告 / #スポンサード / #タイアップ / [広告] / [提供:〇〇] など</a:t>
            </a:r>
          </a:p>
          <a:p>
            <a:pPr algn="l">
              <a:lnSpc>
                <a:spcPct val="155000"/>
              </a:lnSpc>
            </a:pPr>
            <a:r>
              <a:rPr sz="1100" b="0">
                <a:solidFill>
                  <a:srgbClr val="1A1A1A"/>
                </a:solidFill>
                <a:latin typeface="Hiragino Sans"/>
                <a:ea typeface="Hiragino Sans"/>
                <a:cs typeface="Hiragino Sans"/>
              </a:rPr>
              <a:t>不適切表記: 表記なし、感想風装、小さすぎる文字、スクロールで見えなくなる位置</a:t>
            </a:r>
          </a:p>
        </p:txBody>
      </p:sp>
      <p:sp>
        <p:nvSpPr>
          <p:cNvPr id="29" name="TextBox 28"/>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EU DSA (Digital Services Act) 2024/02/17 全面適用</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広告の透明性・子ども保護・センシティブデータ禁止</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P23 / 250</a:t>
            </a:r>
          </a:p>
        </p:txBody>
      </p:sp>
      <p:sp>
        <p:nvSpPr>
          <p:cNvPr id="8" name="Rounded Rectangle 7"/>
          <p:cNvSpPr/>
          <p:nvPr/>
        </p:nvSpPr>
        <p:spPr>
          <a:xfrm>
            <a:off x="548640" y="1371600"/>
            <a:ext cx="11109960" cy="7772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10972800" cy="502920"/>
          </a:xfrm>
          <a:prstGeom prst="rect">
            <a:avLst/>
          </a:prstGeom>
          <a:noFill/>
        </p:spPr>
        <p:txBody>
          <a:bodyPr wrap="square" anchor="t" lIns="0" rIns="0" tIns="0" bIns="0">
            <a:spAutoFit/>
          </a:bodyPr>
          <a:lstStyle/>
          <a:p>
            <a:pPr algn="l">
              <a:lnSpc>
                <a:spcPct val="140000"/>
              </a:lnSpc>
            </a:pPr>
            <a:r>
              <a:rPr sz="1200" b="1">
                <a:solidFill>
                  <a:srgbClr val="B85E1A"/>
                </a:solidFill>
                <a:latin typeface="Hiragino Sans"/>
                <a:ea typeface="Hiragino Sans"/>
                <a:cs typeface="Hiragino Sans"/>
              </a:rPr>
              <a:t>EU域内の広告・AdTech 全事業者に影響。VLOPs/VLOSEs (超大規模プラットフォーム) には特に厳しい義務</a:t>
            </a:r>
          </a:p>
        </p:txBody>
      </p:sp>
      <p:sp>
        <p:nvSpPr>
          <p:cNvPr id="10" name="Rounded Rectangle 9"/>
          <p:cNvSpPr/>
          <p:nvPr/>
        </p:nvSpPr>
        <p:spPr>
          <a:xfrm>
            <a:off x="548640" y="2331720"/>
            <a:ext cx="3611880" cy="3474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331720"/>
            <a:ext cx="3611880" cy="548640"/>
          </a:xfrm>
          <a:prstGeom prst="rect">
            <a:avLst/>
          </a:prstGeom>
          <a:solidFill>
            <a:srgbClr val="C645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468880"/>
            <a:ext cx="3246120" cy="32004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禁止されるターゲティング</a:t>
            </a:r>
          </a:p>
        </p:txBody>
      </p:sp>
      <p:sp>
        <p:nvSpPr>
          <p:cNvPr id="13" name="Rectangle 12"/>
          <p:cNvSpPr/>
          <p:nvPr/>
        </p:nvSpPr>
        <p:spPr>
          <a:xfrm>
            <a:off x="731520" y="310896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0040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子ども (18歳未満)</a:t>
            </a:r>
          </a:p>
        </p:txBody>
      </p:sp>
      <p:sp>
        <p:nvSpPr>
          <p:cNvPr id="15" name="TextBox 14"/>
          <p:cNvSpPr txBox="1"/>
          <p:nvPr/>
        </p:nvSpPr>
        <p:spPr>
          <a:xfrm>
            <a:off x="731520" y="347472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TikTok/Meta/Snapchat 既に対応済</a:t>
            </a:r>
          </a:p>
        </p:txBody>
      </p:sp>
      <p:sp>
        <p:nvSpPr>
          <p:cNvPr id="16" name="Rectangle 15"/>
          <p:cNvSpPr/>
          <p:nvPr/>
        </p:nvSpPr>
        <p:spPr>
          <a:xfrm>
            <a:off x="731520" y="397764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06908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センシティブデータ</a:t>
            </a:r>
          </a:p>
        </p:txBody>
      </p:sp>
      <p:sp>
        <p:nvSpPr>
          <p:cNvPr id="18" name="TextBox 17"/>
          <p:cNvSpPr txBox="1"/>
          <p:nvPr/>
        </p:nvSpPr>
        <p:spPr>
          <a:xfrm>
            <a:off x="731520" y="434340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人種・政治・宗教・性的指向・健康等</a:t>
            </a:r>
          </a:p>
        </p:txBody>
      </p:sp>
      <p:sp>
        <p:nvSpPr>
          <p:cNvPr id="19" name="Rectangle 18"/>
          <p:cNvSpPr/>
          <p:nvPr/>
        </p:nvSpPr>
        <p:spPr>
          <a:xfrm>
            <a:off x="731520" y="484632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93776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プロファイリング基盤</a:t>
            </a:r>
          </a:p>
        </p:txBody>
      </p:sp>
      <p:sp>
        <p:nvSpPr>
          <p:cNvPr id="21" name="TextBox 20"/>
          <p:cNvSpPr txBox="1"/>
          <p:nvPr/>
        </p:nvSpPr>
        <p:spPr>
          <a:xfrm>
            <a:off x="731520" y="521208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上記カテゴリを推定するML禁止</a:t>
            </a:r>
          </a:p>
        </p:txBody>
      </p:sp>
      <p:sp>
        <p:nvSpPr>
          <p:cNvPr id="22" name="Rounded Rectangle 21"/>
          <p:cNvSpPr/>
          <p:nvPr/>
        </p:nvSpPr>
        <p:spPr>
          <a:xfrm>
            <a:off x="4297680" y="2331720"/>
            <a:ext cx="3611880" cy="3474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80" y="2331720"/>
            <a:ext cx="3611880" cy="5486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2468880"/>
            <a:ext cx="3246120" cy="32004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義務付けられる透明性</a:t>
            </a:r>
          </a:p>
        </p:txBody>
      </p:sp>
      <p:sp>
        <p:nvSpPr>
          <p:cNvPr id="25" name="Rectangle 24"/>
          <p:cNvSpPr/>
          <p:nvPr/>
        </p:nvSpPr>
        <p:spPr>
          <a:xfrm>
            <a:off x="4480560" y="310896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320040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広告であることの明示</a:t>
            </a:r>
          </a:p>
        </p:txBody>
      </p:sp>
      <p:sp>
        <p:nvSpPr>
          <p:cNvPr id="27" name="TextBox 26"/>
          <p:cNvSpPr txBox="1"/>
          <p:nvPr/>
        </p:nvSpPr>
        <p:spPr>
          <a:xfrm>
            <a:off x="4480560" y="347472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"ad"ラベル必須</a:t>
            </a:r>
          </a:p>
        </p:txBody>
      </p:sp>
      <p:sp>
        <p:nvSpPr>
          <p:cNvPr id="28" name="Rectangle 27"/>
          <p:cNvSpPr/>
          <p:nvPr/>
        </p:nvSpPr>
        <p:spPr>
          <a:xfrm>
            <a:off x="4480560" y="397764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6908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広告主・資金源の開示</a:t>
            </a:r>
          </a:p>
        </p:txBody>
      </p:sp>
      <p:sp>
        <p:nvSpPr>
          <p:cNvPr id="30" name="TextBox 29"/>
          <p:cNvSpPr txBox="1"/>
          <p:nvPr/>
        </p:nvSpPr>
        <p:spPr>
          <a:xfrm>
            <a:off x="4480560" y="434340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誰が払ったか・なぜ配信されたか</a:t>
            </a:r>
          </a:p>
        </p:txBody>
      </p:sp>
      <p:sp>
        <p:nvSpPr>
          <p:cNvPr id="31" name="Rectangle 30"/>
          <p:cNvSpPr/>
          <p:nvPr/>
        </p:nvSpPr>
        <p:spPr>
          <a:xfrm>
            <a:off x="4480560" y="484632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0560" y="493776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VLOPs 広告レポジトリ</a:t>
            </a:r>
          </a:p>
        </p:txBody>
      </p:sp>
      <p:sp>
        <p:nvSpPr>
          <p:cNvPr id="33" name="TextBox 32"/>
          <p:cNvSpPr txBox="1"/>
          <p:nvPr/>
        </p:nvSpPr>
        <p:spPr>
          <a:xfrm>
            <a:off x="4480560" y="521208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全広告を公開APIで閲覧可能に</a:t>
            </a:r>
          </a:p>
        </p:txBody>
      </p:sp>
      <p:sp>
        <p:nvSpPr>
          <p:cNvPr id="34" name="Rounded Rectangle 33"/>
          <p:cNvSpPr/>
          <p:nvPr/>
        </p:nvSpPr>
        <p:spPr>
          <a:xfrm>
            <a:off x="8046720" y="2331720"/>
            <a:ext cx="3611880" cy="3474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6720" y="2331720"/>
            <a:ext cx="3611880" cy="5486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0" y="2468880"/>
            <a:ext cx="3246120" cy="320040"/>
          </a:xfrm>
          <a:prstGeom prst="rect">
            <a:avLst/>
          </a:prstGeom>
          <a:noFill/>
        </p:spPr>
        <p:txBody>
          <a:bodyPr wrap="square" anchor="t" lIns="0" rIns="0" tIns="0" bIns="0">
            <a:spAutoFit/>
          </a:bodyPr>
          <a:lstStyle/>
          <a:p>
            <a:pPr algn="l">
              <a:lnSpc>
                <a:spcPct val="115000"/>
              </a:lnSpc>
            </a:pPr>
            <a:r>
              <a:rPr sz="1200" b="1">
                <a:solidFill>
                  <a:srgbClr val="FFFFFF"/>
                </a:solidFill>
                <a:latin typeface="Hiragino Sans"/>
                <a:ea typeface="Hiragino Sans"/>
                <a:cs typeface="Hiragino Sans"/>
              </a:rPr>
              <a:t>主な罰則事例</a:t>
            </a:r>
          </a:p>
        </p:txBody>
      </p:sp>
      <p:sp>
        <p:nvSpPr>
          <p:cNvPr id="37" name="Rectangle 36"/>
          <p:cNvSpPr/>
          <p:nvPr/>
        </p:nvSpPr>
        <p:spPr>
          <a:xfrm>
            <a:off x="8229600" y="310896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320040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X (Twitter)</a:t>
            </a:r>
          </a:p>
        </p:txBody>
      </p:sp>
      <p:sp>
        <p:nvSpPr>
          <p:cNvPr id="39" name="TextBox 38"/>
          <p:cNvSpPr txBox="1"/>
          <p:nvPr/>
        </p:nvSpPr>
        <p:spPr>
          <a:xfrm>
            <a:off x="8229600" y="347472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EUR 45百万 (広告レポジトリ違反)</a:t>
            </a:r>
          </a:p>
        </p:txBody>
      </p:sp>
      <p:sp>
        <p:nvSpPr>
          <p:cNvPr id="40" name="Rectangle 39"/>
          <p:cNvSpPr/>
          <p:nvPr/>
        </p:nvSpPr>
        <p:spPr>
          <a:xfrm>
            <a:off x="8229600" y="397764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0" y="406908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Meta</a:t>
            </a:r>
          </a:p>
        </p:txBody>
      </p:sp>
      <p:sp>
        <p:nvSpPr>
          <p:cNvPr id="42" name="TextBox 41"/>
          <p:cNvSpPr txBox="1"/>
          <p:nvPr/>
        </p:nvSpPr>
        <p:spPr>
          <a:xfrm>
            <a:off x="8229600" y="434340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調査中 (広告関連複数)</a:t>
            </a:r>
          </a:p>
        </p:txBody>
      </p:sp>
      <p:sp>
        <p:nvSpPr>
          <p:cNvPr id="43" name="Rectangle 42"/>
          <p:cNvSpPr/>
          <p:nvPr/>
        </p:nvSpPr>
        <p:spPr>
          <a:xfrm>
            <a:off x="8229600" y="4846320"/>
            <a:ext cx="32461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0" y="4937760"/>
            <a:ext cx="3246120" cy="274320"/>
          </a:xfrm>
          <a:prstGeom prst="rect">
            <a:avLst/>
          </a:prstGeom>
          <a:noFill/>
        </p:spPr>
        <p:txBody>
          <a:bodyPr wrap="square" anchor="t" lIns="0" rIns="0" tIns="0" bIns="0">
            <a:spAutoFit/>
          </a:bodyPr>
          <a:lstStyle/>
          <a:p>
            <a:pPr algn="l">
              <a:lnSpc>
                <a:spcPct val="115000"/>
              </a:lnSpc>
            </a:pPr>
            <a:r>
              <a:rPr sz="1100" b="1">
                <a:solidFill>
                  <a:srgbClr val="0F2A4F"/>
                </a:solidFill>
                <a:latin typeface="Hiragino Sans"/>
                <a:ea typeface="Hiragino Sans"/>
                <a:cs typeface="Hiragino Sans"/>
              </a:rPr>
              <a:t>最大罰金</a:t>
            </a:r>
          </a:p>
        </p:txBody>
      </p:sp>
      <p:sp>
        <p:nvSpPr>
          <p:cNvPr id="45" name="TextBox 44"/>
          <p:cNvSpPr txBox="1"/>
          <p:nvPr/>
        </p:nvSpPr>
        <p:spPr>
          <a:xfrm>
            <a:off x="8229600" y="5212080"/>
            <a:ext cx="3246120" cy="457200"/>
          </a:xfrm>
          <a:prstGeom prst="rect">
            <a:avLst/>
          </a:prstGeom>
          <a:noFill/>
        </p:spPr>
        <p:txBody>
          <a:bodyPr wrap="square" anchor="t" lIns="0" rIns="0" tIns="0" bIns="0">
            <a:spAutoFit/>
          </a:bodyPr>
          <a:lstStyle/>
          <a:p>
            <a:pPr algn="l">
              <a:lnSpc>
                <a:spcPct val="135000"/>
              </a:lnSpc>
            </a:pPr>
            <a:r>
              <a:rPr sz="1000" b="0">
                <a:solidFill>
                  <a:srgbClr val="1A1A1A"/>
                </a:solidFill>
                <a:latin typeface="Hiragino Sans"/>
                <a:ea typeface="Hiragino Sans"/>
                <a:cs typeface="Hiragino Sans"/>
              </a:rPr>
              <a:t>全世界年間売上の6%</a:t>
            </a:r>
          </a:p>
        </p:txBody>
      </p:sp>
      <p:sp>
        <p:nvSpPr>
          <p:cNvPr id="46" name="Rounded Rectangle 45"/>
          <p:cNvSpPr/>
          <p:nvPr/>
        </p:nvSpPr>
        <p:spPr>
          <a:xfrm>
            <a:off x="548640" y="5943600"/>
            <a:ext cx="11109960" cy="4114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6016752"/>
            <a:ext cx="10972800" cy="32004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 日本発でEU配信する場合も対象。グローバル配信のクライアントには事前説明必須</a:t>
            </a:r>
          </a:p>
        </p:txBody>
      </p:sp>
      <p:sp>
        <p:nvSpPr>
          <p:cNvPr id="48" name="TextBox 4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米国のプライバシー規制 ─ 州法の乱立</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連邦法なきまま州別対応が現実解</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P24 / 250</a:t>
            </a:r>
          </a:p>
        </p:txBody>
      </p:sp>
      <p:sp>
        <p:nvSpPr>
          <p:cNvPr id="8" name="TextBox 7"/>
          <p:cNvSpPr txBox="1"/>
          <p:nvPr/>
        </p:nvSpPr>
        <p:spPr>
          <a:xfrm>
            <a:off x="548640" y="141732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2026年時点で 20州以上が包括プライバシー法を施行</a:t>
            </a:r>
          </a:p>
        </p:txBody>
      </p:sp>
      <p:sp>
        <p:nvSpPr>
          <p:cNvPr id="9" name="Rectangle 8"/>
          <p:cNvSpPr/>
          <p:nvPr/>
        </p:nvSpPr>
        <p:spPr>
          <a:xfrm>
            <a:off x="548640" y="1920240"/>
            <a:ext cx="11109960" cy="50292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29968"/>
            <a:ext cx="1645920" cy="36576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施行年</a:t>
            </a:r>
          </a:p>
        </p:txBody>
      </p:sp>
      <p:sp>
        <p:nvSpPr>
          <p:cNvPr id="11" name="TextBox 10"/>
          <p:cNvSpPr txBox="1"/>
          <p:nvPr/>
        </p:nvSpPr>
        <p:spPr>
          <a:xfrm>
            <a:off x="2514600" y="2029968"/>
            <a:ext cx="3931920" cy="36576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主な州法</a:t>
            </a:r>
          </a:p>
        </p:txBody>
      </p:sp>
      <p:sp>
        <p:nvSpPr>
          <p:cNvPr id="12" name="TextBox 11"/>
          <p:cNvSpPr txBox="1"/>
          <p:nvPr/>
        </p:nvSpPr>
        <p:spPr>
          <a:xfrm>
            <a:off x="6629400" y="2029968"/>
            <a:ext cx="4983480" cy="365760"/>
          </a:xfrm>
          <a:prstGeom prst="rect">
            <a:avLst/>
          </a:prstGeom>
          <a:noFill/>
        </p:spPr>
        <p:txBody>
          <a:bodyPr wrap="square" anchor="t" lIns="0" rIns="0" tIns="0" bIns="0">
            <a:spAutoFit/>
          </a:bodyPr>
          <a:lstStyle/>
          <a:p>
            <a:pPr algn="l">
              <a:lnSpc>
                <a:spcPct val="115000"/>
              </a:lnSpc>
            </a:pPr>
            <a:r>
              <a:rPr sz="1100" b="1">
                <a:solidFill>
                  <a:srgbClr val="FFFFFF"/>
                </a:solidFill>
                <a:latin typeface="Hiragino Sans"/>
                <a:ea typeface="Hiragino Sans"/>
                <a:cs typeface="Hiragino Sans"/>
              </a:rPr>
              <a:t>特徴</a:t>
            </a:r>
          </a:p>
        </p:txBody>
      </p:sp>
      <p:sp>
        <p:nvSpPr>
          <p:cNvPr id="13" name="Rectangle 12"/>
          <p:cNvSpPr/>
          <p:nvPr/>
        </p:nvSpPr>
        <p:spPr>
          <a:xfrm>
            <a:off x="548640" y="2423160"/>
            <a:ext cx="11109960" cy="5943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56032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2020 / 2023強化</a:t>
            </a:r>
          </a:p>
        </p:txBody>
      </p:sp>
      <p:sp>
        <p:nvSpPr>
          <p:cNvPr id="15" name="TextBox 14"/>
          <p:cNvSpPr txBox="1"/>
          <p:nvPr/>
        </p:nvSpPr>
        <p:spPr>
          <a:xfrm>
            <a:off x="2514600" y="256032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CCPA → CPRA (California)</a:t>
            </a:r>
          </a:p>
        </p:txBody>
      </p:sp>
      <p:sp>
        <p:nvSpPr>
          <p:cNvPr id="16" name="TextBox 15"/>
          <p:cNvSpPr txBox="1"/>
          <p:nvPr/>
        </p:nvSpPr>
        <p:spPr>
          <a:xfrm>
            <a:off x="6629400" y="257860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消費者データアクセス権・削除権・オプトアウト権</a:t>
            </a:r>
          </a:p>
        </p:txBody>
      </p:sp>
      <p:sp>
        <p:nvSpPr>
          <p:cNvPr id="17" name="Rectangle 16"/>
          <p:cNvSpPr/>
          <p:nvPr/>
        </p:nvSpPr>
        <p:spPr>
          <a:xfrm>
            <a:off x="548640" y="3063240"/>
            <a:ext cx="11109960" cy="5943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0040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2023</a:t>
            </a:r>
          </a:p>
        </p:txBody>
      </p:sp>
      <p:sp>
        <p:nvSpPr>
          <p:cNvPr id="19" name="TextBox 18"/>
          <p:cNvSpPr txBox="1"/>
          <p:nvPr/>
        </p:nvSpPr>
        <p:spPr>
          <a:xfrm>
            <a:off x="2514600" y="320040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VCDPA (Virginia) / CPA (Colorado)</a:t>
            </a:r>
          </a:p>
        </p:txBody>
      </p:sp>
      <p:sp>
        <p:nvSpPr>
          <p:cNvPr id="20" name="TextBox 19"/>
          <p:cNvSpPr txBox="1"/>
          <p:nvPr/>
        </p:nvSpPr>
        <p:spPr>
          <a:xfrm>
            <a:off x="6629400" y="321868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CCPA準拠 + 影響評価義務</a:t>
            </a:r>
          </a:p>
        </p:txBody>
      </p:sp>
      <p:sp>
        <p:nvSpPr>
          <p:cNvPr id="21" name="Rectangle 20"/>
          <p:cNvSpPr/>
          <p:nvPr/>
        </p:nvSpPr>
        <p:spPr>
          <a:xfrm>
            <a:off x="548640" y="3703320"/>
            <a:ext cx="11109960" cy="5943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84048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2023-2024</a:t>
            </a:r>
          </a:p>
        </p:txBody>
      </p:sp>
      <p:sp>
        <p:nvSpPr>
          <p:cNvPr id="23" name="TextBox 22"/>
          <p:cNvSpPr txBox="1"/>
          <p:nvPr/>
        </p:nvSpPr>
        <p:spPr>
          <a:xfrm>
            <a:off x="2514600" y="384048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UCPA (Utah) / CTDPA (Connecticut)</a:t>
            </a:r>
          </a:p>
        </p:txBody>
      </p:sp>
      <p:sp>
        <p:nvSpPr>
          <p:cNvPr id="24" name="TextBox 23"/>
          <p:cNvSpPr txBox="1"/>
          <p:nvPr/>
        </p:nvSpPr>
        <p:spPr>
          <a:xfrm>
            <a:off x="6629400" y="385876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企業規模・収益閾値ベース</a:t>
            </a:r>
          </a:p>
        </p:txBody>
      </p:sp>
      <p:sp>
        <p:nvSpPr>
          <p:cNvPr id="25" name="Rectangle 24"/>
          <p:cNvSpPr/>
          <p:nvPr/>
        </p:nvSpPr>
        <p:spPr>
          <a:xfrm>
            <a:off x="548640" y="4343400"/>
            <a:ext cx="11109960" cy="594360"/>
          </a:xfrm>
          <a:prstGeom prst="rect">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48056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2024</a:t>
            </a:r>
          </a:p>
        </p:txBody>
      </p:sp>
      <p:sp>
        <p:nvSpPr>
          <p:cNvPr id="27" name="TextBox 26"/>
          <p:cNvSpPr txBox="1"/>
          <p:nvPr/>
        </p:nvSpPr>
        <p:spPr>
          <a:xfrm>
            <a:off x="2514600" y="448056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Texas DPSA / Florida FDBR</a:t>
            </a:r>
          </a:p>
        </p:txBody>
      </p:sp>
      <p:sp>
        <p:nvSpPr>
          <p:cNvPr id="28" name="TextBox 27"/>
          <p:cNvSpPr txBox="1"/>
          <p:nvPr/>
        </p:nvSpPr>
        <p:spPr>
          <a:xfrm>
            <a:off x="6629400" y="449884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広範囲の事業者をカバー</a:t>
            </a:r>
          </a:p>
        </p:txBody>
      </p:sp>
      <p:sp>
        <p:nvSpPr>
          <p:cNvPr id="29" name="Rectangle 28"/>
          <p:cNvSpPr/>
          <p:nvPr/>
        </p:nvSpPr>
        <p:spPr>
          <a:xfrm>
            <a:off x="548640" y="4983480"/>
            <a:ext cx="11109960" cy="594360"/>
          </a:xfrm>
          <a:prstGeom prst="rect">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120640"/>
            <a:ext cx="1645920" cy="36576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2024-2026</a:t>
            </a:r>
          </a:p>
        </p:txBody>
      </p:sp>
      <p:sp>
        <p:nvSpPr>
          <p:cNvPr id="31" name="TextBox 30"/>
          <p:cNvSpPr txBox="1"/>
          <p:nvPr/>
        </p:nvSpPr>
        <p:spPr>
          <a:xfrm>
            <a:off x="2514600" y="5120640"/>
            <a:ext cx="3931920" cy="365760"/>
          </a:xfrm>
          <a:prstGeom prst="rect">
            <a:avLst/>
          </a:prstGeom>
          <a:noFill/>
        </p:spPr>
        <p:txBody>
          <a:bodyPr wrap="square" anchor="t" lIns="0" rIns="0" tIns="0" bIns="0">
            <a:spAutoFit/>
          </a:bodyPr>
          <a:lstStyle/>
          <a:p>
            <a:pPr algn="l">
              <a:lnSpc>
                <a:spcPct val="115000"/>
              </a:lnSpc>
            </a:pPr>
            <a:r>
              <a:rPr sz="1100" b="1">
                <a:solidFill>
                  <a:srgbClr val="0F2A4F"/>
                </a:solidFill>
                <a:latin typeface="Helvetica Neue"/>
                <a:ea typeface="Helvetica Neue"/>
                <a:cs typeface="Helvetica Neue"/>
              </a:rPr>
              <a:t>その他 15州以上</a:t>
            </a:r>
          </a:p>
        </p:txBody>
      </p:sp>
      <p:sp>
        <p:nvSpPr>
          <p:cNvPr id="32" name="TextBox 31"/>
          <p:cNvSpPr txBox="1"/>
          <p:nvPr/>
        </p:nvSpPr>
        <p:spPr>
          <a:xfrm>
            <a:off x="6629400" y="5138928"/>
            <a:ext cx="4983480" cy="365760"/>
          </a:xfrm>
          <a:prstGeom prst="rect">
            <a:avLst/>
          </a:prstGeom>
          <a:noFill/>
        </p:spPr>
        <p:txBody>
          <a:bodyPr wrap="square" anchor="t" lIns="0" rIns="0" tIns="0" bIns="0">
            <a:spAutoFit/>
          </a:bodyPr>
          <a:lstStyle/>
          <a:p>
            <a:pPr algn="l">
              <a:lnSpc>
                <a:spcPct val="115000"/>
              </a:lnSpc>
            </a:pPr>
            <a:r>
              <a:rPr sz="1000" b="0">
                <a:solidFill>
                  <a:srgbClr val="1A1A1A"/>
                </a:solidFill>
                <a:latin typeface="Hiragino Sans"/>
                <a:ea typeface="Hiragino Sans"/>
                <a:cs typeface="Hiragino Sans"/>
              </a:rPr>
              <a:t>Oregon/Montana/Tennessee/Delaware/Iowa/Indiana 等</a:t>
            </a:r>
          </a:p>
        </p:txBody>
      </p:sp>
      <p:sp>
        <p:nvSpPr>
          <p:cNvPr id="33" name="TextBox 32"/>
          <p:cNvSpPr txBox="1"/>
          <p:nvPr/>
        </p:nvSpPr>
        <p:spPr>
          <a:xfrm>
            <a:off x="548640" y="5806440"/>
            <a:ext cx="10972800" cy="32004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運用実務への影響</a:t>
            </a:r>
          </a:p>
        </p:txBody>
      </p:sp>
      <p:sp>
        <p:nvSpPr>
          <p:cNvPr id="34" name="Rounded Rectangle 33"/>
          <p:cNvSpPr/>
          <p:nvPr/>
        </p:nvSpPr>
        <p:spPr>
          <a:xfrm>
            <a:off x="548640" y="6126480"/>
            <a:ext cx="11109960" cy="22860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6172200"/>
            <a:ext cx="10972800" cy="22860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CMP (Consent Management Platform) で州別対応 + グローバル統合運用が現実解</a:t>
            </a:r>
          </a:p>
        </p:txBody>
      </p:sp>
      <p:sp>
        <p:nvSpPr>
          <p:cNvPr id="36" name="TextBox 3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生成AIの広告業界インパクト ─ 3波</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2023 → 2024 → 2025-: 段階的に仕事が書き換わる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P25 / 250</a:t>
            </a:r>
          </a:p>
        </p:txBody>
      </p:sp>
      <p:sp>
        <p:nvSpPr>
          <p:cNvPr id="8" name="Rounded Rectangle 7"/>
          <p:cNvSpPr/>
          <p:nvPr/>
        </p:nvSpPr>
        <p:spPr>
          <a:xfrm>
            <a:off x="548640" y="1417320"/>
            <a:ext cx="3657600" cy="4572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36576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310896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第1波</a:t>
            </a:r>
          </a:p>
        </p:txBody>
      </p:sp>
      <p:sp>
        <p:nvSpPr>
          <p:cNvPr id="11" name="TextBox 10"/>
          <p:cNvSpPr txBox="1"/>
          <p:nvPr/>
        </p:nvSpPr>
        <p:spPr>
          <a:xfrm>
            <a:off x="822960" y="1783080"/>
            <a:ext cx="3108960" cy="320040"/>
          </a:xfrm>
          <a:prstGeom prst="rect">
            <a:avLst/>
          </a:prstGeom>
          <a:noFill/>
        </p:spPr>
        <p:txBody>
          <a:bodyPr wrap="square" anchor="t" lIns="0" rIns="0" tIns="0" bIns="0">
            <a:spAutoFit/>
          </a:bodyPr>
          <a:lstStyle/>
          <a:p>
            <a:pPr algn="l">
              <a:lnSpc>
                <a:spcPct val="115000"/>
              </a:lnSpc>
            </a:pPr>
            <a:r>
              <a:rPr sz="2000" b="1">
                <a:solidFill>
                  <a:srgbClr val="FFFFFF"/>
                </a:solidFill>
                <a:latin typeface="Helvetica Neue"/>
                <a:ea typeface="Helvetica Neue"/>
                <a:cs typeface="Helvetica Neue"/>
              </a:rPr>
              <a:t>2023</a:t>
            </a:r>
          </a:p>
        </p:txBody>
      </p:sp>
      <p:sp>
        <p:nvSpPr>
          <p:cNvPr id="12" name="TextBox 11"/>
          <p:cNvSpPr txBox="1"/>
          <p:nvPr/>
        </p:nvSpPr>
        <p:spPr>
          <a:xfrm>
            <a:off x="822960" y="2377440"/>
            <a:ext cx="3108960" cy="548640"/>
          </a:xfrm>
          <a:prstGeom prst="rect">
            <a:avLst/>
          </a:prstGeom>
          <a:noFill/>
        </p:spPr>
        <p:txBody>
          <a:bodyPr wrap="square" anchor="t" lIns="0" rIns="0" tIns="0" bIns="0">
            <a:spAutoFit/>
          </a:bodyPr>
          <a:lstStyle/>
          <a:p>
            <a:pPr algn="l">
              <a:lnSpc>
                <a:spcPct val="120000"/>
              </a:lnSpc>
            </a:pPr>
            <a:r>
              <a:rPr sz="2000" b="1">
                <a:solidFill>
                  <a:srgbClr val="0F2A4F"/>
                </a:solidFill>
                <a:latin typeface="Hiragino Sans"/>
                <a:ea typeface="Hiragino Sans"/>
                <a:cs typeface="Hiragino Sans"/>
              </a:rPr>
              <a:t>コピー生成</a:t>
            </a:r>
          </a:p>
        </p:txBody>
      </p:sp>
      <p:sp>
        <p:nvSpPr>
          <p:cNvPr id="13" name="Rectangle 12"/>
          <p:cNvSpPr/>
          <p:nvPr/>
        </p:nvSpPr>
        <p:spPr>
          <a:xfrm>
            <a:off x="822960" y="3017520"/>
            <a:ext cx="310896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5468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代表的ツール</a:t>
            </a:r>
          </a:p>
        </p:txBody>
      </p:sp>
      <p:sp>
        <p:nvSpPr>
          <p:cNvPr id="15" name="TextBox 14"/>
          <p:cNvSpPr txBox="1"/>
          <p:nvPr/>
        </p:nvSpPr>
        <p:spPr>
          <a:xfrm>
            <a:off x="822960" y="3429000"/>
            <a:ext cx="3108960" cy="1188720"/>
          </a:xfrm>
          <a:prstGeom prst="rect">
            <a:avLst/>
          </a:prstGeom>
          <a:noFill/>
        </p:spPr>
        <p:txBody>
          <a:bodyPr wrap="square" anchor="t" lIns="0" rIns="0" tIns="0" bIns="0">
            <a:spAutoFit/>
          </a:bodyPr>
          <a:lstStyle/>
          <a:p>
            <a:pPr algn="l">
              <a:lnSpc>
                <a:spcPct val="140000"/>
              </a:lnSpc>
            </a:pPr>
            <a:r>
              <a:rPr sz="1100" b="0">
                <a:solidFill>
                  <a:srgbClr val="1A1A1A"/>
                </a:solidFill>
                <a:latin typeface="Helvetica Neue"/>
                <a:ea typeface="Helvetica Neue"/>
                <a:cs typeface="Helvetica Neue"/>
              </a:rPr>
              <a:t>ChatGPT / Claude / Gemini</a:t>
            </a:r>
          </a:p>
        </p:txBody>
      </p:sp>
      <p:sp>
        <p:nvSpPr>
          <p:cNvPr id="16" name="TextBox 15"/>
          <p:cNvSpPr txBox="1"/>
          <p:nvPr/>
        </p:nvSpPr>
        <p:spPr>
          <a:xfrm>
            <a:off x="822960" y="466344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広告業界インパクト</a:t>
            </a:r>
          </a:p>
        </p:txBody>
      </p:sp>
      <p:sp>
        <p:nvSpPr>
          <p:cNvPr id="17" name="TextBox 16"/>
          <p:cNvSpPr txBox="1"/>
          <p:nvPr/>
        </p:nvSpPr>
        <p:spPr>
          <a:xfrm>
            <a:off x="822960" y="4937760"/>
            <a:ext cx="3108960" cy="9144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運用者の広告文作成工数が激減。</a:t>
            </a:r>
          </a:p>
          <a:p>
            <a:pPr algn="l">
              <a:lnSpc>
                <a:spcPct val="150000"/>
              </a:lnSpc>
            </a:pPr>
            <a:r>
              <a:rPr sz="1100" b="0">
                <a:solidFill>
                  <a:srgbClr val="1A1A1A"/>
                </a:solidFill>
                <a:latin typeface="Hiragino Sans"/>
                <a:ea typeface="Hiragino Sans"/>
                <a:cs typeface="Hiragino Sans"/>
              </a:rPr>
              <a:t>テキスト系クリエイティブが民主化</a:t>
            </a:r>
          </a:p>
        </p:txBody>
      </p:sp>
      <p:sp>
        <p:nvSpPr>
          <p:cNvPr id="18" name="Rounded Rectangle 17"/>
          <p:cNvSpPr/>
          <p:nvPr/>
        </p:nvSpPr>
        <p:spPr>
          <a:xfrm>
            <a:off x="4297680" y="1417320"/>
            <a:ext cx="3657600" cy="4572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1417320"/>
            <a:ext cx="36576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1508760"/>
            <a:ext cx="310896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第2波</a:t>
            </a:r>
          </a:p>
        </p:txBody>
      </p:sp>
      <p:sp>
        <p:nvSpPr>
          <p:cNvPr id="21" name="TextBox 20"/>
          <p:cNvSpPr txBox="1"/>
          <p:nvPr/>
        </p:nvSpPr>
        <p:spPr>
          <a:xfrm>
            <a:off x="4572000" y="1783080"/>
            <a:ext cx="3108960" cy="320040"/>
          </a:xfrm>
          <a:prstGeom prst="rect">
            <a:avLst/>
          </a:prstGeom>
          <a:noFill/>
        </p:spPr>
        <p:txBody>
          <a:bodyPr wrap="square" anchor="t" lIns="0" rIns="0" tIns="0" bIns="0">
            <a:spAutoFit/>
          </a:bodyPr>
          <a:lstStyle/>
          <a:p>
            <a:pPr algn="l">
              <a:lnSpc>
                <a:spcPct val="115000"/>
              </a:lnSpc>
            </a:pPr>
            <a:r>
              <a:rPr sz="2000" b="1">
                <a:solidFill>
                  <a:srgbClr val="FFFFFF"/>
                </a:solidFill>
                <a:latin typeface="Helvetica Neue"/>
                <a:ea typeface="Helvetica Neue"/>
                <a:cs typeface="Helvetica Neue"/>
              </a:rPr>
              <a:t>2024</a:t>
            </a:r>
          </a:p>
        </p:txBody>
      </p:sp>
      <p:sp>
        <p:nvSpPr>
          <p:cNvPr id="22" name="TextBox 21"/>
          <p:cNvSpPr txBox="1"/>
          <p:nvPr/>
        </p:nvSpPr>
        <p:spPr>
          <a:xfrm>
            <a:off x="4572000" y="2377440"/>
            <a:ext cx="3108960" cy="548640"/>
          </a:xfrm>
          <a:prstGeom prst="rect">
            <a:avLst/>
          </a:prstGeom>
          <a:noFill/>
        </p:spPr>
        <p:txBody>
          <a:bodyPr wrap="square" anchor="t" lIns="0" rIns="0" tIns="0" bIns="0">
            <a:spAutoFit/>
          </a:bodyPr>
          <a:lstStyle/>
          <a:p>
            <a:pPr algn="l">
              <a:lnSpc>
                <a:spcPct val="120000"/>
              </a:lnSpc>
            </a:pPr>
            <a:r>
              <a:rPr sz="2000" b="1">
                <a:solidFill>
                  <a:srgbClr val="0F2A4F"/>
                </a:solidFill>
                <a:latin typeface="Hiragino Sans"/>
                <a:ea typeface="Hiragino Sans"/>
                <a:cs typeface="Hiragino Sans"/>
              </a:rPr>
              <a:t>画像・動画生成</a:t>
            </a:r>
          </a:p>
        </p:txBody>
      </p:sp>
      <p:sp>
        <p:nvSpPr>
          <p:cNvPr id="23" name="Rectangle 22"/>
          <p:cNvSpPr/>
          <p:nvPr/>
        </p:nvSpPr>
        <p:spPr>
          <a:xfrm>
            <a:off x="4572000" y="3017520"/>
            <a:ext cx="310896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15468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代表的ツール</a:t>
            </a:r>
          </a:p>
        </p:txBody>
      </p:sp>
      <p:sp>
        <p:nvSpPr>
          <p:cNvPr id="25" name="TextBox 24"/>
          <p:cNvSpPr txBox="1"/>
          <p:nvPr/>
        </p:nvSpPr>
        <p:spPr>
          <a:xfrm>
            <a:off x="4572000" y="3429000"/>
            <a:ext cx="3108960" cy="1188720"/>
          </a:xfrm>
          <a:prstGeom prst="rect">
            <a:avLst/>
          </a:prstGeom>
          <a:noFill/>
        </p:spPr>
        <p:txBody>
          <a:bodyPr wrap="square" anchor="t" lIns="0" rIns="0" tIns="0" bIns="0">
            <a:spAutoFit/>
          </a:bodyPr>
          <a:lstStyle/>
          <a:p>
            <a:pPr algn="l">
              <a:lnSpc>
                <a:spcPct val="140000"/>
              </a:lnSpc>
            </a:pPr>
            <a:r>
              <a:rPr sz="1100" b="0">
                <a:solidFill>
                  <a:srgbClr val="1A1A1A"/>
                </a:solidFill>
                <a:latin typeface="Helvetica Neue"/>
                <a:ea typeface="Helvetica Neue"/>
                <a:cs typeface="Helvetica Neue"/>
              </a:rPr>
              <a:t>Midjourney / DALL·E / Firefly / Sora / Veo / Runway</a:t>
            </a:r>
          </a:p>
        </p:txBody>
      </p:sp>
      <p:sp>
        <p:nvSpPr>
          <p:cNvPr id="26" name="TextBox 25"/>
          <p:cNvSpPr txBox="1"/>
          <p:nvPr/>
        </p:nvSpPr>
        <p:spPr>
          <a:xfrm>
            <a:off x="4572000" y="466344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広告業界インパクト</a:t>
            </a:r>
          </a:p>
        </p:txBody>
      </p:sp>
      <p:sp>
        <p:nvSpPr>
          <p:cNvPr id="27" name="TextBox 26"/>
          <p:cNvSpPr txBox="1"/>
          <p:nvPr/>
        </p:nvSpPr>
        <p:spPr>
          <a:xfrm>
            <a:off x="4572000" y="4937760"/>
            <a:ext cx="3108960" cy="9144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クリエイティブ制作そのものが変容。</a:t>
            </a:r>
          </a:p>
          <a:p>
            <a:pPr algn="l">
              <a:lnSpc>
                <a:spcPct val="150000"/>
              </a:lnSpc>
            </a:pPr>
            <a:r>
              <a:rPr sz="1100" b="0">
                <a:solidFill>
                  <a:srgbClr val="1A1A1A"/>
                </a:solidFill>
                <a:latin typeface="Hiragino Sans"/>
                <a:ea typeface="Hiragino Sans"/>
                <a:cs typeface="Hiragino Sans"/>
              </a:rPr>
              <a:t>デザイナー役割の再定義</a:t>
            </a:r>
          </a:p>
        </p:txBody>
      </p:sp>
      <p:sp>
        <p:nvSpPr>
          <p:cNvPr id="28" name="Rounded Rectangle 27"/>
          <p:cNvSpPr/>
          <p:nvPr/>
        </p:nvSpPr>
        <p:spPr>
          <a:xfrm>
            <a:off x="8046720" y="1417320"/>
            <a:ext cx="3657600" cy="45720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1417320"/>
            <a:ext cx="3657600" cy="777240"/>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1508760"/>
            <a:ext cx="3108960" cy="320040"/>
          </a:xfrm>
          <a:prstGeom prst="rect">
            <a:avLst/>
          </a:prstGeom>
          <a:noFill/>
        </p:spPr>
        <p:txBody>
          <a:bodyPr wrap="square" anchor="t" lIns="0" rIns="0" tIns="0" bIns="0">
            <a:spAutoFit/>
          </a:bodyPr>
          <a:lstStyle/>
          <a:p>
            <a:pPr algn="l">
              <a:lnSpc>
                <a:spcPct val="115000"/>
              </a:lnSpc>
            </a:pPr>
            <a:r>
              <a:rPr sz="1400" b="1">
                <a:solidFill>
                  <a:srgbClr val="E87722"/>
                </a:solidFill>
                <a:latin typeface="Helvetica Neue"/>
                <a:ea typeface="Helvetica Neue"/>
                <a:cs typeface="Helvetica Neue"/>
              </a:rPr>
              <a:t>第3波</a:t>
            </a:r>
          </a:p>
        </p:txBody>
      </p:sp>
      <p:sp>
        <p:nvSpPr>
          <p:cNvPr id="31" name="TextBox 30"/>
          <p:cNvSpPr txBox="1"/>
          <p:nvPr/>
        </p:nvSpPr>
        <p:spPr>
          <a:xfrm>
            <a:off x="8321040" y="1783080"/>
            <a:ext cx="3108960" cy="320040"/>
          </a:xfrm>
          <a:prstGeom prst="rect">
            <a:avLst/>
          </a:prstGeom>
          <a:noFill/>
        </p:spPr>
        <p:txBody>
          <a:bodyPr wrap="square" anchor="t" lIns="0" rIns="0" tIns="0" bIns="0">
            <a:spAutoFit/>
          </a:bodyPr>
          <a:lstStyle/>
          <a:p>
            <a:pPr algn="l">
              <a:lnSpc>
                <a:spcPct val="115000"/>
              </a:lnSpc>
            </a:pPr>
            <a:r>
              <a:rPr sz="2000" b="1">
                <a:solidFill>
                  <a:srgbClr val="FFFFFF"/>
                </a:solidFill>
                <a:latin typeface="Helvetica Neue"/>
                <a:ea typeface="Helvetica Neue"/>
                <a:cs typeface="Helvetica Neue"/>
              </a:rPr>
              <a:t>2025-</a:t>
            </a:r>
          </a:p>
        </p:txBody>
      </p:sp>
      <p:sp>
        <p:nvSpPr>
          <p:cNvPr id="32" name="TextBox 31"/>
          <p:cNvSpPr txBox="1"/>
          <p:nvPr/>
        </p:nvSpPr>
        <p:spPr>
          <a:xfrm>
            <a:off x="8321040" y="2377440"/>
            <a:ext cx="3108960" cy="548640"/>
          </a:xfrm>
          <a:prstGeom prst="rect">
            <a:avLst/>
          </a:prstGeom>
          <a:noFill/>
        </p:spPr>
        <p:txBody>
          <a:bodyPr wrap="square" anchor="t" lIns="0" rIns="0" tIns="0" bIns="0">
            <a:spAutoFit/>
          </a:bodyPr>
          <a:lstStyle/>
          <a:p>
            <a:pPr algn="l">
              <a:lnSpc>
                <a:spcPct val="120000"/>
              </a:lnSpc>
            </a:pPr>
            <a:r>
              <a:rPr sz="2000" b="1">
                <a:solidFill>
                  <a:srgbClr val="0F2A4F"/>
                </a:solidFill>
                <a:latin typeface="Hiragino Sans"/>
                <a:ea typeface="Hiragino Sans"/>
                <a:cs typeface="Hiragino Sans"/>
              </a:rPr>
              <a:t>運用AI / エージェント</a:t>
            </a:r>
          </a:p>
        </p:txBody>
      </p:sp>
      <p:sp>
        <p:nvSpPr>
          <p:cNvPr id="33" name="Rectangle 32"/>
          <p:cNvSpPr/>
          <p:nvPr/>
        </p:nvSpPr>
        <p:spPr>
          <a:xfrm>
            <a:off x="8321040" y="3017520"/>
            <a:ext cx="3108960" cy="13716"/>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315468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代表的ツール</a:t>
            </a:r>
          </a:p>
        </p:txBody>
      </p:sp>
      <p:sp>
        <p:nvSpPr>
          <p:cNvPr id="35" name="TextBox 34"/>
          <p:cNvSpPr txBox="1"/>
          <p:nvPr/>
        </p:nvSpPr>
        <p:spPr>
          <a:xfrm>
            <a:off x="8321040" y="3429000"/>
            <a:ext cx="3108960" cy="1188720"/>
          </a:xfrm>
          <a:prstGeom prst="rect">
            <a:avLst/>
          </a:prstGeom>
          <a:noFill/>
        </p:spPr>
        <p:txBody>
          <a:bodyPr wrap="square" anchor="t" lIns="0" rIns="0" tIns="0" bIns="0">
            <a:spAutoFit/>
          </a:bodyPr>
          <a:lstStyle/>
          <a:p>
            <a:pPr algn="l">
              <a:lnSpc>
                <a:spcPct val="140000"/>
              </a:lnSpc>
            </a:pPr>
            <a:r>
              <a:rPr sz="1100" b="0">
                <a:solidFill>
                  <a:srgbClr val="1A1A1A"/>
                </a:solidFill>
                <a:latin typeface="Helvetica Neue"/>
                <a:ea typeface="Helvetica Neue"/>
                <a:cs typeface="Helvetica Neue"/>
              </a:rPr>
              <a:t>PMax / Advantage+ / Smart+ / Claude Computer Use / Operator</a:t>
            </a:r>
          </a:p>
        </p:txBody>
      </p:sp>
      <p:sp>
        <p:nvSpPr>
          <p:cNvPr id="36" name="TextBox 35"/>
          <p:cNvSpPr txBox="1"/>
          <p:nvPr/>
        </p:nvSpPr>
        <p:spPr>
          <a:xfrm>
            <a:off x="8321040" y="4663440"/>
            <a:ext cx="3108960" cy="274320"/>
          </a:xfrm>
          <a:prstGeom prst="rect">
            <a:avLst/>
          </a:prstGeom>
          <a:noFill/>
        </p:spPr>
        <p:txBody>
          <a:bodyPr wrap="square" anchor="t" lIns="0" rIns="0" tIns="0" bIns="0">
            <a:spAutoFit/>
          </a:bodyPr>
          <a:lstStyle/>
          <a:p>
            <a:pPr algn="l">
              <a:lnSpc>
                <a:spcPct val="115000"/>
              </a:lnSpc>
            </a:pPr>
            <a:r>
              <a:rPr sz="1000" b="1">
                <a:solidFill>
                  <a:srgbClr val="B85E1A"/>
                </a:solidFill>
                <a:latin typeface="Hiragino Sans"/>
                <a:ea typeface="Hiragino Sans"/>
                <a:cs typeface="Hiragino Sans"/>
              </a:rPr>
              <a:t>広告業界インパクト</a:t>
            </a:r>
          </a:p>
        </p:txBody>
      </p:sp>
      <p:sp>
        <p:nvSpPr>
          <p:cNvPr id="37" name="TextBox 36"/>
          <p:cNvSpPr txBox="1"/>
          <p:nvPr/>
        </p:nvSpPr>
        <p:spPr>
          <a:xfrm>
            <a:off x="8321040" y="4937760"/>
            <a:ext cx="3108960" cy="9144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運用オペレーション自体が自動化。</a:t>
            </a:r>
          </a:p>
          <a:p>
            <a:pPr algn="l">
              <a:lnSpc>
                <a:spcPct val="150000"/>
              </a:lnSpc>
            </a:pPr>
            <a:r>
              <a:rPr sz="1100" b="0">
                <a:solidFill>
                  <a:srgbClr val="1A1A1A"/>
                </a:solidFill>
                <a:latin typeface="Hiragino Sans"/>
                <a:ea typeface="Hiragino Sans"/>
                <a:cs typeface="Hiragino Sans"/>
              </a:rPr>
              <a:t>運用職は『AIを導く』役へ</a:t>
            </a:r>
          </a:p>
        </p:txBody>
      </p:sp>
      <p:sp>
        <p:nvSpPr>
          <p:cNvPr id="38" name="Rounded Rectangle 37"/>
          <p:cNvSpPr/>
          <p:nvPr/>
        </p:nvSpPr>
        <p:spPr>
          <a:xfrm>
            <a:off x="548640" y="6080760"/>
            <a:ext cx="11109960" cy="32004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6126480"/>
            <a:ext cx="10972800" cy="274320"/>
          </a:xfrm>
          <a:prstGeom prst="rect">
            <a:avLst/>
          </a:prstGeom>
          <a:noFill/>
        </p:spPr>
        <p:txBody>
          <a:bodyPr wrap="square" anchor="t" lIns="0" rIns="0" tIns="0" bIns="0">
            <a:spAutoFit/>
          </a:bodyPr>
          <a:lstStyle/>
          <a:p>
            <a:pPr algn="l">
              <a:lnSpc>
                <a:spcPct val="115000"/>
              </a:lnSpc>
            </a:pPr>
            <a:r>
              <a:rPr sz="1100" b="1">
                <a:solidFill>
                  <a:srgbClr val="B85E1A"/>
                </a:solidFill>
                <a:latin typeface="Hiragino Sans"/>
                <a:ea typeface="Hiragino Sans"/>
                <a:cs typeface="Hiragino Sans"/>
              </a:rPr>
              <a:t>共通パターン : 各波で『AIを導く』人間の介在が減少、差別化は意思決定と翻訳に移動</a:t>
            </a:r>
          </a:p>
        </p:txBody>
      </p:sp>
      <p:sp>
        <p:nvSpPr>
          <p:cNvPr id="40" name="TextBox 39"/>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AI検索の勃興 2024→2026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『青いリンク』検索の終わりの始まり</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P26 / 250</a:t>
            </a:r>
          </a:p>
        </p:txBody>
      </p:sp>
      <p:sp>
        <p:nvSpPr>
          <p:cNvPr id="8" name="Rounded Rectangle 7"/>
          <p:cNvSpPr/>
          <p:nvPr/>
        </p:nvSpPr>
        <p:spPr>
          <a:xfrm>
            <a:off x="548640" y="1417320"/>
            <a:ext cx="2697480" cy="3840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2331720" cy="73152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Google</a:t>
            </a:r>
          </a:p>
          <a:p>
            <a:pPr algn="l">
              <a:lnSpc>
                <a:spcPct val="120000"/>
              </a:lnSpc>
            </a:pPr>
            <a:r>
              <a:rPr sz="1400" b="1">
                <a:solidFill>
                  <a:srgbClr val="0F2A4F"/>
                </a:solidFill>
                <a:latin typeface="Hiragino Sans"/>
                <a:ea typeface="Hiragino Sans"/>
                <a:cs typeface="Hiragino Sans"/>
              </a:rPr>
              <a:t>AI Overview</a:t>
            </a:r>
          </a:p>
        </p:txBody>
      </p:sp>
      <p:sp>
        <p:nvSpPr>
          <p:cNvPr id="11" name="TextBox 10"/>
          <p:cNvSpPr txBox="1"/>
          <p:nvPr/>
        </p:nvSpPr>
        <p:spPr>
          <a:xfrm>
            <a:off x="731520" y="2560320"/>
            <a:ext cx="23317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2024/05/14</a:t>
            </a:r>
          </a:p>
        </p:txBody>
      </p:sp>
      <p:sp>
        <p:nvSpPr>
          <p:cNvPr id="12" name="Rectangle 11"/>
          <p:cNvSpPr/>
          <p:nvPr/>
        </p:nvSpPr>
        <p:spPr>
          <a:xfrm>
            <a:off x="731520" y="2880360"/>
            <a:ext cx="23317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17520"/>
            <a:ext cx="2331720" cy="2103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Google検索結果上部にAI要約を表示。</a:t>
            </a:r>
          </a:p>
          <a:p>
            <a:pPr algn="l">
              <a:lnSpc>
                <a:spcPct val="150000"/>
              </a:lnSpc>
            </a:pPr>
            <a:r>
              <a:rPr sz="1000" b="0">
                <a:solidFill>
                  <a:srgbClr val="1A1A1A"/>
                </a:solidFill>
                <a:latin typeface="Hiragino Sans"/>
                <a:ea typeface="Hiragino Sans"/>
                <a:cs typeface="Hiragino Sans"/>
              </a:rPr>
              <a:t>従来の青いリンクトラフィックを一部置換。</a:t>
            </a:r>
          </a:p>
          <a:p>
            <a:pPr algn="l">
              <a:lnSpc>
                <a:spcPct val="150000"/>
              </a:lnSpc>
            </a:pPr>
            <a:r>
              <a:rPr sz="1000" b="0">
                <a:solidFill>
                  <a:srgbClr val="1A1A1A"/>
                </a:solidFill>
                <a:latin typeface="Hiragino Sans"/>
                <a:ea typeface="Hiragino Sans"/>
                <a:cs typeface="Hiragino Sans"/>
              </a:rPr>
              <a:t>影響: SEOでの情報収集型クエリのトラフィック減</a:t>
            </a:r>
          </a:p>
        </p:txBody>
      </p:sp>
      <p:sp>
        <p:nvSpPr>
          <p:cNvPr id="14" name="Rounded Rectangle 13"/>
          <p:cNvSpPr/>
          <p:nvPr/>
        </p:nvSpPr>
        <p:spPr>
          <a:xfrm>
            <a:off x="3337560" y="1417320"/>
            <a:ext cx="2697480" cy="3840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141732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1691640"/>
            <a:ext cx="2331720" cy="73152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ChatGPT</a:t>
            </a:r>
          </a:p>
          <a:p>
            <a:pPr algn="l">
              <a:lnSpc>
                <a:spcPct val="120000"/>
              </a:lnSpc>
            </a:pPr>
            <a:r>
              <a:rPr sz="1400" b="1">
                <a:solidFill>
                  <a:srgbClr val="0F2A4F"/>
                </a:solidFill>
                <a:latin typeface="Hiragino Sans"/>
                <a:ea typeface="Hiragino Sans"/>
                <a:cs typeface="Hiragino Sans"/>
              </a:rPr>
              <a:t>Search</a:t>
            </a:r>
          </a:p>
        </p:txBody>
      </p:sp>
      <p:sp>
        <p:nvSpPr>
          <p:cNvPr id="17" name="TextBox 16"/>
          <p:cNvSpPr txBox="1"/>
          <p:nvPr/>
        </p:nvSpPr>
        <p:spPr>
          <a:xfrm>
            <a:off x="3520440" y="2560320"/>
            <a:ext cx="23317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2024/10</a:t>
            </a:r>
          </a:p>
        </p:txBody>
      </p:sp>
      <p:sp>
        <p:nvSpPr>
          <p:cNvPr id="18" name="Rectangle 17"/>
          <p:cNvSpPr/>
          <p:nvPr/>
        </p:nvSpPr>
        <p:spPr>
          <a:xfrm>
            <a:off x="3520440" y="2880360"/>
            <a:ext cx="23317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3017520"/>
            <a:ext cx="2331720" cy="2103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ChatGPT内の Web検索機能。</a:t>
            </a:r>
          </a:p>
          <a:p>
            <a:pPr algn="l">
              <a:lnSpc>
                <a:spcPct val="150000"/>
              </a:lnSpc>
            </a:pPr>
            <a:r>
              <a:rPr sz="1000" b="0">
                <a:solidFill>
                  <a:srgbClr val="1A1A1A"/>
                </a:solidFill>
                <a:latin typeface="Hiragino Sans"/>
                <a:ea typeface="Hiragino Sans"/>
                <a:cs typeface="Hiragino Sans"/>
              </a:rPr>
              <a:t>ユーザーはリンク列挙でなく回答で消費。</a:t>
            </a:r>
          </a:p>
          <a:p>
            <a:pPr algn="l">
              <a:lnSpc>
                <a:spcPct val="150000"/>
              </a:lnSpc>
            </a:pPr>
            <a:r>
              <a:rPr sz="1000" b="0">
                <a:solidFill>
                  <a:srgbClr val="1A1A1A"/>
                </a:solidFill>
                <a:latin typeface="Hiragino Sans"/>
                <a:ea typeface="Hiragino Sans"/>
                <a:cs typeface="Hiragino Sans"/>
              </a:rPr>
              <a:t>OpenAI Search Experience 内の広告枠も登場予定</a:t>
            </a:r>
          </a:p>
        </p:txBody>
      </p:sp>
      <p:sp>
        <p:nvSpPr>
          <p:cNvPr id="20" name="Rounded Rectangle 19"/>
          <p:cNvSpPr/>
          <p:nvPr/>
        </p:nvSpPr>
        <p:spPr>
          <a:xfrm>
            <a:off x="6126480" y="1417320"/>
            <a:ext cx="2697480" cy="3840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141732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691640"/>
            <a:ext cx="2331720" cy="73152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Perplexity</a:t>
            </a:r>
          </a:p>
        </p:txBody>
      </p:sp>
      <p:sp>
        <p:nvSpPr>
          <p:cNvPr id="23" name="TextBox 22"/>
          <p:cNvSpPr txBox="1"/>
          <p:nvPr/>
        </p:nvSpPr>
        <p:spPr>
          <a:xfrm>
            <a:off x="6309360" y="2560320"/>
            <a:ext cx="23317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2023-2024急成長</a:t>
            </a:r>
          </a:p>
        </p:txBody>
      </p:sp>
      <p:sp>
        <p:nvSpPr>
          <p:cNvPr id="24" name="Rectangle 23"/>
          <p:cNvSpPr/>
          <p:nvPr/>
        </p:nvSpPr>
        <p:spPr>
          <a:xfrm>
            <a:off x="6309360" y="2880360"/>
            <a:ext cx="23317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017520"/>
            <a:ext cx="2331720" cy="2103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直接回答型検索エンジン。</a:t>
            </a:r>
          </a:p>
          <a:p>
            <a:pPr algn="l">
              <a:lnSpc>
                <a:spcPct val="150000"/>
              </a:lnSpc>
            </a:pPr>
            <a:r>
              <a:rPr sz="1000" b="0">
                <a:solidFill>
                  <a:srgbClr val="1A1A1A"/>
                </a:solidFill>
                <a:latin typeface="Hiragino Sans"/>
                <a:ea typeface="Hiragino Sans"/>
                <a:cs typeface="Hiragino Sans"/>
              </a:rPr>
              <a:t>情報源明示付き。広告枠を2024年から導入。</a:t>
            </a:r>
          </a:p>
          <a:p>
            <a:pPr algn="l">
              <a:lnSpc>
                <a:spcPct val="150000"/>
              </a:lnSpc>
            </a:pPr>
            <a:r>
              <a:rPr sz="1000" b="0">
                <a:solidFill>
                  <a:srgbClr val="1A1A1A"/>
                </a:solidFill>
                <a:latin typeface="Hiragino Sans"/>
                <a:ea typeface="Hiragino Sans"/>
                <a:cs typeface="Hiragino Sans"/>
              </a:rPr>
              <a:t>企業契約型 Perplexity Enterprise Pro</a:t>
            </a:r>
          </a:p>
        </p:txBody>
      </p:sp>
      <p:sp>
        <p:nvSpPr>
          <p:cNvPr id="26" name="Rounded Rectangle 25"/>
          <p:cNvSpPr/>
          <p:nvPr/>
        </p:nvSpPr>
        <p:spPr>
          <a:xfrm>
            <a:off x="8915400" y="1417320"/>
            <a:ext cx="2697480" cy="38404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15400" y="1417320"/>
            <a:ext cx="2697480" cy="109728"/>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98280" y="1691640"/>
            <a:ext cx="2331720" cy="731520"/>
          </a:xfrm>
          <a:prstGeom prst="rect">
            <a:avLst/>
          </a:prstGeom>
          <a:noFill/>
        </p:spPr>
        <p:txBody>
          <a:bodyPr wrap="square" anchor="t" lIns="0" rIns="0" tIns="0" bIns="0">
            <a:spAutoFit/>
          </a:bodyPr>
          <a:lstStyle/>
          <a:p>
            <a:pPr algn="l">
              <a:lnSpc>
                <a:spcPct val="120000"/>
              </a:lnSpc>
            </a:pPr>
            <a:r>
              <a:rPr sz="1400" b="1">
                <a:solidFill>
                  <a:srgbClr val="0F2A4F"/>
                </a:solidFill>
                <a:latin typeface="Hiragino Sans"/>
                <a:ea typeface="Hiragino Sans"/>
                <a:cs typeface="Hiragino Sans"/>
              </a:rPr>
              <a:t>Claude + Web</a:t>
            </a:r>
          </a:p>
        </p:txBody>
      </p:sp>
      <p:sp>
        <p:nvSpPr>
          <p:cNvPr id="29" name="TextBox 28"/>
          <p:cNvSpPr txBox="1"/>
          <p:nvPr/>
        </p:nvSpPr>
        <p:spPr>
          <a:xfrm>
            <a:off x="9098280" y="2560320"/>
            <a:ext cx="2331720" cy="274320"/>
          </a:xfrm>
          <a:prstGeom prst="rect">
            <a:avLst/>
          </a:prstGeom>
          <a:noFill/>
        </p:spPr>
        <p:txBody>
          <a:bodyPr wrap="square" anchor="t" lIns="0" rIns="0" tIns="0" bIns="0">
            <a:spAutoFit/>
          </a:bodyPr>
          <a:lstStyle/>
          <a:p>
            <a:pPr algn="l">
              <a:lnSpc>
                <a:spcPct val="115000"/>
              </a:lnSpc>
            </a:pPr>
            <a:r>
              <a:rPr sz="1000" b="1">
                <a:solidFill>
                  <a:srgbClr val="E87722"/>
                </a:solidFill>
                <a:latin typeface="Helvetica Neue"/>
                <a:ea typeface="Helvetica Neue"/>
                <a:cs typeface="Helvetica Neue"/>
              </a:rPr>
              <a:t>2025</a:t>
            </a:r>
          </a:p>
        </p:txBody>
      </p:sp>
      <p:sp>
        <p:nvSpPr>
          <p:cNvPr id="30" name="Rectangle 29"/>
          <p:cNvSpPr/>
          <p:nvPr/>
        </p:nvSpPr>
        <p:spPr>
          <a:xfrm>
            <a:off x="9098280" y="2880360"/>
            <a:ext cx="233172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280" y="3017520"/>
            <a:ext cx="2331720" cy="2103120"/>
          </a:xfrm>
          <a:prstGeom prst="rect">
            <a:avLst/>
          </a:prstGeom>
          <a:noFill/>
        </p:spPr>
        <p:txBody>
          <a:bodyPr wrap="square" anchor="t" lIns="0" rIns="0" tIns="0" bIns="0">
            <a:spAutoFit/>
          </a:bodyPr>
          <a:lstStyle/>
          <a:p>
            <a:pPr algn="l">
              <a:lnSpc>
                <a:spcPct val="150000"/>
              </a:lnSpc>
            </a:pPr>
            <a:r>
              <a:rPr sz="1000" b="0">
                <a:solidFill>
                  <a:srgbClr val="1A1A1A"/>
                </a:solidFill>
                <a:latin typeface="Hiragino Sans"/>
                <a:ea typeface="Hiragino Sans"/>
                <a:cs typeface="Hiragino Sans"/>
              </a:rPr>
              <a:t>Anthropic Claude の Web検索機能。</a:t>
            </a:r>
          </a:p>
          <a:p>
            <a:pPr algn="l">
              <a:lnSpc>
                <a:spcPct val="150000"/>
              </a:lnSpc>
            </a:pPr>
            <a:r>
              <a:rPr sz="1000" b="0">
                <a:solidFill>
                  <a:srgbClr val="1A1A1A"/>
                </a:solidFill>
                <a:latin typeface="Hiragino Sans"/>
                <a:ea typeface="Hiragino Sans"/>
                <a:cs typeface="Hiragino Sans"/>
              </a:rPr>
              <a:t>プロフェッショナル用途で支持</a:t>
            </a:r>
          </a:p>
        </p:txBody>
      </p:sp>
      <p:sp>
        <p:nvSpPr>
          <p:cNvPr id="32" name="Rounded Rectangle 31"/>
          <p:cNvSpPr/>
          <p:nvPr/>
        </p:nvSpPr>
        <p:spPr>
          <a:xfrm>
            <a:off x="548640" y="5394960"/>
            <a:ext cx="11109960" cy="96012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486400"/>
            <a:ext cx="3657600" cy="274320"/>
          </a:xfrm>
          <a:prstGeom prst="rect">
            <a:avLst/>
          </a:prstGeom>
          <a:noFill/>
        </p:spPr>
        <p:txBody>
          <a:bodyPr wrap="square" anchor="t" lIns="0" rIns="0" tIns="0" bIns="0">
            <a:spAutoFit/>
          </a:bodyPr>
          <a:lstStyle/>
          <a:p>
            <a:pPr algn="l">
              <a:lnSpc>
                <a:spcPct val="115000"/>
              </a:lnSpc>
            </a:pPr>
            <a:r>
              <a:rPr sz="1100" b="1">
                <a:solidFill>
                  <a:srgbClr val="E87722"/>
                </a:solidFill>
                <a:latin typeface="Hiragino Sans"/>
                <a:ea typeface="Hiragino Sans"/>
                <a:cs typeface="Hiragino Sans"/>
              </a:rPr>
              <a:t>SEO への影響</a:t>
            </a:r>
          </a:p>
        </p:txBody>
      </p:sp>
      <p:sp>
        <p:nvSpPr>
          <p:cNvPr id="34" name="TextBox 33"/>
          <p:cNvSpPr txBox="1"/>
          <p:nvPr/>
        </p:nvSpPr>
        <p:spPr>
          <a:xfrm>
            <a:off x="777240" y="5760720"/>
            <a:ext cx="10972800" cy="548640"/>
          </a:xfrm>
          <a:prstGeom prst="rect">
            <a:avLst/>
          </a:prstGeom>
          <a:noFill/>
        </p:spPr>
        <p:txBody>
          <a:bodyPr wrap="square" anchor="t" lIns="0" rIns="0" tIns="0" bIns="0">
            <a:spAutoFit/>
          </a:bodyPr>
          <a:lstStyle/>
          <a:p>
            <a:pPr algn="l">
              <a:lnSpc>
                <a:spcPct val="145000"/>
              </a:lnSpc>
            </a:pPr>
            <a:r>
              <a:rPr sz="1100" b="0">
                <a:solidFill>
                  <a:srgbClr val="FFFFFF"/>
                </a:solidFill>
                <a:latin typeface="Hiragino Sans"/>
                <a:ea typeface="Hiragino Sans"/>
                <a:cs typeface="Hiragino Sans"/>
              </a:rPr>
              <a:t>情報収集型クエリで -10% 〜 -30% のクリック減が観測される事例多数。</a:t>
            </a:r>
          </a:p>
          <a:p>
            <a:pPr algn="l">
              <a:lnSpc>
                <a:spcPct val="145000"/>
              </a:lnSpc>
            </a:pPr>
            <a:r>
              <a:rPr sz="1100" b="0">
                <a:solidFill>
                  <a:srgbClr val="FFFFFF"/>
                </a:solidFill>
                <a:latin typeface="Hiragino Sans"/>
                <a:ea typeface="Hiragino Sans"/>
                <a:cs typeface="Hiragino Sans"/>
              </a:rPr>
              <a:t>ブランド検索・Transactional クエリは影響軽微 (※測定手法・業界で差) ※要確認</a:t>
            </a:r>
          </a:p>
        </p:txBody>
      </p:sp>
      <p:sp>
        <p:nvSpPr>
          <p:cNvPr id="35" name="TextBox 34"/>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GEO (Generative Engine Optimization)</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LLMに引用される情報源になる新しい最適化領域</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P27 / 250</a:t>
            </a:r>
          </a:p>
        </p:txBody>
      </p:sp>
      <p:sp>
        <p:nvSpPr>
          <p:cNvPr id="8" name="Rounded Rectangle 7"/>
          <p:cNvSpPr/>
          <p:nvPr/>
        </p:nvSpPr>
        <p:spPr>
          <a:xfrm>
            <a:off x="548640" y="1371600"/>
            <a:ext cx="11109960" cy="1188720"/>
          </a:xfrm>
          <a:prstGeom prst="roundRect">
            <a:avLst>
              <a:gd name="adj" fmla="val 6000"/>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08760"/>
            <a:ext cx="2743200" cy="27432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GEO とは</a:t>
            </a:r>
          </a:p>
        </p:txBody>
      </p:sp>
      <p:sp>
        <p:nvSpPr>
          <p:cNvPr id="10" name="TextBox 9"/>
          <p:cNvSpPr txBox="1"/>
          <p:nvPr/>
        </p:nvSpPr>
        <p:spPr>
          <a:xfrm>
            <a:off x="777240" y="1783080"/>
            <a:ext cx="10972800" cy="7772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Generative Engine Optimization。Google AI Overview / ChatGPT Search /</a:t>
            </a:r>
          </a:p>
          <a:p>
            <a:pPr algn="l">
              <a:lnSpc>
                <a:spcPct val="150000"/>
              </a:lnSpc>
            </a:pPr>
            <a:r>
              <a:rPr sz="1100" b="0">
                <a:solidFill>
                  <a:srgbClr val="1A1A1A"/>
                </a:solidFill>
                <a:latin typeface="Hiragino Sans"/>
                <a:ea typeface="Hiragino Sans"/>
                <a:cs typeface="Hiragino Sans"/>
              </a:rPr>
              <a:t>Perplexity 等の LLM検索が『回答で引用する情報源』になるための最適化技術。</a:t>
            </a:r>
          </a:p>
          <a:p>
            <a:pPr algn="l">
              <a:lnSpc>
                <a:spcPct val="150000"/>
              </a:lnSpc>
            </a:pPr>
            <a:r>
              <a:rPr sz="1100" b="0">
                <a:solidFill>
                  <a:srgbClr val="1A1A1A"/>
                </a:solidFill>
                <a:latin typeface="Hiragino Sans"/>
                <a:ea typeface="Hiragino Sans"/>
                <a:cs typeface="Hiragino Sans"/>
              </a:rPr>
              <a:t>SEOの後継/拡張として2024年後半から急速に用語定着</a:t>
            </a:r>
          </a:p>
        </p:txBody>
      </p:sp>
      <p:sp>
        <p:nvSpPr>
          <p:cNvPr id="11" name="TextBox 10"/>
          <p:cNvSpPr txBox="1"/>
          <p:nvPr/>
        </p:nvSpPr>
        <p:spPr>
          <a:xfrm>
            <a:off x="548640" y="2743200"/>
            <a:ext cx="5486400" cy="32004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主な手法</a:t>
            </a:r>
          </a:p>
        </p:txBody>
      </p:sp>
      <p:sp>
        <p:nvSpPr>
          <p:cNvPr id="12" name="Rectangle 11"/>
          <p:cNvSpPr/>
          <p:nvPr/>
        </p:nvSpPr>
        <p:spPr>
          <a:xfrm>
            <a:off x="548640" y="306324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315468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9184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01</a:t>
            </a:r>
          </a:p>
        </p:txBody>
      </p:sp>
      <p:sp>
        <p:nvSpPr>
          <p:cNvPr id="15" name="TextBox 14"/>
          <p:cNvSpPr txBox="1"/>
          <p:nvPr/>
        </p:nvSpPr>
        <p:spPr>
          <a:xfrm>
            <a:off x="1325880" y="333756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構造化データ・FAQ形式</a:t>
            </a:r>
          </a:p>
        </p:txBody>
      </p:sp>
      <p:sp>
        <p:nvSpPr>
          <p:cNvPr id="16" name="TextBox 15"/>
          <p:cNvSpPr txBox="1"/>
          <p:nvPr/>
        </p:nvSpPr>
        <p:spPr>
          <a:xfrm>
            <a:off x="731520" y="370332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Schema.org / HowTo / FAQPage。</a:t>
            </a:r>
          </a:p>
          <a:p>
            <a:pPr algn="l">
              <a:lnSpc>
                <a:spcPct val="140000"/>
              </a:lnSpc>
            </a:pPr>
            <a:r>
              <a:rPr sz="1000" b="0">
                <a:solidFill>
                  <a:srgbClr val="1A1A1A"/>
                </a:solidFill>
                <a:latin typeface="Hiragino Sans"/>
                <a:ea typeface="Hiragino Sans"/>
                <a:cs typeface="Hiragino Sans"/>
              </a:rPr>
              <a:t>LLMが抽出しやすい形式</a:t>
            </a:r>
          </a:p>
        </p:txBody>
      </p:sp>
      <p:sp>
        <p:nvSpPr>
          <p:cNvPr id="17" name="Rounded Rectangle 16"/>
          <p:cNvSpPr/>
          <p:nvPr/>
        </p:nvSpPr>
        <p:spPr>
          <a:xfrm>
            <a:off x="4297680" y="315468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29184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02</a:t>
            </a:r>
          </a:p>
        </p:txBody>
      </p:sp>
      <p:sp>
        <p:nvSpPr>
          <p:cNvPr id="19" name="TextBox 18"/>
          <p:cNvSpPr txBox="1"/>
          <p:nvPr/>
        </p:nvSpPr>
        <p:spPr>
          <a:xfrm>
            <a:off x="5074920" y="333756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権威性・専門家監修</a:t>
            </a:r>
          </a:p>
        </p:txBody>
      </p:sp>
      <p:sp>
        <p:nvSpPr>
          <p:cNvPr id="20" name="TextBox 19"/>
          <p:cNvSpPr txBox="1"/>
          <p:nvPr/>
        </p:nvSpPr>
        <p:spPr>
          <a:xfrm>
            <a:off x="4480560" y="370332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E-E-A-T準拠。</a:t>
            </a:r>
          </a:p>
          <a:p>
            <a:pPr algn="l">
              <a:lnSpc>
                <a:spcPct val="140000"/>
              </a:lnSpc>
            </a:pPr>
            <a:r>
              <a:rPr sz="1000" b="0">
                <a:solidFill>
                  <a:srgbClr val="1A1A1A"/>
                </a:solidFill>
                <a:latin typeface="Hiragino Sans"/>
                <a:ea typeface="Hiragino Sans"/>
                <a:cs typeface="Hiragino Sans"/>
              </a:rPr>
              <a:t>著者プロフ・資格・実績を明示</a:t>
            </a:r>
          </a:p>
        </p:txBody>
      </p:sp>
      <p:sp>
        <p:nvSpPr>
          <p:cNvPr id="21" name="Rounded Rectangle 20"/>
          <p:cNvSpPr/>
          <p:nvPr/>
        </p:nvSpPr>
        <p:spPr>
          <a:xfrm>
            <a:off x="8046720" y="315468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29184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03</a:t>
            </a:r>
          </a:p>
        </p:txBody>
      </p:sp>
      <p:sp>
        <p:nvSpPr>
          <p:cNvPr id="23" name="TextBox 22"/>
          <p:cNvSpPr txBox="1"/>
          <p:nvPr/>
        </p:nvSpPr>
        <p:spPr>
          <a:xfrm>
            <a:off x="8823960" y="333756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明確な因果・数字</a:t>
            </a:r>
          </a:p>
        </p:txBody>
      </p:sp>
      <p:sp>
        <p:nvSpPr>
          <p:cNvPr id="24" name="TextBox 23"/>
          <p:cNvSpPr txBox="1"/>
          <p:nvPr/>
        </p:nvSpPr>
        <p:spPr>
          <a:xfrm>
            <a:off x="8229600" y="370332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曖昧さを排し、数値・比較を提示。</a:t>
            </a:r>
          </a:p>
          <a:p>
            <a:pPr algn="l">
              <a:lnSpc>
                <a:spcPct val="140000"/>
              </a:lnSpc>
            </a:pPr>
            <a:r>
              <a:rPr sz="1000" b="0">
                <a:solidFill>
                  <a:srgbClr val="1A1A1A"/>
                </a:solidFill>
                <a:latin typeface="Hiragino Sans"/>
                <a:ea typeface="Hiragino Sans"/>
                <a:cs typeface="Hiragino Sans"/>
              </a:rPr>
              <a:t>LLM が引用しやすい文</a:t>
            </a:r>
          </a:p>
        </p:txBody>
      </p:sp>
      <p:sp>
        <p:nvSpPr>
          <p:cNvPr id="25" name="Rounded Rectangle 24"/>
          <p:cNvSpPr/>
          <p:nvPr/>
        </p:nvSpPr>
        <p:spPr>
          <a:xfrm>
            <a:off x="548640" y="466344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80060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04</a:t>
            </a:r>
          </a:p>
        </p:txBody>
      </p:sp>
      <p:sp>
        <p:nvSpPr>
          <p:cNvPr id="27" name="TextBox 26"/>
          <p:cNvSpPr txBox="1"/>
          <p:nvPr/>
        </p:nvSpPr>
        <p:spPr>
          <a:xfrm>
            <a:off x="1325880" y="484632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llms.txt</a:t>
            </a:r>
          </a:p>
        </p:txBody>
      </p:sp>
      <p:sp>
        <p:nvSpPr>
          <p:cNvPr id="28" name="TextBox 27"/>
          <p:cNvSpPr txBox="1"/>
          <p:nvPr/>
        </p:nvSpPr>
        <p:spPr>
          <a:xfrm>
            <a:off x="731520" y="521208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2024末-2025導入。</a:t>
            </a:r>
          </a:p>
          <a:p>
            <a:pPr algn="l">
              <a:lnSpc>
                <a:spcPct val="140000"/>
              </a:lnSpc>
            </a:pPr>
            <a:r>
              <a:rPr sz="1000" b="0">
                <a:solidFill>
                  <a:srgbClr val="1A1A1A"/>
                </a:solidFill>
                <a:latin typeface="Hiragino Sans"/>
                <a:ea typeface="Hiragino Sans"/>
                <a:cs typeface="Hiragino Sans"/>
              </a:rPr>
              <a:t>robots.txt の LLM版</a:t>
            </a:r>
          </a:p>
        </p:txBody>
      </p:sp>
      <p:sp>
        <p:nvSpPr>
          <p:cNvPr id="29" name="Rounded Rectangle 28"/>
          <p:cNvSpPr/>
          <p:nvPr/>
        </p:nvSpPr>
        <p:spPr>
          <a:xfrm>
            <a:off x="4297680" y="466344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480060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05</a:t>
            </a:r>
          </a:p>
        </p:txBody>
      </p:sp>
      <p:sp>
        <p:nvSpPr>
          <p:cNvPr id="31" name="TextBox 30"/>
          <p:cNvSpPr txBox="1"/>
          <p:nvPr/>
        </p:nvSpPr>
        <p:spPr>
          <a:xfrm>
            <a:off x="5074920" y="484632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Reddit / Quora シグナル</a:t>
            </a:r>
          </a:p>
        </p:txBody>
      </p:sp>
      <p:sp>
        <p:nvSpPr>
          <p:cNvPr id="32" name="TextBox 31"/>
          <p:cNvSpPr txBox="1"/>
          <p:nvPr/>
        </p:nvSpPr>
        <p:spPr>
          <a:xfrm>
            <a:off x="4480560" y="521208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LLM 学習データ上での露出。</a:t>
            </a:r>
          </a:p>
          <a:p>
            <a:pPr algn="l">
              <a:lnSpc>
                <a:spcPct val="140000"/>
              </a:lnSpc>
            </a:pPr>
            <a:r>
              <a:rPr sz="1000" b="0">
                <a:solidFill>
                  <a:srgbClr val="1A1A1A"/>
                </a:solidFill>
                <a:latin typeface="Hiragino Sans"/>
                <a:ea typeface="Hiragino Sans"/>
                <a:cs typeface="Hiragino Sans"/>
              </a:rPr>
              <a:t>コミュニティ発信の重要度↑</a:t>
            </a:r>
          </a:p>
        </p:txBody>
      </p:sp>
      <p:sp>
        <p:nvSpPr>
          <p:cNvPr id="33" name="Rounded Rectangle 32"/>
          <p:cNvSpPr/>
          <p:nvPr/>
        </p:nvSpPr>
        <p:spPr>
          <a:xfrm>
            <a:off x="8046720" y="4663440"/>
            <a:ext cx="3611880" cy="137160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0" y="4800600"/>
            <a:ext cx="548640" cy="320040"/>
          </a:xfrm>
          <a:prstGeom prst="rect">
            <a:avLst/>
          </a:prstGeom>
          <a:noFill/>
        </p:spPr>
        <p:txBody>
          <a:bodyPr wrap="square" anchor="t" lIns="0" rIns="0" tIns="0" bIns="0">
            <a:spAutoFit/>
          </a:bodyPr>
          <a:lstStyle/>
          <a:p>
            <a:pPr algn="l">
              <a:lnSpc>
                <a:spcPct val="115000"/>
              </a:lnSpc>
            </a:pPr>
            <a:r>
              <a:rPr sz="2000" b="1">
                <a:solidFill>
                  <a:srgbClr val="E87722"/>
                </a:solidFill>
                <a:latin typeface="Helvetica Neue"/>
                <a:ea typeface="Helvetica Neue"/>
                <a:cs typeface="Helvetica Neue"/>
              </a:rPr>
              <a:t>06</a:t>
            </a:r>
          </a:p>
        </p:txBody>
      </p:sp>
      <p:sp>
        <p:nvSpPr>
          <p:cNvPr id="35" name="TextBox 34"/>
          <p:cNvSpPr txBox="1"/>
          <p:nvPr/>
        </p:nvSpPr>
        <p:spPr>
          <a:xfrm>
            <a:off x="8823960" y="4846320"/>
            <a:ext cx="2697480" cy="274320"/>
          </a:xfrm>
          <a:prstGeom prst="rect">
            <a:avLst/>
          </a:prstGeom>
          <a:noFill/>
        </p:spPr>
        <p:txBody>
          <a:bodyPr wrap="square" anchor="t" lIns="0" rIns="0" tIns="0" bIns="0">
            <a:spAutoFit/>
          </a:bodyPr>
          <a:lstStyle/>
          <a:p>
            <a:pPr algn="l">
              <a:lnSpc>
                <a:spcPct val="115000"/>
              </a:lnSpc>
            </a:pPr>
            <a:r>
              <a:rPr sz="1200" b="1">
                <a:solidFill>
                  <a:srgbClr val="0F2A4F"/>
                </a:solidFill>
                <a:latin typeface="Hiragino Sans"/>
                <a:ea typeface="Hiragino Sans"/>
                <a:cs typeface="Hiragino Sans"/>
              </a:rPr>
              <a:t>ブランドワード化</a:t>
            </a:r>
          </a:p>
        </p:txBody>
      </p:sp>
      <p:sp>
        <p:nvSpPr>
          <p:cNvPr id="36" name="TextBox 35"/>
          <p:cNvSpPr txBox="1"/>
          <p:nvPr/>
        </p:nvSpPr>
        <p:spPr>
          <a:xfrm>
            <a:off x="8229600" y="5212080"/>
            <a:ext cx="3246120" cy="731520"/>
          </a:xfrm>
          <a:prstGeom prst="rect">
            <a:avLst/>
          </a:prstGeom>
          <a:noFill/>
        </p:spPr>
        <p:txBody>
          <a:bodyPr wrap="square" anchor="t" lIns="0" rIns="0" tIns="0" bIns="0">
            <a:spAutoFit/>
          </a:bodyPr>
          <a:lstStyle/>
          <a:p>
            <a:pPr algn="l">
              <a:lnSpc>
                <a:spcPct val="140000"/>
              </a:lnSpc>
            </a:pPr>
            <a:r>
              <a:rPr sz="1000" b="0">
                <a:solidFill>
                  <a:srgbClr val="1A1A1A"/>
                </a:solidFill>
                <a:latin typeface="Hiragino Sans"/>
                <a:ea typeface="Hiragino Sans"/>
                <a:cs typeface="Hiragino Sans"/>
              </a:rPr>
              <a:t>『〇〇といえば〇〇』の</a:t>
            </a:r>
          </a:p>
          <a:p>
            <a:pPr algn="l">
              <a:lnSpc>
                <a:spcPct val="140000"/>
              </a:lnSpc>
            </a:pPr>
            <a:r>
              <a:rPr sz="1000" b="0">
                <a:solidFill>
                  <a:srgbClr val="1A1A1A"/>
                </a:solidFill>
                <a:latin typeface="Hiragino Sans"/>
                <a:ea typeface="Hiragino Sans"/>
                <a:cs typeface="Hiragino Sans"/>
              </a:rPr>
              <a:t>言及文脈を増やす</a:t>
            </a:r>
          </a:p>
        </p:txBody>
      </p:sp>
      <p:sp>
        <p:nvSpPr>
          <p:cNvPr id="37" name="TextBox 36"/>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代理店業界の再編 2024-2026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内製化・省人化・成果報酬シフト</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P28 / 250</a:t>
            </a:r>
          </a:p>
        </p:txBody>
      </p:sp>
      <p:sp>
        <p:nvSpPr>
          <p:cNvPr id="8" name="Rounded Rectangle 7"/>
          <p:cNvSpPr/>
          <p:nvPr/>
        </p:nvSpPr>
        <p:spPr>
          <a:xfrm>
            <a:off x="548640" y="141732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109728"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691640"/>
            <a:ext cx="914400" cy="822960"/>
          </a:xfrm>
          <a:prstGeom prst="rect">
            <a:avLst/>
          </a:prstGeom>
          <a:noFill/>
        </p:spPr>
        <p:txBody>
          <a:bodyPr wrap="square" anchor="t" lIns="0" rIns="0" tIns="0" bIns="0">
            <a:spAutoFit/>
          </a:bodyPr>
          <a:lstStyle/>
          <a:p>
            <a:pPr algn="l">
              <a:lnSpc>
                <a:spcPct val="115000"/>
              </a:lnSpc>
            </a:pPr>
            <a:r>
              <a:rPr sz="4400" b="0">
                <a:solidFill>
                  <a:srgbClr val="E87722"/>
                </a:solidFill>
                <a:latin typeface="Hiragino Sans"/>
                <a:ea typeface="Hiragino Sans"/>
                <a:cs typeface="Hiragino Sans"/>
              </a:rPr>
              <a:t>⚙</a:t>
            </a:r>
          </a:p>
        </p:txBody>
      </p:sp>
      <p:sp>
        <p:nvSpPr>
          <p:cNvPr id="11" name="TextBox 10"/>
          <p:cNvSpPr txBox="1"/>
          <p:nvPr/>
        </p:nvSpPr>
        <p:spPr>
          <a:xfrm>
            <a:off x="1828800" y="1645920"/>
            <a:ext cx="9144000" cy="45720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内製AI化で省人化加速</a:t>
            </a:r>
          </a:p>
        </p:txBody>
      </p:sp>
      <p:sp>
        <p:nvSpPr>
          <p:cNvPr id="12" name="TextBox 11"/>
          <p:cNvSpPr txBox="1"/>
          <p:nvPr/>
        </p:nvSpPr>
        <p:spPr>
          <a:xfrm>
            <a:off x="1828800" y="2057400"/>
            <a:ext cx="9601200" cy="5486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電通 / 博報堂 / CARTA / アナグラム等、大手は社内AI基盤整備。</a:t>
            </a:r>
          </a:p>
          <a:p>
            <a:pPr algn="l">
              <a:lnSpc>
                <a:spcPct val="150000"/>
              </a:lnSpc>
            </a:pPr>
            <a:r>
              <a:rPr sz="1100" b="0">
                <a:solidFill>
                  <a:srgbClr val="1A1A1A"/>
                </a:solidFill>
                <a:latin typeface="Hiragino Sans"/>
                <a:ea typeface="Hiragino Sans"/>
                <a:cs typeface="Hiragino Sans"/>
              </a:rPr>
              <a:t>運用者1人あたり担当案件数が増加、『人月』ビジネスの単価下落圧力</a:t>
            </a:r>
          </a:p>
        </p:txBody>
      </p:sp>
      <p:sp>
        <p:nvSpPr>
          <p:cNvPr id="13" name="Rounded Rectangle 12"/>
          <p:cNvSpPr/>
          <p:nvPr/>
        </p:nvSpPr>
        <p:spPr>
          <a:xfrm>
            <a:off x="548640" y="274320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743200"/>
            <a:ext cx="109728"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017520"/>
            <a:ext cx="914400" cy="822960"/>
          </a:xfrm>
          <a:prstGeom prst="rect">
            <a:avLst/>
          </a:prstGeom>
          <a:noFill/>
        </p:spPr>
        <p:txBody>
          <a:bodyPr wrap="square" anchor="t" lIns="0" rIns="0" tIns="0" bIns="0">
            <a:spAutoFit/>
          </a:bodyPr>
          <a:lstStyle/>
          <a:p>
            <a:pPr algn="l">
              <a:lnSpc>
                <a:spcPct val="115000"/>
              </a:lnSpc>
            </a:pPr>
            <a:r>
              <a:rPr sz="4400" b="0">
                <a:solidFill>
                  <a:srgbClr val="E87722"/>
                </a:solidFill>
                <a:latin typeface="Hiragino Sans"/>
                <a:ea typeface="Hiragino Sans"/>
                <a:cs typeface="Hiragino Sans"/>
              </a:rPr>
              <a:t>🏢</a:t>
            </a:r>
          </a:p>
        </p:txBody>
      </p:sp>
      <p:sp>
        <p:nvSpPr>
          <p:cNvPr id="16" name="TextBox 15"/>
          <p:cNvSpPr txBox="1"/>
          <p:nvPr/>
        </p:nvSpPr>
        <p:spPr>
          <a:xfrm>
            <a:off x="1828800" y="2971800"/>
            <a:ext cx="9144000" cy="45720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Tier2 代理店の統合・淘汰</a:t>
            </a:r>
          </a:p>
        </p:txBody>
      </p:sp>
      <p:sp>
        <p:nvSpPr>
          <p:cNvPr id="17" name="TextBox 16"/>
          <p:cNvSpPr txBox="1"/>
          <p:nvPr/>
        </p:nvSpPr>
        <p:spPr>
          <a:xfrm>
            <a:off x="1828800" y="3383280"/>
            <a:ext cx="9601200" cy="5486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専門特化型・地域密着型の中堅代理店で M&amp;A 進行。</a:t>
            </a:r>
          </a:p>
          <a:p>
            <a:pPr algn="l">
              <a:lnSpc>
                <a:spcPct val="150000"/>
              </a:lnSpc>
            </a:pPr>
            <a:r>
              <a:rPr sz="1100" b="0">
                <a:solidFill>
                  <a:srgbClr val="1A1A1A"/>
                </a:solidFill>
                <a:latin typeface="Hiragino Sans"/>
                <a:ea typeface="Hiragino Sans"/>
                <a:cs typeface="Hiragino Sans"/>
              </a:rPr>
              <a:t>ジェネラリスト型代理店は競争優位を失う傾向</a:t>
            </a:r>
          </a:p>
        </p:txBody>
      </p:sp>
      <p:sp>
        <p:nvSpPr>
          <p:cNvPr id="18" name="Rounded Rectangle 17"/>
          <p:cNvSpPr/>
          <p:nvPr/>
        </p:nvSpPr>
        <p:spPr>
          <a:xfrm>
            <a:off x="548640" y="4069080"/>
            <a:ext cx="11109960" cy="118872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069080"/>
            <a:ext cx="109728" cy="11887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43400"/>
            <a:ext cx="914400" cy="822960"/>
          </a:xfrm>
          <a:prstGeom prst="rect">
            <a:avLst/>
          </a:prstGeom>
          <a:noFill/>
        </p:spPr>
        <p:txBody>
          <a:bodyPr wrap="square" anchor="t" lIns="0" rIns="0" tIns="0" bIns="0">
            <a:spAutoFit/>
          </a:bodyPr>
          <a:lstStyle/>
          <a:p>
            <a:pPr algn="l">
              <a:lnSpc>
                <a:spcPct val="115000"/>
              </a:lnSpc>
            </a:pPr>
            <a:r>
              <a:rPr sz="4400" b="0">
                <a:solidFill>
                  <a:srgbClr val="E87722"/>
                </a:solidFill>
                <a:latin typeface="Hiragino Sans"/>
                <a:ea typeface="Hiragino Sans"/>
                <a:cs typeface="Hiragino Sans"/>
              </a:rPr>
              <a:t>📊</a:t>
            </a:r>
          </a:p>
        </p:txBody>
      </p:sp>
      <p:sp>
        <p:nvSpPr>
          <p:cNvPr id="21" name="TextBox 20"/>
          <p:cNvSpPr txBox="1"/>
          <p:nvPr/>
        </p:nvSpPr>
        <p:spPr>
          <a:xfrm>
            <a:off x="1828800" y="4297680"/>
            <a:ext cx="9144000" cy="457200"/>
          </a:xfrm>
          <a:prstGeom prst="rect">
            <a:avLst/>
          </a:prstGeom>
          <a:noFill/>
        </p:spPr>
        <p:txBody>
          <a:bodyPr wrap="square" anchor="t" lIns="0" rIns="0" tIns="0" bIns="0">
            <a:spAutoFit/>
          </a:bodyPr>
          <a:lstStyle/>
          <a:p>
            <a:pPr algn="l">
              <a:lnSpc>
                <a:spcPct val="115000"/>
              </a:lnSpc>
            </a:pPr>
            <a:r>
              <a:rPr sz="1600" b="1">
                <a:solidFill>
                  <a:srgbClr val="0F2A4F"/>
                </a:solidFill>
                <a:latin typeface="Hiragino Sans"/>
                <a:ea typeface="Hiragino Sans"/>
                <a:cs typeface="Hiragino Sans"/>
              </a:rPr>
              <a:t>成果報酬・Retainer + Outcome へ</a:t>
            </a:r>
          </a:p>
        </p:txBody>
      </p:sp>
      <p:sp>
        <p:nvSpPr>
          <p:cNvPr id="22" name="TextBox 21"/>
          <p:cNvSpPr txBox="1"/>
          <p:nvPr/>
        </p:nvSpPr>
        <p:spPr>
          <a:xfrm>
            <a:off x="1828800" y="4709160"/>
            <a:ext cx="9601200" cy="54864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月額固定(人月)から、成果連動(CPA/ROAS 連動 or 売上連動)への移行。</a:t>
            </a:r>
          </a:p>
          <a:p>
            <a:pPr algn="l">
              <a:lnSpc>
                <a:spcPct val="150000"/>
              </a:lnSpc>
            </a:pPr>
            <a:r>
              <a:rPr sz="1100" b="0">
                <a:solidFill>
                  <a:srgbClr val="1A1A1A"/>
                </a:solidFill>
                <a:latin typeface="Hiragino Sans"/>
                <a:ea typeface="Hiragino Sans"/>
                <a:cs typeface="Hiragino Sans"/>
              </a:rPr>
              <a:t>クライアント側も『何に払うか』を問い直す時期</a:t>
            </a:r>
          </a:p>
        </p:txBody>
      </p:sp>
      <p:sp>
        <p:nvSpPr>
          <p:cNvPr id="23" name="Rounded Rectangle 22"/>
          <p:cNvSpPr/>
          <p:nvPr/>
        </p:nvSpPr>
        <p:spPr>
          <a:xfrm>
            <a:off x="548640" y="5486400"/>
            <a:ext cx="11109960" cy="822960"/>
          </a:xfrm>
          <a:prstGeom prst="roundRect">
            <a:avLst>
              <a:gd name="adj" fmla="val 6000"/>
            </a:avLst>
          </a:prstGeom>
          <a:solidFill>
            <a:srgbClr val="FF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23560"/>
            <a:ext cx="10058400" cy="320040"/>
          </a:xfrm>
          <a:prstGeom prst="rect">
            <a:avLst/>
          </a:prstGeom>
          <a:noFill/>
        </p:spPr>
        <p:txBody>
          <a:bodyPr wrap="square" anchor="t" lIns="0" rIns="0" tIns="0" bIns="0">
            <a:spAutoFit/>
          </a:bodyPr>
          <a:lstStyle/>
          <a:p>
            <a:pPr algn="l">
              <a:lnSpc>
                <a:spcPct val="115000"/>
              </a:lnSpc>
            </a:pPr>
            <a:r>
              <a:rPr sz="1200" b="1">
                <a:solidFill>
                  <a:srgbClr val="B85E1A"/>
                </a:solidFill>
                <a:latin typeface="Hiragino Sans"/>
                <a:ea typeface="Hiragino Sans"/>
                <a:cs typeface="Hiragino Sans"/>
              </a:rPr>
              <a:t>💡 副業運用代行のチャンス</a:t>
            </a:r>
          </a:p>
        </p:txBody>
      </p:sp>
      <p:sp>
        <p:nvSpPr>
          <p:cNvPr id="25" name="TextBox 24"/>
          <p:cNvSpPr txBox="1"/>
          <p:nvPr/>
        </p:nvSpPr>
        <p:spPr>
          <a:xfrm>
            <a:off x="777240" y="5897880"/>
            <a:ext cx="10972800" cy="50292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代理店経由ではなく直接クライアント取引の時代。</a:t>
            </a:r>
          </a:p>
          <a:p>
            <a:pPr algn="l">
              <a:lnSpc>
                <a:spcPct val="150000"/>
              </a:lnSpc>
            </a:pPr>
            <a:r>
              <a:rPr sz="1100" b="0">
                <a:solidFill>
                  <a:srgbClr val="1A1A1A"/>
                </a:solidFill>
                <a:latin typeface="Hiragino Sans"/>
                <a:ea typeface="Hiragino Sans"/>
                <a:cs typeface="Hiragino Sans"/>
              </a:rPr>
              <a:t>中小企業の AI導入支援 + 運用代行は需要過多、価格決定権も持ちやすい</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運用職の役割シフトと人材要件 2026</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『AIを導く運用職』で差別化する</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P29 / 250</a:t>
            </a:r>
          </a:p>
        </p:txBody>
      </p:sp>
      <p:sp>
        <p:nvSpPr>
          <p:cNvPr id="8" name="TextBox 7"/>
          <p:cNvSpPr txBox="1"/>
          <p:nvPr/>
        </p:nvSpPr>
        <p:spPr>
          <a:xfrm>
            <a:off x="548640" y="1417320"/>
            <a:ext cx="5486400" cy="365760"/>
          </a:xfrm>
          <a:prstGeom prst="rect">
            <a:avLst/>
          </a:prstGeom>
          <a:noFill/>
        </p:spPr>
        <p:txBody>
          <a:bodyPr wrap="square" anchor="t" lIns="0" rIns="0" tIns="0" bIns="0">
            <a:spAutoFit/>
          </a:bodyPr>
          <a:lstStyle/>
          <a:p>
            <a:pPr algn="l">
              <a:lnSpc>
                <a:spcPct val="115000"/>
              </a:lnSpc>
            </a:pPr>
            <a:r>
              <a:rPr sz="1600" b="1">
                <a:solidFill>
                  <a:srgbClr val="5A6A80"/>
                </a:solidFill>
                <a:latin typeface="Hiragino Sans"/>
                <a:ea typeface="Hiragino Sans"/>
                <a:cs typeface="Hiragino Sans"/>
              </a:rPr>
              <a:t>旧 (〜2023)</a:t>
            </a:r>
          </a:p>
        </p:txBody>
      </p:sp>
      <p:sp>
        <p:nvSpPr>
          <p:cNvPr id="9" name="TextBox 8"/>
          <p:cNvSpPr txBox="1"/>
          <p:nvPr/>
        </p:nvSpPr>
        <p:spPr>
          <a:xfrm>
            <a:off x="6400800" y="1417320"/>
            <a:ext cx="5486400" cy="365760"/>
          </a:xfrm>
          <a:prstGeom prst="rect">
            <a:avLst/>
          </a:prstGeom>
          <a:noFill/>
        </p:spPr>
        <p:txBody>
          <a:bodyPr wrap="square" anchor="t" lIns="0" rIns="0" tIns="0" bIns="0">
            <a:spAutoFit/>
          </a:bodyPr>
          <a:lstStyle/>
          <a:p>
            <a:pPr algn="l">
              <a:lnSpc>
                <a:spcPct val="115000"/>
              </a:lnSpc>
            </a:pPr>
            <a:r>
              <a:rPr sz="1600" b="1">
                <a:solidFill>
                  <a:srgbClr val="E87722"/>
                </a:solidFill>
                <a:latin typeface="Hiragino Sans"/>
                <a:ea typeface="Hiragino Sans"/>
                <a:cs typeface="Hiragino Sans"/>
              </a:rPr>
              <a:t>新 (2026〜)</a:t>
            </a:r>
          </a:p>
        </p:txBody>
      </p:sp>
      <p:sp>
        <p:nvSpPr>
          <p:cNvPr id="10" name="Rounded Rectangle 9"/>
          <p:cNvSpPr/>
          <p:nvPr/>
        </p:nvSpPr>
        <p:spPr>
          <a:xfrm>
            <a:off x="548640" y="192024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3911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2" name="TextBox 11"/>
          <p:cNvSpPr txBox="1"/>
          <p:nvPr/>
        </p:nvSpPr>
        <p:spPr>
          <a:xfrm>
            <a:off x="1097280" y="206654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配信設定・入札調整を手動で</a:t>
            </a:r>
          </a:p>
        </p:txBody>
      </p:sp>
      <p:sp>
        <p:nvSpPr>
          <p:cNvPr id="13" name="Rounded Rectangle 12"/>
          <p:cNvSpPr/>
          <p:nvPr/>
        </p:nvSpPr>
        <p:spPr>
          <a:xfrm>
            <a:off x="6400800" y="192024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03911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15" name="TextBox 14"/>
          <p:cNvSpPr txBox="1"/>
          <p:nvPr/>
        </p:nvSpPr>
        <p:spPr>
          <a:xfrm>
            <a:off x="6949440" y="206654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キャンペーン構造を設計し AIに任せる</a:t>
            </a:r>
          </a:p>
        </p:txBody>
      </p:sp>
      <p:sp>
        <p:nvSpPr>
          <p:cNvPr id="16" name="Rounded Rectangle 15"/>
          <p:cNvSpPr/>
          <p:nvPr/>
        </p:nvSpPr>
        <p:spPr>
          <a:xfrm>
            <a:off x="548640" y="251460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63347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18" name="TextBox 17"/>
          <p:cNvSpPr txBox="1"/>
          <p:nvPr/>
        </p:nvSpPr>
        <p:spPr>
          <a:xfrm>
            <a:off x="1097280" y="266090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クリエイティブ指示をテキストで</a:t>
            </a:r>
          </a:p>
        </p:txBody>
      </p:sp>
      <p:sp>
        <p:nvSpPr>
          <p:cNvPr id="19" name="Rounded Rectangle 18"/>
          <p:cNvSpPr/>
          <p:nvPr/>
        </p:nvSpPr>
        <p:spPr>
          <a:xfrm>
            <a:off x="6400800" y="251460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63347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1" name="TextBox 20"/>
          <p:cNvSpPr txBox="1"/>
          <p:nvPr/>
        </p:nvSpPr>
        <p:spPr>
          <a:xfrm>
            <a:off x="6949440" y="266090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生成AIでABテスト用素材を大量量産</a:t>
            </a:r>
          </a:p>
        </p:txBody>
      </p:sp>
      <p:sp>
        <p:nvSpPr>
          <p:cNvPr id="22" name="Rounded Rectangle 21"/>
          <p:cNvSpPr/>
          <p:nvPr/>
        </p:nvSpPr>
        <p:spPr>
          <a:xfrm>
            <a:off x="548640" y="310896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22783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24" name="TextBox 23"/>
          <p:cNvSpPr txBox="1"/>
          <p:nvPr/>
        </p:nvSpPr>
        <p:spPr>
          <a:xfrm>
            <a:off x="1097280" y="325526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レポート作成に数時間</a:t>
            </a:r>
          </a:p>
        </p:txBody>
      </p:sp>
      <p:sp>
        <p:nvSpPr>
          <p:cNvPr id="25" name="Rounded Rectangle 24"/>
          <p:cNvSpPr/>
          <p:nvPr/>
        </p:nvSpPr>
        <p:spPr>
          <a:xfrm>
            <a:off x="6400800" y="310896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322783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27" name="TextBox 26"/>
          <p:cNvSpPr txBox="1"/>
          <p:nvPr/>
        </p:nvSpPr>
        <p:spPr>
          <a:xfrm>
            <a:off x="6949440" y="325526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Looker Studio + AI要約で30分</a:t>
            </a:r>
          </a:p>
        </p:txBody>
      </p:sp>
      <p:sp>
        <p:nvSpPr>
          <p:cNvPr id="28" name="Rounded Rectangle 27"/>
          <p:cNvSpPr/>
          <p:nvPr/>
        </p:nvSpPr>
        <p:spPr>
          <a:xfrm>
            <a:off x="548640" y="370332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82219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30" name="TextBox 29"/>
          <p:cNvSpPr txBox="1"/>
          <p:nvPr/>
        </p:nvSpPr>
        <p:spPr>
          <a:xfrm>
            <a:off x="1097280" y="384962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ラストクリックCVを追う</a:t>
            </a:r>
          </a:p>
        </p:txBody>
      </p:sp>
      <p:sp>
        <p:nvSpPr>
          <p:cNvPr id="31" name="Rounded Rectangle 30"/>
          <p:cNvSpPr/>
          <p:nvPr/>
        </p:nvSpPr>
        <p:spPr>
          <a:xfrm>
            <a:off x="6400800" y="370332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0" y="382219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3" name="TextBox 32"/>
          <p:cNvSpPr txBox="1"/>
          <p:nvPr/>
        </p:nvSpPr>
        <p:spPr>
          <a:xfrm>
            <a:off x="6949440" y="384962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Incrementality / MMM / LTVで意思決定</a:t>
            </a:r>
          </a:p>
        </p:txBody>
      </p:sp>
      <p:sp>
        <p:nvSpPr>
          <p:cNvPr id="34" name="Rounded Rectangle 33"/>
          <p:cNvSpPr/>
          <p:nvPr/>
        </p:nvSpPr>
        <p:spPr>
          <a:xfrm>
            <a:off x="548640" y="4297680"/>
            <a:ext cx="5486400" cy="502920"/>
          </a:xfrm>
          <a:prstGeom prst="roundRect">
            <a:avLst>
              <a:gd name="adj" fmla="val 6000"/>
            </a:avLst>
          </a:prstGeom>
          <a:solidFill>
            <a:srgbClr val="F4F6FA"/>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416552"/>
            <a:ext cx="274320" cy="274320"/>
          </a:xfrm>
          <a:prstGeom prst="rect">
            <a:avLst/>
          </a:prstGeom>
          <a:noFill/>
        </p:spPr>
        <p:txBody>
          <a:bodyPr wrap="square" anchor="t" lIns="0" rIns="0" tIns="0" bIns="0">
            <a:spAutoFit/>
          </a:bodyPr>
          <a:lstStyle/>
          <a:p>
            <a:pPr algn="l">
              <a:lnSpc>
                <a:spcPct val="115000"/>
              </a:lnSpc>
            </a:pPr>
            <a:r>
              <a:rPr sz="1400" b="1">
                <a:solidFill>
                  <a:srgbClr val="C6452D"/>
                </a:solidFill>
                <a:latin typeface="Hiragino Sans"/>
                <a:ea typeface="Hiragino Sans"/>
                <a:cs typeface="Hiragino Sans"/>
              </a:rPr>
              <a:t>✗</a:t>
            </a:r>
          </a:p>
        </p:txBody>
      </p:sp>
      <p:sp>
        <p:nvSpPr>
          <p:cNvPr id="36" name="TextBox 35"/>
          <p:cNvSpPr txBox="1"/>
          <p:nvPr/>
        </p:nvSpPr>
        <p:spPr>
          <a:xfrm>
            <a:off x="1097280" y="4443984"/>
            <a:ext cx="4389120" cy="27432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媒体ごとのサイロ運用</a:t>
            </a:r>
          </a:p>
        </p:txBody>
      </p:sp>
      <p:sp>
        <p:nvSpPr>
          <p:cNvPr id="37" name="Rounded Rectangle 36"/>
          <p:cNvSpPr/>
          <p:nvPr/>
        </p:nvSpPr>
        <p:spPr>
          <a:xfrm>
            <a:off x="6400800" y="4297680"/>
            <a:ext cx="5349240" cy="502920"/>
          </a:xfrm>
          <a:prstGeom prst="roundRect">
            <a:avLst>
              <a:gd name="adj" fmla="val 6000"/>
            </a:avLst>
          </a:prstGeom>
          <a:solidFill>
            <a:srgbClr val="FFF3E6"/>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0" y="4416552"/>
            <a:ext cx="274320" cy="274320"/>
          </a:xfrm>
          <a:prstGeom prst="rect">
            <a:avLst/>
          </a:prstGeom>
          <a:noFill/>
        </p:spPr>
        <p:txBody>
          <a:bodyPr wrap="square" anchor="t" lIns="0" rIns="0" tIns="0" bIns="0">
            <a:spAutoFit/>
          </a:bodyPr>
          <a:lstStyle/>
          <a:p>
            <a:pPr algn="l">
              <a:lnSpc>
                <a:spcPct val="115000"/>
              </a:lnSpc>
            </a:pPr>
            <a:r>
              <a:rPr sz="1400" b="1">
                <a:solidFill>
                  <a:srgbClr val="2E8B57"/>
                </a:solidFill>
                <a:latin typeface="Hiragino Sans"/>
                <a:ea typeface="Hiragino Sans"/>
                <a:cs typeface="Hiragino Sans"/>
              </a:rPr>
              <a:t>✓</a:t>
            </a:r>
          </a:p>
        </p:txBody>
      </p:sp>
      <p:sp>
        <p:nvSpPr>
          <p:cNvPr id="39" name="TextBox 38"/>
          <p:cNvSpPr txBox="1"/>
          <p:nvPr/>
        </p:nvSpPr>
        <p:spPr>
          <a:xfrm>
            <a:off x="6949440" y="4443984"/>
            <a:ext cx="4389120" cy="274320"/>
          </a:xfrm>
          <a:prstGeom prst="rect">
            <a:avLst/>
          </a:prstGeom>
          <a:noFill/>
        </p:spPr>
        <p:txBody>
          <a:bodyPr wrap="square" anchor="t" lIns="0" rIns="0" tIns="0" bIns="0">
            <a:spAutoFit/>
          </a:bodyPr>
          <a:lstStyle/>
          <a:p>
            <a:pPr algn="l">
              <a:lnSpc>
                <a:spcPct val="115000"/>
              </a:lnSpc>
            </a:pPr>
            <a:r>
              <a:rPr sz="1100" b="0">
                <a:solidFill>
                  <a:srgbClr val="0F2A4F"/>
                </a:solidFill>
                <a:latin typeface="Hiragino Sans"/>
                <a:ea typeface="Hiragino Sans"/>
                <a:cs typeface="Hiragino Sans"/>
              </a:rPr>
              <a:t>横断で予算配分・検証設計</a:t>
            </a:r>
          </a:p>
        </p:txBody>
      </p:sp>
      <p:sp>
        <p:nvSpPr>
          <p:cNvPr id="40" name="TextBox 39"/>
          <p:cNvSpPr txBox="1"/>
          <p:nvPr/>
        </p:nvSpPr>
        <p:spPr>
          <a:xfrm>
            <a:off x="548640" y="5212080"/>
            <a:ext cx="10972800" cy="365760"/>
          </a:xfrm>
          <a:prstGeom prst="rect">
            <a:avLst/>
          </a:prstGeom>
          <a:noFill/>
        </p:spPr>
        <p:txBody>
          <a:bodyPr wrap="square" anchor="t" lIns="0" rIns="0" tIns="0" bIns="0">
            <a:spAutoFit/>
          </a:bodyPr>
          <a:lstStyle/>
          <a:p>
            <a:pPr algn="l">
              <a:lnSpc>
                <a:spcPct val="115000"/>
              </a:lnSpc>
            </a:pPr>
            <a:r>
              <a:rPr sz="1300" b="1">
                <a:solidFill>
                  <a:srgbClr val="0F2A4F"/>
                </a:solidFill>
                <a:latin typeface="Hiragino Sans"/>
                <a:ea typeface="Hiragino Sans"/>
                <a:cs typeface="Hiragino Sans"/>
              </a:rPr>
              <a:t>必須スキル 2026 (チェックリスト)</a:t>
            </a:r>
          </a:p>
        </p:txBody>
      </p:sp>
      <p:sp>
        <p:nvSpPr>
          <p:cNvPr id="41" name="Rectangle 40"/>
          <p:cNvSpPr/>
          <p:nvPr/>
        </p:nvSpPr>
        <p:spPr>
          <a:xfrm>
            <a:off x="548640" y="5532120"/>
            <a:ext cx="11109960"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48640" y="5669280"/>
            <a:ext cx="2697480" cy="777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806440"/>
            <a:ext cx="365760" cy="27432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t>
            </a:r>
          </a:p>
        </p:txBody>
      </p:sp>
      <p:sp>
        <p:nvSpPr>
          <p:cNvPr id="44" name="TextBox 43"/>
          <p:cNvSpPr txBox="1"/>
          <p:nvPr/>
        </p:nvSpPr>
        <p:spPr>
          <a:xfrm>
            <a:off x="1051560" y="5788152"/>
            <a:ext cx="2103120" cy="274320"/>
          </a:xfrm>
          <a:prstGeom prst="rect">
            <a:avLst/>
          </a:prstGeom>
          <a:noFill/>
        </p:spPr>
        <p:txBody>
          <a:bodyPr wrap="square" anchor="t" lIns="0" rIns="0" tIns="0" bIns="0">
            <a:spAutoFit/>
          </a:bodyPr>
          <a:lstStyle/>
          <a:p>
            <a:pPr algn="l">
              <a:lnSpc>
                <a:spcPct val="120000"/>
              </a:lnSpc>
            </a:pPr>
            <a:r>
              <a:rPr sz="1100" b="1">
                <a:solidFill>
                  <a:srgbClr val="FFFFFF"/>
                </a:solidFill>
                <a:latin typeface="Hiragino Sans"/>
                <a:ea typeface="Hiragino Sans"/>
                <a:cs typeface="Hiragino Sans"/>
              </a:rPr>
              <a:t>GA4/SGTM/CAPIの実装理解</a:t>
            </a:r>
          </a:p>
        </p:txBody>
      </p:sp>
      <p:sp>
        <p:nvSpPr>
          <p:cNvPr id="45" name="TextBox 44"/>
          <p:cNvSpPr txBox="1"/>
          <p:nvPr/>
        </p:nvSpPr>
        <p:spPr>
          <a:xfrm>
            <a:off x="1051560" y="6108192"/>
            <a:ext cx="2103120" cy="274320"/>
          </a:xfrm>
          <a:prstGeom prst="rect">
            <a:avLst/>
          </a:prstGeom>
          <a:noFill/>
        </p:spPr>
        <p:txBody>
          <a:bodyPr wrap="square" anchor="t" lIns="0" rIns="0" tIns="0" bIns="0">
            <a:spAutoFit/>
          </a:bodyPr>
          <a:lstStyle/>
          <a:p>
            <a:pPr algn="l">
              <a:lnSpc>
                <a:spcPct val="115000"/>
              </a:lnSpc>
            </a:pPr>
            <a:r>
              <a:rPr sz="900" b="0">
                <a:solidFill>
                  <a:srgbClr val="D7DDE8"/>
                </a:solidFill>
                <a:latin typeface="Hiragino Sans"/>
                <a:ea typeface="Hiragino Sans"/>
                <a:cs typeface="Hiragino Sans"/>
              </a:rPr>
              <a:t>計測基盤</a:t>
            </a:r>
          </a:p>
        </p:txBody>
      </p:sp>
      <p:sp>
        <p:nvSpPr>
          <p:cNvPr id="46" name="Rounded Rectangle 45"/>
          <p:cNvSpPr/>
          <p:nvPr/>
        </p:nvSpPr>
        <p:spPr>
          <a:xfrm>
            <a:off x="3337560" y="5669280"/>
            <a:ext cx="2697480" cy="777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74720" y="5806440"/>
            <a:ext cx="365760" cy="27432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t>
            </a:r>
          </a:p>
        </p:txBody>
      </p:sp>
      <p:sp>
        <p:nvSpPr>
          <p:cNvPr id="48" name="TextBox 47"/>
          <p:cNvSpPr txBox="1"/>
          <p:nvPr/>
        </p:nvSpPr>
        <p:spPr>
          <a:xfrm>
            <a:off x="3840480" y="5788152"/>
            <a:ext cx="2103120" cy="274320"/>
          </a:xfrm>
          <a:prstGeom prst="rect">
            <a:avLst/>
          </a:prstGeom>
          <a:noFill/>
        </p:spPr>
        <p:txBody>
          <a:bodyPr wrap="square" anchor="t" lIns="0" rIns="0" tIns="0" bIns="0">
            <a:spAutoFit/>
          </a:bodyPr>
          <a:lstStyle/>
          <a:p>
            <a:pPr algn="l">
              <a:lnSpc>
                <a:spcPct val="120000"/>
              </a:lnSpc>
            </a:pPr>
            <a:r>
              <a:rPr sz="1100" b="1">
                <a:solidFill>
                  <a:srgbClr val="FFFFFF"/>
                </a:solidFill>
                <a:latin typeface="Hiragino Sans"/>
                <a:ea typeface="Hiragino Sans"/>
                <a:cs typeface="Hiragino Sans"/>
              </a:rPr>
              <a:t>生成AI 3種のワークフロー化</a:t>
            </a:r>
          </a:p>
        </p:txBody>
      </p:sp>
      <p:sp>
        <p:nvSpPr>
          <p:cNvPr id="49" name="TextBox 48"/>
          <p:cNvSpPr txBox="1"/>
          <p:nvPr/>
        </p:nvSpPr>
        <p:spPr>
          <a:xfrm>
            <a:off x="3840480" y="6108192"/>
            <a:ext cx="2103120" cy="274320"/>
          </a:xfrm>
          <a:prstGeom prst="rect">
            <a:avLst/>
          </a:prstGeom>
          <a:noFill/>
        </p:spPr>
        <p:txBody>
          <a:bodyPr wrap="square" anchor="t" lIns="0" rIns="0" tIns="0" bIns="0">
            <a:spAutoFit/>
          </a:bodyPr>
          <a:lstStyle/>
          <a:p>
            <a:pPr algn="l">
              <a:lnSpc>
                <a:spcPct val="115000"/>
              </a:lnSpc>
            </a:pPr>
            <a:r>
              <a:rPr sz="900" b="0">
                <a:solidFill>
                  <a:srgbClr val="D7DDE8"/>
                </a:solidFill>
                <a:latin typeface="Hiragino Sans"/>
                <a:ea typeface="Hiragino Sans"/>
                <a:cs typeface="Hiragino Sans"/>
              </a:rPr>
              <a:t>Claude/ChatGPT/Midjourney</a:t>
            </a:r>
          </a:p>
        </p:txBody>
      </p:sp>
      <p:sp>
        <p:nvSpPr>
          <p:cNvPr id="50" name="Rounded Rectangle 49"/>
          <p:cNvSpPr/>
          <p:nvPr/>
        </p:nvSpPr>
        <p:spPr>
          <a:xfrm>
            <a:off x="6126480" y="5669280"/>
            <a:ext cx="2697480" cy="777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3640" y="5806440"/>
            <a:ext cx="365760" cy="27432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t>
            </a:r>
          </a:p>
        </p:txBody>
      </p:sp>
      <p:sp>
        <p:nvSpPr>
          <p:cNvPr id="52" name="TextBox 51"/>
          <p:cNvSpPr txBox="1"/>
          <p:nvPr/>
        </p:nvSpPr>
        <p:spPr>
          <a:xfrm>
            <a:off x="6629400" y="5788152"/>
            <a:ext cx="2103120" cy="274320"/>
          </a:xfrm>
          <a:prstGeom prst="rect">
            <a:avLst/>
          </a:prstGeom>
          <a:noFill/>
        </p:spPr>
        <p:txBody>
          <a:bodyPr wrap="square" anchor="t" lIns="0" rIns="0" tIns="0" bIns="0">
            <a:spAutoFit/>
          </a:bodyPr>
          <a:lstStyle/>
          <a:p>
            <a:pPr algn="l">
              <a:lnSpc>
                <a:spcPct val="120000"/>
              </a:lnSpc>
            </a:pPr>
            <a:r>
              <a:rPr sz="1100" b="1">
                <a:solidFill>
                  <a:srgbClr val="FFFFFF"/>
                </a:solidFill>
                <a:latin typeface="Hiragino Sans"/>
                <a:ea typeface="Hiragino Sans"/>
                <a:cs typeface="Hiragino Sans"/>
              </a:rPr>
              <a:t>MMM/Lift 実験設計</a:t>
            </a:r>
          </a:p>
        </p:txBody>
      </p:sp>
      <p:sp>
        <p:nvSpPr>
          <p:cNvPr id="53" name="TextBox 52"/>
          <p:cNvSpPr txBox="1"/>
          <p:nvPr/>
        </p:nvSpPr>
        <p:spPr>
          <a:xfrm>
            <a:off x="6629400" y="6108192"/>
            <a:ext cx="2103120" cy="274320"/>
          </a:xfrm>
          <a:prstGeom prst="rect">
            <a:avLst/>
          </a:prstGeom>
          <a:noFill/>
        </p:spPr>
        <p:txBody>
          <a:bodyPr wrap="square" anchor="t" lIns="0" rIns="0" tIns="0" bIns="0">
            <a:spAutoFit/>
          </a:bodyPr>
          <a:lstStyle/>
          <a:p>
            <a:pPr algn="l">
              <a:lnSpc>
                <a:spcPct val="115000"/>
              </a:lnSpc>
            </a:pPr>
            <a:r>
              <a:rPr sz="900" b="0">
                <a:solidFill>
                  <a:srgbClr val="D7DDE8"/>
                </a:solidFill>
                <a:latin typeface="Hiragino Sans"/>
                <a:ea typeface="Hiragino Sans"/>
                <a:cs typeface="Hiragino Sans"/>
              </a:rPr>
              <a:t>Robyn/Meridian</a:t>
            </a:r>
          </a:p>
        </p:txBody>
      </p:sp>
      <p:sp>
        <p:nvSpPr>
          <p:cNvPr id="54" name="Rounded Rectangle 53"/>
          <p:cNvSpPr/>
          <p:nvPr/>
        </p:nvSpPr>
        <p:spPr>
          <a:xfrm>
            <a:off x="8915400" y="5669280"/>
            <a:ext cx="2697480" cy="77724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52560" y="5806440"/>
            <a:ext cx="365760" cy="274320"/>
          </a:xfrm>
          <a:prstGeom prst="rect">
            <a:avLst/>
          </a:prstGeom>
          <a:noFill/>
        </p:spPr>
        <p:txBody>
          <a:bodyPr wrap="square" anchor="t" lIns="0" rIns="0" tIns="0" bIns="0">
            <a:spAutoFit/>
          </a:bodyPr>
          <a:lstStyle/>
          <a:p>
            <a:pPr algn="l">
              <a:lnSpc>
                <a:spcPct val="115000"/>
              </a:lnSpc>
            </a:pPr>
            <a:r>
              <a:rPr sz="1400" b="1">
                <a:solidFill>
                  <a:srgbClr val="E87722"/>
                </a:solidFill>
                <a:latin typeface="Hiragino Sans"/>
                <a:ea typeface="Hiragino Sans"/>
                <a:cs typeface="Hiragino Sans"/>
              </a:rPr>
              <a:t>☑</a:t>
            </a:r>
          </a:p>
        </p:txBody>
      </p:sp>
      <p:sp>
        <p:nvSpPr>
          <p:cNvPr id="56" name="TextBox 55"/>
          <p:cNvSpPr txBox="1"/>
          <p:nvPr/>
        </p:nvSpPr>
        <p:spPr>
          <a:xfrm>
            <a:off x="9418320" y="5788152"/>
            <a:ext cx="2103120" cy="274320"/>
          </a:xfrm>
          <a:prstGeom prst="rect">
            <a:avLst/>
          </a:prstGeom>
          <a:noFill/>
        </p:spPr>
        <p:txBody>
          <a:bodyPr wrap="square" anchor="t" lIns="0" rIns="0" tIns="0" bIns="0">
            <a:spAutoFit/>
          </a:bodyPr>
          <a:lstStyle/>
          <a:p>
            <a:pPr algn="l">
              <a:lnSpc>
                <a:spcPct val="120000"/>
              </a:lnSpc>
            </a:pPr>
            <a:r>
              <a:rPr sz="1100" b="1">
                <a:solidFill>
                  <a:srgbClr val="FFFFFF"/>
                </a:solidFill>
                <a:latin typeface="Hiragino Sans"/>
                <a:ea typeface="Hiragino Sans"/>
                <a:cs typeface="Hiragino Sans"/>
              </a:rPr>
              <a:t>LTV/CAC/Payback の会話</a:t>
            </a:r>
          </a:p>
        </p:txBody>
      </p:sp>
      <p:sp>
        <p:nvSpPr>
          <p:cNvPr id="57" name="TextBox 56"/>
          <p:cNvSpPr txBox="1"/>
          <p:nvPr/>
        </p:nvSpPr>
        <p:spPr>
          <a:xfrm>
            <a:off x="9418320" y="6108192"/>
            <a:ext cx="2103120" cy="274320"/>
          </a:xfrm>
          <a:prstGeom prst="rect">
            <a:avLst/>
          </a:prstGeom>
          <a:noFill/>
        </p:spPr>
        <p:txBody>
          <a:bodyPr wrap="square" anchor="t" lIns="0" rIns="0" tIns="0" bIns="0">
            <a:spAutoFit/>
          </a:bodyPr>
          <a:lstStyle/>
          <a:p>
            <a:pPr algn="l">
              <a:lnSpc>
                <a:spcPct val="115000"/>
              </a:lnSpc>
            </a:pPr>
            <a:r>
              <a:rPr sz="900" b="0">
                <a:solidFill>
                  <a:srgbClr val="D7DDE8"/>
                </a:solidFill>
                <a:latin typeface="Hiragino Sans"/>
                <a:ea typeface="Hiragino Sans"/>
                <a:cs typeface="Hiragino Sans"/>
              </a:rPr>
              <a:t>ビジネス翻訳</a:t>
            </a:r>
          </a:p>
        </p:txBody>
      </p:sp>
      <p:sp>
        <p:nvSpPr>
          <p:cNvPr id="58" name="TextBox 57"/>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47472"/>
            <a:ext cx="164592" cy="164592"/>
          </a:xfrm>
          <a:prstGeom prst="roundRect">
            <a:avLst>
              <a:gd name="adj" fmla="val 6000"/>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292608"/>
            <a:ext cx="10515600" cy="502920"/>
          </a:xfrm>
          <a:prstGeom prst="rect">
            <a:avLst/>
          </a:prstGeom>
          <a:noFill/>
        </p:spPr>
        <p:txBody>
          <a:bodyPr wrap="square" anchor="t" lIns="0" rIns="0" tIns="0" bIns="0">
            <a:spAutoFit/>
          </a:bodyPr>
          <a:lstStyle/>
          <a:p>
            <a:pPr algn="l">
              <a:lnSpc>
                <a:spcPct val="115000"/>
              </a:lnSpc>
            </a:pPr>
            <a:r>
              <a:rPr sz="2200" b="1">
                <a:solidFill>
                  <a:srgbClr val="0F2A4F"/>
                </a:solidFill>
                <a:latin typeface="Hiragino Sans"/>
                <a:ea typeface="Hiragino Sans"/>
                <a:cs typeface="Hiragino Sans"/>
              </a:rPr>
              <a:t>Part 2 まとめ → Part 3 へ</a:t>
            </a:r>
          </a:p>
        </p:txBody>
      </p:sp>
      <p:sp>
        <p:nvSpPr>
          <p:cNvPr id="5" name="TextBox 4"/>
          <p:cNvSpPr txBox="1"/>
          <p:nvPr/>
        </p:nvSpPr>
        <p:spPr>
          <a:xfrm>
            <a:off x="713232" y="749808"/>
            <a:ext cx="10515600" cy="320040"/>
          </a:xfrm>
          <a:prstGeom prst="rect">
            <a:avLst/>
          </a:prstGeom>
          <a:noFill/>
        </p:spPr>
        <p:txBody>
          <a:bodyPr wrap="square" anchor="t" lIns="0" rIns="0" tIns="0" bIns="0">
            <a:spAutoFit/>
          </a:bodyPr>
          <a:lstStyle/>
          <a:p>
            <a:pPr algn="l">
              <a:lnSpc>
                <a:spcPct val="115000"/>
              </a:lnSpc>
            </a:pPr>
            <a:r>
              <a:rPr sz="1100" b="0">
                <a:solidFill>
                  <a:srgbClr val="5A6A80"/>
                </a:solidFill>
                <a:latin typeface="Hiragino Sans"/>
                <a:ea typeface="Hiragino Sans"/>
                <a:cs typeface="Hiragino Sans"/>
              </a:rPr>
              <a:t>業界構造の3大変化と次章の橋渡し</a:t>
            </a:r>
          </a:p>
        </p:txBody>
      </p:sp>
      <p:sp>
        <p:nvSpPr>
          <p:cNvPr id="6" name="Rectangle 5"/>
          <p:cNvSpPr/>
          <p:nvPr/>
        </p:nvSpPr>
        <p:spPr>
          <a:xfrm>
            <a:off x="457200" y="1143000"/>
            <a:ext cx="11274552" cy="13716"/>
          </a:xfrm>
          <a:prstGeom prst="rect">
            <a:avLst/>
          </a:prstGeom>
          <a:solidFill>
            <a:srgbClr val="D7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0" y="6492240"/>
            <a:ext cx="1097280" cy="274320"/>
          </a:xfrm>
          <a:prstGeom prst="rect">
            <a:avLst/>
          </a:prstGeom>
          <a:noFill/>
        </p:spPr>
        <p:txBody>
          <a:bodyPr wrap="square" anchor="t" lIns="0" rIns="0" tIns="0" bIns="0">
            <a:spAutoFit/>
          </a:bodyPr>
          <a:lstStyle/>
          <a:p>
            <a:pPr algn="r">
              <a:lnSpc>
                <a:spcPct val="115000"/>
              </a:lnSpc>
            </a:pPr>
            <a:r>
              <a:rPr sz="900" b="0">
                <a:solidFill>
                  <a:srgbClr val="8A96A8"/>
                </a:solidFill>
                <a:latin typeface="Hiragino Sans"/>
                <a:ea typeface="Hiragino Sans"/>
                <a:cs typeface="Hiragino Sans"/>
              </a:rPr>
              <a:t>P30 / 250</a:t>
            </a:r>
          </a:p>
        </p:txBody>
      </p:sp>
      <p:sp>
        <p:nvSpPr>
          <p:cNvPr id="8" name="Rounded Rectangle 7"/>
          <p:cNvSpPr/>
          <p:nvPr/>
        </p:nvSpPr>
        <p:spPr>
          <a:xfrm>
            <a:off x="548640" y="1371600"/>
            <a:ext cx="1110996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371600"/>
            <a:ext cx="137160" cy="10972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554480"/>
            <a:ext cx="914400" cy="640080"/>
          </a:xfrm>
          <a:prstGeom prst="rect">
            <a:avLst/>
          </a:prstGeom>
          <a:noFill/>
        </p:spPr>
        <p:txBody>
          <a:bodyPr wrap="square" anchor="t" lIns="0" rIns="0" tIns="0" bIns="0">
            <a:spAutoFit/>
          </a:bodyPr>
          <a:lstStyle/>
          <a:p>
            <a:pPr algn="l">
              <a:lnSpc>
                <a:spcPct val="115000"/>
              </a:lnSpc>
            </a:pPr>
            <a:r>
              <a:rPr sz="3400" b="1">
                <a:solidFill>
                  <a:srgbClr val="E87722"/>
                </a:solidFill>
                <a:latin typeface="Helvetica Neue"/>
                <a:ea typeface="Helvetica Neue"/>
                <a:cs typeface="Helvetica Neue"/>
              </a:rPr>
              <a:t>01</a:t>
            </a:r>
          </a:p>
        </p:txBody>
      </p:sp>
      <p:sp>
        <p:nvSpPr>
          <p:cNvPr id="11" name="TextBox 10"/>
          <p:cNvSpPr txBox="1"/>
          <p:nvPr/>
        </p:nvSpPr>
        <p:spPr>
          <a:xfrm>
            <a:off x="1920240" y="1554480"/>
            <a:ext cx="9601200" cy="41148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Cookie『廃止→撤回→実質終了』の3幕劇</a:t>
            </a:r>
          </a:p>
        </p:txBody>
      </p:sp>
      <p:sp>
        <p:nvSpPr>
          <p:cNvPr id="12" name="TextBox 11"/>
          <p:cNvSpPr txBox="1"/>
          <p:nvPr/>
        </p:nvSpPr>
        <p:spPr>
          <a:xfrm>
            <a:off x="1920240" y="2011680"/>
            <a:ext cx="9601200" cy="4572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3rd Party Cookie は Chrome に残存するが、ATT 以降のシグナル減は不可逆。</a:t>
            </a:r>
          </a:p>
          <a:p>
            <a:pPr algn="l">
              <a:lnSpc>
                <a:spcPct val="150000"/>
              </a:lnSpc>
            </a:pPr>
            <a:r>
              <a:rPr sz="1100" b="0">
                <a:solidFill>
                  <a:srgbClr val="1A1A1A"/>
                </a:solidFill>
                <a:latin typeface="Hiragino Sans"/>
                <a:ea typeface="Hiragino Sans"/>
                <a:cs typeface="Hiragino Sans"/>
              </a:rPr>
              <a:t>CAPI / SGTM / 1PD / Enhanced Conversions が業界標準として定着</a:t>
            </a:r>
          </a:p>
        </p:txBody>
      </p:sp>
      <p:sp>
        <p:nvSpPr>
          <p:cNvPr id="13" name="Rounded Rectangle 12"/>
          <p:cNvSpPr/>
          <p:nvPr/>
        </p:nvSpPr>
        <p:spPr>
          <a:xfrm>
            <a:off x="548640" y="2606040"/>
            <a:ext cx="1110996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606040"/>
            <a:ext cx="137160" cy="10972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88920"/>
            <a:ext cx="914400" cy="640080"/>
          </a:xfrm>
          <a:prstGeom prst="rect">
            <a:avLst/>
          </a:prstGeom>
          <a:noFill/>
        </p:spPr>
        <p:txBody>
          <a:bodyPr wrap="square" anchor="t" lIns="0" rIns="0" tIns="0" bIns="0">
            <a:spAutoFit/>
          </a:bodyPr>
          <a:lstStyle/>
          <a:p>
            <a:pPr algn="l">
              <a:lnSpc>
                <a:spcPct val="115000"/>
              </a:lnSpc>
            </a:pPr>
            <a:r>
              <a:rPr sz="3400" b="1">
                <a:solidFill>
                  <a:srgbClr val="E87722"/>
                </a:solidFill>
                <a:latin typeface="Helvetica Neue"/>
                <a:ea typeface="Helvetica Neue"/>
                <a:cs typeface="Helvetica Neue"/>
              </a:rPr>
              <a:t>02</a:t>
            </a:r>
          </a:p>
        </p:txBody>
      </p:sp>
      <p:sp>
        <p:nvSpPr>
          <p:cNvPr id="16" name="TextBox 15"/>
          <p:cNvSpPr txBox="1"/>
          <p:nvPr/>
        </p:nvSpPr>
        <p:spPr>
          <a:xfrm>
            <a:off x="1920240" y="2788920"/>
            <a:ext cx="9601200" cy="41148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LINEヤフー統合 + AI検索勃興で日本広告市場は新構造</a:t>
            </a:r>
          </a:p>
        </p:txBody>
      </p:sp>
      <p:sp>
        <p:nvSpPr>
          <p:cNvPr id="17" name="TextBox 16"/>
          <p:cNvSpPr txBox="1"/>
          <p:nvPr/>
        </p:nvSpPr>
        <p:spPr>
          <a:xfrm>
            <a:off x="1920240" y="3246120"/>
            <a:ext cx="9601200" cy="4572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LINEヤフー広告 (2026春〜) が Google / Meta に次ぐ第3の柱に。</a:t>
            </a:r>
          </a:p>
          <a:p>
            <a:pPr algn="l">
              <a:lnSpc>
                <a:spcPct val="150000"/>
              </a:lnSpc>
            </a:pPr>
            <a:r>
              <a:rPr sz="1100" b="0">
                <a:solidFill>
                  <a:srgbClr val="1A1A1A"/>
                </a:solidFill>
                <a:latin typeface="Hiragino Sans"/>
                <a:ea typeface="Hiragino Sans"/>
                <a:cs typeface="Hiragino Sans"/>
              </a:rPr>
              <a:t>AI Overview・ChatGPT・Perplexity で検索トラフィック構造が変化</a:t>
            </a:r>
          </a:p>
        </p:txBody>
      </p:sp>
      <p:sp>
        <p:nvSpPr>
          <p:cNvPr id="18" name="Rounded Rectangle 17"/>
          <p:cNvSpPr/>
          <p:nvPr/>
        </p:nvSpPr>
        <p:spPr>
          <a:xfrm>
            <a:off x="548640" y="3840480"/>
            <a:ext cx="11109960" cy="1097280"/>
          </a:xfrm>
          <a:prstGeom prst="roundRect">
            <a:avLst>
              <a:gd name="adj" fmla="val 6000"/>
            </a:avLst>
          </a:prstGeom>
          <a:solidFill>
            <a:srgbClr val="FFFFFF"/>
          </a:solidFill>
          <a:ln w="9525">
            <a:solidFill>
              <a:srgbClr val="D7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840480"/>
            <a:ext cx="137160" cy="109728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23360"/>
            <a:ext cx="914400" cy="640080"/>
          </a:xfrm>
          <a:prstGeom prst="rect">
            <a:avLst/>
          </a:prstGeom>
          <a:noFill/>
        </p:spPr>
        <p:txBody>
          <a:bodyPr wrap="square" anchor="t" lIns="0" rIns="0" tIns="0" bIns="0">
            <a:spAutoFit/>
          </a:bodyPr>
          <a:lstStyle/>
          <a:p>
            <a:pPr algn="l">
              <a:lnSpc>
                <a:spcPct val="115000"/>
              </a:lnSpc>
            </a:pPr>
            <a:r>
              <a:rPr sz="3400" b="1">
                <a:solidFill>
                  <a:srgbClr val="E87722"/>
                </a:solidFill>
                <a:latin typeface="Helvetica Neue"/>
                <a:ea typeface="Helvetica Neue"/>
                <a:cs typeface="Helvetica Neue"/>
              </a:rPr>
              <a:t>03</a:t>
            </a:r>
          </a:p>
        </p:txBody>
      </p:sp>
      <p:sp>
        <p:nvSpPr>
          <p:cNvPr id="21" name="TextBox 20"/>
          <p:cNvSpPr txBox="1"/>
          <p:nvPr/>
        </p:nvSpPr>
        <p:spPr>
          <a:xfrm>
            <a:off x="1920240" y="4023360"/>
            <a:ext cx="9601200" cy="411480"/>
          </a:xfrm>
          <a:prstGeom prst="rect">
            <a:avLst/>
          </a:prstGeom>
          <a:noFill/>
        </p:spPr>
        <p:txBody>
          <a:bodyPr wrap="square" anchor="t" lIns="0" rIns="0" tIns="0" bIns="0">
            <a:spAutoFit/>
          </a:bodyPr>
          <a:lstStyle/>
          <a:p>
            <a:pPr algn="l">
              <a:lnSpc>
                <a:spcPct val="115000"/>
              </a:lnSpc>
            </a:pPr>
            <a:r>
              <a:rPr sz="1500" b="1">
                <a:solidFill>
                  <a:srgbClr val="0F2A4F"/>
                </a:solidFill>
                <a:latin typeface="Hiragino Sans"/>
                <a:ea typeface="Hiragino Sans"/>
                <a:cs typeface="Hiragino Sans"/>
              </a:rPr>
              <a:t>代理店内製化 + 運用職シフト = 副業代行にチャンス</a:t>
            </a:r>
          </a:p>
        </p:txBody>
      </p:sp>
      <p:sp>
        <p:nvSpPr>
          <p:cNvPr id="22" name="TextBox 21"/>
          <p:cNvSpPr txBox="1"/>
          <p:nvPr/>
        </p:nvSpPr>
        <p:spPr>
          <a:xfrm>
            <a:off x="1920240" y="4480560"/>
            <a:ext cx="9601200" cy="457200"/>
          </a:xfrm>
          <a:prstGeom prst="rect">
            <a:avLst/>
          </a:prstGeom>
          <a:noFill/>
        </p:spPr>
        <p:txBody>
          <a:bodyPr wrap="square" anchor="t" lIns="0" rIns="0" tIns="0" bIns="0">
            <a:spAutoFit/>
          </a:bodyPr>
          <a:lstStyle/>
          <a:p>
            <a:pPr algn="l">
              <a:lnSpc>
                <a:spcPct val="150000"/>
              </a:lnSpc>
            </a:pPr>
            <a:r>
              <a:rPr sz="1100" b="0">
                <a:solidFill>
                  <a:srgbClr val="1A1A1A"/>
                </a:solidFill>
                <a:latin typeface="Hiragino Sans"/>
                <a:ea typeface="Hiragino Sans"/>
                <a:cs typeface="Hiragino Sans"/>
              </a:rPr>
              <a:t>中小企業の AI導入支援 + 運用代行は需要過多。</a:t>
            </a:r>
          </a:p>
          <a:p>
            <a:pPr algn="l">
              <a:lnSpc>
                <a:spcPct val="150000"/>
              </a:lnSpc>
            </a:pPr>
            <a:r>
              <a:rPr sz="1100" b="0">
                <a:solidFill>
                  <a:srgbClr val="1A1A1A"/>
                </a:solidFill>
                <a:latin typeface="Hiragino Sans"/>
                <a:ea typeface="Hiragino Sans"/>
                <a:cs typeface="Hiragino Sans"/>
              </a:rPr>
              <a:t>『AIを導く運用職』として GA4/SGTM/Incrementality を備えた人材は希少</a:t>
            </a:r>
          </a:p>
        </p:txBody>
      </p:sp>
      <p:sp>
        <p:nvSpPr>
          <p:cNvPr id="23" name="Rounded Rectangle 22"/>
          <p:cNvSpPr/>
          <p:nvPr/>
        </p:nvSpPr>
        <p:spPr>
          <a:xfrm>
            <a:off x="548640" y="5212080"/>
            <a:ext cx="11109960" cy="1097280"/>
          </a:xfrm>
          <a:prstGeom prst="roundRect">
            <a:avLst>
              <a:gd name="adj" fmla="val 6000"/>
            </a:avLst>
          </a:prstGeom>
          <a:solidFill>
            <a:srgbClr val="0F2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349240"/>
            <a:ext cx="10972800" cy="411480"/>
          </a:xfrm>
          <a:prstGeom prst="rect">
            <a:avLst/>
          </a:prstGeom>
          <a:noFill/>
        </p:spPr>
        <p:txBody>
          <a:bodyPr wrap="square" anchor="t" lIns="0" rIns="0" tIns="0" bIns="0">
            <a:spAutoFit/>
          </a:bodyPr>
          <a:lstStyle/>
          <a:p>
            <a:pPr algn="l">
              <a:lnSpc>
                <a:spcPct val="115000"/>
              </a:lnSpc>
            </a:pPr>
            <a:r>
              <a:rPr sz="1800" b="1">
                <a:solidFill>
                  <a:srgbClr val="E87722"/>
                </a:solidFill>
                <a:latin typeface="Helvetica Neue"/>
                <a:ea typeface="Helvetica Neue"/>
                <a:cs typeface="Helvetica Neue"/>
              </a:rPr>
              <a:t>NEXT →  Part 3 媒体別キャッチアップ (110p)</a:t>
            </a:r>
          </a:p>
        </p:txBody>
      </p:sp>
      <p:sp>
        <p:nvSpPr>
          <p:cNvPr id="25" name="TextBox 24"/>
          <p:cNvSpPr txBox="1"/>
          <p:nvPr/>
        </p:nvSpPr>
        <p:spPr>
          <a:xfrm>
            <a:off x="777240" y="5760720"/>
            <a:ext cx="10972800" cy="548640"/>
          </a:xfrm>
          <a:prstGeom prst="rect">
            <a:avLst/>
          </a:prstGeom>
          <a:noFill/>
        </p:spPr>
        <p:txBody>
          <a:bodyPr wrap="square" anchor="t" lIns="0" rIns="0" tIns="0" bIns="0">
            <a:spAutoFit/>
          </a:bodyPr>
          <a:lstStyle/>
          <a:p>
            <a:pPr algn="l">
              <a:lnSpc>
                <a:spcPct val="150000"/>
              </a:lnSpc>
            </a:pPr>
            <a:r>
              <a:rPr sz="1200" b="0">
                <a:solidFill>
                  <a:srgbClr val="FFFFFF"/>
                </a:solidFill>
                <a:latin typeface="Hiragino Sans"/>
                <a:ea typeface="Hiragino Sans"/>
                <a:cs typeface="Hiragino Sans"/>
              </a:rPr>
              <a:t>Google Ads (25p) / Meta (22p) / YouTube (12p) / Yahoo! (10p) / TikTok (15p)</a:t>
            </a:r>
          </a:p>
          <a:p>
            <a:pPr algn="l">
              <a:lnSpc>
                <a:spcPct val="150000"/>
              </a:lnSpc>
            </a:pPr>
            <a:r>
              <a:rPr sz="1200" b="0">
                <a:solidFill>
                  <a:srgbClr val="FFFFFF"/>
                </a:solidFill>
                <a:latin typeface="Hiragino Sans"/>
                <a:ea typeface="Hiragino Sans"/>
                <a:cs typeface="Hiragino Sans"/>
              </a:rPr>
              <a:t>LINE (10p) / X (6p) / LinkedIn (5p) / Amazon Ads (5p)</a:t>
            </a:r>
          </a:p>
        </p:txBody>
      </p:sp>
      <p:sp>
        <p:nvSpPr>
          <p:cNvPr id="26" name="TextBox 25"/>
          <p:cNvSpPr txBox="1"/>
          <p:nvPr/>
        </p:nvSpPr>
        <p:spPr>
          <a:xfrm>
            <a:off x="457200" y="6492240"/>
            <a:ext cx="9144000" cy="274320"/>
          </a:xfrm>
          <a:prstGeom prst="rect">
            <a:avLst/>
          </a:prstGeom>
          <a:noFill/>
        </p:spPr>
        <p:txBody>
          <a:bodyPr wrap="square" anchor="t" lIns="0" rIns="0" tIns="0" bIns="0">
            <a:spAutoFit/>
          </a:bodyPr>
          <a:lstStyle/>
          <a:p>
            <a:pPr algn="l">
              <a:lnSpc>
                <a:spcPct val="115000"/>
              </a:lnSpc>
            </a:pPr>
            <a:r>
              <a:rPr sz="900" b="0">
                <a:solidFill>
                  <a:srgbClr val="8A96A8"/>
                </a:solidFill>
                <a:latin typeface="Hiragino Sans"/>
                <a:ea typeface="Hiragino Sans"/>
                <a:cs typeface="Hiragino Sans"/>
              </a:rPr>
              <a:t>Digital Marketing Catch-Up 2023→2026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