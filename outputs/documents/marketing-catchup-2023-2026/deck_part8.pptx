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リファレンス + チェックリスト + 全体まとめ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用語集 / 主要ツール比較表 / 情報源リスト / プロンプト集 /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クライアント FAQ / 副業復帰チェックリスト / AI ツール月額一覧 /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Part 1-7 を即引きできるリファレンス章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用語集 ×3p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ツール比較 (AI/運用/計測)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情報源リスト (英/日)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プロンプト集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クライアント FAQ ×2p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副業復帰チェックリスト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AI ツール月額一覧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全体まとめ + 出典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用語集 (1/3) : A -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2024-2026 業界用語集 (副業代行で頻出)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P232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Advantage+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Shopping (ASC)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Meta統合AI配信 (旧). 2025/02 から Advantage+ Sales にリブランド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173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270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Advantage+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 Sales目的の統合AI配信. 2025/02 リブランド + 多用途化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173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270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Andromeda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Meta配信ML世代 (2024末). 10,000x モデル複雑度, Quality +8%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4173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141732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5270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Aggregated Event Measurement. iOSの差分プライバシー計測 (Meta)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69748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69748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80720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AI Max for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0040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Google検索広告のAI拡張層 (2025/05). DSA置換予定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269748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269748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280720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20040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App Tracking Transparency (Apple). 2021/04~ iOS計測シグナル減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269748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69748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80720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Bid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20040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入札戦略. tCPA/tROAS/MaxConv等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269748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15400" y="269748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280720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BrandConnect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320040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YouTube公式クリエイター連携プログラム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用語集 (2/3) : C -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2024-2026 業界用語集 (副業代行で頻出)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P233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API. サーバーサイド計測の業界標準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173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270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Consent Mode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Google同意管理. EEA 2024/03 義務化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173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270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CDP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Data Platform. 1PD統合配信プラットフォーム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4173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141732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52704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Customer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202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顧客リスト広告連携. 全媒体で標準機能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69748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69748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80720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DDA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0040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Data-Driven Attribution. ML基盤のCV配分. GA4/GAds標準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269748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269748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280720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Demand 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20040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Google需要喚起型 (2023/10 Discovery統合)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269748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69748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80720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EMQ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20040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Event Match Quality. CAPI送信品質スコア (Meta)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269748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15400" y="2697480"/>
            <a:ext cx="73152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280720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Enhanced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Conversions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320040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Google拡張CV. ハッシュ化1PDで計測補強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用語集 (3/3) : G -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2024-2026 業界用語集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P234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GEO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Generative Engine Optimization. LLM検索向け最適化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2588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2588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41732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Lift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/ Brand / Search Lift. Incremental効果測定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1732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Meridian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MMM (2024 OSS). Python/Bayesian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32588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132588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41732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MMM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73736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Media Mix Modeling. 統計モデルで媒体貢献推定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3774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37744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46888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PMax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78892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Performance Max. Google統合AI配信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23774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237744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246888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Privacy Sandbox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278892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Cookie代替案. 2025/10/17 大半廃止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23774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37744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46888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Robyn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78892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 MMM (2023 OSS). R/Ridge回帰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23774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15400" y="237744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246888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SGTM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78892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Server-side GTM. 計測タグをサーバーで処理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4290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342900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52044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Smart+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84048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TikTok完全自動化キャンペーン (2024/10)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34290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37560" y="342900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0440" y="352044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Symphony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384048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TikTok生成AIスイート (Creative Studio)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0" y="34290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0" y="342900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52044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Spark Ads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84048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 UGC型広告. オーガニック投稿を広告化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15400" y="34290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15400" y="3429000"/>
            <a:ext cx="73152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352044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Talk Head 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384048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LINE予約型動画広告. ホーム最上部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主要ツール比較 : AI生成系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コピー / 画像 / 動画 のおすすめ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P235 / 250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109960" cy="4572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カテゴリ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481328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ツール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48132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月額(目安)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4813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92024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ChatGPT (GPT-5/o4)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9202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汎用 / 広告コピー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9456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860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2860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Claude (Opus 4.7/Sonnet 4.6)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860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2860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長文/分析/Computer 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56032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5176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26517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Gemini (2.5 Ultra/Pro)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6517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6517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Workspace連携 / Google Ads連携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92608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017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01752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Jasper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0175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$49〜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0175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ブランドボイス保持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29184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38328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338328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Anyword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3832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$49〜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3832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予測スコア+量産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5760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7490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画像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374904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Midjourney v7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7490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$10〜120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37490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高品質汎用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02336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1148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画像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41148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DALL-E (ChatGPT内)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1148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41148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ChatGPTで会話的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38912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48056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画像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4805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Adobe Firefly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44805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$10〜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4480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商用利用安心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75488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8463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動画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484632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Sora 2 (ChatGPT Pro)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48463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48463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高品質60秒対応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2064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21208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動画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23160" y="521208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Veo 3 (Vertex AI)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52120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従量課金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5212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Google連携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48640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55778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動画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23160" y="557784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Runway Gen-4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55778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$15〜95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3960" y="55778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細かい制御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585216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59436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動画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23160" y="59436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Luma Dream Machine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59436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$10〜100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23960" y="59436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コスパ高速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主要ツール比較 : 運用系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媒体運用支援ツール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P236 / 250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109960" cy="4572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カテゴリ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481328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ツール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48132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月額(目安)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4813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運用統合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92024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Skai (旧Kenshoo)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9202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全媒体一元管理 / 大型代理店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9456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860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運用統合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2860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Marin 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860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中堅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2860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Search特化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56032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5176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運用統合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26517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Optmyzr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6517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$208〜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6517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PMax深いインサイト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92608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017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 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01752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Adalysis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0175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$99〜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0175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Negative KW提案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29184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38328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338328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AdCreative.ai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3832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$29〜249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3832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10秒で広告生成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5760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7490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広告生成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374904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Omneky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7490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$199〜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37490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クリエイティブ自動生成+配信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02336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1148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広告生成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41148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Smartly.io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1148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Enterprise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41148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Meta統合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38912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48056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計測予測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4805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Vidmob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44805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Enterprise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4480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動画スコアリング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75488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8463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484632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Claude Computer Use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48463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Pro $20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48463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管理画面操作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2064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21208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23160" y="521208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OpenAI Operator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52120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Pro $200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5212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Webタスク完遂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48640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55778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Agent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23160" y="557784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Microsoft 365 Copilot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55778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$30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3960" y="55778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Office内AI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主要ツール比較 : 計測系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計測・分析・MMM ツール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P237 / 250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109960" cy="4572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カテゴリ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481328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ツール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48132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月額(目安)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4813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92024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GA4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無料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9202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標準アクセス解析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9456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860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2860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Looker Studio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860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無料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2860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BIダッシュボード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56032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5176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26517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BigQuery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6517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従量課金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6517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GA4データ深掘り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92608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017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01752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Adobe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0175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0175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エンタープライズ向け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29184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38328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338328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Cookiebot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3832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€9〜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3832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中小〜中堅向けCMP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5760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7490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CMP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374904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OneTrust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7490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Enterprise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37490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エンタープライズCMP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02336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1148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CMP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41148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usercentrics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1148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€39〜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41148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ドイツ系GDPR完全準拠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38912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48056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SGTM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4805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Cloudflare Workers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44805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数百円〜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4480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コスパ最強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75488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8463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SGTM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484632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Google Cloud Run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48463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$120〜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48463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公式推奨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2064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21208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SGTM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23160" y="521208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Stape.io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52120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$20〜200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5212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マネージドSGTM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486400"/>
            <a:ext cx="11109960" cy="3657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55778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MMM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23160" y="557784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Meta Robyn (OSS)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55778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無料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3960" y="55778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R/Ridge回帰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5852160"/>
            <a:ext cx="11109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59436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MMM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23160" y="59436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Google Meridian (OSS)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59436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無料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23960" y="59436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Python/Bayesian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情報源リスト : 英語サイト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週次でチェックすべき媒体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P238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Search Engine 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searchengineland.com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 / SEO の総合ニュース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DDA / AI Max / PMax 詳細解説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Marketing 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martech.org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Marketing Tech 全般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大手媒体ニュース統合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1752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adage.com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2918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広告業界ビジネスニュース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代理店動向 / マーケット情報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65176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65176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74320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adweek.com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広告クリエイティブ + 業界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ブランディングニュース中心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8620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97764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Digiday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2519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digiday.com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5262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DSP / Programmatic / リテールメディア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業界深掘り記事多い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88620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88620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97764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Social Media Today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519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socialmediatoday.com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262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 / TikTok / X / LinkedIn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媒体アップデート速報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2064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12064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21208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Think with Google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48640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thinkwithgoogle.com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7607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Google公式マーケティングブログ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データ + ベストプラクティス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512064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512064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1208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 for Business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48640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facebook.com/business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7607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Meta公式アップデート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/ Andromeda 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情報源リスト : 日本語サイト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日本市場特化のキャッチアップ媒体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P239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日経XTREND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xtrend.nikkei.com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日本マーケティング総合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LINEヤフー統合等の深掘り解説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MarkeZine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markezine.jp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業界ニュース + 事例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副業・代理店動向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Web担当者Forum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1752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webtan.impress.co.jp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2918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Web マーケティング全般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初心者向け解説豊富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65176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65176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74320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ITmedia マーケティング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marketing.itmedia.co.jp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B2B + Tech系マーケ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DX / SaaS 領域強い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8620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97764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AdverTimes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2519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advertimes.com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5262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宣伝会議系媒体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ブランディング + 代理店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88620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88620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97764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MERCI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519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marketingnative.jp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262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クリエイター視点の業界記事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若手向け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2064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12064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21208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CARTA HOLDINGS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48640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cartaholdings.co.jp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7607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デジタル広告統計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業界調査レポート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512064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5120640"/>
            <a:ext cx="91440" cy="1143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1208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電通報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48640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dentsu-ho.com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7607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電通公式メディア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年次広告費レポート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プロンプト集 : 即利用可能な5本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Part 5-B のテンプレ + 短縮版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P240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3716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戦略立案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20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新規案件の戦略を AI と作る (Part 5-B P199)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68880"/>
            <a:ext cx="13716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06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06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クリエイティブブリーフ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971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Midjourney / Sora 用ブリーフ生成 (Part 5-B P200)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20440"/>
            <a:ext cx="13716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576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57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月次レポート要約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23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数字データから自然言語要約 (Part 5-B P201)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720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572000"/>
            <a:ext cx="13716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7091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#4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Negative KW 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074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Search Terms 分析 (Part 5-B P202)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623560"/>
            <a:ext cx="13716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760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#5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競合LP分析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競合5サイトを Claude に貼って共通要素+差別化要素抽出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クライアント FAQ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副業代行で頻出される質問+回答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P241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Q. なぜ Last Click ROI ではダメ?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A. AI配信の貢献を過小評価するため。DDA + Incremental ROAS で見るのが2026標準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96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Q. PMax は何が良いのか?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80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A. 全在庫横断のAI最適化。手動運用より配信効率が高く、運用工数も削減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021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Q. Cookie廃止になったのでは?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A. 2024/07撤回 + 2025/10 Privacy Sandbox 終了で Chromeに無期限残存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Q. AI生成した広告は問題ない?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A. 商用利用OKツール (Firefly等) なら安心。実在人物・既存IPは禁止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9496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6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138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Q. 月予算 30万円でも代行依頼できる?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A. はい。SMB Tier (代行料3-5万円固定) で対応可能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クライアント FAQ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応用編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P242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Q. ステマ規制って何?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A. 2023/10/01施行. 事業者の表示で広告判別困難なものが規制対象. PR表記必須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96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Q. Lift Test と A/Bテスト の違いは?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80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A. A/Bテスト=配信内バリエーション比較. Lift Test=広告接触vs非接触のCV率比較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021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Q. LINEヤフー広告 = いつから?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A. 2026年春から統合スタート. 既存Yahoo!広告ユーザーは自動移行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Q. TikTok Shop ってどう活用?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A. 2025/06 日本ローンチ. EC案件は Shop Ads で動画→購入直結が可能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9496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6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138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Q. AIエージェント運用は安全?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A. L1観察 + L2提案は実用段階. L3実行 (予算変更等) は人間承認必須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副業復帰チェックリスト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学んだことの自分用 30項目チェック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P243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Cookie 廃止撤回 (2024/07) + Privacy Sandbox 終了 (2025/10) を理解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1732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08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554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イベントベース計測の思想 を理解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1732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508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554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SGTM + CAPI のハイブリッド構成 を実装可能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92024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011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0574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Enhanced Conversions 設定 + Customer Match 連携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92024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011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574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Consent Mode v2 + CMP 導入手順 を把握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192024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011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0574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の統制術 (Audience Signal / Negative / Brand Exclusions) を理解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42316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514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2560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Sales (旧ASC) リブランドを把握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242316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2514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560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Andromeda 配信ML世代を理解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242316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2514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560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 Smart+ + Symphony Creative Studio の活用法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92608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0175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3063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Max for Search (2025/05) の機能と DSA置換予定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292608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0175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3063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DDA (Data-Driven Attribution) を全媒体で標準採用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80" y="292608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30175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3063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Lift Test を月次で提案可能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342900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204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3566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Brand Lift Study の4指標を説明可能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1960" y="342900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0" y="35204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3566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MMM (Robyn / Meridian) の概要を説明可能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80" y="342900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35204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ChatGPT/Claude/Gemini の使い分け を理解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393192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0233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4069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Midjourney + Sora 2 で 1案件分のクリエイティブ量産可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60" y="393192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0" y="40233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4069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Symphony Creative Studio で TikTok 動画自動生成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55280" y="393192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92440" y="40233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4069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Agent型運用 (Claude Computer Use等) の3レイヤー理解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443484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45262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" y="4572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Analytics (GA4 Insights / Conversational) を活用可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51960" y="443484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0" y="45262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3440" y="4572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プロンプトテンプレ (戦略/ブリーフ/レポート/Neg KW) を保有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55280" y="443484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2440" y="45262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6760" y="4572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ステマ規制 (2023/10/01) の事業者責任を理解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" y="493776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5029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" y="5074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EU DSA (2024/02/17) と日本配信時の影響を把握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51960" y="493776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9120" y="5029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3440" y="5074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LINEヤフー広告統合 (2026春) のクライアント説明可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55280" y="493776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92440" y="5029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66760" y="5074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Tier 1 (SMB) で月3-5万円の代行料設定可能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8640" y="544068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" y="5532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" y="55778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30日プラン (Day0-3 / 3-5 / 5-7 / Wk2-4) で進行可能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51960" y="544068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89120" y="5532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63440" y="55778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L3 (HP制作+広告運用初月10万円) を96時間納品可能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955280" y="544068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92440" y="5532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66760" y="55778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BigQuery + Looker Studio でレポート効率化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" y="594360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5800" y="60350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0120" y="60807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業界情報源 (英語/日本語) を週次でチェック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51960" y="594360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89120" y="60350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63440" y="60807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Lift Test 結果から Incremental ROAS を提示可能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955280" y="594360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092440" y="60350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66760" y="60807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1人で月10-15案件並行 が可能なワークフロー確立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ツール / サブスク 月額一覧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副業代行で必須 + 任意のサブスク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P244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✓ 必須サブスク (推定月額 US$70)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ChatGPT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58568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コピー / 分析 / DALL-E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1460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8775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Claude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060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$20/月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07208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Computer Use / 長文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6324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3639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Midjourney 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54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$30/月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55848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画像量産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1188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850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Cookiebot 等 CMP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03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€9〜/月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04488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Consent Mode v2 (クライアント側)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⊙ 任意サブスク (案件規模で判断)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783080"/>
            <a:ext cx="52578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196596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03911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ChatGPT Pro (Sora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0574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$200/月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25856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動画量産月のみ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51460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58775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Adobe CC + Firefly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6060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$60/月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80720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高単価案件用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06324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13639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Optmyzr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154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$208/月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35584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月20案件以上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61188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6850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703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$99/月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90448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Google Ads 中心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16052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23367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AdCreative.ai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2519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$29〜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453128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中規模以上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💰 副業代行のサブスク総額目安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394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ミニマム (月3-5案件) : 必須のみ = 月 US$70 程度 (約11,000円)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中規模 (月10-15案件) : 必須 + Optmyzr/Adalysis = 月 US$170-300 (約26,000-46,000円)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フル装備 (月15案件以上 + 動画) : 月 US$400-500 (約60,000-75,000円)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1案件あたりサブスクコスト = ミニマムで2,000-3,000円程度。代行料3-5万円で十分ペイ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🎉 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Digital Marketing Catch-Up 2023 →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468880"/>
            <a:ext cx="8503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245p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総ページ数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7889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7889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301752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7033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章構成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7889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7889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01752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9媒体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7033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媒体別カバー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7889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27889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01752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2.5年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7033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ブランク埋め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572000"/>
            <a:ext cx="10360152" cy="137160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10360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副業復帰の準備が整いました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103601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6 鉄板運用メソッド + Part 7 BSA L3 実装ガイドで</a:t>
            </a:r>
          </a:p>
          <a:p>
            <a:pPr algn="ctr">
              <a:lnSpc>
                <a:spcPct val="155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新規案件を即受注 → 30日完遂可能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Created : 2026-04-25  /  工藤陸 (内部資料)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