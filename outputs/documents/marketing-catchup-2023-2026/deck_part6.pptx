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鉄板運用メソッド 2026年版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副業代行で『これだけ押さえれば成果が出る』運用設計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2026年現在のAI運用時代に合わせた鉄板メソッド。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アカウント構造・入札・クリエイティブ・Learning Phase・検証設計・レポート まで一気通貫。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Part 1-5 を踏まえた『総まとめ』として、新規案件で即活用可能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全体俯瞰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アカウント構造 Hub&amp;Spoke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入札戦略選定フロー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クリエイティブ設計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Learning Phase 突破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予算配分フレーム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検証設計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月次レポート標準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クライアント説明スクリプト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案件タイプ別構成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月次運用サイクル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KPI / KGI 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料金設計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Part 7 へ橋渡し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2026 鉄板運用メソッド 全体俯瞰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5つの柱 + 1つのサイクル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221992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221992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構造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Hub &amp; Spoke + AIに任せる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1947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/ Advantage+ / Smart+ 中心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2-3 ad set + AIで完全自動化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417320"/>
            <a:ext cx="2221992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417320"/>
            <a:ext cx="2221992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1581912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計測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1965960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1PD + CAPI + DDA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377440"/>
            <a:ext cx="1947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/ Enhanced Conv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SGTM + Conversion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417320"/>
            <a:ext cx="2221992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417320"/>
            <a:ext cx="2221992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1581912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素材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1965960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AI生成 + 媒体ネイティブ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377440"/>
            <a:ext cx="1947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Midjourney/Sora で量産 +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で拡張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6" y="1417320"/>
            <a:ext cx="2221992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1417320"/>
            <a:ext cx="2221992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1581912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1965960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Lift Test + DDA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377440"/>
            <a:ext cx="1947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Conversion/Brand Lift で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Incremental ROAS 測定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1417320"/>
            <a:ext cx="2221992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9488" y="1417320"/>
            <a:ext cx="2221992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581912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オペレーション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1965960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Agent + プロンプト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377440"/>
            <a:ext cx="1947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Claude/Operator で工数削減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レポートも AI 自動化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🔄 1ヶ月の運用サイクル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5262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Day 0-7  : 計測整備 + キャンペーン構造設計 + Audience Signal投入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Day 8-21 : Learning Phase 突破 (予算 ±20% 安定運用 + 素材追加)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Day 22-30: Lift Test 検証 + Optiscore適用 + 月次レポート + 次月提案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翌月以降 : 月次サイクル継続。Lift結果 × Negative KW × クリエイティブ更新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1サイクル = 1案件あたり1人月で、AI駆使すれば月10-20案件並行可能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アカウント構造 : Hub &amp; Spoke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PMax/Advantage+/Smart+ 中心の現代型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18304" y="251460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3017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(Hub)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3716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5087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検索広告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2024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Broad Match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+ AI 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3716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5087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PMax / Advantage+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192024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全媒体在庫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統合配信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5720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Demand 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2064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YouTube/Discover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4572000"/>
            <a:ext cx="155448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47091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Smart+ (TikTok)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512064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縦型動画</a:t>
            </a:r>
          </a:p>
          <a:p>
            <a:pPr algn="ctr">
              <a:lnSpc>
                <a:spcPct val="140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Web/Catalog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35040"/>
            <a:ext cx="11109960" cy="3200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1キャンペーン + 2-3 ad set + AI完全自動化 が現代の鉄板。広告セット細分化はNG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入札戦略 選定フロー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目的別フローチャート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P209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CV系 (リード/購入)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Maximize Conversions → Target CPA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1-2週間でCV30件以上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Target CPA に切替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CPAは現状の ±20%以内で設定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売上重視 (EC/D2C)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Maximize Conv. Value → Target 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VBB前提 (CV値送信必須)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CV30件以上で安定後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ROASは現状の +20%目安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認知 (ブランディング)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Maximize Reach / Bumper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2461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リーチ最大化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Frequency Cap で頻度制御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Study で測定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全戦略共通の鉄則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学習開始 = まず Maximize系 で『AIに学習させる』 (1-2週間)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安定後 = Target CPA/ROAS で予算効率を追求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設定値 = 現状実績の ±20% 以内 (極端な値は学習リセット)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学習中の予算変動 = ±20% 以内 (大きく動かすと学習リセット)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Manual CPC は使わない (特殊用途のみ)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Smart Bidding = 全媒体共通の前提、手動入札の時代は終わり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クリエイティブ本数・バリエーション設計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AI生成時代の量産フレーム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P210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本数の目安 (媒体別 / 月間)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RSA: 5-10 ad group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見出し15+説明文4 完備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アセット 6-10種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8288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6888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10-30 クリエイティブ/月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ON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動画+静止画+カルーセル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TikTok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6888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20-30 動画/月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Spark Ads (Creator) +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Symphony (AI生成) ミックス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82880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YouTube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68880"/>
            <a:ext cx="2423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5-15 動画/月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6/15/30秒 + 縦型 9:16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ABCD原則準拠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11109960" cy="2468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23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バリエーション設計の鉄則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0972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訴求軸 = 5案 (価格 / 機能 / 体験 / 信頼 / 感情)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訴求軸 × 訴求要素 (人物有 / 商品単体 / Before-After / 数字 / トレンド) でマトリクス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月初に大量量産 → 月中で勝ちパターン抽出 → 月末に勝ちパターン強化版を量産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媒体ネイティブ生成 (Advantage+ Creative / Symphony) で更にバリエーション拡張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AI 生成の品質チェック : 全部ではなく『勝ちそう20%』のみ人間レビュー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Learning Phase 突破手順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学習期間で失敗しないための7ルール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予算 ±20% 以内に固定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学習中の予算変動はリセット要因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0020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目標値も ±20% 以内に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860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tCPA/tROAS の極端な値変更NG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0020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週単位でCVを30件以上目標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下回るキャンペーンは構造見直し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600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60020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アセット追加は週1回程度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28600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頻繁な変更で学習がリセット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15468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 set 統合 (細分化NG)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4048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1キャンペーン 2-3 ad set 推奨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9718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1546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15468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 Signal を充実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84048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1PD投入 + Intent Segments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5262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7091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709160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Optiscore は計測系から適用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3949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 / DDA等 学習補助系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Learning Phaseは『AIを育てる時間』。我慢して触らないのが最大のベストプラクティス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予算配分フレーム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媒体別配分の目安と動的調整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P212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業種別の標準配分 (Google : Meta : 他媒体)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EC / D2C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Google 40 / Meta 40 / TikTok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5074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+ Advantage+ Sales + Smart+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の3軸構成が鉄板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BtoBリード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Google 50 / Meta 20 / LinkedIn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074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Search広告 + Lead Form 中心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LinkedIn ABM で深掘り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8328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02152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飲食/美容/ローカル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Google 50 / Meta 30 / LINE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5074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Maps + Local + Meta Reels +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LINE公式アカウント連携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8328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02152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認知獲得型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404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YouTube 40 / Meta 30 / TikTok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60520"/>
            <a:ext cx="5074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VRC + Reels + Smart+ で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縦型/横型動画ミックス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2920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66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動的調整の原則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月次でROAS/CPA基準で配分見直し (媒体間で予算移動)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大きな動かしは ±20% 以内 (学習リセット回避)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MMM結果で再配分 (中規模以上、月予算500万円〜)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検証設計 — Incrementality + A/B + 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ラストクリック超えの効果測定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Conversion 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媒体内 (Meta/Google/TikTok)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Test/Control群でCV率比較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月100万以上で月次標準化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Brand Lift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認知系効果測定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7744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 Recall/Awareness/Intent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ブランディング案件で必須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Search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YouTube独自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37744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ブランド検索数の上昇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 → 検索 導線を測定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Geo Lift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地域別非配信実験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377440"/>
            <a:ext cx="2423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TVCM併用ブランド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商用ツール (Geolift等)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11109960" cy="2468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23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副業代行で検証設計を提案するシナリオ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10972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100万円以上のCV系 = Conversion Lift Test を月次で実施 (無料)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100万円以上の認知系 = Brand Lift Study (媒体側無料、Meta/Google/TikTok)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YouTube認知 = Brand Lift + Search Lift で『認知 → 検索』導線確認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月予算 500万円以上 + 多媒体 = MMM (Robyn/Meridian) で全体配分検証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クライアントレポートに『Incremental ROAS』を必ず記載 (差別化要素)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月次レポート標準フォーマット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クライアント向けの『これだけ載せれば信頼』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Section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エグゼクティブサマリー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3-5行 + 主要数字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月の総括 + 今月の論点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544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Section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KGI / KPI 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売上 / CV / CPA / ROAS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前月比・目標比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544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Section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媒体別パフォーマンス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24028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媒体別の数字 + コメント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良かった点・課題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71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08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Section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832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クリエイティブ分析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Best/Low クリエイティブ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勝ちパターン抽出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2971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108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Section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3832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Lift Test結果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79476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Incremental ROAS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認知系は Brand Lift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2971800"/>
            <a:ext cx="9144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108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Section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3832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来月の提案 + 予算配分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79476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アクション3つ + 期待効果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予算変更の提案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2920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166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レポート作成効率化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48640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Looker Studio でテンプレ化 → 月次自動更新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Conversational Analytics で要約自動生成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Section 1, 6 のみ人間執筆、他は AI Insights 活用 → 工数 5h → 1h 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クライアント説明スクリプト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鉄板の伝え方 5パターン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90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📊 数字が悪い時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『今月のCPAは目標を上回りましたが、Lift Test では Incremental ROAS が改善しています。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これは AI学習が進み、表示頻度が最適化された結果。来月は X を試します』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✨ 数字が良い時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『今月の好調要因は A/B/C の3つです。来月は B を更に伸ばすため X を試します。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ただし AI配信の特性上、再現性を保つには検証期間が必要です』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⚠ 大きな変更を提案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『現状はXX%で安定していますが、Y を導入することで短期的にZ%改善見込み。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ただし学習期間1-2週間で一時的にCPA上昇のリスクあります』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8912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📈 予算増額提案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『現在のCPAは目標内、ROASも改善傾向。予算+30%で月CV +25%を見込めます。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Lift Test結果から Incremental ROASも維持される見込みです』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9144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138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🚨 予算削減を求められた時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『削減は可能ですが、Learning Phaseリセットで一時的にCPA悪化のリスクあります。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段階的に -20%/週 で動かす方が学習継続できる選択肢もあります』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案件タイプ別の鉄板構成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業種別の標準パッケージ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406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EC / D2C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PMax + Advantage+ Sales + Smart+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+ Lookalike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動画+静止画 月20-30本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+ Conversion Lift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406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リード獲得 (B2B)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Google Search + Meta Lead + LinkedIn ABM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LeadGen Form + EC for Leads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Sponsored + Thought Leader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CRM連携 (Closed-Loop)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4406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050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飲食/美容/ローカル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Google PMax (Store Goals) + Meta Reels +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Business Profile連携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LINE公式アカウント連携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クーポン配布で来店促進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840480"/>
            <a:ext cx="54406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050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認知獲得 (ブランド)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YouTube VRC + Meta Reels + TikTok Smart+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4632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Bumper + 縦型 6/15/30秒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Brand Lift Study 必須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Reach + Frequency最適化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副業代行の月次運用サイクル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週単位のタスクスケジュール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計測整備 + 構造設計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・GA4/Tag/CAPI 確認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・キャンペーン構造決定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・初期クリエイティブ投入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・Audience Signal設定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Learning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1460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・予算 ±20% 安定運用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・週末にSearch Terms確認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・Negative KW 5-10件追加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・素材追加は最小限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5740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中間レビュー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1460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・Best/Low クリエイティブ抽出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・Lift Test 申請 (該当時)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・Optiscore 適用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・クリエイティブ追加 5-10本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536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Week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05740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レポート + 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51460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・月次レポート作成 (AI活用)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・Lift Test 結果分析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・来月予算配分提案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・クライアントMTG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11109960" cy="23317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1ヶ月の工数目安 (1案件あたり)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Week 1 (構造設計) : 8-10h (初月のみ、2ヶ月目以降は2-3h)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Week 2 (Learning) : 2-3h (確認 + 微調整中心)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Week 3 (中間レビュー) : 4-5h (素材追加 + Optiscore適用)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Week 4 (レポート + 提案) : 4-5h (AI活用で 2h 程度に圧縮可)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= 月間合計 : 初月 18-23h、2ヶ月目以降 12-15h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= 1人で月10-15案件並行 (AI 駆使前提) が現実的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KPI / KGI 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クライアントと合意するべき数字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406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KGI (最終目標)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売上 / リード件数 / LTV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クライアントのビジネス目標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月次・四半期で合意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例: 月売上1,000万円 / 月50リード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406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KPI 主指標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CV件数 / ROAS / CPA / CPL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広告運用で直接動かせる指標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KGIに連動する形で設定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例: CPL 5,000円以下 / ROAS 200%以上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4406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050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KPI 副指標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CTR / CVR / IS /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改善の手がかりとなる指標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月次レポートで言及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例: CTR 2%以上 / IS 60%以上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840480"/>
            <a:ext cx="54406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0507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健全性指標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Quality Score / Optiscore / EMQ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46320"/>
            <a:ext cx="50749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アカウント健全性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クライアントには非報告でも内部監視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例: Optiscore 80%以上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副業代行の料金設計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案件規模別の標準料金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P219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Tier 1 : SMB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月予算 30-100万円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2316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代行料 月3-5万円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固定報酬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 1-2軸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Tier 2 : 中堅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月予算 100-500万円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2316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代行料 月5-15万円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固定 + 成果報酬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 2-3軸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Tier 3 : 中規模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月予算 500-2,000万円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2316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代行料 月20-50万円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固定 + ROAS連動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全媒体構成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581912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Tier 4 : 大手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96596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月予算 2,000万円以上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423160"/>
            <a:ext cx="2423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代行料 月50万円〜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業績連動契約</a:t>
            </a:r>
          </a:p>
          <a:p>
            <a:pPr algn="ctr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MMM / 専門ツール込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11109960" cy="2468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233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副業代行スタートの推奨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109728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最初の3-5案件 = Tier 1 (月3-5万円固定) で実績作り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6-10案件目 = Tier 2 を狙う (実績 + ROAS事例 + Lift Test 提示)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月収目標 = Tier 1 × 5社 + Tier 2 × 3社 = 月30-60万円が現実的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AI 駆使前提なら Tier 3 (月予算500万以上) を1社受注で月40万円も可能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単価上げの鍵 = Lift Test / DDA / Cross-channel 等の差別化スキル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Part 6 まとめ → Part 7 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鉄板運用メソッド の総括 + 次は BSA 実装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P220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4813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を導く運用が現代の標準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288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/ Advantage+ / Smart+ で構造設計 + AI に任せる + 検証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手動入札 / 細分化 / 頻繁な変更は学習リセットの原因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4414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 + 検証 が差別化要素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88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1PD / SGTM / CAPI / DDA を全案件で標準化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Conversion Lift / Brand Lift で『Incremental ROAS』を提示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4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01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駆使で1人月10-20案件並行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7490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クリエイティブ生成・レポート・Negative KW を AI 自動化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戦略・判断・クライアント窓口 が人間の主戦場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109960" cy="19202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7  BSA L3 実装ガイド (10p, P221-P230)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7 で扱うトピック (10p) :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L3商品定義 (HP制作 + 広告運用初月セット 10万円 / 96時間)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30日プラン (Day 0-3 / 3-5 / 5-7 / Wk2-4)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クリエイティブAI活用手順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価格・工数のリアル / 詰まりポイント集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1-6 を BSA L3 案件で即活用するための実装ガイド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