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114800" cy="685800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114800" y="0"/>
            <a:ext cx="109728" cy="685800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731520"/>
            <a:ext cx="3200400" cy="914400"/>
          </a:xfrm>
          <a:prstGeom prst="rect">
            <a:avLst/>
          </a:prstGeom>
          <a:noFill/>
        </p:spPr>
        <p:txBody>
          <a:bodyPr wrap="square" anchor="t" lIns="0" rIns="0" tIns="0" bIns="0">
            <a:spAutoFit/>
          </a:bodyPr>
          <a:lstStyle/>
          <a:p>
            <a:pPr algn="l">
              <a:lnSpc>
                <a:spcPct val="115000"/>
              </a:lnSpc>
            </a:pPr>
            <a:r>
              <a:rPr sz="4800" b="1">
                <a:solidFill>
                  <a:srgbClr val="FFFFFF"/>
                </a:solidFill>
                <a:latin typeface="Hiragino Sans"/>
                <a:ea typeface="Hiragino Sans"/>
                <a:cs typeface="Hiragino Sans"/>
              </a:rPr>
              <a:t>2023</a:t>
            </a:r>
          </a:p>
        </p:txBody>
      </p:sp>
      <p:sp>
        <p:nvSpPr>
          <p:cNvPr id="5" name="TextBox 4"/>
          <p:cNvSpPr txBox="1"/>
          <p:nvPr/>
        </p:nvSpPr>
        <p:spPr>
          <a:xfrm>
            <a:off x="548640" y="1554480"/>
            <a:ext cx="3200400" cy="914400"/>
          </a:xfrm>
          <a:prstGeom prst="rect">
            <a:avLst/>
          </a:prstGeom>
          <a:noFill/>
        </p:spPr>
        <p:txBody>
          <a:bodyPr wrap="square" anchor="t" lIns="0" rIns="0" tIns="0" bIns="0">
            <a:spAutoFit/>
          </a:bodyPr>
          <a:lstStyle/>
          <a:p>
            <a:pPr algn="l">
              <a:lnSpc>
                <a:spcPct val="115000"/>
              </a:lnSpc>
            </a:pPr>
            <a:r>
              <a:rPr sz="4800" b="1">
                <a:solidFill>
                  <a:srgbClr val="E87722"/>
                </a:solidFill>
                <a:latin typeface="Hiragino Sans"/>
                <a:ea typeface="Hiragino Sans"/>
                <a:cs typeface="Hiragino Sans"/>
              </a:rPr>
              <a:t>→</a:t>
            </a:r>
          </a:p>
        </p:txBody>
      </p:sp>
      <p:sp>
        <p:nvSpPr>
          <p:cNvPr id="6" name="TextBox 5"/>
          <p:cNvSpPr txBox="1"/>
          <p:nvPr/>
        </p:nvSpPr>
        <p:spPr>
          <a:xfrm>
            <a:off x="548640" y="2377440"/>
            <a:ext cx="3200400" cy="914400"/>
          </a:xfrm>
          <a:prstGeom prst="rect">
            <a:avLst/>
          </a:prstGeom>
          <a:noFill/>
        </p:spPr>
        <p:txBody>
          <a:bodyPr wrap="square" anchor="t" lIns="0" rIns="0" tIns="0" bIns="0">
            <a:spAutoFit/>
          </a:bodyPr>
          <a:lstStyle/>
          <a:p>
            <a:pPr algn="l">
              <a:lnSpc>
                <a:spcPct val="115000"/>
              </a:lnSpc>
            </a:pPr>
            <a:r>
              <a:rPr sz="4800" b="1">
                <a:solidFill>
                  <a:srgbClr val="FFFFFF"/>
                </a:solidFill>
                <a:latin typeface="Hiragino Sans"/>
                <a:ea typeface="Hiragino Sans"/>
                <a:cs typeface="Hiragino Sans"/>
              </a:rPr>
              <a:t>2026</a:t>
            </a:r>
          </a:p>
        </p:txBody>
      </p:sp>
      <p:sp>
        <p:nvSpPr>
          <p:cNvPr id="7" name="TextBox 6"/>
          <p:cNvSpPr txBox="1"/>
          <p:nvPr/>
        </p:nvSpPr>
        <p:spPr>
          <a:xfrm>
            <a:off x="548640" y="3566160"/>
            <a:ext cx="3474720" cy="457200"/>
          </a:xfrm>
          <a:prstGeom prst="rect">
            <a:avLst/>
          </a:prstGeom>
          <a:noFill/>
        </p:spPr>
        <p:txBody>
          <a:bodyPr wrap="square" anchor="t" lIns="0" rIns="0" tIns="0" bIns="0">
            <a:spAutoFit/>
          </a:bodyPr>
          <a:lstStyle/>
          <a:p>
            <a:pPr algn="l">
              <a:lnSpc>
                <a:spcPct val="115000"/>
              </a:lnSpc>
            </a:pPr>
            <a:r>
              <a:rPr sz="1400" b="0">
                <a:solidFill>
                  <a:srgbClr val="D7DDE8"/>
                </a:solidFill>
                <a:latin typeface="Helvetica Neue"/>
                <a:ea typeface="Helvetica Neue"/>
                <a:cs typeface="Helvetica Neue"/>
              </a:rPr>
              <a:t>2.5 years of blank, closed.</a:t>
            </a:r>
          </a:p>
        </p:txBody>
      </p:sp>
      <p:sp>
        <p:nvSpPr>
          <p:cNvPr id="8" name="TextBox 7"/>
          <p:cNvSpPr txBox="1"/>
          <p:nvPr/>
        </p:nvSpPr>
        <p:spPr>
          <a:xfrm>
            <a:off x="4572000" y="1280160"/>
            <a:ext cx="7315200" cy="822960"/>
          </a:xfrm>
          <a:prstGeom prst="rect">
            <a:avLst/>
          </a:prstGeom>
          <a:noFill/>
        </p:spPr>
        <p:txBody>
          <a:bodyPr wrap="square" anchor="t" lIns="0" rIns="0" tIns="0" bIns="0">
            <a:spAutoFit/>
          </a:bodyPr>
          <a:lstStyle/>
          <a:p>
            <a:pPr algn="l">
              <a:lnSpc>
                <a:spcPct val="115000"/>
              </a:lnSpc>
            </a:pPr>
            <a:r>
              <a:rPr sz="4000" b="1">
                <a:solidFill>
                  <a:srgbClr val="0F2A4F"/>
                </a:solidFill>
                <a:latin typeface="Hiragino Sans"/>
                <a:ea typeface="Hiragino Sans"/>
                <a:cs typeface="Hiragino Sans"/>
              </a:rPr>
              <a:t>Digital Marketing</a:t>
            </a:r>
          </a:p>
        </p:txBody>
      </p:sp>
      <p:sp>
        <p:nvSpPr>
          <p:cNvPr id="9" name="TextBox 8"/>
          <p:cNvSpPr txBox="1"/>
          <p:nvPr/>
        </p:nvSpPr>
        <p:spPr>
          <a:xfrm>
            <a:off x="4572000" y="1920240"/>
            <a:ext cx="7315200" cy="822960"/>
          </a:xfrm>
          <a:prstGeom prst="rect">
            <a:avLst/>
          </a:prstGeom>
          <a:noFill/>
        </p:spPr>
        <p:txBody>
          <a:bodyPr wrap="square" anchor="t" lIns="0" rIns="0" tIns="0" bIns="0">
            <a:spAutoFit/>
          </a:bodyPr>
          <a:lstStyle/>
          <a:p>
            <a:pPr algn="l">
              <a:lnSpc>
                <a:spcPct val="115000"/>
              </a:lnSpc>
            </a:pPr>
            <a:r>
              <a:rPr sz="4000" b="1">
                <a:solidFill>
                  <a:srgbClr val="0F2A4F"/>
                </a:solidFill>
                <a:latin typeface="Hiragino Sans"/>
                <a:ea typeface="Hiragino Sans"/>
                <a:cs typeface="Hiragino Sans"/>
              </a:rPr>
              <a:t>Catch-Up</a:t>
            </a:r>
          </a:p>
        </p:txBody>
      </p:sp>
      <p:sp>
        <p:nvSpPr>
          <p:cNvPr id="10" name="Rectangle 9"/>
          <p:cNvSpPr/>
          <p:nvPr/>
        </p:nvSpPr>
        <p:spPr>
          <a:xfrm>
            <a:off x="4572000" y="2880360"/>
            <a:ext cx="4114800" cy="457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3063240"/>
            <a:ext cx="7315200" cy="1188720"/>
          </a:xfrm>
          <a:prstGeom prst="rect">
            <a:avLst/>
          </a:prstGeom>
          <a:noFill/>
        </p:spPr>
        <p:txBody>
          <a:bodyPr wrap="square" anchor="t" lIns="0" rIns="0" tIns="0" bIns="0">
            <a:spAutoFit/>
          </a:bodyPr>
          <a:lstStyle/>
          <a:p>
            <a:pPr algn="l">
              <a:lnSpc>
                <a:spcPct val="115000"/>
              </a:lnSpc>
            </a:pPr>
            <a:r>
              <a:rPr sz="1600" b="0">
                <a:solidFill>
                  <a:srgbClr val="5A6A80"/>
                </a:solidFill>
                <a:latin typeface="Hiragino Sans"/>
                <a:ea typeface="Hiragino Sans"/>
                <a:cs typeface="Hiragino Sans"/>
              </a:rPr>
              <a:t>2023年10月 → 2026年4月</a:t>
            </a:r>
          </a:p>
          <a:p>
            <a:pPr algn="l">
              <a:lnSpc>
                <a:spcPct val="115000"/>
              </a:lnSpc>
            </a:pPr>
            <a:r>
              <a:rPr sz="1600" b="0">
                <a:solidFill>
                  <a:srgbClr val="5A6A80"/>
                </a:solidFill>
                <a:latin typeface="Hiragino Sans"/>
                <a:ea typeface="Hiragino Sans"/>
                <a:cs typeface="Hiragino Sans"/>
              </a:rPr>
              <a:t>広告運用実務・9媒体・AI活用の現在地</a:t>
            </a:r>
          </a:p>
        </p:txBody>
      </p:sp>
      <p:sp>
        <p:nvSpPr>
          <p:cNvPr id="12" name="Rectangle 11"/>
          <p:cNvSpPr/>
          <p:nvPr/>
        </p:nvSpPr>
        <p:spPr>
          <a:xfrm>
            <a:off x="4572000" y="5669280"/>
            <a:ext cx="713232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5806440"/>
            <a:ext cx="73152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作成 : 工藤陸 ( 内部資料 )</a:t>
            </a:r>
          </a:p>
        </p:txBody>
      </p:sp>
      <p:sp>
        <p:nvSpPr>
          <p:cNvPr id="14" name="TextBox 13"/>
          <p:cNvSpPr txBox="1"/>
          <p:nvPr/>
        </p:nvSpPr>
        <p:spPr>
          <a:xfrm>
            <a:off x="4572000" y="6080760"/>
            <a:ext cx="7315200" cy="320040"/>
          </a:xfrm>
          <a:prstGeom prst="rect">
            <a:avLst/>
          </a:prstGeom>
          <a:noFill/>
        </p:spPr>
        <p:txBody>
          <a:bodyPr wrap="square" anchor="t" lIns="0" rIns="0" tIns="0" bIns="0">
            <a:spAutoFit/>
          </a:bodyPr>
          <a:lstStyle/>
          <a:p>
            <a:pPr algn="l">
              <a:lnSpc>
                <a:spcPct val="115000"/>
              </a:lnSpc>
            </a:pPr>
            <a:r>
              <a:rPr sz="1100" b="0">
                <a:solidFill>
                  <a:srgbClr val="8A96A8"/>
                </a:solidFill>
                <a:latin typeface="Hiragino Sans"/>
                <a:ea typeface="Hiragino Sans"/>
                <a:cs typeface="Hiragino Sans"/>
              </a:rPr>
              <a:t>2026-04-25 | Part 1 / 8 | 総 250p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本書の使い方</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How to read this deck</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P02 / 250</a:t>
            </a:r>
          </a:p>
        </p:txBody>
      </p:sp>
      <p:sp>
        <p:nvSpPr>
          <p:cNvPr id="8" name="Rounded Rectangle 7"/>
          <p:cNvSpPr/>
          <p:nvPr/>
        </p:nvSpPr>
        <p:spPr>
          <a:xfrm>
            <a:off x="548640" y="1371600"/>
            <a:ext cx="5349240" cy="1051560"/>
          </a:xfrm>
          <a:prstGeom prst="roundRect">
            <a:avLst>
              <a:gd name="adj" fmla="val 6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71600"/>
            <a:ext cx="73152" cy="105156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508760"/>
            <a:ext cx="182880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対象読者</a:t>
            </a:r>
          </a:p>
        </p:txBody>
      </p:sp>
      <p:sp>
        <p:nvSpPr>
          <p:cNvPr id="11" name="TextBox 10"/>
          <p:cNvSpPr txBox="1"/>
          <p:nvPr/>
        </p:nvSpPr>
        <p:spPr>
          <a:xfrm>
            <a:off x="868680" y="1783080"/>
            <a:ext cx="4937760" cy="822960"/>
          </a:xfrm>
          <a:prstGeom prst="rect">
            <a:avLst/>
          </a:prstGeom>
          <a:noFill/>
        </p:spPr>
        <p:txBody>
          <a:bodyPr wrap="square" anchor="t" lIns="0" rIns="0" tIns="0" bIns="0">
            <a:spAutoFit/>
          </a:bodyPr>
          <a:lstStyle/>
          <a:p>
            <a:pPr algn="l">
              <a:lnSpc>
                <a:spcPct val="130000"/>
              </a:lnSpc>
            </a:pPr>
            <a:r>
              <a:rPr sz="1100" b="0">
                <a:solidFill>
                  <a:srgbClr val="1A1A1A"/>
                </a:solidFill>
                <a:latin typeface="Hiragino Sans"/>
                <a:ea typeface="Hiragino Sans"/>
                <a:cs typeface="Hiragino Sans"/>
              </a:rPr>
              <a:t>2023年9月まで広告運用の現場にいた自分</a:t>
            </a:r>
          </a:p>
          <a:p>
            <a:pPr algn="l">
              <a:lnSpc>
                <a:spcPct val="130000"/>
              </a:lnSpc>
            </a:pPr>
            <a:r>
              <a:rPr sz="1100" b="0">
                <a:solidFill>
                  <a:srgbClr val="1A1A1A"/>
                </a:solidFill>
                <a:latin typeface="Hiragino Sans"/>
                <a:ea typeface="Hiragino Sans"/>
                <a:cs typeface="Hiragino Sans"/>
              </a:rPr>
              <a:t>（Google/Yahoo/Meta/YouTube 実務経験あり）</a:t>
            </a:r>
          </a:p>
        </p:txBody>
      </p:sp>
      <p:sp>
        <p:nvSpPr>
          <p:cNvPr id="12" name="Rounded Rectangle 11"/>
          <p:cNvSpPr/>
          <p:nvPr/>
        </p:nvSpPr>
        <p:spPr>
          <a:xfrm>
            <a:off x="6172200" y="1371600"/>
            <a:ext cx="5349240" cy="1051560"/>
          </a:xfrm>
          <a:prstGeom prst="roundRect">
            <a:avLst>
              <a:gd name="adj" fmla="val 6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2200" y="1371600"/>
            <a:ext cx="73152" cy="105156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1508760"/>
            <a:ext cx="182880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期間</a:t>
            </a:r>
          </a:p>
        </p:txBody>
      </p:sp>
      <p:sp>
        <p:nvSpPr>
          <p:cNvPr id="15" name="TextBox 14"/>
          <p:cNvSpPr txBox="1"/>
          <p:nvPr/>
        </p:nvSpPr>
        <p:spPr>
          <a:xfrm>
            <a:off x="6492240" y="1783080"/>
            <a:ext cx="4937760" cy="822960"/>
          </a:xfrm>
          <a:prstGeom prst="rect">
            <a:avLst/>
          </a:prstGeom>
          <a:noFill/>
        </p:spPr>
        <p:txBody>
          <a:bodyPr wrap="square" anchor="t" lIns="0" rIns="0" tIns="0" bIns="0">
            <a:spAutoFit/>
          </a:bodyPr>
          <a:lstStyle/>
          <a:p>
            <a:pPr algn="l">
              <a:lnSpc>
                <a:spcPct val="130000"/>
              </a:lnSpc>
            </a:pPr>
            <a:r>
              <a:rPr sz="1100" b="0">
                <a:solidFill>
                  <a:srgbClr val="1A1A1A"/>
                </a:solidFill>
                <a:latin typeface="Hiragino Sans"/>
                <a:ea typeface="Hiragino Sans"/>
                <a:cs typeface="Hiragino Sans"/>
              </a:rPr>
              <a:t>2023年10月 〜 2026年4月（約2.5年）</a:t>
            </a:r>
          </a:p>
        </p:txBody>
      </p:sp>
      <p:sp>
        <p:nvSpPr>
          <p:cNvPr id="16" name="Rounded Rectangle 15"/>
          <p:cNvSpPr/>
          <p:nvPr/>
        </p:nvSpPr>
        <p:spPr>
          <a:xfrm>
            <a:off x="548640" y="2560320"/>
            <a:ext cx="5349240" cy="1051560"/>
          </a:xfrm>
          <a:prstGeom prst="roundRect">
            <a:avLst>
              <a:gd name="adj" fmla="val 6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560320"/>
            <a:ext cx="73152" cy="105156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2697480"/>
            <a:ext cx="182880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構成</a:t>
            </a:r>
          </a:p>
        </p:txBody>
      </p:sp>
      <p:sp>
        <p:nvSpPr>
          <p:cNvPr id="19" name="TextBox 18"/>
          <p:cNvSpPr txBox="1"/>
          <p:nvPr/>
        </p:nvSpPr>
        <p:spPr>
          <a:xfrm>
            <a:off x="868680" y="2971800"/>
            <a:ext cx="4937760" cy="822960"/>
          </a:xfrm>
          <a:prstGeom prst="rect">
            <a:avLst/>
          </a:prstGeom>
          <a:noFill/>
        </p:spPr>
        <p:txBody>
          <a:bodyPr wrap="square" anchor="t" lIns="0" rIns="0" tIns="0" bIns="0">
            <a:spAutoFit/>
          </a:bodyPr>
          <a:lstStyle/>
          <a:p>
            <a:pPr algn="l">
              <a:lnSpc>
                <a:spcPct val="130000"/>
              </a:lnSpc>
            </a:pPr>
            <a:r>
              <a:rPr sz="1100" b="0">
                <a:solidFill>
                  <a:srgbClr val="1A1A1A"/>
                </a:solidFill>
                <a:latin typeface="Hiragino Sans"/>
                <a:ea typeface="Hiragino Sans"/>
                <a:cs typeface="Hiragino Sans"/>
              </a:rPr>
              <a:t>8 Part / 約250ページ</a:t>
            </a:r>
          </a:p>
          <a:p>
            <a:pPr algn="l">
              <a:lnSpc>
                <a:spcPct val="130000"/>
              </a:lnSpc>
            </a:pPr>
            <a:r>
              <a:rPr sz="1100" b="0">
                <a:solidFill>
                  <a:srgbClr val="1A1A1A"/>
                </a:solidFill>
                <a:latin typeface="Hiragino Sans"/>
                <a:ea typeface="Hiragino Sans"/>
                <a:cs typeface="Hiragino Sans"/>
              </a:rPr>
              <a:t>Part 1=要約 / Part 2=市況 / Part 3=媒体別 ほか</a:t>
            </a:r>
          </a:p>
        </p:txBody>
      </p:sp>
      <p:sp>
        <p:nvSpPr>
          <p:cNvPr id="20" name="Rounded Rectangle 19"/>
          <p:cNvSpPr/>
          <p:nvPr/>
        </p:nvSpPr>
        <p:spPr>
          <a:xfrm>
            <a:off x="6172200" y="2560320"/>
            <a:ext cx="5349240" cy="1051560"/>
          </a:xfrm>
          <a:prstGeom prst="roundRect">
            <a:avLst>
              <a:gd name="adj" fmla="val 6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72200" y="2560320"/>
            <a:ext cx="73152" cy="105156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92240" y="2697480"/>
            <a:ext cx="182880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読み方</a:t>
            </a:r>
          </a:p>
        </p:txBody>
      </p:sp>
      <p:sp>
        <p:nvSpPr>
          <p:cNvPr id="23" name="TextBox 22"/>
          <p:cNvSpPr txBox="1"/>
          <p:nvPr/>
        </p:nvSpPr>
        <p:spPr>
          <a:xfrm>
            <a:off x="6492240" y="2971800"/>
            <a:ext cx="4937760" cy="822960"/>
          </a:xfrm>
          <a:prstGeom prst="rect">
            <a:avLst/>
          </a:prstGeom>
          <a:noFill/>
        </p:spPr>
        <p:txBody>
          <a:bodyPr wrap="square" anchor="t" lIns="0" rIns="0" tIns="0" bIns="0">
            <a:spAutoFit/>
          </a:bodyPr>
          <a:lstStyle/>
          <a:p>
            <a:pPr algn="l">
              <a:lnSpc>
                <a:spcPct val="130000"/>
              </a:lnSpc>
            </a:pPr>
            <a:r>
              <a:rPr sz="1100" b="0">
                <a:solidFill>
                  <a:srgbClr val="1A1A1A"/>
                </a:solidFill>
                <a:latin typeface="Hiragino Sans"/>
                <a:ea typeface="Hiragino Sans"/>
                <a:cs typeface="Hiragino Sans"/>
              </a:rPr>
              <a:t>通読: 3〜4時間</a:t>
            </a:r>
          </a:p>
          <a:p>
            <a:pPr algn="l">
              <a:lnSpc>
                <a:spcPct val="130000"/>
              </a:lnSpc>
            </a:pPr>
            <a:r>
              <a:rPr sz="1100" b="0">
                <a:solidFill>
                  <a:srgbClr val="1A1A1A"/>
                </a:solidFill>
                <a:latin typeface="Hiragino Sans"/>
                <a:ea typeface="Hiragino Sans"/>
                <a:cs typeface="Hiragino Sans"/>
              </a:rPr>
              <a:t>辞書的: Part 3の媒体別を引く</a:t>
            </a:r>
          </a:p>
          <a:p>
            <a:pPr algn="l">
              <a:lnSpc>
                <a:spcPct val="130000"/>
              </a:lnSpc>
            </a:pPr>
            <a:r>
              <a:rPr sz="1100" b="0">
                <a:solidFill>
                  <a:srgbClr val="1A1A1A"/>
                </a:solidFill>
                <a:latin typeface="Hiragino Sans"/>
                <a:ea typeface="Hiragino Sans"/>
                <a:cs typeface="Hiragino Sans"/>
              </a:rPr>
              <a:t>副業復帰特化: P1 → Part 6 → Part 7</a:t>
            </a:r>
          </a:p>
        </p:txBody>
      </p:sp>
      <p:sp>
        <p:nvSpPr>
          <p:cNvPr id="24" name="Rectangle 23"/>
          <p:cNvSpPr/>
          <p:nvPr/>
        </p:nvSpPr>
        <p:spPr>
          <a:xfrm>
            <a:off x="548640" y="3840480"/>
            <a:ext cx="1110996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3977639"/>
            <a:ext cx="274320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推奨マーク</a:t>
            </a:r>
          </a:p>
        </p:txBody>
      </p:sp>
      <p:sp>
        <p:nvSpPr>
          <p:cNvPr id="26" name="TextBox 25"/>
          <p:cNvSpPr txBox="1"/>
          <p:nvPr/>
        </p:nvSpPr>
        <p:spPr>
          <a:xfrm>
            <a:off x="548640" y="4343400"/>
            <a:ext cx="640080" cy="365760"/>
          </a:xfrm>
          <a:prstGeom prst="rect">
            <a:avLst/>
          </a:prstGeom>
          <a:noFill/>
        </p:spPr>
        <p:txBody>
          <a:bodyPr wrap="square" anchor="t" lIns="0" rIns="0" tIns="0" bIns="0">
            <a:spAutoFit/>
          </a:bodyPr>
          <a:lstStyle/>
          <a:p>
            <a:pPr algn="l">
              <a:lnSpc>
                <a:spcPct val="115000"/>
              </a:lnSpc>
            </a:pPr>
            <a:r>
              <a:rPr sz="1400" b="0">
                <a:solidFill>
                  <a:srgbClr val="1A1A1A"/>
                </a:solidFill>
                <a:latin typeface="Hiragino Sans"/>
                <a:ea typeface="Hiragino Sans"/>
                <a:cs typeface="Hiragino Sans"/>
              </a:rPr>
              <a:t>🔥</a:t>
            </a:r>
          </a:p>
        </p:txBody>
      </p:sp>
      <p:sp>
        <p:nvSpPr>
          <p:cNvPr id="27" name="TextBox 26"/>
          <p:cNvSpPr txBox="1"/>
          <p:nvPr/>
        </p:nvSpPr>
        <p:spPr>
          <a:xfrm>
            <a:off x="1280160" y="4389120"/>
            <a:ext cx="2103120" cy="274320"/>
          </a:xfrm>
          <a:prstGeom prst="rect">
            <a:avLst/>
          </a:prstGeom>
          <a:noFill/>
        </p:spPr>
        <p:txBody>
          <a:bodyPr wrap="square" anchor="t" lIns="0" rIns="0" tIns="0" bIns="0">
            <a:spAutoFit/>
          </a:bodyPr>
          <a:lstStyle/>
          <a:p>
            <a:pPr algn="l">
              <a:lnSpc>
                <a:spcPct val="115000"/>
              </a:lnSpc>
            </a:pPr>
            <a:r>
              <a:rPr sz="1000" b="0">
                <a:solidFill>
                  <a:srgbClr val="5A6A80"/>
                </a:solidFill>
                <a:latin typeface="Hiragino Sans"/>
                <a:ea typeface="Hiragino Sans"/>
                <a:cs typeface="Hiragino Sans"/>
              </a:rPr>
              <a:t>最重要アップデート</a:t>
            </a:r>
          </a:p>
        </p:txBody>
      </p:sp>
      <p:sp>
        <p:nvSpPr>
          <p:cNvPr id="28" name="TextBox 27"/>
          <p:cNvSpPr txBox="1"/>
          <p:nvPr/>
        </p:nvSpPr>
        <p:spPr>
          <a:xfrm>
            <a:off x="3337560" y="4343400"/>
            <a:ext cx="640080" cy="365760"/>
          </a:xfrm>
          <a:prstGeom prst="rect">
            <a:avLst/>
          </a:prstGeom>
          <a:noFill/>
        </p:spPr>
        <p:txBody>
          <a:bodyPr wrap="square" anchor="t" lIns="0" rIns="0" tIns="0" bIns="0">
            <a:spAutoFit/>
          </a:bodyPr>
          <a:lstStyle/>
          <a:p>
            <a:pPr algn="l">
              <a:lnSpc>
                <a:spcPct val="115000"/>
              </a:lnSpc>
            </a:pPr>
            <a:r>
              <a:rPr sz="1400" b="0">
                <a:solidFill>
                  <a:srgbClr val="1A1A1A"/>
                </a:solidFill>
                <a:latin typeface="Hiragino Sans"/>
                <a:ea typeface="Hiragino Sans"/>
                <a:cs typeface="Hiragino Sans"/>
              </a:rPr>
              <a:t>⚠️</a:t>
            </a:r>
          </a:p>
        </p:txBody>
      </p:sp>
      <p:sp>
        <p:nvSpPr>
          <p:cNvPr id="29" name="TextBox 28"/>
          <p:cNvSpPr txBox="1"/>
          <p:nvPr/>
        </p:nvSpPr>
        <p:spPr>
          <a:xfrm>
            <a:off x="4069080" y="4389120"/>
            <a:ext cx="2103120" cy="274320"/>
          </a:xfrm>
          <a:prstGeom prst="rect">
            <a:avLst/>
          </a:prstGeom>
          <a:noFill/>
        </p:spPr>
        <p:txBody>
          <a:bodyPr wrap="square" anchor="t" lIns="0" rIns="0" tIns="0" bIns="0">
            <a:spAutoFit/>
          </a:bodyPr>
          <a:lstStyle/>
          <a:p>
            <a:pPr algn="l">
              <a:lnSpc>
                <a:spcPct val="115000"/>
              </a:lnSpc>
            </a:pPr>
            <a:r>
              <a:rPr sz="1000" b="0">
                <a:solidFill>
                  <a:srgbClr val="5A6A80"/>
                </a:solidFill>
                <a:latin typeface="Hiragino Sans"/>
                <a:ea typeface="Hiragino Sans"/>
                <a:cs typeface="Hiragino Sans"/>
              </a:rPr>
              <a:t>間違えやすいポイント</a:t>
            </a:r>
          </a:p>
        </p:txBody>
      </p:sp>
      <p:sp>
        <p:nvSpPr>
          <p:cNvPr id="30" name="TextBox 29"/>
          <p:cNvSpPr txBox="1"/>
          <p:nvPr/>
        </p:nvSpPr>
        <p:spPr>
          <a:xfrm>
            <a:off x="6126480" y="4343400"/>
            <a:ext cx="640080" cy="365760"/>
          </a:xfrm>
          <a:prstGeom prst="rect">
            <a:avLst/>
          </a:prstGeom>
          <a:noFill/>
        </p:spPr>
        <p:txBody>
          <a:bodyPr wrap="square" anchor="t" lIns="0" rIns="0" tIns="0" bIns="0">
            <a:spAutoFit/>
          </a:bodyPr>
          <a:lstStyle/>
          <a:p>
            <a:pPr algn="l">
              <a:lnSpc>
                <a:spcPct val="115000"/>
              </a:lnSpc>
            </a:pPr>
            <a:r>
              <a:rPr sz="1400" b="0">
                <a:solidFill>
                  <a:srgbClr val="1A1A1A"/>
                </a:solidFill>
                <a:latin typeface="Hiragino Sans"/>
                <a:ea typeface="Hiragino Sans"/>
                <a:cs typeface="Hiragino Sans"/>
              </a:rPr>
              <a:t>💡</a:t>
            </a:r>
          </a:p>
        </p:txBody>
      </p:sp>
      <p:sp>
        <p:nvSpPr>
          <p:cNvPr id="31" name="TextBox 30"/>
          <p:cNvSpPr txBox="1"/>
          <p:nvPr/>
        </p:nvSpPr>
        <p:spPr>
          <a:xfrm>
            <a:off x="6858000" y="4389120"/>
            <a:ext cx="2103120" cy="274320"/>
          </a:xfrm>
          <a:prstGeom prst="rect">
            <a:avLst/>
          </a:prstGeom>
          <a:noFill/>
        </p:spPr>
        <p:txBody>
          <a:bodyPr wrap="square" anchor="t" lIns="0" rIns="0" tIns="0" bIns="0">
            <a:spAutoFit/>
          </a:bodyPr>
          <a:lstStyle/>
          <a:p>
            <a:pPr algn="l">
              <a:lnSpc>
                <a:spcPct val="115000"/>
              </a:lnSpc>
            </a:pPr>
            <a:r>
              <a:rPr sz="1000" b="0">
                <a:solidFill>
                  <a:srgbClr val="5A6A80"/>
                </a:solidFill>
                <a:latin typeface="Hiragino Sans"/>
                <a:ea typeface="Hiragino Sans"/>
                <a:cs typeface="Hiragino Sans"/>
              </a:rPr>
              <a:t>副業で差がつくTips</a:t>
            </a:r>
          </a:p>
        </p:txBody>
      </p:sp>
      <p:sp>
        <p:nvSpPr>
          <p:cNvPr id="32" name="TextBox 31"/>
          <p:cNvSpPr txBox="1"/>
          <p:nvPr/>
        </p:nvSpPr>
        <p:spPr>
          <a:xfrm>
            <a:off x="8915400" y="4343400"/>
            <a:ext cx="640080" cy="365760"/>
          </a:xfrm>
          <a:prstGeom prst="rect">
            <a:avLst/>
          </a:prstGeom>
          <a:noFill/>
        </p:spPr>
        <p:txBody>
          <a:bodyPr wrap="square" anchor="t" lIns="0" rIns="0" tIns="0" bIns="0">
            <a:spAutoFit/>
          </a:bodyPr>
          <a:lstStyle/>
          <a:p>
            <a:pPr algn="l">
              <a:lnSpc>
                <a:spcPct val="115000"/>
              </a:lnSpc>
            </a:pPr>
            <a:r>
              <a:rPr sz="1400" b="0">
                <a:solidFill>
                  <a:srgbClr val="1A1A1A"/>
                </a:solidFill>
                <a:latin typeface="Hiragino Sans"/>
                <a:ea typeface="Hiragino Sans"/>
                <a:cs typeface="Hiragino Sans"/>
              </a:rPr>
              <a:t>※要確認</a:t>
            </a:r>
          </a:p>
        </p:txBody>
      </p:sp>
      <p:sp>
        <p:nvSpPr>
          <p:cNvPr id="33" name="TextBox 32"/>
          <p:cNvSpPr txBox="1"/>
          <p:nvPr/>
        </p:nvSpPr>
        <p:spPr>
          <a:xfrm>
            <a:off x="9646920" y="4389120"/>
            <a:ext cx="2103120" cy="274320"/>
          </a:xfrm>
          <a:prstGeom prst="rect">
            <a:avLst/>
          </a:prstGeom>
          <a:noFill/>
        </p:spPr>
        <p:txBody>
          <a:bodyPr wrap="square" anchor="t" lIns="0" rIns="0" tIns="0" bIns="0">
            <a:spAutoFit/>
          </a:bodyPr>
          <a:lstStyle/>
          <a:p>
            <a:pPr algn="l">
              <a:lnSpc>
                <a:spcPct val="115000"/>
              </a:lnSpc>
            </a:pPr>
            <a:r>
              <a:rPr sz="1000" b="0">
                <a:solidFill>
                  <a:srgbClr val="5A6A80"/>
                </a:solidFill>
                <a:latin typeface="Hiragino Sans"/>
                <a:ea typeface="Hiragino Sans"/>
                <a:cs typeface="Hiragino Sans"/>
              </a:rPr>
              <a:t>要裏取り</a:t>
            </a:r>
          </a:p>
        </p:txBody>
      </p:sp>
      <p:sp>
        <p:nvSpPr>
          <p:cNvPr id="34" name="Rounded Rectangle 33"/>
          <p:cNvSpPr/>
          <p:nvPr/>
        </p:nvSpPr>
        <p:spPr>
          <a:xfrm>
            <a:off x="548640" y="5120640"/>
            <a:ext cx="11109960" cy="118872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77240" y="5212080"/>
            <a:ext cx="10058400" cy="320040"/>
          </a:xfrm>
          <a:prstGeom prst="rect">
            <a:avLst/>
          </a:prstGeom>
          <a:noFill/>
        </p:spPr>
        <p:txBody>
          <a:bodyPr wrap="square" anchor="t" lIns="0" rIns="0" tIns="0" bIns="0">
            <a:spAutoFit/>
          </a:bodyPr>
          <a:lstStyle/>
          <a:p>
            <a:pPr algn="l">
              <a:lnSpc>
                <a:spcPct val="115000"/>
              </a:lnSpc>
            </a:pPr>
            <a:r>
              <a:rPr sz="1100" b="1">
                <a:solidFill>
                  <a:srgbClr val="B85E1A"/>
                </a:solidFill>
                <a:latin typeface="Hiragino Sans"/>
                <a:ea typeface="Hiragino Sans"/>
                <a:cs typeface="Hiragino Sans"/>
              </a:rPr>
              <a:t>なぜ今このキャッチアップか</a:t>
            </a:r>
          </a:p>
        </p:txBody>
      </p:sp>
      <p:sp>
        <p:nvSpPr>
          <p:cNvPr id="36" name="TextBox 35"/>
          <p:cNvSpPr txBox="1"/>
          <p:nvPr/>
        </p:nvSpPr>
        <p:spPr>
          <a:xfrm>
            <a:off x="777240" y="5532120"/>
            <a:ext cx="10972800" cy="731520"/>
          </a:xfrm>
          <a:prstGeom prst="rect">
            <a:avLst/>
          </a:prstGeom>
          <a:noFill/>
        </p:spPr>
        <p:txBody>
          <a:bodyPr wrap="square" anchor="t" lIns="0" rIns="0" tIns="0" bIns="0">
            <a:spAutoFit/>
          </a:bodyPr>
          <a:lstStyle/>
          <a:p>
            <a:pPr algn="l">
              <a:lnSpc>
                <a:spcPct val="140000"/>
              </a:lnSpc>
            </a:pPr>
            <a:r>
              <a:rPr sz="1100" b="0">
                <a:solidFill>
                  <a:srgbClr val="1A1A1A"/>
                </a:solidFill>
                <a:latin typeface="Hiragino Sans"/>
                <a:ea typeface="Hiragino Sans"/>
                <a:cs typeface="Hiragino Sans"/>
              </a:rPr>
              <a:t>BSA戦略（Rapid HP制作+広告運用初月セット L3）で広告運用パートの商品力を強化する。</a:t>
            </a:r>
          </a:p>
          <a:p>
            <a:pPr algn="l">
              <a:lnSpc>
                <a:spcPct val="140000"/>
              </a:lnSpc>
            </a:pPr>
            <a:r>
              <a:rPr sz="1100" b="0">
                <a:solidFill>
                  <a:srgbClr val="1A1A1A"/>
                </a:solidFill>
                <a:latin typeface="Hiragino Sans"/>
                <a:ea typeface="Hiragino Sans"/>
                <a:cs typeface="Hiragino Sans"/>
              </a:rPr>
              <a:t>同時に、副業として広告運用代行を再開できる実務ラインまで自分を戻す。</a:t>
            </a:r>
          </a:p>
        </p:txBody>
      </p:sp>
      <p:sp>
        <p:nvSpPr>
          <p:cNvPr id="37" name="TextBox 36"/>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2.5年で何が変わったか — TL;DR</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4つの地殻変動</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P03 / 250</a:t>
            </a:r>
          </a:p>
        </p:txBody>
      </p:sp>
      <p:sp>
        <p:nvSpPr>
          <p:cNvPr id="8" name="Rounded Rectangle 7"/>
          <p:cNvSpPr/>
          <p:nvPr/>
        </p:nvSpPr>
        <p:spPr>
          <a:xfrm>
            <a:off x="548640" y="1371600"/>
            <a:ext cx="5349240" cy="23774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554480"/>
            <a:ext cx="1097280" cy="822960"/>
          </a:xfrm>
          <a:prstGeom prst="rect">
            <a:avLst/>
          </a:prstGeom>
          <a:noFill/>
        </p:spPr>
        <p:txBody>
          <a:bodyPr wrap="square" anchor="t" lIns="0" rIns="0" tIns="0" bIns="0">
            <a:spAutoFit/>
          </a:bodyPr>
          <a:lstStyle/>
          <a:p>
            <a:pPr algn="l">
              <a:lnSpc>
                <a:spcPct val="115000"/>
              </a:lnSpc>
            </a:pPr>
            <a:r>
              <a:rPr sz="4400" b="1">
                <a:solidFill>
                  <a:srgbClr val="E87722"/>
                </a:solidFill>
                <a:latin typeface="Helvetica Neue"/>
                <a:ea typeface="Helvetica Neue"/>
                <a:cs typeface="Helvetica Neue"/>
              </a:rPr>
              <a:t>01</a:t>
            </a:r>
          </a:p>
        </p:txBody>
      </p:sp>
      <p:sp>
        <p:nvSpPr>
          <p:cNvPr id="10" name="TextBox 9"/>
          <p:cNvSpPr txBox="1"/>
          <p:nvPr/>
        </p:nvSpPr>
        <p:spPr>
          <a:xfrm>
            <a:off x="2103120" y="1645920"/>
            <a:ext cx="3611880" cy="914400"/>
          </a:xfrm>
          <a:prstGeom prst="rect">
            <a:avLst/>
          </a:prstGeom>
          <a:noFill/>
        </p:spPr>
        <p:txBody>
          <a:bodyPr wrap="square" anchor="t" lIns="0" rIns="0" tIns="0" bIns="0">
            <a:spAutoFit/>
          </a:bodyPr>
          <a:lstStyle/>
          <a:p>
            <a:pPr algn="l">
              <a:lnSpc>
                <a:spcPct val="120000"/>
              </a:lnSpc>
            </a:pPr>
            <a:r>
              <a:rPr sz="1600" b="1">
                <a:solidFill>
                  <a:srgbClr val="0F2A4F"/>
                </a:solidFill>
                <a:latin typeface="Hiragino Sans"/>
                <a:ea typeface="Hiragino Sans"/>
                <a:cs typeface="Hiragino Sans"/>
              </a:rPr>
              <a:t>生成AIが"ツール"から</a:t>
            </a:r>
          </a:p>
          <a:p>
            <a:pPr algn="l">
              <a:lnSpc>
                <a:spcPct val="120000"/>
              </a:lnSpc>
            </a:pPr>
            <a:r>
              <a:rPr sz="1600" b="1">
                <a:solidFill>
                  <a:srgbClr val="0F2A4F"/>
                </a:solidFill>
                <a:latin typeface="Hiragino Sans"/>
                <a:ea typeface="Hiragino Sans"/>
                <a:cs typeface="Hiragino Sans"/>
              </a:rPr>
              <a:t>"運用レイヤー"へ</a:t>
            </a:r>
          </a:p>
        </p:txBody>
      </p:sp>
      <p:sp>
        <p:nvSpPr>
          <p:cNvPr id="11" name="TextBox 10"/>
          <p:cNvSpPr txBox="1"/>
          <p:nvPr/>
        </p:nvSpPr>
        <p:spPr>
          <a:xfrm>
            <a:off x="822960" y="2697480"/>
            <a:ext cx="4800600" cy="960120"/>
          </a:xfrm>
          <a:prstGeom prst="rect">
            <a:avLst/>
          </a:prstGeom>
          <a:noFill/>
        </p:spPr>
        <p:txBody>
          <a:bodyPr wrap="square" anchor="t" lIns="0" rIns="0" tIns="0" bIns="0">
            <a:spAutoFit/>
          </a:bodyPr>
          <a:lstStyle/>
          <a:p>
            <a:pPr algn="l">
              <a:lnSpc>
                <a:spcPct val="140000"/>
              </a:lnSpc>
            </a:pPr>
            <a:r>
              <a:rPr sz="1100" b="0">
                <a:solidFill>
                  <a:srgbClr val="1A1A1A"/>
                </a:solidFill>
                <a:latin typeface="Hiragino Sans"/>
                <a:ea typeface="Hiragino Sans"/>
                <a:cs typeface="Hiragino Sans"/>
              </a:rPr>
              <a:t>ChatGPT/Claude/Gemini/Sora…AIはツールから広告配信プラットフォームの内側に。クリエイティブ生成・入札最適化・アカウント構造提案まで AIが触る時代</a:t>
            </a:r>
          </a:p>
        </p:txBody>
      </p:sp>
      <p:sp>
        <p:nvSpPr>
          <p:cNvPr id="12" name="Rounded Rectangle 11"/>
          <p:cNvSpPr/>
          <p:nvPr/>
        </p:nvSpPr>
        <p:spPr>
          <a:xfrm>
            <a:off x="6217920" y="1371600"/>
            <a:ext cx="5349240" cy="23774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1554480"/>
            <a:ext cx="1097280" cy="822960"/>
          </a:xfrm>
          <a:prstGeom prst="rect">
            <a:avLst/>
          </a:prstGeom>
          <a:noFill/>
        </p:spPr>
        <p:txBody>
          <a:bodyPr wrap="square" anchor="t" lIns="0" rIns="0" tIns="0" bIns="0">
            <a:spAutoFit/>
          </a:bodyPr>
          <a:lstStyle/>
          <a:p>
            <a:pPr algn="l">
              <a:lnSpc>
                <a:spcPct val="115000"/>
              </a:lnSpc>
            </a:pPr>
            <a:r>
              <a:rPr sz="4400" b="1">
                <a:solidFill>
                  <a:srgbClr val="E87722"/>
                </a:solidFill>
                <a:latin typeface="Helvetica Neue"/>
                <a:ea typeface="Helvetica Neue"/>
                <a:cs typeface="Helvetica Neue"/>
              </a:rPr>
              <a:t>02</a:t>
            </a:r>
          </a:p>
        </p:txBody>
      </p:sp>
      <p:sp>
        <p:nvSpPr>
          <p:cNvPr id="14" name="TextBox 13"/>
          <p:cNvSpPr txBox="1"/>
          <p:nvPr/>
        </p:nvSpPr>
        <p:spPr>
          <a:xfrm>
            <a:off x="7772400" y="1645920"/>
            <a:ext cx="3611880" cy="914400"/>
          </a:xfrm>
          <a:prstGeom prst="rect">
            <a:avLst/>
          </a:prstGeom>
          <a:noFill/>
        </p:spPr>
        <p:txBody>
          <a:bodyPr wrap="square" anchor="t" lIns="0" rIns="0" tIns="0" bIns="0">
            <a:spAutoFit/>
          </a:bodyPr>
          <a:lstStyle/>
          <a:p>
            <a:pPr algn="l">
              <a:lnSpc>
                <a:spcPct val="120000"/>
              </a:lnSpc>
            </a:pPr>
            <a:r>
              <a:rPr sz="1600" b="1">
                <a:solidFill>
                  <a:srgbClr val="0F2A4F"/>
                </a:solidFill>
                <a:latin typeface="Hiragino Sans"/>
                <a:ea typeface="Hiragino Sans"/>
                <a:cs typeface="Hiragino Sans"/>
              </a:rPr>
              <a:t>Cookie廃止は撤回されたが</a:t>
            </a:r>
          </a:p>
          <a:p>
            <a:pPr algn="l">
              <a:lnSpc>
                <a:spcPct val="120000"/>
              </a:lnSpc>
            </a:pPr>
            <a:r>
              <a:rPr sz="1600" b="1">
                <a:solidFill>
                  <a:srgbClr val="0F2A4F"/>
                </a:solidFill>
                <a:latin typeface="Hiragino Sans"/>
                <a:ea typeface="Hiragino Sans"/>
                <a:cs typeface="Hiragino Sans"/>
              </a:rPr>
              <a:t>シグナル減は戻らない</a:t>
            </a:r>
          </a:p>
        </p:txBody>
      </p:sp>
      <p:sp>
        <p:nvSpPr>
          <p:cNvPr id="15" name="TextBox 14"/>
          <p:cNvSpPr txBox="1"/>
          <p:nvPr/>
        </p:nvSpPr>
        <p:spPr>
          <a:xfrm>
            <a:off x="6492240" y="2697480"/>
            <a:ext cx="4800600" cy="960120"/>
          </a:xfrm>
          <a:prstGeom prst="rect">
            <a:avLst/>
          </a:prstGeom>
          <a:noFill/>
        </p:spPr>
        <p:txBody>
          <a:bodyPr wrap="square" anchor="t" lIns="0" rIns="0" tIns="0" bIns="0">
            <a:spAutoFit/>
          </a:bodyPr>
          <a:lstStyle/>
          <a:p>
            <a:pPr algn="l">
              <a:lnSpc>
                <a:spcPct val="140000"/>
              </a:lnSpc>
            </a:pPr>
            <a:r>
              <a:rPr sz="1100" b="0">
                <a:solidFill>
                  <a:srgbClr val="1A1A1A"/>
                </a:solidFill>
                <a:latin typeface="Hiragino Sans"/>
                <a:ea typeface="Hiragino Sans"/>
                <a:cs typeface="Hiragino Sans"/>
              </a:rPr>
              <a:t>2024/07/22 Google は Cookie 廃止計画を撤回。しかし ATT / 規制 / ブラウザ制限で計測シグナル減の趨勢は不変。CAPI / SGTM / Consent Mode v2 は依然必須</a:t>
            </a:r>
          </a:p>
        </p:txBody>
      </p:sp>
      <p:sp>
        <p:nvSpPr>
          <p:cNvPr id="16" name="Rounded Rectangle 15"/>
          <p:cNvSpPr/>
          <p:nvPr/>
        </p:nvSpPr>
        <p:spPr>
          <a:xfrm>
            <a:off x="548640" y="3886200"/>
            <a:ext cx="5349240" cy="23774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4069080"/>
            <a:ext cx="1097280" cy="822960"/>
          </a:xfrm>
          <a:prstGeom prst="rect">
            <a:avLst/>
          </a:prstGeom>
          <a:noFill/>
        </p:spPr>
        <p:txBody>
          <a:bodyPr wrap="square" anchor="t" lIns="0" rIns="0" tIns="0" bIns="0">
            <a:spAutoFit/>
          </a:bodyPr>
          <a:lstStyle/>
          <a:p>
            <a:pPr algn="l">
              <a:lnSpc>
                <a:spcPct val="115000"/>
              </a:lnSpc>
            </a:pPr>
            <a:r>
              <a:rPr sz="4400" b="1">
                <a:solidFill>
                  <a:srgbClr val="E87722"/>
                </a:solidFill>
                <a:latin typeface="Helvetica Neue"/>
                <a:ea typeface="Helvetica Neue"/>
                <a:cs typeface="Helvetica Neue"/>
              </a:rPr>
              <a:t>03</a:t>
            </a:r>
          </a:p>
        </p:txBody>
      </p:sp>
      <p:sp>
        <p:nvSpPr>
          <p:cNvPr id="18" name="TextBox 17"/>
          <p:cNvSpPr txBox="1"/>
          <p:nvPr/>
        </p:nvSpPr>
        <p:spPr>
          <a:xfrm>
            <a:off x="2103120" y="4160520"/>
            <a:ext cx="3611880" cy="914400"/>
          </a:xfrm>
          <a:prstGeom prst="rect">
            <a:avLst/>
          </a:prstGeom>
          <a:noFill/>
        </p:spPr>
        <p:txBody>
          <a:bodyPr wrap="square" anchor="t" lIns="0" rIns="0" tIns="0" bIns="0">
            <a:spAutoFit/>
          </a:bodyPr>
          <a:lstStyle/>
          <a:p>
            <a:pPr algn="l">
              <a:lnSpc>
                <a:spcPct val="120000"/>
              </a:lnSpc>
            </a:pPr>
            <a:r>
              <a:rPr sz="1600" b="1">
                <a:solidFill>
                  <a:srgbClr val="0F2A4F"/>
                </a:solidFill>
                <a:latin typeface="Hiragino Sans"/>
                <a:ea typeface="Hiragino Sans"/>
                <a:cs typeface="Hiragino Sans"/>
              </a:rPr>
              <a:t>アカウント運用が</a:t>
            </a:r>
          </a:p>
          <a:p>
            <a:pPr algn="l">
              <a:lnSpc>
                <a:spcPct val="120000"/>
              </a:lnSpc>
            </a:pPr>
            <a:r>
              <a:rPr sz="1600" b="1">
                <a:solidFill>
                  <a:srgbClr val="0F2A4F"/>
                </a:solidFill>
                <a:latin typeface="Hiragino Sans"/>
                <a:ea typeface="Hiragino Sans"/>
                <a:cs typeface="Hiragino Sans"/>
              </a:rPr>
              <a:t>"ブラックボックス化"</a:t>
            </a:r>
          </a:p>
        </p:txBody>
      </p:sp>
      <p:sp>
        <p:nvSpPr>
          <p:cNvPr id="19" name="TextBox 18"/>
          <p:cNvSpPr txBox="1"/>
          <p:nvPr/>
        </p:nvSpPr>
        <p:spPr>
          <a:xfrm>
            <a:off x="822960" y="5212080"/>
            <a:ext cx="4800600" cy="960120"/>
          </a:xfrm>
          <a:prstGeom prst="rect">
            <a:avLst/>
          </a:prstGeom>
          <a:noFill/>
        </p:spPr>
        <p:txBody>
          <a:bodyPr wrap="square" anchor="t" lIns="0" rIns="0" tIns="0" bIns="0">
            <a:spAutoFit/>
          </a:bodyPr>
          <a:lstStyle/>
          <a:p>
            <a:pPr algn="l">
              <a:lnSpc>
                <a:spcPct val="140000"/>
              </a:lnSpc>
            </a:pPr>
            <a:r>
              <a:rPr sz="1100" b="0">
                <a:solidFill>
                  <a:srgbClr val="1A1A1A"/>
                </a:solidFill>
                <a:latin typeface="Hiragino Sans"/>
                <a:ea typeface="Hiragino Sans"/>
                <a:cs typeface="Hiragino Sans"/>
              </a:rPr>
              <a:t>PMax / Advantage+ / Smart+ に収束。広告セット分割・手動入札調整の時代は終わり、人間の仕事は「AIを導く / 検証設計 / 翻訳」へ</a:t>
            </a:r>
          </a:p>
        </p:txBody>
      </p:sp>
      <p:sp>
        <p:nvSpPr>
          <p:cNvPr id="20" name="Rounded Rectangle 19"/>
          <p:cNvSpPr/>
          <p:nvPr/>
        </p:nvSpPr>
        <p:spPr>
          <a:xfrm>
            <a:off x="6217920" y="3886200"/>
            <a:ext cx="5349240" cy="23774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0" y="4069080"/>
            <a:ext cx="1097280" cy="822960"/>
          </a:xfrm>
          <a:prstGeom prst="rect">
            <a:avLst/>
          </a:prstGeom>
          <a:noFill/>
        </p:spPr>
        <p:txBody>
          <a:bodyPr wrap="square" anchor="t" lIns="0" rIns="0" tIns="0" bIns="0">
            <a:spAutoFit/>
          </a:bodyPr>
          <a:lstStyle/>
          <a:p>
            <a:pPr algn="l">
              <a:lnSpc>
                <a:spcPct val="115000"/>
              </a:lnSpc>
            </a:pPr>
            <a:r>
              <a:rPr sz="4400" b="1">
                <a:solidFill>
                  <a:srgbClr val="E87722"/>
                </a:solidFill>
                <a:latin typeface="Helvetica Neue"/>
                <a:ea typeface="Helvetica Neue"/>
                <a:cs typeface="Helvetica Neue"/>
              </a:rPr>
              <a:t>04</a:t>
            </a:r>
          </a:p>
        </p:txBody>
      </p:sp>
      <p:sp>
        <p:nvSpPr>
          <p:cNvPr id="22" name="TextBox 21"/>
          <p:cNvSpPr txBox="1"/>
          <p:nvPr/>
        </p:nvSpPr>
        <p:spPr>
          <a:xfrm>
            <a:off x="7772400" y="4160520"/>
            <a:ext cx="3611880" cy="914400"/>
          </a:xfrm>
          <a:prstGeom prst="rect">
            <a:avLst/>
          </a:prstGeom>
          <a:noFill/>
        </p:spPr>
        <p:txBody>
          <a:bodyPr wrap="square" anchor="t" lIns="0" rIns="0" tIns="0" bIns="0">
            <a:spAutoFit/>
          </a:bodyPr>
          <a:lstStyle/>
          <a:p>
            <a:pPr algn="l">
              <a:lnSpc>
                <a:spcPct val="120000"/>
              </a:lnSpc>
            </a:pPr>
            <a:r>
              <a:rPr sz="1600" b="1">
                <a:solidFill>
                  <a:srgbClr val="0F2A4F"/>
                </a:solidFill>
                <a:latin typeface="Hiragino Sans"/>
                <a:ea typeface="Hiragino Sans"/>
                <a:cs typeface="Hiragino Sans"/>
              </a:rPr>
              <a:t>MMM が復活、</a:t>
            </a:r>
          </a:p>
          <a:p>
            <a:pPr algn="l">
              <a:lnSpc>
                <a:spcPct val="120000"/>
              </a:lnSpc>
            </a:pPr>
            <a:r>
              <a:rPr sz="1600" b="1">
                <a:solidFill>
                  <a:srgbClr val="0F2A4F"/>
                </a:solidFill>
                <a:latin typeface="Hiragino Sans"/>
                <a:ea typeface="Hiragino Sans"/>
                <a:cs typeface="Hiragino Sans"/>
              </a:rPr>
              <a:t>Incrementality が標準装備</a:t>
            </a:r>
          </a:p>
        </p:txBody>
      </p:sp>
      <p:sp>
        <p:nvSpPr>
          <p:cNvPr id="23" name="TextBox 22"/>
          <p:cNvSpPr txBox="1"/>
          <p:nvPr/>
        </p:nvSpPr>
        <p:spPr>
          <a:xfrm>
            <a:off x="6492240" y="5212080"/>
            <a:ext cx="4800600" cy="960120"/>
          </a:xfrm>
          <a:prstGeom prst="rect">
            <a:avLst/>
          </a:prstGeom>
          <a:noFill/>
        </p:spPr>
        <p:txBody>
          <a:bodyPr wrap="square" anchor="t" lIns="0" rIns="0" tIns="0" bIns="0">
            <a:spAutoFit/>
          </a:bodyPr>
          <a:lstStyle/>
          <a:p>
            <a:pPr algn="l">
              <a:lnSpc>
                <a:spcPct val="140000"/>
              </a:lnSpc>
            </a:pPr>
            <a:r>
              <a:rPr sz="1100" b="0">
                <a:solidFill>
                  <a:srgbClr val="1A1A1A"/>
                </a:solidFill>
                <a:latin typeface="Hiragino Sans"/>
                <a:ea typeface="Hiragino Sans"/>
                <a:cs typeface="Hiragino Sans"/>
              </a:rPr>
              <a:t>ラストクリック計測崩壊の反動として Bayesian MMM（Meta Robyn / Google Meridian）が民主化。Meta は内製で Lift Test を標準提供</a:t>
            </a:r>
          </a:p>
        </p:txBody>
      </p:sp>
      <p:sp>
        <p:nvSpPr>
          <p:cNvPr id="24" name="TextBox 23"/>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差分マップ 2023-09 → 2026-04 (1/2)</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媒体・配信面</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P04 / 250</a:t>
            </a:r>
          </a:p>
        </p:txBody>
      </p:sp>
      <p:sp>
        <p:nvSpPr>
          <p:cNvPr id="8" name="Rectangle 7"/>
          <p:cNvSpPr/>
          <p:nvPr/>
        </p:nvSpPr>
        <p:spPr>
          <a:xfrm>
            <a:off x="548640" y="1371600"/>
            <a:ext cx="11109960" cy="64008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554480"/>
            <a:ext cx="2057400" cy="365760"/>
          </a:xfrm>
          <a:prstGeom prst="rect">
            <a:avLst/>
          </a:prstGeom>
          <a:noFill/>
        </p:spPr>
        <p:txBody>
          <a:bodyPr wrap="square" anchor="t" lIns="0" rIns="0" tIns="0" bIns="0">
            <a:spAutoFit/>
          </a:bodyPr>
          <a:lstStyle/>
          <a:p>
            <a:pPr algn="l">
              <a:lnSpc>
                <a:spcPct val="115000"/>
              </a:lnSpc>
            </a:pPr>
            <a:r>
              <a:rPr sz="1200" b="1">
                <a:solidFill>
                  <a:srgbClr val="FFFFFF"/>
                </a:solidFill>
                <a:latin typeface="Hiragino Sans"/>
                <a:ea typeface="Hiragino Sans"/>
                <a:cs typeface="Hiragino Sans"/>
              </a:rPr>
              <a:t>領域</a:t>
            </a:r>
          </a:p>
        </p:txBody>
      </p:sp>
      <p:sp>
        <p:nvSpPr>
          <p:cNvPr id="10" name="TextBox 9"/>
          <p:cNvSpPr txBox="1"/>
          <p:nvPr/>
        </p:nvSpPr>
        <p:spPr>
          <a:xfrm>
            <a:off x="2880360" y="1554480"/>
            <a:ext cx="3794760" cy="365760"/>
          </a:xfrm>
          <a:prstGeom prst="rect">
            <a:avLst/>
          </a:prstGeom>
          <a:noFill/>
        </p:spPr>
        <p:txBody>
          <a:bodyPr wrap="square" anchor="t" lIns="0" rIns="0" tIns="0" bIns="0">
            <a:spAutoFit/>
          </a:bodyPr>
          <a:lstStyle/>
          <a:p>
            <a:pPr algn="l">
              <a:lnSpc>
                <a:spcPct val="115000"/>
              </a:lnSpc>
            </a:pPr>
            <a:r>
              <a:rPr sz="1200" b="1">
                <a:solidFill>
                  <a:srgbClr val="FFFFFF"/>
                </a:solidFill>
                <a:latin typeface="Hiragino Sans"/>
                <a:ea typeface="Hiragino Sans"/>
                <a:cs typeface="Hiragino Sans"/>
              </a:rPr>
              <a:t>2023-09 当時</a:t>
            </a:r>
          </a:p>
        </p:txBody>
      </p:sp>
      <p:sp>
        <p:nvSpPr>
          <p:cNvPr id="11" name="TextBox 10"/>
          <p:cNvSpPr txBox="1"/>
          <p:nvPr/>
        </p:nvSpPr>
        <p:spPr>
          <a:xfrm>
            <a:off x="6812280" y="1554480"/>
            <a:ext cx="3794760" cy="365760"/>
          </a:xfrm>
          <a:prstGeom prst="rect">
            <a:avLst/>
          </a:prstGeom>
          <a:noFill/>
        </p:spPr>
        <p:txBody>
          <a:bodyPr wrap="square" anchor="t" lIns="0" rIns="0" tIns="0" bIns="0">
            <a:spAutoFit/>
          </a:bodyPr>
          <a:lstStyle/>
          <a:p>
            <a:pPr algn="l">
              <a:lnSpc>
                <a:spcPct val="115000"/>
              </a:lnSpc>
            </a:pPr>
            <a:r>
              <a:rPr sz="1200" b="1">
                <a:solidFill>
                  <a:srgbClr val="FFFFFF"/>
                </a:solidFill>
                <a:latin typeface="Hiragino Sans"/>
                <a:ea typeface="Hiragino Sans"/>
                <a:cs typeface="Hiragino Sans"/>
              </a:rPr>
              <a:t>2026-04 現在</a:t>
            </a:r>
          </a:p>
        </p:txBody>
      </p:sp>
      <p:sp>
        <p:nvSpPr>
          <p:cNvPr id="12" name="TextBox 11"/>
          <p:cNvSpPr txBox="1"/>
          <p:nvPr/>
        </p:nvSpPr>
        <p:spPr>
          <a:xfrm>
            <a:off x="10744200" y="1554480"/>
            <a:ext cx="914400" cy="365760"/>
          </a:xfrm>
          <a:prstGeom prst="rect">
            <a:avLst/>
          </a:prstGeom>
          <a:noFill/>
        </p:spPr>
        <p:txBody>
          <a:bodyPr wrap="square" anchor="t" lIns="0" rIns="0" tIns="0" bIns="0">
            <a:spAutoFit/>
          </a:bodyPr>
          <a:lstStyle/>
          <a:p>
            <a:pPr algn="ctr">
              <a:lnSpc>
                <a:spcPct val="115000"/>
              </a:lnSpc>
            </a:pPr>
            <a:r>
              <a:rPr sz="1200" b="1">
                <a:solidFill>
                  <a:srgbClr val="FFFFFF"/>
                </a:solidFill>
                <a:latin typeface="Hiragino Sans"/>
                <a:ea typeface="Hiragino Sans"/>
                <a:cs typeface="Hiragino Sans"/>
              </a:rPr>
              <a:t>変化</a:t>
            </a:r>
          </a:p>
        </p:txBody>
      </p:sp>
      <p:sp>
        <p:nvSpPr>
          <p:cNvPr id="13" name="Rectangle 12"/>
          <p:cNvSpPr/>
          <p:nvPr/>
        </p:nvSpPr>
        <p:spPr>
          <a:xfrm>
            <a:off x="548640" y="2011680"/>
            <a:ext cx="11109960" cy="868680"/>
          </a:xfrm>
          <a:prstGeom prst="rect">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21408"/>
            <a:ext cx="2057400" cy="749808"/>
          </a:xfrm>
          <a:prstGeom prst="rect">
            <a:avLst/>
          </a:prstGeom>
          <a:noFill/>
        </p:spPr>
        <p:txBody>
          <a:bodyPr wrap="square" anchor="t" lIns="0" rIns="0" tIns="0" bIns="0">
            <a:spAutoFit/>
          </a:bodyPr>
          <a:lstStyle/>
          <a:p>
            <a:pPr algn="l">
              <a:lnSpc>
                <a:spcPct val="130000"/>
              </a:lnSpc>
            </a:pPr>
            <a:r>
              <a:rPr sz="1000" b="1">
                <a:solidFill>
                  <a:srgbClr val="0F2A4F"/>
                </a:solidFill>
                <a:latin typeface="Hiragino Sans"/>
                <a:ea typeface="Hiragino Sans"/>
                <a:cs typeface="Hiragino Sans"/>
              </a:rPr>
              <a:t>Google 検索広告</a:t>
            </a:r>
          </a:p>
        </p:txBody>
      </p:sp>
      <p:sp>
        <p:nvSpPr>
          <p:cNvPr id="15" name="TextBox 14"/>
          <p:cNvSpPr txBox="1"/>
          <p:nvPr/>
        </p:nvSpPr>
        <p:spPr>
          <a:xfrm>
            <a:off x="2880360" y="2121408"/>
            <a:ext cx="3794760" cy="749808"/>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BMM廃止後、Phrase/Exact で細かく制御。</a:t>
            </a:r>
          </a:p>
          <a:p>
            <a:pPr algn="l">
              <a:lnSpc>
                <a:spcPct val="130000"/>
              </a:lnSpc>
            </a:pPr>
            <a:r>
              <a:rPr sz="1000" b="0">
                <a:solidFill>
                  <a:srgbClr val="1A1A1A"/>
                </a:solidFill>
                <a:latin typeface="Hiragino Sans"/>
                <a:ea typeface="Hiragino Sans"/>
                <a:cs typeface="Hiragino Sans"/>
              </a:rPr>
              <a:t>キーワード選定とマッチタイプ運用が肝</a:t>
            </a:r>
          </a:p>
        </p:txBody>
      </p:sp>
      <p:sp>
        <p:nvSpPr>
          <p:cNvPr id="16" name="TextBox 15"/>
          <p:cNvSpPr txBox="1"/>
          <p:nvPr/>
        </p:nvSpPr>
        <p:spPr>
          <a:xfrm>
            <a:off x="6812280" y="2121408"/>
            <a:ext cx="3794760" cy="749808"/>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Broad Match + Smart Bidding 推奨。</a:t>
            </a:r>
          </a:p>
          <a:p>
            <a:pPr algn="l">
              <a:lnSpc>
                <a:spcPct val="130000"/>
              </a:lnSpc>
            </a:pPr>
            <a:r>
              <a:rPr sz="1000" b="0">
                <a:solidFill>
                  <a:srgbClr val="1A1A1A"/>
                </a:solidFill>
                <a:latin typeface="Hiragino Sans"/>
                <a:ea typeface="Hiragino Sans"/>
                <a:cs typeface="Hiragino Sans"/>
              </a:rPr>
              <a:t>AI Max for Search (2025/05) で自動拡張</a:t>
            </a:r>
          </a:p>
        </p:txBody>
      </p:sp>
      <p:sp>
        <p:nvSpPr>
          <p:cNvPr id="17" name="TextBox 16"/>
          <p:cNvSpPr txBox="1"/>
          <p:nvPr/>
        </p:nvSpPr>
        <p:spPr>
          <a:xfrm>
            <a:off x="10744200" y="2121408"/>
            <a:ext cx="914400" cy="749808"/>
          </a:xfrm>
          <a:prstGeom prst="rect">
            <a:avLst/>
          </a:prstGeom>
          <a:noFill/>
        </p:spPr>
        <p:txBody>
          <a:bodyPr wrap="square" anchor="t" lIns="0" rIns="0" tIns="0" bIns="0">
            <a:spAutoFit/>
          </a:bodyPr>
          <a:lstStyle/>
          <a:p>
            <a:pPr algn="ctr">
              <a:lnSpc>
                <a:spcPct val="130000"/>
              </a:lnSpc>
            </a:pPr>
            <a:r>
              <a:rPr sz="1400" b="1">
                <a:solidFill>
                  <a:srgbClr val="E87722"/>
                </a:solidFill>
                <a:latin typeface="Hiragino Sans"/>
                <a:ea typeface="Hiragino Sans"/>
                <a:cs typeface="Hiragino Sans"/>
              </a:rPr>
              <a:t>★★★</a:t>
            </a:r>
          </a:p>
        </p:txBody>
      </p:sp>
      <p:sp>
        <p:nvSpPr>
          <p:cNvPr id="18" name="Rectangle 17"/>
          <p:cNvSpPr/>
          <p:nvPr/>
        </p:nvSpPr>
        <p:spPr>
          <a:xfrm>
            <a:off x="548640" y="2880360"/>
            <a:ext cx="11109960" cy="868680"/>
          </a:xfrm>
          <a:prstGeom prst="rect">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990088"/>
            <a:ext cx="2057400" cy="749808"/>
          </a:xfrm>
          <a:prstGeom prst="rect">
            <a:avLst/>
          </a:prstGeom>
          <a:noFill/>
        </p:spPr>
        <p:txBody>
          <a:bodyPr wrap="square" anchor="t" lIns="0" rIns="0" tIns="0" bIns="0">
            <a:spAutoFit/>
          </a:bodyPr>
          <a:lstStyle/>
          <a:p>
            <a:pPr algn="l">
              <a:lnSpc>
                <a:spcPct val="130000"/>
              </a:lnSpc>
            </a:pPr>
            <a:r>
              <a:rPr sz="1000" b="1">
                <a:solidFill>
                  <a:srgbClr val="0F2A4F"/>
                </a:solidFill>
                <a:latin typeface="Hiragino Sans"/>
                <a:ea typeface="Hiragino Sans"/>
                <a:cs typeface="Hiragino Sans"/>
              </a:rPr>
              <a:t>Google 配信</a:t>
            </a:r>
          </a:p>
        </p:txBody>
      </p:sp>
      <p:sp>
        <p:nvSpPr>
          <p:cNvPr id="20" name="TextBox 19"/>
          <p:cNvSpPr txBox="1"/>
          <p:nvPr/>
        </p:nvSpPr>
        <p:spPr>
          <a:xfrm>
            <a:off x="2880360" y="2990088"/>
            <a:ext cx="3794760" cy="749808"/>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Smart Shopping / Local Campaigns 残存。</a:t>
            </a:r>
          </a:p>
          <a:p>
            <a:pPr algn="l">
              <a:lnSpc>
                <a:spcPct val="130000"/>
              </a:lnSpc>
            </a:pPr>
            <a:r>
              <a:rPr sz="1000" b="0">
                <a:solidFill>
                  <a:srgbClr val="1A1A1A"/>
                </a:solidFill>
                <a:latin typeface="Hiragino Sans"/>
                <a:ea typeface="Hiragino Sans"/>
                <a:cs typeface="Hiragino Sans"/>
              </a:rPr>
              <a:t>手動キャンペーン分け運用</a:t>
            </a:r>
          </a:p>
        </p:txBody>
      </p:sp>
      <p:sp>
        <p:nvSpPr>
          <p:cNvPr id="21" name="TextBox 20"/>
          <p:cNvSpPr txBox="1"/>
          <p:nvPr/>
        </p:nvSpPr>
        <p:spPr>
          <a:xfrm>
            <a:off x="6812280" y="2990088"/>
            <a:ext cx="3794760" cy="749808"/>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Performance Max に収束。</a:t>
            </a:r>
          </a:p>
          <a:p>
            <a:pPr algn="l">
              <a:lnSpc>
                <a:spcPct val="130000"/>
              </a:lnSpc>
            </a:pPr>
            <a:r>
              <a:rPr sz="1000" b="0">
                <a:solidFill>
                  <a:srgbClr val="1A1A1A"/>
                </a:solidFill>
                <a:latin typeface="Hiragino Sans"/>
                <a:ea typeface="Hiragino Sans"/>
                <a:cs typeface="Hiragino Sans"/>
              </a:rPr>
              <a:t>Demand Gen (Discovery統合)</a:t>
            </a:r>
          </a:p>
        </p:txBody>
      </p:sp>
      <p:sp>
        <p:nvSpPr>
          <p:cNvPr id="22" name="TextBox 21"/>
          <p:cNvSpPr txBox="1"/>
          <p:nvPr/>
        </p:nvSpPr>
        <p:spPr>
          <a:xfrm>
            <a:off x="10744200" y="2990088"/>
            <a:ext cx="914400" cy="749808"/>
          </a:xfrm>
          <a:prstGeom prst="rect">
            <a:avLst/>
          </a:prstGeom>
          <a:noFill/>
        </p:spPr>
        <p:txBody>
          <a:bodyPr wrap="square" anchor="t" lIns="0" rIns="0" tIns="0" bIns="0">
            <a:spAutoFit/>
          </a:bodyPr>
          <a:lstStyle/>
          <a:p>
            <a:pPr algn="ctr">
              <a:lnSpc>
                <a:spcPct val="130000"/>
              </a:lnSpc>
            </a:pPr>
            <a:r>
              <a:rPr sz="1400" b="1">
                <a:solidFill>
                  <a:srgbClr val="E87722"/>
                </a:solidFill>
                <a:latin typeface="Hiragino Sans"/>
                <a:ea typeface="Hiragino Sans"/>
                <a:cs typeface="Hiragino Sans"/>
              </a:rPr>
              <a:t>★★★</a:t>
            </a:r>
          </a:p>
        </p:txBody>
      </p:sp>
      <p:sp>
        <p:nvSpPr>
          <p:cNvPr id="23" name="Rectangle 22"/>
          <p:cNvSpPr/>
          <p:nvPr/>
        </p:nvSpPr>
        <p:spPr>
          <a:xfrm>
            <a:off x="548640" y="3749040"/>
            <a:ext cx="11109960" cy="868680"/>
          </a:xfrm>
          <a:prstGeom prst="rect">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3858768"/>
            <a:ext cx="2057400" cy="749808"/>
          </a:xfrm>
          <a:prstGeom prst="rect">
            <a:avLst/>
          </a:prstGeom>
          <a:noFill/>
        </p:spPr>
        <p:txBody>
          <a:bodyPr wrap="square" anchor="t" lIns="0" rIns="0" tIns="0" bIns="0">
            <a:spAutoFit/>
          </a:bodyPr>
          <a:lstStyle/>
          <a:p>
            <a:pPr algn="l">
              <a:lnSpc>
                <a:spcPct val="130000"/>
              </a:lnSpc>
            </a:pPr>
            <a:r>
              <a:rPr sz="1000" b="1">
                <a:solidFill>
                  <a:srgbClr val="0F2A4F"/>
                </a:solidFill>
                <a:latin typeface="Hiragino Sans"/>
                <a:ea typeface="Hiragino Sans"/>
                <a:cs typeface="Hiragino Sans"/>
              </a:rPr>
              <a:t>Meta 配信</a:t>
            </a:r>
          </a:p>
        </p:txBody>
      </p:sp>
      <p:sp>
        <p:nvSpPr>
          <p:cNvPr id="25" name="TextBox 24"/>
          <p:cNvSpPr txBox="1"/>
          <p:nvPr/>
        </p:nvSpPr>
        <p:spPr>
          <a:xfrm>
            <a:off x="2880360" y="3858768"/>
            <a:ext cx="3794760" cy="749808"/>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ASC 初期、CBO 主流、</a:t>
            </a:r>
          </a:p>
          <a:p>
            <a:pPr algn="l">
              <a:lnSpc>
                <a:spcPct val="130000"/>
              </a:lnSpc>
            </a:pPr>
            <a:r>
              <a:rPr sz="1000" b="0">
                <a:solidFill>
                  <a:srgbClr val="1A1A1A"/>
                </a:solidFill>
                <a:latin typeface="Hiragino Sans"/>
                <a:ea typeface="Hiragino Sans"/>
                <a:cs typeface="Hiragino Sans"/>
              </a:rPr>
              <a:t>広告セット分割が基本</a:t>
            </a:r>
          </a:p>
        </p:txBody>
      </p:sp>
      <p:sp>
        <p:nvSpPr>
          <p:cNvPr id="26" name="TextBox 25"/>
          <p:cNvSpPr txBox="1"/>
          <p:nvPr/>
        </p:nvSpPr>
        <p:spPr>
          <a:xfrm>
            <a:off x="6812280" y="3858768"/>
            <a:ext cx="3794760" cy="749808"/>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Advantage+ 全盛 (Shopping/Leads/App)。</a:t>
            </a:r>
          </a:p>
          <a:p>
            <a:pPr algn="l">
              <a:lnSpc>
                <a:spcPct val="130000"/>
              </a:lnSpc>
            </a:pPr>
            <a:r>
              <a:rPr sz="1000" b="0">
                <a:solidFill>
                  <a:srgbClr val="1A1A1A"/>
                </a:solidFill>
                <a:latin typeface="Hiragino Sans"/>
                <a:ea typeface="Hiragino Sans"/>
                <a:cs typeface="Hiragino Sans"/>
              </a:rPr>
              <a:t>Lattice / Andromeda で配信ML統合</a:t>
            </a:r>
          </a:p>
        </p:txBody>
      </p:sp>
      <p:sp>
        <p:nvSpPr>
          <p:cNvPr id="27" name="TextBox 26"/>
          <p:cNvSpPr txBox="1"/>
          <p:nvPr/>
        </p:nvSpPr>
        <p:spPr>
          <a:xfrm>
            <a:off x="10744200" y="3858768"/>
            <a:ext cx="914400" cy="749808"/>
          </a:xfrm>
          <a:prstGeom prst="rect">
            <a:avLst/>
          </a:prstGeom>
          <a:noFill/>
        </p:spPr>
        <p:txBody>
          <a:bodyPr wrap="square" anchor="t" lIns="0" rIns="0" tIns="0" bIns="0">
            <a:spAutoFit/>
          </a:bodyPr>
          <a:lstStyle/>
          <a:p>
            <a:pPr algn="ctr">
              <a:lnSpc>
                <a:spcPct val="130000"/>
              </a:lnSpc>
            </a:pPr>
            <a:r>
              <a:rPr sz="1400" b="1">
                <a:solidFill>
                  <a:srgbClr val="E87722"/>
                </a:solidFill>
                <a:latin typeface="Hiragino Sans"/>
                <a:ea typeface="Hiragino Sans"/>
                <a:cs typeface="Hiragino Sans"/>
              </a:rPr>
              <a:t>★★★</a:t>
            </a:r>
          </a:p>
        </p:txBody>
      </p:sp>
      <p:sp>
        <p:nvSpPr>
          <p:cNvPr id="28" name="Rectangle 27"/>
          <p:cNvSpPr/>
          <p:nvPr/>
        </p:nvSpPr>
        <p:spPr>
          <a:xfrm>
            <a:off x="548640" y="4617720"/>
            <a:ext cx="11109960" cy="868680"/>
          </a:xfrm>
          <a:prstGeom prst="rect">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4727448"/>
            <a:ext cx="2057400" cy="749808"/>
          </a:xfrm>
          <a:prstGeom prst="rect">
            <a:avLst/>
          </a:prstGeom>
          <a:noFill/>
        </p:spPr>
        <p:txBody>
          <a:bodyPr wrap="square" anchor="t" lIns="0" rIns="0" tIns="0" bIns="0">
            <a:spAutoFit/>
          </a:bodyPr>
          <a:lstStyle/>
          <a:p>
            <a:pPr algn="l">
              <a:lnSpc>
                <a:spcPct val="130000"/>
              </a:lnSpc>
            </a:pPr>
            <a:r>
              <a:rPr sz="1000" b="1">
                <a:solidFill>
                  <a:srgbClr val="0F2A4F"/>
                </a:solidFill>
                <a:latin typeface="Hiragino Sans"/>
                <a:ea typeface="Hiragino Sans"/>
                <a:cs typeface="Hiragino Sans"/>
              </a:rPr>
              <a:t>TikTok</a:t>
            </a:r>
          </a:p>
        </p:txBody>
      </p:sp>
      <p:sp>
        <p:nvSpPr>
          <p:cNvPr id="30" name="TextBox 29"/>
          <p:cNvSpPr txBox="1"/>
          <p:nvPr/>
        </p:nvSpPr>
        <p:spPr>
          <a:xfrm>
            <a:off x="2880360" y="4727448"/>
            <a:ext cx="3794760" cy="749808"/>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日本B2C限定、手動運用。</a:t>
            </a:r>
          </a:p>
          <a:p>
            <a:pPr algn="l">
              <a:lnSpc>
                <a:spcPct val="130000"/>
              </a:lnSpc>
            </a:pPr>
            <a:r>
              <a:rPr sz="1000" b="0">
                <a:solidFill>
                  <a:srgbClr val="1A1A1A"/>
                </a:solidFill>
                <a:latin typeface="Hiragino Sans"/>
                <a:ea typeface="Hiragino Sans"/>
                <a:cs typeface="Hiragino Sans"/>
              </a:rPr>
              <a:t>クリエイティブ職人的制作</a:t>
            </a:r>
          </a:p>
        </p:txBody>
      </p:sp>
      <p:sp>
        <p:nvSpPr>
          <p:cNvPr id="31" name="TextBox 30"/>
          <p:cNvSpPr txBox="1"/>
          <p:nvPr/>
        </p:nvSpPr>
        <p:spPr>
          <a:xfrm>
            <a:off x="6812280" y="4727448"/>
            <a:ext cx="3794760" cy="749808"/>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Smart+ (2024/10) / Symphony AI。</a:t>
            </a:r>
          </a:p>
          <a:p>
            <a:pPr algn="l">
              <a:lnSpc>
                <a:spcPct val="130000"/>
              </a:lnSpc>
            </a:pPr>
            <a:r>
              <a:rPr sz="1000" b="0">
                <a:solidFill>
                  <a:srgbClr val="1A1A1A"/>
                </a:solidFill>
                <a:latin typeface="Hiragino Sans"/>
                <a:ea typeface="Hiragino Sans"/>
                <a:cs typeface="Hiragino Sans"/>
              </a:rPr>
              <a:t>Shop Ads が本格拡大</a:t>
            </a:r>
          </a:p>
        </p:txBody>
      </p:sp>
      <p:sp>
        <p:nvSpPr>
          <p:cNvPr id="32" name="TextBox 31"/>
          <p:cNvSpPr txBox="1"/>
          <p:nvPr/>
        </p:nvSpPr>
        <p:spPr>
          <a:xfrm>
            <a:off x="10744200" y="4727448"/>
            <a:ext cx="914400" cy="749808"/>
          </a:xfrm>
          <a:prstGeom prst="rect">
            <a:avLst/>
          </a:prstGeom>
          <a:noFill/>
        </p:spPr>
        <p:txBody>
          <a:bodyPr wrap="square" anchor="t" lIns="0" rIns="0" tIns="0" bIns="0">
            <a:spAutoFit/>
          </a:bodyPr>
          <a:lstStyle/>
          <a:p>
            <a:pPr algn="ctr">
              <a:lnSpc>
                <a:spcPct val="130000"/>
              </a:lnSpc>
            </a:pPr>
            <a:r>
              <a:rPr sz="1400" b="1">
                <a:solidFill>
                  <a:srgbClr val="E87722"/>
                </a:solidFill>
                <a:latin typeface="Hiragino Sans"/>
                <a:ea typeface="Hiragino Sans"/>
                <a:cs typeface="Hiragino Sans"/>
              </a:rPr>
              <a:t>★★★</a:t>
            </a:r>
          </a:p>
        </p:txBody>
      </p:sp>
      <p:sp>
        <p:nvSpPr>
          <p:cNvPr id="33" name="Rectangle 32"/>
          <p:cNvSpPr/>
          <p:nvPr/>
        </p:nvSpPr>
        <p:spPr>
          <a:xfrm>
            <a:off x="548640" y="5486400"/>
            <a:ext cx="11109960" cy="868680"/>
          </a:xfrm>
          <a:prstGeom prst="rect">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5596128"/>
            <a:ext cx="2057400" cy="749808"/>
          </a:xfrm>
          <a:prstGeom prst="rect">
            <a:avLst/>
          </a:prstGeom>
          <a:noFill/>
        </p:spPr>
        <p:txBody>
          <a:bodyPr wrap="square" anchor="t" lIns="0" rIns="0" tIns="0" bIns="0">
            <a:spAutoFit/>
          </a:bodyPr>
          <a:lstStyle/>
          <a:p>
            <a:pPr algn="l">
              <a:lnSpc>
                <a:spcPct val="130000"/>
              </a:lnSpc>
            </a:pPr>
            <a:r>
              <a:rPr sz="1000" b="1">
                <a:solidFill>
                  <a:srgbClr val="0F2A4F"/>
                </a:solidFill>
                <a:latin typeface="Hiragino Sans"/>
                <a:ea typeface="Hiragino Sans"/>
                <a:cs typeface="Hiragino Sans"/>
              </a:rPr>
              <a:t>Yahoo! / LINE</a:t>
            </a:r>
          </a:p>
        </p:txBody>
      </p:sp>
      <p:sp>
        <p:nvSpPr>
          <p:cNvPr id="35" name="TextBox 34"/>
          <p:cNvSpPr txBox="1"/>
          <p:nvPr/>
        </p:nvSpPr>
        <p:spPr>
          <a:xfrm>
            <a:off x="2880360" y="5596128"/>
            <a:ext cx="3794760" cy="749808"/>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Yahoo!広告単独、YDA 手動中心</a:t>
            </a:r>
          </a:p>
        </p:txBody>
      </p:sp>
      <p:sp>
        <p:nvSpPr>
          <p:cNvPr id="36" name="TextBox 35"/>
          <p:cNvSpPr txBox="1"/>
          <p:nvPr/>
        </p:nvSpPr>
        <p:spPr>
          <a:xfrm>
            <a:off x="6812280" y="5596128"/>
            <a:ext cx="3794760" cy="749808"/>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LINEヤフー統合後、LINE広告と</a:t>
            </a:r>
          </a:p>
          <a:p>
            <a:pPr algn="l">
              <a:lnSpc>
                <a:spcPct val="130000"/>
              </a:lnSpc>
            </a:pPr>
            <a:r>
              <a:rPr sz="1000" b="0">
                <a:solidFill>
                  <a:srgbClr val="1A1A1A"/>
                </a:solidFill>
                <a:latin typeface="Hiragino Sans"/>
                <a:ea typeface="Hiragino Sans"/>
                <a:cs typeface="Hiragino Sans"/>
              </a:rPr>
              <a:t>連携前提の日本市場に</a:t>
            </a:r>
          </a:p>
        </p:txBody>
      </p:sp>
      <p:sp>
        <p:nvSpPr>
          <p:cNvPr id="37" name="TextBox 36"/>
          <p:cNvSpPr txBox="1"/>
          <p:nvPr/>
        </p:nvSpPr>
        <p:spPr>
          <a:xfrm>
            <a:off x="10744200" y="5596128"/>
            <a:ext cx="914400" cy="749808"/>
          </a:xfrm>
          <a:prstGeom prst="rect">
            <a:avLst/>
          </a:prstGeom>
          <a:noFill/>
        </p:spPr>
        <p:txBody>
          <a:bodyPr wrap="square" anchor="t" lIns="0" rIns="0" tIns="0" bIns="0">
            <a:spAutoFit/>
          </a:bodyPr>
          <a:lstStyle/>
          <a:p>
            <a:pPr algn="ctr">
              <a:lnSpc>
                <a:spcPct val="130000"/>
              </a:lnSpc>
            </a:pPr>
            <a:r>
              <a:rPr sz="1400" b="1">
                <a:solidFill>
                  <a:srgbClr val="E87722"/>
                </a:solidFill>
                <a:latin typeface="Hiragino Sans"/>
                <a:ea typeface="Hiragino Sans"/>
                <a:cs typeface="Hiragino Sans"/>
              </a:rPr>
              <a:t>★★</a:t>
            </a:r>
          </a:p>
        </p:txBody>
      </p:sp>
      <p:sp>
        <p:nvSpPr>
          <p:cNvPr id="38" name="TextBox 37"/>
          <p:cNvSpPr txBox="1"/>
          <p:nvPr/>
        </p:nvSpPr>
        <p:spPr>
          <a:xfrm>
            <a:off x="548640" y="6263640"/>
            <a:ext cx="109728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 = 変化の度合い (3段階)   |   出典: 各媒体公式発表 / Search Engine Land / 電通</a:t>
            </a:r>
          </a:p>
        </p:txBody>
      </p:sp>
      <p:sp>
        <p:nvSpPr>
          <p:cNvPr id="39" name="TextBox 38"/>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差分マップ 2023-09 → 2026-04 (2/2)</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計測・クリエイティブ・運用職の役割</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P05 / 250</a:t>
            </a:r>
          </a:p>
        </p:txBody>
      </p:sp>
      <p:sp>
        <p:nvSpPr>
          <p:cNvPr id="8" name="Rectangle 7"/>
          <p:cNvSpPr/>
          <p:nvPr/>
        </p:nvSpPr>
        <p:spPr>
          <a:xfrm>
            <a:off x="548640" y="1371600"/>
            <a:ext cx="11109960" cy="64008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554480"/>
            <a:ext cx="2057400" cy="365760"/>
          </a:xfrm>
          <a:prstGeom prst="rect">
            <a:avLst/>
          </a:prstGeom>
          <a:noFill/>
        </p:spPr>
        <p:txBody>
          <a:bodyPr wrap="square" anchor="t" lIns="0" rIns="0" tIns="0" bIns="0">
            <a:spAutoFit/>
          </a:bodyPr>
          <a:lstStyle/>
          <a:p>
            <a:pPr algn="l">
              <a:lnSpc>
                <a:spcPct val="115000"/>
              </a:lnSpc>
            </a:pPr>
            <a:r>
              <a:rPr sz="1200" b="1">
                <a:solidFill>
                  <a:srgbClr val="FFFFFF"/>
                </a:solidFill>
                <a:latin typeface="Hiragino Sans"/>
                <a:ea typeface="Hiragino Sans"/>
                <a:cs typeface="Hiragino Sans"/>
              </a:rPr>
              <a:t>領域</a:t>
            </a:r>
          </a:p>
        </p:txBody>
      </p:sp>
      <p:sp>
        <p:nvSpPr>
          <p:cNvPr id="10" name="TextBox 9"/>
          <p:cNvSpPr txBox="1"/>
          <p:nvPr/>
        </p:nvSpPr>
        <p:spPr>
          <a:xfrm>
            <a:off x="2880360" y="1554480"/>
            <a:ext cx="3794760" cy="365760"/>
          </a:xfrm>
          <a:prstGeom prst="rect">
            <a:avLst/>
          </a:prstGeom>
          <a:noFill/>
        </p:spPr>
        <p:txBody>
          <a:bodyPr wrap="square" anchor="t" lIns="0" rIns="0" tIns="0" bIns="0">
            <a:spAutoFit/>
          </a:bodyPr>
          <a:lstStyle/>
          <a:p>
            <a:pPr algn="l">
              <a:lnSpc>
                <a:spcPct val="115000"/>
              </a:lnSpc>
            </a:pPr>
            <a:r>
              <a:rPr sz="1200" b="1">
                <a:solidFill>
                  <a:srgbClr val="FFFFFF"/>
                </a:solidFill>
                <a:latin typeface="Hiragino Sans"/>
                <a:ea typeface="Hiragino Sans"/>
                <a:cs typeface="Hiragino Sans"/>
              </a:rPr>
              <a:t>2023-09 当時</a:t>
            </a:r>
          </a:p>
        </p:txBody>
      </p:sp>
      <p:sp>
        <p:nvSpPr>
          <p:cNvPr id="11" name="TextBox 10"/>
          <p:cNvSpPr txBox="1"/>
          <p:nvPr/>
        </p:nvSpPr>
        <p:spPr>
          <a:xfrm>
            <a:off x="6812280" y="1554480"/>
            <a:ext cx="3794760" cy="365760"/>
          </a:xfrm>
          <a:prstGeom prst="rect">
            <a:avLst/>
          </a:prstGeom>
          <a:noFill/>
        </p:spPr>
        <p:txBody>
          <a:bodyPr wrap="square" anchor="t" lIns="0" rIns="0" tIns="0" bIns="0">
            <a:spAutoFit/>
          </a:bodyPr>
          <a:lstStyle/>
          <a:p>
            <a:pPr algn="l">
              <a:lnSpc>
                <a:spcPct val="115000"/>
              </a:lnSpc>
            </a:pPr>
            <a:r>
              <a:rPr sz="1200" b="1">
                <a:solidFill>
                  <a:srgbClr val="FFFFFF"/>
                </a:solidFill>
                <a:latin typeface="Hiragino Sans"/>
                <a:ea typeface="Hiragino Sans"/>
                <a:cs typeface="Hiragino Sans"/>
              </a:rPr>
              <a:t>2026-04 現在</a:t>
            </a:r>
          </a:p>
        </p:txBody>
      </p:sp>
      <p:sp>
        <p:nvSpPr>
          <p:cNvPr id="12" name="TextBox 11"/>
          <p:cNvSpPr txBox="1"/>
          <p:nvPr/>
        </p:nvSpPr>
        <p:spPr>
          <a:xfrm>
            <a:off x="10744200" y="1554480"/>
            <a:ext cx="914400" cy="365760"/>
          </a:xfrm>
          <a:prstGeom prst="rect">
            <a:avLst/>
          </a:prstGeom>
          <a:noFill/>
        </p:spPr>
        <p:txBody>
          <a:bodyPr wrap="square" anchor="t" lIns="0" rIns="0" tIns="0" bIns="0">
            <a:spAutoFit/>
          </a:bodyPr>
          <a:lstStyle/>
          <a:p>
            <a:pPr algn="ctr">
              <a:lnSpc>
                <a:spcPct val="115000"/>
              </a:lnSpc>
            </a:pPr>
            <a:r>
              <a:rPr sz="1200" b="1">
                <a:solidFill>
                  <a:srgbClr val="FFFFFF"/>
                </a:solidFill>
                <a:latin typeface="Hiragino Sans"/>
                <a:ea typeface="Hiragino Sans"/>
                <a:cs typeface="Hiragino Sans"/>
              </a:rPr>
              <a:t>変化</a:t>
            </a:r>
          </a:p>
        </p:txBody>
      </p:sp>
      <p:sp>
        <p:nvSpPr>
          <p:cNvPr id="13" name="Rectangle 12"/>
          <p:cNvSpPr/>
          <p:nvPr/>
        </p:nvSpPr>
        <p:spPr>
          <a:xfrm>
            <a:off x="548640" y="2011680"/>
            <a:ext cx="11109960" cy="868680"/>
          </a:xfrm>
          <a:prstGeom prst="rect">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21408"/>
            <a:ext cx="2057400" cy="749808"/>
          </a:xfrm>
          <a:prstGeom prst="rect">
            <a:avLst/>
          </a:prstGeom>
          <a:noFill/>
        </p:spPr>
        <p:txBody>
          <a:bodyPr wrap="square" anchor="t" lIns="0" rIns="0" tIns="0" bIns="0">
            <a:spAutoFit/>
          </a:bodyPr>
          <a:lstStyle/>
          <a:p>
            <a:pPr algn="l">
              <a:lnSpc>
                <a:spcPct val="130000"/>
              </a:lnSpc>
            </a:pPr>
            <a:r>
              <a:rPr sz="1000" b="1">
                <a:solidFill>
                  <a:srgbClr val="0F2A4F"/>
                </a:solidFill>
                <a:latin typeface="Hiragino Sans"/>
                <a:ea typeface="Hiragino Sans"/>
                <a:cs typeface="Hiragino Sans"/>
              </a:rPr>
              <a:t>計測基盤</a:t>
            </a:r>
          </a:p>
        </p:txBody>
      </p:sp>
      <p:sp>
        <p:nvSpPr>
          <p:cNvPr id="15" name="TextBox 14"/>
          <p:cNvSpPr txBox="1"/>
          <p:nvPr/>
        </p:nvSpPr>
        <p:spPr>
          <a:xfrm>
            <a:off x="2880360" y="2121408"/>
            <a:ext cx="3794760" cy="749808"/>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UA → GA4 移行中。</a:t>
            </a:r>
          </a:p>
          <a:p>
            <a:pPr algn="l">
              <a:lnSpc>
                <a:spcPct val="130000"/>
              </a:lnSpc>
            </a:pPr>
            <a:r>
              <a:rPr sz="1000" b="0">
                <a:solidFill>
                  <a:srgbClr val="1A1A1A"/>
                </a:solidFill>
                <a:latin typeface="Hiragino Sans"/>
                <a:ea typeface="Hiragino Sans"/>
                <a:cs typeface="Hiragino Sans"/>
              </a:rPr>
              <a:t>タグ直接配置 / Cookieベース中心</a:t>
            </a:r>
          </a:p>
        </p:txBody>
      </p:sp>
      <p:sp>
        <p:nvSpPr>
          <p:cNvPr id="16" name="TextBox 15"/>
          <p:cNvSpPr txBox="1"/>
          <p:nvPr/>
        </p:nvSpPr>
        <p:spPr>
          <a:xfrm>
            <a:off x="6812280" y="2121408"/>
            <a:ext cx="3794760" cy="749808"/>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GA4 完全移行済。SGTM / CAPI 標準。</a:t>
            </a:r>
          </a:p>
          <a:p>
            <a:pPr algn="l">
              <a:lnSpc>
                <a:spcPct val="130000"/>
              </a:lnSpc>
            </a:pPr>
            <a:r>
              <a:rPr sz="1000" b="0">
                <a:solidFill>
                  <a:srgbClr val="1A1A1A"/>
                </a:solidFill>
                <a:latin typeface="Hiragino Sans"/>
                <a:ea typeface="Hiragino Sans"/>
                <a:cs typeface="Hiragino Sans"/>
              </a:rPr>
              <a:t>Consent Mode v2 (2024/03~) 必須</a:t>
            </a:r>
          </a:p>
        </p:txBody>
      </p:sp>
      <p:sp>
        <p:nvSpPr>
          <p:cNvPr id="17" name="TextBox 16"/>
          <p:cNvSpPr txBox="1"/>
          <p:nvPr/>
        </p:nvSpPr>
        <p:spPr>
          <a:xfrm>
            <a:off x="10744200" y="2121408"/>
            <a:ext cx="914400" cy="749808"/>
          </a:xfrm>
          <a:prstGeom prst="rect">
            <a:avLst/>
          </a:prstGeom>
          <a:noFill/>
        </p:spPr>
        <p:txBody>
          <a:bodyPr wrap="square" anchor="t" lIns="0" rIns="0" tIns="0" bIns="0">
            <a:spAutoFit/>
          </a:bodyPr>
          <a:lstStyle/>
          <a:p>
            <a:pPr algn="ctr">
              <a:lnSpc>
                <a:spcPct val="130000"/>
              </a:lnSpc>
            </a:pPr>
            <a:r>
              <a:rPr sz="1400" b="1">
                <a:solidFill>
                  <a:srgbClr val="E87722"/>
                </a:solidFill>
                <a:latin typeface="Hiragino Sans"/>
                <a:ea typeface="Hiragino Sans"/>
                <a:cs typeface="Hiragino Sans"/>
              </a:rPr>
              <a:t>★★★</a:t>
            </a:r>
          </a:p>
        </p:txBody>
      </p:sp>
      <p:sp>
        <p:nvSpPr>
          <p:cNvPr id="18" name="Rectangle 17"/>
          <p:cNvSpPr/>
          <p:nvPr/>
        </p:nvSpPr>
        <p:spPr>
          <a:xfrm>
            <a:off x="548640" y="2880360"/>
            <a:ext cx="11109960" cy="868680"/>
          </a:xfrm>
          <a:prstGeom prst="rect">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990088"/>
            <a:ext cx="2057400" cy="749808"/>
          </a:xfrm>
          <a:prstGeom prst="rect">
            <a:avLst/>
          </a:prstGeom>
          <a:noFill/>
        </p:spPr>
        <p:txBody>
          <a:bodyPr wrap="square" anchor="t" lIns="0" rIns="0" tIns="0" bIns="0">
            <a:spAutoFit/>
          </a:bodyPr>
          <a:lstStyle/>
          <a:p>
            <a:pPr algn="l">
              <a:lnSpc>
                <a:spcPct val="130000"/>
              </a:lnSpc>
            </a:pPr>
            <a:r>
              <a:rPr sz="1000" b="1">
                <a:solidFill>
                  <a:srgbClr val="0F2A4F"/>
                </a:solidFill>
                <a:latin typeface="Hiragino Sans"/>
                <a:ea typeface="Hiragino Sans"/>
                <a:cs typeface="Hiragino Sans"/>
              </a:rPr>
              <a:t>クリエイティブ</a:t>
            </a:r>
          </a:p>
        </p:txBody>
      </p:sp>
      <p:sp>
        <p:nvSpPr>
          <p:cNvPr id="20" name="TextBox 19"/>
          <p:cNvSpPr txBox="1"/>
          <p:nvPr/>
        </p:nvSpPr>
        <p:spPr>
          <a:xfrm>
            <a:off x="2880360" y="2990088"/>
            <a:ext cx="3794760" cy="749808"/>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デザイナー制作。</a:t>
            </a:r>
          </a:p>
          <a:p>
            <a:pPr algn="l">
              <a:lnSpc>
                <a:spcPct val="130000"/>
              </a:lnSpc>
            </a:pPr>
            <a:r>
              <a:rPr sz="1000" b="0">
                <a:solidFill>
                  <a:srgbClr val="1A1A1A"/>
                </a:solidFill>
                <a:latin typeface="Hiragino Sans"/>
                <a:ea typeface="Hiragino Sans"/>
                <a:cs typeface="Hiragino Sans"/>
              </a:rPr>
              <a:t>手動 A/B テストで勝ち本決定</a:t>
            </a:r>
          </a:p>
        </p:txBody>
      </p:sp>
      <p:sp>
        <p:nvSpPr>
          <p:cNvPr id="21" name="TextBox 20"/>
          <p:cNvSpPr txBox="1"/>
          <p:nvPr/>
        </p:nvSpPr>
        <p:spPr>
          <a:xfrm>
            <a:off x="6812280" y="2990088"/>
            <a:ext cx="3794760" cy="749808"/>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生成AI + Advantage+ Creative。</a:t>
            </a:r>
          </a:p>
          <a:p>
            <a:pPr algn="l">
              <a:lnSpc>
                <a:spcPct val="130000"/>
              </a:lnSpc>
            </a:pPr>
            <a:r>
              <a:rPr sz="1000" b="0">
                <a:solidFill>
                  <a:srgbClr val="1A1A1A"/>
                </a:solidFill>
                <a:latin typeface="Hiragino Sans"/>
                <a:ea typeface="Hiragino Sans"/>
                <a:cs typeface="Hiragino Sans"/>
              </a:rPr>
              <a:t>動画は Sora / Veo / Runway</a:t>
            </a:r>
          </a:p>
        </p:txBody>
      </p:sp>
      <p:sp>
        <p:nvSpPr>
          <p:cNvPr id="22" name="TextBox 21"/>
          <p:cNvSpPr txBox="1"/>
          <p:nvPr/>
        </p:nvSpPr>
        <p:spPr>
          <a:xfrm>
            <a:off x="10744200" y="2990088"/>
            <a:ext cx="914400" cy="749808"/>
          </a:xfrm>
          <a:prstGeom prst="rect">
            <a:avLst/>
          </a:prstGeom>
          <a:noFill/>
        </p:spPr>
        <p:txBody>
          <a:bodyPr wrap="square" anchor="t" lIns="0" rIns="0" tIns="0" bIns="0">
            <a:spAutoFit/>
          </a:bodyPr>
          <a:lstStyle/>
          <a:p>
            <a:pPr algn="ctr">
              <a:lnSpc>
                <a:spcPct val="130000"/>
              </a:lnSpc>
            </a:pPr>
            <a:r>
              <a:rPr sz="1400" b="1">
                <a:solidFill>
                  <a:srgbClr val="E87722"/>
                </a:solidFill>
                <a:latin typeface="Hiragino Sans"/>
                <a:ea typeface="Hiragino Sans"/>
                <a:cs typeface="Hiragino Sans"/>
              </a:rPr>
              <a:t>★★★</a:t>
            </a:r>
          </a:p>
        </p:txBody>
      </p:sp>
      <p:sp>
        <p:nvSpPr>
          <p:cNvPr id="23" name="Rectangle 22"/>
          <p:cNvSpPr/>
          <p:nvPr/>
        </p:nvSpPr>
        <p:spPr>
          <a:xfrm>
            <a:off x="548640" y="3749040"/>
            <a:ext cx="11109960" cy="868680"/>
          </a:xfrm>
          <a:prstGeom prst="rect">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3858768"/>
            <a:ext cx="2057400" cy="749808"/>
          </a:xfrm>
          <a:prstGeom prst="rect">
            <a:avLst/>
          </a:prstGeom>
          <a:noFill/>
        </p:spPr>
        <p:txBody>
          <a:bodyPr wrap="square" anchor="t" lIns="0" rIns="0" tIns="0" bIns="0">
            <a:spAutoFit/>
          </a:bodyPr>
          <a:lstStyle/>
          <a:p>
            <a:pPr algn="l">
              <a:lnSpc>
                <a:spcPct val="130000"/>
              </a:lnSpc>
            </a:pPr>
            <a:r>
              <a:rPr sz="1000" b="1">
                <a:solidFill>
                  <a:srgbClr val="0F2A4F"/>
                </a:solidFill>
                <a:latin typeface="Hiragino Sans"/>
                <a:ea typeface="Hiragino Sans"/>
                <a:cs typeface="Hiragino Sans"/>
              </a:rPr>
              <a:t>計測思想</a:t>
            </a:r>
          </a:p>
        </p:txBody>
      </p:sp>
      <p:sp>
        <p:nvSpPr>
          <p:cNvPr id="25" name="TextBox 24"/>
          <p:cNvSpPr txBox="1"/>
          <p:nvPr/>
        </p:nvSpPr>
        <p:spPr>
          <a:xfrm>
            <a:off x="2880360" y="3858768"/>
            <a:ext cx="3794760" cy="749808"/>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ラストクリック中心。</a:t>
            </a:r>
          </a:p>
          <a:p>
            <a:pPr algn="l">
              <a:lnSpc>
                <a:spcPct val="130000"/>
              </a:lnSpc>
            </a:pPr>
            <a:r>
              <a:rPr sz="1000" b="0">
                <a:solidFill>
                  <a:srgbClr val="1A1A1A"/>
                </a:solidFill>
                <a:latin typeface="Hiragino Sans"/>
                <a:ea typeface="Hiragino Sans"/>
                <a:cs typeface="Hiragino Sans"/>
              </a:rPr>
              <a:t>CV重視のアトリビューション</a:t>
            </a:r>
          </a:p>
        </p:txBody>
      </p:sp>
      <p:sp>
        <p:nvSpPr>
          <p:cNvPr id="26" name="TextBox 25"/>
          <p:cNvSpPr txBox="1"/>
          <p:nvPr/>
        </p:nvSpPr>
        <p:spPr>
          <a:xfrm>
            <a:off x="6812280" y="3858768"/>
            <a:ext cx="3794760" cy="749808"/>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Incrementality / MMM / LTV へ回帰。</a:t>
            </a:r>
          </a:p>
          <a:p>
            <a:pPr algn="l">
              <a:lnSpc>
                <a:spcPct val="130000"/>
              </a:lnSpc>
            </a:pPr>
            <a:r>
              <a:rPr sz="1000" b="0">
                <a:solidFill>
                  <a:srgbClr val="1A1A1A"/>
                </a:solidFill>
                <a:latin typeface="Hiragino Sans"/>
                <a:ea typeface="Hiragino Sans"/>
                <a:cs typeface="Hiragino Sans"/>
              </a:rPr>
              <a:t>Meta Robyn / Google Meridian 民主化</a:t>
            </a:r>
          </a:p>
        </p:txBody>
      </p:sp>
      <p:sp>
        <p:nvSpPr>
          <p:cNvPr id="27" name="TextBox 26"/>
          <p:cNvSpPr txBox="1"/>
          <p:nvPr/>
        </p:nvSpPr>
        <p:spPr>
          <a:xfrm>
            <a:off x="10744200" y="3858768"/>
            <a:ext cx="914400" cy="749808"/>
          </a:xfrm>
          <a:prstGeom prst="rect">
            <a:avLst/>
          </a:prstGeom>
          <a:noFill/>
        </p:spPr>
        <p:txBody>
          <a:bodyPr wrap="square" anchor="t" lIns="0" rIns="0" tIns="0" bIns="0">
            <a:spAutoFit/>
          </a:bodyPr>
          <a:lstStyle/>
          <a:p>
            <a:pPr algn="ctr">
              <a:lnSpc>
                <a:spcPct val="130000"/>
              </a:lnSpc>
            </a:pPr>
            <a:r>
              <a:rPr sz="1400" b="1">
                <a:solidFill>
                  <a:srgbClr val="E87722"/>
                </a:solidFill>
                <a:latin typeface="Hiragino Sans"/>
                <a:ea typeface="Hiragino Sans"/>
                <a:cs typeface="Hiragino Sans"/>
              </a:rPr>
              <a:t>★★</a:t>
            </a:r>
          </a:p>
        </p:txBody>
      </p:sp>
      <p:sp>
        <p:nvSpPr>
          <p:cNvPr id="28" name="Rectangle 27"/>
          <p:cNvSpPr/>
          <p:nvPr/>
        </p:nvSpPr>
        <p:spPr>
          <a:xfrm>
            <a:off x="548640" y="4617720"/>
            <a:ext cx="11109960" cy="868680"/>
          </a:xfrm>
          <a:prstGeom prst="rect">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4727448"/>
            <a:ext cx="2057400" cy="749808"/>
          </a:xfrm>
          <a:prstGeom prst="rect">
            <a:avLst/>
          </a:prstGeom>
          <a:noFill/>
        </p:spPr>
        <p:txBody>
          <a:bodyPr wrap="square" anchor="t" lIns="0" rIns="0" tIns="0" bIns="0">
            <a:spAutoFit/>
          </a:bodyPr>
          <a:lstStyle/>
          <a:p>
            <a:pPr algn="l">
              <a:lnSpc>
                <a:spcPct val="130000"/>
              </a:lnSpc>
            </a:pPr>
            <a:r>
              <a:rPr sz="1000" b="1">
                <a:solidFill>
                  <a:srgbClr val="0F2A4F"/>
                </a:solidFill>
                <a:latin typeface="Hiragino Sans"/>
                <a:ea typeface="Hiragino Sans"/>
                <a:cs typeface="Hiragino Sans"/>
              </a:rPr>
              <a:t>運用職の役割</a:t>
            </a:r>
          </a:p>
        </p:txBody>
      </p:sp>
      <p:sp>
        <p:nvSpPr>
          <p:cNvPr id="30" name="TextBox 29"/>
          <p:cNvSpPr txBox="1"/>
          <p:nvPr/>
        </p:nvSpPr>
        <p:spPr>
          <a:xfrm>
            <a:off x="2880360" y="4727448"/>
            <a:ext cx="3794760" cy="749808"/>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配信設定 / 入札調整 /</a:t>
            </a:r>
          </a:p>
          <a:p>
            <a:pPr algn="l">
              <a:lnSpc>
                <a:spcPct val="130000"/>
              </a:lnSpc>
            </a:pPr>
            <a:r>
              <a:rPr sz="1000" b="0">
                <a:solidFill>
                  <a:srgbClr val="1A1A1A"/>
                </a:solidFill>
                <a:latin typeface="Hiragino Sans"/>
                <a:ea typeface="Hiragino Sans"/>
                <a:cs typeface="Hiragino Sans"/>
              </a:rPr>
              <a:t>クリエイティブ指示</a:t>
            </a:r>
          </a:p>
        </p:txBody>
      </p:sp>
      <p:sp>
        <p:nvSpPr>
          <p:cNvPr id="31" name="TextBox 30"/>
          <p:cNvSpPr txBox="1"/>
          <p:nvPr/>
        </p:nvSpPr>
        <p:spPr>
          <a:xfrm>
            <a:off x="6812280" y="4727448"/>
            <a:ext cx="3794760" cy="749808"/>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AI を導く / 検証設計 / ビジネス翻訳。</a:t>
            </a:r>
          </a:p>
          <a:p>
            <a:pPr algn="l">
              <a:lnSpc>
                <a:spcPct val="130000"/>
              </a:lnSpc>
            </a:pPr>
            <a:r>
              <a:rPr sz="1000" b="0">
                <a:solidFill>
                  <a:srgbClr val="1A1A1A"/>
                </a:solidFill>
                <a:latin typeface="Hiragino Sans"/>
                <a:ea typeface="Hiragino Sans"/>
                <a:cs typeface="Hiragino Sans"/>
              </a:rPr>
              <a:t>運用単純作業は AI へ</a:t>
            </a:r>
          </a:p>
        </p:txBody>
      </p:sp>
      <p:sp>
        <p:nvSpPr>
          <p:cNvPr id="32" name="TextBox 31"/>
          <p:cNvSpPr txBox="1"/>
          <p:nvPr/>
        </p:nvSpPr>
        <p:spPr>
          <a:xfrm>
            <a:off x="10744200" y="4727448"/>
            <a:ext cx="914400" cy="749808"/>
          </a:xfrm>
          <a:prstGeom prst="rect">
            <a:avLst/>
          </a:prstGeom>
          <a:noFill/>
        </p:spPr>
        <p:txBody>
          <a:bodyPr wrap="square" anchor="t" lIns="0" rIns="0" tIns="0" bIns="0">
            <a:spAutoFit/>
          </a:bodyPr>
          <a:lstStyle/>
          <a:p>
            <a:pPr algn="ctr">
              <a:lnSpc>
                <a:spcPct val="130000"/>
              </a:lnSpc>
            </a:pPr>
            <a:r>
              <a:rPr sz="1400" b="1">
                <a:solidFill>
                  <a:srgbClr val="E87722"/>
                </a:solidFill>
                <a:latin typeface="Hiragino Sans"/>
                <a:ea typeface="Hiragino Sans"/>
                <a:cs typeface="Hiragino Sans"/>
              </a:rPr>
              <a:t>★★★</a:t>
            </a:r>
          </a:p>
        </p:txBody>
      </p:sp>
      <p:sp>
        <p:nvSpPr>
          <p:cNvPr id="33" name="Rectangle 32"/>
          <p:cNvSpPr/>
          <p:nvPr/>
        </p:nvSpPr>
        <p:spPr>
          <a:xfrm>
            <a:off x="548640" y="5486400"/>
            <a:ext cx="11109960" cy="868680"/>
          </a:xfrm>
          <a:prstGeom prst="rect">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5596128"/>
            <a:ext cx="2057400" cy="749808"/>
          </a:xfrm>
          <a:prstGeom prst="rect">
            <a:avLst/>
          </a:prstGeom>
          <a:noFill/>
        </p:spPr>
        <p:txBody>
          <a:bodyPr wrap="square" anchor="t" lIns="0" rIns="0" tIns="0" bIns="0">
            <a:spAutoFit/>
          </a:bodyPr>
          <a:lstStyle/>
          <a:p>
            <a:pPr algn="l">
              <a:lnSpc>
                <a:spcPct val="130000"/>
              </a:lnSpc>
            </a:pPr>
            <a:r>
              <a:rPr sz="1000" b="1">
                <a:solidFill>
                  <a:srgbClr val="0F2A4F"/>
                </a:solidFill>
                <a:latin typeface="Hiragino Sans"/>
                <a:ea typeface="Hiragino Sans"/>
                <a:cs typeface="Hiragino Sans"/>
              </a:rPr>
              <a:t>検索の位置づけ</a:t>
            </a:r>
          </a:p>
        </p:txBody>
      </p:sp>
      <p:sp>
        <p:nvSpPr>
          <p:cNvPr id="35" name="TextBox 34"/>
          <p:cNvSpPr txBox="1"/>
          <p:nvPr/>
        </p:nvSpPr>
        <p:spPr>
          <a:xfrm>
            <a:off x="2880360" y="5596128"/>
            <a:ext cx="3794760" cy="749808"/>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テキスト検索 = 購買導線の中心</a:t>
            </a:r>
          </a:p>
        </p:txBody>
      </p:sp>
      <p:sp>
        <p:nvSpPr>
          <p:cNvPr id="36" name="TextBox 35"/>
          <p:cNvSpPr txBox="1"/>
          <p:nvPr/>
        </p:nvSpPr>
        <p:spPr>
          <a:xfrm>
            <a:off x="6812280" y="5596128"/>
            <a:ext cx="3794760" cy="749808"/>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AI Overview (2024/05) / ChatGPT検索 /</a:t>
            </a:r>
          </a:p>
          <a:p>
            <a:pPr algn="l">
              <a:lnSpc>
                <a:spcPct val="130000"/>
              </a:lnSpc>
            </a:pPr>
            <a:r>
              <a:rPr sz="1000" b="0">
                <a:solidFill>
                  <a:srgbClr val="1A1A1A"/>
                </a:solidFill>
                <a:latin typeface="Hiragino Sans"/>
                <a:ea typeface="Hiragino Sans"/>
                <a:cs typeface="Hiragino Sans"/>
              </a:rPr>
              <a:t>Perplexity で LLM経由流入が増加</a:t>
            </a:r>
          </a:p>
        </p:txBody>
      </p:sp>
      <p:sp>
        <p:nvSpPr>
          <p:cNvPr id="37" name="TextBox 36"/>
          <p:cNvSpPr txBox="1"/>
          <p:nvPr/>
        </p:nvSpPr>
        <p:spPr>
          <a:xfrm>
            <a:off x="10744200" y="5596128"/>
            <a:ext cx="914400" cy="749808"/>
          </a:xfrm>
          <a:prstGeom prst="rect">
            <a:avLst/>
          </a:prstGeom>
          <a:noFill/>
        </p:spPr>
        <p:txBody>
          <a:bodyPr wrap="square" anchor="t" lIns="0" rIns="0" tIns="0" bIns="0">
            <a:spAutoFit/>
          </a:bodyPr>
          <a:lstStyle/>
          <a:p>
            <a:pPr algn="ctr">
              <a:lnSpc>
                <a:spcPct val="130000"/>
              </a:lnSpc>
            </a:pPr>
            <a:r>
              <a:rPr sz="1400" b="1">
                <a:solidFill>
                  <a:srgbClr val="E87722"/>
                </a:solidFill>
                <a:latin typeface="Hiragino Sans"/>
                <a:ea typeface="Hiragino Sans"/>
                <a:cs typeface="Hiragino Sans"/>
              </a:rPr>
              <a:t>★★</a:t>
            </a:r>
          </a:p>
        </p:txBody>
      </p:sp>
      <p:sp>
        <p:nvSpPr>
          <p:cNvPr id="38" name="TextBox 37"/>
          <p:cNvSpPr txBox="1"/>
          <p:nvPr/>
        </p:nvSpPr>
        <p:spPr>
          <a:xfrm>
            <a:off x="548640" y="6263640"/>
            <a:ext cx="10972800" cy="274320"/>
          </a:xfrm>
          <a:prstGeom prst="rect">
            <a:avLst/>
          </a:prstGeom>
          <a:noFill/>
        </p:spPr>
        <p:txBody>
          <a:bodyPr wrap="square" anchor="t" lIns="0" rIns="0" tIns="0" bIns="0">
            <a:spAutoFit/>
          </a:bodyPr>
          <a:lstStyle/>
          <a:p>
            <a:pPr algn="l">
              <a:lnSpc>
                <a:spcPct val="115000"/>
              </a:lnSpc>
            </a:pPr>
            <a:r>
              <a:rPr sz="1000" b="1">
                <a:solidFill>
                  <a:srgbClr val="B85E1A"/>
                </a:solidFill>
                <a:latin typeface="Hiragino Sans"/>
                <a:ea typeface="Hiragino Sans"/>
                <a:cs typeface="Hiragino Sans"/>
              </a:rPr>
              <a:t>→ 詳細は Part 3 (媒体別) / Part 4 (計測) / Part 5 (AI活用)</a:t>
            </a:r>
          </a:p>
        </p:txBody>
      </p:sp>
      <p:sp>
        <p:nvSpPr>
          <p:cNvPr id="39" name="TextBox 38"/>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業界3大潮流</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Three macro trends driving the landscape</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P06 / 250</a:t>
            </a:r>
          </a:p>
        </p:txBody>
      </p:sp>
      <p:sp>
        <p:nvSpPr>
          <p:cNvPr id="8" name="Rounded Rectangle 7"/>
          <p:cNvSpPr/>
          <p:nvPr/>
        </p:nvSpPr>
        <p:spPr>
          <a:xfrm>
            <a:off x="548640" y="1463040"/>
            <a:ext cx="3611880" cy="46634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63040"/>
            <a:ext cx="3611880" cy="13716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828800"/>
            <a:ext cx="1371600" cy="1097280"/>
          </a:xfrm>
          <a:prstGeom prst="rect">
            <a:avLst/>
          </a:prstGeom>
          <a:noFill/>
        </p:spPr>
        <p:txBody>
          <a:bodyPr wrap="square" anchor="t" lIns="0" rIns="0" tIns="0" bIns="0">
            <a:spAutoFit/>
          </a:bodyPr>
          <a:lstStyle/>
          <a:p>
            <a:pPr algn="l">
              <a:lnSpc>
                <a:spcPct val="115000"/>
              </a:lnSpc>
            </a:pPr>
            <a:r>
              <a:rPr sz="5200" b="1">
                <a:solidFill>
                  <a:srgbClr val="0F2A4F"/>
                </a:solidFill>
                <a:latin typeface="Helvetica Neue"/>
                <a:ea typeface="Helvetica Neue"/>
                <a:cs typeface="Helvetica Neue"/>
              </a:rPr>
              <a:t>01</a:t>
            </a:r>
          </a:p>
        </p:txBody>
      </p:sp>
      <p:sp>
        <p:nvSpPr>
          <p:cNvPr id="11" name="TextBox 10"/>
          <p:cNvSpPr txBox="1"/>
          <p:nvPr/>
        </p:nvSpPr>
        <p:spPr>
          <a:xfrm>
            <a:off x="822960" y="2880360"/>
            <a:ext cx="3063240" cy="54864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AI レイヤー化</a:t>
            </a:r>
          </a:p>
        </p:txBody>
      </p:sp>
      <p:sp>
        <p:nvSpPr>
          <p:cNvPr id="12" name="Rectangle 11"/>
          <p:cNvSpPr/>
          <p:nvPr/>
        </p:nvSpPr>
        <p:spPr>
          <a:xfrm>
            <a:off x="822960" y="3429000"/>
            <a:ext cx="306324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566160"/>
            <a:ext cx="3063240" cy="1005840"/>
          </a:xfrm>
          <a:prstGeom prst="rect">
            <a:avLst/>
          </a:prstGeom>
          <a:noFill/>
        </p:spPr>
        <p:txBody>
          <a:bodyPr wrap="square" anchor="t" lIns="0" rIns="0" tIns="0" bIns="0">
            <a:spAutoFit/>
          </a:bodyPr>
          <a:lstStyle/>
          <a:p>
            <a:pPr algn="l">
              <a:lnSpc>
                <a:spcPct val="145000"/>
              </a:lnSpc>
            </a:pPr>
            <a:r>
              <a:rPr sz="1200" b="0">
                <a:solidFill>
                  <a:srgbClr val="1A1A1A"/>
                </a:solidFill>
                <a:latin typeface="Hiragino Sans"/>
                <a:ea typeface="Hiragino Sans"/>
                <a:cs typeface="Hiragino Sans"/>
              </a:rPr>
              <a:t>広告プラットフォーム各社が</a:t>
            </a:r>
          </a:p>
          <a:p>
            <a:pPr algn="l">
              <a:lnSpc>
                <a:spcPct val="145000"/>
              </a:lnSpc>
            </a:pPr>
            <a:r>
              <a:rPr sz="1200" b="0">
                <a:solidFill>
                  <a:srgbClr val="1A1A1A"/>
                </a:solidFill>
                <a:latin typeface="Hiragino Sans"/>
                <a:ea typeface="Hiragino Sans"/>
                <a:cs typeface="Hiragino Sans"/>
              </a:rPr>
              <a:t>配信の中核に ML を据えた。</a:t>
            </a:r>
          </a:p>
        </p:txBody>
      </p:sp>
      <p:sp>
        <p:nvSpPr>
          <p:cNvPr id="14" name="TextBox 13"/>
          <p:cNvSpPr txBox="1"/>
          <p:nvPr/>
        </p:nvSpPr>
        <p:spPr>
          <a:xfrm>
            <a:off x="822960" y="4617720"/>
            <a:ext cx="274320" cy="274320"/>
          </a:xfrm>
          <a:prstGeom prst="rect">
            <a:avLst/>
          </a:prstGeom>
          <a:noFill/>
        </p:spPr>
        <p:txBody>
          <a:bodyPr wrap="square" anchor="t" lIns="0" rIns="0" tIns="0" bIns="0">
            <a:spAutoFit/>
          </a:bodyPr>
          <a:lstStyle/>
          <a:p>
            <a:pPr algn="l">
              <a:lnSpc>
                <a:spcPct val="115000"/>
              </a:lnSpc>
            </a:pPr>
            <a:r>
              <a:rPr sz="1100" b="0">
                <a:solidFill>
                  <a:srgbClr val="E87722"/>
                </a:solidFill>
                <a:latin typeface="Hiragino Sans"/>
                <a:ea typeface="Hiragino Sans"/>
                <a:cs typeface="Hiragino Sans"/>
              </a:rPr>
              <a:t>▸</a:t>
            </a:r>
          </a:p>
        </p:txBody>
      </p:sp>
      <p:sp>
        <p:nvSpPr>
          <p:cNvPr id="15" name="TextBox 14"/>
          <p:cNvSpPr txBox="1"/>
          <p:nvPr/>
        </p:nvSpPr>
        <p:spPr>
          <a:xfrm>
            <a:off x="1051560" y="4617720"/>
            <a:ext cx="2788920" cy="457200"/>
          </a:xfrm>
          <a:prstGeom prst="rect">
            <a:avLst/>
          </a:prstGeom>
          <a:noFill/>
        </p:spPr>
        <p:txBody>
          <a:bodyPr wrap="square" anchor="t" lIns="0" rIns="0" tIns="0" bIns="0">
            <a:spAutoFit/>
          </a:bodyPr>
          <a:lstStyle/>
          <a:p>
            <a:pPr algn="l">
              <a:lnSpc>
                <a:spcPct val="130000"/>
              </a:lnSpc>
            </a:pPr>
            <a:r>
              <a:rPr sz="1100" b="0">
                <a:solidFill>
                  <a:srgbClr val="1A1A1A"/>
                </a:solidFill>
                <a:latin typeface="Hiragino Sans"/>
                <a:ea typeface="Hiragino Sans"/>
                <a:cs typeface="Hiragino Sans"/>
              </a:rPr>
              <a:t>PMax / Advantage+ / Smart+ に収束</a:t>
            </a:r>
          </a:p>
        </p:txBody>
      </p:sp>
      <p:sp>
        <p:nvSpPr>
          <p:cNvPr id="16" name="TextBox 15"/>
          <p:cNvSpPr txBox="1"/>
          <p:nvPr/>
        </p:nvSpPr>
        <p:spPr>
          <a:xfrm>
            <a:off x="822960" y="5029200"/>
            <a:ext cx="274320" cy="274320"/>
          </a:xfrm>
          <a:prstGeom prst="rect">
            <a:avLst/>
          </a:prstGeom>
          <a:noFill/>
        </p:spPr>
        <p:txBody>
          <a:bodyPr wrap="square" anchor="t" lIns="0" rIns="0" tIns="0" bIns="0">
            <a:spAutoFit/>
          </a:bodyPr>
          <a:lstStyle/>
          <a:p>
            <a:pPr algn="l">
              <a:lnSpc>
                <a:spcPct val="115000"/>
              </a:lnSpc>
            </a:pPr>
            <a:r>
              <a:rPr sz="1100" b="0">
                <a:solidFill>
                  <a:srgbClr val="E87722"/>
                </a:solidFill>
                <a:latin typeface="Hiragino Sans"/>
                <a:ea typeface="Hiragino Sans"/>
                <a:cs typeface="Hiragino Sans"/>
              </a:rPr>
              <a:t>▸</a:t>
            </a:r>
          </a:p>
        </p:txBody>
      </p:sp>
      <p:sp>
        <p:nvSpPr>
          <p:cNvPr id="17" name="TextBox 16"/>
          <p:cNvSpPr txBox="1"/>
          <p:nvPr/>
        </p:nvSpPr>
        <p:spPr>
          <a:xfrm>
            <a:off x="1051560" y="5029200"/>
            <a:ext cx="2788920" cy="457200"/>
          </a:xfrm>
          <a:prstGeom prst="rect">
            <a:avLst/>
          </a:prstGeom>
          <a:noFill/>
        </p:spPr>
        <p:txBody>
          <a:bodyPr wrap="square" anchor="t" lIns="0" rIns="0" tIns="0" bIns="0">
            <a:spAutoFit/>
          </a:bodyPr>
          <a:lstStyle/>
          <a:p>
            <a:pPr algn="l">
              <a:lnSpc>
                <a:spcPct val="130000"/>
              </a:lnSpc>
            </a:pPr>
            <a:r>
              <a:rPr sz="1100" b="0">
                <a:solidFill>
                  <a:srgbClr val="1A1A1A"/>
                </a:solidFill>
                <a:latin typeface="Hiragino Sans"/>
                <a:ea typeface="Hiragino Sans"/>
                <a:cs typeface="Hiragino Sans"/>
              </a:rPr>
              <a:t>人間は『AIを導く』役に</a:t>
            </a:r>
          </a:p>
        </p:txBody>
      </p:sp>
      <p:sp>
        <p:nvSpPr>
          <p:cNvPr id="18" name="TextBox 17"/>
          <p:cNvSpPr txBox="1"/>
          <p:nvPr/>
        </p:nvSpPr>
        <p:spPr>
          <a:xfrm>
            <a:off x="822960" y="5440680"/>
            <a:ext cx="274320" cy="274320"/>
          </a:xfrm>
          <a:prstGeom prst="rect">
            <a:avLst/>
          </a:prstGeom>
          <a:noFill/>
        </p:spPr>
        <p:txBody>
          <a:bodyPr wrap="square" anchor="t" lIns="0" rIns="0" tIns="0" bIns="0">
            <a:spAutoFit/>
          </a:bodyPr>
          <a:lstStyle/>
          <a:p>
            <a:pPr algn="l">
              <a:lnSpc>
                <a:spcPct val="115000"/>
              </a:lnSpc>
            </a:pPr>
            <a:r>
              <a:rPr sz="1100" b="0">
                <a:solidFill>
                  <a:srgbClr val="E87722"/>
                </a:solidFill>
                <a:latin typeface="Hiragino Sans"/>
                <a:ea typeface="Hiragino Sans"/>
                <a:cs typeface="Hiragino Sans"/>
              </a:rPr>
              <a:t>▸</a:t>
            </a:r>
          </a:p>
        </p:txBody>
      </p:sp>
      <p:sp>
        <p:nvSpPr>
          <p:cNvPr id="19" name="TextBox 18"/>
          <p:cNvSpPr txBox="1"/>
          <p:nvPr/>
        </p:nvSpPr>
        <p:spPr>
          <a:xfrm>
            <a:off x="1051560" y="5440680"/>
            <a:ext cx="2788920" cy="457200"/>
          </a:xfrm>
          <a:prstGeom prst="rect">
            <a:avLst/>
          </a:prstGeom>
          <a:noFill/>
        </p:spPr>
        <p:txBody>
          <a:bodyPr wrap="square" anchor="t" lIns="0" rIns="0" tIns="0" bIns="0">
            <a:spAutoFit/>
          </a:bodyPr>
          <a:lstStyle/>
          <a:p>
            <a:pPr algn="l">
              <a:lnSpc>
                <a:spcPct val="130000"/>
              </a:lnSpc>
            </a:pPr>
            <a:r>
              <a:rPr sz="1100" b="0">
                <a:solidFill>
                  <a:srgbClr val="1A1A1A"/>
                </a:solidFill>
                <a:latin typeface="Hiragino Sans"/>
                <a:ea typeface="Hiragino Sans"/>
                <a:cs typeface="Hiragino Sans"/>
              </a:rPr>
              <a:t>代理店の省人化・内製化が加速</a:t>
            </a:r>
          </a:p>
        </p:txBody>
      </p:sp>
      <p:sp>
        <p:nvSpPr>
          <p:cNvPr id="20" name="Rounded Rectangle 19"/>
          <p:cNvSpPr/>
          <p:nvPr/>
        </p:nvSpPr>
        <p:spPr>
          <a:xfrm>
            <a:off x="4297680" y="1463040"/>
            <a:ext cx="3611880" cy="46634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297680" y="1463040"/>
            <a:ext cx="3611880" cy="13716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0" y="1828800"/>
            <a:ext cx="1371600" cy="1097280"/>
          </a:xfrm>
          <a:prstGeom prst="rect">
            <a:avLst/>
          </a:prstGeom>
          <a:noFill/>
        </p:spPr>
        <p:txBody>
          <a:bodyPr wrap="square" anchor="t" lIns="0" rIns="0" tIns="0" bIns="0">
            <a:spAutoFit/>
          </a:bodyPr>
          <a:lstStyle/>
          <a:p>
            <a:pPr algn="l">
              <a:lnSpc>
                <a:spcPct val="115000"/>
              </a:lnSpc>
            </a:pPr>
            <a:r>
              <a:rPr sz="5200" b="1">
                <a:solidFill>
                  <a:srgbClr val="0F2A4F"/>
                </a:solidFill>
                <a:latin typeface="Helvetica Neue"/>
                <a:ea typeface="Helvetica Neue"/>
                <a:cs typeface="Helvetica Neue"/>
              </a:rPr>
              <a:t>02</a:t>
            </a:r>
          </a:p>
        </p:txBody>
      </p:sp>
      <p:sp>
        <p:nvSpPr>
          <p:cNvPr id="23" name="TextBox 22"/>
          <p:cNvSpPr txBox="1"/>
          <p:nvPr/>
        </p:nvSpPr>
        <p:spPr>
          <a:xfrm>
            <a:off x="4572000" y="2880360"/>
            <a:ext cx="3063240" cy="54864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プライバシー持続</a:t>
            </a:r>
          </a:p>
        </p:txBody>
      </p:sp>
      <p:sp>
        <p:nvSpPr>
          <p:cNvPr id="24" name="Rectangle 23"/>
          <p:cNvSpPr/>
          <p:nvPr/>
        </p:nvSpPr>
        <p:spPr>
          <a:xfrm>
            <a:off x="4572000" y="3429000"/>
            <a:ext cx="306324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0" y="3566160"/>
            <a:ext cx="3063240" cy="1005840"/>
          </a:xfrm>
          <a:prstGeom prst="rect">
            <a:avLst/>
          </a:prstGeom>
          <a:noFill/>
        </p:spPr>
        <p:txBody>
          <a:bodyPr wrap="square" anchor="t" lIns="0" rIns="0" tIns="0" bIns="0">
            <a:spAutoFit/>
          </a:bodyPr>
          <a:lstStyle/>
          <a:p>
            <a:pPr algn="l">
              <a:lnSpc>
                <a:spcPct val="145000"/>
              </a:lnSpc>
            </a:pPr>
            <a:r>
              <a:rPr sz="1200" b="0">
                <a:solidFill>
                  <a:srgbClr val="1A1A1A"/>
                </a:solidFill>
                <a:latin typeface="Hiragino Sans"/>
                <a:ea typeface="Hiragino Sans"/>
                <a:cs typeface="Hiragino Sans"/>
              </a:rPr>
              <a:t>Cookie 廃止は撤回されたが</a:t>
            </a:r>
          </a:p>
          <a:p>
            <a:pPr algn="l">
              <a:lnSpc>
                <a:spcPct val="145000"/>
              </a:lnSpc>
            </a:pPr>
            <a:r>
              <a:rPr sz="1200" b="0">
                <a:solidFill>
                  <a:srgbClr val="1A1A1A"/>
                </a:solidFill>
                <a:latin typeface="Hiragino Sans"/>
                <a:ea typeface="Hiragino Sans"/>
                <a:cs typeface="Hiragino Sans"/>
              </a:rPr>
              <a:t>シグナル減少は不可逆。</a:t>
            </a:r>
          </a:p>
        </p:txBody>
      </p:sp>
      <p:sp>
        <p:nvSpPr>
          <p:cNvPr id="26" name="TextBox 25"/>
          <p:cNvSpPr txBox="1"/>
          <p:nvPr/>
        </p:nvSpPr>
        <p:spPr>
          <a:xfrm>
            <a:off x="4572000" y="4617720"/>
            <a:ext cx="274320" cy="274320"/>
          </a:xfrm>
          <a:prstGeom prst="rect">
            <a:avLst/>
          </a:prstGeom>
          <a:noFill/>
        </p:spPr>
        <p:txBody>
          <a:bodyPr wrap="square" anchor="t" lIns="0" rIns="0" tIns="0" bIns="0">
            <a:spAutoFit/>
          </a:bodyPr>
          <a:lstStyle/>
          <a:p>
            <a:pPr algn="l">
              <a:lnSpc>
                <a:spcPct val="115000"/>
              </a:lnSpc>
            </a:pPr>
            <a:r>
              <a:rPr sz="1100" b="0">
                <a:solidFill>
                  <a:srgbClr val="E87722"/>
                </a:solidFill>
                <a:latin typeface="Hiragino Sans"/>
                <a:ea typeface="Hiragino Sans"/>
                <a:cs typeface="Hiragino Sans"/>
              </a:rPr>
              <a:t>▸</a:t>
            </a:r>
          </a:p>
        </p:txBody>
      </p:sp>
      <p:sp>
        <p:nvSpPr>
          <p:cNvPr id="27" name="TextBox 26"/>
          <p:cNvSpPr txBox="1"/>
          <p:nvPr/>
        </p:nvSpPr>
        <p:spPr>
          <a:xfrm>
            <a:off x="4800600" y="4617720"/>
            <a:ext cx="2788920" cy="457200"/>
          </a:xfrm>
          <a:prstGeom prst="rect">
            <a:avLst/>
          </a:prstGeom>
          <a:noFill/>
        </p:spPr>
        <p:txBody>
          <a:bodyPr wrap="square" anchor="t" lIns="0" rIns="0" tIns="0" bIns="0">
            <a:spAutoFit/>
          </a:bodyPr>
          <a:lstStyle/>
          <a:p>
            <a:pPr algn="l">
              <a:lnSpc>
                <a:spcPct val="130000"/>
              </a:lnSpc>
            </a:pPr>
            <a:r>
              <a:rPr sz="1100" b="0">
                <a:solidFill>
                  <a:srgbClr val="1A1A1A"/>
                </a:solidFill>
                <a:latin typeface="Hiragino Sans"/>
                <a:ea typeface="Hiragino Sans"/>
                <a:cs typeface="Hiragino Sans"/>
              </a:rPr>
              <a:t>CAPI / SGTM は標準装備</a:t>
            </a:r>
          </a:p>
        </p:txBody>
      </p:sp>
      <p:sp>
        <p:nvSpPr>
          <p:cNvPr id="28" name="TextBox 27"/>
          <p:cNvSpPr txBox="1"/>
          <p:nvPr/>
        </p:nvSpPr>
        <p:spPr>
          <a:xfrm>
            <a:off x="4572000" y="5029200"/>
            <a:ext cx="274320" cy="274320"/>
          </a:xfrm>
          <a:prstGeom prst="rect">
            <a:avLst/>
          </a:prstGeom>
          <a:noFill/>
        </p:spPr>
        <p:txBody>
          <a:bodyPr wrap="square" anchor="t" lIns="0" rIns="0" tIns="0" bIns="0">
            <a:spAutoFit/>
          </a:bodyPr>
          <a:lstStyle/>
          <a:p>
            <a:pPr algn="l">
              <a:lnSpc>
                <a:spcPct val="115000"/>
              </a:lnSpc>
            </a:pPr>
            <a:r>
              <a:rPr sz="1100" b="0">
                <a:solidFill>
                  <a:srgbClr val="E87722"/>
                </a:solidFill>
                <a:latin typeface="Hiragino Sans"/>
                <a:ea typeface="Hiragino Sans"/>
                <a:cs typeface="Hiragino Sans"/>
              </a:rPr>
              <a:t>▸</a:t>
            </a:r>
          </a:p>
        </p:txBody>
      </p:sp>
      <p:sp>
        <p:nvSpPr>
          <p:cNvPr id="29" name="TextBox 28"/>
          <p:cNvSpPr txBox="1"/>
          <p:nvPr/>
        </p:nvSpPr>
        <p:spPr>
          <a:xfrm>
            <a:off x="4800600" y="5029200"/>
            <a:ext cx="2788920" cy="457200"/>
          </a:xfrm>
          <a:prstGeom prst="rect">
            <a:avLst/>
          </a:prstGeom>
          <a:noFill/>
        </p:spPr>
        <p:txBody>
          <a:bodyPr wrap="square" anchor="t" lIns="0" rIns="0" tIns="0" bIns="0">
            <a:spAutoFit/>
          </a:bodyPr>
          <a:lstStyle/>
          <a:p>
            <a:pPr algn="l">
              <a:lnSpc>
                <a:spcPct val="130000"/>
              </a:lnSpc>
            </a:pPr>
            <a:r>
              <a:rPr sz="1100" b="0">
                <a:solidFill>
                  <a:srgbClr val="1A1A1A"/>
                </a:solidFill>
                <a:latin typeface="Hiragino Sans"/>
                <a:ea typeface="Hiragino Sans"/>
                <a:cs typeface="Hiragino Sans"/>
              </a:rPr>
              <a:t>Consent Mode v2 (2024/03~)</a:t>
            </a:r>
          </a:p>
        </p:txBody>
      </p:sp>
      <p:sp>
        <p:nvSpPr>
          <p:cNvPr id="30" name="TextBox 29"/>
          <p:cNvSpPr txBox="1"/>
          <p:nvPr/>
        </p:nvSpPr>
        <p:spPr>
          <a:xfrm>
            <a:off x="4572000" y="5440680"/>
            <a:ext cx="274320" cy="274320"/>
          </a:xfrm>
          <a:prstGeom prst="rect">
            <a:avLst/>
          </a:prstGeom>
          <a:noFill/>
        </p:spPr>
        <p:txBody>
          <a:bodyPr wrap="square" anchor="t" lIns="0" rIns="0" tIns="0" bIns="0">
            <a:spAutoFit/>
          </a:bodyPr>
          <a:lstStyle/>
          <a:p>
            <a:pPr algn="l">
              <a:lnSpc>
                <a:spcPct val="115000"/>
              </a:lnSpc>
            </a:pPr>
            <a:r>
              <a:rPr sz="1100" b="0">
                <a:solidFill>
                  <a:srgbClr val="E87722"/>
                </a:solidFill>
                <a:latin typeface="Hiragino Sans"/>
                <a:ea typeface="Hiragino Sans"/>
                <a:cs typeface="Hiragino Sans"/>
              </a:rPr>
              <a:t>▸</a:t>
            </a:r>
          </a:p>
        </p:txBody>
      </p:sp>
      <p:sp>
        <p:nvSpPr>
          <p:cNvPr id="31" name="TextBox 30"/>
          <p:cNvSpPr txBox="1"/>
          <p:nvPr/>
        </p:nvSpPr>
        <p:spPr>
          <a:xfrm>
            <a:off x="4800600" y="5440680"/>
            <a:ext cx="2788920" cy="457200"/>
          </a:xfrm>
          <a:prstGeom prst="rect">
            <a:avLst/>
          </a:prstGeom>
          <a:noFill/>
        </p:spPr>
        <p:txBody>
          <a:bodyPr wrap="square" anchor="t" lIns="0" rIns="0" tIns="0" bIns="0">
            <a:spAutoFit/>
          </a:bodyPr>
          <a:lstStyle/>
          <a:p>
            <a:pPr algn="l">
              <a:lnSpc>
                <a:spcPct val="130000"/>
              </a:lnSpc>
            </a:pPr>
            <a:r>
              <a:rPr sz="1100" b="0">
                <a:solidFill>
                  <a:srgbClr val="1A1A1A"/>
                </a:solidFill>
                <a:latin typeface="Hiragino Sans"/>
                <a:ea typeface="Hiragino Sans"/>
                <a:cs typeface="Hiragino Sans"/>
              </a:rPr>
              <a:t>Privacy Sandbox 終了 (2025/10) → CHIPS/FedCMのみ</a:t>
            </a:r>
          </a:p>
        </p:txBody>
      </p:sp>
      <p:sp>
        <p:nvSpPr>
          <p:cNvPr id="32" name="Rounded Rectangle 31"/>
          <p:cNvSpPr/>
          <p:nvPr/>
        </p:nvSpPr>
        <p:spPr>
          <a:xfrm>
            <a:off x="8046720" y="1463040"/>
            <a:ext cx="3611880" cy="46634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6720" y="1463040"/>
            <a:ext cx="3611880" cy="13716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21040" y="1828800"/>
            <a:ext cx="1371600" cy="1097280"/>
          </a:xfrm>
          <a:prstGeom prst="rect">
            <a:avLst/>
          </a:prstGeom>
          <a:noFill/>
        </p:spPr>
        <p:txBody>
          <a:bodyPr wrap="square" anchor="t" lIns="0" rIns="0" tIns="0" bIns="0">
            <a:spAutoFit/>
          </a:bodyPr>
          <a:lstStyle/>
          <a:p>
            <a:pPr algn="l">
              <a:lnSpc>
                <a:spcPct val="115000"/>
              </a:lnSpc>
            </a:pPr>
            <a:r>
              <a:rPr sz="5200" b="1">
                <a:solidFill>
                  <a:srgbClr val="0F2A4F"/>
                </a:solidFill>
                <a:latin typeface="Helvetica Neue"/>
                <a:ea typeface="Helvetica Neue"/>
                <a:cs typeface="Helvetica Neue"/>
              </a:rPr>
              <a:t>03</a:t>
            </a:r>
          </a:p>
        </p:txBody>
      </p:sp>
      <p:sp>
        <p:nvSpPr>
          <p:cNvPr id="35" name="TextBox 34"/>
          <p:cNvSpPr txBox="1"/>
          <p:nvPr/>
        </p:nvSpPr>
        <p:spPr>
          <a:xfrm>
            <a:off x="8321040" y="2880360"/>
            <a:ext cx="3063240" cy="54864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購買導線の断片化</a:t>
            </a:r>
          </a:p>
        </p:txBody>
      </p:sp>
      <p:sp>
        <p:nvSpPr>
          <p:cNvPr id="36" name="Rectangle 35"/>
          <p:cNvSpPr/>
          <p:nvPr/>
        </p:nvSpPr>
        <p:spPr>
          <a:xfrm>
            <a:off x="8321040" y="3429000"/>
            <a:ext cx="306324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321040" y="3566160"/>
            <a:ext cx="3063240" cy="1005840"/>
          </a:xfrm>
          <a:prstGeom prst="rect">
            <a:avLst/>
          </a:prstGeom>
          <a:noFill/>
        </p:spPr>
        <p:txBody>
          <a:bodyPr wrap="square" anchor="t" lIns="0" rIns="0" tIns="0" bIns="0">
            <a:spAutoFit/>
          </a:bodyPr>
          <a:lstStyle/>
          <a:p>
            <a:pPr algn="l">
              <a:lnSpc>
                <a:spcPct val="145000"/>
              </a:lnSpc>
            </a:pPr>
            <a:r>
              <a:rPr sz="1200" b="0">
                <a:solidFill>
                  <a:srgbClr val="1A1A1A"/>
                </a:solidFill>
                <a:latin typeface="Hiragino Sans"/>
                <a:ea typeface="Hiragino Sans"/>
                <a:cs typeface="Hiragino Sans"/>
              </a:rPr>
              <a:t>検索→SNS→動画→AI検索へ</a:t>
            </a:r>
          </a:p>
          <a:p>
            <a:pPr algn="l">
              <a:lnSpc>
                <a:spcPct val="145000"/>
              </a:lnSpc>
            </a:pPr>
            <a:r>
              <a:rPr sz="1200" b="0">
                <a:solidFill>
                  <a:srgbClr val="1A1A1A"/>
                </a:solidFill>
                <a:latin typeface="Hiragino Sans"/>
                <a:ea typeface="Hiragino Sans"/>
                <a:cs typeface="Hiragino Sans"/>
              </a:rPr>
              <a:t>導線が分散。</a:t>
            </a:r>
          </a:p>
        </p:txBody>
      </p:sp>
      <p:sp>
        <p:nvSpPr>
          <p:cNvPr id="38" name="TextBox 37"/>
          <p:cNvSpPr txBox="1"/>
          <p:nvPr/>
        </p:nvSpPr>
        <p:spPr>
          <a:xfrm>
            <a:off x="8321040" y="4617720"/>
            <a:ext cx="274320" cy="274320"/>
          </a:xfrm>
          <a:prstGeom prst="rect">
            <a:avLst/>
          </a:prstGeom>
          <a:noFill/>
        </p:spPr>
        <p:txBody>
          <a:bodyPr wrap="square" anchor="t" lIns="0" rIns="0" tIns="0" bIns="0">
            <a:spAutoFit/>
          </a:bodyPr>
          <a:lstStyle/>
          <a:p>
            <a:pPr algn="l">
              <a:lnSpc>
                <a:spcPct val="115000"/>
              </a:lnSpc>
            </a:pPr>
            <a:r>
              <a:rPr sz="1100" b="0">
                <a:solidFill>
                  <a:srgbClr val="E87722"/>
                </a:solidFill>
                <a:latin typeface="Hiragino Sans"/>
                <a:ea typeface="Hiragino Sans"/>
                <a:cs typeface="Hiragino Sans"/>
              </a:rPr>
              <a:t>▸</a:t>
            </a:r>
          </a:p>
        </p:txBody>
      </p:sp>
      <p:sp>
        <p:nvSpPr>
          <p:cNvPr id="39" name="TextBox 38"/>
          <p:cNvSpPr txBox="1"/>
          <p:nvPr/>
        </p:nvSpPr>
        <p:spPr>
          <a:xfrm>
            <a:off x="8549640" y="4617720"/>
            <a:ext cx="2788920" cy="457200"/>
          </a:xfrm>
          <a:prstGeom prst="rect">
            <a:avLst/>
          </a:prstGeom>
          <a:noFill/>
        </p:spPr>
        <p:txBody>
          <a:bodyPr wrap="square" anchor="t" lIns="0" rIns="0" tIns="0" bIns="0">
            <a:spAutoFit/>
          </a:bodyPr>
          <a:lstStyle/>
          <a:p>
            <a:pPr algn="l">
              <a:lnSpc>
                <a:spcPct val="130000"/>
              </a:lnSpc>
            </a:pPr>
            <a:r>
              <a:rPr sz="1100" b="0">
                <a:solidFill>
                  <a:srgbClr val="1A1A1A"/>
                </a:solidFill>
                <a:latin typeface="Hiragino Sans"/>
                <a:ea typeface="Hiragino Sans"/>
                <a:cs typeface="Hiragino Sans"/>
              </a:rPr>
              <a:t>AI Overview (2024/05~)</a:t>
            </a:r>
          </a:p>
        </p:txBody>
      </p:sp>
      <p:sp>
        <p:nvSpPr>
          <p:cNvPr id="40" name="TextBox 39"/>
          <p:cNvSpPr txBox="1"/>
          <p:nvPr/>
        </p:nvSpPr>
        <p:spPr>
          <a:xfrm>
            <a:off x="8321040" y="5029200"/>
            <a:ext cx="274320" cy="274320"/>
          </a:xfrm>
          <a:prstGeom prst="rect">
            <a:avLst/>
          </a:prstGeom>
          <a:noFill/>
        </p:spPr>
        <p:txBody>
          <a:bodyPr wrap="square" anchor="t" lIns="0" rIns="0" tIns="0" bIns="0">
            <a:spAutoFit/>
          </a:bodyPr>
          <a:lstStyle/>
          <a:p>
            <a:pPr algn="l">
              <a:lnSpc>
                <a:spcPct val="115000"/>
              </a:lnSpc>
            </a:pPr>
            <a:r>
              <a:rPr sz="1100" b="0">
                <a:solidFill>
                  <a:srgbClr val="E87722"/>
                </a:solidFill>
                <a:latin typeface="Hiragino Sans"/>
                <a:ea typeface="Hiragino Sans"/>
                <a:cs typeface="Hiragino Sans"/>
              </a:rPr>
              <a:t>▸</a:t>
            </a:r>
          </a:p>
        </p:txBody>
      </p:sp>
      <p:sp>
        <p:nvSpPr>
          <p:cNvPr id="41" name="TextBox 40"/>
          <p:cNvSpPr txBox="1"/>
          <p:nvPr/>
        </p:nvSpPr>
        <p:spPr>
          <a:xfrm>
            <a:off x="8549640" y="5029200"/>
            <a:ext cx="2788920" cy="457200"/>
          </a:xfrm>
          <a:prstGeom prst="rect">
            <a:avLst/>
          </a:prstGeom>
          <a:noFill/>
        </p:spPr>
        <p:txBody>
          <a:bodyPr wrap="square" anchor="t" lIns="0" rIns="0" tIns="0" bIns="0">
            <a:spAutoFit/>
          </a:bodyPr>
          <a:lstStyle/>
          <a:p>
            <a:pPr algn="l">
              <a:lnSpc>
                <a:spcPct val="130000"/>
              </a:lnSpc>
            </a:pPr>
            <a:r>
              <a:rPr sz="1100" b="0">
                <a:solidFill>
                  <a:srgbClr val="1A1A1A"/>
                </a:solidFill>
                <a:latin typeface="Hiragino Sans"/>
                <a:ea typeface="Hiragino Sans"/>
                <a:cs typeface="Hiragino Sans"/>
              </a:rPr>
              <a:t>縦型動画の購買比率上昇</a:t>
            </a:r>
          </a:p>
        </p:txBody>
      </p:sp>
      <p:sp>
        <p:nvSpPr>
          <p:cNvPr id="42" name="TextBox 41"/>
          <p:cNvSpPr txBox="1"/>
          <p:nvPr/>
        </p:nvSpPr>
        <p:spPr>
          <a:xfrm>
            <a:off x="8321040" y="5440680"/>
            <a:ext cx="274320" cy="274320"/>
          </a:xfrm>
          <a:prstGeom prst="rect">
            <a:avLst/>
          </a:prstGeom>
          <a:noFill/>
        </p:spPr>
        <p:txBody>
          <a:bodyPr wrap="square" anchor="t" lIns="0" rIns="0" tIns="0" bIns="0">
            <a:spAutoFit/>
          </a:bodyPr>
          <a:lstStyle/>
          <a:p>
            <a:pPr algn="l">
              <a:lnSpc>
                <a:spcPct val="115000"/>
              </a:lnSpc>
            </a:pPr>
            <a:r>
              <a:rPr sz="1100" b="0">
                <a:solidFill>
                  <a:srgbClr val="E87722"/>
                </a:solidFill>
                <a:latin typeface="Hiragino Sans"/>
                <a:ea typeface="Hiragino Sans"/>
                <a:cs typeface="Hiragino Sans"/>
              </a:rPr>
              <a:t>▸</a:t>
            </a:r>
          </a:p>
        </p:txBody>
      </p:sp>
      <p:sp>
        <p:nvSpPr>
          <p:cNvPr id="43" name="TextBox 42"/>
          <p:cNvSpPr txBox="1"/>
          <p:nvPr/>
        </p:nvSpPr>
        <p:spPr>
          <a:xfrm>
            <a:off x="8549640" y="5440680"/>
            <a:ext cx="2788920" cy="457200"/>
          </a:xfrm>
          <a:prstGeom prst="rect">
            <a:avLst/>
          </a:prstGeom>
          <a:noFill/>
        </p:spPr>
        <p:txBody>
          <a:bodyPr wrap="square" anchor="t" lIns="0" rIns="0" tIns="0" bIns="0">
            <a:spAutoFit/>
          </a:bodyPr>
          <a:lstStyle/>
          <a:p>
            <a:pPr algn="l">
              <a:lnSpc>
                <a:spcPct val="130000"/>
              </a:lnSpc>
            </a:pPr>
            <a:r>
              <a:rPr sz="1100" b="0">
                <a:solidFill>
                  <a:srgbClr val="1A1A1A"/>
                </a:solidFill>
                <a:latin typeface="Hiragino Sans"/>
                <a:ea typeface="Hiragino Sans"/>
                <a:cs typeface="Hiragino Sans"/>
              </a:rPr>
              <a:t>GEO (Generative Engine Optimization) 胎動</a:t>
            </a:r>
          </a:p>
        </p:txBody>
      </p:sp>
      <p:sp>
        <p:nvSpPr>
          <p:cNvPr id="44" name="TextBox 43"/>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媒体シェア推移（日本市場）</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電通 日本の広告費 2024 (2025/02/27発表)</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P07 / 250</a:t>
            </a:r>
          </a:p>
        </p:txBody>
      </p:sp>
      <p:sp>
        <p:nvSpPr>
          <p:cNvPr id="8" name="Rounded Rectangle 7"/>
          <p:cNvSpPr/>
          <p:nvPr/>
        </p:nvSpPr>
        <p:spPr>
          <a:xfrm>
            <a:off x="548640" y="1371600"/>
            <a:ext cx="4114800" cy="4846320"/>
          </a:xfrm>
          <a:prstGeom prst="roundRect">
            <a:avLst>
              <a:gd name="adj" fmla="val 6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600200"/>
            <a:ext cx="3657600" cy="36576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2024年 日本の総広告費</a:t>
            </a:r>
          </a:p>
        </p:txBody>
      </p:sp>
      <p:sp>
        <p:nvSpPr>
          <p:cNvPr id="10" name="TextBox 9"/>
          <p:cNvSpPr txBox="1"/>
          <p:nvPr/>
        </p:nvSpPr>
        <p:spPr>
          <a:xfrm>
            <a:off x="777240" y="2057400"/>
            <a:ext cx="3200400" cy="1097280"/>
          </a:xfrm>
          <a:prstGeom prst="rect">
            <a:avLst/>
          </a:prstGeom>
          <a:noFill/>
        </p:spPr>
        <p:txBody>
          <a:bodyPr wrap="square" anchor="t" lIns="0" rIns="0" tIns="0" bIns="0">
            <a:spAutoFit/>
          </a:bodyPr>
          <a:lstStyle/>
          <a:p>
            <a:pPr algn="l">
              <a:lnSpc>
                <a:spcPct val="115000"/>
              </a:lnSpc>
            </a:pPr>
            <a:r>
              <a:rPr sz="7200" b="1">
                <a:solidFill>
                  <a:srgbClr val="0F2A4F"/>
                </a:solidFill>
                <a:latin typeface="Helvetica Neue"/>
                <a:ea typeface="Helvetica Neue"/>
                <a:cs typeface="Helvetica Neue"/>
              </a:rPr>
              <a:t>7.67</a:t>
            </a:r>
          </a:p>
        </p:txBody>
      </p:sp>
      <p:sp>
        <p:nvSpPr>
          <p:cNvPr id="11" name="TextBox 10"/>
          <p:cNvSpPr txBox="1"/>
          <p:nvPr/>
        </p:nvSpPr>
        <p:spPr>
          <a:xfrm>
            <a:off x="2926080" y="2606040"/>
            <a:ext cx="914400" cy="54864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兆円</a:t>
            </a:r>
          </a:p>
        </p:txBody>
      </p:sp>
      <p:sp>
        <p:nvSpPr>
          <p:cNvPr id="12" name="TextBox 11"/>
          <p:cNvSpPr txBox="1"/>
          <p:nvPr/>
        </p:nvSpPr>
        <p:spPr>
          <a:xfrm>
            <a:off x="777240" y="3337560"/>
            <a:ext cx="3657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前年比 +4.9% ／ 3年連続で過去最高更新</a:t>
            </a:r>
          </a:p>
        </p:txBody>
      </p:sp>
      <p:sp>
        <p:nvSpPr>
          <p:cNvPr id="13" name="Rectangle 12"/>
          <p:cNvSpPr/>
          <p:nvPr/>
        </p:nvSpPr>
        <p:spPr>
          <a:xfrm>
            <a:off x="777240" y="3794760"/>
            <a:ext cx="365760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931920"/>
            <a:ext cx="3657600" cy="320040"/>
          </a:xfrm>
          <a:prstGeom prst="rect">
            <a:avLst/>
          </a:prstGeom>
          <a:noFill/>
        </p:spPr>
        <p:txBody>
          <a:bodyPr wrap="square" anchor="t" lIns="0" rIns="0" tIns="0" bIns="0">
            <a:spAutoFit/>
          </a:bodyPr>
          <a:lstStyle/>
          <a:p>
            <a:pPr algn="l">
              <a:lnSpc>
                <a:spcPct val="115000"/>
              </a:lnSpc>
            </a:pPr>
            <a:r>
              <a:rPr sz="1100" b="1">
                <a:solidFill>
                  <a:srgbClr val="B85E1A"/>
                </a:solidFill>
                <a:latin typeface="Hiragino Sans"/>
                <a:ea typeface="Hiragino Sans"/>
                <a:cs typeface="Hiragino Sans"/>
              </a:rPr>
              <a:t>うちインターネット広告費</a:t>
            </a:r>
          </a:p>
        </p:txBody>
      </p:sp>
      <p:sp>
        <p:nvSpPr>
          <p:cNvPr id="15" name="TextBox 14"/>
          <p:cNvSpPr txBox="1"/>
          <p:nvPr/>
        </p:nvSpPr>
        <p:spPr>
          <a:xfrm>
            <a:off x="777240" y="4251960"/>
            <a:ext cx="3657600" cy="548640"/>
          </a:xfrm>
          <a:prstGeom prst="rect">
            <a:avLst/>
          </a:prstGeom>
          <a:noFill/>
        </p:spPr>
        <p:txBody>
          <a:bodyPr wrap="square" anchor="t" lIns="0" rIns="0" tIns="0" bIns="0">
            <a:spAutoFit/>
          </a:bodyPr>
          <a:lstStyle/>
          <a:p>
            <a:pPr algn="l">
              <a:lnSpc>
                <a:spcPct val="115000"/>
              </a:lnSpc>
            </a:pPr>
            <a:r>
              <a:rPr sz="3000" b="1">
                <a:solidFill>
                  <a:srgbClr val="E87722"/>
                </a:solidFill>
                <a:latin typeface="Helvetica Neue"/>
                <a:ea typeface="Helvetica Neue"/>
                <a:cs typeface="Helvetica Neue"/>
              </a:rPr>
              <a:t>3.65 兆円</a:t>
            </a:r>
          </a:p>
        </p:txBody>
      </p:sp>
      <p:sp>
        <p:nvSpPr>
          <p:cNvPr id="16" name="TextBox 15"/>
          <p:cNvSpPr txBox="1"/>
          <p:nvPr/>
        </p:nvSpPr>
        <p:spPr>
          <a:xfrm>
            <a:off x="777240" y="4983480"/>
            <a:ext cx="3657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前年比 +9.6% ／ 全広告費の 47.6%</a:t>
            </a:r>
          </a:p>
        </p:txBody>
      </p:sp>
      <p:sp>
        <p:nvSpPr>
          <p:cNvPr id="17" name="TextBox 16"/>
          <p:cNvSpPr txBox="1"/>
          <p:nvPr/>
        </p:nvSpPr>
        <p:spPr>
          <a:xfrm>
            <a:off x="777240" y="5285232"/>
            <a:ext cx="3657600" cy="320040"/>
          </a:xfrm>
          <a:prstGeom prst="rect">
            <a:avLst/>
          </a:prstGeom>
          <a:noFill/>
        </p:spPr>
        <p:txBody>
          <a:bodyPr wrap="square" anchor="t" lIns="0" rIns="0" tIns="0" bIns="0">
            <a:spAutoFit/>
          </a:bodyPr>
          <a:lstStyle/>
          <a:p>
            <a:pPr algn="l">
              <a:lnSpc>
                <a:spcPct val="115000"/>
              </a:lnSpc>
            </a:pPr>
            <a:r>
              <a:rPr sz="1000" b="0">
                <a:solidFill>
                  <a:srgbClr val="5A6A80"/>
                </a:solidFill>
                <a:latin typeface="Hiragino Sans"/>
                <a:ea typeface="Hiragino Sans"/>
                <a:cs typeface="Hiragino Sans"/>
              </a:rPr>
              <a:t>うち広告媒体費 2.96 兆円 (+10.2%)</a:t>
            </a:r>
          </a:p>
        </p:txBody>
      </p:sp>
      <p:sp>
        <p:nvSpPr>
          <p:cNvPr id="18" name="TextBox 17"/>
          <p:cNvSpPr txBox="1"/>
          <p:nvPr/>
        </p:nvSpPr>
        <p:spPr>
          <a:xfrm>
            <a:off x="777240" y="5852160"/>
            <a:ext cx="3657600" cy="32004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出典 : 電通「2024年 日本の広告費」</a:t>
            </a:r>
          </a:p>
        </p:txBody>
      </p:sp>
      <p:sp>
        <p:nvSpPr>
          <p:cNvPr id="19" name="TextBox 18"/>
          <p:cNvSpPr txBox="1"/>
          <p:nvPr/>
        </p:nvSpPr>
        <p:spPr>
          <a:xfrm>
            <a:off x="4937760" y="1417320"/>
            <a:ext cx="6400800" cy="32004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内訳 : 媒体別広告費 (億円)</a:t>
            </a:r>
          </a:p>
        </p:txBody>
      </p:sp>
      <p:sp>
        <p:nvSpPr>
          <p:cNvPr id="20" name="TextBox 19"/>
          <p:cNvSpPr txBox="1"/>
          <p:nvPr/>
        </p:nvSpPr>
        <p:spPr>
          <a:xfrm>
            <a:off x="4937760" y="1984247"/>
            <a:ext cx="2103120" cy="365760"/>
          </a:xfrm>
          <a:prstGeom prst="rect">
            <a:avLst/>
          </a:prstGeom>
          <a:noFill/>
        </p:spPr>
        <p:txBody>
          <a:bodyPr wrap="square" anchor="t" lIns="0" rIns="0" tIns="0" bIns="0">
            <a:spAutoFit/>
          </a:bodyPr>
          <a:lstStyle/>
          <a:p>
            <a:pPr algn="l">
              <a:lnSpc>
                <a:spcPct val="115000"/>
              </a:lnSpc>
            </a:pPr>
            <a:r>
              <a:rPr sz="1100" b="1">
                <a:solidFill>
                  <a:srgbClr val="1A1A1A"/>
                </a:solidFill>
                <a:latin typeface="Hiragino Sans"/>
                <a:ea typeface="Hiragino Sans"/>
                <a:cs typeface="Hiragino Sans"/>
              </a:rPr>
              <a:t>インターネット</a:t>
            </a:r>
          </a:p>
        </p:txBody>
      </p:sp>
      <p:sp>
        <p:nvSpPr>
          <p:cNvPr id="21" name="Rounded Rectangle 20"/>
          <p:cNvSpPr/>
          <p:nvPr/>
        </p:nvSpPr>
        <p:spPr>
          <a:xfrm>
            <a:off x="7040880" y="1984247"/>
            <a:ext cx="3840480" cy="320040"/>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972800" y="1965959"/>
            <a:ext cx="914400" cy="36576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36,517</a:t>
            </a:r>
          </a:p>
        </p:txBody>
      </p:sp>
      <p:sp>
        <p:nvSpPr>
          <p:cNvPr id="23" name="TextBox 22"/>
          <p:cNvSpPr txBox="1"/>
          <p:nvPr/>
        </p:nvSpPr>
        <p:spPr>
          <a:xfrm>
            <a:off x="4937760" y="2624327"/>
            <a:ext cx="2103120" cy="365760"/>
          </a:xfrm>
          <a:prstGeom prst="rect">
            <a:avLst/>
          </a:prstGeom>
          <a:noFill/>
        </p:spPr>
        <p:txBody>
          <a:bodyPr wrap="square" anchor="t" lIns="0" rIns="0" tIns="0" bIns="0">
            <a:spAutoFit/>
          </a:bodyPr>
          <a:lstStyle/>
          <a:p>
            <a:pPr algn="l">
              <a:lnSpc>
                <a:spcPct val="115000"/>
              </a:lnSpc>
            </a:pPr>
            <a:r>
              <a:rPr sz="1100" b="1">
                <a:solidFill>
                  <a:srgbClr val="1A1A1A"/>
                </a:solidFill>
                <a:latin typeface="Hiragino Sans"/>
                <a:ea typeface="Hiragino Sans"/>
                <a:cs typeface="Hiragino Sans"/>
              </a:rPr>
              <a:t>テレビメディア</a:t>
            </a:r>
          </a:p>
        </p:txBody>
      </p:sp>
      <p:sp>
        <p:nvSpPr>
          <p:cNvPr id="24" name="Rounded Rectangle 23"/>
          <p:cNvSpPr/>
          <p:nvPr/>
        </p:nvSpPr>
        <p:spPr>
          <a:xfrm>
            <a:off x="7040880" y="2624327"/>
            <a:ext cx="1791459" cy="32004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923779" y="2606039"/>
            <a:ext cx="914400" cy="36576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17,034</a:t>
            </a:r>
          </a:p>
        </p:txBody>
      </p:sp>
      <p:sp>
        <p:nvSpPr>
          <p:cNvPr id="26" name="TextBox 25"/>
          <p:cNvSpPr txBox="1"/>
          <p:nvPr/>
        </p:nvSpPr>
        <p:spPr>
          <a:xfrm>
            <a:off x="4937760" y="3264407"/>
            <a:ext cx="2103120" cy="365760"/>
          </a:xfrm>
          <a:prstGeom prst="rect">
            <a:avLst/>
          </a:prstGeom>
          <a:noFill/>
        </p:spPr>
        <p:txBody>
          <a:bodyPr wrap="square" anchor="t" lIns="0" rIns="0" tIns="0" bIns="0">
            <a:spAutoFit/>
          </a:bodyPr>
          <a:lstStyle/>
          <a:p>
            <a:pPr algn="l">
              <a:lnSpc>
                <a:spcPct val="115000"/>
              </a:lnSpc>
            </a:pPr>
            <a:r>
              <a:rPr sz="1100" b="1">
                <a:solidFill>
                  <a:srgbClr val="1A1A1A"/>
                </a:solidFill>
                <a:latin typeface="Hiragino Sans"/>
                <a:ea typeface="Hiragino Sans"/>
                <a:cs typeface="Hiragino Sans"/>
              </a:rPr>
              <a:t>プロモーションメディア</a:t>
            </a:r>
          </a:p>
        </p:txBody>
      </p:sp>
      <p:sp>
        <p:nvSpPr>
          <p:cNvPr id="27" name="Rounded Rectangle 26"/>
          <p:cNvSpPr/>
          <p:nvPr/>
        </p:nvSpPr>
        <p:spPr>
          <a:xfrm>
            <a:off x="7040880" y="3264407"/>
            <a:ext cx="1573232" cy="32004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705552" y="3246119"/>
            <a:ext cx="914400" cy="36576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14,959</a:t>
            </a:r>
          </a:p>
        </p:txBody>
      </p:sp>
      <p:sp>
        <p:nvSpPr>
          <p:cNvPr id="29" name="TextBox 28"/>
          <p:cNvSpPr txBox="1"/>
          <p:nvPr/>
        </p:nvSpPr>
        <p:spPr>
          <a:xfrm>
            <a:off x="4937760" y="3904487"/>
            <a:ext cx="2103120" cy="365760"/>
          </a:xfrm>
          <a:prstGeom prst="rect">
            <a:avLst/>
          </a:prstGeom>
          <a:noFill/>
        </p:spPr>
        <p:txBody>
          <a:bodyPr wrap="square" anchor="t" lIns="0" rIns="0" tIns="0" bIns="0">
            <a:spAutoFit/>
          </a:bodyPr>
          <a:lstStyle/>
          <a:p>
            <a:pPr algn="l">
              <a:lnSpc>
                <a:spcPct val="115000"/>
              </a:lnSpc>
            </a:pPr>
            <a:r>
              <a:rPr sz="1100" b="1">
                <a:solidFill>
                  <a:srgbClr val="1A1A1A"/>
                </a:solidFill>
                <a:latin typeface="Hiragino Sans"/>
                <a:ea typeface="Hiragino Sans"/>
                <a:cs typeface="Hiragino Sans"/>
              </a:rPr>
              <a:t>新聞</a:t>
            </a:r>
          </a:p>
        </p:txBody>
      </p:sp>
      <p:sp>
        <p:nvSpPr>
          <p:cNvPr id="30" name="Rounded Rectangle 29"/>
          <p:cNvSpPr/>
          <p:nvPr/>
        </p:nvSpPr>
        <p:spPr>
          <a:xfrm>
            <a:off x="7040880" y="3904487"/>
            <a:ext cx="352423" cy="320040"/>
          </a:xfrm>
          <a:prstGeom prst="roundRect">
            <a:avLst>
              <a:gd name="adj" fmla="val 6000"/>
            </a:avLst>
          </a:prstGeom>
          <a:solidFill>
            <a:srgbClr val="5A6A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84743" y="3886199"/>
            <a:ext cx="914400" cy="36576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3,351</a:t>
            </a:r>
          </a:p>
        </p:txBody>
      </p:sp>
      <p:sp>
        <p:nvSpPr>
          <p:cNvPr id="32" name="TextBox 31"/>
          <p:cNvSpPr txBox="1"/>
          <p:nvPr/>
        </p:nvSpPr>
        <p:spPr>
          <a:xfrm>
            <a:off x="4937760" y="4544567"/>
            <a:ext cx="2103120" cy="365760"/>
          </a:xfrm>
          <a:prstGeom prst="rect">
            <a:avLst/>
          </a:prstGeom>
          <a:noFill/>
        </p:spPr>
        <p:txBody>
          <a:bodyPr wrap="square" anchor="t" lIns="0" rIns="0" tIns="0" bIns="0">
            <a:spAutoFit/>
          </a:bodyPr>
          <a:lstStyle/>
          <a:p>
            <a:pPr algn="l">
              <a:lnSpc>
                <a:spcPct val="115000"/>
              </a:lnSpc>
            </a:pPr>
            <a:r>
              <a:rPr sz="1100" b="1">
                <a:solidFill>
                  <a:srgbClr val="1A1A1A"/>
                </a:solidFill>
                <a:latin typeface="Hiragino Sans"/>
                <a:ea typeface="Hiragino Sans"/>
                <a:cs typeface="Hiragino Sans"/>
              </a:rPr>
              <a:t>雑誌</a:t>
            </a:r>
          </a:p>
        </p:txBody>
      </p:sp>
      <p:sp>
        <p:nvSpPr>
          <p:cNvPr id="33" name="Rounded Rectangle 32"/>
          <p:cNvSpPr/>
          <p:nvPr/>
        </p:nvSpPr>
        <p:spPr>
          <a:xfrm>
            <a:off x="7040880" y="4544567"/>
            <a:ext cx="217911" cy="320040"/>
          </a:xfrm>
          <a:prstGeom prst="roundRect">
            <a:avLst>
              <a:gd name="adj" fmla="val 6000"/>
            </a:avLst>
          </a:prstGeom>
          <a:solidFill>
            <a:srgbClr val="5A6A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50231" y="4526279"/>
            <a:ext cx="914400" cy="36576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2,072</a:t>
            </a:r>
          </a:p>
        </p:txBody>
      </p:sp>
      <p:sp>
        <p:nvSpPr>
          <p:cNvPr id="35" name="TextBox 34"/>
          <p:cNvSpPr txBox="1"/>
          <p:nvPr/>
        </p:nvSpPr>
        <p:spPr>
          <a:xfrm>
            <a:off x="4937760" y="5184647"/>
            <a:ext cx="2103120" cy="365760"/>
          </a:xfrm>
          <a:prstGeom prst="rect">
            <a:avLst/>
          </a:prstGeom>
          <a:noFill/>
        </p:spPr>
        <p:txBody>
          <a:bodyPr wrap="square" anchor="t" lIns="0" rIns="0" tIns="0" bIns="0">
            <a:spAutoFit/>
          </a:bodyPr>
          <a:lstStyle/>
          <a:p>
            <a:pPr algn="l">
              <a:lnSpc>
                <a:spcPct val="115000"/>
              </a:lnSpc>
            </a:pPr>
            <a:r>
              <a:rPr sz="1100" b="1">
                <a:solidFill>
                  <a:srgbClr val="1A1A1A"/>
                </a:solidFill>
                <a:latin typeface="Hiragino Sans"/>
                <a:ea typeface="Hiragino Sans"/>
                <a:cs typeface="Hiragino Sans"/>
              </a:rPr>
              <a:t>ラジオ</a:t>
            </a:r>
          </a:p>
        </p:txBody>
      </p:sp>
      <p:sp>
        <p:nvSpPr>
          <p:cNvPr id="36" name="Rounded Rectangle 35"/>
          <p:cNvSpPr/>
          <p:nvPr/>
        </p:nvSpPr>
        <p:spPr>
          <a:xfrm>
            <a:off x="7040880" y="5184647"/>
            <a:ext cx="111795" cy="320040"/>
          </a:xfrm>
          <a:prstGeom prst="roundRect">
            <a:avLst>
              <a:gd name="adj" fmla="val 6000"/>
            </a:avLst>
          </a:prstGeom>
          <a:solidFill>
            <a:srgbClr val="5A6A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244115" y="5166359"/>
            <a:ext cx="914400" cy="36576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1,063</a:t>
            </a:r>
          </a:p>
        </p:txBody>
      </p:sp>
      <p:sp>
        <p:nvSpPr>
          <p:cNvPr id="38" name="Rounded Rectangle 37"/>
          <p:cNvSpPr/>
          <p:nvPr/>
        </p:nvSpPr>
        <p:spPr>
          <a:xfrm>
            <a:off x="4937760" y="5623560"/>
            <a:ext cx="6720840" cy="68580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074920" y="5715000"/>
            <a:ext cx="365760" cy="457200"/>
          </a:xfrm>
          <a:prstGeom prst="rect">
            <a:avLst/>
          </a:prstGeom>
          <a:noFill/>
        </p:spPr>
        <p:txBody>
          <a:bodyPr wrap="square" anchor="t" lIns="0" rIns="0" tIns="0" bIns="0">
            <a:spAutoFit/>
          </a:bodyPr>
          <a:lstStyle/>
          <a:p>
            <a:pPr algn="l">
              <a:lnSpc>
                <a:spcPct val="115000"/>
              </a:lnSpc>
            </a:pPr>
            <a:r>
              <a:rPr sz="1800" b="0">
                <a:solidFill>
                  <a:srgbClr val="B85E1A"/>
                </a:solidFill>
                <a:latin typeface="Hiragino Sans"/>
                <a:ea typeface="Hiragino Sans"/>
                <a:cs typeface="Hiragino Sans"/>
              </a:rPr>
              <a:t>⚠</a:t>
            </a:r>
          </a:p>
        </p:txBody>
      </p:sp>
      <p:sp>
        <p:nvSpPr>
          <p:cNvPr id="40" name="TextBox 39"/>
          <p:cNvSpPr txBox="1"/>
          <p:nvPr/>
        </p:nvSpPr>
        <p:spPr>
          <a:xfrm>
            <a:off x="5486400" y="5669280"/>
            <a:ext cx="6126480" cy="640080"/>
          </a:xfrm>
          <a:prstGeom prst="rect">
            <a:avLst/>
          </a:prstGeom>
          <a:noFill/>
        </p:spPr>
        <p:txBody>
          <a:bodyPr wrap="square" anchor="t" lIns="0" rIns="0" tIns="0" bIns="0">
            <a:spAutoFit/>
          </a:bodyPr>
          <a:lstStyle/>
          <a:p>
            <a:pPr algn="l">
              <a:lnSpc>
                <a:spcPct val="135000"/>
              </a:lnSpc>
            </a:pPr>
            <a:r>
              <a:rPr sz="1000" b="0">
                <a:solidFill>
                  <a:srgbClr val="1A1A1A"/>
                </a:solidFill>
                <a:latin typeface="Hiragino Sans"/>
                <a:ea typeface="Hiragino Sans"/>
                <a:cs typeface="Hiragino Sans"/>
              </a:rPr>
              <a:t>運用型ネット広告がマス4媒体 (TV+新聞+雑誌+ラジオ) の合計を上回る構造が定着。</a:t>
            </a:r>
          </a:p>
          <a:p>
            <a:pPr algn="l">
              <a:lnSpc>
                <a:spcPct val="135000"/>
              </a:lnSpc>
            </a:pPr>
            <a:r>
              <a:rPr sz="1000" b="0">
                <a:solidFill>
                  <a:srgbClr val="1A1A1A"/>
                </a:solidFill>
                <a:latin typeface="Hiragino Sans"/>
                <a:ea typeface="Hiragino Sans"/>
                <a:cs typeface="Hiragino Sans"/>
              </a:rPr>
              <a:t>リテールメディア / 縦型動画 / LINEヤフー合算シェアが今後の注目点。</a:t>
            </a:r>
          </a:p>
        </p:txBody>
      </p:sp>
      <p:sp>
        <p:nvSpPr>
          <p:cNvPr id="41" name="TextBox 40"/>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2.5年で覚える10キーワード</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読む前の前提知識マップ</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P08 / 250</a:t>
            </a:r>
          </a:p>
        </p:txBody>
      </p:sp>
      <p:sp>
        <p:nvSpPr>
          <p:cNvPr id="8" name="Rounded Rectangle 7"/>
          <p:cNvSpPr/>
          <p:nvPr/>
        </p:nvSpPr>
        <p:spPr>
          <a:xfrm>
            <a:off x="548640" y="1325880"/>
            <a:ext cx="2221992" cy="12344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25880"/>
            <a:ext cx="73152" cy="12344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435608"/>
            <a:ext cx="54864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elvetica Neue"/>
                <a:ea typeface="Helvetica Neue"/>
                <a:cs typeface="Helvetica Neue"/>
              </a:rPr>
              <a:t>01</a:t>
            </a:r>
          </a:p>
        </p:txBody>
      </p:sp>
      <p:sp>
        <p:nvSpPr>
          <p:cNvPr id="11" name="TextBox 10"/>
          <p:cNvSpPr txBox="1"/>
          <p:nvPr/>
        </p:nvSpPr>
        <p:spPr>
          <a:xfrm>
            <a:off x="1417320" y="1435608"/>
            <a:ext cx="1307592"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PMax</a:t>
            </a:r>
          </a:p>
        </p:txBody>
      </p:sp>
      <p:sp>
        <p:nvSpPr>
          <p:cNvPr id="12" name="TextBox 11"/>
          <p:cNvSpPr txBox="1"/>
          <p:nvPr/>
        </p:nvSpPr>
        <p:spPr>
          <a:xfrm>
            <a:off x="731520" y="1737360"/>
            <a:ext cx="1947672"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Performance Max</a:t>
            </a:r>
          </a:p>
        </p:txBody>
      </p:sp>
      <p:sp>
        <p:nvSpPr>
          <p:cNvPr id="13" name="TextBox 12"/>
          <p:cNvSpPr txBox="1"/>
          <p:nvPr/>
        </p:nvSpPr>
        <p:spPr>
          <a:xfrm>
            <a:off x="731520" y="2057400"/>
            <a:ext cx="1947672" cy="457200"/>
          </a:xfrm>
          <a:prstGeom prst="rect">
            <a:avLst/>
          </a:prstGeom>
          <a:noFill/>
        </p:spPr>
        <p:txBody>
          <a:bodyPr wrap="square" anchor="t" lIns="0" rIns="0" tIns="0" bIns="0">
            <a:spAutoFit/>
          </a:bodyPr>
          <a:lstStyle/>
          <a:p>
            <a:pPr algn="l">
              <a:lnSpc>
                <a:spcPct val="135000"/>
              </a:lnSpc>
            </a:pPr>
            <a:r>
              <a:rPr sz="900" b="0">
                <a:solidFill>
                  <a:srgbClr val="1A1A1A"/>
                </a:solidFill>
                <a:latin typeface="Hiragino Sans"/>
                <a:ea typeface="Hiragino Sans"/>
                <a:cs typeface="Hiragino Sans"/>
              </a:rPr>
              <a:t>Google全面統合型AIキャンペーン。検索以外はほぼこれに寄せる</a:t>
            </a:r>
          </a:p>
        </p:txBody>
      </p:sp>
      <p:sp>
        <p:nvSpPr>
          <p:cNvPr id="14" name="Rounded Rectangle 13"/>
          <p:cNvSpPr/>
          <p:nvPr/>
        </p:nvSpPr>
        <p:spPr>
          <a:xfrm>
            <a:off x="2825496" y="1325880"/>
            <a:ext cx="2221992" cy="12344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25496" y="1325880"/>
            <a:ext cx="73152" cy="12344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008376" y="1435608"/>
            <a:ext cx="54864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elvetica Neue"/>
                <a:ea typeface="Helvetica Neue"/>
                <a:cs typeface="Helvetica Neue"/>
              </a:rPr>
              <a:t>02</a:t>
            </a:r>
          </a:p>
        </p:txBody>
      </p:sp>
      <p:sp>
        <p:nvSpPr>
          <p:cNvPr id="17" name="TextBox 16"/>
          <p:cNvSpPr txBox="1"/>
          <p:nvPr/>
        </p:nvSpPr>
        <p:spPr>
          <a:xfrm>
            <a:off x="3694176" y="1435608"/>
            <a:ext cx="1307592"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ASC (Meta)</a:t>
            </a:r>
          </a:p>
        </p:txBody>
      </p:sp>
      <p:sp>
        <p:nvSpPr>
          <p:cNvPr id="18" name="TextBox 17"/>
          <p:cNvSpPr txBox="1"/>
          <p:nvPr/>
        </p:nvSpPr>
        <p:spPr>
          <a:xfrm>
            <a:off x="3008376" y="1737360"/>
            <a:ext cx="1947672"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Advantage+</a:t>
            </a:r>
          </a:p>
        </p:txBody>
      </p:sp>
      <p:sp>
        <p:nvSpPr>
          <p:cNvPr id="19" name="TextBox 18"/>
          <p:cNvSpPr txBox="1"/>
          <p:nvPr/>
        </p:nvSpPr>
        <p:spPr>
          <a:xfrm>
            <a:off x="3008376" y="2057400"/>
            <a:ext cx="1947672" cy="457200"/>
          </a:xfrm>
          <a:prstGeom prst="rect">
            <a:avLst/>
          </a:prstGeom>
          <a:noFill/>
        </p:spPr>
        <p:txBody>
          <a:bodyPr wrap="square" anchor="t" lIns="0" rIns="0" tIns="0" bIns="0">
            <a:spAutoFit/>
          </a:bodyPr>
          <a:lstStyle/>
          <a:p>
            <a:pPr algn="l">
              <a:lnSpc>
                <a:spcPct val="135000"/>
              </a:lnSpc>
            </a:pPr>
            <a:r>
              <a:rPr sz="900" b="0">
                <a:solidFill>
                  <a:srgbClr val="1A1A1A"/>
                </a:solidFill>
                <a:latin typeface="Hiragino Sans"/>
                <a:ea typeface="Hiragino Sans"/>
                <a:cs typeface="Hiragino Sans"/>
              </a:rPr>
              <a:t>Meta版の統合AI配信。Shopping / Leads / App。EC/D2Cの鉄板</a:t>
            </a:r>
          </a:p>
        </p:txBody>
      </p:sp>
      <p:sp>
        <p:nvSpPr>
          <p:cNvPr id="20" name="Rounded Rectangle 19"/>
          <p:cNvSpPr/>
          <p:nvPr/>
        </p:nvSpPr>
        <p:spPr>
          <a:xfrm>
            <a:off x="5102352" y="1325880"/>
            <a:ext cx="2221992" cy="12344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02352" y="1325880"/>
            <a:ext cx="73152" cy="12344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85232" y="1435608"/>
            <a:ext cx="54864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elvetica Neue"/>
                <a:ea typeface="Helvetica Neue"/>
                <a:cs typeface="Helvetica Neue"/>
              </a:rPr>
              <a:t>03</a:t>
            </a:r>
          </a:p>
        </p:txBody>
      </p:sp>
      <p:sp>
        <p:nvSpPr>
          <p:cNvPr id="23" name="TextBox 22"/>
          <p:cNvSpPr txBox="1"/>
          <p:nvPr/>
        </p:nvSpPr>
        <p:spPr>
          <a:xfrm>
            <a:off x="5971032" y="1435608"/>
            <a:ext cx="1307592"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2024/10</a:t>
            </a:r>
          </a:p>
        </p:txBody>
      </p:sp>
      <p:sp>
        <p:nvSpPr>
          <p:cNvPr id="24" name="TextBox 23"/>
          <p:cNvSpPr txBox="1"/>
          <p:nvPr/>
        </p:nvSpPr>
        <p:spPr>
          <a:xfrm>
            <a:off x="5285232" y="1737360"/>
            <a:ext cx="1947672"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TikTok Smart+</a:t>
            </a:r>
          </a:p>
        </p:txBody>
      </p:sp>
      <p:sp>
        <p:nvSpPr>
          <p:cNvPr id="25" name="TextBox 24"/>
          <p:cNvSpPr txBox="1"/>
          <p:nvPr/>
        </p:nvSpPr>
        <p:spPr>
          <a:xfrm>
            <a:off x="5285232" y="2057400"/>
            <a:ext cx="1947672" cy="457200"/>
          </a:xfrm>
          <a:prstGeom prst="rect">
            <a:avLst/>
          </a:prstGeom>
          <a:noFill/>
        </p:spPr>
        <p:txBody>
          <a:bodyPr wrap="square" anchor="t" lIns="0" rIns="0" tIns="0" bIns="0">
            <a:spAutoFit/>
          </a:bodyPr>
          <a:lstStyle/>
          <a:p>
            <a:pPr algn="l">
              <a:lnSpc>
                <a:spcPct val="135000"/>
              </a:lnSpc>
            </a:pPr>
            <a:r>
              <a:rPr sz="900" b="0">
                <a:solidFill>
                  <a:srgbClr val="1A1A1A"/>
                </a:solidFill>
                <a:latin typeface="Hiragino Sans"/>
                <a:ea typeface="Hiragino Sans"/>
                <a:cs typeface="Hiragino Sans"/>
              </a:rPr>
              <a:t>TikTok完全自動化キャンペーン。Web/Catalog/App/Lead</a:t>
            </a:r>
          </a:p>
        </p:txBody>
      </p:sp>
      <p:sp>
        <p:nvSpPr>
          <p:cNvPr id="26" name="Rounded Rectangle 25"/>
          <p:cNvSpPr/>
          <p:nvPr/>
        </p:nvSpPr>
        <p:spPr>
          <a:xfrm>
            <a:off x="7379208" y="1325880"/>
            <a:ext cx="2221992" cy="12344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79208" y="1325880"/>
            <a:ext cx="73152" cy="12344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62088" y="1435608"/>
            <a:ext cx="54864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elvetica Neue"/>
                <a:ea typeface="Helvetica Neue"/>
                <a:cs typeface="Helvetica Neue"/>
              </a:rPr>
              <a:t>04</a:t>
            </a:r>
          </a:p>
        </p:txBody>
      </p:sp>
      <p:sp>
        <p:nvSpPr>
          <p:cNvPr id="29" name="TextBox 28"/>
          <p:cNvSpPr txBox="1"/>
          <p:nvPr/>
        </p:nvSpPr>
        <p:spPr>
          <a:xfrm>
            <a:off x="8247888" y="1435608"/>
            <a:ext cx="1307592"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2025/05</a:t>
            </a:r>
          </a:p>
        </p:txBody>
      </p:sp>
      <p:sp>
        <p:nvSpPr>
          <p:cNvPr id="30" name="TextBox 29"/>
          <p:cNvSpPr txBox="1"/>
          <p:nvPr/>
        </p:nvSpPr>
        <p:spPr>
          <a:xfrm>
            <a:off x="7562088" y="1737360"/>
            <a:ext cx="1947672"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AI Max for Search</a:t>
            </a:r>
          </a:p>
        </p:txBody>
      </p:sp>
      <p:sp>
        <p:nvSpPr>
          <p:cNvPr id="31" name="TextBox 30"/>
          <p:cNvSpPr txBox="1"/>
          <p:nvPr/>
        </p:nvSpPr>
        <p:spPr>
          <a:xfrm>
            <a:off x="7562088" y="2057400"/>
            <a:ext cx="1947672" cy="457200"/>
          </a:xfrm>
          <a:prstGeom prst="rect">
            <a:avLst/>
          </a:prstGeom>
          <a:noFill/>
        </p:spPr>
        <p:txBody>
          <a:bodyPr wrap="square" anchor="t" lIns="0" rIns="0" tIns="0" bIns="0">
            <a:spAutoFit/>
          </a:bodyPr>
          <a:lstStyle/>
          <a:p>
            <a:pPr algn="l">
              <a:lnSpc>
                <a:spcPct val="135000"/>
              </a:lnSpc>
            </a:pPr>
            <a:r>
              <a:rPr sz="900" b="0">
                <a:solidFill>
                  <a:srgbClr val="1A1A1A"/>
                </a:solidFill>
                <a:latin typeface="Hiragino Sans"/>
                <a:ea typeface="Hiragino Sans"/>
                <a:cs typeface="Hiragino Sans"/>
              </a:rPr>
              <a:t>Google 検索広告のAI拡張層。DSAを置換予定</a:t>
            </a:r>
          </a:p>
        </p:txBody>
      </p:sp>
      <p:sp>
        <p:nvSpPr>
          <p:cNvPr id="32" name="Rounded Rectangle 31"/>
          <p:cNvSpPr/>
          <p:nvPr/>
        </p:nvSpPr>
        <p:spPr>
          <a:xfrm>
            <a:off x="9656064" y="1325880"/>
            <a:ext cx="2221992" cy="12344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656064" y="1325880"/>
            <a:ext cx="73152" cy="12344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838944" y="1435608"/>
            <a:ext cx="54864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elvetica Neue"/>
                <a:ea typeface="Helvetica Neue"/>
                <a:cs typeface="Helvetica Neue"/>
              </a:rPr>
              <a:t>05</a:t>
            </a:r>
          </a:p>
        </p:txBody>
      </p:sp>
      <p:sp>
        <p:nvSpPr>
          <p:cNvPr id="35" name="TextBox 34"/>
          <p:cNvSpPr txBox="1"/>
          <p:nvPr/>
        </p:nvSpPr>
        <p:spPr>
          <a:xfrm>
            <a:off x="10524744" y="1435608"/>
            <a:ext cx="1307592"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Conversion API</a:t>
            </a:r>
          </a:p>
        </p:txBody>
      </p:sp>
      <p:sp>
        <p:nvSpPr>
          <p:cNvPr id="36" name="TextBox 35"/>
          <p:cNvSpPr txBox="1"/>
          <p:nvPr/>
        </p:nvSpPr>
        <p:spPr>
          <a:xfrm>
            <a:off x="9838944" y="1737360"/>
            <a:ext cx="1947672"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CAPI</a:t>
            </a:r>
          </a:p>
        </p:txBody>
      </p:sp>
      <p:sp>
        <p:nvSpPr>
          <p:cNvPr id="37" name="TextBox 36"/>
          <p:cNvSpPr txBox="1"/>
          <p:nvPr/>
        </p:nvSpPr>
        <p:spPr>
          <a:xfrm>
            <a:off x="9838944" y="2057400"/>
            <a:ext cx="1947672" cy="457200"/>
          </a:xfrm>
          <a:prstGeom prst="rect">
            <a:avLst/>
          </a:prstGeom>
          <a:noFill/>
        </p:spPr>
        <p:txBody>
          <a:bodyPr wrap="square" anchor="t" lIns="0" rIns="0" tIns="0" bIns="0">
            <a:spAutoFit/>
          </a:bodyPr>
          <a:lstStyle/>
          <a:p>
            <a:pPr algn="l">
              <a:lnSpc>
                <a:spcPct val="135000"/>
              </a:lnSpc>
            </a:pPr>
            <a:r>
              <a:rPr sz="900" b="0">
                <a:solidFill>
                  <a:srgbClr val="1A1A1A"/>
                </a:solidFill>
                <a:latin typeface="Hiragino Sans"/>
                <a:ea typeface="Hiragino Sans"/>
                <a:cs typeface="Hiragino Sans"/>
              </a:rPr>
              <a:t>サーバーサイド計測の業界標準。Meta/TikTok/LINE/X対応</a:t>
            </a:r>
          </a:p>
        </p:txBody>
      </p:sp>
      <p:sp>
        <p:nvSpPr>
          <p:cNvPr id="38" name="Rounded Rectangle 37"/>
          <p:cNvSpPr/>
          <p:nvPr/>
        </p:nvSpPr>
        <p:spPr>
          <a:xfrm>
            <a:off x="548640" y="2651760"/>
            <a:ext cx="2221992" cy="12344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48640" y="2651760"/>
            <a:ext cx="73152" cy="12344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2761488"/>
            <a:ext cx="54864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elvetica Neue"/>
                <a:ea typeface="Helvetica Neue"/>
                <a:cs typeface="Helvetica Neue"/>
              </a:rPr>
              <a:t>06</a:t>
            </a:r>
          </a:p>
        </p:txBody>
      </p:sp>
      <p:sp>
        <p:nvSpPr>
          <p:cNvPr id="41" name="TextBox 40"/>
          <p:cNvSpPr txBox="1"/>
          <p:nvPr/>
        </p:nvSpPr>
        <p:spPr>
          <a:xfrm>
            <a:off x="1417320" y="2761488"/>
            <a:ext cx="1307592"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2024/03~</a:t>
            </a:r>
          </a:p>
        </p:txBody>
      </p:sp>
      <p:sp>
        <p:nvSpPr>
          <p:cNvPr id="42" name="TextBox 41"/>
          <p:cNvSpPr txBox="1"/>
          <p:nvPr/>
        </p:nvSpPr>
        <p:spPr>
          <a:xfrm>
            <a:off x="731520" y="3063240"/>
            <a:ext cx="1947672"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Consent Mode v2</a:t>
            </a:r>
          </a:p>
        </p:txBody>
      </p:sp>
      <p:sp>
        <p:nvSpPr>
          <p:cNvPr id="43" name="TextBox 42"/>
          <p:cNvSpPr txBox="1"/>
          <p:nvPr/>
        </p:nvSpPr>
        <p:spPr>
          <a:xfrm>
            <a:off x="731520" y="3383280"/>
            <a:ext cx="1947672" cy="457200"/>
          </a:xfrm>
          <a:prstGeom prst="rect">
            <a:avLst/>
          </a:prstGeom>
          <a:noFill/>
        </p:spPr>
        <p:txBody>
          <a:bodyPr wrap="square" anchor="t" lIns="0" rIns="0" tIns="0" bIns="0">
            <a:spAutoFit/>
          </a:bodyPr>
          <a:lstStyle/>
          <a:p>
            <a:pPr algn="l">
              <a:lnSpc>
                <a:spcPct val="135000"/>
              </a:lnSpc>
            </a:pPr>
            <a:r>
              <a:rPr sz="900" b="0">
                <a:solidFill>
                  <a:srgbClr val="1A1A1A"/>
                </a:solidFill>
                <a:latin typeface="Hiragino Sans"/>
                <a:ea typeface="Hiragino Sans"/>
                <a:cs typeface="Hiragino Sans"/>
              </a:rPr>
              <a:t>EU同意必須化。日本実務でも実装が定着</a:t>
            </a:r>
          </a:p>
        </p:txBody>
      </p:sp>
      <p:sp>
        <p:nvSpPr>
          <p:cNvPr id="44" name="Rounded Rectangle 43"/>
          <p:cNvSpPr/>
          <p:nvPr/>
        </p:nvSpPr>
        <p:spPr>
          <a:xfrm>
            <a:off x="2825496" y="2651760"/>
            <a:ext cx="2221992" cy="12344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2825496" y="2651760"/>
            <a:ext cx="73152" cy="12344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008376" y="2761488"/>
            <a:ext cx="54864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elvetica Neue"/>
                <a:ea typeface="Helvetica Neue"/>
                <a:cs typeface="Helvetica Neue"/>
              </a:rPr>
              <a:t>07</a:t>
            </a:r>
          </a:p>
        </p:txBody>
      </p:sp>
      <p:sp>
        <p:nvSpPr>
          <p:cNvPr id="47" name="TextBox 46"/>
          <p:cNvSpPr txBox="1"/>
          <p:nvPr/>
        </p:nvSpPr>
        <p:spPr>
          <a:xfrm>
            <a:off x="3694176" y="2761488"/>
            <a:ext cx="1307592"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Server-side GTM</a:t>
            </a:r>
          </a:p>
        </p:txBody>
      </p:sp>
      <p:sp>
        <p:nvSpPr>
          <p:cNvPr id="48" name="TextBox 47"/>
          <p:cNvSpPr txBox="1"/>
          <p:nvPr/>
        </p:nvSpPr>
        <p:spPr>
          <a:xfrm>
            <a:off x="3008376" y="3063240"/>
            <a:ext cx="1947672"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SGTM</a:t>
            </a:r>
          </a:p>
        </p:txBody>
      </p:sp>
      <p:sp>
        <p:nvSpPr>
          <p:cNvPr id="49" name="TextBox 48"/>
          <p:cNvSpPr txBox="1"/>
          <p:nvPr/>
        </p:nvSpPr>
        <p:spPr>
          <a:xfrm>
            <a:off x="3008376" y="3383280"/>
            <a:ext cx="1947672" cy="457200"/>
          </a:xfrm>
          <a:prstGeom prst="rect">
            <a:avLst/>
          </a:prstGeom>
          <a:noFill/>
        </p:spPr>
        <p:txBody>
          <a:bodyPr wrap="square" anchor="t" lIns="0" rIns="0" tIns="0" bIns="0">
            <a:spAutoFit/>
          </a:bodyPr>
          <a:lstStyle/>
          <a:p>
            <a:pPr algn="l">
              <a:lnSpc>
                <a:spcPct val="135000"/>
              </a:lnSpc>
            </a:pPr>
            <a:r>
              <a:rPr sz="900" b="0">
                <a:solidFill>
                  <a:srgbClr val="1A1A1A"/>
                </a:solidFill>
                <a:latin typeface="Hiragino Sans"/>
                <a:ea typeface="Hiragino Sans"/>
                <a:cs typeface="Hiragino Sans"/>
              </a:rPr>
              <a:t>計測タグをサーバー経由で発火する標準構成</a:t>
            </a:r>
          </a:p>
        </p:txBody>
      </p:sp>
      <p:sp>
        <p:nvSpPr>
          <p:cNvPr id="50" name="Rounded Rectangle 49"/>
          <p:cNvSpPr/>
          <p:nvPr/>
        </p:nvSpPr>
        <p:spPr>
          <a:xfrm>
            <a:off x="5102352" y="2651760"/>
            <a:ext cx="2221992" cy="12344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5102352" y="2651760"/>
            <a:ext cx="73152" cy="12344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285232" y="2761488"/>
            <a:ext cx="54864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elvetica Neue"/>
                <a:ea typeface="Helvetica Neue"/>
                <a:cs typeface="Helvetica Neue"/>
              </a:rPr>
              <a:t>08</a:t>
            </a:r>
          </a:p>
        </p:txBody>
      </p:sp>
      <p:sp>
        <p:nvSpPr>
          <p:cNvPr id="53" name="TextBox 52"/>
          <p:cNvSpPr txBox="1"/>
          <p:nvPr/>
        </p:nvSpPr>
        <p:spPr>
          <a:xfrm>
            <a:off x="5971032" y="2761488"/>
            <a:ext cx="1307592"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Media Mix Modeling</a:t>
            </a:r>
          </a:p>
        </p:txBody>
      </p:sp>
      <p:sp>
        <p:nvSpPr>
          <p:cNvPr id="54" name="TextBox 53"/>
          <p:cNvSpPr txBox="1"/>
          <p:nvPr/>
        </p:nvSpPr>
        <p:spPr>
          <a:xfrm>
            <a:off x="5285232" y="3063240"/>
            <a:ext cx="1947672"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MMM</a:t>
            </a:r>
          </a:p>
        </p:txBody>
      </p:sp>
      <p:sp>
        <p:nvSpPr>
          <p:cNvPr id="55" name="TextBox 54"/>
          <p:cNvSpPr txBox="1"/>
          <p:nvPr/>
        </p:nvSpPr>
        <p:spPr>
          <a:xfrm>
            <a:off x="5285232" y="3383280"/>
            <a:ext cx="1947672" cy="457200"/>
          </a:xfrm>
          <a:prstGeom prst="rect">
            <a:avLst/>
          </a:prstGeom>
          <a:noFill/>
        </p:spPr>
        <p:txBody>
          <a:bodyPr wrap="square" anchor="t" lIns="0" rIns="0" tIns="0" bIns="0">
            <a:spAutoFit/>
          </a:bodyPr>
          <a:lstStyle/>
          <a:p>
            <a:pPr algn="l">
              <a:lnSpc>
                <a:spcPct val="135000"/>
              </a:lnSpc>
            </a:pPr>
            <a:r>
              <a:rPr sz="900" b="0">
                <a:solidFill>
                  <a:srgbClr val="1A1A1A"/>
                </a:solidFill>
                <a:latin typeface="Hiragino Sans"/>
                <a:ea typeface="Hiragino Sans"/>
                <a:cs typeface="Hiragino Sans"/>
              </a:rPr>
              <a:t>Robyn / Meridian で民主化された統計モデル</a:t>
            </a:r>
          </a:p>
        </p:txBody>
      </p:sp>
      <p:sp>
        <p:nvSpPr>
          <p:cNvPr id="56" name="Rounded Rectangle 55"/>
          <p:cNvSpPr/>
          <p:nvPr/>
        </p:nvSpPr>
        <p:spPr>
          <a:xfrm>
            <a:off x="7379208" y="2651760"/>
            <a:ext cx="2221992" cy="12344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7379208" y="2651760"/>
            <a:ext cx="73152" cy="12344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562088" y="2761488"/>
            <a:ext cx="54864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elvetica Neue"/>
                <a:ea typeface="Helvetica Neue"/>
                <a:cs typeface="Helvetica Neue"/>
              </a:rPr>
              <a:t>09</a:t>
            </a:r>
          </a:p>
        </p:txBody>
      </p:sp>
      <p:sp>
        <p:nvSpPr>
          <p:cNvPr id="59" name="TextBox 58"/>
          <p:cNvSpPr txBox="1"/>
          <p:nvPr/>
        </p:nvSpPr>
        <p:spPr>
          <a:xfrm>
            <a:off x="8247888" y="2761488"/>
            <a:ext cx="1307592"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2024/05~</a:t>
            </a:r>
          </a:p>
        </p:txBody>
      </p:sp>
      <p:sp>
        <p:nvSpPr>
          <p:cNvPr id="60" name="TextBox 59"/>
          <p:cNvSpPr txBox="1"/>
          <p:nvPr/>
        </p:nvSpPr>
        <p:spPr>
          <a:xfrm>
            <a:off x="7562088" y="3063240"/>
            <a:ext cx="1947672"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AI Overview / GEO</a:t>
            </a:r>
          </a:p>
        </p:txBody>
      </p:sp>
      <p:sp>
        <p:nvSpPr>
          <p:cNvPr id="61" name="TextBox 60"/>
          <p:cNvSpPr txBox="1"/>
          <p:nvPr/>
        </p:nvSpPr>
        <p:spPr>
          <a:xfrm>
            <a:off x="7562088" y="3383280"/>
            <a:ext cx="1947672" cy="457200"/>
          </a:xfrm>
          <a:prstGeom prst="rect">
            <a:avLst/>
          </a:prstGeom>
          <a:noFill/>
        </p:spPr>
        <p:txBody>
          <a:bodyPr wrap="square" anchor="t" lIns="0" rIns="0" tIns="0" bIns="0">
            <a:spAutoFit/>
          </a:bodyPr>
          <a:lstStyle/>
          <a:p>
            <a:pPr algn="l">
              <a:lnSpc>
                <a:spcPct val="135000"/>
              </a:lnSpc>
            </a:pPr>
            <a:r>
              <a:rPr sz="900" b="0">
                <a:solidFill>
                  <a:srgbClr val="1A1A1A"/>
                </a:solidFill>
                <a:latin typeface="Hiragino Sans"/>
                <a:ea typeface="Hiragino Sans"/>
                <a:cs typeface="Hiragino Sans"/>
              </a:rPr>
              <a:t>Google検索の AI 要約表示 → LLM経由流入の新潮流</a:t>
            </a:r>
          </a:p>
        </p:txBody>
      </p:sp>
      <p:sp>
        <p:nvSpPr>
          <p:cNvPr id="62" name="Rounded Rectangle 61"/>
          <p:cNvSpPr/>
          <p:nvPr/>
        </p:nvSpPr>
        <p:spPr>
          <a:xfrm>
            <a:off x="9656064" y="2651760"/>
            <a:ext cx="2221992" cy="12344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9656064" y="2651760"/>
            <a:ext cx="73152" cy="12344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838944" y="2761488"/>
            <a:ext cx="54864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elvetica Neue"/>
                <a:ea typeface="Helvetica Neue"/>
                <a:cs typeface="Helvetica Neue"/>
              </a:rPr>
              <a:t>10</a:t>
            </a:r>
          </a:p>
        </p:txBody>
      </p:sp>
      <p:sp>
        <p:nvSpPr>
          <p:cNvPr id="65" name="TextBox 64"/>
          <p:cNvSpPr txBox="1"/>
          <p:nvPr/>
        </p:nvSpPr>
        <p:spPr>
          <a:xfrm>
            <a:off x="10524744" y="2761488"/>
            <a:ext cx="1307592"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2025~</a:t>
            </a:r>
          </a:p>
        </p:txBody>
      </p:sp>
      <p:sp>
        <p:nvSpPr>
          <p:cNvPr id="66" name="TextBox 65"/>
          <p:cNvSpPr txBox="1"/>
          <p:nvPr/>
        </p:nvSpPr>
        <p:spPr>
          <a:xfrm>
            <a:off x="9838944" y="3063240"/>
            <a:ext cx="1947672"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Agent型広告運用</a:t>
            </a:r>
          </a:p>
        </p:txBody>
      </p:sp>
      <p:sp>
        <p:nvSpPr>
          <p:cNvPr id="67" name="TextBox 66"/>
          <p:cNvSpPr txBox="1"/>
          <p:nvPr/>
        </p:nvSpPr>
        <p:spPr>
          <a:xfrm>
            <a:off x="9838944" y="3383280"/>
            <a:ext cx="1947672" cy="457200"/>
          </a:xfrm>
          <a:prstGeom prst="rect">
            <a:avLst/>
          </a:prstGeom>
          <a:noFill/>
        </p:spPr>
        <p:txBody>
          <a:bodyPr wrap="square" anchor="t" lIns="0" rIns="0" tIns="0" bIns="0">
            <a:spAutoFit/>
          </a:bodyPr>
          <a:lstStyle/>
          <a:p>
            <a:pPr algn="l">
              <a:lnSpc>
                <a:spcPct val="135000"/>
              </a:lnSpc>
            </a:pPr>
            <a:r>
              <a:rPr sz="900" b="0">
                <a:solidFill>
                  <a:srgbClr val="1A1A1A"/>
                </a:solidFill>
                <a:latin typeface="Hiragino Sans"/>
                <a:ea typeface="Hiragino Sans"/>
                <a:cs typeface="Hiragino Sans"/>
              </a:rPr>
              <a:t>Claude Computer Use / OpenAI Operator で管理画面を操作</a:t>
            </a:r>
          </a:p>
        </p:txBody>
      </p:sp>
      <p:sp>
        <p:nvSpPr>
          <p:cNvPr id="68" name="TextBox 67"/>
          <p:cNvSpPr txBox="1"/>
          <p:nvPr/>
        </p:nvSpPr>
        <p:spPr>
          <a:xfrm>
            <a:off x="548640" y="6126480"/>
            <a:ext cx="11109960" cy="274320"/>
          </a:xfrm>
          <a:prstGeom prst="rect">
            <a:avLst/>
          </a:prstGeom>
          <a:noFill/>
        </p:spPr>
        <p:txBody>
          <a:bodyPr wrap="square" anchor="t" lIns="0" rIns="0" tIns="0" bIns="0">
            <a:spAutoFit/>
          </a:bodyPr>
          <a:lstStyle/>
          <a:p>
            <a:pPr algn="l">
              <a:lnSpc>
                <a:spcPct val="115000"/>
              </a:lnSpc>
            </a:pPr>
            <a:r>
              <a:rPr sz="1000" b="0">
                <a:solidFill>
                  <a:srgbClr val="5A6A80"/>
                </a:solidFill>
                <a:latin typeface="Hiragino Sans"/>
                <a:ea typeface="Hiragino Sans"/>
                <a:cs typeface="Hiragino Sans"/>
              </a:rPr>
              <a:t>各キーワードの深掘り : Part 3 (媒体固有) / Part 4 (計測) / Part 5 (AI活用) / 付録の用語集</a:t>
            </a:r>
          </a:p>
        </p:txBody>
      </p:sp>
      <p:sp>
        <p:nvSpPr>
          <p:cNvPr id="69" name="TextBox 68"/>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副業復帰の最短ルート</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Part 順ではなく効率順でなぞる</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P09 / 250</a:t>
            </a:r>
          </a:p>
        </p:txBody>
      </p:sp>
      <p:sp>
        <p:nvSpPr>
          <p:cNvPr id="8" name="Rounded Rectangle 7"/>
          <p:cNvSpPr/>
          <p:nvPr/>
        </p:nvSpPr>
        <p:spPr>
          <a:xfrm>
            <a:off x="205740" y="1463040"/>
            <a:ext cx="2103120" cy="36576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05740" y="1463040"/>
            <a:ext cx="2103120" cy="64008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8620" y="1645920"/>
            <a:ext cx="1737360" cy="320040"/>
          </a:xfrm>
          <a:prstGeom prst="rect">
            <a:avLst/>
          </a:prstGeom>
          <a:noFill/>
        </p:spPr>
        <p:txBody>
          <a:bodyPr wrap="square" anchor="t" lIns="0" rIns="0" tIns="0" bIns="0">
            <a:spAutoFit/>
          </a:bodyPr>
          <a:lstStyle/>
          <a:p>
            <a:pPr algn="ctr">
              <a:lnSpc>
                <a:spcPct val="115000"/>
              </a:lnSpc>
            </a:pPr>
            <a:r>
              <a:rPr sz="1100" b="1">
                <a:solidFill>
                  <a:srgbClr val="E87722"/>
                </a:solidFill>
                <a:latin typeface="Hiragino Sans"/>
                <a:ea typeface="Hiragino Sans"/>
                <a:cs typeface="Hiragino Sans"/>
              </a:rPr>
              <a:t>STEP 1</a:t>
            </a:r>
          </a:p>
        </p:txBody>
      </p:sp>
      <p:sp>
        <p:nvSpPr>
          <p:cNvPr id="11" name="TextBox 10"/>
          <p:cNvSpPr txBox="1"/>
          <p:nvPr/>
        </p:nvSpPr>
        <p:spPr>
          <a:xfrm>
            <a:off x="388620" y="2240280"/>
            <a:ext cx="1737360" cy="320040"/>
          </a:xfrm>
          <a:prstGeom prst="rect">
            <a:avLst/>
          </a:prstGeom>
          <a:noFill/>
        </p:spPr>
        <p:txBody>
          <a:bodyPr wrap="square" anchor="t" lIns="0" rIns="0" tIns="0" bIns="0">
            <a:spAutoFit/>
          </a:bodyPr>
          <a:lstStyle/>
          <a:p>
            <a:pPr algn="ctr">
              <a:lnSpc>
                <a:spcPct val="115000"/>
              </a:lnSpc>
            </a:pPr>
            <a:r>
              <a:rPr sz="1000" b="1">
                <a:solidFill>
                  <a:srgbClr val="B85E1A"/>
                </a:solidFill>
                <a:latin typeface="Hiragino Sans"/>
                <a:ea typeface="Hiragino Sans"/>
                <a:cs typeface="Hiragino Sans"/>
              </a:rPr>
              <a:t>Part 6</a:t>
            </a:r>
          </a:p>
        </p:txBody>
      </p:sp>
      <p:sp>
        <p:nvSpPr>
          <p:cNvPr id="12" name="TextBox 11"/>
          <p:cNvSpPr txBox="1"/>
          <p:nvPr/>
        </p:nvSpPr>
        <p:spPr>
          <a:xfrm>
            <a:off x="388620" y="2560320"/>
            <a:ext cx="1737360" cy="822960"/>
          </a:xfrm>
          <a:prstGeom prst="rect">
            <a:avLst/>
          </a:prstGeom>
          <a:noFill/>
        </p:spPr>
        <p:txBody>
          <a:bodyPr wrap="square" anchor="t" lIns="0" rIns="0" tIns="0" bIns="0">
            <a:spAutoFit/>
          </a:bodyPr>
          <a:lstStyle/>
          <a:p>
            <a:pPr algn="ctr">
              <a:lnSpc>
                <a:spcPct val="130000"/>
              </a:lnSpc>
            </a:pPr>
            <a:r>
              <a:rPr sz="1400" b="1">
                <a:solidFill>
                  <a:srgbClr val="0F2A4F"/>
                </a:solidFill>
                <a:latin typeface="Hiragino Sans"/>
                <a:ea typeface="Hiragino Sans"/>
                <a:cs typeface="Hiragino Sans"/>
              </a:rPr>
              <a:t>鉄板運用メソッド</a:t>
            </a:r>
          </a:p>
          <a:p>
            <a:pPr algn="ctr">
              <a:lnSpc>
                <a:spcPct val="130000"/>
              </a:lnSpc>
            </a:pPr>
            <a:r>
              <a:rPr sz="1400" b="1">
                <a:solidFill>
                  <a:srgbClr val="0F2A4F"/>
                </a:solidFill>
                <a:latin typeface="Hiragino Sans"/>
                <a:ea typeface="Hiragino Sans"/>
                <a:cs typeface="Hiragino Sans"/>
              </a:rPr>
              <a:t>2026年版</a:t>
            </a:r>
          </a:p>
        </p:txBody>
      </p:sp>
      <p:sp>
        <p:nvSpPr>
          <p:cNvPr id="13" name="Rectangle 12"/>
          <p:cNvSpPr/>
          <p:nvPr/>
        </p:nvSpPr>
        <p:spPr>
          <a:xfrm>
            <a:off x="571500" y="3383280"/>
            <a:ext cx="137160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8620" y="3474720"/>
            <a:ext cx="1737360" cy="320040"/>
          </a:xfrm>
          <a:prstGeom prst="rect">
            <a:avLst/>
          </a:prstGeom>
          <a:noFill/>
        </p:spPr>
        <p:txBody>
          <a:bodyPr wrap="square" anchor="t" lIns="0" rIns="0" tIns="0" bIns="0">
            <a:spAutoFit/>
          </a:bodyPr>
          <a:lstStyle/>
          <a:p>
            <a:pPr algn="ctr">
              <a:lnSpc>
                <a:spcPct val="115000"/>
              </a:lnSpc>
            </a:pPr>
            <a:r>
              <a:rPr sz="1100" b="1">
                <a:solidFill>
                  <a:srgbClr val="0F2A4F"/>
                </a:solidFill>
                <a:latin typeface="Hiragino Sans"/>
                <a:ea typeface="Hiragino Sans"/>
                <a:cs typeface="Hiragino Sans"/>
              </a:rPr>
              <a:t>15p / 30分</a:t>
            </a:r>
          </a:p>
        </p:txBody>
      </p:sp>
      <p:sp>
        <p:nvSpPr>
          <p:cNvPr id="15" name="TextBox 14"/>
          <p:cNvSpPr txBox="1"/>
          <p:nvPr/>
        </p:nvSpPr>
        <p:spPr>
          <a:xfrm>
            <a:off x="388620" y="3931920"/>
            <a:ext cx="1737360" cy="1097280"/>
          </a:xfrm>
          <a:prstGeom prst="rect">
            <a:avLst/>
          </a:prstGeom>
          <a:noFill/>
        </p:spPr>
        <p:txBody>
          <a:bodyPr wrap="square" anchor="t" lIns="0" rIns="0" tIns="0" bIns="0">
            <a:spAutoFit/>
          </a:bodyPr>
          <a:lstStyle/>
          <a:p>
            <a:pPr algn="ctr">
              <a:lnSpc>
                <a:spcPct val="135000"/>
              </a:lnSpc>
            </a:pPr>
            <a:r>
              <a:rPr sz="1000" b="0">
                <a:solidFill>
                  <a:srgbClr val="1A1A1A"/>
                </a:solidFill>
                <a:latin typeface="Hiragino Sans"/>
                <a:ea typeface="Hiragino Sans"/>
                <a:cs typeface="Hiragino Sans"/>
              </a:rPr>
              <a:t>現代の鉄板構成・入札戦略・</a:t>
            </a:r>
          </a:p>
          <a:p>
            <a:pPr algn="ctr">
              <a:lnSpc>
                <a:spcPct val="135000"/>
              </a:lnSpc>
            </a:pPr>
            <a:r>
              <a:rPr sz="1000" b="0">
                <a:solidFill>
                  <a:srgbClr val="1A1A1A"/>
                </a:solidFill>
                <a:latin typeface="Hiragino Sans"/>
                <a:ea typeface="Hiragino Sans"/>
                <a:cs typeface="Hiragino Sans"/>
              </a:rPr>
              <a:t>Learning Phase 突破手順</a:t>
            </a:r>
          </a:p>
        </p:txBody>
      </p:sp>
      <p:sp>
        <p:nvSpPr>
          <p:cNvPr id="16" name="Right Arrow 15"/>
          <p:cNvSpPr/>
          <p:nvPr/>
        </p:nvSpPr>
        <p:spPr>
          <a:xfrm>
            <a:off x="2400300" y="3200400"/>
            <a:ext cx="228600" cy="320040"/>
          </a:xfrm>
          <a:prstGeom prst="rightArrow">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2628900" y="1463040"/>
            <a:ext cx="2103120" cy="36576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2628900" y="1463040"/>
            <a:ext cx="2103120" cy="64008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811780" y="1645920"/>
            <a:ext cx="1737360" cy="320040"/>
          </a:xfrm>
          <a:prstGeom prst="rect">
            <a:avLst/>
          </a:prstGeom>
          <a:noFill/>
        </p:spPr>
        <p:txBody>
          <a:bodyPr wrap="square" anchor="t" lIns="0" rIns="0" tIns="0" bIns="0">
            <a:spAutoFit/>
          </a:bodyPr>
          <a:lstStyle/>
          <a:p>
            <a:pPr algn="ctr">
              <a:lnSpc>
                <a:spcPct val="115000"/>
              </a:lnSpc>
            </a:pPr>
            <a:r>
              <a:rPr sz="1100" b="1">
                <a:solidFill>
                  <a:srgbClr val="E87722"/>
                </a:solidFill>
                <a:latin typeface="Hiragino Sans"/>
                <a:ea typeface="Hiragino Sans"/>
                <a:cs typeface="Hiragino Sans"/>
              </a:rPr>
              <a:t>STEP 2</a:t>
            </a:r>
          </a:p>
        </p:txBody>
      </p:sp>
      <p:sp>
        <p:nvSpPr>
          <p:cNvPr id="20" name="TextBox 19"/>
          <p:cNvSpPr txBox="1"/>
          <p:nvPr/>
        </p:nvSpPr>
        <p:spPr>
          <a:xfrm>
            <a:off x="2811780" y="2240280"/>
            <a:ext cx="1737360" cy="320040"/>
          </a:xfrm>
          <a:prstGeom prst="rect">
            <a:avLst/>
          </a:prstGeom>
          <a:noFill/>
        </p:spPr>
        <p:txBody>
          <a:bodyPr wrap="square" anchor="t" lIns="0" rIns="0" tIns="0" bIns="0">
            <a:spAutoFit/>
          </a:bodyPr>
          <a:lstStyle/>
          <a:p>
            <a:pPr algn="ctr">
              <a:lnSpc>
                <a:spcPct val="115000"/>
              </a:lnSpc>
            </a:pPr>
            <a:r>
              <a:rPr sz="1000" b="1">
                <a:solidFill>
                  <a:srgbClr val="B85E1A"/>
                </a:solidFill>
                <a:latin typeface="Hiragino Sans"/>
                <a:ea typeface="Hiragino Sans"/>
                <a:cs typeface="Hiragino Sans"/>
              </a:rPr>
              <a:t>Part 3-1,2</a:t>
            </a:r>
          </a:p>
        </p:txBody>
      </p:sp>
      <p:sp>
        <p:nvSpPr>
          <p:cNvPr id="21" name="TextBox 20"/>
          <p:cNvSpPr txBox="1"/>
          <p:nvPr/>
        </p:nvSpPr>
        <p:spPr>
          <a:xfrm>
            <a:off x="2811780" y="2560320"/>
            <a:ext cx="1737360" cy="822960"/>
          </a:xfrm>
          <a:prstGeom prst="rect">
            <a:avLst/>
          </a:prstGeom>
          <a:noFill/>
        </p:spPr>
        <p:txBody>
          <a:bodyPr wrap="square" anchor="t" lIns="0" rIns="0" tIns="0" bIns="0">
            <a:spAutoFit/>
          </a:bodyPr>
          <a:lstStyle/>
          <a:p>
            <a:pPr algn="ctr">
              <a:lnSpc>
                <a:spcPct val="130000"/>
              </a:lnSpc>
            </a:pPr>
            <a:r>
              <a:rPr sz="1400" b="1">
                <a:solidFill>
                  <a:srgbClr val="0F2A4F"/>
                </a:solidFill>
                <a:latin typeface="Hiragino Sans"/>
                <a:ea typeface="Hiragino Sans"/>
                <a:cs typeface="Hiragino Sans"/>
              </a:rPr>
              <a:t>Google + Meta</a:t>
            </a:r>
          </a:p>
          <a:p>
            <a:pPr algn="ctr">
              <a:lnSpc>
                <a:spcPct val="130000"/>
              </a:lnSpc>
            </a:pPr>
            <a:r>
              <a:rPr sz="1400" b="1">
                <a:solidFill>
                  <a:srgbClr val="0F2A4F"/>
                </a:solidFill>
                <a:latin typeface="Hiragino Sans"/>
                <a:ea typeface="Hiragino Sans"/>
                <a:cs typeface="Hiragino Sans"/>
              </a:rPr>
              <a:t>重点読み</a:t>
            </a:r>
          </a:p>
        </p:txBody>
      </p:sp>
      <p:sp>
        <p:nvSpPr>
          <p:cNvPr id="22" name="Rectangle 21"/>
          <p:cNvSpPr/>
          <p:nvPr/>
        </p:nvSpPr>
        <p:spPr>
          <a:xfrm>
            <a:off x="2994660" y="3383280"/>
            <a:ext cx="137160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811780" y="3474720"/>
            <a:ext cx="1737360" cy="320040"/>
          </a:xfrm>
          <a:prstGeom prst="rect">
            <a:avLst/>
          </a:prstGeom>
          <a:noFill/>
        </p:spPr>
        <p:txBody>
          <a:bodyPr wrap="square" anchor="t" lIns="0" rIns="0" tIns="0" bIns="0">
            <a:spAutoFit/>
          </a:bodyPr>
          <a:lstStyle/>
          <a:p>
            <a:pPr algn="ctr">
              <a:lnSpc>
                <a:spcPct val="115000"/>
              </a:lnSpc>
            </a:pPr>
            <a:r>
              <a:rPr sz="1100" b="1">
                <a:solidFill>
                  <a:srgbClr val="0F2A4F"/>
                </a:solidFill>
                <a:latin typeface="Hiragino Sans"/>
                <a:ea typeface="Hiragino Sans"/>
                <a:cs typeface="Hiragino Sans"/>
              </a:rPr>
              <a:t>47p / 60分</a:t>
            </a:r>
          </a:p>
        </p:txBody>
      </p:sp>
      <p:sp>
        <p:nvSpPr>
          <p:cNvPr id="24" name="TextBox 23"/>
          <p:cNvSpPr txBox="1"/>
          <p:nvPr/>
        </p:nvSpPr>
        <p:spPr>
          <a:xfrm>
            <a:off x="2811780" y="3931920"/>
            <a:ext cx="1737360" cy="1097280"/>
          </a:xfrm>
          <a:prstGeom prst="rect">
            <a:avLst/>
          </a:prstGeom>
          <a:noFill/>
        </p:spPr>
        <p:txBody>
          <a:bodyPr wrap="square" anchor="t" lIns="0" rIns="0" tIns="0" bIns="0">
            <a:spAutoFit/>
          </a:bodyPr>
          <a:lstStyle/>
          <a:p>
            <a:pPr algn="ctr">
              <a:lnSpc>
                <a:spcPct val="135000"/>
              </a:lnSpc>
            </a:pPr>
            <a:r>
              <a:rPr sz="1000" b="0">
                <a:solidFill>
                  <a:srgbClr val="1A1A1A"/>
                </a:solidFill>
                <a:latin typeface="Hiragino Sans"/>
                <a:ea typeface="Hiragino Sans"/>
                <a:cs typeface="Hiragino Sans"/>
              </a:rPr>
              <a:t>PMax / Advantage+ の</a:t>
            </a:r>
          </a:p>
          <a:p>
            <a:pPr algn="ctr">
              <a:lnSpc>
                <a:spcPct val="135000"/>
              </a:lnSpc>
            </a:pPr>
            <a:r>
              <a:rPr sz="1000" b="0">
                <a:solidFill>
                  <a:srgbClr val="1A1A1A"/>
                </a:solidFill>
                <a:latin typeface="Hiragino Sans"/>
                <a:ea typeface="Hiragino Sans"/>
                <a:cs typeface="Hiragino Sans"/>
              </a:rPr>
              <a:t>統制術を集中インストール</a:t>
            </a:r>
          </a:p>
        </p:txBody>
      </p:sp>
      <p:sp>
        <p:nvSpPr>
          <p:cNvPr id="25" name="Right Arrow 24"/>
          <p:cNvSpPr/>
          <p:nvPr/>
        </p:nvSpPr>
        <p:spPr>
          <a:xfrm>
            <a:off x="4823460" y="3200400"/>
            <a:ext cx="228600" cy="320040"/>
          </a:xfrm>
          <a:prstGeom prst="rightArrow">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5052060" y="1463040"/>
            <a:ext cx="2103120" cy="36576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5052060" y="1463040"/>
            <a:ext cx="2103120" cy="64008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234940" y="1645920"/>
            <a:ext cx="1737360" cy="320040"/>
          </a:xfrm>
          <a:prstGeom prst="rect">
            <a:avLst/>
          </a:prstGeom>
          <a:noFill/>
        </p:spPr>
        <p:txBody>
          <a:bodyPr wrap="square" anchor="t" lIns="0" rIns="0" tIns="0" bIns="0">
            <a:spAutoFit/>
          </a:bodyPr>
          <a:lstStyle/>
          <a:p>
            <a:pPr algn="ctr">
              <a:lnSpc>
                <a:spcPct val="115000"/>
              </a:lnSpc>
            </a:pPr>
            <a:r>
              <a:rPr sz="1100" b="1">
                <a:solidFill>
                  <a:srgbClr val="E87722"/>
                </a:solidFill>
                <a:latin typeface="Hiragino Sans"/>
                <a:ea typeface="Hiragino Sans"/>
                <a:cs typeface="Hiragino Sans"/>
              </a:rPr>
              <a:t>STEP 3</a:t>
            </a:r>
          </a:p>
        </p:txBody>
      </p:sp>
      <p:sp>
        <p:nvSpPr>
          <p:cNvPr id="29" name="TextBox 28"/>
          <p:cNvSpPr txBox="1"/>
          <p:nvPr/>
        </p:nvSpPr>
        <p:spPr>
          <a:xfrm>
            <a:off x="5234940" y="2240280"/>
            <a:ext cx="1737360" cy="320040"/>
          </a:xfrm>
          <a:prstGeom prst="rect">
            <a:avLst/>
          </a:prstGeom>
          <a:noFill/>
        </p:spPr>
        <p:txBody>
          <a:bodyPr wrap="square" anchor="t" lIns="0" rIns="0" tIns="0" bIns="0">
            <a:spAutoFit/>
          </a:bodyPr>
          <a:lstStyle/>
          <a:p>
            <a:pPr algn="ctr">
              <a:lnSpc>
                <a:spcPct val="115000"/>
              </a:lnSpc>
            </a:pPr>
            <a:r>
              <a:rPr sz="1000" b="1">
                <a:solidFill>
                  <a:srgbClr val="B85E1A"/>
                </a:solidFill>
                <a:latin typeface="Hiragino Sans"/>
                <a:ea typeface="Hiragino Sans"/>
                <a:cs typeface="Hiragino Sans"/>
              </a:rPr>
              <a:t>Part 4</a:t>
            </a:r>
          </a:p>
        </p:txBody>
      </p:sp>
      <p:sp>
        <p:nvSpPr>
          <p:cNvPr id="30" name="TextBox 29"/>
          <p:cNvSpPr txBox="1"/>
          <p:nvPr/>
        </p:nvSpPr>
        <p:spPr>
          <a:xfrm>
            <a:off x="5234940" y="2560320"/>
            <a:ext cx="1737360" cy="822960"/>
          </a:xfrm>
          <a:prstGeom prst="rect">
            <a:avLst/>
          </a:prstGeom>
          <a:noFill/>
        </p:spPr>
        <p:txBody>
          <a:bodyPr wrap="square" anchor="t" lIns="0" rIns="0" tIns="0" bIns="0">
            <a:spAutoFit/>
          </a:bodyPr>
          <a:lstStyle/>
          <a:p>
            <a:pPr algn="ctr">
              <a:lnSpc>
                <a:spcPct val="130000"/>
              </a:lnSpc>
            </a:pPr>
            <a:r>
              <a:rPr sz="1400" b="1">
                <a:solidFill>
                  <a:srgbClr val="0F2A4F"/>
                </a:solidFill>
                <a:latin typeface="Hiragino Sans"/>
                <a:ea typeface="Hiragino Sans"/>
                <a:cs typeface="Hiragino Sans"/>
              </a:rPr>
              <a:t>計測・データ</a:t>
            </a:r>
          </a:p>
          <a:p>
            <a:pPr algn="ctr">
              <a:lnSpc>
                <a:spcPct val="130000"/>
              </a:lnSpc>
            </a:pPr>
            <a:r>
              <a:rPr sz="1400" b="1">
                <a:solidFill>
                  <a:srgbClr val="0F2A4F"/>
                </a:solidFill>
                <a:latin typeface="Hiragino Sans"/>
                <a:ea typeface="Hiragino Sans"/>
                <a:cs typeface="Hiragino Sans"/>
              </a:rPr>
              <a:t>基盤</a:t>
            </a:r>
          </a:p>
        </p:txBody>
      </p:sp>
      <p:sp>
        <p:nvSpPr>
          <p:cNvPr id="31" name="Rectangle 30"/>
          <p:cNvSpPr/>
          <p:nvPr/>
        </p:nvSpPr>
        <p:spPr>
          <a:xfrm>
            <a:off x="5417820" y="3383280"/>
            <a:ext cx="137160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234940" y="3474720"/>
            <a:ext cx="1737360" cy="320040"/>
          </a:xfrm>
          <a:prstGeom prst="rect">
            <a:avLst/>
          </a:prstGeom>
          <a:noFill/>
        </p:spPr>
        <p:txBody>
          <a:bodyPr wrap="square" anchor="t" lIns="0" rIns="0" tIns="0" bIns="0">
            <a:spAutoFit/>
          </a:bodyPr>
          <a:lstStyle/>
          <a:p>
            <a:pPr algn="ctr">
              <a:lnSpc>
                <a:spcPct val="115000"/>
              </a:lnSpc>
            </a:pPr>
            <a:r>
              <a:rPr sz="1100" b="1">
                <a:solidFill>
                  <a:srgbClr val="0F2A4F"/>
                </a:solidFill>
                <a:latin typeface="Hiragino Sans"/>
                <a:ea typeface="Hiragino Sans"/>
                <a:cs typeface="Hiragino Sans"/>
              </a:rPr>
              <a:t>25p / 40分</a:t>
            </a:r>
          </a:p>
        </p:txBody>
      </p:sp>
      <p:sp>
        <p:nvSpPr>
          <p:cNvPr id="33" name="TextBox 32"/>
          <p:cNvSpPr txBox="1"/>
          <p:nvPr/>
        </p:nvSpPr>
        <p:spPr>
          <a:xfrm>
            <a:off x="5234940" y="3931920"/>
            <a:ext cx="1737360" cy="1097280"/>
          </a:xfrm>
          <a:prstGeom prst="rect">
            <a:avLst/>
          </a:prstGeom>
          <a:noFill/>
        </p:spPr>
        <p:txBody>
          <a:bodyPr wrap="square" anchor="t" lIns="0" rIns="0" tIns="0" bIns="0">
            <a:spAutoFit/>
          </a:bodyPr>
          <a:lstStyle/>
          <a:p>
            <a:pPr algn="ctr">
              <a:lnSpc>
                <a:spcPct val="135000"/>
              </a:lnSpc>
            </a:pPr>
            <a:r>
              <a:rPr sz="1000" b="0">
                <a:solidFill>
                  <a:srgbClr val="1A1A1A"/>
                </a:solidFill>
                <a:latin typeface="Hiragino Sans"/>
                <a:ea typeface="Hiragino Sans"/>
                <a:cs typeface="Hiragino Sans"/>
              </a:rPr>
              <a:t>SGTM / CAPI /</a:t>
            </a:r>
          </a:p>
          <a:p>
            <a:pPr algn="ctr">
              <a:lnSpc>
                <a:spcPct val="135000"/>
              </a:lnSpc>
            </a:pPr>
            <a:r>
              <a:rPr sz="1000" b="0">
                <a:solidFill>
                  <a:srgbClr val="1A1A1A"/>
                </a:solidFill>
                <a:latin typeface="Hiragino Sans"/>
                <a:ea typeface="Hiragino Sans"/>
                <a:cs typeface="Hiragino Sans"/>
              </a:rPr>
              <a:t>Consent Mode v2 押さえる</a:t>
            </a:r>
          </a:p>
        </p:txBody>
      </p:sp>
      <p:sp>
        <p:nvSpPr>
          <p:cNvPr id="34" name="Right Arrow 33"/>
          <p:cNvSpPr/>
          <p:nvPr/>
        </p:nvSpPr>
        <p:spPr>
          <a:xfrm>
            <a:off x="7246620" y="3200400"/>
            <a:ext cx="228600" cy="320040"/>
          </a:xfrm>
          <a:prstGeom prst="rightArrow">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7475220" y="1463040"/>
            <a:ext cx="2103120" cy="36576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7475220" y="1463040"/>
            <a:ext cx="2103120" cy="64008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658100" y="1645920"/>
            <a:ext cx="1737360" cy="320040"/>
          </a:xfrm>
          <a:prstGeom prst="rect">
            <a:avLst/>
          </a:prstGeom>
          <a:noFill/>
        </p:spPr>
        <p:txBody>
          <a:bodyPr wrap="square" anchor="t" lIns="0" rIns="0" tIns="0" bIns="0">
            <a:spAutoFit/>
          </a:bodyPr>
          <a:lstStyle/>
          <a:p>
            <a:pPr algn="ctr">
              <a:lnSpc>
                <a:spcPct val="115000"/>
              </a:lnSpc>
            </a:pPr>
            <a:r>
              <a:rPr sz="1100" b="1">
                <a:solidFill>
                  <a:srgbClr val="E87722"/>
                </a:solidFill>
                <a:latin typeface="Hiragino Sans"/>
                <a:ea typeface="Hiragino Sans"/>
                <a:cs typeface="Hiragino Sans"/>
              </a:rPr>
              <a:t>STEP 4</a:t>
            </a:r>
          </a:p>
        </p:txBody>
      </p:sp>
      <p:sp>
        <p:nvSpPr>
          <p:cNvPr id="38" name="TextBox 37"/>
          <p:cNvSpPr txBox="1"/>
          <p:nvPr/>
        </p:nvSpPr>
        <p:spPr>
          <a:xfrm>
            <a:off x="7658100" y="2240280"/>
            <a:ext cx="1737360" cy="320040"/>
          </a:xfrm>
          <a:prstGeom prst="rect">
            <a:avLst/>
          </a:prstGeom>
          <a:noFill/>
        </p:spPr>
        <p:txBody>
          <a:bodyPr wrap="square" anchor="t" lIns="0" rIns="0" tIns="0" bIns="0">
            <a:spAutoFit/>
          </a:bodyPr>
          <a:lstStyle/>
          <a:p>
            <a:pPr algn="ctr">
              <a:lnSpc>
                <a:spcPct val="115000"/>
              </a:lnSpc>
            </a:pPr>
            <a:r>
              <a:rPr sz="1000" b="1">
                <a:solidFill>
                  <a:srgbClr val="B85E1A"/>
                </a:solidFill>
                <a:latin typeface="Hiragino Sans"/>
                <a:ea typeface="Hiragino Sans"/>
                <a:cs typeface="Hiragino Sans"/>
              </a:rPr>
              <a:t>Part 5</a:t>
            </a:r>
          </a:p>
        </p:txBody>
      </p:sp>
      <p:sp>
        <p:nvSpPr>
          <p:cNvPr id="39" name="TextBox 38"/>
          <p:cNvSpPr txBox="1"/>
          <p:nvPr/>
        </p:nvSpPr>
        <p:spPr>
          <a:xfrm>
            <a:off x="7658100" y="2560320"/>
            <a:ext cx="1737360" cy="822960"/>
          </a:xfrm>
          <a:prstGeom prst="rect">
            <a:avLst/>
          </a:prstGeom>
          <a:noFill/>
        </p:spPr>
        <p:txBody>
          <a:bodyPr wrap="square" anchor="t" lIns="0" rIns="0" tIns="0" bIns="0">
            <a:spAutoFit/>
          </a:bodyPr>
          <a:lstStyle/>
          <a:p>
            <a:pPr algn="ctr">
              <a:lnSpc>
                <a:spcPct val="130000"/>
              </a:lnSpc>
            </a:pPr>
            <a:r>
              <a:rPr sz="1400" b="1">
                <a:solidFill>
                  <a:srgbClr val="0F2A4F"/>
                </a:solidFill>
                <a:latin typeface="Hiragino Sans"/>
                <a:ea typeface="Hiragino Sans"/>
                <a:cs typeface="Hiragino Sans"/>
              </a:rPr>
              <a:t>AI活用</a:t>
            </a:r>
          </a:p>
          <a:p>
            <a:pPr algn="ctr">
              <a:lnSpc>
                <a:spcPct val="130000"/>
              </a:lnSpc>
            </a:pPr>
            <a:r>
              <a:rPr sz="1400" b="1">
                <a:solidFill>
                  <a:srgbClr val="0F2A4F"/>
                </a:solidFill>
                <a:latin typeface="Hiragino Sans"/>
                <a:ea typeface="Hiragino Sans"/>
                <a:cs typeface="Hiragino Sans"/>
              </a:rPr>
              <a:t>クリエイティブ</a:t>
            </a:r>
          </a:p>
        </p:txBody>
      </p:sp>
      <p:sp>
        <p:nvSpPr>
          <p:cNvPr id="40" name="Rectangle 39"/>
          <p:cNvSpPr/>
          <p:nvPr/>
        </p:nvSpPr>
        <p:spPr>
          <a:xfrm>
            <a:off x="7840980" y="3383280"/>
            <a:ext cx="137160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658100" y="3474720"/>
            <a:ext cx="1737360" cy="320040"/>
          </a:xfrm>
          <a:prstGeom prst="rect">
            <a:avLst/>
          </a:prstGeom>
          <a:noFill/>
        </p:spPr>
        <p:txBody>
          <a:bodyPr wrap="square" anchor="t" lIns="0" rIns="0" tIns="0" bIns="0">
            <a:spAutoFit/>
          </a:bodyPr>
          <a:lstStyle/>
          <a:p>
            <a:pPr algn="ctr">
              <a:lnSpc>
                <a:spcPct val="115000"/>
              </a:lnSpc>
            </a:pPr>
            <a:r>
              <a:rPr sz="1100" b="1">
                <a:solidFill>
                  <a:srgbClr val="0F2A4F"/>
                </a:solidFill>
                <a:latin typeface="Hiragino Sans"/>
                <a:ea typeface="Hiragino Sans"/>
                <a:cs typeface="Hiragino Sans"/>
              </a:rPr>
              <a:t>40p / 60分</a:t>
            </a:r>
          </a:p>
        </p:txBody>
      </p:sp>
      <p:sp>
        <p:nvSpPr>
          <p:cNvPr id="42" name="TextBox 41"/>
          <p:cNvSpPr txBox="1"/>
          <p:nvPr/>
        </p:nvSpPr>
        <p:spPr>
          <a:xfrm>
            <a:off x="7658100" y="3931920"/>
            <a:ext cx="1737360" cy="1097280"/>
          </a:xfrm>
          <a:prstGeom prst="rect">
            <a:avLst/>
          </a:prstGeom>
          <a:noFill/>
        </p:spPr>
        <p:txBody>
          <a:bodyPr wrap="square" anchor="t" lIns="0" rIns="0" tIns="0" bIns="0">
            <a:spAutoFit/>
          </a:bodyPr>
          <a:lstStyle/>
          <a:p>
            <a:pPr algn="ctr">
              <a:lnSpc>
                <a:spcPct val="135000"/>
              </a:lnSpc>
            </a:pPr>
            <a:r>
              <a:rPr sz="1000" b="0">
                <a:solidFill>
                  <a:srgbClr val="1A1A1A"/>
                </a:solidFill>
                <a:latin typeface="Hiragino Sans"/>
                <a:ea typeface="Hiragino Sans"/>
                <a:cs typeface="Hiragino Sans"/>
              </a:rPr>
              <a:t>生成AIツール3つ決める</a:t>
            </a:r>
          </a:p>
          <a:p>
            <a:pPr algn="ctr">
              <a:lnSpc>
                <a:spcPct val="135000"/>
              </a:lnSpc>
            </a:pPr>
            <a:r>
              <a:rPr sz="1000" b="0">
                <a:solidFill>
                  <a:srgbClr val="1A1A1A"/>
                </a:solidFill>
                <a:latin typeface="Hiragino Sans"/>
                <a:ea typeface="Hiragino Sans"/>
                <a:cs typeface="Hiragino Sans"/>
              </a:rPr>
              <a:t>自分のワークフロー化</a:t>
            </a:r>
          </a:p>
        </p:txBody>
      </p:sp>
      <p:sp>
        <p:nvSpPr>
          <p:cNvPr id="43" name="Right Arrow 42"/>
          <p:cNvSpPr/>
          <p:nvPr/>
        </p:nvSpPr>
        <p:spPr>
          <a:xfrm>
            <a:off x="9669780" y="3200400"/>
            <a:ext cx="228600" cy="320040"/>
          </a:xfrm>
          <a:prstGeom prst="rightArrow">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9898380" y="1463040"/>
            <a:ext cx="2103120" cy="36576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9898380" y="1463040"/>
            <a:ext cx="2103120" cy="64008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081260" y="1645920"/>
            <a:ext cx="1737360" cy="320040"/>
          </a:xfrm>
          <a:prstGeom prst="rect">
            <a:avLst/>
          </a:prstGeom>
          <a:noFill/>
        </p:spPr>
        <p:txBody>
          <a:bodyPr wrap="square" anchor="t" lIns="0" rIns="0" tIns="0" bIns="0">
            <a:spAutoFit/>
          </a:bodyPr>
          <a:lstStyle/>
          <a:p>
            <a:pPr algn="ctr">
              <a:lnSpc>
                <a:spcPct val="115000"/>
              </a:lnSpc>
            </a:pPr>
            <a:r>
              <a:rPr sz="1100" b="1">
                <a:solidFill>
                  <a:srgbClr val="E87722"/>
                </a:solidFill>
                <a:latin typeface="Hiragino Sans"/>
                <a:ea typeface="Hiragino Sans"/>
                <a:cs typeface="Hiragino Sans"/>
              </a:rPr>
              <a:t>STEP 5</a:t>
            </a:r>
          </a:p>
        </p:txBody>
      </p:sp>
      <p:sp>
        <p:nvSpPr>
          <p:cNvPr id="47" name="TextBox 46"/>
          <p:cNvSpPr txBox="1"/>
          <p:nvPr/>
        </p:nvSpPr>
        <p:spPr>
          <a:xfrm>
            <a:off x="10081260" y="2240280"/>
            <a:ext cx="1737360" cy="320040"/>
          </a:xfrm>
          <a:prstGeom prst="rect">
            <a:avLst/>
          </a:prstGeom>
          <a:noFill/>
        </p:spPr>
        <p:txBody>
          <a:bodyPr wrap="square" anchor="t" lIns="0" rIns="0" tIns="0" bIns="0">
            <a:spAutoFit/>
          </a:bodyPr>
          <a:lstStyle/>
          <a:p>
            <a:pPr algn="ctr">
              <a:lnSpc>
                <a:spcPct val="115000"/>
              </a:lnSpc>
            </a:pPr>
            <a:r>
              <a:rPr sz="1000" b="1">
                <a:solidFill>
                  <a:srgbClr val="B85E1A"/>
                </a:solidFill>
                <a:latin typeface="Hiragino Sans"/>
                <a:ea typeface="Hiragino Sans"/>
                <a:cs typeface="Hiragino Sans"/>
              </a:rPr>
              <a:t>Part 7</a:t>
            </a:r>
          </a:p>
        </p:txBody>
      </p:sp>
      <p:sp>
        <p:nvSpPr>
          <p:cNvPr id="48" name="TextBox 47"/>
          <p:cNvSpPr txBox="1"/>
          <p:nvPr/>
        </p:nvSpPr>
        <p:spPr>
          <a:xfrm>
            <a:off x="10081260" y="2560320"/>
            <a:ext cx="1737360" cy="822960"/>
          </a:xfrm>
          <a:prstGeom prst="rect">
            <a:avLst/>
          </a:prstGeom>
          <a:noFill/>
        </p:spPr>
        <p:txBody>
          <a:bodyPr wrap="square" anchor="t" lIns="0" rIns="0" tIns="0" bIns="0">
            <a:spAutoFit/>
          </a:bodyPr>
          <a:lstStyle/>
          <a:p>
            <a:pPr algn="ctr">
              <a:lnSpc>
                <a:spcPct val="130000"/>
              </a:lnSpc>
            </a:pPr>
            <a:r>
              <a:rPr sz="1400" b="1">
                <a:solidFill>
                  <a:srgbClr val="0F2A4F"/>
                </a:solidFill>
                <a:latin typeface="Hiragino Sans"/>
                <a:ea typeface="Hiragino Sans"/>
                <a:cs typeface="Hiragino Sans"/>
              </a:rPr>
              <a:t>BSA L3</a:t>
            </a:r>
          </a:p>
          <a:p>
            <a:pPr algn="ctr">
              <a:lnSpc>
                <a:spcPct val="130000"/>
              </a:lnSpc>
            </a:pPr>
            <a:r>
              <a:rPr sz="1400" b="1">
                <a:solidFill>
                  <a:srgbClr val="0F2A4F"/>
                </a:solidFill>
                <a:latin typeface="Hiragino Sans"/>
                <a:ea typeface="Hiragino Sans"/>
                <a:cs typeface="Hiragino Sans"/>
              </a:rPr>
              <a:t>実装ガイド</a:t>
            </a:r>
          </a:p>
        </p:txBody>
      </p:sp>
      <p:sp>
        <p:nvSpPr>
          <p:cNvPr id="49" name="Rectangle 48"/>
          <p:cNvSpPr/>
          <p:nvPr/>
        </p:nvSpPr>
        <p:spPr>
          <a:xfrm>
            <a:off x="10264140" y="3383280"/>
            <a:ext cx="137160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081260" y="3474720"/>
            <a:ext cx="1737360" cy="320040"/>
          </a:xfrm>
          <a:prstGeom prst="rect">
            <a:avLst/>
          </a:prstGeom>
          <a:noFill/>
        </p:spPr>
        <p:txBody>
          <a:bodyPr wrap="square" anchor="t" lIns="0" rIns="0" tIns="0" bIns="0">
            <a:spAutoFit/>
          </a:bodyPr>
          <a:lstStyle/>
          <a:p>
            <a:pPr algn="ctr">
              <a:lnSpc>
                <a:spcPct val="115000"/>
              </a:lnSpc>
            </a:pPr>
            <a:r>
              <a:rPr sz="1100" b="1">
                <a:solidFill>
                  <a:srgbClr val="0F2A4F"/>
                </a:solidFill>
                <a:latin typeface="Hiragino Sans"/>
                <a:ea typeface="Hiragino Sans"/>
                <a:cs typeface="Hiragino Sans"/>
              </a:rPr>
              <a:t>10p / 20分</a:t>
            </a:r>
          </a:p>
        </p:txBody>
      </p:sp>
      <p:sp>
        <p:nvSpPr>
          <p:cNvPr id="51" name="TextBox 50"/>
          <p:cNvSpPr txBox="1"/>
          <p:nvPr/>
        </p:nvSpPr>
        <p:spPr>
          <a:xfrm>
            <a:off x="10081260" y="3931920"/>
            <a:ext cx="1737360" cy="1097280"/>
          </a:xfrm>
          <a:prstGeom prst="rect">
            <a:avLst/>
          </a:prstGeom>
          <a:noFill/>
        </p:spPr>
        <p:txBody>
          <a:bodyPr wrap="square" anchor="t" lIns="0" rIns="0" tIns="0" bIns="0">
            <a:spAutoFit/>
          </a:bodyPr>
          <a:lstStyle/>
          <a:p>
            <a:pPr algn="ctr">
              <a:lnSpc>
                <a:spcPct val="135000"/>
              </a:lnSpc>
            </a:pPr>
            <a:r>
              <a:rPr sz="1000" b="0">
                <a:solidFill>
                  <a:srgbClr val="1A1A1A"/>
                </a:solidFill>
                <a:latin typeface="Hiragino Sans"/>
                <a:ea typeface="Hiragino Sans"/>
                <a:cs typeface="Hiragino Sans"/>
              </a:rPr>
              <a:t>30日プランで</a:t>
            </a:r>
          </a:p>
          <a:p>
            <a:pPr algn="ctr">
              <a:lnSpc>
                <a:spcPct val="135000"/>
              </a:lnSpc>
            </a:pPr>
            <a:r>
              <a:rPr sz="1000" b="0">
                <a:solidFill>
                  <a:srgbClr val="1A1A1A"/>
                </a:solidFill>
                <a:latin typeface="Hiragino Sans"/>
                <a:ea typeface="Hiragino Sans"/>
                <a:cs typeface="Hiragino Sans"/>
              </a:rPr>
              <a:t>即クライアントに出せる状態</a:t>
            </a:r>
          </a:p>
        </p:txBody>
      </p:sp>
      <p:sp>
        <p:nvSpPr>
          <p:cNvPr id="52" name="Rounded Rectangle 51"/>
          <p:cNvSpPr/>
          <p:nvPr/>
        </p:nvSpPr>
        <p:spPr>
          <a:xfrm>
            <a:off x="548640" y="5486400"/>
            <a:ext cx="11109960" cy="82296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48640" y="5641848"/>
            <a:ext cx="11109960" cy="502920"/>
          </a:xfrm>
          <a:prstGeom prst="rect">
            <a:avLst/>
          </a:prstGeom>
          <a:noFill/>
        </p:spPr>
        <p:txBody>
          <a:bodyPr wrap="square" anchor="t" lIns="0" rIns="0" tIns="0" bIns="0">
            <a:spAutoFit/>
          </a:bodyPr>
          <a:lstStyle/>
          <a:p>
            <a:pPr algn="ctr">
              <a:lnSpc>
                <a:spcPct val="115000"/>
              </a:lnSpc>
            </a:pPr>
            <a:r>
              <a:rPr sz="2000" b="1">
                <a:solidFill>
                  <a:srgbClr val="FFFFFF"/>
                </a:solidFill>
                <a:latin typeface="Hiragino Sans"/>
                <a:ea typeface="Hiragino Sans"/>
                <a:cs typeface="Hiragino Sans"/>
              </a:rPr>
              <a:t>合計 約 3時間30分 で最低限の復帰ライン到達</a:t>
            </a:r>
          </a:p>
        </p:txBody>
      </p:sp>
      <p:sp>
        <p:nvSpPr>
          <p:cNvPr id="54" name="TextBox 53"/>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目次</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Table of Contents</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P10 / 250</a:t>
            </a:r>
          </a:p>
        </p:txBody>
      </p:sp>
      <p:sp>
        <p:nvSpPr>
          <p:cNvPr id="8" name="Rounded Rectangle 7"/>
          <p:cNvSpPr/>
          <p:nvPr/>
        </p:nvSpPr>
        <p:spPr>
          <a:xfrm>
            <a:off x="548640" y="1280160"/>
            <a:ext cx="1234440" cy="50292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417320"/>
            <a:ext cx="1234440" cy="320040"/>
          </a:xfrm>
          <a:prstGeom prst="rect">
            <a:avLst/>
          </a:prstGeom>
          <a:noFill/>
        </p:spPr>
        <p:txBody>
          <a:bodyPr wrap="square" anchor="t" lIns="0" rIns="0" tIns="0" bIns="0">
            <a:spAutoFit/>
          </a:bodyPr>
          <a:lstStyle/>
          <a:p>
            <a:pPr algn="ctr">
              <a:lnSpc>
                <a:spcPct val="115000"/>
              </a:lnSpc>
            </a:pPr>
            <a:r>
              <a:rPr sz="1400" b="1">
                <a:solidFill>
                  <a:srgbClr val="FFFFFF"/>
                </a:solidFill>
                <a:latin typeface="Helvetica Neue"/>
                <a:ea typeface="Helvetica Neue"/>
                <a:cs typeface="Helvetica Neue"/>
              </a:rPr>
              <a:t>Part 1</a:t>
            </a:r>
          </a:p>
        </p:txBody>
      </p:sp>
      <p:sp>
        <p:nvSpPr>
          <p:cNvPr id="10" name="Rounded Rectangle 9"/>
          <p:cNvSpPr/>
          <p:nvPr/>
        </p:nvSpPr>
        <p:spPr>
          <a:xfrm>
            <a:off x="1874519" y="1280160"/>
            <a:ext cx="7772400" cy="502920"/>
          </a:xfrm>
          <a:prstGeom prst="roundRect">
            <a:avLst>
              <a:gd name="adj" fmla="val 6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057400" y="1399032"/>
            <a:ext cx="7406640" cy="36576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エグゼクティブサマリー</a:t>
            </a:r>
          </a:p>
        </p:txBody>
      </p:sp>
      <p:sp>
        <p:nvSpPr>
          <p:cNvPr id="12" name="Rounded Rectangle 11"/>
          <p:cNvSpPr/>
          <p:nvPr/>
        </p:nvSpPr>
        <p:spPr>
          <a:xfrm>
            <a:off x="9738360" y="1280160"/>
            <a:ext cx="1005840" cy="5029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738360" y="1417320"/>
            <a:ext cx="1005840" cy="320040"/>
          </a:xfrm>
          <a:prstGeom prst="rect">
            <a:avLst/>
          </a:prstGeom>
          <a:noFill/>
        </p:spPr>
        <p:txBody>
          <a:bodyPr wrap="square" anchor="t" lIns="0" rIns="0" tIns="0" bIns="0">
            <a:spAutoFit/>
          </a:bodyPr>
          <a:lstStyle/>
          <a:p>
            <a:pPr algn="ctr">
              <a:lnSpc>
                <a:spcPct val="115000"/>
              </a:lnSpc>
            </a:pPr>
            <a:r>
              <a:rPr sz="1200" b="1">
                <a:solidFill>
                  <a:srgbClr val="E87722"/>
                </a:solidFill>
                <a:latin typeface="Hiragino Sans"/>
                <a:ea typeface="Hiragino Sans"/>
                <a:cs typeface="Hiragino Sans"/>
              </a:rPr>
              <a:t>10p</a:t>
            </a:r>
          </a:p>
        </p:txBody>
      </p:sp>
      <p:sp>
        <p:nvSpPr>
          <p:cNvPr id="14" name="TextBox 13"/>
          <p:cNvSpPr txBox="1"/>
          <p:nvPr/>
        </p:nvSpPr>
        <p:spPr>
          <a:xfrm>
            <a:off x="10835640" y="1417320"/>
            <a:ext cx="822960" cy="320040"/>
          </a:xfrm>
          <a:prstGeom prst="rect">
            <a:avLst/>
          </a:prstGeom>
          <a:noFill/>
        </p:spPr>
        <p:txBody>
          <a:bodyPr wrap="square" anchor="t" lIns="0" rIns="0" tIns="0" bIns="0">
            <a:spAutoFit/>
          </a:bodyPr>
          <a:lstStyle/>
          <a:p>
            <a:pPr algn="r">
              <a:lnSpc>
                <a:spcPct val="115000"/>
              </a:lnSpc>
            </a:pPr>
            <a:r>
              <a:rPr sz="1100" b="0">
                <a:solidFill>
                  <a:srgbClr val="5A6A80"/>
                </a:solidFill>
                <a:latin typeface="Hiragino Sans"/>
                <a:ea typeface="Hiragino Sans"/>
                <a:cs typeface="Hiragino Sans"/>
              </a:rPr>
              <a:t>→ P01</a:t>
            </a:r>
          </a:p>
        </p:txBody>
      </p:sp>
      <p:sp>
        <p:nvSpPr>
          <p:cNvPr id="15" name="Rounded Rectangle 14"/>
          <p:cNvSpPr/>
          <p:nvPr/>
        </p:nvSpPr>
        <p:spPr>
          <a:xfrm>
            <a:off x="548640" y="1847088"/>
            <a:ext cx="1234440" cy="50292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1984248"/>
            <a:ext cx="1234440" cy="320040"/>
          </a:xfrm>
          <a:prstGeom prst="rect">
            <a:avLst/>
          </a:prstGeom>
          <a:noFill/>
        </p:spPr>
        <p:txBody>
          <a:bodyPr wrap="square" anchor="t" lIns="0" rIns="0" tIns="0" bIns="0">
            <a:spAutoFit/>
          </a:bodyPr>
          <a:lstStyle/>
          <a:p>
            <a:pPr algn="ctr">
              <a:lnSpc>
                <a:spcPct val="115000"/>
              </a:lnSpc>
            </a:pPr>
            <a:r>
              <a:rPr sz="1400" b="1">
                <a:solidFill>
                  <a:srgbClr val="FFFFFF"/>
                </a:solidFill>
                <a:latin typeface="Helvetica Neue"/>
                <a:ea typeface="Helvetica Neue"/>
                <a:cs typeface="Helvetica Neue"/>
              </a:rPr>
              <a:t>Part 2</a:t>
            </a:r>
          </a:p>
        </p:txBody>
      </p:sp>
      <p:sp>
        <p:nvSpPr>
          <p:cNvPr id="17" name="Rounded Rectangle 16"/>
          <p:cNvSpPr/>
          <p:nvPr/>
        </p:nvSpPr>
        <p:spPr>
          <a:xfrm>
            <a:off x="1874519" y="1847088"/>
            <a:ext cx="7772400" cy="502920"/>
          </a:xfrm>
          <a:prstGeom prst="roundRect">
            <a:avLst>
              <a:gd name="adj" fmla="val 6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057400" y="1965960"/>
            <a:ext cx="7406640" cy="36576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市況・業界構造の変化</a:t>
            </a:r>
          </a:p>
        </p:txBody>
      </p:sp>
      <p:sp>
        <p:nvSpPr>
          <p:cNvPr id="19" name="Rounded Rectangle 18"/>
          <p:cNvSpPr/>
          <p:nvPr/>
        </p:nvSpPr>
        <p:spPr>
          <a:xfrm>
            <a:off x="9738360" y="1847088"/>
            <a:ext cx="1005840" cy="5029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38360" y="1984248"/>
            <a:ext cx="1005840" cy="320040"/>
          </a:xfrm>
          <a:prstGeom prst="rect">
            <a:avLst/>
          </a:prstGeom>
          <a:noFill/>
        </p:spPr>
        <p:txBody>
          <a:bodyPr wrap="square" anchor="t" lIns="0" rIns="0" tIns="0" bIns="0">
            <a:spAutoFit/>
          </a:bodyPr>
          <a:lstStyle/>
          <a:p>
            <a:pPr algn="ctr">
              <a:lnSpc>
                <a:spcPct val="115000"/>
              </a:lnSpc>
            </a:pPr>
            <a:r>
              <a:rPr sz="1200" b="1">
                <a:solidFill>
                  <a:srgbClr val="E87722"/>
                </a:solidFill>
                <a:latin typeface="Hiragino Sans"/>
                <a:ea typeface="Hiragino Sans"/>
                <a:cs typeface="Hiragino Sans"/>
              </a:rPr>
              <a:t>20p</a:t>
            </a:r>
          </a:p>
        </p:txBody>
      </p:sp>
      <p:sp>
        <p:nvSpPr>
          <p:cNvPr id="21" name="TextBox 20"/>
          <p:cNvSpPr txBox="1"/>
          <p:nvPr/>
        </p:nvSpPr>
        <p:spPr>
          <a:xfrm>
            <a:off x="10835640" y="1984248"/>
            <a:ext cx="822960" cy="320040"/>
          </a:xfrm>
          <a:prstGeom prst="rect">
            <a:avLst/>
          </a:prstGeom>
          <a:noFill/>
        </p:spPr>
        <p:txBody>
          <a:bodyPr wrap="square" anchor="t" lIns="0" rIns="0" tIns="0" bIns="0">
            <a:spAutoFit/>
          </a:bodyPr>
          <a:lstStyle/>
          <a:p>
            <a:pPr algn="r">
              <a:lnSpc>
                <a:spcPct val="115000"/>
              </a:lnSpc>
            </a:pPr>
            <a:r>
              <a:rPr sz="1100" b="0">
                <a:solidFill>
                  <a:srgbClr val="5A6A80"/>
                </a:solidFill>
                <a:latin typeface="Hiragino Sans"/>
                <a:ea typeface="Hiragino Sans"/>
                <a:cs typeface="Hiragino Sans"/>
              </a:rPr>
              <a:t>→ P11</a:t>
            </a:r>
          </a:p>
        </p:txBody>
      </p:sp>
      <p:sp>
        <p:nvSpPr>
          <p:cNvPr id="22" name="Rounded Rectangle 21"/>
          <p:cNvSpPr/>
          <p:nvPr/>
        </p:nvSpPr>
        <p:spPr>
          <a:xfrm>
            <a:off x="548640" y="2414016"/>
            <a:ext cx="1234440" cy="50292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2551176"/>
            <a:ext cx="1234440" cy="320040"/>
          </a:xfrm>
          <a:prstGeom prst="rect">
            <a:avLst/>
          </a:prstGeom>
          <a:noFill/>
        </p:spPr>
        <p:txBody>
          <a:bodyPr wrap="square" anchor="t" lIns="0" rIns="0" tIns="0" bIns="0">
            <a:spAutoFit/>
          </a:bodyPr>
          <a:lstStyle/>
          <a:p>
            <a:pPr algn="ctr">
              <a:lnSpc>
                <a:spcPct val="115000"/>
              </a:lnSpc>
            </a:pPr>
            <a:r>
              <a:rPr sz="1400" b="1">
                <a:solidFill>
                  <a:srgbClr val="FFFFFF"/>
                </a:solidFill>
                <a:latin typeface="Helvetica Neue"/>
                <a:ea typeface="Helvetica Neue"/>
                <a:cs typeface="Helvetica Neue"/>
              </a:rPr>
              <a:t>Part 3</a:t>
            </a:r>
          </a:p>
        </p:txBody>
      </p:sp>
      <p:sp>
        <p:nvSpPr>
          <p:cNvPr id="24" name="Rounded Rectangle 23"/>
          <p:cNvSpPr/>
          <p:nvPr/>
        </p:nvSpPr>
        <p:spPr>
          <a:xfrm>
            <a:off x="1874519" y="2414016"/>
            <a:ext cx="7772400" cy="502920"/>
          </a:xfrm>
          <a:prstGeom prst="roundRect">
            <a:avLst>
              <a:gd name="adj" fmla="val 6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057400" y="2532888"/>
            <a:ext cx="7406640" cy="36576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媒体別キャッチアップ</a:t>
            </a:r>
          </a:p>
        </p:txBody>
      </p:sp>
      <p:sp>
        <p:nvSpPr>
          <p:cNvPr id="26" name="Rounded Rectangle 25"/>
          <p:cNvSpPr/>
          <p:nvPr/>
        </p:nvSpPr>
        <p:spPr>
          <a:xfrm>
            <a:off x="9738360" y="2414016"/>
            <a:ext cx="1005840" cy="5029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38360" y="2551176"/>
            <a:ext cx="1005840" cy="320040"/>
          </a:xfrm>
          <a:prstGeom prst="rect">
            <a:avLst/>
          </a:prstGeom>
          <a:noFill/>
        </p:spPr>
        <p:txBody>
          <a:bodyPr wrap="square" anchor="t" lIns="0" rIns="0" tIns="0" bIns="0">
            <a:spAutoFit/>
          </a:bodyPr>
          <a:lstStyle/>
          <a:p>
            <a:pPr algn="ctr">
              <a:lnSpc>
                <a:spcPct val="115000"/>
              </a:lnSpc>
            </a:pPr>
            <a:r>
              <a:rPr sz="1200" b="1">
                <a:solidFill>
                  <a:srgbClr val="E87722"/>
                </a:solidFill>
                <a:latin typeface="Hiragino Sans"/>
                <a:ea typeface="Hiragino Sans"/>
                <a:cs typeface="Hiragino Sans"/>
              </a:rPr>
              <a:t>110p</a:t>
            </a:r>
          </a:p>
        </p:txBody>
      </p:sp>
      <p:sp>
        <p:nvSpPr>
          <p:cNvPr id="28" name="TextBox 27"/>
          <p:cNvSpPr txBox="1"/>
          <p:nvPr/>
        </p:nvSpPr>
        <p:spPr>
          <a:xfrm>
            <a:off x="10835640" y="2551176"/>
            <a:ext cx="822960" cy="320040"/>
          </a:xfrm>
          <a:prstGeom prst="rect">
            <a:avLst/>
          </a:prstGeom>
          <a:noFill/>
        </p:spPr>
        <p:txBody>
          <a:bodyPr wrap="square" anchor="t" lIns="0" rIns="0" tIns="0" bIns="0">
            <a:spAutoFit/>
          </a:bodyPr>
          <a:lstStyle/>
          <a:p>
            <a:pPr algn="r">
              <a:lnSpc>
                <a:spcPct val="115000"/>
              </a:lnSpc>
            </a:pPr>
            <a:r>
              <a:rPr sz="1100" b="0">
                <a:solidFill>
                  <a:srgbClr val="5A6A80"/>
                </a:solidFill>
                <a:latin typeface="Hiragino Sans"/>
                <a:ea typeface="Hiragino Sans"/>
                <a:cs typeface="Hiragino Sans"/>
              </a:rPr>
              <a:t>→ P31</a:t>
            </a:r>
          </a:p>
        </p:txBody>
      </p:sp>
      <p:sp>
        <p:nvSpPr>
          <p:cNvPr id="29" name="Rounded Rectangle 28"/>
          <p:cNvSpPr/>
          <p:nvPr/>
        </p:nvSpPr>
        <p:spPr>
          <a:xfrm>
            <a:off x="548640" y="2980944"/>
            <a:ext cx="1234440" cy="50292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8640" y="3118104"/>
            <a:ext cx="1234440" cy="320040"/>
          </a:xfrm>
          <a:prstGeom prst="rect">
            <a:avLst/>
          </a:prstGeom>
          <a:noFill/>
        </p:spPr>
        <p:txBody>
          <a:bodyPr wrap="square" anchor="t" lIns="0" rIns="0" tIns="0" bIns="0">
            <a:spAutoFit/>
          </a:bodyPr>
          <a:lstStyle/>
          <a:p>
            <a:pPr algn="ctr">
              <a:lnSpc>
                <a:spcPct val="115000"/>
              </a:lnSpc>
            </a:pPr>
            <a:r>
              <a:rPr sz="1400" b="1">
                <a:solidFill>
                  <a:srgbClr val="FFFFFF"/>
                </a:solidFill>
                <a:latin typeface="Helvetica Neue"/>
                <a:ea typeface="Helvetica Neue"/>
                <a:cs typeface="Helvetica Neue"/>
              </a:rPr>
              <a:t>Part 4</a:t>
            </a:r>
          </a:p>
        </p:txBody>
      </p:sp>
      <p:sp>
        <p:nvSpPr>
          <p:cNvPr id="31" name="Rounded Rectangle 30"/>
          <p:cNvSpPr/>
          <p:nvPr/>
        </p:nvSpPr>
        <p:spPr>
          <a:xfrm>
            <a:off x="1874519" y="2980944"/>
            <a:ext cx="7772400" cy="502920"/>
          </a:xfrm>
          <a:prstGeom prst="roundRect">
            <a:avLst>
              <a:gd name="adj" fmla="val 6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057400" y="3099816"/>
            <a:ext cx="7406640" cy="36576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計測・データ基盤の激変</a:t>
            </a:r>
          </a:p>
        </p:txBody>
      </p:sp>
      <p:sp>
        <p:nvSpPr>
          <p:cNvPr id="33" name="Rounded Rectangle 32"/>
          <p:cNvSpPr/>
          <p:nvPr/>
        </p:nvSpPr>
        <p:spPr>
          <a:xfrm>
            <a:off x="9738360" y="2980944"/>
            <a:ext cx="1005840" cy="5029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738360" y="3118104"/>
            <a:ext cx="1005840" cy="320040"/>
          </a:xfrm>
          <a:prstGeom prst="rect">
            <a:avLst/>
          </a:prstGeom>
          <a:noFill/>
        </p:spPr>
        <p:txBody>
          <a:bodyPr wrap="square" anchor="t" lIns="0" rIns="0" tIns="0" bIns="0">
            <a:spAutoFit/>
          </a:bodyPr>
          <a:lstStyle/>
          <a:p>
            <a:pPr algn="ctr">
              <a:lnSpc>
                <a:spcPct val="115000"/>
              </a:lnSpc>
            </a:pPr>
            <a:r>
              <a:rPr sz="1200" b="1">
                <a:solidFill>
                  <a:srgbClr val="E87722"/>
                </a:solidFill>
                <a:latin typeface="Hiragino Sans"/>
                <a:ea typeface="Hiragino Sans"/>
                <a:cs typeface="Hiragino Sans"/>
              </a:rPr>
              <a:t>25p</a:t>
            </a:r>
          </a:p>
        </p:txBody>
      </p:sp>
      <p:sp>
        <p:nvSpPr>
          <p:cNvPr id="35" name="TextBox 34"/>
          <p:cNvSpPr txBox="1"/>
          <p:nvPr/>
        </p:nvSpPr>
        <p:spPr>
          <a:xfrm>
            <a:off x="10835640" y="3118104"/>
            <a:ext cx="822960" cy="320040"/>
          </a:xfrm>
          <a:prstGeom prst="rect">
            <a:avLst/>
          </a:prstGeom>
          <a:noFill/>
        </p:spPr>
        <p:txBody>
          <a:bodyPr wrap="square" anchor="t" lIns="0" rIns="0" tIns="0" bIns="0">
            <a:spAutoFit/>
          </a:bodyPr>
          <a:lstStyle/>
          <a:p>
            <a:pPr algn="r">
              <a:lnSpc>
                <a:spcPct val="115000"/>
              </a:lnSpc>
            </a:pPr>
            <a:r>
              <a:rPr sz="1100" b="0">
                <a:solidFill>
                  <a:srgbClr val="5A6A80"/>
                </a:solidFill>
                <a:latin typeface="Hiragino Sans"/>
                <a:ea typeface="Hiragino Sans"/>
                <a:cs typeface="Hiragino Sans"/>
              </a:rPr>
              <a:t>→ P141</a:t>
            </a:r>
          </a:p>
        </p:txBody>
      </p:sp>
      <p:sp>
        <p:nvSpPr>
          <p:cNvPr id="36" name="Rounded Rectangle 35"/>
          <p:cNvSpPr/>
          <p:nvPr/>
        </p:nvSpPr>
        <p:spPr>
          <a:xfrm>
            <a:off x="548640" y="3547872"/>
            <a:ext cx="1234440" cy="50292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8640" y="3685032"/>
            <a:ext cx="1234440" cy="320040"/>
          </a:xfrm>
          <a:prstGeom prst="rect">
            <a:avLst/>
          </a:prstGeom>
          <a:noFill/>
        </p:spPr>
        <p:txBody>
          <a:bodyPr wrap="square" anchor="t" lIns="0" rIns="0" tIns="0" bIns="0">
            <a:spAutoFit/>
          </a:bodyPr>
          <a:lstStyle/>
          <a:p>
            <a:pPr algn="ctr">
              <a:lnSpc>
                <a:spcPct val="115000"/>
              </a:lnSpc>
            </a:pPr>
            <a:r>
              <a:rPr sz="1400" b="1">
                <a:solidFill>
                  <a:srgbClr val="FFFFFF"/>
                </a:solidFill>
                <a:latin typeface="Helvetica Neue"/>
                <a:ea typeface="Helvetica Neue"/>
                <a:cs typeface="Helvetica Neue"/>
              </a:rPr>
              <a:t>Part 5</a:t>
            </a:r>
          </a:p>
        </p:txBody>
      </p:sp>
      <p:sp>
        <p:nvSpPr>
          <p:cNvPr id="38" name="Rounded Rectangle 37"/>
          <p:cNvSpPr/>
          <p:nvPr/>
        </p:nvSpPr>
        <p:spPr>
          <a:xfrm>
            <a:off x="1874519" y="3547872"/>
            <a:ext cx="7772400" cy="502920"/>
          </a:xfrm>
          <a:prstGeom prst="roundRect">
            <a:avLst>
              <a:gd name="adj" fmla="val 6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057400" y="3666744"/>
            <a:ext cx="7406640" cy="36576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AI活用事例集</a:t>
            </a:r>
          </a:p>
        </p:txBody>
      </p:sp>
      <p:sp>
        <p:nvSpPr>
          <p:cNvPr id="40" name="Rounded Rectangle 39"/>
          <p:cNvSpPr/>
          <p:nvPr/>
        </p:nvSpPr>
        <p:spPr>
          <a:xfrm>
            <a:off x="9738360" y="3547872"/>
            <a:ext cx="1005840" cy="5029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738360" y="3685032"/>
            <a:ext cx="1005840" cy="320040"/>
          </a:xfrm>
          <a:prstGeom prst="rect">
            <a:avLst/>
          </a:prstGeom>
          <a:noFill/>
        </p:spPr>
        <p:txBody>
          <a:bodyPr wrap="square" anchor="t" lIns="0" rIns="0" tIns="0" bIns="0">
            <a:spAutoFit/>
          </a:bodyPr>
          <a:lstStyle/>
          <a:p>
            <a:pPr algn="ctr">
              <a:lnSpc>
                <a:spcPct val="115000"/>
              </a:lnSpc>
            </a:pPr>
            <a:r>
              <a:rPr sz="1200" b="1">
                <a:solidFill>
                  <a:srgbClr val="E87722"/>
                </a:solidFill>
                <a:latin typeface="Hiragino Sans"/>
                <a:ea typeface="Hiragino Sans"/>
                <a:cs typeface="Hiragino Sans"/>
              </a:rPr>
              <a:t>40p</a:t>
            </a:r>
          </a:p>
        </p:txBody>
      </p:sp>
      <p:sp>
        <p:nvSpPr>
          <p:cNvPr id="42" name="TextBox 41"/>
          <p:cNvSpPr txBox="1"/>
          <p:nvPr/>
        </p:nvSpPr>
        <p:spPr>
          <a:xfrm>
            <a:off x="10835640" y="3685032"/>
            <a:ext cx="822960" cy="320040"/>
          </a:xfrm>
          <a:prstGeom prst="rect">
            <a:avLst/>
          </a:prstGeom>
          <a:noFill/>
        </p:spPr>
        <p:txBody>
          <a:bodyPr wrap="square" anchor="t" lIns="0" rIns="0" tIns="0" bIns="0">
            <a:spAutoFit/>
          </a:bodyPr>
          <a:lstStyle/>
          <a:p>
            <a:pPr algn="r">
              <a:lnSpc>
                <a:spcPct val="115000"/>
              </a:lnSpc>
            </a:pPr>
            <a:r>
              <a:rPr sz="1100" b="0">
                <a:solidFill>
                  <a:srgbClr val="5A6A80"/>
                </a:solidFill>
                <a:latin typeface="Hiragino Sans"/>
                <a:ea typeface="Hiragino Sans"/>
                <a:cs typeface="Hiragino Sans"/>
              </a:rPr>
              <a:t>→ P166</a:t>
            </a:r>
          </a:p>
        </p:txBody>
      </p:sp>
      <p:sp>
        <p:nvSpPr>
          <p:cNvPr id="43" name="Rounded Rectangle 42"/>
          <p:cNvSpPr/>
          <p:nvPr/>
        </p:nvSpPr>
        <p:spPr>
          <a:xfrm>
            <a:off x="548640" y="4114800"/>
            <a:ext cx="1234440" cy="50292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48640" y="4251960"/>
            <a:ext cx="1234440" cy="320040"/>
          </a:xfrm>
          <a:prstGeom prst="rect">
            <a:avLst/>
          </a:prstGeom>
          <a:noFill/>
        </p:spPr>
        <p:txBody>
          <a:bodyPr wrap="square" anchor="t" lIns="0" rIns="0" tIns="0" bIns="0">
            <a:spAutoFit/>
          </a:bodyPr>
          <a:lstStyle/>
          <a:p>
            <a:pPr algn="ctr">
              <a:lnSpc>
                <a:spcPct val="115000"/>
              </a:lnSpc>
            </a:pPr>
            <a:r>
              <a:rPr sz="1400" b="1">
                <a:solidFill>
                  <a:srgbClr val="FFFFFF"/>
                </a:solidFill>
                <a:latin typeface="Helvetica Neue"/>
                <a:ea typeface="Helvetica Neue"/>
                <a:cs typeface="Helvetica Neue"/>
              </a:rPr>
              <a:t>Part 6</a:t>
            </a:r>
          </a:p>
        </p:txBody>
      </p:sp>
      <p:sp>
        <p:nvSpPr>
          <p:cNvPr id="45" name="Rounded Rectangle 44"/>
          <p:cNvSpPr/>
          <p:nvPr/>
        </p:nvSpPr>
        <p:spPr>
          <a:xfrm>
            <a:off x="1874519" y="4114800"/>
            <a:ext cx="7772400" cy="502920"/>
          </a:xfrm>
          <a:prstGeom prst="roundRect">
            <a:avLst>
              <a:gd name="adj" fmla="val 6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057400" y="4233672"/>
            <a:ext cx="7406640" cy="36576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鉄板運用メソッド 2026年版</a:t>
            </a:r>
          </a:p>
        </p:txBody>
      </p:sp>
      <p:sp>
        <p:nvSpPr>
          <p:cNvPr id="47" name="Rounded Rectangle 46"/>
          <p:cNvSpPr/>
          <p:nvPr/>
        </p:nvSpPr>
        <p:spPr>
          <a:xfrm>
            <a:off x="9738360" y="4114800"/>
            <a:ext cx="1005840" cy="5029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38360" y="4251960"/>
            <a:ext cx="1005840" cy="320040"/>
          </a:xfrm>
          <a:prstGeom prst="rect">
            <a:avLst/>
          </a:prstGeom>
          <a:noFill/>
        </p:spPr>
        <p:txBody>
          <a:bodyPr wrap="square" anchor="t" lIns="0" rIns="0" tIns="0" bIns="0">
            <a:spAutoFit/>
          </a:bodyPr>
          <a:lstStyle/>
          <a:p>
            <a:pPr algn="ctr">
              <a:lnSpc>
                <a:spcPct val="115000"/>
              </a:lnSpc>
            </a:pPr>
            <a:r>
              <a:rPr sz="1200" b="1">
                <a:solidFill>
                  <a:srgbClr val="E87722"/>
                </a:solidFill>
                <a:latin typeface="Hiragino Sans"/>
                <a:ea typeface="Hiragino Sans"/>
                <a:cs typeface="Hiragino Sans"/>
              </a:rPr>
              <a:t>15p</a:t>
            </a:r>
          </a:p>
        </p:txBody>
      </p:sp>
      <p:sp>
        <p:nvSpPr>
          <p:cNvPr id="49" name="TextBox 48"/>
          <p:cNvSpPr txBox="1"/>
          <p:nvPr/>
        </p:nvSpPr>
        <p:spPr>
          <a:xfrm>
            <a:off x="10835640" y="4251960"/>
            <a:ext cx="822960" cy="320040"/>
          </a:xfrm>
          <a:prstGeom prst="rect">
            <a:avLst/>
          </a:prstGeom>
          <a:noFill/>
        </p:spPr>
        <p:txBody>
          <a:bodyPr wrap="square" anchor="t" lIns="0" rIns="0" tIns="0" bIns="0">
            <a:spAutoFit/>
          </a:bodyPr>
          <a:lstStyle/>
          <a:p>
            <a:pPr algn="r">
              <a:lnSpc>
                <a:spcPct val="115000"/>
              </a:lnSpc>
            </a:pPr>
            <a:r>
              <a:rPr sz="1100" b="0">
                <a:solidFill>
                  <a:srgbClr val="5A6A80"/>
                </a:solidFill>
                <a:latin typeface="Hiragino Sans"/>
                <a:ea typeface="Hiragino Sans"/>
                <a:cs typeface="Hiragino Sans"/>
              </a:rPr>
              <a:t>→ P206</a:t>
            </a:r>
          </a:p>
        </p:txBody>
      </p:sp>
      <p:sp>
        <p:nvSpPr>
          <p:cNvPr id="50" name="Rounded Rectangle 49"/>
          <p:cNvSpPr/>
          <p:nvPr/>
        </p:nvSpPr>
        <p:spPr>
          <a:xfrm>
            <a:off x="548640" y="4681728"/>
            <a:ext cx="1234440" cy="50292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48640" y="4818888"/>
            <a:ext cx="1234440" cy="320040"/>
          </a:xfrm>
          <a:prstGeom prst="rect">
            <a:avLst/>
          </a:prstGeom>
          <a:noFill/>
        </p:spPr>
        <p:txBody>
          <a:bodyPr wrap="square" anchor="t" lIns="0" rIns="0" tIns="0" bIns="0">
            <a:spAutoFit/>
          </a:bodyPr>
          <a:lstStyle/>
          <a:p>
            <a:pPr algn="ctr">
              <a:lnSpc>
                <a:spcPct val="115000"/>
              </a:lnSpc>
            </a:pPr>
            <a:r>
              <a:rPr sz="1400" b="1">
                <a:solidFill>
                  <a:srgbClr val="FFFFFF"/>
                </a:solidFill>
                <a:latin typeface="Helvetica Neue"/>
                <a:ea typeface="Helvetica Neue"/>
                <a:cs typeface="Helvetica Neue"/>
              </a:rPr>
              <a:t>Part 7</a:t>
            </a:r>
          </a:p>
        </p:txBody>
      </p:sp>
      <p:sp>
        <p:nvSpPr>
          <p:cNvPr id="52" name="Rounded Rectangle 51"/>
          <p:cNvSpPr/>
          <p:nvPr/>
        </p:nvSpPr>
        <p:spPr>
          <a:xfrm>
            <a:off x="1874519" y="4681728"/>
            <a:ext cx="7772400" cy="502920"/>
          </a:xfrm>
          <a:prstGeom prst="roundRect">
            <a:avLst>
              <a:gd name="adj" fmla="val 6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057400" y="4800600"/>
            <a:ext cx="7406640" cy="36576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BSA L3 実装ガイド</a:t>
            </a:r>
          </a:p>
        </p:txBody>
      </p:sp>
      <p:sp>
        <p:nvSpPr>
          <p:cNvPr id="54" name="Rounded Rectangle 53"/>
          <p:cNvSpPr/>
          <p:nvPr/>
        </p:nvSpPr>
        <p:spPr>
          <a:xfrm>
            <a:off x="9738360" y="4681728"/>
            <a:ext cx="1005840" cy="5029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738360" y="4818888"/>
            <a:ext cx="1005840" cy="320040"/>
          </a:xfrm>
          <a:prstGeom prst="rect">
            <a:avLst/>
          </a:prstGeom>
          <a:noFill/>
        </p:spPr>
        <p:txBody>
          <a:bodyPr wrap="square" anchor="t" lIns="0" rIns="0" tIns="0" bIns="0">
            <a:spAutoFit/>
          </a:bodyPr>
          <a:lstStyle/>
          <a:p>
            <a:pPr algn="ctr">
              <a:lnSpc>
                <a:spcPct val="115000"/>
              </a:lnSpc>
            </a:pPr>
            <a:r>
              <a:rPr sz="1200" b="1">
                <a:solidFill>
                  <a:srgbClr val="E87722"/>
                </a:solidFill>
                <a:latin typeface="Hiragino Sans"/>
                <a:ea typeface="Hiragino Sans"/>
                <a:cs typeface="Hiragino Sans"/>
              </a:rPr>
              <a:t>10p</a:t>
            </a:r>
          </a:p>
        </p:txBody>
      </p:sp>
      <p:sp>
        <p:nvSpPr>
          <p:cNvPr id="56" name="TextBox 55"/>
          <p:cNvSpPr txBox="1"/>
          <p:nvPr/>
        </p:nvSpPr>
        <p:spPr>
          <a:xfrm>
            <a:off x="10835640" y="4818888"/>
            <a:ext cx="822960" cy="320040"/>
          </a:xfrm>
          <a:prstGeom prst="rect">
            <a:avLst/>
          </a:prstGeom>
          <a:noFill/>
        </p:spPr>
        <p:txBody>
          <a:bodyPr wrap="square" anchor="t" lIns="0" rIns="0" tIns="0" bIns="0">
            <a:spAutoFit/>
          </a:bodyPr>
          <a:lstStyle/>
          <a:p>
            <a:pPr algn="r">
              <a:lnSpc>
                <a:spcPct val="115000"/>
              </a:lnSpc>
            </a:pPr>
            <a:r>
              <a:rPr sz="1100" b="0">
                <a:solidFill>
                  <a:srgbClr val="5A6A80"/>
                </a:solidFill>
                <a:latin typeface="Hiragino Sans"/>
                <a:ea typeface="Hiragino Sans"/>
                <a:cs typeface="Hiragino Sans"/>
              </a:rPr>
              <a:t>→ P221</a:t>
            </a:r>
          </a:p>
        </p:txBody>
      </p:sp>
      <p:sp>
        <p:nvSpPr>
          <p:cNvPr id="57" name="Rounded Rectangle 56"/>
          <p:cNvSpPr/>
          <p:nvPr/>
        </p:nvSpPr>
        <p:spPr>
          <a:xfrm>
            <a:off x="548640" y="5248656"/>
            <a:ext cx="1234440" cy="50292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48640" y="5385816"/>
            <a:ext cx="1234440" cy="320040"/>
          </a:xfrm>
          <a:prstGeom prst="rect">
            <a:avLst/>
          </a:prstGeom>
          <a:noFill/>
        </p:spPr>
        <p:txBody>
          <a:bodyPr wrap="square" anchor="t" lIns="0" rIns="0" tIns="0" bIns="0">
            <a:spAutoFit/>
          </a:bodyPr>
          <a:lstStyle/>
          <a:p>
            <a:pPr algn="ctr">
              <a:lnSpc>
                <a:spcPct val="115000"/>
              </a:lnSpc>
            </a:pPr>
            <a:r>
              <a:rPr sz="1400" b="1">
                <a:solidFill>
                  <a:srgbClr val="FFFFFF"/>
                </a:solidFill>
                <a:latin typeface="Helvetica Neue"/>
                <a:ea typeface="Helvetica Neue"/>
                <a:cs typeface="Helvetica Neue"/>
              </a:rPr>
              <a:t>Part 8</a:t>
            </a:r>
          </a:p>
        </p:txBody>
      </p:sp>
      <p:sp>
        <p:nvSpPr>
          <p:cNvPr id="59" name="Rounded Rectangle 58"/>
          <p:cNvSpPr/>
          <p:nvPr/>
        </p:nvSpPr>
        <p:spPr>
          <a:xfrm>
            <a:off x="1874519" y="5248656"/>
            <a:ext cx="7772400" cy="502920"/>
          </a:xfrm>
          <a:prstGeom prst="roundRect">
            <a:avLst>
              <a:gd name="adj" fmla="val 6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2057400" y="5367528"/>
            <a:ext cx="7406640" cy="36576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付録 (用語・ツール・情報源)</a:t>
            </a:r>
          </a:p>
        </p:txBody>
      </p:sp>
      <p:sp>
        <p:nvSpPr>
          <p:cNvPr id="61" name="Rounded Rectangle 60"/>
          <p:cNvSpPr/>
          <p:nvPr/>
        </p:nvSpPr>
        <p:spPr>
          <a:xfrm>
            <a:off x="9738360" y="5248656"/>
            <a:ext cx="1005840" cy="5029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738360" y="5385816"/>
            <a:ext cx="1005840" cy="320040"/>
          </a:xfrm>
          <a:prstGeom prst="rect">
            <a:avLst/>
          </a:prstGeom>
          <a:noFill/>
        </p:spPr>
        <p:txBody>
          <a:bodyPr wrap="square" anchor="t" lIns="0" rIns="0" tIns="0" bIns="0">
            <a:spAutoFit/>
          </a:bodyPr>
          <a:lstStyle/>
          <a:p>
            <a:pPr algn="ctr">
              <a:lnSpc>
                <a:spcPct val="115000"/>
              </a:lnSpc>
            </a:pPr>
            <a:r>
              <a:rPr sz="1200" b="1">
                <a:solidFill>
                  <a:srgbClr val="E87722"/>
                </a:solidFill>
                <a:latin typeface="Hiragino Sans"/>
                <a:ea typeface="Hiragino Sans"/>
                <a:cs typeface="Hiragino Sans"/>
              </a:rPr>
              <a:t>15p</a:t>
            </a:r>
          </a:p>
        </p:txBody>
      </p:sp>
      <p:sp>
        <p:nvSpPr>
          <p:cNvPr id="63" name="TextBox 62"/>
          <p:cNvSpPr txBox="1"/>
          <p:nvPr/>
        </p:nvSpPr>
        <p:spPr>
          <a:xfrm>
            <a:off x="10835640" y="5385816"/>
            <a:ext cx="822960" cy="320040"/>
          </a:xfrm>
          <a:prstGeom prst="rect">
            <a:avLst/>
          </a:prstGeom>
          <a:noFill/>
        </p:spPr>
        <p:txBody>
          <a:bodyPr wrap="square" anchor="t" lIns="0" rIns="0" tIns="0" bIns="0">
            <a:spAutoFit/>
          </a:bodyPr>
          <a:lstStyle/>
          <a:p>
            <a:pPr algn="r">
              <a:lnSpc>
                <a:spcPct val="115000"/>
              </a:lnSpc>
            </a:pPr>
            <a:r>
              <a:rPr sz="1100" b="0">
                <a:solidFill>
                  <a:srgbClr val="5A6A80"/>
                </a:solidFill>
                <a:latin typeface="Hiragino Sans"/>
                <a:ea typeface="Hiragino Sans"/>
                <a:cs typeface="Hiragino Sans"/>
              </a:rPr>
              <a:t>→ P231</a:t>
            </a:r>
          </a:p>
        </p:txBody>
      </p:sp>
      <p:sp>
        <p:nvSpPr>
          <p:cNvPr id="64" name="Rounded Rectangle 63"/>
          <p:cNvSpPr/>
          <p:nvPr/>
        </p:nvSpPr>
        <p:spPr>
          <a:xfrm>
            <a:off x="548640" y="6080760"/>
            <a:ext cx="11109960" cy="36576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48640" y="6144768"/>
            <a:ext cx="11109960" cy="274320"/>
          </a:xfrm>
          <a:prstGeom prst="rect">
            <a:avLst/>
          </a:prstGeom>
          <a:noFill/>
        </p:spPr>
        <p:txBody>
          <a:bodyPr wrap="square" anchor="t" lIns="0" rIns="0" tIns="0" bIns="0">
            <a:spAutoFit/>
          </a:bodyPr>
          <a:lstStyle/>
          <a:p>
            <a:pPr algn="ctr">
              <a:lnSpc>
                <a:spcPct val="115000"/>
              </a:lnSpc>
            </a:pPr>
            <a:r>
              <a:rPr sz="1100" b="1">
                <a:solidFill>
                  <a:srgbClr val="B85E1A"/>
                </a:solidFill>
                <a:latin typeface="Hiragino Sans"/>
                <a:ea typeface="Hiragino Sans"/>
                <a:cs typeface="Hiragino Sans"/>
              </a:rPr>
              <a:t>現在 Part 1 完了 | 総 250 ページ構成</a:t>
            </a:r>
          </a:p>
        </p:txBody>
      </p:sp>
      <p:sp>
        <p:nvSpPr>
          <p:cNvPr id="66" name="TextBox 65"/>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37160" cy="46634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097280"/>
            <a:ext cx="3657600" cy="457200"/>
          </a:xfrm>
          <a:prstGeom prst="rect">
            <a:avLst/>
          </a:prstGeom>
          <a:noFill/>
        </p:spPr>
        <p:txBody>
          <a:bodyPr wrap="square" anchor="t" lIns="0" rIns="0" tIns="0" bIns="0">
            <a:spAutoFit/>
          </a:bodyPr>
          <a:lstStyle/>
          <a:p>
            <a:pPr algn="l">
              <a:lnSpc>
                <a:spcPct val="115000"/>
              </a:lnSpc>
            </a:pPr>
            <a:r>
              <a:rPr sz="1800" b="1">
                <a:solidFill>
                  <a:srgbClr val="E87722"/>
                </a:solidFill>
                <a:latin typeface="Helvetica Neue"/>
                <a:ea typeface="Helvetica Neue"/>
                <a:cs typeface="Helvetica Neue"/>
              </a:rPr>
              <a:t>PART 2</a:t>
            </a:r>
          </a:p>
        </p:txBody>
      </p:sp>
      <p:sp>
        <p:nvSpPr>
          <p:cNvPr id="5" name="TextBox 4"/>
          <p:cNvSpPr txBox="1"/>
          <p:nvPr/>
        </p:nvSpPr>
        <p:spPr>
          <a:xfrm>
            <a:off x="1097280" y="1737360"/>
            <a:ext cx="10058400" cy="1371600"/>
          </a:xfrm>
          <a:prstGeom prst="rect">
            <a:avLst/>
          </a:prstGeom>
          <a:noFill/>
        </p:spPr>
        <p:txBody>
          <a:bodyPr wrap="square" anchor="t" lIns="0" rIns="0" tIns="0" bIns="0">
            <a:spAutoFit/>
          </a:bodyPr>
          <a:lstStyle/>
          <a:p>
            <a:pPr algn="l">
              <a:lnSpc>
                <a:spcPct val="110000"/>
              </a:lnSpc>
            </a:pPr>
            <a:r>
              <a:rPr sz="5400" b="1">
                <a:solidFill>
                  <a:srgbClr val="FFFFFF"/>
                </a:solidFill>
                <a:latin typeface="Hiragino Sans"/>
                <a:ea typeface="Hiragino Sans"/>
                <a:cs typeface="Hiragino Sans"/>
              </a:rPr>
              <a:t>市況・業界構造の変化</a:t>
            </a:r>
          </a:p>
        </p:txBody>
      </p:sp>
      <p:sp>
        <p:nvSpPr>
          <p:cNvPr id="6" name="TextBox 5"/>
          <p:cNvSpPr txBox="1"/>
          <p:nvPr/>
        </p:nvSpPr>
        <p:spPr>
          <a:xfrm>
            <a:off x="1097280" y="3291840"/>
            <a:ext cx="10058400" cy="548640"/>
          </a:xfrm>
          <a:prstGeom prst="rect">
            <a:avLst/>
          </a:prstGeom>
          <a:noFill/>
        </p:spPr>
        <p:txBody>
          <a:bodyPr wrap="square" anchor="t" lIns="0" rIns="0" tIns="0" bIns="0">
            <a:spAutoFit/>
          </a:bodyPr>
          <a:lstStyle/>
          <a:p>
            <a:pPr algn="l">
              <a:lnSpc>
                <a:spcPct val="130000"/>
              </a:lnSpc>
            </a:pPr>
            <a:r>
              <a:rPr sz="1800" b="0">
                <a:solidFill>
                  <a:srgbClr val="D7DDE8"/>
                </a:solidFill>
                <a:latin typeface="Hiragino Sans"/>
                <a:ea typeface="Hiragino Sans"/>
                <a:cs typeface="Hiragino Sans"/>
              </a:rPr>
              <a:t>2年半で業界地図は書き換えられた</a:t>
            </a:r>
          </a:p>
        </p:txBody>
      </p:sp>
      <p:sp>
        <p:nvSpPr>
          <p:cNvPr id="7" name="Rectangle 6"/>
          <p:cNvSpPr/>
          <p:nvPr/>
        </p:nvSpPr>
        <p:spPr>
          <a:xfrm>
            <a:off x="1097280" y="4114800"/>
            <a:ext cx="914400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97680"/>
            <a:ext cx="10058400" cy="822960"/>
          </a:xfrm>
          <a:prstGeom prst="rect">
            <a:avLst/>
          </a:prstGeom>
          <a:noFill/>
        </p:spPr>
        <p:txBody>
          <a:bodyPr wrap="square" anchor="t" lIns="0" rIns="0" tIns="0" bIns="0">
            <a:spAutoFit/>
          </a:bodyPr>
          <a:lstStyle/>
          <a:p>
            <a:pPr algn="l">
              <a:lnSpc>
                <a:spcPct val="150000"/>
              </a:lnSpc>
            </a:pPr>
            <a:r>
              <a:rPr sz="1300" b="0">
                <a:solidFill>
                  <a:srgbClr val="D7DDE8"/>
                </a:solidFill>
                <a:latin typeface="Hiragino Sans"/>
                <a:ea typeface="Hiragino Sans"/>
                <a:cs typeface="Hiragino Sans"/>
              </a:rPr>
              <a:t>Cookieの『廃止→撤回→実質終了』の3幕劇、LINEヤフー統合、AI検索の勃興、</a:t>
            </a:r>
          </a:p>
          <a:p>
            <a:pPr algn="l">
              <a:lnSpc>
                <a:spcPct val="150000"/>
              </a:lnSpc>
            </a:pPr>
            <a:r>
              <a:rPr sz="1300" b="0">
                <a:solidFill>
                  <a:srgbClr val="D7DDE8"/>
                </a:solidFill>
                <a:latin typeface="Hiragino Sans"/>
                <a:ea typeface="Hiragino Sans"/>
                <a:cs typeface="Hiragino Sans"/>
              </a:rPr>
              <a:t>代理店業界の再編まで。個別媒体の話に入る前に、業界の地殻変動を俯瞰する。</a:t>
            </a:r>
          </a:p>
        </p:txBody>
      </p:sp>
      <p:sp>
        <p:nvSpPr>
          <p:cNvPr id="9" name="TextBox 8"/>
          <p:cNvSpPr txBox="1"/>
          <p:nvPr/>
        </p:nvSpPr>
        <p:spPr>
          <a:xfrm>
            <a:off x="1097280" y="539496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2024年 日本広告市場の構造</a:t>
            </a:r>
          </a:p>
        </p:txBody>
      </p:sp>
      <p:sp>
        <p:nvSpPr>
          <p:cNvPr id="10" name="TextBox 9"/>
          <p:cNvSpPr txBox="1"/>
          <p:nvPr/>
        </p:nvSpPr>
        <p:spPr>
          <a:xfrm>
            <a:off x="4297680" y="539496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Cookie / Privacy Sandbox の終焉</a:t>
            </a:r>
          </a:p>
        </p:txBody>
      </p:sp>
      <p:sp>
        <p:nvSpPr>
          <p:cNvPr id="11" name="TextBox 10"/>
          <p:cNvSpPr txBox="1"/>
          <p:nvPr/>
        </p:nvSpPr>
        <p:spPr>
          <a:xfrm>
            <a:off x="7498080" y="539496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Consent Mode v2 の実務</a:t>
            </a:r>
          </a:p>
        </p:txBody>
      </p:sp>
      <p:sp>
        <p:nvSpPr>
          <p:cNvPr id="12" name="TextBox 11"/>
          <p:cNvSpPr txBox="1"/>
          <p:nvPr/>
        </p:nvSpPr>
        <p:spPr>
          <a:xfrm>
            <a:off x="1097280" y="576072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LINEヤフー統合 2023→2026</a:t>
            </a:r>
          </a:p>
        </p:txBody>
      </p:sp>
      <p:sp>
        <p:nvSpPr>
          <p:cNvPr id="13" name="TextBox 12"/>
          <p:cNvSpPr txBox="1"/>
          <p:nvPr/>
        </p:nvSpPr>
        <p:spPr>
          <a:xfrm>
            <a:off x="4297680" y="576072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景表法ステマ規制・EU DSA</a:t>
            </a:r>
          </a:p>
        </p:txBody>
      </p:sp>
      <p:sp>
        <p:nvSpPr>
          <p:cNvPr id="14" name="TextBox 13"/>
          <p:cNvSpPr txBox="1"/>
          <p:nvPr/>
        </p:nvSpPr>
        <p:spPr>
          <a:xfrm>
            <a:off x="7498080" y="576072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生成AIの3波とAI検索</a:t>
            </a:r>
          </a:p>
        </p:txBody>
      </p:sp>
      <p:sp>
        <p:nvSpPr>
          <p:cNvPr id="15" name="TextBox 14"/>
          <p:cNvSpPr txBox="1"/>
          <p:nvPr/>
        </p:nvSpPr>
        <p:spPr>
          <a:xfrm>
            <a:off x="1097280" y="612648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代理店再編と運用職シフト</a:t>
            </a:r>
          </a:p>
        </p:txBody>
      </p:sp>
      <p:sp>
        <p:nvSpPr>
          <p:cNvPr id="16" name="TextBox 15"/>
          <p:cNvSpPr txBox="1"/>
          <p:nvPr/>
        </p:nvSpPr>
        <p:spPr>
          <a:xfrm>
            <a:off x="4297680" y="612648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Part 3 への橋渡し</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2024年 日本広告市場の構造</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電通『2024年 日本の広告費』(2025/02/27)</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P12 / 250</a:t>
            </a:r>
          </a:p>
        </p:txBody>
      </p:sp>
      <p:sp>
        <p:nvSpPr>
          <p:cNvPr id="8" name="Rounded Rectangle 7"/>
          <p:cNvSpPr/>
          <p:nvPr/>
        </p:nvSpPr>
        <p:spPr>
          <a:xfrm>
            <a:off x="548640" y="1371600"/>
            <a:ext cx="3657600" cy="484632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600200"/>
            <a:ext cx="3200400" cy="365760"/>
          </a:xfrm>
          <a:prstGeom prst="rect">
            <a:avLst/>
          </a:prstGeom>
          <a:noFill/>
        </p:spPr>
        <p:txBody>
          <a:bodyPr wrap="square" anchor="t" lIns="0" rIns="0" tIns="0" bIns="0">
            <a:spAutoFit/>
          </a:bodyPr>
          <a:lstStyle/>
          <a:p>
            <a:pPr algn="l">
              <a:lnSpc>
                <a:spcPct val="115000"/>
              </a:lnSpc>
            </a:pPr>
            <a:r>
              <a:rPr sz="1200" b="1">
                <a:solidFill>
                  <a:srgbClr val="E87722"/>
                </a:solidFill>
                <a:latin typeface="Hiragino Sans"/>
                <a:ea typeface="Hiragino Sans"/>
                <a:cs typeface="Hiragino Sans"/>
              </a:rPr>
              <a:t>2024年 総広告費</a:t>
            </a:r>
          </a:p>
        </p:txBody>
      </p:sp>
      <p:sp>
        <p:nvSpPr>
          <p:cNvPr id="10" name="TextBox 9"/>
          <p:cNvSpPr txBox="1"/>
          <p:nvPr/>
        </p:nvSpPr>
        <p:spPr>
          <a:xfrm>
            <a:off x="777240" y="2057400"/>
            <a:ext cx="2743200" cy="1097280"/>
          </a:xfrm>
          <a:prstGeom prst="rect">
            <a:avLst/>
          </a:prstGeom>
          <a:noFill/>
        </p:spPr>
        <p:txBody>
          <a:bodyPr wrap="square" anchor="t" lIns="0" rIns="0" tIns="0" bIns="0">
            <a:spAutoFit/>
          </a:bodyPr>
          <a:lstStyle/>
          <a:p>
            <a:pPr algn="l">
              <a:lnSpc>
                <a:spcPct val="115000"/>
              </a:lnSpc>
            </a:pPr>
            <a:r>
              <a:rPr sz="7200" b="1">
                <a:solidFill>
                  <a:srgbClr val="FFFFFF"/>
                </a:solidFill>
                <a:latin typeface="Helvetica Neue"/>
                <a:ea typeface="Helvetica Neue"/>
                <a:cs typeface="Helvetica Neue"/>
              </a:rPr>
              <a:t>7.67</a:t>
            </a:r>
          </a:p>
        </p:txBody>
      </p:sp>
      <p:sp>
        <p:nvSpPr>
          <p:cNvPr id="11" name="TextBox 10"/>
          <p:cNvSpPr txBox="1"/>
          <p:nvPr/>
        </p:nvSpPr>
        <p:spPr>
          <a:xfrm>
            <a:off x="3017520" y="2651760"/>
            <a:ext cx="914400" cy="548640"/>
          </a:xfrm>
          <a:prstGeom prst="rect">
            <a:avLst/>
          </a:prstGeom>
          <a:noFill/>
        </p:spPr>
        <p:txBody>
          <a:bodyPr wrap="square" anchor="t" lIns="0" rIns="0" tIns="0" bIns="0">
            <a:spAutoFit/>
          </a:bodyPr>
          <a:lstStyle/>
          <a:p>
            <a:pPr algn="l">
              <a:lnSpc>
                <a:spcPct val="115000"/>
              </a:lnSpc>
            </a:pPr>
            <a:r>
              <a:rPr sz="2200" b="1">
                <a:solidFill>
                  <a:srgbClr val="FFFFFF"/>
                </a:solidFill>
                <a:latin typeface="Hiragino Sans"/>
                <a:ea typeface="Hiragino Sans"/>
                <a:cs typeface="Hiragino Sans"/>
              </a:rPr>
              <a:t>兆円</a:t>
            </a:r>
          </a:p>
        </p:txBody>
      </p:sp>
      <p:sp>
        <p:nvSpPr>
          <p:cNvPr id="12" name="TextBox 11"/>
          <p:cNvSpPr txBox="1"/>
          <p:nvPr/>
        </p:nvSpPr>
        <p:spPr>
          <a:xfrm>
            <a:off x="777240" y="3474720"/>
            <a:ext cx="3200400" cy="640080"/>
          </a:xfrm>
          <a:prstGeom prst="rect">
            <a:avLst/>
          </a:prstGeom>
          <a:noFill/>
        </p:spPr>
        <p:txBody>
          <a:bodyPr wrap="square" anchor="t" lIns="0" rIns="0" tIns="0" bIns="0">
            <a:spAutoFit/>
          </a:bodyPr>
          <a:lstStyle/>
          <a:p>
            <a:pPr algn="l">
              <a:lnSpc>
                <a:spcPct val="140000"/>
              </a:lnSpc>
            </a:pPr>
            <a:r>
              <a:rPr sz="1100" b="0">
                <a:solidFill>
                  <a:srgbClr val="D7DDE8"/>
                </a:solidFill>
                <a:latin typeface="Hiragino Sans"/>
                <a:ea typeface="Hiragino Sans"/>
                <a:cs typeface="Hiragino Sans"/>
              </a:rPr>
              <a:t>前年比 +4.9%</a:t>
            </a:r>
          </a:p>
          <a:p>
            <a:pPr algn="l">
              <a:lnSpc>
                <a:spcPct val="140000"/>
              </a:lnSpc>
            </a:pPr>
            <a:r>
              <a:rPr sz="1100" b="0">
                <a:solidFill>
                  <a:srgbClr val="D7DDE8"/>
                </a:solidFill>
                <a:latin typeface="Hiragino Sans"/>
                <a:ea typeface="Hiragino Sans"/>
                <a:cs typeface="Hiragino Sans"/>
              </a:rPr>
              <a:t>3年連続で過去最高更新</a:t>
            </a:r>
          </a:p>
        </p:txBody>
      </p:sp>
      <p:sp>
        <p:nvSpPr>
          <p:cNvPr id="13" name="Rectangle 12"/>
          <p:cNvSpPr/>
          <p:nvPr/>
        </p:nvSpPr>
        <p:spPr>
          <a:xfrm>
            <a:off x="777240" y="4297680"/>
            <a:ext cx="320040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434840"/>
            <a:ext cx="3200400" cy="32004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ネット広告シェア</a:t>
            </a:r>
          </a:p>
        </p:txBody>
      </p:sp>
      <p:sp>
        <p:nvSpPr>
          <p:cNvPr id="15" name="TextBox 14"/>
          <p:cNvSpPr txBox="1"/>
          <p:nvPr/>
        </p:nvSpPr>
        <p:spPr>
          <a:xfrm>
            <a:off x="777240" y="4754880"/>
            <a:ext cx="3200400" cy="914400"/>
          </a:xfrm>
          <a:prstGeom prst="rect">
            <a:avLst/>
          </a:prstGeom>
          <a:noFill/>
        </p:spPr>
        <p:txBody>
          <a:bodyPr wrap="square" anchor="t" lIns="0" rIns="0" tIns="0" bIns="0">
            <a:spAutoFit/>
          </a:bodyPr>
          <a:lstStyle/>
          <a:p>
            <a:pPr algn="l">
              <a:lnSpc>
                <a:spcPct val="115000"/>
              </a:lnSpc>
            </a:pPr>
            <a:r>
              <a:rPr sz="5600" b="1">
                <a:solidFill>
                  <a:srgbClr val="FFFFFF"/>
                </a:solidFill>
                <a:latin typeface="Helvetica Neue"/>
                <a:ea typeface="Helvetica Neue"/>
                <a:cs typeface="Helvetica Neue"/>
              </a:rPr>
              <a:t>47.6%</a:t>
            </a:r>
          </a:p>
        </p:txBody>
      </p:sp>
      <p:sp>
        <p:nvSpPr>
          <p:cNvPr id="16" name="TextBox 15"/>
          <p:cNvSpPr txBox="1"/>
          <p:nvPr/>
        </p:nvSpPr>
        <p:spPr>
          <a:xfrm>
            <a:off x="777240" y="5623560"/>
            <a:ext cx="3200400" cy="320040"/>
          </a:xfrm>
          <a:prstGeom prst="rect">
            <a:avLst/>
          </a:prstGeom>
          <a:noFill/>
        </p:spPr>
        <p:txBody>
          <a:bodyPr wrap="square" anchor="t" lIns="0" rIns="0" tIns="0" bIns="0">
            <a:spAutoFit/>
          </a:bodyPr>
          <a:lstStyle/>
          <a:p>
            <a:pPr algn="l">
              <a:lnSpc>
                <a:spcPct val="115000"/>
              </a:lnSpc>
            </a:pPr>
            <a:r>
              <a:rPr sz="1100" b="0">
                <a:solidFill>
                  <a:srgbClr val="D7DDE8"/>
                </a:solidFill>
                <a:latin typeface="Hiragino Sans"/>
                <a:ea typeface="Hiragino Sans"/>
                <a:cs typeface="Hiragino Sans"/>
              </a:rPr>
              <a:t>= 3兆6,517億円 (+9.6%)</a:t>
            </a:r>
          </a:p>
        </p:txBody>
      </p:sp>
      <p:sp>
        <p:nvSpPr>
          <p:cNvPr id="17" name="TextBox 16"/>
          <p:cNvSpPr txBox="1"/>
          <p:nvPr/>
        </p:nvSpPr>
        <p:spPr>
          <a:xfrm>
            <a:off x="777240" y="5897880"/>
            <a:ext cx="3200400" cy="274320"/>
          </a:xfrm>
          <a:prstGeom prst="rect">
            <a:avLst/>
          </a:prstGeom>
          <a:noFill/>
        </p:spPr>
        <p:txBody>
          <a:bodyPr wrap="square" anchor="t" lIns="0" rIns="0" tIns="0" bIns="0">
            <a:spAutoFit/>
          </a:bodyPr>
          <a:lstStyle/>
          <a:p>
            <a:pPr algn="l">
              <a:lnSpc>
                <a:spcPct val="115000"/>
              </a:lnSpc>
            </a:pPr>
            <a:r>
              <a:rPr sz="1000" b="0">
                <a:solidFill>
                  <a:srgbClr val="8A96A8"/>
                </a:solidFill>
                <a:latin typeface="Hiragino Sans"/>
                <a:ea typeface="Hiragino Sans"/>
                <a:cs typeface="Hiragino Sans"/>
              </a:rPr>
              <a:t>媒体費は 2兆9,611億円 (+10.2%)</a:t>
            </a:r>
          </a:p>
        </p:txBody>
      </p:sp>
      <p:sp>
        <p:nvSpPr>
          <p:cNvPr id="18" name="TextBox 17"/>
          <p:cNvSpPr txBox="1"/>
          <p:nvPr/>
        </p:nvSpPr>
        <p:spPr>
          <a:xfrm>
            <a:off x="4572000" y="1417320"/>
            <a:ext cx="6400800" cy="36576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媒体別内訳 (2024年, 億円)</a:t>
            </a:r>
          </a:p>
        </p:txBody>
      </p:sp>
      <p:sp>
        <p:nvSpPr>
          <p:cNvPr id="19" name="Rounded Rectangle 18"/>
          <p:cNvSpPr/>
          <p:nvPr/>
        </p:nvSpPr>
        <p:spPr>
          <a:xfrm>
            <a:off x="4572000" y="1920240"/>
            <a:ext cx="7086600" cy="548640"/>
          </a:xfrm>
          <a:prstGeom prst="roundRect">
            <a:avLst>
              <a:gd name="adj" fmla="val 6000"/>
            </a:avLst>
          </a:prstGeom>
          <a:solidFill>
            <a:srgbClr val="FFF3E6"/>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709160" y="2093976"/>
            <a:ext cx="201168" cy="201168"/>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0" y="2075688"/>
            <a:ext cx="3474720" cy="36576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インターネット広告</a:t>
            </a:r>
          </a:p>
        </p:txBody>
      </p:sp>
      <p:sp>
        <p:nvSpPr>
          <p:cNvPr id="22" name="TextBox 21"/>
          <p:cNvSpPr txBox="1"/>
          <p:nvPr/>
        </p:nvSpPr>
        <p:spPr>
          <a:xfrm>
            <a:off x="8503920" y="2075688"/>
            <a:ext cx="1645920" cy="365760"/>
          </a:xfrm>
          <a:prstGeom prst="rect">
            <a:avLst/>
          </a:prstGeom>
          <a:noFill/>
        </p:spPr>
        <p:txBody>
          <a:bodyPr wrap="square" anchor="t" lIns="0" rIns="0" tIns="0" bIns="0">
            <a:spAutoFit/>
          </a:bodyPr>
          <a:lstStyle/>
          <a:p>
            <a:pPr algn="r">
              <a:lnSpc>
                <a:spcPct val="115000"/>
              </a:lnSpc>
            </a:pPr>
            <a:r>
              <a:rPr sz="1400" b="1">
                <a:solidFill>
                  <a:srgbClr val="E87722"/>
                </a:solidFill>
                <a:latin typeface="Helvetica Neue"/>
                <a:ea typeface="Helvetica Neue"/>
                <a:cs typeface="Helvetica Neue"/>
              </a:rPr>
              <a:t>36,517</a:t>
            </a:r>
          </a:p>
        </p:txBody>
      </p:sp>
      <p:sp>
        <p:nvSpPr>
          <p:cNvPr id="23" name="TextBox 22"/>
          <p:cNvSpPr txBox="1"/>
          <p:nvPr/>
        </p:nvSpPr>
        <p:spPr>
          <a:xfrm>
            <a:off x="10241280" y="2093976"/>
            <a:ext cx="1371600" cy="365760"/>
          </a:xfrm>
          <a:prstGeom prst="rect">
            <a:avLst/>
          </a:prstGeom>
          <a:noFill/>
        </p:spPr>
        <p:txBody>
          <a:bodyPr wrap="square" anchor="t" lIns="0" rIns="0" tIns="0" bIns="0">
            <a:spAutoFit/>
          </a:bodyPr>
          <a:lstStyle/>
          <a:p>
            <a:pPr algn="r">
              <a:lnSpc>
                <a:spcPct val="115000"/>
              </a:lnSpc>
            </a:pPr>
            <a:r>
              <a:rPr sz="1100" b="0">
                <a:solidFill>
                  <a:srgbClr val="5A6A80"/>
                </a:solidFill>
                <a:latin typeface="Helvetica Neue"/>
                <a:ea typeface="Helvetica Neue"/>
                <a:cs typeface="Helvetica Neue"/>
              </a:rPr>
              <a:t>+9.6%</a:t>
            </a:r>
          </a:p>
        </p:txBody>
      </p:sp>
      <p:sp>
        <p:nvSpPr>
          <p:cNvPr id="24" name="Rounded Rectangle 23"/>
          <p:cNvSpPr/>
          <p:nvPr/>
        </p:nvSpPr>
        <p:spPr>
          <a:xfrm>
            <a:off x="4572000" y="2542032"/>
            <a:ext cx="7086600" cy="54864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4709160" y="2715768"/>
            <a:ext cx="201168" cy="201168"/>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29200" y="2697480"/>
            <a:ext cx="3474720" cy="365760"/>
          </a:xfrm>
          <a:prstGeom prst="rect">
            <a:avLst/>
          </a:prstGeom>
          <a:noFill/>
        </p:spPr>
        <p:txBody>
          <a:bodyPr wrap="square" anchor="t" lIns="0" rIns="0" tIns="0" bIns="0">
            <a:spAutoFit/>
          </a:bodyPr>
          <a:lstStyle/>
          <a:p>
            <a:pPr algn="l">
              <a:lnSpc>
                <a:spcPct val="115000"/>
              </a:lnSpc>
            </a:pPr>
            <a:r>
              <a:rPr sz="1200" b="0">
                <a:solidFill>
                  <a:srgbClr val="0F2A4F"/>
                </a:solidFill>
                <a:latin typeface="Hiragino Sans"/>
                <a:ea typeface="Hiragino Sans"/>
                <a:cs typeface="Hiragino Sans"/>
              </a:rPr>
              <a:t>テレビメディア</a:t>
            </a:r>
          </a:p>
        </p:txBody>
      </p:sp>
      <p:sp>
        <p:nvSpPr>
          <p:cNvPr id="27" name="TextBox 26"/>
          <p:cNvSpPr txBox="1"/>
          <p:nvPr/>
        </p:nvSpPr>
        <p:spPr>
          <a:xfrm>
            <a:off x="8503920" y="2697480"/>
            <a:ext cx="1645920" cy="365760"/>
          </a:xfrm>
          <a:prstGeom prst="rect">
            <a:avLst/>
          </a:prstGeom>
          <a:noFill/>
        </p:spPr>
        <p:txBody>
          <a:bodyPr wrap="square" anchor="t" lIns="0" rIns="0" tIns="0" bIns="0">
            <a:spAutoFit/>
          </a:bodyPr>
          <a:lstStyle/>
          <a:p>
            <a:pPr algn="r">
              <a:lnSpc>
                <a:spcPct val="115000"/>
              </a:lnSpc>
            </a:pPr>
            <a:r>
              <a:rPr sz="1400" b="1">
                <a:solidFill>
                  <a:srgbClr val="0F2A4F"/>
                </a:solidFill>
                <a:latin typeface="Helvetica Neue"/>
                <a:ea typeface="Helvetica Neue"/>
                <a:cs typeface="Helvetica Neue"/>
              </a:rPr>
              <a:t>17,034</a:t>
            </a:r>
          </a:p>
        </p:txBody>
      </p:sp>
      <p:sp>
        <p:nvSpPr>
          <p:cNvPr id="28" name="TextBox 27"/>
          <p:cNvSpPr txBox="1"/>
          <p:nvPr/>
        </p:nvSpPr>
        <p:spPr>
          <a:xfrm>
            <a:off x="10241280" y="2715768"/>
            <a:ext cx="1371600" cy="365760"/>
          </a:xfrm>
          <a:prstGeom prst="rect">
            <a:avLst/>
          </a:prstGeom>
          <a:noFill/>
        </p:spPr>
        <p:txBody>
          <a:bodyPr wrap="square" anchor="t" lIns="0" rIns="0" tIns="0" bIns="0">
            <a:spAutoFit/>
          </a:bodyPr>
          <a:lstStyle/>
          <a:p>
            <a:pPr algn="r">
              <a:lnSpc>
                <a:spcPct val="115000"/>
              </a:lnSpc>
            </a:pPr>
            <a:r>
              <a:rPr sz="1100" b="0">
                <a:solidFill>
                  <a:srgbClr val="5A6A80"/>
                </a:solidFill>
                <a:latin typeface="Helvetica Neue"/>
                <a:ea typeface="Helvetica Neue"/>
                <a:cs typeface="Helvetica Neue"/>
              </a:rPr>
              <a:t>-1.1%</a:t>
            </a:r>
          </a:p>
        </p:txBody>
      </p:sp>
      <p:sp>
        <p:nvSpPr>
          <p:cNvPr id="29" name="Rounded Rectangle 28"/>
          <p:cNvSpPr/>
          <p:nvPr/>
        </p:nvSpPr>
        <p:spPr>
          <a:xfrm>
            <a:off x="4572000" y="3163824"/>
            <a:ext cx="7086600" cy="5486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709160" y="3337560"/>
            <a:ext cx="201168" cy="201168"/>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0" y="3319272"/>
            <a:ext cx="3474720" cy="365760"/>
          </a:xfrm>
          <a:prstGeom prst="rect">
            <a:avLst/>
          </a:prstGeom>
          <a:noFill/>
        </p:spPr>
        <p:txBody>
          <a:bodyPr wrap="square" anchor="t" lIns="0" rIns="0" tIns="0" bIns="0">
            <a:spAutoFit/>
          </a:bodyPr>
          <a:lstStyle/>
          <a:p>
            <a:pPr algn="l">
              <a:lnSpc>
                <a:spcPct val="115000"/>
              </a:lnSpc>
            </a:pPr>
            <a:r>
              <a:rPr sz="1200" b="0">
                <a:solidFill>
                  <a:srgbClr val="0F2A4F"/>
                </a:solidFill>
                <a:latin typeface="Hiragino Sans"/>
                <a:ea typeface="Hiragino Sans"/>
                <a:cs typeface="Hiragino Sans"/>
              </a:rPr>
              <a:t>プロモーションメディア</a:t>
            </a:r>
          </a:p>
        </p:txBody>
      </p:sp>
      <p:sp>
        <p:nvSpPr>
          <p:cNvPr id="32" name="TextBox 31"/>
          <p:cNvSpPr txBox="1"/>
          <p:nvPr/>
        </p:nvSpPr>
        <p:spPr>
          <a:xfrm>
            <a:off x="8503920" y="3319272"/>
            <a:ext cx="1645920" cy="365760"/>
          </a:xfrm>
          <a:prstGeom prst="rect">
            <a:avLst/>
          </a:prstGeom>
          <a:noFill/>
        </p:spPr>
        <p:txBody>
          <a:bodyPr wrap="square" anchor="t" lIns="0" rIns="0" tIns="0" bIns="0">
            <a:spAutoFit/>
          </a:bodyPr>
          <a:lstStyle/>
          <a:p>
            <a:pPr algn="r">
              <a:lnSpc>
                <a:spcPct val="115000"/>
              </a:lnSpc>
            </a:pPr>
            <a:r>
              <a:rPr sz="1400" b="1">
                <a:solidFill>
                  <a:srgbClr val="0F2A4F"/>
                </a:solidFill>
                <a:latin typeface="Helvetica Neue"/>
                <a:ea typeface="Helvetica Neue"/>
                <a:cs typeface="Helvetica Neue"/>
              </a:rPr>
              <a:t>14,959</a:t>
            </a:r>
          </a:p>
        </p:txBody>
      </p:sp>
      <p:sp>
        <p:nvSpPr>
          <p:cNvPr id="33" name="TextBox 32"/>
          <p:cNvSpPr txBox="1"/>
          <p:nvPr/>
        </p:nvSpPr>
        <p:spPr>
          <a:xfrm>
            <a:off x="10241280" y="3337560"/>
            <a:ext cx="1371600" cy="365760"/>
          </a:xfrm>
          <a:prstGeom prst="rect">
            <a:avLst/>
          </a:prstGeom>
          <a:noFill/>
        </p:spPr>
        <p:txBody>
          <a:bodyPr wrap="square" anchor="t" lIns="0" rIns="0" tIns="0" bIns="0">
            <a:spAutoFit/>
          </a:bodyPr>
          <a:lstStyle/>
          <a:p>
            <a:pPr algn="r">
              <a:lnSpc>
                <a:spcPct val="115000"/>
              </a:lnSpc>
            </a:pPr>
            <a:r>
              <a:rPr sz="1100" b="0">
                <a:solidFill>
                  <a:srgbClr val="5A6A80"/>
                </a:solidFill>
                <a:latin typeface="Helvetica Neue"/>
                <a:ea typeface="Helvetica Neue"/>
                <a:cs typeface="Helvetica Neue"/>
              </a:rPr>
              <a:t>+0.4%</a:t>
            </a:r>
          </a:p>
        </p:txBody>
      </p:sp>
      <p:sp>
        <p:nvSpPr>
          <p:cNvPr id="34" name="Rounded Rectangle 33"/>
          <p:cNvSpPr/>
          <p:nvPr/>
        </p:nvSpPr>
        <p:spPr>
          <a:xfrm>
            <a:off x="4572000" y="3785616"/>
            <a:ext cx="7086600" cy="54864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4709160" y="3959352"/>
            <a:ext cx="201168" cy="201168"/>
          </a:xfrm>
          <a:prstGeom prst="roundRect">
            <a:avLst>
              <a:gd name="adj" fmla="val 6000"/>
            </a:avLst>
          </a:prstGeom>
          <a:solidFill>
            <a:srgbClr val="5A6A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029200" y="3941064"/>
            <a:ext cx="3474720" cy="365760"/>
          </a:xfrm>
          <a:prstGeom prst="rect">
            <a:avLst/>
          </a:prstGeom>
          <a:noFill/>
        </p:spPr>
        <p:txBody>
          <a:bodyPr wrap="square" anchor="t" lIns="0" rIns="0" tIns="0" bIns="0">
            <a:spAutoFit/>
          </a:bodyPr>
          <a:lstStyle/>
          <a:p>
            <a:pPr algn="l">
              <a:lnSpc>
                <a:spcPct val="115000"/>
              </a:lnSpc>
            </a:pPr>
            <a:r>
              <a:rPr sz="1200" b="0">
                <a:solidFill>
                  <a:srgbClr val="0F2A4F"/>
                </a:solidFill>
                <a:latin typeface="Hiragino Sans"/>
                <a:ea typeface="Hiragino Sans"/>
                <a:cs typeface="Hiragino Sans"/>
              </a:rPr>
              <a:t>新聞</a:t>
            </a:r>
          </a:p>
        </p:txBody>
      </p:sp>
      <p:sp>
        <p:nvSpPr>
          <p:cNvPr id="37" name="TextBox 36"/>
          <p:cNvSpPr txBox="1"/>
          <p:nvPr/>
        </p:nvSpPr>
        <p:spPr>
          <a:xfrm>
            <a:off x="8503920" y="3941064"/>
            <a:ext cx="1645920" cy="365760"/>
          </a:xfrm>
          <a:prstGeom prst="rect">
            <a:avLst/>
          </a:prstGeom>
          <a:noFill/>
        </p:spPr>
        <p:txBody>
          <a:bodyPr wrap="square" anchor="t" lIns="0" rIns="0" tIns="0" bIns="0">
            <a:spAutoFit/>
          </a:bodyPr>
          <a:lstStyle/>
          <a:p>
            <a:pPr algn="r">
              <a:lnSpc>
                <a:spcPct val="115000"/>
              </a:lnSpc>
            </a:pPr>
            <a:r>
              <a:rPr sz="1400" b="1">
                <a:solidFill>
                  <a:srgbClr val="5A6A80"/>
                </a:solidFill>
                <a:latin typeface="Helvetica Neue"/>
                <a:ea typeface="Helvetica Neue"/>
                <a:cs typeface="Helvetica Neue"/>
              </a:rPr>
              <a:t>3,351</a:t>
            </a:r>
          </a:p>
        </p:txBody>
      </p:sp>
      <p:sp>
        <p:nvSpPr>
          <p:cNvPr id="38" name="TextBox 37"/>
          <p:cNvSpPr txBox="1"/>
          <p:nvPr/>
        </p:nvSpPr>
        <p:spPr>
          <a:xfrm>
            <a:off x="10241280" y="3959352"/>
            <a:ext cx="1371600" cy="365760"/>
          </a:xfrm>
          <a:prstGeom prst="rect">
            <a:avLst/>
          </a:prstGeom>
          <a:noFill/>
        </p:spPr>
        <p:txBody>
          <a:bodyPr wrap="square" anchor="t" lIns="0" rIns="0" tIns="0" bIns="0">
            <a:spAutoFit/>
          </a:bodyPr>
          <a:lstStyle/>
          <a:p>
            <a:pPr algn="r">
              <a:lnSpc>
                <a:spcPct val="115000"/>
              </a:lnSpc>
            </a:pPr>
            <a:r>
              <a:rPr sz="1100" b="0">
                <a:solidFill>
                  <a:srgbClr val="5A6A80"/>
                </a:solidFill>
                <a:latin typeface="Helvetica Neue"/>
                <a:ea typeface="Helvetica Neue"/>
                <a:cs typeface="Helvetica Neue"/>
              </a:rPr>
              <a:t>-3.6%</a:t>
            </a:r>
          </a:p>
        </p:txBody>
      </p:sp>
      <p:sp>
        <p:nvSpPr>
          <p:cNvPr id="39" name="Rounded Rectangle 38"/>
          <p:cNvSpPr/>
          <p:nvPr/>
        </p:nvSpPr>
        <p:spPr>
          <a:xfrm>
            <a:off x="4572000" y="4407408"/>
            <a:ext cx="7086600" cy="5486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4709160" y="4581144"/>
            <a:ext cx="201168" cy="201168"/>
          </a:xfrm>
          <a:prstGeom prst="roundRect">
            <a:avLst>
              <a:gd name="adj" fmla="val 6000"/>
            </a:avLst>
          </a:prstGeom>
          <a:solidFill>
            <a:srgbClr val="5A6A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029200" y="4562856"/>
            <a:ext cx="3474720" cy="365760"/>
          </a:xfrm>
          <a:prstGeom prst="rect">
            <a:avLst/>
          </a:prstGeom>
          <a:noFill/>
        </p:spPr>
        <p:txBody>
          <a:bodyPr wrap="square" anchor="t" lIns="0" rIns="0" tIns="0" bIns="0">
            <a:spAutoFit/>
          </a:bodyPr>
          <a:lstStyle/>
          <a:p>
            <a:pPr algn="l">
              <a:lnSpc>
                <a:spcPct val="115000"/>
              </a:lnSpc>
            </a:pPr>
            <a:r>
              <a:rPr sz="1200" b="0">
                <a:solidFill>
                  <a:srgbClr val="0F2A4F"/>
                </a:solidFill>
                <a:latin typeface="Hiragino Sans"/>
                <a:ea typeface="Hiragino Sans"/>
                <a:cs typeface="Hiragino Sans"/>
              </a:rPr>
              <a:t>雑誌</a:t>
            </a:r>
          </a:p>
        </p:txBody>
      </p:sp>
      <p:sp>
        <p:nvSpPr>
          <p:cNvPr id="42" name="TextBox 41"/>
          <p:cNvSpPr txBox="1"/>
          <p:nvPr/>
        </p:nvSpPr>
        <p:spPr>
          <a:xfrm>
            <a:off x="8503920" y="4562856"/>
            <a:ext cx="1645920" cy="365760"/>
          </a:xfrm>
          <a:prstGeom prst="rect">
            <a:avLst/>
          </a:prstGeom>
          <a:noFill/>
        </p:spPr>
        <p:txBody>
          <a:bodyPr wrap="square" anchor="t" lIns="0" rIns="0" tIns="0" bIns="0">
            <a:spAutoFit/>
          </a:bodyPr>
          <a:lstStyle/>
          <a:p>
            <a:pPr algn="r">
              <a:lnSpc>
                <a:spcPct val="115000"/>
              </a:lnSpc>
            </a:pPr>
            <a:r>
              <a:rPr sz="1400" b="1">
                <a:solidFill>
                  <a:srgbClr val="5A6A80"/>
                </a:solidFill>
                <a:latin typeface="Helvetica Neue"/>
                <a:ea typeface="Helvetica Neue"/>
                <a:cs typeface="Helvetica Neue"/>
              </a:rPr>
              <a:t>2,072</a:t>
            </a:r>
          </a:p>
        </p:txBody>
      </p:sp>
      <p:sp>
        <p:nvSpPr>
          <p:cNvPr id="43" name="TextBox 42"/>
          <p:cNvSpPr txBox="1"/>
          <p:nvPr/>
        </p:nvSpPr>
        <p:spPr>
          <a:xfrm>
            <a:off x="10241280" y="4581144"/>
            <a:ext cx="1371600" cy="365760"/>
          </a:xfrm>
          <a:prstGeom prst="rect">
            <a:avLst/>
          </a:prstGeom>
          <a:noFill/>
        </p:spPr>
        <p:txBody>
          <a:bodyPr wrap="square" anchor="t" lIns="0" rIns="0" tIns="0" bIns="0">
            <a:spAutoFit/>
          </a:bodyPr>
          <a:lstStyle/>
          <a:p>
            <a:pPr algn="r">
              <a:lnSpc>
                <a:spcPct val="115000"/>
              </a:lnSpc>
            </a:pPr>
            <a:r>
              <a:rPr sz="1100" b="0">
                <a:solidFill>
                  <a:srgbClr val="5A6A80"/>
                </a:solidFill>
                <a:latin typeface="Helvetica Neue"/>
                <a:ea typeface="Helvetica Neue"/>
                <a:cs typeface="Helvetica Neue"/>
              </a:rPr>
              <a:t>-2.8%</a:t>
            </a:r>
          </a:p>
        </p:txBody>
      </p:sp>
      <p:sp>
        <p:nvSpPr>
          <p:cNvPr id="44" name="Rounded Rectangle 43"/>
          <p:cNvSpPr/>
          <p:nvPr/>
        </p:nvSpPr>
        <p:spPr>
          <a:xfrm>
            <a:off x="4572000" y="5029200"/>
            <a:ext cx="7086600" cy="54864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4709160" y="5202936"/>
            <a:ext cx="201168" cy="201168"/>
          </a:xfrm>
          <a:prstGeom prst="roundRect">
            <a:avLst>
              <a:gd name="adj" fmla="val 6000"/>
            </a:avLst>
          </a:prstGeom>
          <a:solidFill>
            <a:srgbClr val="5A6A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29200" y="5184648"/>
            <a:ext cx="3474720" cy="365760"/>
          </a:xfrm>
          <a:prstGeom prst="rect">
            <a:avLst/>
          </a:prstGeom>
          <a:noFill/>
        </p:spPr>
        <p:txBody>
          <a:bodyPr wrap="square" anchor="t" lIns="0" rIns="0" tIns="0" bIns="0">
            <a:spAutoFit/>
          </a:bodyPr>
          <a:lstStyle/>
          <a:p>
            <a:pPr algn="l">
              <a:lnSpc>
                <a:spcPct val="115000"/>
              </a:lnSpc>
            </a:pPr>
            <a:r>
              <a:rPr sz="1200" b="0">
                <a:solidFill>
                  <a:srgbClr val="0F2A4F"/>
                </a:solidFill>
                <a:latin typeface="Hiragino Sans"/>
                <a:ea typeface="Hiragino Sans"/>
                <a:cs typeface="Hiragino Sans"/>
              </a:rPr>
              <a:t>ラジオ</a:t>
            </a:r>
          </a:p>
        </p:txBody>
      </p:sp>
      <p:sp>
        <p:nvSpPr>
          <p:cNvPr id="47" name="TextBox 46"/>
          <p:cNvSpPr txBox="1"/>
          <p:nvPr/>
        </p:nvSpPr>
        <p:spPr>
          <a:xfrm>
            <a:off x="8503920" y="5184648"/>
            <a:ext cx="1645920" cy="365760"/>
          </a:xfrm>
          <a:prstGeom prst="rect">
            <a:avLst/>
          </a:prstGeom>
          <a:noFill/>
        </p:spPr>
        <p:txBody>
          <a:bodyPr wrap="square" anchor="t" lIns="0" rIns="0" tIns="0" bIns="0">
            <a:spAutoFit/>
          </a:bodyPr>
          <a:lstStyle/>
          <a:p>
            <a:pPr algn="r">
              <a:lnSpc>
                <a:spcPct val="115000"/>
              </a:lnSpc>
            </a:pPr>
            <a:r>
              <a:rPr sz="1400" b="1">
                <a:solidFill>
                  <a:srgbClr val="5A6A80"/>
                </a:solidFill>
                <a:latin typeface="Helvetica Neue"/>
                <a:ea typeface="Helvetica Neue"/>
                <a:cs typeface="Helvetica Neue"/>
              </a:rPr>
              <a:t>1,063</a:t>
            </a:r>
          </a:p>
        </p:txBody>
      </p:sp>
      <p:sp>
        <p:nvSpPr>
          <p:cNvPr id="48" name="TextBox 47"/>
          <p:cNvSpPr txBox="1"/>
          <p:nvPr/>
        </p:nvSpPr>
        <p:spPr>
          <a:xfrm>
            <a:off x="10241280" y="5202936"/>
            <a:ext cx="1371600" cy="365760"/>
          </a:xfrm>
          <a:prstGeom prst="rect">
            <a:avLst/>
          </a:prstGeom>
          <a:noFill/>
        </p:spPr>
        <p:txBody>
          <a:bodyPr wrap="square" anchor="t" lIns="0" rIns="0" tIns="0" bIns="0">
            <a:spAutoFit/>
          </a:bodyPr>
          <a:lstStyle/>
          <a:p>
            <a:pPr algn="r">
              <a:lnSpc>
                <a:spcPct val="115000"/>
              </a:lnSpc>
            </a:pPr>
            <a:r>
              <a:rPr sz="1100" b="0">
                <a:solidFill>
                  <a:srgbClr val="5A6A80"/>
                </a:solidFill>
                <a:latin typeface="Helvetica Neue"/>
                <a:ea typeface="Helvetica Neue"/>
                <a:cs typeface="Helvetica Neue"/>
              </a:rPr>
              <a:t>+0.8%</a:t>
            </a:r>
          </a:p>
        </p:txBody>
      </p:sp>
      <p:sp>
        <p:nvSpPr>
          <p:cNvPr id="49" name="TextBox 48"/>
          <p:cNvSpPr txBox="1"/>
          <p:nvPr/>
        </p:nvSpPr>
        <p:spPr>
          <a:xfrm>
            <a:off x="4572000" y="6080760"/>
            <a:ext cx="7086600" cy="274320"/>
          </a:xfrm>
          <a:prstGeom prst="rect">
            <a:avLst/>
          </a:prstGeom>
          <a:noFill/>
        </p:spPr>
        <p:txBody>
          <a:bodyPr wrap="square" anchor="t" lIns="0" rIns="0" tIns="0" bIns="0">
            <a:spAutoFit/>
          </a:bodyPr>
          <a:lstStyle/>
          <a:p>
            <a:pPr algn="l">
              <a:lnSpc>
                <a:spcPct val="115000"/>
              </a:lnSpc>
            </a:pPr>
            <a:r>
              <a:rPr sz="1000" b="0">
                <a:solidFill>
                  <a:srgbClr val="5A6A80"/>
                </a:solidFill>
                <a:latin typeface="Hiragino Sans"/>
                <a:ea typeface="Hiragino Sans"/>
                <a:cs typeface="Hiragino Sans"/>
              </a:rPr>
              <a:t>💡 ネット広告媒体費 2兆9,611億円の内訳は P13 で詳述。リテールメディア・動画広告が牽引</a:t>
            </a:r>
          </a:p>
        </p:txBody>
      </p:sp>
      <p:sp>
        <p:nvSpPr>
          <p:cNvPr id="50" name="TextBox 49"/>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運用型広告がマス4媒体を超える構造</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2021年以降の構造転換が定着</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P13 / 250</a:t>
            </a:r>
          </a:p>
        </p:txBody>
      </p:sp>
      <p:sp>
        <p:nvSpPr>
          <p:cNvPr id="8" name="Rounded Rectangle 7"/>
          <p:cNvSpPr/>
          <p:nvPr/>
        </p:nvSpPr>
        <p:spPr>
          <a:xfrm>
            <a:off x="548640" y="1371600"/>
            <a:ext cx="11109960" cy="77724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08760"/>
            <a:ext cx="548640" cy="548640"/>
          </a:xfrm>
          <a:prstGeom prst="rect">
            <a:avLst/>
          </a:prstGeom>
          <a:noFill/>
        </p:spPr>
        <p:txBody>
          <a:bodyPr wrap="square" anchor="t" lIns="0" rIns="0" tIns="0" bIns="0">
            <a:spAutoFit/>
          </a:bodyPr>
          <a:lstStyle/>
          <a:p>
            <a:pPr algn="l">
              <a:lnSpc>
                <a:spcPct val="115000"/>
              </a:lnSpc>
            </a:pPr>
            <a:r>
              <a:rPr sz="2200" b="0">
                <a:solidFill>
                  <a:srgbClr val="1A1A1A"/>
                </a:solidFill>
                <a:latin typeface="Hiragino Sans"/>
                <a:ea typeface="Hiragino Sans"/>
                <a:cs typeface="Hiragino Sans"/>
              </a:rPr>
              <a:t>🔥</a:t>
            </a:r>
          </a:p>
        </p:txBody>
      </p:sp>
      <p:sp>
        <p:nvSpPr>
          <p:cNvPr id="10" name="TextBox 9"/>
          <p:cNvSpPr txBox="1"/>
          <p:nvPr/>
        </p:nvSpPr>
        <p:spPr>
          <a:xfrm>
            <a:off x="1325880" y="1463040"/>
            <a:ext cx="10058400" cy="457200"/>
          </a:xfrm>
          <a:prstGeom prst="rect">
            <a:avLst/>
          </a:prstGeom>
          <a:noFill/>
        </p:spPr>
        <p:txBody>
          <a:bodyPr wrap="square" anchor="t" lIns="0" rIns="0" tIns="0" bIns="0">
            <a:spAutoFit/>
          </a:bodyPr>
          <a:lstStyle/>
          <a:p>
            <a:pPr algn="l">
              <a:lnSpc>
                <a:spcPct val="115000"/>
              </a:lnSpc>
            </a:pPr>
            <a:r>
              <a:rPr sz="2000" b="1">
                <a:solidFill>
                  <a:srgbClr val="0F2A4F"/>
                </a:solidFill>
                <a:latin typeface="Hiragino Sans"/>
                <a:ea typeface="Hiragino Sans"/>
                <a:cs typeface="Hiragino Sans"/>
              </a:rPr>
              <a:t>運用型ネット広告費 ≒ 2.5兆円 &gt; マス4媒体合計 ≒ 2.4兆円</a:t>
            </a:r>
          </a:p>
        </p:txBody>
      </p:sp>
      <p:sp>
        <p:nvSpPr>
          <p:cNvPr id="11" name="TextBox 10"/>
          <p:cNvSpPr txBox="1"/>
          <p:nvPr/>
        </p:nvSpPr>
        <p:spPr>
          <a:xfrm>
            <a:off x="1325880" y="1874519"/>
            <a:ext cx="10058400" cy="27432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2021年に逆転、以降その差は拡大傾向</a:t>
            </a:r>
          </a:p>
        </p:txBody>
      </p:sp>
      <p:sp>
        <p:nvSpPr>
          <p:cNvPr id="12" name="TextBox 11"/>
          <p:cNvSpPr txBox="1"/>
          <p:nvPr/>
        </p:nvSpPr>
        <p:spPr>
          <a:xfrm>
            <a:off x="548640" y="2423160"/>
            <a:ext cx="7315200" cy="36576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運用型 vs マス4媒体 (2024年, 億円)</a:t>
            </a:r>
          </a:p>
        </p:txBody>
      </p:sp>
      <p:sp>
        <p:nvSpPr>
          <p:cNvPr id="13" name="TextBox 12"/>
          <p:cNvSpPr txBox="1"/>
          <p:nvPr/>
        </p:nvSpPr>
        <p:spPr>
          <a:xfrm>
            <a:off x="548640" y="2926080"/>
            <a:ext cx="3200400" cy="320040"/>
          </a:xfrm>
          <a:prstGeom prst="rect">
            <a:avLst/>
          </a:prstGeom>
          <a:noFill/>
        </p:spPr>
        <p:txBody>
          <a:bodyPr wrap="square" anchor="t" lIns="0" rIns="0" tIns="0" bIns="0">
            <a:spAutoFit/>
          </a:bodyPr>
          <a:lstStyle/>
          <a:p>
            <a:pPr algn="l">
              <a:lnSpc>
                <a:spcPct val="115000"/>
              </a:lnSpc>
            </a:pPr>
            <a:r>
              <a:rPr sz="1300" b="1">
                <a:solidFill>
                  <a:srgbClr val="E87722"/>
                </a:solidFill>
                <a:latin typeface="Hiragino Sans"/>
                <a:ea typeface="Hiragino Sans"/>
                <a:cs typeface="Hiragino Sans"/>
              </a:rPr>
              <a:t>運用型ネット広告</a:t>
            </a:r>
          </a:p>
        </p:txBody>
      </p:sp>
      <p:sp>
        <p:nvSpPr>
          <p:cNvPr id="14" name="Rounded Rectangle 13"/>
          <p:cNvSpPr/>
          <p:nvPr/>
        </p:nvSpPr>
        <p:spPr>
          <a:xfrm>
            <a:off x="3840480" y="2971800"/>
            <a:ext cx="5943600" cy="548640"/>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875520" y="3063240"/>
            <a:ext cx="1371600" cy="365760"/>
          </a:xfrm>
          <a:prstGeom prst="rect">
            <a:avLst/>
          </a:prstGeom>
          <a:noFill/>
        </p:spPr>
        <p:txBody>
          <a:bodyPr wrap="square" anchor="t" lIns="0" rIns="0" tIns="0" bIns="0">
            <a:spAutoFit/>
          </a:bodyPr>
          <a:lstStyle/>
          <a:p>
            <a:pPr algn="l">
              <a:lnSpc>
                <a:spcPct val="115000"/>
              </a:lnSpc>
            </a:pPr>
            <a:r>
              <a:rPr sz="1400" b="1">
                <a:solidFill>
                  <a:srgbClr val="E87722"/>
                </a:solidFill>
                <a:latin typeface="Helvetica Neue"/>
                <a:ea typeface="Helvetica Neue"/>
                <a:cs typeface="Helvetica Neue"/>
              </a:rPr>
              <a:t>24,931</a:t>
            </a:r>
          </a:p>
        </p:txBody>
      </p:sp>
      <p:sp>
        <p:nvSpPr>
          <p:cNvPr id="16" name="TextBox 15"/>
          <p:cNvSpPr txBox="1"/>
          <p:nvPr/>
        </p:nvSpPr>
        <p:spPr>
          <a:xfrm>
            <a:off x="548640" y="3584448"/>
            <a:ext cx="10058400" cy="274320"/>
          </a:xfrm>
          <a:prstGeom prst="rect">
            <a:avLst/>
          </a:prstGeom>
          <a:noFill/>
        </p:spPr>
        <p:txBody>
          <a:bodyPr wrap="square" anchor="t" lIns="0" rIns="0" tIns="0" bIns="0">
            <a:spAutoFit/>
          </a:bodyPr>
          <a:lstStyle/>
          <a:p>
            <a:pPr algn="l">
              <a:lnSpc>
                <a:spcPct val="115000"/>
              </a:lnSpc>
            </a:pPr>
            <a:r>
              <a:rPr sz="1000" b="0">
                <a:solidFill>
                  <a:srgbClr val="5A6A80"/>
                </a:solidFill>
                <a:latin typeface="Hiragino Sans"/>
                <a:ea typeface="Hiragino Sans"/>
                <a:cs typeface="Hiragino Sans"/>
              </a:rPr>
              <a:t>検索+ディスプレイ+SNS+動画+その他</a:t>
            </a:r>
          </a:p>
        </p:txBody>
      </p:sp>
      <p:sp>
        <p:nvSpPr>
          <p:cNvPr id="17" name="TextBox 16"/>
          <p:cNvSpPr txBox="1"/>
          <p:nvPr/>
        </p:nvSpPr>
        <p:spPr>
          <a:xfrm>
            <a:off x="548640" y="3931920"/>
            <a:ext cx="3200400" cy="32004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マス4媒体合計</a:t>
            </a:r>
          </a:p>
        </p:txBody>
      </p:sp>
      <p:sp>
        <p:nvSpPr>
          <p:cNvPr id="18" name="Rounded Rectangle 17"/>
          <p:cNvSpPr/>
          <p:nvPr/>
        </p:nvSpPr>
        <p:spPr>
          <a:xfrm>
            <a:off x="3840480" y="3977640"/>
            <a:ext cx="5607214" cy="54864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539134" y="4069080"/>
            <a:ext cx="1371600" cy="365760"/>
          </a:xfrm>
          <a:prstGeom prst="rect">
            <a:avLst/>
          </a:prstGeom>
          <a:noFill/>
        </p:spPr>
        <p:txBody>
          <a:bodyPr wrap="square" anchor="t" lIns="0" rIns="0" tIns="0" bIns="0">
            <a:spAutoFit/>
          </a:bodyPr>
          <a:lstStyle/>
          <a:p>
            <a:pPr algn="l">
              <a:lnSpc>
                <a:spcPct val="115000"/>
              </a:lnSpc>
            </a:pPr>
            <a:r>
              <a:rPr sz="1400" b="1">
                <a:solidFill>
                  <a:srgbClr val="0F2A4F"/>
                </a:solidFill>
                <a:latin typeface="Helvetica Neue"/>
                <a:ea typeface="Helvetica Neue"/>
                <a:cs typeface="Helvetica Neue"/>
              </a:rPr>
              <a:t>23,520</a:t>
            </a:r>
          </a:p>
        </p:txBody>
      </p:sp>
      <p:sp>
        <p:nvSpPr>
          <p:cNvPr id="20" name="TextBox 19"/>
          <p:cNvSpPr txBox="1"/>
          <p:nvPr/>
        </p:nvSpPr>
        <p:spPr>
          <a:xfrm>
            <a:off x="548640" y="4590288"/>
            <a:ext cx="10058400" cy="274320"/>
          </a:xfrm>
          <a:prstGeom prst="rect">
            <a:avLst/>
          </a:prstGeom>
          <a:noFill/>
        </p:spPr>
        <p:txBody>
          <a:bodyPr wrap="square" anchor="t" lIns="0" rIns="0" tIns="0" bIns="0">
            <a:spAutoFit/>
          </a:bodyPr>
          <a:lstStyle/>
          <a:p>
            <a:pPr algn="l">
              <a:lnSpc>
                <a:spcPct val="115000"/>
              </a:lnSpc>
            </a:pPr>
            <a:r>
              <a:rPr sz="1000" b="0">
                <a:solidFill>
                  <a:srgbClr val="5A6A80"/>
                </a:solidFill>
                <a:latin typeface="Hiragino Sans"/>
                <a:ea typeface="Hiragino Sans"/>
                <a:cs typeface="Hiragino Sans"/>
              </a:rPr>
              <a:t>テレビ 17,034 + 新聞 3,351 + 雑誌 2,072 + ラジオ 1,063</a:t>
            </a:r>
          </a:p>
        </p:txBody>
      </p:sp>
      <p:sp>
        <p:nvSpPr>
          <p:cNvPr id="21" name="TextBox 20"/>
          <p:cNvSpPr txBox="1"/>
          <p:nvPr/>
        </p:nvSpPr>
        <p:spPr>
          <a:xfrm>
            <a:off x="548640" y="5120640"/>
            <a:ext cx="10972800" cy="36576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構造的ドライバー</a:t>
            </a:r>
          </a:p>
        </p:txBody>
      </p:sp>
      <p:sp>
        <p:nvSpPr>
          <p:cNvPr id="22" name="Rectangle 21"/>
          <p:cNvSpPr/>
          <p:nvPr/>
        </p:nvSpPr>
        <p:spPr>
          <a:xfrm>
            <a:off x="548640" y="5440680"/>
            <a:ext cx="1110996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48640" y="5623560"/>
            <a:ext cx="3611880" cy="822960"/>
          </a:xfrm>
          <a:prstGeom prst="roundRect">
            <a:avLst>
              <a:gd name="adj" fmla="val 6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5696712"/>
            <a:ext cx="548640" cy="320040"/>
          </a:xfrm>
          <a:prstGeom prst="rect">
            <a:avLst/>
          </a:prstGeom>
          <a:noFill/>
        </p:spPr>
        <p:txBody>
          <a:bodyPr wrap="square" anchor="t" lIns="0" rIns="0" tIns="0" bIns="0">
            <a:spAutoFit/>
          </a:bodyPr>
          <a:lstStyle/>
          <a:p>
            <a:pPr algn="l">
              <a:lnSpc>
                <a:spcPct val="115000"/>
              </a:lnSpc>
            </a:pPr>
            <a:r>
              <a:rPr sz="1800" b="1">
                <a:solidFill>
                  <a:srgbClr val="E87722"/>
                </a:solidFill>
                <a:latin typeface="Helvetica Neue"/>
                <a:ea typeface="Helvetica Neue"/>
                <a:cs typeface="Helvetica Neue"/>
              </a:rPr>
              <a:t>01</a:t>
            </a:r>
          </a:p>
        </p:txBody>
      </p:sp>
      <p:sp>
        <p:nvSpPr>
          <p:cNvPr id="25" name="TextBox 24"/>
          <p:cNvSpPr txBox="1"/>
          <p:nvPr/>
        </p:nvSpPr>
        <p:spPr>
          <a:xfrm>
            <a:off x="1371600" y="5733288"/>
            <a:ext cx="2697480" cy="27432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動画広告の急伸</a:t>
            </a:r>
          </a:p>
        </p:txBody>
      </p:sp>
      <p:sp>
        <p:nvSpPr>
          <p:cNvPr id="26" name="TextBox 25"/>
          <p:cNvSpPr txBox="1"/>
          <p:nvPr/>
        </p:nvSpPr>
        <p:spPr>
          <a:xfrm>
            <a:off x="731520" y="6080760"/>
            <a:ext cx="3337560" cy="365760"/>
          </a:xfrm>
          <a:prstGeom prst="rect">
            <a:avLst/>
          </a:prstGeom>
          <a:noFill/>
        </p:spPr>
        <p:txBody>
          <a:bodyPr wrap="square" anchor="t" lIns="0" rIns="0" tIns="0" bIns="0">
            <a:spAutoFit/>
          </a:bodyPr>
          <a:lstStyle/>
          <a:p>
            <a:pPr algn="l">
              <a:lnSpc>
                <a:spcPct val="135000"/>
              </a:lnSpc>
            </a:pPr>
            <a:r>
              <a:rPr sz="1000" b="0">
                <a:solidFill>
                  <a:srgbClr val="1A1A1A"/>
                </a:solidFill>
                <a:latin typeface="Hiragino Sans"/>
                <a:ea typeface="Hiragino Sans"/>
                <a:cs typeface="Hiragino Sans"/>
              </a:rPr>
              <a:t>TikTok / YouTube Shorts / Meta Reels の縦型が牽引</a:t>
            </a:r>
          </a:p>
        </p:txBody>
      </p:sp>
      <p:sp>
        <p:nvSpPr>
          <p:cNvPr id="27" name="Rounded Rectangle 26"/>
          <p:cNvSpPr/>
          <p:nvPr/>
        </p:nvSpPr>
        <p:spPr>
          <a:xfrm>
            <a:off x="4297680" y="5623560"/>
            <a:ext cx="3611880" cy="822960"/>
          </a:xfrm>
          <a:prstGeom prst="roundRect">
            <a:avLst>
              <a:gd name="adj" fmla="val 6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80560" y="5696712"/>
            <a:ext cx="548640" cy="320040"/>
          </a:xfrm>
          <a:prstGeom prst="rect">
            <a:avLst/>
          </a:prstGeom>
          <a:noFill/>
        </p:spPr>
        <p:txBody>
          <a:bodyPr wrap="square" anchor="t" lIns="0" rIns="0" tIns="0" bIns="0">
            <a:spAutoFit/>
          </a:bodyPr>
          <a:lstStyle/>
          <a:p>
            <a:pPr algn="l">
              <a:lnSpc>
                <a:spcPct val="115000"/>
              </a:lnSpc>
            </a:pPr>
            <a:r>
              <a:rPr sz="1800" b="1">
                <a:solidFill>
                  <a:srgbClr val="E87722"/>
                </a:solidFill>
                <a:latin typeface="Helvetica Neue"/>
                <a:ea typeface="Helvetica Neue"/>
                <a:cs typeface="Helvetica Neue"/>
              </a:rPr>
              <a:t>02</a:t>
            </a:r>
          </a:p>
        </p:txBody>
      </p:sp>
      <p:sp>
        <p:nvSpPr>
          <p:cNvPr id="29" name="TextBox 28"/>
          <p:cNvSpPr txBox="1"/>
          <p:nvPr/>
        </p:nvSpPr>
        <p:spPr>
          <a:xfrm>
            <a:off x="5120640" y="5733288"/>
            <a:ext cx="2697480" cy="27432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AI配信キャンペーンの成熟</a:t>
            </a:r>
          </a:p>
        </p:txBody>
      </p:sp>
      <p:sp>
        <p:nvSpPr>
          <p:cNvPr id="30" name="TextBox 29"/>
          <p:cNvSpPr txBox="1"/>
          <p:nvPr/>
        </p:nvSpPr>
        <p:spPr>
          <a:xfrm>
            <a:off x="4480560" y="6080760"/>
            <a:ext cx="3337560" cy="365760"/>
          </a:xfrm>
          <a:prstGeom prst="rect">
            <a:avLst/>
          </a:prstGeom>
          <a:noFill/>
        </p:spPr>
        <p:txBody>
          <a:bodyPr wrap="square" anchor="t" lIns="0" rIns="0" tIns="0" bIns="0">
            <a:spAutoFit/>
          </a:bodyPr>
          <a:lstStyle/>
          <a:p>
            <a:pPr algn="l">
              <a:lnSpc>
                <a:spcPct val="135000"/>
              </a:lnSpc>
            </a:pPr>
            <a:r>
              <a:rPr sz="1000" b="0">
                <a:solidFill>
                  <a:srgbClr val="1A1A1A"/>
                </a:solidFill>
                <a:latin typeface="Hiragino Sans"/>
                <a:ea typeface="Hiragino Sans"/>
                <a:cs typeface="Hiragino Sans"/>
              </a:rPr>
              <a:t>PMax / Advantage+ / Smart+ で運用工数が激減</a:t>
            </a:r>
          </a:p>
        </p:txBody>
      </p:sp>
      <p:sp>
        <p:nvSpPr>
          <p:cNvPr id="31" name="Rounded Rectangle 30"/>
          <p:cNvSpPr/>
          <p:nvPr/>
        </p:nvSpPr>
        <p:spPr>
          <a:xfrm>
            <a:off x="8046720" y="5623560"/>
            <a:ext cx="3611880" cy="822960"/>
          </a:xfrm>
          <a:prstGeom prst="roundRect">
            <a:avLst>
              <a:gd name="adj" fmla="val 6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9600" y="5696712"/>
            <a:ext cx="548640" cy="320040"/>
          </a:xfrm>
          <a:prstGeom prst="rect">
            <a:avLst/>
          </a:prstGeom>
          <a:noFill/>
        </p:spPr>
        <p:txBody>
          <a:bodyPr wrap="square" anchor="t" lIns="0" rIns="0" tIns="0" bIns="0">
            <a:spAutoFit/>
          </a:bodyPr>
          <a:lstStyle/>
          <a:p>
            <a:pPr algn="l">
              <a:lnSpc>
                <a:spcPct val="115000"/>
              </a:lnSpc>
            </a:pPr>
            <a:r>
              <a:rPr sz="1800" b="1">
                <a:solidFill>
                  <a:srgbClr val="E87722"/>
                </a:solidFill>
                <a:latin typeface="Helvetica Neue"/>
                <a:ea typeface="Helvetica Neue"/>
                <a:cs typeface="Helvetica Neue"/>
              </a:rPr>
              <a:t>03</a:t>
            </a:r>
          </a:p>
        </p:txBody>
      </p:sp>
      <p:sp>
        <p:nvSpPr>
          <p:cNvPr id="33" name="TextBox 32"/>
          <p:cNvSpPr txBox="1"/>
          <p:nvPr/>
        </p:nvSpPr>
        <p:spPr>
          <a:xfrm>
            <a:off x="8869680" y="5733288"/>
            <a:ext cx="2697480" cy="27432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リテールメディア拡大</a:t>
            </a:r>
          </a:p>
        </p:txBody>
      </p:sp>
      <p:sp>
        <p:nvSpPr>
          <p:cNvPr id="34" name="TextBox 33"/>
          <p:cNvSpPr txBox="1"/>
          <p:nvPr/>
        </p:nvSpPr>
        <p:spPr>
          <a:xfrm>
            <a:off x="8229600" y="6080760"/>
            <a:ext cx="3337560" cy="365760"/>
          </a:xfrm>
          <a:prstGeom prst="rect">
            <a:avLst/>
          </a:prstGeom>
          <a:noFill/>
        </p:spPr>
        <p:txBody>
          <a:bodyPr wrap="square" anchor="t" lIns="0" rIns="0" tIns="0" bIns="0">
            <a:spAutoFit/>
          </a:bodyPr>
          <a:lstStyle/>
          <a:p>
            <a:pPr algn="l">
              <a:lnSpc>
                <a:spcPct val="135000"/>
              </a:lnSpc>
            </a:pPr>
            <a:r>
              <a:rPr sz="1000" b="0">
                <a:solidFill>
                  <a:srgbClr val="1A1A1A"/>
                </a:solidFill>
                <a:latin typeface="Hiragino Sans"/>
                <a:ea typeface="Hiragino Sans"/>
                <a:cs typeface="Hiragino Sans"/>
              </a:rPr>
              <a:t>Amazon / 楽天 / Yahoo!ショッピング広告が新勢力</a:t>
            </a:r>
          </a:p>
        </p:txBody>
      </p:sp>
      <p:sp>
        <p:nvSpPr>
          <p:cNvPr id="35" name="TextBox 34"/>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リテールメディアの台頭</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Retail Media Network (RMN) が新勢力として確立</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P14 / 250</a:t>
            </a:r>
          </a:p>
        </p:txBody>
      </p:sp>
      <p:sp>
        <p:nvSpPr>
          <p:cNvPr id="8" name="Rounded Rectangle 7"/>
          <p:cNvSpPr/>
          <p:nvPr/>
        </p:nvSpPr>
        <p:spPr>
          <a:xfrm>
            <a:off x="548640" y="1371600"/>
            <a:ext cx="11109960" cy="82296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08760"/>
            <a:ext cx="1371600" cy="548640"/>
          </a:xfrm>
          <a:prstGeom prst="rect">
            <a:avLst/>
          </a:prstGeom>
          <a:noFill/>
        </p:spPr>
        <p:txBody>
          <a:bodyPr wrap="square" anchor="t" lIns="0" rIns="0" tIns="0" bIns="0">
            <a:spAutoFit/>
          </a:bodyPr>
          <a:lstStyle/>
          <a:p>
            <a:pPr algn="l">
              <a:lnSpc>
                <a:spcPct val="115000"/>
              </a:lnSpc>
            </a:pPr>
            <a:r>
              <a:rPr sz="2200" b="1">
                <a:solidFill>
                  <a:srgbClr val="E87722"/>
                </a:solidFill>
                <a:latin typeface="Helvetica Neue"/>
                <a:ea typeface="Helvetica Neue"/>
                <a:cs typeface="Helvetica Neue"/>
              </a:rPr>
              <a:t>RMN =</a:t>
            </a:r>
          </a:p>
        </p:txBody>
      </p:sp>
      <p:sp>
        <p:nvSpPr>
          <p:cNvPr id="10" name="TextBox 9"/>
          <p:cNvSpPr txBox="1"/>
          <p:nvPr/>
        </p:nvSpPr>
        <p:spPr>
          <a:xfrm>
            <a:off x="1920240" y="1463040"/>
            <a:ext cx="9601200" cy="731520"/>
          </a:xfrm>
          <a:prstGeom prst="rect">
            <a:avLst/>
          </a:prstGeom>
          <a:noFill/>
        </p:spPr>
        <p:txBody>
          <a:bodyPr wrap="square" anchor="t" lIns="0" rIns="0" tIns="0" bIns="0">
            <a:spAutoFit/>
          </a:bodyPr>
          <a:lstStyle/>
          <a:p>
            <a:pPr algn="l">
              <a:lnSpc>
                <a:spcPct val="140000"/>
              </a:lnSpc>
            </a:pPr>
            <a:r>
              <a:rPr sz="1200" b="0">
                <a:solidFill>
                  <a:srgbClr val="FFFFFF"/>
                </a:solidFill>
                <a:latin typeface="Hiragino Sans"/>
                <a:ea typeface="Hiragino Sans"/>
                <a:cs typeface="Hiragino Sans"/>
              </a:rPr>
              <a:t>購買データを持つEC/小売事業者が、自社面・他社面で広告を売るネットワーク。</a:t>
            </a:r>
          </a:p>
          <a:p>
            <a:pPr algn="l">
              <a:lnSpc>
                <a:spcPct val="140000"/>
              </a:lnSpc>
            </a:pPr>
            <a:r>
              <a:rPr sz="1200" b="0">
                <a:solidFill>
                  <a:srgbClr val="FFFFFF"/>
                </a:solidFill>
                <a:latin typeface="Hiragino Sans"/>
                <a:ea typeface="Hiragino Sans"/>
                <a:cs typeface="Hiragino Sans"/>
              </a:rPr>
              <a:t>検索CVR・商品詳細ページCVRが極めて高く、ラストクリック計測が効きやすい。</a:t>
            </a:r>
          </a:p>
        </p:txBody>
      </p:sp>
      <p:sp>
        <p:nvSpPr>
          <p:cNvPr id="11" name="Rounded Rectangle 10"/>
          <p:cNvSpPr/>
          <p:nvPr/>
        </p:nvSpPr>
        <p:spPr>
          <a:xfrm>
            <a:off x="548640" y="2423160"/>
            <a:ext cx="3611880" cy="27432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423160"/>
            <a:ext cx="3611880" cy="13716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2697480"/>
            <a:ext cx="3063240" cy="457200"/>
          </a:xfrm>
          <a:prstGeom prst="rect">
            <a:avLst/>
          </a:prstGeom>
          <a:noFill/>
        </p:spPr>
        <p:txBody>
          <a:bodyPr wrap="square" anchor="t" lIns="0" rIns="0" tIns="0" bIns="0">
            <a:spAutoFit/>
          </a:bodyPr>
          <a:lstStyle/>
          <a:p>
            <a:pPr algn="l">
              <a:lnSpc>
                <a:spcPct val="115000"/>
              </a:lnSpc>
            </a:pPr>
            <a:r>
              <a:rPr sz="1800" b="1">
                <a:solidFill>
                  <a:srgbClr val="0F2A4F"/>
                </a:solidFill>
                <a:latin typeface="Hiragino Sans"/>
                <a:ea typeface="Hiragino Sans"/>
                <a:cs typeface="Hiragino Sans"/>
              </a:rPr>
              <a:t>Amazon Ads</a:t>
            </a:r>
          </a:p>
        </p:txBody>
      </p:sp>
      <p:sp>
        <p:nvSpPr>
          <p:cNvPr id="14" name="TextBox 13"/>
          <p:cNvSpPr txBox="1"/>
          <p:nvPr/>
        </p:nvSpPr>
        <p:spPr>
          <a:xfrm>
            <a:off x="822960" y="3200400"/>
            <a:ext cx="3063240" cy="320040"/>
          </a:xfrm>
          <a:prstGeom prst="rect">
            <a:avLst/>
          </a:prstGeom>
          <a:noFill/>
        </p:spPr>
        <p:txBody>
          <a:bodyPr wrap="square" anchor="t" lIns="0" rIns="0" tIns="0" bIns="0">
            <a:spAutoFit/>
          </a:bodyPr>
          <a:lstStyle/>
          <a:p>
            <a:pPr algn="l">
              <a:lnSpc>
                <a:spcPct val="115000"/>
              </a:lnSpc>
            </a:pPr>
            <a:r>
              <a:rPr sz="1100" b="1">
                <a:solidFill>
                  <a:srgbClr val="B85E1A"/>
                </a:solidFill>
                <a:latin typeface="Hiragino Sans"/>
                <a:ea typeface="Hiragino Sans"/>
                <a:cs typeface="Hiragino Sans"/>
              </a:rPr>
              <a:t>$569億 (2024) ※要確認</a:t>
            </a:r>
          </a:p>
        </p:txBody>
      </p:sp>
      <p:sp>
        <p:nvSpPr>
          <p:cNvPr id="15" name="Rectangle 14"/>
          <p:cNvSpPr/>
          <p:nvPr/>
        </p:nvSpPr>
        <p:spPr>
          <a:xfrm>
            <a:off x="822960" y="3566160"/>
            <a:ext cx="306324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3703320"/>
            <a:ext cx="3063240" cy="137160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世界広告売上 Google/Meta に次ぐ3位。</a:t>
            </a:r>
          </a:p>
          <a:p>
            <a:pPr algn="l">
              <a:lnSpc>
                <a:spcPct val="150000"/>
              </a:lnSpc>
            </a:pPr>
            <a:r>
              <a:rPr sz="1100" b="0">
                <a:solidFill>
                  <a:srgbClr val="1A1A1A"/>
                </a:solidFill>
                <a:latin typeface="Hiragino Sans"/>
                <a:ea typeface="Hiragino Sans"/>
                <a:cs typeface="Hiragino Sans"/>
              </a:rPr>
              <a:t>Sponsored Products / Brands / Display.</a:t>
            </a:r>
          </a:p>
          <a:p>
            <a:pPr algn="l">
              <a:lnSpc>
                <a:spcPct val="150000"/>
              </a:lnSpc>
            </a:pPr>
            <a:r>
              <a:rPr sz="1100" b="0">
                <a:solidFill>
                  <a:srgbClr val="1A1A1A"/>
                </a:solidFill>
                <a:latin typeface="Hiragino Sans"/>
                <a:ea typeface="Hiragino Sans"/>
                <a:cs typeface="Hiragino Sans"/>
              </a:rPr>
              <a:t>DSP / AMC (Amazon Marketing Cloud)</a:t>
            </a:r>
          </a:p>
        </p:txBody>
      </p:sp>
      <p:sp>
        <p:nvSpPr>
          <p:cNvPr id="17" name="Rounded Rectangle 16"/>
          <p:cNvSpPr/>
          <p:nvPr/>
        </p:nvSpPr>
        <p:spPr>
          <a:xfrm>
            <a:off x="4297680" y="2423160"/>
            <a:ext cx="3611880" cy="27432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297680" y="2423160"/>
            <a:ext cx="3611880" cy="13716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0" y="2697480"/>
            <a:ext cx="3063240" cy="457200"/>
          </a:xfrm>
          <a:prstGeom prst="rect">
            <a:avLst/>
          </a:prstGeom>
          <a:noFill/>
        </p:spPr>
        <p:txBody>
          <a:bodyPr wrap="square" anchor="t" lIns="0" rIns="0" tIns="0" bIns="0">
            <a:spAutoFit/>
          </a:bodyPr>
          <a:lstStyle/>
          <a:p>
            <a:pPr algn="l">
              <a:lnSpc>
                <a:spcPct val="115000"/>
              </a:lnSpc>
            </a:pPr>
            <a:r>
              <a:rPr sz="1800" b="1">
                <a:solidFill>
                  <a:srgbClr val="0F2A4F"/>
                </a:solidFill>
                <a:latin typeface="Hiragino Sans"/>
                <a:ea typeface="Hiragino Sans"/>
                <a:cs typeface="Hiragino Sans"/>
              </a:rPr>
              <a:t>楽天Ads</a:t>
            </a:r>
          </a:p>
        </p:txBody>
      </p:sp>
      <p:sp>
        <p:nvSpPr>
          <p:cNvPr id="20" name="TextBox 19"/>
          <p:cNvSpPr txBox="1"/>
          <p:nvPr/>
        </p:nvSpPr>
        <p:spPr>
          <a:xfrm>
            <a:off x="4572000" y="3200400"/>
            <a:ext cx="3063240" cy="320040"/>
          </a:xfrm>
          <a:prstGeom prst="rect">
            <a:avLst/>
          </a:prstGeom>
          <a:noFill/>
        </p:spPr>
        <p:txBody>
          <a:bodyPr wrap="square" anchor="t" lIns="0" rIns="0" tIns="0" bIns="0">
            <a:spAutoFit/>
          </a:bodyPr>
          <a:lstStyle/>
          <a:p>
            <a:pPr algn="l">
              <a:lnSpc>
                <a:spcPct val="115000"/>
              </a:lnSpc>
            </a:pPr>
            <a:r>
              <a:rPr sz="1100" b="1">
                <a:solidFill>
                  <a:srgbClr val="B85E1A"/>
                </a:solidFill>
                <a:latin typeface="Hiragino Sans"/>
                <a:ea typeface="Hiragino Sans"/>
                <a:cs typeface="Hiragino Sans"/>
              </a:rPr>
              <a:t>国内シェア上位</a:t>
            </a:r>
          </a:p>
        </p:txBody>
      </p:sp>
      <p:sp>
        <p:nvSpPr>
          <p:cNvPr id="21" name="Rectangle 20"/>
          <p:cNvSpPr/>
          <p:nvPr/>
        </p:nvSpPr>
        <p:spPr>
          <a:xfrm>
            <a:off x="4572000" y="3566160"/>
            <a:ext cx="306324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0" y="3703320"/>
            <a:ext cx="3063240" cy="137160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楽天市場出店者向け RPP/CPA/CPC広告。</a:t>
            </a:r>
          </a:p>
          <a:p>
            <a:pPr algn="l">
              <a:lnSpc>
                <a:spcPct val="150000"/>
              </a:lnSpc>
            </a:pPr>
            <a:r>
              <a:rPr sz="1100" b="0">
                <a:solidFill>
                  <a:srgbClr val="1A1A1A"/>
                </a:solidFill>
                <a:latin typeface="Hiragino Sans"/>
                <a:ea typeface="Hiragino Sans"/>
                <a:cs typeface="Hiragino Sans"/>
              </a:rPr>
              <a:t>楽天RMP - Display Ads が新設。</a:t>
            </a:r>
          </a:p>
          <a:p>
            <a:pPr algn="l">
              <a:lnSpc>
                <a:spcPct val="150000"/>
              </a:lnSpc>
            </a:pPr>
            <a:r>
              <a:rPr sz="1100" b="0">
                <a:solidFill>
                  <a:srgbClr val="1A1A1A"/>
                </a:solidFill>
                <a:latin typeface="Hiragino Sans"/>
                <a:ea typeface="Hiragino Sans"/>
                <a:cs typeface="Hiragino Sans"/>
              </a:rPr>
              <a:t>購買履歴+検索履歴で精緻</a:t>
            </a:r>
          </a:p>
        </p:txBody>
      </p:sp>
      <p:sp>
        <p:nvSpPr>
          <p:cNvPr id="23" name="Rounded Rectangle 22"/>
          <p:cNvSpPr/>
          <p:nvPr/>
        </p:nvSpPr>
        <p:spPr>
          <a:xfrm>
            <a:off x="8046720" y="2423160"/>
            <a:ext cx="3611880" cy="27432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046720" y="2423160"/>
            <a:ext cx="3611880" cy="13716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21040" y="2697480"/>
            <a:ext cx="3063240" cy="457200"/>
          </a:xfrm>
          <a:prstGeom prst="rect">
            <a:avLst/>
          </a:prstGeom>
          <a:noFill/>
        </p:spPr>
        <p:txBody>
          <a:bodyPr wrap="square" anchor="t" lIns="0" rIns="0" tIns="0" bIns="0">
            <a:spAutoFit/>
          </a:bodyPr>
          <a:lstStyle/>
          <a:p>
            <a:pPr algn="l">
              <a:lnSpc>
                <a:spcPct val="115000"/>
              </a:lnSpc>
            </a:pPr>
            <a:r>
              <a:rPr sz="1800" b="1">
                <a:solidFill>
                  <a:srgbClr val="0F2A4F"/>
                </a:solidFill>
                <a:latin typeface="Hiragino Sans"/>
                <a:ea typeface="Hiragino Sans"/>
                <a:cs typeface="Hiragino Sans"/>
              </a:rPr>
              <a:t>Yahoo!ショッピング広告</a:t>
            </a:r>
          </a:p>
        </p:txBody>
      </p:sp>
      <p:sp>
        <p:nvSpPr>
          <p:cNvPr id="26" name="TextBox 25"/>
          <p:cNvSpPr txBox="1"/>
          <p:nvPr/>
        </p:nvSpPr>
        <p:spPr>
          <a:xfrm>
            <a:off x="8321040" y="3200400"/>
            <a:ext cx="3063240" cy="320040"/>
          </a:xfrm>
          <a:prstGeom prst="rect">
            <a:avLst/>
          </a:prstGeom>
          <a:noFill/>
        </p:spPr>
        <p:txBody>
          <a:bodyPr wrap="square" anchor="t" lIns="0" rIns="0" tIns="0" bIns="0">
            <a:spAutoFit/>
          </a:bodyPr>
          <a:lstStyle/>
          <a:p>
            <a:pPr algn="l">
              <a:lnSpc>
                <a:spcPct val="115000"/>
              </a:lnSpc>
            </a:pPr>
            <a:r>
              <a:rPr sz="1100" b="1">
                <a:solidFill>
                  <a:srgbClr val="B85E1A"/>
                </a:solidFill>
                <a:latin typeface="Hiragino Sans"/>
                <a:ea typeface="Hiragino Sans"/>
                <a:cs typeface="Hiragino Sans"/>
              </a:rPr>
              <a:t>LINEヤフー傘下</a:t>
            </a:r>
          </a:p>
        </p:txBody>
      </p:sp>
      <p:sp>
        <p:nvSpPr>
          <p:cNvPr id="27" name="Rectangle 26"/>
          <p:cNvSpPr/>
          <p:nvPr/>
        </p:nvSpPr>
        <p:spPr>
          <a:xfrm>
            <a:off x="8321040" y="3566160"/>
            <a:ext cx="306324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21040" y="3703320"/>
            <a:ext cx="3063240" cy="137160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ストアページ広告 / アイテムマッチ / ブランドサーチ。</a:t>
            </a:r>
          </a:p>
          <a:p>
            <a:pPr algn="l">
              <a:lnSpc>
                <a:spcPct val="150000"/>
              </a:lnSpc>
            </a:pPr>
            <a:r>
              <a:rPr sz="1100" b="0">
                <a:solidFill>
                  <a:srgbClr val="1A1A1A"/>
                </a:solidFill>
                <a:latin typeface="Hiragino Sans"/>
                <a:ea typeface="Hiragino Sans"/>
                <a:cs typeface="Hiragino Sans"/>
              </a:rPr>
              <a:t>2026春統合の LINEヤフー広告 に内包予定</a:t>
            </a:r>
          </a:p>
        </p:txBody>
      </p:sp>
      <p:sp>
        <p:nvSpPr>
          <p:cNvPr id="29" name="Rounded Rectangle 28"/>
          <p:cNvSpPr/>
          <p:nvPr/>
        </p:nvSpPr>
        <p:spPr>
          <a:xfrm>
            <a:off x="548640" y="5394960"/>
            <a:ext cx="11109960" cy="91440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5532120"/>
            <a:ext cx="100584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 副業運用代行の観点</a:t>
            </a:r>
          </a:p>
        </p:txBody>
      </p:sp>
      <p:sp>
        <p:nvSpPr>
          <p:cNvPr id="31" name="TextBox 30"/>
          <p:cNvSpPr txBox="1"/>
          <p:nvPr/>
        </p:nvSpPr>
        <p:spPr>
          <a:xfrm>
            <a:off x="777240" y="5852160"/>
            <a:ext cx="10972800" cy="457200"/>
          </a:xfrm>
          <a:prstGeom prst="rect">
            <a:avLst/>
          </a:prstGeom>
          <a:noFill/>
        </p:spPr>
        <p:txBody>
          <a:bodyPr wrap="square" anchor="t" lIns="0" rIns="0" tIns="0" bIns="0">
            <a:spAutoFit/>
          </a:bodyPr>
          <a:lstStyle/>
          <a:p>
            <a:pPr algn="l">
              <a:lnSpc>
                <a:spcPct val="140000"/>
              </a:lnSpc>
            </a:pPr>
            <a:r>
              <a:rPr sz="1100" b="0">
                <a:solidFill>
                  <a:srgbClr val="1A1A1A"/>
                </a:solidFill>
                <a:latin typeface="Hiragino Sans"/>
                <a:ea typeface="Hiragino Sans"/>
                <a:cs typeface="Hiragino Sans"/>
              </a:rPr>
              <a:t>Google/Meta/TikTok に加えて『クライアントの販売チャネル依存でリテールメディア』が標準。</a:t>
            </a:r>
          </a:p>
          <a:p>
            <a:pPr algn="l">
              <a:lnSpc>
                <a:spcPct val="140000"/>
              </a:lnSpc>
            </a:pPr>
            <a:r>
              <a:rPr sz="1100" b="0">
                <a:solidFill>
                  <a:srgbClr val="1A1A1A"/>
                </a:solidFill>
                <a:latin typeface="Hiragino Sans"/>
                <a:ea typeface="Hiragino Sans"/>
                <a:cs typeface="Hiragino Sans"/>
              </a:rPr>
              <a:t>EC案件なら Amazon Ads / 楽天Ads の運用経験が強い差別化になる。</a:t>
            </a:r>
          </a:p>
        </p:txBody>
      </p:sp>
      <p:sp>
        <p:nvSpPr>
          <p:cNvPr id="32" name="TextBox 31"/>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動画広告の急伸と縦型の覇権</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ネット広告費の最大セグメントは『動画』に</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P15 / 250</a:t>
            </a:r>
          </a:p>
        </p:txBody>
      </p:sp>
      <p:sp>
        <p:nvSpPr>
          <p:cNvPr id="8" name="Rounded Rectangle 7"/>
          <p:cNvSpPr/>
          <p:nvPr/>
        </p:nvSpPr>
        <p:spPr>
          <a:xfrm>
            <a:off x="548640" y="1371600"/>
            <a:ext cx="5029200" cy="4846320"/>
          </a:xfrm>
          <a:prstGeom prst="roundRect">
            <a:avLst>
              <a:gd name="adj" fmla="val 6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600200"/>
            <a:ext cx="4572000" cy="36576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2024年 日本のビデオ広告費</a:t>
            </a:r>
          </a:p>
        </p:txBody>
      </p:sp>
      <p:sp>
        <p:nvSpPr>
          <p:cNvPr id="10" name="TextBox 9"/>
          <p:cNvSpPr txBox="1"/>
          <p:nvPr/>
        </p:nvSpPr>
        <p:spPr>
          <a:xfrm>
            <a:off x="777240" y="2057400"/>
            <a:ext cx="4114800" cy="1097280"/>
          </a:xfrm>
          <a:prstGeom prst="rect">
            <a:avLst/>
          </a:prstGeom>
          <a:noFill/>
        </p:spPr>
        <p:txBody>
          <a:bodyPr wrap="square" anchor="t" lIns="0" rIns="0" tIns="0" bIns="0">
            <a:spAutoFit/>
          </a:bodyPr>
          <a:lstStyle/>
          <a:p>
            <a:pPr algn="l">
              <a:lnSpc>
                <a:spcPct val="115000"/>
              </a:lnSpc>
            </a:pPr>
            <a:r>
              <a:rPr sz="6800" b="1">
                <a:solidFill>
                  <a:srgbClr val="E87722"/>
                </a:solidFill>
                <a:latin typeface="Helvetica Neue"/>
                <a:ea typeface="Helvetica Neue"/>
                <a:cs typeface="Helvetica Neue"/>
              </a:rPr>
              <a:t>9,300+</a:t>
            </a:r>
          </a:p>
        </p:txBody>
      </p:sp>
      <p:sp>
        <p:nvSpPr>
          <p:cNvPr id="11" name="TextBox 10"/>
          <p:cNvSpPr txBox="1"/>
          <p:nvPr/>
        </p:nvSpPr>
        <p:spPr>
          <a:xfrm>
            <a:off x="777240" y="3200400"/>
            <a:ext cx="3657600" cy="365760"/>
          </a:xfrm>
          <a:prstGeom prst="rect">
            <a:avLst/>
          </a:prstGeom>
          <a:noFill/>
        </p:spPr>
        <p:txBody>
          <a:bodyPr wrap="square" anchor="t" lIns="0" rIns="0" tIns="0" bIns="0">
            <a:spAutoFit/>
          </a:bodyPr>
          <a:lstStyle/>
          <a:p>
            <a:pPr algn="l">
              <a:lnSpc>
                <a:spcPct val="115000"/>
              </a:lnSpc>
            </a:pPr>
            <a:r>
              <a:rPr sz="1600" b="1">
                <a:solidFill>
                  <a:srgbClr val="0F2A4F"/>
                </a:solidFill>
                <a:latin typeface="Hiragino Sans"/>
                <a:ea typeface="Hiragino Sans"/>
                <a:cs typeface="Hiragino Sans"/>
              </a:rPr>
              <a:t>億円 (推計)</a:t>
            </a:r>
          </a:p>
        </p:txBody>
      </p:sp>
      <p:sp>
        <p:nvSpPr>
          <p:cNvPr id="12" name="TextBox 11"/>
          <p:cNvSpPr txBox="1"/>
          <p:nvPr/>
        </p:nvSpPr>
        <p:spPr>
          <a:xfrm>
            <a:off x="777240" y="3657600"/>
            <a:ext cx="4572000" cy="640080"/>
          </a:xfrm>
          <a:prstGeom prst="rect">
            <a:avLst/>
          </a:prstGeom>
          <a:noFill/>
        </p:spPr>
        <p:txBody>
          <a:bodyPr wrap="square" anchor="t" lIns="0" rIns="0" tIns="0" bIns="0">
            <a:spAutoFit/>
          </a:bodyPr>
          <a:lstStyle/>
          <a:p>
            <a:pPr algn="l">
              <a:lnSpc>
                <a:spcPct val="140000"/>
              </a:lnSpc>
            </a:pPr>
            <a:r>
              <a:rPr sz="1000" b="0">
                <a:solidFill>
                  <a:srgbClr val="5A6A80"/>
                </a:solidFill>
                <a:latin typeface="Hiragino Sans"/>
                <a:ea typeface="Hiragino Sans"/>
                <a:cs typeface="Hiragino Sans"/>
              </a:rPr>
              <a:t>※ 電通2024レポートより筆者推計</a:t>
            </a:r>
          </a:p>
          <a:p>
            <a:pPr algn="l">
              <a:lnSpc>
                <a:spcPct val="140000"/>
              </a:lnSpc>
            </a:pPr>
            <a:r>
              <a:rPr sz="1000" b="0">
                <a:solidFill>
                  <a:srgbClr val="5A6A80"/>
                </a:solidFill>
                <a:latin typeface="Hiragino Sans"/>
                <a:ea typeface="Hiragino Sans"/>
                <a:cs typeface="Hiragino Sans"/>
              </a:rPr>
              <a:t>ネット広告媒体費の約31%が動画</a:t>
            </a:r>
          </a:p>
        </p:txBody>
      </p:sp>
      <p:sp>
        <p:nvSpPr>
          <p:cNvPr id="13" name="TextBox 12"/>
          <p:cNvSpPr txBox="1"/>
          <p:nvPr/>
        </p:nvSpPr>
        <p:spPr>
          <a:xfrm>
            <a:off x="777240" y="4480560"/>
            <a:ext cx="4572000" cy="32004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動画広告の3つのシフト</a:t>
            </a:r>
          </a:p>
        </p:txBody>
      </p:sp>
      <p:sp>
        <p:nvSpPr>
          <p:cNvPr id="14" name="Rectangle 13"/>
          <p:cNvSpPr/>
          <p:nvPr/>
        </p:nvSpPr>
        <p:spPr>
          <a:xfrm>
            <a:off x="777240" y="4800600"/>
            <a:ext cx="457200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4937760"/>
            <a:ext cx="457200" cy="320040"/>
          </a:xfrm>
          <a:prstGeom prst="rect">
            <a:avLst/>
          </a:prstGeom>
          <a:noFill/>
        </p:spPr>
        <p:txBody>
          <a:bodyPr wrap="square" anchor="t" lIns="0" rIns="0" tIns="0" bIns="0">
            <a:spAutoFit/>
          </a:bodyPr>
          <a:lstStyle/>
          <a:p>
            <a:pPr algn="l">
              <a:lnSpc>
                <a:spcPct val="115000"/>
              </a:lnSpc>
            </a:pPr>
            <a:r>
              <a:rPr sz="1400" b="1">
                <a:solidFill>
                  <a:srgbClr val="E87722"/>
                </a:solidFill>
                <a:latin typeface="Helvetica Neue"/>
                <a:ea typeface="Helvetica Neue"/>
                <a:cs typeface="Helvetica Neue"/>
              </a:rPr>
              <a:t>①</a:t>
            </a:r>
          </a:p>
        </p:txBody>
      </p:sp>
      <p:sp>
        <p:nvSpPr>
          <p:cNvPr id="16" name="TextBox 15"/>
          <p:cNvSpPr txBox="1"/>
          <p:nvPr/>
        </p:nvSpPr>
        <p:spPr>
          <a:xfrm>
            <a:off x="1280160" y="4937760"/>
            <a:ext cx="4114800" cy="320040"/>
          </a:xfrm>
          <a:prstGeom prst="rect">
            <a:avLst/>
          </a:prstGeom>
          <a:noFill/>
        </p:spPr>
        <p:txBody>
          <a:bodyPr wrap="square" anchor="t" lIns="0" rIns="0" tIns="0" bIns="0">
            <a:spAutoFit/>
          </a:bodyPr>
          <a:lstStyle/>
          <a:p>
            <a:pPr algn="l">
              <a:lnSpc>
                <a:spcPct val="115000"/>
              </a:lnSpc>
            </a:pPr>
            <a:r>
              <a:rPr sz="1100" b="0">
                <a:solidFill>
                  <a:srgbClr val="1A1A1A"/>
                </a:solidFill>
                <a:latin typeface="Hiragino Sans"/>
                <a:ea typeface="Hiragino Sans"/>
                <a:cs typeface="Hiragino Sans"/>
              </a:rPr>
              <a:t>横型 → 縦型9:16 が主流</a:t>
            </a:r>
          </a:p>
        </p:txBody>
      </p:sp>
      <p:sp>
        <p:nvSpPr>
          <p:cNvPr id="17" name="TextBox 16"/>
          <p:cNvSpPr txBox="1"/>
          <p:nvPr/>
        </p:nvSpPr>
        <p:spPr>
          <a:xfrm>
            <a:off x="777240" y="5285232"/>
            <a:ext cx="457200" cy="320040"/>
          </a:xfrm>
          <a:prstGeom prst="rect">
            <a:avLst/>
          </a:prstGeom>
          <a:noFill/>
        </p:spPr>
        <p:txBody>
          <a:bodyPr wrap="square" anchor="t" lIns="0" rIns="0" tIns="0" bIns="0">
            <a:spAutoFit/>
          </a:bodyPr>
          <a:lstStyle/>
          <a:p>
            <a:pPr algn="l">
              <a:lnSpc>
                <a:spcPct val="115000"/>
              </a:lnSpc>
            </a:pPr>
            <a:r>
              <a:rPr sz="1400" b="1">
                <a:solidFill>
                  <a:srgbClr val="E87722"/>
                </a:solidFill>
                <a:latin typeface="Helvetica Neue"/>
                <a:ea typeface="Helvetica Neue"/>
                <a:cs typeface="Helvetica Neue"/>
              </a:rPr>
              <a:t>②</a:t>
            </a:r>
          </a:p>
        </p:txBody>
      </p:sp>
      <p:sp>
        <p:nvSpPr>
          <p:cNvPr id="18" name="TextBox 17"/>
          <p:cNvSpPr txBox="1"/>
          <p:nvPr/>
        </p:nvSpPr>
        <p:spPr>
          <a:xfrm>
            <a:off x="1280160" y="5285232"/>
            <a:ext cx="4114800" cy="320040"/>
          </a:xfrm>
          <a:prstGeom prst="rect">
            <a:avLst/>
          </a:prstGeom>
          <a:noFill/>
        </p:spPr>
        <p:txBody>
          <a:bodyPr wrap="square" anchor="t" lIns="0" rIns="0" tIns="0" bIns="0">
            <a:spAutoFit/>
          </a:bodyPr>
          <a:lstStyle/>
          <a:p>
            <a:pPr algn="l">
              <a:lnSpc>
                <a:spcPct val="115000"/>
              </a:lnSpc>
            </a:pPr>
            <a:r>
              <a:rPr sz="1100" b="0">
                <a:solidFill>
                  <a:srgbClr val="1A1A1A"/>
                </a:solidFill>
                <a:latin typeface="Hiragino Sans"/>
                <a:ea typeface="Hiragino Sans"/>
                <a:cs typeface="Hiragino Sans"/>
              </a:rPr>
              <a:t>インストリーム → インフィード型</a:t>
            </a:r>
          </a:p>
        </p:txBody>
      </p:sp>
      <p:sp>
        <p:nvSpPr>
          <p:cNvPr id="19" name="TextBox 18"/>
          <p:cNvSpPr txBox="1"/>
          <p:nvPr/>
        </p:nvSpPr>
        <p:spPr>
          <a:xfrm>
            <a:off x="777240" y="5632704"/>
            <a:ext cx="457200" cy="320040"/>
          </a:xfrm>
          <a:prstGeom prst="rect">
            <a:avLst/>
          </a:prstGeom>
          <a:noFill/>
        </p:spPr>
        <p:txBody>
          <a:bodyPr wrap="square" anchor="t" lIns="0" rIns="0" tIns="0" bIns="0">
            <a:spAutoFit/>
          </a:bodyPr>
          <a:lstStyle/>
          <a:p>
            <a:pPr algn="l">
              <a:lnSpc>
                <a:spcPct val="115000"/>
              </a:lnSpc>
            </a:pPr>
            <a:r>
              <a:rPr sz="1400" b="1">
                <a:solidFill>
                  <a:srgbClr val="E87722"/>
                </a:solidFill>
                <a:latin typeface="Helvetica Neue"/>
                <a:ea typeface="Helvetica Neue"/>
                <a:cs typeface="Helvetica Neue"/>
              </a:rPr>
              <a:t>③</a:t>
            </a:r>
          </a:p>
        </p:txBody>
      </p:sp>
      <p:sp>
        <p:nvSpPr>
          <p:cNvPr id="20" name="TextBox 19"/>
          <p:cNvSpPr txBox="1"/>
          <p:nvPr/>
        </p:nvSpPr>
        <p:spPr>
          <a:xfrm>
            <a:off x="1280160" y="5632704"/>
            <a:ext cx="4114800" cy="320040"/>
          </a:xfrm>
          <a:prstGeom prst="rect">
            <a:avLst/>
          </a:prstGeom>
          <a:noFill/>
        </p:spPr>
        <p:txBody>
          <a:bodyPr wrap="square" anchor="t" lIns="0" rIns="0" tIns="0" bIns="0">
            <a:spAutoFit/>
          </a:bodyPr>
          <a:lstStyle/>
          <a:p>
            <a:pPr algn="l">
              <a:lnSpc>
                <a:spcPct val="115000"/>
              </a:lnSpc>
            </a:pPr>
            <a:r>
              <a:rPr sz="1100" b="0">
                <a:solidFill>
                  <a:srgbClr val="1A1A1A"/>
                </a:solidFill>
                <a:latin typeface="Hiragino Sans"/>
                <a:ea typeface="Hiragino Sans"/>
                <a:cs typeface="Hiragino Sans"/>
              </a:rPr>
              <a:t>ブランディング → 購買導線</a:t>
            </a:r>
          </a:p>
        </p:txBody>
      </p:sp>
      <p:sp>
        <p:nvSpPr>
          <p:cNvPr id="21" name="TextBox 20"/>
          <p:cNvSpPr txBox="1"/>
          <p:nvPr/>
        </p:nvSpPr>
        <p:spPr>
          <a:xfrm>
            <a:off x="5760720" y="1417320"/>
            <a:ext cx="5943600" cy="36576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主要縦型動画プラットフォーム</a:t>
            </a:r>
          </a:p>
        </p:txBody>
      </p:sp>
      <p:sp>
        <p:nvSpPr>
          <p:cNvPr id="22" name="Rounded Rectangle 21"/>
          <p:cNvSpPr/>
          <p:nvPr/>
        </p:nvSpPr>
        <p:spPr>
          <a:xfrm>
            <a:off x="5760720" y="1920240"/>
            <a:ext cx="2880360" cy="196596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760720" y="1920240"/>
            <a:ext cx="109728" cy="196596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035040" y="2103120"/>
            <a:ext cx="2514600" cy="640080"/>
          </a:xfrm>
          <a:prstGeom prst="rect">
            <a:avLst/>
          </a:prstGeom>
          <a:noFill/>
        </p:spPr>
        <p:txBody>
          <a:bodyPr wrap="square" anchor="t" lIns="0" rIns="0" tIns="0" bIns="0">
            <a:spAutoFit/>
          </a:bodyPr>
          <a:lstStyle/>
          <a:p>
            <a:pPr algn="l">
              <a:lnSpc>
                <a:spcPct val="110000"/>
              </a:lnSpc>
            </a:pPr>
            <a:r>
              <a:rPr sz="1500" b="1">
                <a:solidFill>
                  <a:srgbClr val="0F2A4F"/>
                </a:solidFill>
                <a:latin typeface="Hiragino Sans"/>
                <a:ea typeface="Hiragino Sans"/>
                <a:cs typeface="Hiragino Sans"/>
              </a:rPr>
              <a:t>TikTok</a:t>
            </a:r>
          </a:p>
        </p:txBody>
      </p:sp>
      <p:sp>
        <p:nvSpPr>
          <p:cNvPr id="25" name="TextBox 24"/>
          <p:cNvSpPr txBox="1"/>
          <p:nvPr/>
        </p:nvSpPr>
        <p:spPr>
          <a:xfrm>
            <a:off x="6035040" y="2788920"/>
            <a:ext cx="2514600" cy="594360"/>
          </a:xfrm>
          <a:prstGeom prst="rect">
            <a:avLst/>
          </a:prstGeom>
          <a:noFill/>
        </p:spPr>
        <p:txBody>
          <a:bodyPr wrap="square" anchor="t" lIns="0" rIns="0" tIns="0" bIns="0">
            <a:spAutoFit/>
          </a:bodyPr>
          <a:lstStyle/>
          <a:p>
            <a:pPr algn="l">
              <a:lnSpc>
                <a:spcPct val="135000"/>
              </a:lnSpc>
            </a:pPr>
            <a:r>
              <a:rPr sz="1000" b="0">
                <a:solidFill>
                  <a:srgbClr val="5A6A80"/>
                </a:solidFill>
                <a:latin typeface="Hiragino Sans"/>
                <a:ea typeface="Hiragino Sans"/>
                <a:cs typeface="Hiragino Sans"/>
              </a:rPr>
              <a:t>10代-30代</a:t>
            </a:r>
          </a:p>
          <a:p>
            <a:pPr algn="l">
              <a:lnSpc>
                <a:spcPct val="135000"/>
              </a:lnSpc>
            </a:pPr>
            <a:r>
              <a:rPr sz="1000" b="0">
                <a:solidFill>
                  <a:srgbClr val="5A6A80"/>
                </a:solidFill>
                <a:latin typeface="Hiragino Sans"/>
                <a:ea typeface="Hiragino Sans"/>
                <a:cs typeface="Hiragino Sans"/>
              </a:rPr>
              <a:t>B2C エンタメ/美容/Z世代</a:t>
            </a:r>
          </a:p>
        </p:txBody>
      </p:sp>
      <p:sp>
        <p:nvSpPr>
          <p:cNvPr id="26" name="TextBox 25"/>
          <p:cNvSpPr txBox="1"/>
          <p:nvPr/>
        </p:nvSpPr>
        <p:spPr>
          <a:xfrm>
            <a:off x="6035040" y="3337560"/>
            <a:ext cx="2514600" cy="548640"/>
          </a:xfrm>
          <a:prstGeom prst="rect">
            <a:avLst/>
          </a:prstGeom>
          <a:noFill/>
        </p:spPr>
        <p:txBody>
          <a:bodyPr wrap="square" anchor="t" lIns="0" rIns="0" tIns="0" bIns="0">
            <a:spAutoFit/>
          </a:bodyPr>
          <a:lstStyle/>
          <a:p>
            <a:pPr algn="l">
              <a:lnSpc>
                <a:spcPct val="130000"/>
              </a:lnSpc>
            </a:pPr>
            <a:r>
              <a:rPr sz="1000" b="1">
                <a:solidFill>
                  <a:srgbClr val="B85E1A"/>
                </a:solidFill>
                <a:latin typeface="Hiragino Sans"/>
                <a:ea typeface="Hiragino Sans"/>
                <a:cs typeface="Hiragino Sans"/>
              </a:rPr>
              <a:t>Smart+ / Symphony AI / Shop Ads</a:t>
            </a:r>
          </a:p>
        </p:txBody>
      </p:sp>
      <p:sp>
        <p:nvSpPr>
          <p:cNvPr id="27" name="Rounded Rectangle 26"/>
          <p:cNvSpPr/>
          <p:nvPr/>
        </p:nvSpPr>
        <p:spPr>
          <a:xfrm>
            <a:off x="8823960" y="1920240"/>
            <a:ext cx="2880360" cy="196596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823960" y="1920240"/>
            <a:ext cx="109728" cy="196596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098280" y="2103120"/>
            <a:ext cx="2514600" cy="640080"/>
          </a:xfrm>
          <a:prstGeom prst="rect">
            <a:avLst/>
          </a:prstGeom>
          <a:noFill/>
        </p:spPr>
        <p:txBody>
          <a:bodyPr wrap="square" anchor="t" lIns="0" rIns="0" tIns="0" bIns="0">
            <a:spAutoFit/>
          </a:bodyPr>
          <a:lstStyle/>
          <a:p>
            <a:pPr algn="l">
              <a:lnSpc>
                <a:spcPct val="110000"/>
              </a:lnSpc>
            </a:pPr>
            <a:r>
              <a:rPr sz="1500" b="1">
                <a:solidFill>
                  <a:srgbClr val="0F2A4F"/>
                </a:solidFill>
                <a:latin typeface="Hiragino Sans"/>
                <a:ea typeface="Hiragino Sans"/>
                <a:cs typeface="Hiragino Sans"/>
              </a:rPr>
              <a:t>YouTube</a:t>
            </a:r>
          </a:p>
          <a:p>
            <a:pPr algn="l">
              <a:lnSpc>
                <a:spcPct val="110000"/>
              </a:lnSpc>
            </a:pPr>
            <a:r>
              <a:rPr sz="1500" b="1">
                <a:solidFill>
                  <a:srgbClr val="0F2A4F"/>
                </a:solidFill>
                <a:latin typeface="Hiragino Sans"/>
                <a:ea typeface="Hiragino Sans"/>
                <a:cs typeface="Hiragino Sans"/>
              </a:rPr>
              <a:t>Shorts</a:t>
            </a:r>
          </a:p>
        </p:txBody>
      </p:sp>
      <p:sp>
        <p:nvSpPr>
          <p:cNvPr id="30" name="TextBox 29"/>
          <p:cNvSpPr txBox="1"/>
          <p:nvPr/>
        </p:nvSpPr>
        <p:spPr>
          <a:xfrm>
            <a:off x="9098280" y="2788920"/>
            <a:ext cx="2514600" cy="594360"/>
          </a:xfrm>
          <a:prstGeom prst="rect">
            <a:avLst/>
          </a:prstGeom>
          <a:noFill/>
        </p:spPr>
        <p:txBody>
          <a:bodyPr wrap="square" anchor="t" lIns="0" rIns="0" tIns="0" bIns="0">
            <a:spAutoFit/>
          </a:bodyPr>
          <a:lstStyle/>
          <a:p>
            <a:pPr algn="l">
              <a:lnSpc>
                <a:spcPct val="135000"/>
              </a:lnSpc>
            </a:pPr>
            <a:r>
              <a:rPr sz="1000" b="0">
                <a:solidFill>
                  <a:srgbClr val="5A6A80"/>
                </a:solidFill>
                <a:latin typeface="Hiragino Sans"/>
                <a:ea typeface="Hiragino Sans"/>
                <a:cs typeface="Hiragino Sans"/>
              </a:rPr>
              <a:t>幅広い層</a:t>
            </a:r>
          </a:p>
          <a:p>
            <a:pPr algn="l">
              <a:lnSpc>
                <a:spcPct val="135000"/>
              </a:lnSpc>
            </a:pPr>
            <a:r>
              <a:rPr sz="1000" b="0">
                <a:solidFill>
                  <a:srgbClr val="5A6A80"/>
                </a:solidFill>
                <a:latin typeface="Hiragino Sans"/>
                <a:ea typeface="Hiragino Sans"/>
                <a:cs typeface="Hiragino Sans"/>
              </a:rPr>
              <a:t>動画全年代</a:t>
            </a:r>
          </a:p>
        </p:txBody>
      </p:sp>
      <p:sp>
        <p:nvSpPr>
          <p:cNvPr id="31" name="TextBox 30"/>
          <p:cNvSpPr txBox="1"/>
          <p:nvPr/>
        </p:nvSpPr>
        <p:spPr>
          <a:xfrm>
            <a:off x="9098280" y="3337560"/>
            <a:ext cx="2514600" cy="548640"/>
          </a:xfrm>
          <a:prstGeom prst="rect">
            <a:avLst/>
          </a:prstGeom>
          <a:noFill/>
        </p:spPr>
        <p:txBody>
          <a:bodyPr wrap="square" anchor="t" lIns="0" rIns="0" tIns="0" bIns="0">
            <a:spAutoFit/>
          </a:bodyPr>
          <a:lstStyle/>
          <a:p>
            <a:pPr algn="l">
              <a:lnSpc>
                <a:spcPct val="130000"/>
              </a:lnSpc>
            </a:pPr>
            <a:r>
              <a:rPr sz="1000" b="1">
                <a:solidFill>
                  <a:srgbClr val="B85E1A"/>
                </a:solidFill>
                <a:latin typeface="Hiragino Sans"/>
                <a:ea typeface="Hiragino Sans"/>
                <a:cs typeface="Hiragino Sans"/>
              </a:rPr>
              <a:t>Demand Gen / Video Reach Campaign</a:t>
            </a:r>
          </a:p>
        </p:txBody>
      </p:sp>
      <p:sp>
        <p:nvSpPr>
          <p:cNvPr id="32" name="Rounded Rectangle 31"/>
          <p:cNvSpPr/>
          <p:nvPr/>
        </p:nvSpPr>
        <p:spPr>
          <a:xfrm>
            <a:off x="5760720" y="4069080"/>
            <a:ext cx="2880360" cy="196596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760720" y="4069080"/>
            <a:ext cx="109728" cy="1965960"/>
          </a:xfrm>
          <a:prstGeom prst="rect">
            <a:avLst/>
          </a:prstGeom>
          <a:solidFill>
            <a:srgbClr val="2B44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035040" y="4251960"/>
            <a:ext cx="2514600" cy="640080"/>
          </a:xfrm>
          <a:prstGeom prst="rect">
            <a:avLst/>
          </a:prstGeom>
          <a:noFill/>
        </p:spPr>
        <p:txBody>
          <a:bodyPr wrap="square" anchor="t" lIns="0" rIns="0" tIns="0" bIns="0">
            <a:spAutoFit/>
          </a:bodyPr>
          <a:lstStyle/>
          <a:p>
            <a:pPr algn="l">
              <a:lnSpc>
                <a:spcPct val="110000"/>
              </a:lnSpc>
            </a:pPr>
            <a:r>
              <a:rPr sz="1500" b="1">
                <a:solidFill>
                  <a:srgbClr val="0F2A4F"/>
                </a:solidFill>
                <a:latin typeface="Hiragino Sans"/>
                <a:ea typeface="Hiragino Sans"/>
                <a:cs typeface="Hiragino Sans"/>
              </a:rPr>
              <a:t>Meta</a:t>
            </a:r>
          </a:p>
          <a:p>
            <a:pPr algn="l">
              <a:lnSpc>
                <a:spcPct val="110000"/>
              </a:lnSpc>
            </a:pPr>
            <a:r>
              <a:rPr sz="1500" b="1">
                <a:solidFill>
                  <a:srgbClr val="0F2A4F"/>
                </a:solidFill>
                <a:latin typeface="Hiragino Sans"/>
                <a:ea typeface="Hiragino Sans"/>
                <a:cs typeface="Hiragino Sans"/>
              </a:rPr>
              <a:t>Reels</a:t>
            </a:r>
          </a:p>
        </p:txBody>
      </p:sp>
      <p:sp>
        <p:nvSpPr>
          <p:cNvPr id="35" name="TextBox 34"/>
          <p:cNvSpPr txBox="1"/>
          <p:nvPr/>
        </p:nvSpPr>
        <p:spPr>
          <a:xfrm>
            <a:off x="6035040" y="4937760"/>
            <a:ext cx="2514600" cy="594360"/>
          </a:xfrm>
          <a:prstGeom prst="rect">
            <a:avLst/>
          </a:prstGeom>
          <a:noFill/>
        </p:spPr>
        <p:txBody>
          <a:bodyPr wrap="square" anchor="t" lIns="0" rIns="0" tIns="0" bIns="0">
            <a:spAutoFit/>
          </a:bodyPr>
          <a:lstStyle/>
          <a:p>
            <a:pPr algn="l">
              <a:lnSpc>
                <a:spcPct val="135000"/>
              </a:lnSpc>
            </a:pPr>
            <a:r>
              <a:rPr sz="1000" b="0">
                <a:solidFill>
                  <a:srgbClr val="5A6A80"/>
                </a:solidFill>
                <a:latin typeface="Hiragino Sans"/>
                <a:ea typeface="Hiragino Sans"/>
                <a:cs typeface="Hiragino Sans"/>
              </a:rPr>
              <a:t>Instagram+Facebook</a:t>
            </a:r>
          </a:p>
          <a:p>
            <a:pPr algn="l">
              <a:lnSpc>
                <a:spcPct val="135000"/>
              </a:lnSpc>
            </a:pPr>
            <a:r>
              <a:rPr sz="1000" b="0">
                <a:solidFill>
                  <a:srgbClr val="5A6A80"/>
                </a:solidFill>
                <a:latin typeface="Hiragino Sans"/>
                <a:ea typeface="Hiragino Sans"/>
                <a:cs typeface="Hiragino Sans"/>
              </a:rPr>
              <a:t>20-50代</a:t>
            </a:r>
          </a:p>
        </p:txBody>
      </p:sp>
      <p:sp>
        <p:nvSpPr>
          <p:cNvPr id="36" name="TextBox 35"/>
          <p:cNvSpPr txBox="1"/>
          <p:nvPr/>
        </p:nvSpPr>
        <p:spPr>
          <a:xfrm>
            <a:off x="6035040" y="5486400"/>
            <a:ext cx="2514600" cy="548640"/>
          </a:xfrm>
          <a:prstGeom prst="rect">
            <a:avLst/>
          </a:prstGeom>
          <a:noFill/>
        </p:spPr>
        <p:txBody>
          <a:bodyPr wrap="square" anchor="t" lIns="0" rIns="0" tIns="0" bIns="0">
            <a:spAutoFit/>
          </a:bodyPr>
          <a:lstStyle/>
          <a:p>
            <a:pPr algn="l">
              <a:lnSpc>
                <a:spcPct val="130000"/>
              </a:lnSpc>
            </a:pPr>
            <a:r>
              <a:rPr sz="1000" b="1">
                <a:solidFill>
                  <a:srgbClr val="B85E1A"/>
                </a:solidFill>
                <a:latin typeface="Hiragino Sans"/>
                <a:ea typeface="Hiragino Sans"/>
                <a:cs typeface="Hiragino Sans"/>
              </a:rPr>
              <a:t>Advantage+ Creative / 自動動画生成</a:t>
            </a:r>
          </a:p>
        </p:txBody>
      </p:sp>
      <p:sp>
        <p:nvSpPr>
          <p:cNvPr id="37" name="Rounded Rectangle 36"/>
          <p:cNvSpPr/>
          <p:nvPr/>
        </p:nvSpPr>
        <p:spPr>
          <a:xfrm>
            <a:off x="8823960" y="4069080"/>
            <a:ext cx="2880360" cy="196596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823960" y="4069080"/>
            <a:ext cx="109728" cy="1965960"/>
          </a:xfrm>
          <a:prstGeom prst="rect">
            <a:avLst/>
          </a:prstGeom>
          <a:solidFill>
            <a:srgbClr val="B85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098280" y="4251960"/>
            <a:ext cx="2514600" cy="640080"/>
          </a:xfrm>
          <a:prstGeom prst="rect">
            <a:avLst/>
          </a:prstGeom>
          <a:noFill/>
        </p:spPr>
        <p:txBody>
          <a:bodyPr wrap="square" anchor="t" lIns="0" rIns="0" tIns="0" bIns="0">
            <a:spAutoFit/>
          </a:bodyPr>
          <a:lstStyle/>
          <a:p>
            <a:pPr algn="l">
              <a:lnSpc>
                <a:spcPct val="110000"/>
              </a:lnSpc>
            </a:pPr>
            <a:r>
              <a:rPr sz="1500" b="1">
                <a:solidFill>
                  <a:srgbClr val="0F2A4F"/>
                </a:solidFill>
                <a:latin typeface="Hiragino Sans"/>
                <a:ea typeface="Hiragino Sans"/>
                <a:cs typeface="Hiragino Sans"/>
              </a:rPr>
              <a:t>LINE</a:t>
            </a:r>
          </a:p>
          <a:p>
            <a:pPr algn="l">
              <a:lnSpc>
                <a:spcPct val="110000"/>
              </a:lnSpc>
            </a:pPr>
            <a:r>
              <a:rPr sz="1500" b="1">
                <a:solidFill>
                  <a:srgbClr val="0F2A4F"/>
                </a:solidFill>
                <a:latin typeface="Hiragino Sans"/>
                <a:ea typeface="Hiragino Sans"/>
                <a:cs typeface="Hiragino Sans"/>
              </a:rPr>
              <a:t>VOOM</a:t>
            </a:r>
          </a:p>
        </p:txBody>
      </p:sp>
      <p:sp>
        <p:nvSpPr>
          <p:cNvPr id="40" name="TextBox 39"/>
          <p:cNvSpPr txBox="1"/>
          <p:nvPr/>
        </p:nvSpPr>
        <p:spPr>
          <a:xfrm>
            <a:off x="9098280" y="4937760"/>
            <a:ext cx="2514600" cy="594360"/>
          </a:xfrm>
          <a:prstGeom prst="rect">
            <a:avLst/>
          </a:prstGeom>
          <a:noFill/>
        </p:spPr>
        <p:txBody>
          <a:bodyPr wrap="square" anchor="t" lIns="0" rIns="0" tIns="0" bIns="0">
            <a:spAutoFit/>
          </a:bodyPr>
          <a:lstStyle/>
          <a:p>
            <a:pPr algn="l">
              <a:lnSpc>
                <a:spcPct val="135000"/>
              </a:lnSpc>
            </a:pPr>
            <a:r>
              <a:rPr sz="1000" b="0">
                <a:solidFill>
                  <a:srgbClr val="5A6A80"/>
                </a:solidFill>
                <a:latin typeface="Hiragino Sans"/>
                <a:ea typeface="Hiragino Sans"/>
                <a:cs typeface="Hiragino Sans"/>
              </a:rPr>
              <a:t>日本特化</a:t>
            </a:r>
          </a:p>
          <a:p>
            <a:pPr algn="l">
              <a:lnSpc>
                <a:spcPct val="135000"/>
              </a:lnSpc>
            </a:pPr>
            <a:r>
              <a:rPr sz="1000" b="0">
                <a:solidFill>
                  <a:srgbClr val="5A6A80"/>
                </a:solidFill>
                <a:latin typeface="Hiragino Sans"/>
                <a:ea typeface="Hiragino Sans"/>
                <a:cs typeface="Hiragino Sans"/>
              </a:rPr>
              <a:t>LINEユーザーベース</a:t>
            </a:r>
          </a:p>
        </p:txBody>
      </p:sp>
      <p:sp>
        <p:nvSpPr>
          <p:cNvPr id="41" name="TextBox 40"/>
          <p:cNvSpPr txBox="1"/>
          <p:nvPr/>
        </p:nvSpPr>
        <p:spPr>
          <a:xfrm>
            <a:off x="9098280" y="5486400"/>
            <a:ext cx="2514600" cy="548640"/>
          </a:xfrm>
          <a:prstGeom prst="rect">
            <a:avLst/>
          </a:prstGeom>
          <a:noFill/>
        </p:spPr>
        <p:txBody>
          <a:bodyPr wrap="square" anchor="t" lIns="0" rIns="0" tIns="0" bIns="0">
            <a:spAutoFit/>
          </a:bodyPr>
          <a:lstStyle/>
          <a:p>
            <a:pPr algn="l">
              <a:lnSpc>
                <a:spcPct val="130000"/>
              </a:lnSpc>
            </a:pPr>
            <a:r>
              <a:rPr sz="1000" b="1">
                <a:solidFill>
                  <a:srgbClr val="B85E1A"/>
                </a:solidFill>
                <a:latin typeface="Hiragino Sans"/>
                <a:ea typeface="Hiragino Sans"/>
                <a:cs typeface="Hiragino Sans"/>
              </a:rPr>
              <a:t>LINE広告 VOOM面配信</a:t>
            </a:r>
          </a:p>
        </p:txBody>
      </p:sp>
      <p:sp>
        <p:nvSpPr>
          <p:cNvPr id="42" name="TextBox 41"/>
          <p:cNvSpPr txBox="1"/>
          <p:nvPr/>
        </p:nvSpPr>
        <p:spPr>
          <a:xfrm>
            <a:off x="548640" y="6355080"/>
            <a:ext cx="10972800" cy="274320"/>
          </a:xfrm>
          <a:prstGeom prst="rect">
            <a:avLst/>
          </a:prstGeom>
          <a:noFill/>
        </p:spPr>
        <p:txBody>
          <a:bodyPr wrap="square" anchor="t" lIns="0" rIns="0" tIns="0" bIns="0">
            <a:spAutoFit/>
          </a:bodyPr>
          <a:lstStyle/>
          <a:p>
            <a:pPr algn="l">
              <a:lnSpc>
                <a:spcPct val="115000"/>
              </a:lnSpc>
            </a:pPr>
            <a:r>
              <a:rPr sz="1000" b="0">
                <a:solidFill>
                  <a:srgbClr val="5A6A80"/>
                </a:solidFill>
                <a:latin typeface="Hiragino Sans"/>
                <a:ea typeface="Hiragino Sans"/>
                <a:cs typeface="Hiragino Sans"/>
              </a:rPr>
              <a:t>→ 媒体別の詳細は Part 3 (TikTok / YouTube / Meta / LINE)</a:t>
            </a:r>
          </a:p>
        </p:txBody>
      </p:sp>
      <p:sp>
        <p:nvSpPr>
          <p:cNvPr id="43" name="TextBox 42"/>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iOS/ATT シグナル減の系譜</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2021年から2026年までの4年半</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P16 / 250</a:t>
            </a:r>
          </a:p>
        </p:txBody>
      </p:sp>
      <p:sp>
        <p:nvSpPr>
          <p:cNvPr id="8" name="Rectangle 7"/>
          <p:cNvSpPr/>
          <p:nvPr/>
        </p:nvSpPr>
        <p:spPr>
          <a:xfrm>
            <a:off x="1554480" y="3017520"/>
            <a:ext cx="9052560"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453896" y="2990088"/>
            <a:ext cx="201168" cy="201168"/>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920240"/>
            <a:ext cx="1371600" cy="274320"/>
          </a:xfrm>
          <a:prstGeom prst="rect">
            <a:avLst/>
          </a:prstGeom>
          <a:noFill/>
        </p:spPr>
        <p:txBody>
          <a:bodyPr wrap="square" anchor="t" lIns="0" rIns="0" tIns="0" bIns="0">
            <a:spAutoFit/>
          </a:bodyPr>
          <a:lstStyle/>
          <a:p>
            <a:pPr algn="ctr">
              <a:lnSpc>
                <a:spcPct val="115000"/>
              </a:lnSpc>
            </a:pPr>
            <a:r>
              <a:rPr sz="1100" b="1">
                <a:solidFill>
                  <a:srgbClr val="0F2A4F"/>
                </a:solidFill>
                <a:latin typeface="Helvetica Neue"/>
                <a:ea typeface="Helvetica Neue"/>
                <a:cs typeface="Helvetica Neue"/>
              </a:rPr>
              <a:t>2021/04</a:t>
            </a:r>
          </a:p>
        </p:txBody>
      </p:sp>
      <p:sp>
        <p:nvSpPr>
          <p:cNvPr id="11" name="TextBox 10"/>
          <p:cNvSpPr txBox="1"/>
          <p:nvPr/>
        </p:nvSpPr>
        <p:spPr>
          <a:xfrm>
            <a:off x="640080" y="2194560"/>
            <a:ext cx="1828800" cy="548640"/>
          </a:xfrm>
          <a:prstGeom prst="rect">
            <a:avLst/>
          </a:prstGeom>
          <a:noFill/>
        </p:spPr>
        <p:txBody>
          <a:bodyPr wrap="square" anchor="t" lIns="0" rIns="0" tIns="0" bIns="0">
            <a:spAutoFit/>
          </a:bodyPr>
          <a:lstStyle/>
          <a:p>
            <a:pPr algn="ctr">
              <a:lnSpc>
                <a:spcPct val="120000"/>
              </a:lnSpc>
            </a:pPr>
            <a:r>
              <a:rPr sz="1200" b="1">
                <a:solidFill>
                  <a:srgbClr val="0F2A4F"/>
                </a:solidFill>
                <a:latin typeface="Hiragino Sans"/>
                <a:ea typeface="Hiragino Sans"/>
                <a:cs typeface="Hiragino Sans"/>
              </a:rPr>
              <a:t>iOS 14.5</a:t>
            </a:r>
          </a:p>
          <a:p>
            <a:pPr algn="ctr">
              <a:lnSpc>
                <a:spcPct val="120000"/>
              </a:lnSpc>
            </a:pPr>
            <a:r>
              <a:rPr sz="1200" b="1">
                <a:solidFill>
                  <a:srgbClr val="0F2A4F"/>
                </a:solidFill>
                <a:latin typeface="Hiragino Sans"/>
                <a:ea typeface="Hiragino Sans"/>
                <a:cs typeface="Hiragino Sans"/>
              </a:rPr>
              <a:t>ATT 実装</a:t>
            </a:r>
          </a:p>
        </p:txBody>
      </p:sp>
      <p:sp>
        <p:nvSpPr>
          <p:cNvPr id="12" name="TextBox 11"/>
          <p:cNvSpPr txBox="1"/>
          <p:nvPr/>
        </p:nvSpPr>
        <p:spPr>
          <a:xfrm>
            <a:off x="411480" y="2761488"/>
            <a:ext cx="2286000" cy="365760"/>
          </a:xfrm>
          <a:prstGeom prst="rect">
            <a:avLst/>
          </a:prstGeom>
          <a:noFill/>
        </p:spPr>
        <p:txBody>
          <a:bodyPr wrap="square" anchor="t" lIns="0" rIns="0" tIns="0" bIns="0">
            <a:spAutoFit/>
          </a:bodyPr>
          <a:lstStyle/>
          <a:p>
            <a:pPr algn="ctr">
              <a:lnSpc>
                <a:spcPct val="130000"/>
              </a:lnSpc>
            </a:pPr>
            <a:r>
              <a:rPr sz="900" b="0">
                <a:solidFill>
                  <a:srgbClr val="5A6A80"/>
                </a:solidFill>
                <a:latin typeface="Hiragino Sans"/>
                <a:ea typeface="Hiragino Sans"/>
                <a:cs typeface="Hiragino Sans"/>
              </a:rPr>
              <a:t>App Tracking Transparency 開始</a:t>
            </a:r>
          </a:p>
        </p:txBody>
      </p:sp>
      <p:sp>
        <p:nvSpPr>
          <p:cNvPr id="13" name="Rectangle 12"/>
          <p:cNvSpPr/>
          <p:nvPr/>
        </p:nvSpPr>
        <p:spPr>
          <a:xfrm>
            <a:off x="1545336" y="2788920"/>
            <a:ext cx="13716" cy="228600"/>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264408" y="2990088"/>
            <a:ext cx="201168" cy="201168"/>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79192" y="3337560"/>
            <a:ext cx="1371600" cy="274320"/>
          </a:xfrm>
          <a:prstGeom prst="rect">
            <a:avLst/>
          </a:prstGeom>
          <a:noFill/>
        </p:spPr>
        <p:txBody>
          <a:bodyPr wrap="square" anchor="t" lIns="0" rIns="0" tIns="0" bIns="0">
            <a:spAutoFit/>
          </a:bodyPr>
          <a:lstStyle/>
          <a:p>
            <a:pPr algn="ctr">
              <a:lnSpc>
                <a:spcPct val="115000"/>
              </a:lnSpc>
            </a:pPr>
            <a:r>
              <a:rPr sz="1100" b="1">
                <a:solidFill>
                  <a:srgbClr val="0F2A4F"/>
                </a:solidFill>
                <a:latin typeface="Helvetica Neue"/>
                <a:ea typeface="Helvetica Neue"/>
                <a:cs typeface="Helvetica Neue"/>
              </a:rPr>
              <a:t>2022</a:t>
            </a:r>
          </a:p>
        </p:txBody>
      </p:sp>
      <p:sp>
        <p:nvSpPr>
          <p:cNvPr id="16" name="TextBox 15"/>
          <p:cNvSpPr txBox="1"/>
          <p:nvPr/>
        </p:nvSpPr>
        <p:spPr>
          <a:xfrm>
            <a:off x="2450592" y="3611880"/>
            <a:ext cx="1828800" cy="548640"/>
          </a:xfrm>
          <a:prstGeom prst="rect">
            <a:avLst/>
          </a:prstGeom>
          <a:noFill/>
        </p:spPr>
        <p:txBody>
          <a:bodyPr wrap="square" anchor="t" lIns="0" rIns="0" tIns="0" bIns="0">
            <a:spAutoFit/>
          </a:bodyPr>
          <a:lstStyle/>
          <a:p>
            <a:pPr algn="ctr">
              <a:lnSpc>
                <a:spcPct val="120000"/>
              </a:lnSpc>
            </a:pPr>
            <a:r>
              <a:rPr sz="1200" b="1">
                <a:solidFill>
                  <a:srgbClr val="0F2A4F"/>
                </a:solidFill>
                <a:latin typeface="Hiragino Sans"/>
                <a:ea typeface="Hiragino Sans"/>
                <a:cs typeface="Hiragino Sans"/>
              </a:rPr>
              <a:t>Meta 影響</a:t>
            </a:r>
          </a:p>
          <a:p>
            <a:pPr algn="ctr">
              <a:lnSpc>
                <a:spcPct val="120000"/>
              </a:lnSpc>
            </a:pPr>
            <a:r>
              <a:rPr sz="1200" b="1">
                <a:solidFill>
                  <a:srgbClr val="0F2A4F"/>
                </a:solidFill>
                <a:latin typeface="Hiragino Sans"/>
                <a:ea typeface="Hiragino Sans"/>
                <a:cs typeface="Hiragino Sans"/>
              </a:rPr>
              <a:t>公表</a:t>
            </a:r>
          </a:p>
        </p:txBody>
      </p:sp>
      <p:sp>
        <p:nvSpPr>
          <p:cNvPr id="17" name="TextBox 16"/>
          <p:cNvSpPr txBox="1"/>
          <p:nvPr/>
        </p:nvSpPr>
        <p:spPr>
          <a:xfrm>
            <a:off x="2221992" y="4178808"/>
            <a:ext cx="2286000" cy="365760"/>
          </a:xfrm>
          <a:prstGeom prst="rect">
            <a:avLst/>
          </a:prstGeom>
          <a:noFill/>
        </p:spPr>
        <p:txBody>
          <a:bodyPr wrap="square" anchor="t" lIns="0" rIns="0" tIns="0" bIns="0">
            <a:spAutoFit/>
          </a:bodyPr>
          <a:lstStyle/>
          <a:p>
            <a:pPr algn="ctr">
              <a:lnSpc>
                <a:spcPct val="130000"/>
              </a:lnSpc>
            </a:pPr>
            <a:r>
              <a:rPr sz="900" b="0">
                <a:solidFill>
                  <a:srgbClr val="5A6A80"/>
                </a:solidFill>
                <a:latin typeface="Hiragino Sans"/>
                <a:ea typeface="Hiragino Sans"/>
                <a:cs typeface="Hiragino Sans"/>
              </a:rPr>
              <a:t>計測困難・CPA高騰の影響確定</a:t>
            </a:r>
          </a:p>
        </p:txBody>
      </p:sp>
      <p:sp>
        <p:nvSpPr>
          <p:cNvPr id="18" name="Rectangle 17"/>
          <p:cNvSpPr/>
          <p:nvPr/>
        </p:nvSpPr>
        <p:spPr>
          <a:xfrm>
            <a:off x="3355848" y="3127248"/>
            <a:ext cx="13716" cy="502920"/>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074920" y="2990088"/>
            <a:ext cx="201168" cy="201168"/>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89704" y="1920240"/>
            <a:ext cx="1371600" cy="274320"/>
          </a:xfrm>
          <a:prstGeom prst="rect">
            <a:avLst/>
          </a:prstGeom>
          <a:noFill/>
        </p:spPr>
        <p:txBody>
          <a:bodyPr wrap="square" anchor="t" lIns="0" rIns="0" tIns="0" bIns="0">
            <a:spAutoFit/>
          </a:bodyPr>
          <a:lstStyle/>
          <a:p>
            <a:pPr algn="ctr">
              <a:lnSpc>
                <a:spcPct val="115000"/>
              </a:lnSpc>
            </a:pPr>
            <a:r>
              <a:rPr sz="1100" b="1">
                <a:solidFill>
                  <a:srgbClr val="0F2A4F"/>
                </a:solidFill>
                <a:latin typeface="Helvetica Neue"/>
                <a:ea typeface="Helvetica Neue"/>
                <a:cs typeface="Helvetica Neue"/>
              </a:rPr>
              <a:t>2023/07</a:t>
            </a:r>
          </a:p>
        </p:txBody>
      </p:sp>
      <p:sp>
        <p:nvSpPr>
          <p:cNvPr id="21" name="TextBox 20"/>
          <p:cNvSpPr txBox="1"/>
          <p:nvPr/>
        </p:nvSpPr>
        <p:spPr>
          <a:xfrm>
            <a:off x="4261104" y="2194560"/>
            <a:ext cx="1828800" cy="548640"/>
          </a:xfrm>
          <a:prstGeom prst="rect">
            <a:avLst/>
          </a:prstGeom>
          <a:noFill/>
        </p:spPr>
        <p:txBody>
          <a:bodyPr wrap="square" anchor="t" lIns="0" rIns="0" tIns="0" bIns="0">
            <a:spAutoFit/>
          </a:bodyPr>
          <a:lstStyle/>
          <a:p>
            <a:pPr algn="ctr">
              <a:lnSpc>
                <a:spcPct val="120000"/>
              </a:lnSpc>
            </a:pPr>
            <a:r>
              <a:rPr sz="1200" b="1">
                <a:solidFill>
                  <a:srgbClr val="0F2A4F"/>
                </a:solidFill>
                <a:latin typeface="Hiragino Sans"/>
                <a:ea typeface="Hiragino Sans"/>
                <a:cs typeface="Hiragino Sans"/>
              </a:rPr>
              <a:t>Consent Mode v2</a:t>
            </a:r>
          </a:p>
          <a:p>
            <a:pPr algn="ctr">
              <a:lnSpc>
                <a:spcPct val="120000"/>
              </a:lnSpc>
            </a:pPr>
            <a:r>
              <a:rPr sz="1200" b="1">
                <a:solidFill>
                  <a:srgbClr val="0F2A4F"/>
                </a:solidFill>
                <a:latin typeface="Hiragino Sans"/>
                <a:ea typeface="Hiragino Sans"/>
                <a:cs typeface="Hiragino Sans"/>
              </a:rPr>
              <a:t>発表</a:t>
            </a:r>
          </a:p>
        </p:txBody>
      </p:sp>
      <p:sp>
        <p:nvSpPr>
          <p:cNvPr id="22" name="TextBox 21"/>
          <p:cNvSpPr txBox="1"/>
          <p:nvPr/>
        </p:nvSpPr>
        <p:spPr>
          <a:xfrm>
            <a:off x="4032504" y="2761488"/>
            <a:ext cx="2286000" cy="365760"/>
          </a:xfrm>
          <a:prstGeom prst="rect">
            <a:avLst/>
          </a:prstGeom>
          <a:noFill/>
        </p:spPr>
        <p:txBody>
          <a:bodyPr wrap="square" anchor="t" lIns="0" rIns="0" tIns="0" bIns="0">
            <a:spAutoFit/>
          </a:bodyPr>
          <a:lstStyle/>
          <a:p>
            <a:pPr algn="ctr">
              <a:lnSpc>
                <a:spcPct val="130000"/>
              </a:lnSpc>
            </a:pPr>
            <a:r>
              <a:rPr sz="900" b="0">
                <a:solidFill>
                  <a:srgbClr val="5A6A80"/>
                </a:solidFill>
                <a:latin typeface="Hiragino Sans"/>
                <a:ea typeface="Hiragino Sans"/>
                <a:cs typeface="Hiragino Sans"/>
              </a:rPr>
              <a:t>Google が後継仕様発表</a:t>
            </a:r>
          </a:p>
        </p:txBody>
      </p:sp>
      <p:sp>
        <p:nvSpPr>
          <p:cNvPr id="23" name="Rectangle 22"/>
          <p:cNvSpPr/>
          <p:nvPr/>
        </p:nvSpPr>
        <p:spPr>
          <a:xfrm>
            <a:off x="5166360" y="2788920"/>
            <a:ext cx="13716" cy="228600"/>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825996" y="2930652"/>
            <a:ext cx="320040" cy="320040"/>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0216" y="3337560"/>
            <a:ext cx="1371600" cy="274320"/>
          </a:xfrm>
          <a:prstGeom prst="rect">
            <a:avLst/>
          </a:prstGeom>
          <a:noFill/>
        </p:spPr>
        <p:txBody>
          <a:bodyPr wrap="square" anchor="t" lIns="0" rIns="0" tIns="0" bIns="0">
            <a:spAutoFit/>
          </a:bodyPr>
          <a:lstStyle/>
          <a:p>
            <a:pPr algn="ctr">
              <a:lnSpc>
                <a:spcPct val="115000"/>
              </a:lnSpc>
            </a:pPr>
            <a:r>
              <a:rPr sz="1100" b="1">
                <a:solidFill>
                  <a:srgbClr val="E87722"/>
                </a:solidFill>
                <a:latin typeface="Helvetica Neue"/>
                <a:ea typeface="Helvetica Neue"/>
                <a:cs typeface="Helvetica Neue"/>
              </a:rPr>
              <a:t>2024/03</a:t>
            </a:r>
          </a:p>
        </p:txBody>
      </p:sp>
      <p:sp>
        <p:nvSpPr>
          <p:cNvPr id="26" name="TextBox 25"/>
          <p:cNvSpPr txBox="1"/>
          <p:nvPr/>
        </p:nvSpPr>
        <p:spPr>
          <a:xfrm>
            <a:off x="6071616" y="3611880"/>
            <a:ext cx="1828800" cy="548640"/>
          </a:xfrm>
          <a:prstGeom prst="rect">
            <a:avLst/>
          </a:prstGeom>
          <a:noFill/>
        </p:spPr>
        <p:txBody>
          <a:bodyPr wrap="square" anchor="t" lIns="0" rIns="0" tIns="0" bIns="0">
            <a:spAutoFit/>
          </a:bodyPr>
          <a:lstStyle/>
          <a:p>
            <a:pPr algn="ctr">
              <a:lnSpc>
                <a:spcPct val="120000"/>
              </a:lnSpc>
            </a:pPr>
            <a:r>
              <a:rPr sz="1200" b="1">
                <a:solidFill>
                  <a:srgbClr val="0F2A4F"/>
                </a:solidFill>
                <a:latin typeface="Hiragino Sans"/>
                <a:ea typeface="Hiragino Sans"/>
                <a:cs typeface="Hiragino Sans"/>
              </a:rPr>
              <a:t>Consent Mode v2</a:t>
            </a:r>
          </a:p>
          <a:p>
            <a:pPr algn="ctr">
              <a:lnSpc>
                <a:spcPct val="120000"/>
              </a:lnSpc>
            </a:pPr>
            <a:r>
              <a:rPr sz="1200" b="1">
                <a:solidFill>
                  <a:srgbClr val="0F2A4F"/>
                </a:solidFill>
                <a:latin typeface="Hiragino Sans"/>
                <a:ea typeface="Hiragino Sans"/>
                <a:cs typeface="Hiragino Sans"/>
              </a:rPr>
              <a:t>EEA義務化</a:t>
            </a:r>
          </a:p>
        </p:txBody>
      </p:sp>
      <p:sp>
        <p:nvSpPr>
          <p:cNvPr id="27" name="TextBox 26"/>
          <p:cNvSpPr txBox="1"/>
          <p:nvPr/>
        </p:nvSpPr>
        <p:spPr>
          <a:xfrm>
            <a:off x="5843016" y="4178808"/>
            <a:ext cx="2286000" cy="365760"/>
          </a:xfrm>
          <a:prstGeom prst="rect">
            <a:avLst/>
          </a:prstGeom>
          <a:noFill/>
        </p:spPr>
        <p:txBody>
          <a:bodyPr wrap="square" anchor="t" lIns="0" rIns="0" tIns="0" bIns="0">
            <a:spAutoFit/>
          </a:bodyPr>
          <a:lstStyle/>
          <a:p>
            <a:pPr algn="ctr">
              <a:lnSpc>
                <a:spcPct val="130000"/>
              </a:lnSpc>
            </a:pPr>
            <a:r>
              <a:rPr sz="900" b="0">
                <a:solidFill>
                  <a:srgbClr val="5A6A80"/>
                </a:solidFill>
                <a:latin typeface="Hiragino Sans"/>
                <a:ea typeface="Hiragino Sans"/>
                <a:cs typeface="Hiragino Sans"/>
              </a:rPr>
              <a:t>EUで実装必須化</a:t>
            </a:r>
          </a:p>
        </p:txBody>
      </p:sp>
      <p:sp>
        <p:nvSpPr>
          <p:cNvPr id="28" name="Rectangle 27"/>
          <p:cNvSpPr/>
          <p:nvPr/>
        </p:nvSpPr>
        <p:spPr>
          <a:xfrm>
            <a:off x="6976872" y="3127248"/>
            <a:ext cx="13716" cy="502920"/>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636508" y="2930652"/>
            <a:ext cx="320040" cy="320040"/>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10728" y="1920240"/>
            <a:ext cx="1371600" cy="274320"/>
          </a:xfrm>
          <a:prstGeom prst="rect">
            <a:avLst/>
          </a:prstGeom>
          <a:noFill/>
        </p:spPr>
        <p:txBody>
          <a:bodyPr wrap="square" anchor="t" lIns="0" rIns="0" tIns="0" bIns="0">
            <a:spAutoFit/>
          </a:bodyPr>
          <a:lstStyle/>
          <a:p>
            <a:pPr algn="ctr">
              <a:lnSpc>
                <a:spcPct val="115000"/>
              </a:lnSpc>
            </a:pPr>
            <a:r>
              <a:rPr sz="1100" b="1">
                <a:solidFill>
                  <a:srgbClr val="E87722"/>
                </a:solidFill>
                <a:latin typeface="Helvetica Neue"/>
                <a:ea typeface="Helvetica Neue"/>
                <a:cs typeface="Helvetica Neue"/>
              </a:rPr>
              <a:t>2024/07</a:t>
            </a:r>
          </a:p>
        </p:txBody>
      </p:sp>
      <p:sp>
        <p:nvSpPr>
          <p:cNvPr id="31" name="TextBox 30"/>
          <p:cNvSpPr txBox="1"/>
          <p:nvPr/>
        </p:nvSpPr>
        <p:spPr>
          <a:xfrm>
            <a:off x="7882128" y="2194560"/>
            <a:ext cx="1828800" cy="548640"/>
          </a:xfrm>
          <a:prstGeom prst="rect">
            <a:avLst/>
          </a:prstGeom>
          <a:noFill/>
        </p:spPr>
        <p:txBody>
          <a:bodyPr wrap="square" anchor="t" lIns="0" rIns="0" tIns="0" bIns="0">
            <a:spAutoFit/>
          </a:bodyPr>
          <a:lstStyle/>
          <a:p>
            <a:pPr algn="ctr">
              <a:lnSpc>
                <a:spcPct val="120000"/>
              </a:lnSpc>
            </a:pPr>
            <a:r>
              <a:rPr sz="1200" b="1">
                <a:solidFill>
                  <a:srgbClr val="0F2A4F"/>
                </a:solidFill>
                <a:latin typeface="Hiragino Sans"/>
                <a:ea typeface="Hiragino Sans"/>
                <a:cs typeface="Hiragino Sans"/>
              </a:rPr>
              <a:t>Cookie廃止</a:t>
            </a:r>
          </a:p>
          <a:p>
            <a:pPr algn="ctr">
              <a:lnSpc>
                <a:spcPct val="120000"/>
              </a:lnSpc>
            </a:pPr>
            <a:r>
              <a:rPr sz="1200" b="1">
                <a:solidFill>
                  <a:srgbClr val="0F2A4F"/>
                </a:solidFill>
                <a:latin typeface="Hiragino Sans"/>
                <a:ea typeface="Hiragino Sans"/>
                <a:cs typeface="Hiragino Sans"/>
              </a:rPr>
              <a:t>撤回</a:t>
            </a:r>
          </a:p>
        </p:txBody>
      </p:sp>
      <p:sp>
        <p:nvSpPr>
          <p:cNvPr id="32" name="TextBox 31"/>
          <p:cNvSpPr txBox="1"/>
          <p:nvPr/>
        </p:nvSpPr>
        <p:spPr>
          <a:xfrm>
            <a:off x="7653528" y="2761488"/>
            <a:ext cx="2286000" cy="365760"/>
          </a:xfrm>
          <a:prstGeom prst="rect">
            <a:avLst/>
          </a:prstGeom>
          <a:noFill/>
        </p:spPr>
        <p:txBody>
          <a:bodyPr wrap="square" anchor="t" lIns="0" rIns="0" tIns="0" bIns="0">
            <a:spAutoFit/>
          </a:bodyPr>
          <a:lstStyle/>
          <a:p>
            <a:pPr algn="ctr">
              <a:lnSpc>
                <a:spcPct val="130000"/>
              </a:lnSpc>
            </a:pPr>
            <a:r>
              <a:rPr sz="900" b="0">
                <a:solidFill>
                  <a:srgbClr val="5A6A80"/>
                </a:solidFill>
                <a:latin typeface="Hiragino Sans"/>
                <a:ea typeface="Hiragino Sans"/>
                <a:cs typeface="Hiragino Sans"/>
              </a:rPr>
              <a:t>Google 方針転換</a:t>
            </a:r>
          </a:p>
        </p:txBody>
      </p:sp>
      <p:sp>
        <p:nvSpPr>
          <p:cNvPr id="33" name="Rectangle 32"/>
          <p:cNvSpPr/>
          <p:nvPr/>
        </p:nvSpPr>
        <p:spPr>
          <a:xfrm>
            <a:off x="8787384" y="2788920"/>
            <a:ext cx="13716" cy="228600"/>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10447020" y="2930652"/>
            <a:ext cx="320040" cy="320040"/>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921240" y="3337560"/>
            <a:ext cx="1371600" cy="274320"/>
          </a:xfrm>
          <a:prstGeom prst="rect">
            <a:avLst/>
          </a:prstGeom>
          <a:noFill/>
        </p:spPr>
        <p:txBody>
          <a:bodyPr wrap="square" anchor="t" lIns="0" rIns="0" tIns="0" bIns="0">
            <a:spAutoFit/>
          </a:bodyPr>
          <a:lstStyle/>
          <a:p>
            <a:pPr algn="ctr">
              <a:lnSpc>
                <a:spcPct val="115000"/>
              </a:lnSpc>
            </a:pPr>
            <a:r>
              <a:rPr sz="1100" b="1">
                <a:solidFill>
                  <a:srgbClr val="E87722"/>
                </a:solidFill>
                <a:latin typeface="Helvetica Neue"/>
                <a:ea typeface="Helvetica Neue"/>
                <a:cs typeface="Helvetica Neue"/>
              </a:rPr>
              <a:t>2025/10</a:t>
            </a:r>
          </a:p>
        </p:txBody>
      </p:sp>
      <p:sp>
        <p:nvSpPr>
          <p:cNvPr id="36" name="TextBox 35"/>
          <p:cNvSpPr txBox="1"/>
          <p:nvPr/>
        </p:nvSpPr>
        <p:spPr>
          <a:xfrm>
            <a:off x="9692640" y="3611880"/>
            <a:ext cx="1828800" cy="548640"/>
          </a:xfrm>
          <a:prstGeom prst="rect">
            <a:avLst/>
          </a:prstGeom>
          <a:noFill/>
        </p:spPr>
        <p:txBody>
          <a:bodyPr wrap="square" anchor="t" lIns="0" rIns="0" tIns="0" bIns="0">
            <a:spAutoFit/>
          </a:bodyPr>
          <a:lstStyle/>
          <a:p>
            <a:pPr algn="ctr">
              <a:lnSpc>
                <a:spcPct val="120000"/>
              </a:lnSpc>
            </a:pPr>
            <a:r>
              <a:rPr sz="1200" b="1">
                <a:solidFill>
                  <a:srgbClr val="0F2A4F"/>
                </a:solidFill>
                <a:latin typeface="Hiragino Sans"/>
                <a:ea typeface="Hiragino Sans"/>
                <a:cs typeface="Hiragino Sans"/>
              </a:rPr>
              <a:t>Privacy Sandbox</a:t>
            </a:r>
          </a:p>
          <a:p>
            <a:pPr algn="ctr">
              <a:lnSpc>
                <a:spcPct val="120000"/>
              </a:lnSpc>
            </a:pPr>
            <a:r>
              <a:rPr sz="1200" b="1">
                <a:solidFill>
                  <a:srgbClr val="0F2A4F"/>
                </a:solidFill>
                <a:latin typeface="Hiragino Sans"/>
                <a:ea typeface="Hiragino Sans"/>
                <a:cs typeface="Hiragino Sans"/>
              </a:rPr>
              <a:t>実質終了</a:t>
            </a:r>
          </a:p>
        </p:txBody>
      </p:sp>
      <p:sp>
        <p:nvSpPr>
          <p:cNvPr id="37" name="TextBox 36"/>
          <p:cNvSpPr txBox="1"/>
          <p:nvPr/>
        </p:nvSpPr>
        <p:spPr>
          <a:xfrm>
            <a:off x="9464040" y="4178808"/>
            <a:ext cx="2286000" cy="365760"/>
          </a:xfrm>
          <a:prstGeom prst="rect">
            <a:avLst/>
          </a:prstGeom>
          <a:noFill/>
        </p:spPr>
        <p:txBody>
          <a:bodyPr wrap="square" anchor="t" lIns="0" rIns="0" tIns="0" bIns="0">
            <a:spAutoFit/>
          </a:bodyPr>
          <a:lstStyle/>
          <a:p>
            <a:pPr algn="ctr">
              <a:lnSpc>
                <a:spcPct val="130000"/>
              </a:lnSpc>
            </a:pPr>
            <a:r>
              <a:rPr sz="900" b="0">
                <a:solidFill>
                  <a:srgbClr val="5A6A80"/>
                </a:solidFill>
                <a:latin typeface="Hiragino Sans"/>
                <a:ea typeface="Hiragino Sans"/>
                <a:cs typeface="Hiragino Sans"/>
              </a:rPr>
              <a:t>Google 大半の技術を廃止</a:t>
            </a:r>
          </a:p>
        </p:txBody>
      </p:sp>
      <p:sp>
        <p:nvSpPr>
          <p:cNvPr id="38" name="Rectangle 37"/>
          <p:cNvSpPr/>
          <p:nvPr/>
        </p:nvSpPr>
        <p:spPr>
          <a:xfrm>
            <a:off x="10597896" y="3127248"/>
            <a:ext cx="13716" cy="502920"/>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548640" y="4937760"/>
            <a:ext cx="11109960" cy="137160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77240" y="5074920"/>
            <a:ext cx="2743200" cy="320040"/>
          </a:xfrm>
          <a:prstGeom prst="rect">
            <a:avLst/>
          </a:prstGeom>
          <a:noFill/>
        </p:spPr>
        <p:txBody>
          <a:bodyPr wrap="square" anchor="t" lIns="0" rIns="0" tIns="0" bIns="0">
            <a:spAutoFit/>
          </a:bodyPr>
          <a:lstStyle/>
          <a:p>
            <a:pPr algn="l">
              <a:lnSpc>
                <a:spcPct val="115000"/>
              </a:lnSpc>
            </a:pPr>
            <a:r>
              <a:rPr sz="1400" b="1">
                <a:solidFill>
                  <a:srgbClr val="B85E1A"/>
                </a:solidFill>
                <a:latin typeface="Hiragino Sans"/>
                <a:ea typeface="Hiragino Sans"/>
                <a:cs typeface="Hiragino Sans"/>
              </a:rPr>
              <a:t>結論</a:t>
            </a:r>
          </a:p>
        </p:txBody>
      </p:sp>
      <p:sp>
        <p:nvSpPr>
          <p:cNvPr id="41" name="TextBox 40"/>
          <p:cNvSpPr txBox="1"/>
          <p:nvPr/>
        </p:nvSpPr>
        <p:spPr>
          <a:xfrm>
            <a:off x="777240" y="5440680"/>
            <a:ext cx="10972800" cy="914400"/>
          </a:xfrm>
          <a:prstGeom prst="rect">
            <a:avLst/>
          </a:prstGeom>
          <a:noFill/>
        </p:spPr>
        <p:txBody>
          <a:bodyPr wrap="square" anchor="t" lIns="0" rIns="0" tIns="0" bIns="0">
            <a:spAutoFit/>
          </a:bodyPr>
          <a:lstStyle/>
          <a:p>
            <a:pPr algn="l">
              <a:lnSpc>
                <a:spcPct val="150000"/>
              </a:lnSpc>
            </a:pPr>
            <a:r>
              <a:rPr sz="1200" b="0">
                <a:solidFill>
                  <a:srgbClr val="1A1A1A"/>
                </a:solidFill>
                <a:latin typeface="Hiragino Sans"/>
                <a:ea typeface="Hiragino Sans"/>
                <a:cs typeface="Hiragino Sans"/>
              </a:rPr>
              <a:t>Cookieの 「廃止予定 → 撤回 → Privacy Sandbox 実質終了」 という3幕を経て、3rd Party Cookie は Chrome に残存することになった。</a:t>
            </a:r>
          </a:p>
          <a:p>
            <a:pPr algn="l">
              <a:lnSpc>
                <a:spcPct val="150000"/>
              </a:lnSpc>
            </a:pPr>
            <a:r>
              <a:rPr sz="1200" b="0">
                <a:solidFill>
                  <a:srgbClr val="1A1A1A"/>
                </a:solidFill>
                <a:latin typeface="Hiragino Sans"/>
                <a:ea typeface="Hiragino Sans"/>
                <a:cs typeface="Hiragino Sans"/>
              </a:rPr>
              <a:t>しかし ATT 以降のシグナル減少自体は続いており、CAPI / Enhanced Conversions / SGTM / 1PD は依然として業界標準である。</a:t>
            </a:r>
          </a:p>
        </p:txBody>
      </p:sp>
      <p:sp>
        <p:nvSpPr>
          <p:cNvPr id="42" name="TextBox 41"/>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 Google Cookie廃止『撤回』 2024/07/22</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6年越しの Privacy Sandbox 計画が方向転換</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P17 / 250</a:t>
            </a:r>
          </a:p>
        </p:txBody>
      </p:sp>
      <p:sp>
        <p:nvSpPr>
          <p:cNvPr id="8" name="Rounded Rectangle 7"/>
          <p:cNvSpPr/>
          <p:nvPr/>
        </p:nvSpPr>
        <p:spPr>
          <a:xfrm>
            <a:off x="548640" y="1371600"/>
            <a:ext cx="11109960" cy="118872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600200"/>
            <a:ext cx="731520" cy="731520"/>
          </a:xfrm>
          <a:prstGeom prst="rect">
            <a:avLst/>
          </a:prstGeom>
          <a:noFill/>
        </p:spPr>
        <p:txBody>
          <a:bodyPr wrap="square" anchor="t" lIns="0" rIns="0" tIns="0" bIns="0">
            <a:spAutoFit/>
          </a:bodyPr>
          <a:lstStyle/>
          <a:p>
            <a:pPr algn="l">
              <a:lnSpc>
                <a:spcPct val="115000"/>
              </a:lnSpc>
            </a:pPr>
            <a:r>
              <a:rPr sz="3000" b="0">
                <a:solidFill>
                  <a:srgbClr val="1A1A1A"/>
                </a:solidFill>
                <a:latin typeface="Hiragino Sans"/>
                <a:ea typeface="Hiragino Sans"/>
                <a:cs typeface="Hiragino Sans"/>
              </a:rPr>
              <a:t>📢</a:t>
            </a:r>
          </a:p>
        </p:txBody>
      </p:sp>
      <p:sp>
        <p:nvSpPr>
          <p:cNvPr id="10" name="TextBox 9"/>
          <p:cNvSpPr txBox="1"/>
          <p:nvPr/>
        </p:nvSpPr>
        <p:spPr>
          <a:xfrm>
            <a:off x="1554480" y="1554480"/>
            <a:ext cx="10058400" cy="365760"/>
          </a:xfrm>
          <a:prstGeom prst="rect">
            <a:avLst/>
          </a:prstGeom>
          <a:noFill/>
        </p:spPr>
        <p:txBody>
          <a:bodyPr wrap="square" anchor="t" lIns="0" rIns="0" tIns="0" bIns="0">
            <a:spAutoFit/>
          </a:bodyPr>
          <a:lstStyle/>
          <a:p>
            <a:pPr algn="l">
              <a:lnSpc>
                <a:spcPct val="115000"/>
              </a:lnSpc>
            </a:pPr>
            <a:r>
              <a:rPr sz="1200" b="1">
                <a:solidFill>
                  <a:srgbClr val="E87722"/>
                </a:solidFill>
                <a:latin typeface="Hiragino Sans"/>
                <a:ea typeface="Hiragino Sans"/>
                <a:cs typeface="Hiragino Sans"/>
              </a:rPr>
              <a:t>Google 公式発表 (Privacy Sandbox Blog)</a:t>
            </a:r>
          </a:p>
        </p:txBody>
      </p:sp>
      <p:sp>
        <p:nvSpPr>
          <p:cNvPr id="11" name="TextBox 10"/>
          <p:cNvSpPr txBox="1"/>
          <p:nvPr/>
        </p:nvSpPr>
        <p:spPr>
          <a:xfrm>
            <a:off x="1554480" y="1874519"/>
            <a:ext cx="10058400" cy="640080"/>
          </a:xfrm>
          <a:prstGeom prst="rect">
            <a:avLst/>
          </a:prstGeom>
          <a:noFill/>
        </p:spPr>
        <p:txBody>
          <a:bodyPr wrap="square" anchor="t" lIns="0" rIns="0" tIns="0" bIns="0">
            <a:spAutoFit/>
          </a:bodyPr>
          <a:lstStyle/>
          <a:p>
            <a:pPr algn="l">
              <a:lnSpc>
                <a:spcPct val="145000"/>
              </a:lnSpc>
            </a:pPr>
            <a:r>
              <a:rPr sz="1400" b="1">
                <a:solidFill>
                  <a:srgbClr val="FFFFFF"/>
                </a:solidFill>
                <a:latin typeface="Hiragino Sans"/>
                <a:ea typeface="Hiragino Sans"/>
                <a:cs typeface="Hiragino Sans"/>
              </a:rPr>
              <a:t>Chromeで3rd Party Cookieを廃止する計画を撤回。</a:t>
            </a:r>
          </a:p>
          <a:p>
            <a:pPr algn="l">
              <a:lnSpc>
                <a:spcPct val="145000"/>
              </a:lnSpc>
            </a:pPr>
            <a:r>
              <a:rPr sz="1400" b="1">
                <a:solidFill>
                  <a:srgbClr val="FFFFFF"/>
                </a:solidFill>
                <a:latin typeface="Hiragino Sans"/>
                <a:ea typeface="Hiragino Sans"/>
                <a:cs typeface="Hiragino Sans"/>
              </a:rPr>
              <a:t>代わりにユーザーが Cookie 利用を選択できる新UIを提供する</a:t>
            </a:r>
          </a:p>
        </p:txBody>
      </p:sp>
      <p:sp>
        <p:nvSpPr>
          <p:cNvPr id="12" name="TextBox 11"/>
          <p:cNvSpPr txBox="1"/>
          <p:nvPr/>
        </p:nvSpPr>
        <p:spPr>
          <a:xfrm>
            <a:off x="548640" y="2743200"/>
            <a:ext cx="5486400" cy="32004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なぜ撤回したか</a:t>
            </a:r>
          </a:p>
        </p:txBody>
      </p:sp>
      <p:sp>
        <p:nvSpPr>
          <p:cNvPr id="13" name="Rectangle 12"/>
          <p:cNvSpPr/>
          <p:nvPr/>
        </p:nvSpPr>
        <p:spPr>
          <a:xfrm>
            <a:off x="548640" y="3063240"/>
            <a:ext cx="548640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48640" y="3246120"/>
            <a:ext cx="5486400" cy="77724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355848"/>
            <a:ext cx="548640" cy="365760"/>
          </a:xfrm>
          <a:prstGeom prst="rect">
            <a:avLst/>
          </a:prstGeom>
          <a:noFill/>
        </p:spPr>
        <p:txBody>
          <a:bodyPr wrap="square" anchor="t" lIns="0" rIns="0" tIns="0" bIns="0">
            <a:spAutoFit/>
          </a:bodyPr>
          <a:lstStyle/>
          <a:p>
            <a:pPr algn="l">
              <a:lnSpc>
                <a:spcPct val="115000"/>
              </a:lnSpc>
            </a:pPr>
            <a:r>
              <a:rPr sz="2000" b="1">
                <a:solidFill>
                  <a:srgbClr val="E87722"/>
                </a:solidFill>
                <a:latin typeface="Helvetica Neue"/>
                <a:ea typeface="Helvetica Neue"/>
                <a:cs typeface="Helvetica Neue"/>
              </a:rPr>
              <a:t>01</a:t>
            </a:r>
          </a:p>
        </p:txBody>
      </p:sp>
      <p:sp>
        <p:nvSpPr>
          <p:cNvPr id="16" name="TextBox 15"/>
          <p:cNvSpPr txBox="1"/>
          <p:nvPr/>
        </p:nvSpPr>
        <p:spPr>
          <a:xfrm>
            <a:off x="1463040" y="3355848"/>
            <a:ext cx="3931920" cy="32004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初期テストでの収益ショック</a:t>
            </a:r>
          </a:p>
        </p:txBody>
      </p:sp>
      <p:sp>
        <p:nvSpPr>
          <p:cNvPr id="17" name="TextBox 16"/>
          <p:cNvSpPr txBox="1"/>
          <p:nvPr/>
        </p:nvSpPr>
        <p:spPr>
          <a:xfrm>
            <a:off x="1463040" y="3657600"/>
            <a:ext cx="3931920" cy="365760"/>
          </a:xfrm>
          <a:prstGeom prst="rect">
            <a:avLst/>
          </a:prstGeom>
          <a:noFill/>
        </p:spPr>
        <p:txBody>
          <a:bodyPr wrap="square" anchor="t" lIns="0" rIns="0" tIns="0" bIns="0">
            <a:spAutoFit/>
          </a:bodyPr>
          <a:lstStyle/>
          <a:p>
            <a:pPr algn="l">
              <a:lnSpc>
                <a:spcPct val="135000"/>
              </a:lnSpc>
            </a:pPr>
            <a:r>
              <a:rPr sz="1000" b="0">
                <a:solidFill>
                  <a:srgbClr val="1A1A1A"/>
                </a:solidFill>
                <a:latin typeface="Hiragino Sans"/>
                <a:ea typeface="Hiragino Sans"/>
                <a:cs typeface="Hiragino Sans"/>
              </a:rPr>
              <a:t>Google Ad Manager -34% / AdSense -21% (publisher側)</a:t>
            </a:r>
          </a:p>
        </p:txBody>
      </p:sp>
      <p:sp>
        <p:nvSpPr>
          <p:cNvPr id="18" name="Rounded Rectangle 17"/>
          <p:cNvSpPr/>
          <p:nvPr/>
        </p:nvSpPr>
        <p:spPr>
          <a:xfrm>
            <a:off x="548640" y="4114800"/>
            <a:ext cx="5486400" cy="77724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4224528"/>
            <a:ext cx="548640" cy="365760"/>
          </a:xfrm>
          <a:prstGeom prst="rect">
            <a:avLst/>
          </a:prstGeom>
          <a:noFill/>
        </p:spPr>
        <p:txBody>
          <a:bodyPr wrap="square" anchor="t" lIns="0" rIns="0" tIns="0" bIns="0">
            <a:spAutoFit/>
          </a:bodyPr>
          <a:lstStyle/>
          <a:p>
            <a:pPr algn="l">
              <a:lnSpc>
                <a:spcPct val="115000"/>
              </a:lnSpc>
            </a:pPr>
            <a:r>
              <a:rPr sz="2000" b="1">
                <a:solidFill>
                  <a:srgbClr val="E87722"/>
                </a:solidFill>
                <a:latin typeface="Helvetica Neue"/>
                <a:ea typeface="Helvetica Neue"/>
                <a:cs typeface="Helvetica Neue"/>
              </a:rPr>
              <a:t>02</a:t>
            </a:r>
          </a:p>
        </p:txBody>
      </p:sp>
      <p:sp>
        <p:nvSpPr>
          <p:cNvPr id="20" name="TextBox 19"/>
          <p:cNvSpPr txBox="1"/>
          <p:nvPr/>
        </p:nvSpPr>
        <p:spPr>
          <a:xfrm>
            <a:off x="1463040" y="4224528"/>
            <a:ext cx="3931920" cy="32004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規制当局の継続的懸念</a:t>
            </a:r>
          </a:p>
        </p:txBody>
      </p:sp>
      <p:sp>
        <p:nvSpPr>
          <p:cNvPr id="21" name="TextBox 20"/>
          <p:cNvSpPr txBox="1"/>
          <p:nvPr/>
        </p:nvSpPr>
        <p:spPr>
          <a:xfrm>
            <a:off x="1463040" y="4526280"/>
            <a:ext cx="3931920" cy="365760"/>
          </a:xfrm>
          <a:prstGeom prst="rect">
            <a:avLst/>
          </a:prstGeom>
          <a:noFill/>
        </p:spPr>
        <p:txBody>
          <a:bodyPr wrap="square" anchor="t" lIns="0" rIns="0" tIns="0" bIns="0">
            <a:spAutoFit/>
          </a:bodyPr>
          <a:lstStyle/>
          <a:p>
            <a:pPr algn="l">
              <a:lnSpc>
                <a:spcPct val="135000"/>
              </a:lnSpc>
            </a:pPr>
            <a:r>
              <a:rPr sz="1000" b="0">
                <a:solidFill>
                  <a:srgbClr val="1A1A1A"/>
                </a:solidFill>
                <a:latin typeface="Hiragino Sans"/>
                <a:ea typeface="Hiragino Sans"/>
                <a:cs typeface="Hiragino Sans"/>
              </a:rPr>
              <a:t>UK CMA / EU Commission / 米DOJ から競争上の懸念</a:t>
            </a:r>
          </a:p>
        </p:txBody>
      </p:sp>
      <p:sp>
        <p:nvSpPr>
          <p:cNvPr id="22" name="Rounded Rectangle 21"/>
          <p:cNvSpPr/>
          <p:nvPr/>
        </p:nvSpPr>
        <p:spPr>
          <a:xfrm>
            <a:off x="548640" y="4983480"/>
            <a:ext cx="5486400" cy="77724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5093208"/>
            <a:ext cx="548640" cy="365760"/>
          </a:xfrm>
          <a:prstGeom prst="rect">
            <a:avLst/>
          </a:prstGeom>
          <a:noFill/>
        </p:spPr>
        <p:txBody>
          <a:bodyPr wrap="square" anchor="t" lIns="0" rIns="0" tIns="0" bIns="0">
            <a:spAutoFit/>
          </a:bodyPr>
          <a:lstStyle/>
          <a:p>
            <a:pPr algn="l">
              <a:lnSpc>
                <a:spcPct val="115000"/>
              </a:lnSpc>
            </a:pPr>
            <a:r>
              <a:rPr sz="2000" b="1">
                <a:solidFill>
                  <a:srgbClr val="E87722"/>
                </a:solidFill>
                <a:latin typeface="Helvetica Neue"/>
                <a:ea typeface="Helvetica Neue"/>
                <a:cs typeface="Helvetica Neue"/>
              </a:rPr>
              <a:t>03</a:t>
            </a:r>
          </a:p>
        </p:txBody>
      </p:sp>
      <p:sp>
        <p:nvSpPr>
          <p:cNvPr id="24" name="TextBox 23"/>
          <p:cNvSpPr txBox="1"/>
          <p:nvPr/>
        </p:nvSpPr>
        <p:spPr>
          <a:xfrm>
            <a:off x="1463040" y="5093208"/>
            <a:ext cx="3931920" cy="32004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業界の反発</a:t>
            </a:r>
          </a:p>
        </p:txBody>
      </p:sp>
      <p:sp>
        <p:nvSpPr>
          <p:cNvPr id="25" name="TextBox 24"/>
          <p:cNvSpPr txBox="1"/>
          <p:nvPr/>
        </p:nvSpPr>
        <p:spPr>
          <a:xfrm>
            <a:off x="1463040" y="5394960"/>
            <a:ext cx="3931920" cy="365760"/>
          </a:xfrm>
          <a:prstGeom prst="rect">
            <a:avLst/>
          </a:prstGeom>
          <a:noFill/>
        </p:spPr>
        <p:txBody>
          <a:bodyPr wrap="square" anchor="t" lIns="0" rIns="0" tIns="0" bIns="0">
            <a:spAutoFit/>
          </a:bodyPr>
          <a:lstStyle/>
          <a:p>
            <a:pPr algn="l">
              <a:lnSpc>
                <a:spcPct val="135000"/>
              </a:lnSpc>
            </a:pPr>
            <a:r>
              <a:rPr sz="1000" b="0">
                <a:solidFill>
                  <a:srgbClr val="1A1A1A"/>
                </a:solidFill>
                <a:latin typeface="Hiragino Sans"/>
                <a:ea typeface="Hiragino Sans"/>
                <a:cs typeface="Hiragino Sans"/>
              </a:rPr>
              <a:t>広告業界・publishers が Cookie依存から抜け出せず</a:t>
            </a:r>
          </a:p>
        </p:txBody>
      </p:sp>
      <p:sp>
        <p:nvSpPr>
          <p:cNvPr id="26" name="TextBox 25"/>
          <p:cNvSpPr txBox="1"/>
          <p:nvPr/>
        </p:nvSpPr>
        <p:spPr>
          <a:xfrm>
            <a:off x="6400800" y="2743200"/>
            <a:ext cx="5303520" cy="32004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運用者にとっての含意</a:t>
            </a:r>
          </a:p>
        </p:txBody>
      </p:sp>
      <p:sp>
        <p:nvSpPr>
          <p:cNvPr id="27" name="Rectangle 26"/>
          <p:cNvSpPr/>
          <p:nvPr/>
        </p:nvSpPr>
        <p:spPr>
          <a:xfrm>
            <a:off x="6400800" y="3063240"/>
            <a:ext cx="525780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400800" y="3246120"/>
            <a:ext cx="5257800" cy="777240"/>
          </a:xfrm>
          <a:prstGeom prst="roundRect">
            <a:avLst>
              <a:gd name="adj" fmla="val 6000"/>
            </a:avLst>
          </a:prstGeom>
          <a:solidFill>
            <a:srgbClr val="FFF3E6"/>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0" y="3355848"/>
            <a:ext cx="457200" cy="365760"/>
          </a:xfrm>
          <a:prstGeom prst="rect">
            <a:avLst/>
          </a:prstGeom>
          <a:noFill/>
        </p:spPr>
        <p:txBody>
          <a:bodyPr wrap="square" anchor="t" lIns="0" rIns="0" tIns="0" bIns="0">
            <a:spAutoFit/>
          </a:bodyPr>
          <a:lstStyle/>
          <a:p>
            <a:pPr algn="ctr">
              <a:lnSpc>
                <a:spcPct val="115000"/>
              </a:lnSpc>
            </a:pPr>
            <a:r>
              <a:rPr sz="2200" b="1">
                <a:solidFill>
                  <a:srgbClr val="E87722"/>
                </a:solidFill>
                <a:latin typeface="Hiragino Sans"/>
                <a:ea typeface="Hiragino Sans"/>
                <a:cs typeface="Hiragino Sans"/>
              </a:rPr>
              <a:t>✓</a:t>
            </a:r>
          </a:p>
        </p:txBody>
      </p:sp>
      <p:sp>
        <p:nvSpPr>
          <p:cNvPr id="30" name="TextBox 29"/>
          <p:cNvSpPr txBox="1"/>
          <p:nvPr/>
        </p:nvSpPr>
        <p:spPr>
          <a:xfrm>
            <a:off x="7178040" y="3355848"/>
            <a:ext cx="4114800" cy="32004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Cookie計測は当面使える</a:t>
            </a:r>
          </a:p>
        </p:txBody>
      </p:sp>
      <p:sp>
        <p:nvSpPr>
          <p:cNvPr id="31" name="TextBox 30"/>
          <p:cNvSpPr txBox="1"/>
          <p:nvPr/>
        </p:nvSpPr>
        <p:spPr>
          <a:xfrm>
            <a:off x="7178040" y="3657600"/>
            <a:ext cx="4389120" cy="365760"/>
          </a:xfrm>
          <a:prstGeom prst="rect">
            <a:avLst/>
          </a:prstGeom>
          <a:noFill/>
        </p:spPr>
        <p:txBody>
          <a:bodyPr wrap="square" anchor="t" lIns="0" rIns="0" tIns="0" bIns="0">
            <a:spAutoFit/>
          </a:bodyPr>
          <a:lstStyle/>
          <a:p>
            <a:pPr algn="l">
              <a:lnSpc>
                <a:spcPct val="135000"/>
              </a:lnSpc>
            </a:pPr>
            <a:r>
              <a:rPr sz="1000" b="0">
                <a:solidFill>
                  <a:srgbClr val="1A1A1A"/>
                </a:solidFill>
                <a:latin typeface="Hiragino Sans"/>
                <a:ea typeface="Hiragino Sans"/>
                <a:cs typeface="Hiragino Sans"/>
              </a:rPr>
              <a:t>3PCD待ちの実装延期は不要</a:t>
            </a:r>
          </a:p>
        </p:txBody>
      </p:sp>
      <p:sp>
        <p:nvSpPr>
          <p:cNvPr id="32" name="Rounded Rectangle 31"/>
          <p:cNvSpPr/>
          <p:nvPr/>
        </p:nvSpPr>
        <p:spPr>
          <a:xfrm>
            <a:off x="6400800" y="4114800"/>
            <a:ext cx="5257800" cy="777240"/>
          </a:xfrm>
          <a:prstGeom prst="roundRect">
            <a:avLst>
              <a:gd name="adj" fmla="val 6000"/>
            </a:avLst>
          </a:prstGeom>
          <a:solidFill>
            <a:srgbClr val="FFF3E6"/>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83680" y="4224528"/>
            <a:ext cx="457200" cy="365760"/>
          </a:xfrm>
          <a:prstGeom prst="rect">
            <a:avLst/>
          </a:prstGeom>
          <a:noFill/>
        </p:spPr>
        <p:txBody>
          <a:bodyPr wrap="square" anchor="t" lIns="0" rIns="0" tIns="0" bIns="0">
            <a:spAutoFit/>
          </a:bodyPr>
          <a:lstStyle/>
          <a:p>
            <a:pPr algn="ctr">
              <a:lnSpc>
                <a:spcPct val="115000"/>
              </a:lnSpc>
            </a:pPr>
            <a:r>
              <a:rPr sz="2200" b="1">
                <a:solidFill>
                  <a:srgbClr val="E87722"/>
                </a:solidFill>
                <a:latin typeface="Hiragino Sans"/>
                <a:ea typeface="Hiragino Sans"/>
                <a:cs typeface="Hiragino Sans"/>
              </a:rPr>
              <a:t>✗</a:t>
            </a:r>
          </a:p>
        </p:txBody>
      </p:sp>
      <p:sp>
        <p:nvSpPr>
          <p:cNvPr id="34" name="TextBox 33"/>
          <p:cNvSpPr txBox="1"/>
          <p:nvPr/>
        </p:nvSpPr>
        <p:spPr>
          <a:xfrm>
            <a:off x="7178040" y="4224528"/>
            <a:ext cx="4114800" cy="32004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だが シグナル減は戻らない</a:t>
            </a:r>
          </a:p>
        </p:txBody>
      </p:sp>
      <p:sp>
        <p:nvSpPr>
          <p:cNvPr id="35" name="TextBox 34"/>
          <p:cNvSpPr txBox="1"/>
          <p:nvPr/>
        </p:nvSpPr>
        <p:spPr>
          <a:xfrm>
            <a:off x="7178040" y="4526280"/>
            <a:ext cx="4389120" cy="365760"/>
          </a:xfrm>
          <a:prstGeom prst="rect">
            <a:avLst/>
          </a:prstGeom>
          <a:noFill/>
        </p:spPr>
        <p:txBody>
          <a:bodyPr wrap="square" anchor="t" lIns="0" rIns="0" tIns="0" bIns="0">
            <a:spAutoFit/>
          </a:bodyPr>
          <a:lstStyle/>
          <a:p>
            <a:pPr algn="l">
              <a:lnSpc>
                <a:spcPct val="135000"/>
              </a:lnSpc>
            </a:pPr>
            <a:r>
              <a:rPr sz="1000" b="0">
                <a:solidFill>
                  <a:srgbClr val="1A1A1A"/>
                </a:solidFill>
                <a:latin typeface="Hiragino Sans"/>
                <a:ea typeface="Hiragino Sans"/>
                <a:cs typeface="Hiragino Sans"/>
              </a:rPr>
              <a:t>ATT / 各国規制 / ブラウザ固有制限は継続</a:t>
            </a:r>
          </a:p>
        </p:txBody>
      </p:sp>
      <p:sp>
        <p:nvSpPr>
          <p:cNvPr id="36" name="Rounded Rectangle 35"/>
          <p:cNvSpPr/>
          <p:nvPr/>
        </p:nvSpPr>
        <p:spPr>
          <a:xfrm>
            <a:off x="6400800" y="4983480"/>
            <a:ext cx="5257800" cy="777240"/>
          </a:xfrm>
          <a:prstGeom prst="roundRect">
            <a:avLst>
              <a:gd name="adj" fmla="val 6000"/>
            </a:avLst>
          </a:prstGeom>
          <a:solidFill>
            <a:srgbClr val="FFF3E6"/>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83680" y="5093208"/>
            <a:ext cx="457200" cy="365760"/>
          </a:xfrm>
          <a:prstGeom prst="rect">
            <a:avLst/>
          </a:prstGeom>
          <a:noFill/>
        </p:spPr>
        <p:txBody>
          <a:bodyPr wrap="square" anchor="t" lIns="0" rIns="0" tIns="0" bIns="0">
            <a:spAutoFit/>
          </a:bodyPr>
          <a:lstStyle/>
          <a:p>
            <a:pPr algn="ctr">
              <a:lnSpc>
                <a:spcPct val="115000"/>
              </a:lnSpc>
            </a:pPr>
            <a:r>
              <a:rPr sz="2200" b="1">
                <a:solidFill>
                  <a:srgbClr val="E87722"/>
                </a:solidFill>
                <a:latin typeface="Hiragino Sans"/>
                <a:ea typeface="Hiragino Sans"/>
                <a:cs typeface="Hiragino Sans"/>
              </a:rPr>
              <a:t>→</a:t>
            </a:r>
          </a:p>
        </p:txBody>
      </p:sp>
      <p:sp>
        <p:nvSpPr>
          <p:cNvPr id="38" name="TextBox 37"/>
          <p:cNvSpPr txBox="1"/>
          <p:nvPr/>
        </p:nvSpPr>
        <p:spPr>
          <a:xfrm>
            <a:off x="7178040" y="5093208"/>
            <a:ext cx="4114800" cy="32004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CAPI / SGTM / 1PD は必須</a:t>
            </a:r>
          </a:p>
        </p:txBody>
      </p:sp>
      <p:sp>
        <p:nvSpPr>
          <p:cNvPr id="39" name="TextBox 38"/>
          <p:cNvSpPr txBox="1"/>
          <p:nvPr/>
        </p:nvSpPr>
        <p:spPr>
          <a:xfrm>
            <a:off x="7178040" y="5394960"/>
            <a:ext cx="4389120" cy="365760"/>
          </a:xfrm>
          <a:prstGeom prst="rect">
            <a:avLst/>
          </a:prstGeom>
          <a:noFill/>
        </p:spPr>
        <p:txBody>
          <a:bodyPr wrap="square" anchor="t" lIns="0" rIns="0" tIns="0" bIns="0">
            <a:spAutoFit/>
          </a:bodyPr>
          <a:lstStyle/>
          <a:p>
            <a:pPr algn="l">
              <a:lnSpc>
                <a:spcPct val="135000"/>
              </a:lnSpc>
            </a:pPr>
            <a:r>
              <a:rPr sz="1000" b="0">
                <a:solidFill>
                  <a:srgbClr val="1A1A1A"/>
                </a:solidFill>
                <a:latin typeface="Hiragino Sans"/>
                <a:ea typeface="Hiragino Sans"/>
                <a:cs typeface="Hiragino Sans"/>
              </a:rPr>
              <a:t>業界標準は変わらない、移行は進行中</a:t>
            </a:r>
          </a:p>
        </p:txBody>
      </p:sp>
      <p:sp>
        <p:nvSpPr>
          <p:cNvPr id="40" name="TextBox 39"/>
          <p:cNvSpPr txBox="1"/>
          <p:nvPr/>
        </p:nvSpPr>
        <p:spPr>
          <a:xfrm>
            <a:off x="548640" y="6355080"/>
            <a:ext cx="109728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出典: Google Privacy Sandbox Blog (2024/07/22) / Digiday / The Hacker News</a:t>
            </a:r>
          </a:p>
        </p:txBody>
      </p:sp>
      <p:sp>
        <p:nvSpPr>
          <p:cNvPr id="41" name="TextBox 40"/>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 Privacy Sandbox 実質終了 2025/10/17</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3rd Party Cookie 問題の『6年の旅』が終結</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P18 / 250</a:t>
            </a:r>
          </a:p>
        </p:txBody>
      </p:sp>
      <p:sp>
        <p:nvSpPr>
          <p:cNvPr id="8" name="Rounded Rectangle 7"/>
          <p:cNvSpPr/>
          <p:nvPr/>
        </p:nvSpPr>
        <p:spPr>
          <a:xfrm>
            <a:off x="548640" y="1371600"/>
            <a:ext cx="11109960" cy="1188720"/>
          </a:xfrm>
          <a:prstGeom prst="roundRect">
            <a:avLst>
              <a:gd name="adj" fmla="val 6000"/>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600200"/>
            <a:ext cx="731520" cy="731520"/>
          </a:xfrm>
          <a:prstGeom prst="rect">
            <a:avLst/>
          </a:prstGeom>
          <a:noFill/>
        </p:spPr>
        <p:txBody>
          <a:bodyPr wrap="square" anchor="t" lIns="0" rIns="0" tIns="0" bIns="0">
            <a:spAutoFit/>
          </a:bodyPr>
          <a:lstStyle/>
          <a:p>
            <a:pPr algn="l">
              <a:lnSpc>
                <a:spcPct val="115000"/>
              </a:lnSpc>
            </a:pPr>
            <a:r>
              <a:rPr sz="3000" b="0">
                <a:solidFill>
                  <a:srgbClr val="1A1A1A"/>
                </a:solidFill>
                <a:latin typeface="Hiragino Sans"/>
                <a:ea typeface="Hiragino Sans"/>
                <a:cs typeface="Hiragino Sans"/>
              </a:rPr>
              <a:t>⚠</a:t>
            </a:r>
          </a:p>
        </p:txBody>
      </p:sp>
      <p:sp>
        <p:nvSpPr>
          <p:cNvPr id="10" name="TextBox 9"/>
          <p:cNvSpPr txBox="1"/>
          <p:nvPr/>
        </p:nvSpPr>
        <p:spPr>
          <a:xfrm>
            <a:off x="1554480" y="1554480"/>
            <a:ext cx="10058400" cy="365760"/>
          </a:xfrm>
          <a:prstGeom prst="rect">
            <a:avLst/>
          </a:prstGeom>
          <a:noFill/>
        </p:spPr>
        <p:txBody>
          <a:bodyPr wrap="square" anchor="t" lIns="0" rIns="0" tIns="0" bIns="0">
            <a:spAutoFit/>
          </a:bodyPr>
          <a:lstStyle/>
          <a:p>
            <a:pPr algn="l">
              <a:lnSpc>
                <a:spcPct val="115000"/>
              </a:lnSpc>
            </a:pPr>
            <a:r>
              <a:rPr sz="1200" b="1">
                <a:solidFill>
                  <a:srgbClr val="FFFFFF"/>
                </a:solidFill>
                <a:latin typeface="Hiragino Sans"/>
                <a:ea typeface="Hiragino Sans"/>
                <a:cs typeface="Hiragino Sans"/>
              </a:rPr>
              <a:t>Google公式 (2025/10/17) : Privacy Sandbox Update</a:t>
            </a:r>
          </a:p>
        </p:txBody>
      </p:sp>
      <p:sp>
        <p:nvSpPr>
          <p:cNvPr id="11" name="TextBox 10"/>
          <p:cNvSpPr txBox="1"/>
          <p:nvPr/>
        </p:nvSpPr>
        <p:spPr>
          <a:xfrm>
            <a:off x="1554480" y="1874519"/>
            <a:ext cx="10058400" cy="640080"/>
          </a:xfrm>
          <a:prstGeom prst="rect">
            <a:avLst/>
          </a:prstGeom>
          <a:noFill/>
        </p:spPr>
        <p:txBody>
          <a:bodyPr wrap="square" anchor="t" lIns="0" rIns="0" tIns="0" bIns="0">
            <a:spAutoFit/>
          </a:bodyPr>
          <a:lstStyle/>
          <a:p>
            <a:pPr algn="l">
              <a:lnSpc>
                <a:spcPct val="145000"/>
              </a:lnSpc>
            </a:pPr>
            <a:r>
              <a:rPr sz="1300" b="1">
                <a:solidFill>
                  <a:srgbClr val="FFFFFF"/>
                </a:solidFill>
                <a:latin typeface="Hiragino Sans"/>
                <a:ea typeface="Hiragino Sans"/>
                <a:cs typeface="Hiragino Sans"/>
              </a:rPr>
              <a:t>Privacy Sandbox の大半の技術を廃止。『小さな機能セットと標準化に注力』へ転換。</a:t>
            </a:r>
          </a:p>
          <a:p>
            <a:pPr algn="l">
              <a:lnSpc>
                <a:spcPct val="145000"/>
              </a:lnSpc>
            </a:pPr>
            <a:r>
              <a:rPr sz="1300" b="1">
                <a:solidFill>
                  <a:srgbClr val="FFFFFF"/>
                </a:solidFill>
                <a:latin typeface="Hiragino Sans"/>
                <a:ea typeface="Hiragino Sans"/>
                <a:cs typeface="Hiragino Sans"/>
              </a:rPr>
              <a:t>採用率の低さと規制当局の懸念が理由</a:t>
            </a:r>
          </a:p>
        </p:txBody>
      </p:sp>
      <p:sp>
        <p:nvSpPr>
          <p:cNvPr id="12" name="TextBox 11"/>
          <p:cNvSpPr txBox="1"/>
          <p:nvPr/>
        </p:nvSpPr>
        <p:spPr>
          <a:xfrm>
            <a:off x="548640" y="2743200"/>
            <a:ext cx="5303520" cy="320040"/>
          </a:xfrm>
          <a:prstGeom prst="rect">
            <a:avLst/>
          </a:prstGeom>
          <a:noFill/>
        </p:spPr>
        <p:txBody>
          <a:bodyPr wrap="square" anchor="t" lIns="0" rIns="0" tIns="0" bIns="0">
            <a:spAutoFit/>
          </a:bodyPr>
          <a:lstStyle/>
          <a:p>
            <a:pPr algn="l">
              <a:lnSpc>
                <a:spcPct val="115000"/>
              </a:lnSpc>
            </a:pPr>
            <a:r>
              <a:rPr sz="1300" b="1">
                <a:solidFill>
                  <a:srgbClr val="C6452D"/>
                </a:solidFill>
                <a:latin typeface="Hiragino Sans"/>
                <a:ea typeface="Hiragino Sans"/>
                <a:cs typeface="Hiragino Sans"/>
              </a:rPr>
              <a:t>廃止される技術 (Retired)</a:t>
            </a:r>
          </a:p>
        </p:txBody>
      </p:sp>
      <p:sp>
        <p:nvSpPr>
          <p:cNvPr id="13" name="Rectangle 12"/>
          <p:cNvSpPr/>
          <p:nvPr/>
        </p:nvSpPr>
        <p:spPr>
          <a:xfrm>
            <a:off x="548640" y="3063240"/>
            <a:ext cx="530352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48640" y="3246120"/>
            <a:ext cx="5303520" cy="45720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337560"/>
            <a:ext cx="365760" cy="320040"/>
          </a:xfrm>
          <a:prstGeom prst="rect">
            <a:avLst/>
          </a:prstGeom>
          <a:noFill/>
        </p:spPr>
        <p:txBody>
          <a:bodyPr wrap="square" anchor="t" lIns="0" rIns="0" tIns="0" bIns="0">
            <a:spAutoFit/>
          </a:bodyPr>
          <a:lstStyle/>
          <a:p>
            <a:pPr algn="l">
              <a:lnSpc>
                <a:spcPct val="115000"/>
              </a:lnSpc>
            </a:pPr>
            <a:r>
              <a:rPr sz="1600" b="1">
                <a:solidFill>
                  <a:srgbClr val="C6452D"/>
                </a:solidFill>
                <a:latin typeface="Hiragino Sans"/>
                <a:ea typeface="Hiragino Sans"/>
                <a:cs typeface="Hiragino Sans"/>
              </a:rPr>
              <a:t>✗</a:t>
            </a:r>
          </a:p>
        </p:txBody>
      </p:sp>
      <p:sp>
        <p:nvSpPr>
          <p:cNvPr id="16" name="TextBox 15"/>
          <p:cNvSpPr txBox="1"/>
          <p:nvPr/>
        </p:nvSpPr>
        <p:spPr>
          <a:xfrm>
            <a:off x="1097280" y="3337560"/>
            <a:ext cx="256032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Protected Audience API</a:t>
            </a:r>
          </a:p>
        </p:txBody>
      </p:sp>
      <p:sp>
        <p:nvSpPr>
          <p:cNvPr id="17" name="TextBox 16"/>
          <p:cNvSpPr txBox="1"/>
          <p:nvPr/>
        </p:nvSpPr>
        <p:spPr>
          <a:xfrm>
            <a:off x="3657600" y="3374136"/>
            <a:ext cx="2011680" cy="274320"/>
          </a:xfrm>
          <a:prstGeom prst="rect">
            <a:avLst/>
          </a:prstGeom>
          <a:noFill/>
        </p:spPr>
        <p:txBody>
          <a:bodyPr wrap="square" anchor="t" lIns="0" rIns="0" tIns="0" bIns="0">
            <a:spAutoFit/>
          </a:bodyPr>
          <a:lstStyle/>
          <a:p>
            <a:pPr algn="l">
              <a:lnSpc>
                <a:spcPct val="115000"/>
              </a:lnSpc>
            </a:pPr>
            <a:r>
              <a:rPr sz="1000" b="0">
                <a:solidFill>
                  <a:srgbClr val="5A6A80"/>
                </a:solidFill>
                <a:latin typeface="Hiragino Sans"/>
                <a:ea typeface="Hiragino Sans"/>
                <a:cs typeface="Hiragino Sans"/>
              </a:rPr>
              <a:t>旧FLEDGE。リマーケ用途</a:t>
            </a:r>
          </a:p>
        </p:txBody>
      </p:sp>
      <p:sp>
        <p:nvSpPr>
          <p:cNvPr id="18" name="Rounded Rectangle 17"/>
          <p:cNvSpPr/>
          <p:nvPr/>
        </p:nvSpPr>
        <p:spPr>
          <a:xfrm>
            <a:off x="548640" y="3749040"/>
            <a:ext cx="5303520" cy="45720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3840480"/>
            <a:ext cx="365760" cy="320040"/>
          </a:xfrm>
          <a:prstGeom prst="rect">
            <a:avLst/>
          </a:prstGeom>
          <a:noFill/>
        </p:spPr>
        <p:txBody>
          <a:bodyPr wrap="square" anchor="t" lIns="0" rIns="0" tIns="0" bIns="0">
            <a:spAutoFit/>
          </a:bodyPr>
          <a:lstStyle/>
          <a:p>
            <a:pPr algn="l">
              <a:lnSpc>
                <a:spcPct val="115000"/>
              </a:lnSpc>
            </a:pPr>
            <a:r>
              <a:rPr sz="1600" b="1">
                <a:solidFill>
                  <a:srgbClr val="C6452D"/>
                </a:solidFill>
                <a:latin typeface="Hiragino Sans"/>
                <a:ea typeface="Hiragino Sans"/>
                <a:cs typeface="Hiragino Sans"/>
              </a:rPr>
              <a:t>✗</a:t>
            </a:r>
          </a:p>
        </p:txBody>
      </p:sp>
      <p:sp>
        <p:nvSpPr>
          <p:cNvPr id="20" name="TextBox 19"/>
          <p:cNvSpPr txBox="1"/>
          <p:nvPr/>
        </p:nvSpPr>
        <p:spPr>
          <a:xfrm>
            <a:off x="1097280" y="3840480"/>
            <a:ext cx="256032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Topics API</a:t>
            </a:r>
          </a:p>
        </p:txBody>
      </p:sp>
      <p:sp>
        <p:nvSpPr>
          <p:cNvPr id="21" name="TextBox 20"/>
          <p:cNvSpPr txBox="1"/>
          <p:nvPr/>
        </p:nvSpPr>
        <p:spPr>
          <a:xfrm>
            <a:off x="3657600" y="3877056"/>
            <a:ext cx="2011680" cy="274320"/>
          </a:xfrm>
          <a:prstGeom prst="rect">
            <a:avLst/>
          </a:prstGeom>
          <a:noFill/>
        </p:spPr>
        <p:txBody>
          <a:bodyPr wrap="square" anchor="t" lIns="0" rIns="0" tIns="0" bIns="0">
            <a:spAutoFit/>
          </a:bodyPr>
          <a:lstStyle/>
          <a:p>
            <a:pPr algn="l">
              <a:lnSpc>
                <a:spcPct val="115000"/>
              </a:lnSpc>
            </a:pPr>
            <a:r>
              <a:rPr sz="1000" b="0">
                <a:solidFill>
                  <a:srgbClr val="5A6A80"/>
                </a:solidFill>
                <a:latin typeface="Hiragino Sans"/>
                <a:ea typeface="Hiragino Sans"/>
                <a:cs typeface="Hiragino Sans"/>
              </a:rPr>
              <a:t>カテゴリベースターゲティング</a:t>
            </a:r>
          </a:p>
        </p:txBody>
      </p:sp>
      <p:sp>
        <p:nvSpPr>
          <p:cNvPr id="22" name="Rounded Rectangle 21"/>
          <p:cNvSpPr/>
          <p:nvPr/>
        </p:nvSpPr>
        <p:spPr>
          <a:xfrm>
            <a:off x="548640" y="4251960"/>
            <a:ext cx="5303520" cy="45720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4343400"/>
            <a:ext cx="365760" cy="320040"/>
          </a:xfrm>
          <a:prstGeom prst="rect">
            <a:avLst/>
          </a:prstGeom>
          <a:noFill/>
        </p:spPr>
        <p:txBody>
          <a:bodyPr wrap="square" anchor="t" lIns="0" rIns="0" tIns="0" bIns="0">
            <a:spAutoFit/>
          </a:bodyPr>
          <a:lstStyle/>
          <a:p>
            <a:pPr algn="l">
              <a:lnSpc>
                <a:spcPct val="115000"/>
              </a:lnSpc>
            </a:pPr>
            <a:r>
              <a:rPr sz="1600" b="1">
                <a:solidFill>
                  <a:srgbClr val="C6452D"/>
                </a:solidFill>
                <a:latin typeface="Hiragino Sans"/>
                <a:ea typeface="Hiragino Sans"/>
                <a:cs typeface="Hiragino Sans"/>
              </a:rPr>
              <a:t>✗</a:t>
            </a:r>
          </a:p>
        </p:txBody>
      </p:sp>
      <p:sp>
        <p:nvSpPr>
          <p:cNvPr id="24" name="TextBox 23"/>
          <p:cNvSpPr txBox="1"/>
          <p:nvPr/>
        </p:nvSpPr>
        <p:spPr>
          <a:xfrm>
            <a:off x="1097280" y="4343400"/>
            <a:ext cx="256032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Attribution Reporting API</a:t>
            </a:r>
          </a:p>
        </p:txBody>
      </p:sp>
      <p:sp>
        <p:nvSpPr>
          <p:cNvPr id="25" name="TextBox 24"/>
          <p:cNvSpPr txBox="1"/>
          <p:nvPr/>
        </p:nvSpPr>
        <p:spPr>
          <a:xfrm>
            <a:off x="3657600" y="4379976"/>
            <a:ext cx="2011680" cy="274320"/>
          </a:xfrm>
          <a:prstGeom prst="rect">
            <a:avLst/>
          </a:prstGeom>
          <a:noFill/>
        </p:spPr>
        <p:txBody>
          <a:bodyPr wrap="square" anchor="t" lIns="0" rIns="0" tIns="0" bIns="0">
            <a:spAutoFit/>
          </a:bodyPr>
          <a:lstStyle/>
          <a:p>
            <a:pPr algn="l">
              <a:lnSpc>
                <a:spcPct val="115000"/>
              </a:lnSpc>
            </a:pPr>
            <a:r>
              <a:rPr sz="1000" b="0">
                <a:solidFill>
                  <a:srgbClr val="5A6A80"/>
                </a:solidFill>
                <a:latin typeface="Hiragino Sans"/>
                <a:ea typeface="Hiragino Sans"/>
                <a:cs typeface="Hiragino Sans"/>
              </a:rPr>
              <a:t>計測用途</a:t>
            </a:r>
          </a:p>
        </p:txBody>
      </p:sp>
      <p:sp>
        <p:nvSpPr>
          <p:cNvPr id="26" name="Rounded Rectangle 25"/>
          <p:cNvSpPr/>
          <p:nvPr/>
        </p:nvSpPr>
        <p:spPr>
          <a:xfrm>
            <a:off x="548640" y="4754880"/>
            <a:ext cx="5303520" cy="45720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4846320"/>
            <a:ext cx="365760" cy="320040"/>
          </a:xfrm>
          <a:prstGeom prst="rect">
            <a:avLst/>
          </a:prstGeom>
          <a:noFill/>
        </p:spPr>
        <p:txBody>
          <a:bodyPr wrap="square" anchor="t" lIns="0" rIns="0" tIns="0" bIns="0">
            <a:spAutoFit/>
          </a:bodyPr>
          <a:lstStyle/>
          <a:p>
            <a:pPr algn="l">
              <a:lnSpc>
                <a:spcPct val="115000"/>
              </a:lnSpc>
            </a:pPr>
            <a:r>
              <a:rPr sz="1600" b="1">
                <a:solidFill>
                  <a:srgbClr val="C6452D"/>
                </a:solidFill>
                <a:latin typeface="Hiragino Sans"/>
                <a:ea typeface="Hiragino Sans"/>
                <a:cs typeface="Hiragino Sans"/>
              </a:rPr>
              <a:t>✗</a:t>
            </a:r>
          </a:p>
        </p:txBody>
      </p:sp>
      <p:sp>
        <p:nvSpPr>
          <p:cNvPr id="28" name="TextBox 27"/>
          <p:cNvSpPr txBox="1"/>
          <p:nvPr/>
        </p:nvSpPr>
        <p:spPr>
          <a:xfrm>
            <a:off x="1097280" y="4846320"/>
            <a:ext cx="256032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Related Website Sets</a:t>
            </a:r>
          </a:p>
        </p:txBody>
      </p:sp>
      <p:sp>
        <p:nvSpPr>
          <p:cNvPr id="29" name="TextBox 28"/>
          <p:cNvSpPr txBox="1"/>
          <p:nvPr/>
        </p:nvSpPr>
        <p:spPr>
          <a:xfrm>
            <a:off x="3657600" y="4882896"/>
            <a:ext cx="2011680" cy="274320"/>
          </a:xfrm>
          <a:prstGeom prst="rect">
            <a:avLst/>
          </a:prstGeom>
          <a:noFill/>
        </p:spPr>
        <p:txBody>
          <a:bodyPr wrap="square" anchor="t" lIns="0" rIns="0" tIns="0" bIns="0">
            <a:spAutoFit/>
          </a:bodyPr>
          <a:lstStyle/>
          <a:p>
            <a:pPr algn="l">
              <a:lnSpc>
                <a:spcPct val="115000"/>
              </a:lnSpc>
            </a:pPr>
            <a:r>
              <a:rPr sz="1000" b="0">
                <a:solidFill>
                  <a:srgbClr val="5A6A80"/>
                </a:solidFill>
                <a:latin typeface="Hiragino Sans"/>
                <a:ea typeface="Hiragino Sans"/>
                <a:cs typeface="Hiragino Sans"/>
              </a:rPr>
              <a:t>同一運営サイトの識別</a:t>
            </a:r>
          </a:p>
        </p:txBody>
      </p:sp>
      <p:sp>
        <p:nvSpPr>
          <p:cNvPr id="30" name="Rounded Rectangle 29"/>
          <p:cNvSpPr/>
          <p:nvPr/>
        </p:nvSpPr>
        <p:spPr>
          <a:xfrm>
            <a:off x="548640" y="5257800"/>
            <a:ext cx="5303520" cy="45720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5349240"/>
            <a:ext cx="365760" cy="320040"/>
          </a:xfrm>
          <a:prstGeom prst="rect">
            <a:avLst/>
          </a:prstGeom>
          <a:noFill/>
        </p:spPr>
        <p:txBody>
          <a:bodyPr wrap="square" anchor="t" lIns="0" rIns="0" tIns="0" bIns="0">
            <a:spAutoFit/>
          </a:bodyPr>
          <a:lstStyle/>
          <a:p>
            <a:pPr algn="l">
              <a:lnSpc>
                <a:spcPct val="115000"/>
              </a:lnSpc>
            </a:pPr>
            <a:r>
              <a:rPr sz="1600" b="1">
                <a:solidFill>
                  <a:srgbClr val="C6452D"/>
                </a:solidFill>
                <a:latin typeface="Hiragino Sans"/>
                <a:ea typeface="Hiragino Sans"/>
                <a:cs typeface="Hiragino Sans"/>
              </a:rPr>
              <a:t>✗</a:t>
            </a:r>
          </a:p>
        </p:txBody>
      </p:sp>
      <p:sp>
        <p:nvSpPr>
          <p:cNvPr id="32" name="TextBox 31"/>
          <p:cNvSpPr txBox="1"/>
          <p:nvPr/>
        </p:nvSpPr>
        <p:spPr>
          <a:xfrm>
            <a:off x="1097280" y="5349240"/>
            <a:ext cx="256032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Shared Storage / Private Aggregation</a:t>
            </a:r>
          </a:p>
        </p:txBody>
      </p:sp>
      <p:sp>
        <p:nvSpPr>
          <p:cNvPr id="33" name="TextBox 32"/>
          <p:cNvSpPr txBox="1"/>
          <p:nvPr/>
        </p:nvSpPr>
        <p:spPr>
          <a:xfrm>
            <a:off x="3657600" y="5385816"/>
            <a:ext cx="2011680" cy="274320"/>
          </a:xfrm>
          <a:prstGeom prst="rect">
            <a:avLst/>
          </a:prstGeom>
          <a:noFill/>
        </p:spPr>
        <p:txBody>
          <a:bodyPr wrap="square" anchor="t" lIns="0" rIns="0" tIns="0" bIns="0">
            <a:spAutoFit/>
          </a:bodyPr>
          <a:lstStyle/>
          <a:p>
            <a:pPr algn="l">
              <a:lnSpc>
                <a:spcPct val="115000"/>
              </a:lnSpc>
            </a:pPr>
            <a:r>
              <a:rPr sz="1000" b="0">
                <a:solidFill>
                  <a:srgbClr val="5A6A80"/>
                </a:solidFill>
                <a:latin typeface="Hiragino Sans"/>
                <a:ea typeface="Hiragino Sans"/>
                <a:cs typeface="Hiragino Sans"/>
              </a:rPr>
              <a:t>クロスサイト集計</a:t>
            </a:r>
          </a:p>
        </p:txBody>
      </p:sp>
      <p:sp>
        <p:nvSpPr>
          <p:cNvPr id="34" name="TextBox 33"/>
          <p:cNvSpPr txBox="1"/>
          <p:nvPr/>
        </p:nvSpPr>
        <p:spPr>
          <a:xfrm>
            <a:off x="6309360" y="2743200"/>
            <a:ext cx="5303520" cy="320040"/>
          </a:xfrm>
          <a:prstGeom prst="rect">
            <a:avLst/>
          </a:prstGeom>
          <a:noFill/>
        </p:spPr>
        <p:txBody>
          <a:bodyPr wrap="square" anchor="t" lIns="0" rIns="0" tIns="0" bIns="0">
            <a:spAutoFit/>
          </a:bodyPr>
          <a:lstStyle/>
          <a:p>
            <a:pPr algn="l">
              <a:lnSpc>
                <a:spcPct val="115000"/>
              </a:lnSpc>
            </a:pPr>
            <a:r>
              <a:rPr sz="1300" b="1">
                <a:solidFill>
                  <a:srgbClr val="2E8B57"/>
                </a:solidFill>
                <a:latin typeface="Hiragino Sans"/>
                <a:ea typeface="Hiragino Sans"/>
                <a:cs typeface="Hiragino Sans"/>
              </a:rPr>
              <a:t>継続する技術 (Continue)</a:t>
            </a:r>
          </a:p>
        </p:txBody>
      </p:sp>
      <p:sp>
        <p:nvSpPr>
          <p:cNvPr id="35" name="Rectangle 34"/>
          <p:cNvSpPr/>
          <p:nvPr/>
        </p:nvSpPr>
        <p:spPr>
          <a:xfrm>
            <a:off x="6309360" y="3063240"/>
            <a:ext cx="534924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6309360" y="3246120"/>
            <a:ext cx="5349240" cy="777240"/>
          </a:xfrm>
          <a:prstGeom prst="roundRect">
            <a:avLst>
              <a:gd name="adj" fmla="val 6000"/>
            </a:avLst>
          </a:prstGeom>
          <a:solidFill>
            <a:srgbClr val="FFF3E6"/>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92240" y="3429000"/>
            <a:ext cx="365760" cy="365760"/>
          </a:xfrm>
          <a:prstGeom prst="rect">
            <a:avLst/>
          </a:prstGeom>
          <a:noFill/>
        </p:spPr>
        <p:txBody>
          <a:bodyPr wrap="square" anchor="t" lIns="0" rIns="0" tIns="0" bIns="0">
            <a:spAutoFit/>
          </a:bodyPr>
          <a:lstStyle/>
          <a:p>
            <a:pPr algn="l">
              <a:lnSpc>
                <a:spcPct val="115000"/>
              </a:lnSpc>
            </a:pPr>
            <a:r>
              <a:rPr sz="1800" b="1">
                <a:solidFill>
                  <a:srgbClr val="2E8B57"/>
                </a:solidFill>
                <a:latin typeface="Hiragino Sans"/>
                <a:ea typeface="Hiragino Sans"/>
                <a:cs typeface="Hiragino Sans"/>
              </a:rPr>
              <a:t>✓</a:t>
            </a:r>
          </a:p>
        </p:txBody>
      </p:sp>
      <p:sp>
        <p:nvSpPr>
          <p:cNvPr id="38" name="TextBox 37"/>
          <p:cNvSpPr txBox="1"/>
          <p:nvPr/>
        </p:nvSpPr>
        <p:spPr>
          <a:xfrm>
            <a:off x="6903720" y="3355848"/>
            <a:ext cx="4114800" cy="320040"/>
          </a:xfrm>
          <a:prstGeom prst="rect">
            <a:avLst/>
          </a:prstGeom>
          <a:noFill/>
        </p:spPr>
        <p:txBody>
          <a:bodyPr wrap="square" anchor="t" lIns="0" rIns="0" tIns="0" bIns="0">
            <a:spAutoFit/>
          </a:bodyPr>
          <a:lstStyle/>
          <a:p>
            <a:pPr algn="l">
              <a:lnSpc>
                <a:spcPct val="115000"/>
              </a:lnSpc>
            </a:pPr>
            <a:r>
              <a:rPr sz="1300" b="1">
                <a:solidFill>
                  <a:srgbClr val="0F2A4F"/>
                </a:solidFill>
                <a:latin typeface="Helvetica Neue"/>
                <a:ea typeface="Helvetica Neue"/>
                <a:cs typeface="Helvetica Neue"/>
              </a:rPr>
              <a:t>CHIPS</a:t>
            </a:r>
          </a:p>
        </p:txBody>
      </p:sp>
      <p:sp>
        <p:nvSpPr>
          <p:cNvPr id="39" name="TextBox 38"/>
          <p:cNvSpPr txBox="1"/>
          <p:nvPr/>
        </p:nvSpPr>
        <p:spPr>
          <a:xfrm>
            <a:off x="6903720" y="3657600"/>
            <a:ext cx="4572000" cy="365760"/>
          </a:xfrm>
          <a:prstGeom prst="rect">
            <a:avLst/>
          </a:prstGeom>
          <a:noFill/>
        </p:spPr>
        <p:txBody>
          <a:bodyPr wrap="square" anchor="t" lIns="0" rIns="0" tIns="0" bIns="0">
            <a:spAutoFit/>
          </a:bodyPr>
          <a:lstStyle/>
          <a:p>
            <a:pPr algn="l">
              <a:lnSpc>
                <a:spcPct val="135000"/>
              </a:lnSpc>
            </a:pPr>
            <a:r>
              <a:rPr sz="1000" b="0">
                <a:solidFill>
                  <a:srgbClr val="1A1A1A"/>
                </a:solidFill>
                <a:latin typeface="Hiragino Sans"/>
                <a:ea typeface="Hiragino Sans"/>
                <a:cs typeface="Hiragino Sans"/>
              </a:rPr>
              <a:t>Cookie Having Independent Partitioned State。Cookie分離</a:t>
            </a:r>
          </a:p>
        </p:txBody>
      </p:sp>
      <p:sp>
        <p:nvSpPr>
          <p:cNvPr id="40" name="Rounded Rectangle 39"/>
          <p:cNvSpPr/>
          <p:nvPr/>
        </p:nvSpPr>
        <p:spPr>
          <a:xfrm>
            <a:off x="6309360" y="4069080"/>
            <a:ext cx="5349240" cy="777240"/>
          </a:xfrm>
          <a:prstGeom prst="roundRect">
            <a:avLst>
              <a:gd name="adj" fmla="val 6000"/>
            </a:avLst>
          </a:prstGeom>
          <a:solidFill>
            <a:srgbClr val="FFF3E6"/>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92240" y="4251960"/>
            <a:ext cx="365760" cy="365760"/>
          </a:xfrm>
          <a:prstGeom prst="rect">
            <a:avLst/>
          </a:prstGeom>
          <a:noFill/>
        </p:spPr>
        <p:txBody>
          <a:bodyPr wrap="square" anchor="t" lIns="0" rIns="0" tIns="0" bIns="0">
            <a:spAutoFit/>
          </a:bodyPr>
          <a:lstStyle/>
          <a:p>
            <a:pPr algn="l">
              <a:lnSpc>
                <a:spcPct val="115000"/>
              </a:lnSpc>
            </a:pPr>
            <a:r>
              <a:rPr sz="1800" b="1">
                <a:solidFill>
                  <a:srgbClr val="2E8B57"/>
                </a:solidFill>
                <a:latin typeface="Hiragino Sans"/>
                <a:ea typeface="Hiragino Sans"/>
                <a:cs typeface="Hiragino Sans"/>
              </a:rPr>
              <a:t>✓</a:t>
            </a:r>
          </a:p>
        </p:txBody>
      </p:sp>
      <p:sp>
        <p:nvSpPr>
          <p:cNvPr id="42" name="TextBox 41"/>
          <p:cNvSpPr txBox="1"/>
          <p:nvPr/>
        </p:nvSpPr>
        <p:spPr>
          <a:xfrm>
            <a:off x="6903720" y="4178808"/>
            <a:ext cx="4114800" cy="320040"/>
          </a:xfrm>
          <a:prstGeom prst="rect">
            <a:avLst/>
          </a:prstGeom>
          <a:noFill/>
        </p:spPr>
        <p:txBody>
          <a:bodyPr wrap="square" anchor="t" lIns="0" rIns="0" tIns="0" bIns="0">
            <a:spAutoFit/>
          </a:bodyPr>
          <a:lstStyle/>
          <a:p>
            <a:pPr algn="l">
              <a:lnSpc>
                <a:spcPct val="115000"/>
              </a:lnSpc>
            </a:pPr>
            <a:r>
              <a:rPr sz="1300" b="1">
                <a:solidFill>
                  <a:srgbClr val="0F2A4F"/>
                </a:solidFill>
                <a:latin typeface="Helvetica Neue"/>
                <a:ea typeface="Helvetica Neue"/>
                <a:cs typeface="Helvetica Neue"/>
              </a:rPr>
              <a:t>FedCM</a:t>
            </a:r>
          </a:p>
        </p:txBody>
      </p:sp>
      <p:sp>
        <p:nvSpPr>
          <p:cNvPr id="43" name="TextBox 42"/>
          <p:cNvSpPr txBox="1"/>
          <p:nvPr/>
        </p:nvSpPr>
        <p:spPr>
          <a:xfrm>
            <a:off x="6903720" y="4480560"/>
            <a:ext cx="4572000" cy="365760"/>
          </a:xfrm>
          <a:prstGeom prst="rect">
            <a:avLst/>
          </a:prstGeom>
          <a:noFill/>
        </p:spPr>
        <p:txBody>
          <a:bodyPr wrap="square" anchor="t" lIns="0" rIns="0" tIns="0" bIns="0">
            <a:spAutoFit/>
          </a:bodyPr>
          <a:lstStyle/>
          <a:p>
            <a:pPr algn="l">
              <a:lnSpc>
                <a:spcPct val="135000"/>
              </a:lnSpc>
            </a:pPr>
            <a:r>
              <a:rPr sz="1000" b="0">
                <a:solidFill>
                  <a:srgbClr val="1A1A1A"/>
                </a:solidFill>
                <a:latin typeface="Hiragino Sans"/>
                <a:ea typeface="Hiragino Sans"/>
                <a:cs typeface="Hiragino Sans"/>
              </a:rPr>
              <a:t>Federated Credential Management。SSO 認証</a:t>
            </a:r>
          </a:p>
        </p:txBody>
      </p:sp>
      <p:sp>
        <p:nvSpPr>
          <p:cNvPr id="44" name="Rounded Rectangle 43"/>
          <p:cNvSpPr/>
          <p:nvPr/>
        </p:nvSpPr>
        <p:spPr>
          <a:xfrm>
            <a:off x="6309360" y="4983480"/>
            <a:ext cx="5349240" cy="128016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92240" y="5074920"/>
            <a:ext cx="274320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結果 :</a:t>
            </a:r>
          </a:p>
        </p:txBody>
      </p:sp>
      <p:sp>
        <p:nvSpPr>
          <p:cNvPr id="46" name="TextBox 45"/>
          <p:cNvSpPr txBox="1"/>
          <p:nvPr/>
        </p:nvSpPr>
        <p:spPr>
          <a:xfrm>
            <a:off x="6492240" y="5349240"/>
            <a:ext cx="5120640" cy="868680"/>
          </a:xfrm>
          <a:prstGeom prst="rect">
            <a:avLst/>
          </a:prstGeom>
          <a:noFill/>
        </p:spPr>
        <p:txBody>
          <a:bodyPr wrap="square" anchor="t" lIns="0" rIns="0" tIns="0" bIns="0">
            <a:spAutoFit/>
          </a:bodyPr>
          <a:lstStyle/>
          <a:p>
            <a:pPr algn="l">
              <a:lnSpc>
                <a:spcPct val="140000"/>
              </a:lnSpc>
            </a:pPr>
            <a:r>
              <a:rPr sz="1300" b="1">
                <a:solidFill>
                  <a:srgbClr val="FFFFFF"/>
                </a:solidFill>
                <a:latin typeface="Hiragino Sans"/>
                <a:ea typeface="Hiragino Sans"/>
                <a:cs typeface="Hiragino Sans"/>
              </a:rPr>
              <a:t>3rd Party Cookie は Chrome に無期限残存。</a:t>
            </a:r>
          </a:p>
          <a:p>
            <a:pPr algn="l">
              <a:lnSpc>
                <a:spcPct val="140000"/>
              </a:lnSpc>
            </a:pPr>
            <a:r>
              <a:rPr sz="1300" b="1">
                <a:solidFill>
                  <a:srgbClr val="FFFFFF"/>
                </a:solidFill>
                <a:latin typeface="Hiragino Sans"/>
                <a:ea typeface="Hiragino Sans"/>
                <a:cs typeface="Hiragino Sans"/>
              </a:rPr>
              <a:t>廃止タイムラインは未定</a:t>
            </a:r>
          </a:p>
        </p:txBody>
      </p:sp>
      <p:sp>
        <p:nvSpPr>
          <p:cNvPr id="47" name="TextBox 46"/>
          <p:cNvSpPr txBox="1"/>
          <p:nvPr/>
        </p:nvSpPr>
        <p:spPr>
          <a:xfrm>
            <a:off x="548640" y="6355080"/>
            <a:ext cx="109728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出典: Google Privacy Sandbox Blog (2025/10/17) / Search Engine Land / AdExchanger</a:t>
            </a:r>
          </a:p>
        </p:txBody>
      </p:sp>
      <p:sp>
        <p:nvSpPr>
          <p:cNvPr id="48" name="TextBox 47"/>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Consent Mode v2 の義務化と日本実務</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2024/03/06 EEA 内で義務化</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P19 / 250</a:t>
            </a:r>
          </a:p>
        </p:txBody>
      </p:sp>
      <p:sp>
        <p:nvSpPr>
          <p:cNvPr id="8" name="Rounded Rectangle 7"/>
          <p:cNvSpPr/>
          <p:nvPr/>
        </p:nvSpPr>
        <p:spPr>
          <a:xfrm>
            <a:off x="548640" y="1371600"/>
            <a:ext cx="11109960" cy="914400"/>
          </a:xfrm>
          <a:prstGeom prst="roundRect">
            <a:avLst>
              <a:gd name="adj" fmla="val 6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08760"/>
            <a:ext cx="5486400" cy="32004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Consent Mode v2 とは</a:t>
            </a:r>
          </a:p>
        </p:txBody>
      </p:sp>
      <p:sp>
        <p:nvSpPr>
          <p:cNvPr id="10" name="TextBox 9"/>
          <p:cNvSpPr txBox="1"/>
          <p:nvPr/>
        </p:nvSpPr>
        <p:spPr>
          <a:xfrm>
            <a:off x="777240" y="1828800"/>
            <a:ext cx="10972800" cy="502920"/>
          </a:xfrm>
          <a:prstGeom prst="rect">
            <a:avLst/>
          </a:prstGeom>
          <a:noFill/>
        </p:spPr>
        <p:txBody>
          <a:bodyPr wrap="square" anchor="t" lIns="0" rIns="0" tIns="0" bIns="0">
            <a:spAutoFit/>
          </a:bodyPr>
          <a:lstStyle/>
          <a:p>
            <a:pPr algn="l">
              <a:lnSpc>
                <a:spcPct val="140000"/>
              </a:lnSpc>
            </a:pPr>
            <a:r>
              <a:rPr sz="1100" b="0">
                <a:solidFill>
                  <a:srgbClr val="1A1A1A"/>
                </a:solidFill>
                <a:latin typeface="Hiragino Sans"/>
                <a:ea typeface="Hiragino Sans"/>
                <a:cs typeface="Hiragino Sans"/>
              </a:rPr>
              <a:t>ユーザーの同意状態を Google 広告・分析プロダクトに伝える仕組み。</a:t>
            </a:r>
          </a:p>
          <a:p>
            <a:pPr algn="l">
              <a:lnSpc>
                <a:spcPct val="140000"/>
              </a:lnSpc>
            </a:pPr>
            <a:r>
              <a:rPr sz="1100" b="0">
                <a:solidFill>
                  <a:srgbClr val="1A1A1A"/>
                </a:solidFill>
                <a:latin typeface="Hiragino Sans"/>
                <a:ea typeface="Hiragino Sans"/>
                <a:cs typeface="Hiragino Sans"/>
              </a:rPr>
              <a:t>同意がない場合はモデルベースで推計、同意がある場合は正確な計測データを送信する</a:t>
            </a:r>
          </a:p>
        </p:txBody>
      </p:sp>
      <p:sp>
        <p:nvSpPr>
          <p:cNvPr id="11" name="TextBox 10"/>
          <p:cNvSpPr txBox="1"/>
          <p:nvPr/>
        </p:nvSpPr>
        <p:spPr>
          <a:xfrm>
            <a:off x="548640" y="2514600"/>
            <a:ext cx="548640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4 つの同意パラメータ</a:t>
            </a:r>
          </a:p>
        </p:txBody>
      </p:sp>
      <p:sp>
        <p:nvSpPr>
          <p:cNvPr id="12" name="Rectangle 11"/>
          <p:cNvSpPr/>
          <p:nvPr/>
        </p:nvSpPr>
        <p:spPr>
          <a:xfrm>
            <a:off x="548640" y="2834640"/>
            <a:ext cx="1110996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48640" y="3017520"/>
            <a:ext cx="5440680" cy="9144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017520"/>
            <a:ext cx="91440" cy="91440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3127248"/>
            <a:ext cx="2743200" cy="320040"/>
          </a:xfrm>
          <a:prstGeom prst="rect">
            <a:avLst/>
          </a:prstGeom>
          <a:noFill/>
        </p:spPr>
        <p:txBody>
          <a:bodyPr wrap="square" anchor="t" lIns="0" rIns="0" tIns="0" bIns="0">
            <a:spAutoFit/>
          </a:bodyPr>
          <a:lstStyle/>
          <a:p>
            <a:pPr algn="l">
              <a:lnSpc>
                <a:spcPct val="115000"/>
              </a:lnSpc>
            </a:pPr>
            <a:r>
              <a:rPr sz="1300" b="1">
                <a:solidFill>
                  <a:srgbClr val="0F2A4F"/>
                </a:solidFill>
                <a:latin typeface="Helvetica Neue"/>
                <a:ea typeface="Helvetica Neue"/>
                <a:cs typeface="Helvetica Neue"/>
              </a:rPr>
              <a:t>ad_storage</a:t>
            </a:r>
          </a:p>
        </p:txBody>
      </p:sp>
      <p:sp>
        <p:nvSpPr>
          <p:cNvPr id="16" name="TextBox 15"/>
          <p:cNvSpPr txBox="1"/>
          <p:nvPr/>
        </p:nvSpPr>
        <p:spPr>
          <a:xfrm>
            <a:off x="822960" y="3429000"/>
            <a:ext cx="5029200" cy="274320"/>
          </a:xfrm>
          <a:prstGeom prst="rect">
            <a:avLst/>
          </a:prstGeom>
          <a:noFill/>
        </p:spPr>
        <p:txBody>
          <a:bodyPr wrap="square" anchor="t" lIns="0" rIns="0" tIns="0" bIns="0">
            <a:spAutoFit/>
          </a:bodyPr>
          <a:lstStyle/>
          <a:p>
            <a:pPr algn="l">
              <a:lnSpc>
                <a:spcPct val="115000"/>
              </a:lnSpc>
            </a:pPr>
            <a:r>
              <a:rPr sz="1100" b="1">
                <a:solidFill>
                  <a:srgbClr val="B85E1A"/>
                </a:solidFill>
                <a:latin typeface="Hiragino Sans"/>
                <a:ea typeface="Hiragino Sans"/>
                <a:cs typeface="Hiragino Sans"/>
              </a:rPr>
              <a:t>広告Cookieの使用</a:t>
            </a:r>
          </a:p>
        </p:txBody>
      </p:sp>
      <p:sp>
        <p:nvSpPr>
          <p:cNvPr id="17" name="TextBox 16"/>
          <p:cNvSpPr txBox="1"/>
          <p:nvPr/>
        </p:nvSpPr>
        <p:spPr>
          <a:xfrm>
            <a:off x="822960" y="3657600"/>
            <a:ext cx="5029200" cy="274320"/>
          </a:xfrm>
          <a:prstGeom prst="rect">
            <a:avLst/>
          </a:prstGeom>
          <a:noFill/>
        </p:spPr>
        <p:txBody>
          <a:bodyPr wrap="square" anchor="t" lIns="0" rIns="0" tIns="0" bIns="0">
            <a:spAutoFit/>
          </a:bodyPr>
          <a:lstStyle/>
          <a:p>
            <a:pPr algn="l">
              <a:lnSpc>
                <a:spcPct val="115000"/>
              </a:lnSpc>
            </a:pPr>
            <a:r>
              <a:rPr sz="900" b="0">
                <a:solidFill>
                  <a:srgbClr val="5A6A80"/>
                </a:solidFill>
                <a:latin typeface="Hiragino Sans"/>
                <a:ea typeface="Hiragino Sans"/>
                <a:cs typeface="Hiragino Sans"/>
              </a:rPr>
              <a:t>広告計測・リマーケ・コンバージョンに使用</a:t>
            </a:r>
          </a:p>
        </p:txBody>
      </p:sp>
      <p:sp>
        <p:nvSpPr>
          <p:cNvPr id="18" name="Rounded Rectangle 17"/>
          <p:cNvSpPr/>
          <p:nvPr/>
        </p:nvSpPr>
        <p:spPr>
          <a:xfrm>
            <a:off x="6108192" y="3017520"/>
            <a:ext cx="5440680" cy="9144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08192" y="3017520"/>
            <a:ext cx="91440" cy="91440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82512" y="3127248"/>
            <a:ext cx="2743200" cy="320040"/>
          </a:xfrm>
          <a:prstGeom prst="rect">
            <a:avLst/>
          </a:prstGeom>
          <a:noFill/>
        </p:spPr>
        <p:txBody>
          <a:bodyPr wrap="square" anchor="t" lIns="0" rIns="0" tIns="0" bIns="0">
            <a:spAutoFit/>
          </a:bodyPr>
          <a:lstStyle/>
          <a:p>
            <a:pPr algn="l">
              <a:lnSpc>
                <a:spcPct val="115000"/>
              </a:lnSpc>
            </a:pPr>
            <a:r>
              <a:rPr sz="1300" b="1">
                <a:solidFill>
                  <a:srgbClr val="0F2A4F"/>
                </a:solidFill>
                <a:latin typeface="Helvetica Neue"/>
                <a:ea typeface="Helvetica Neue"/>
                <a:cs typeface="Helvetica Neue"/>
              </a:rPr>
              <a:t>ad_user_data</a:t>
            </a:r>
          </a:p>
        </p:txBody>
      </p:sp>
      <p:sp>
        <p:nvSpPr>
          <p:cNvPr id="21" name="TextBox 20"/>
          <p:cNvSpPr txBox="1"/>
          <p:nvPr/>
        </p:nvSpPr>
        <p:spPr>
          <a:xfrm>
            <a:off x="6382512" y="3429000"/>
            <a:ext cx="5029200" cy="274320"/>
          </a:xfrm>
          <a:prstGeom prst="rect">
            <a:avLst/>
          </a:prstGeom>
          <a:noFill/>
        </p:spPr>
        <p:txBody>
          <a:bodyPr wrap="square" anchor="t" lIns="0" rIns="0" tIns="0" bIns="0">
            <a:spAutoFit/>
          </a:bodyPr>
          <a:lstStyle/>
          <a:p>
            <a:pPr algn="l">
              <a:lnSpc>
                <a:spcPct val="115000"/>
              </a:lnSpc>
            </a:pPr>
            <a:r>
              <a:rPr sz="1100" b="1">
                <a:solidFill>
                  <a:srgbClr val="B85E1A"/>
                </a:solidFill>
                <a:latin typeface="Hiragino Sans"/>
                <a:ea typeface="Hiragino Sans"/>
                <a:cs typeface="Hiragino Sans"/>
              </a:rPr>
              <a:t>ユーザーデータのGoogle共有</a:t>
            </a:r>
          </a:p>
        </p:txBody>
      </p:sp>
      <p:sp>
        <p:nvSpPr>
          <p:cNvPr id="22" name="TextBox 21"/>
          <p:cNvSpPr txBox="1"/>
          <p:nvPr/>
        </p:nvSpPr>
        <p:spPr>
          <a:xfrm>
            <a:off x="6382512" y="3657600"/>
            <a:ext cx="5029200" cy="274320"/>
          </a:xfrm>
          <a:prstGeom prst="rect">
            <a:avLst/>
          </a:prstGeom>
          <a:noFill/>
        </p:spPr>
        <p:txBody>
          <a:bodyPr wrap="square" anchor="t" lIns="0" rIns="0" tIns="0" bIns="0">
            <a:spAutoFit/>
          </a:bodyPr>
          <a:lstStyle/>
          <a:p>
            <a:pPr algn="l">
              <a:lnSpc>
                <a:spcPct val="115000"/>
              </a:lnSpc>
            </a:pPr>
            <a:r>
              <a:rPr sz="900" b="0">
                <a:solidFill>
                  <a:srgbClr val="5A6A80"/>
                </a:solidFill>
                <a:latin typeface="Hiragino Sans"/>
                <a:ea typeface="Hiragino Sans"/>
                <a:cs typeface="Hiragino Sans"/>
              </a:rPr>
              <a:t>顧客データ(メール/電話)をGoogleに送るか</a:t>
            </a:r>
          </a:p>
        </p:txBody>
      </p:sp>
      <p:sp>
        <p:nvSpPr>
          <p:cNvPr id="23" name="Rounded Rectangle 22"/>
          <p:cNvSpPr/>
          <p:nvPr/>
        </p:nvSpPr>
        <p:spPr>
          <a:xfrm>
            <a:off x="548640" y="4069080"/>
            <a:ext cx="5440680" cy="9144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4069080"/>
            <a:ext cx="91440" cy="91440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 y="4178808"/>
            <a:ext cx="2743200" cy="320040"/>
          </a:xfrm>
          <a:prstGeom prst="rect">
            <a:avLst/>
          </a:prstGeom>
          <a:noFill/>
        </p:spPr>
        <p:txBody>
          <a:bodyPr wrap="square" anchor="t" lIns="0" rIns="0" tIns="0" bIns="0">
            <a:spAutoFit/>
          </a:bodyPr>
          <a:lstStyle/>
          <a:p>
            <a:pPr algn="l">
              <a:lnSpc>
                <a:spcPct val="115000"/>
              </a:lnSpc>
            </a:pPr>
            <a:r>
              <a:rPr sz="1300" b="1">
                <a:solidFill>
                  <a:srgbClr val="0F2A4F"/>
                </a:solidFill>
                <a:latin typeface="Helvetica Neue"/>
                <a:ea typeface="Helvetica Neue"/>
                <a:cs typeface="Helvetica Neue"/>
              </a:rPr>
              <a:t>ad_personalization</a:t>
            </a:r>
          </a:p>
        </p:txBody>
      </p:sp>
      <p:sp>
        <p:nvSpPr>
          <p:cNvPr id="26" name="TextBox 25"/>
          <p:cNvSpPr txBox="1"/>
          <p:nvPr/>
        </p:nvSpPr>
        <p:spPr>
          <a:xfrm>
            <a:off x="822960" y="4480560"/>
            <a:ext cx="5029200" cy="274320"/>
          </a:xfrm>
          <a:prstGeom prst="rect">
            <a:avLst/>
          </a:prstGeom>
          <a:noFill/>
        </p:spPr>
        <p:txBody>
          <a:bodyPr wrap="square" anchor="t" lIns="0" rIns="0" tIns="0" bIns="0">
            <a:spAutoFit/>
          </a:bodyPr>
          <a:lstStyle/>
          <a:p>
            <a:pPr algn="l">
              <a:lnSpc>
                <a:spcPct val="115000"/>
              </a:lnSpc>
            </a:pPr>
            <a:r>
              <a:rPr sz="1100" b="1">
                <a:solidFill>
                  <a:srgbClr val="B85E1A"/>
                </a:solidFill>
                <a:latin typeface="Hiragino Sans"/>
                <a:ea typeface="Hiragino Sans"/>
                <a:cs typeface="Hiragino Sans"/>
              </a:rPr>
              <a:t>広告パーソナライズ</a:t>
            </a:r>
          </a:p>
        </p:txBody>
      </p:sp>
      <p:sp>
        <p:nvSpPr>
          <p:cNvPr id="27" name="TextBox 26"/>
          <p:cNvSpPr txBox="1"/>
          <p:nvPr/>
        </p:nvSpPr>
        <p:spPr>
          <a:xfrm>
            <a:off x="822960" y="4709160"/>
            <a:ext cx="5029200" cy="274320"/>
          </a:xfrm>
          <a:prstGeom prst="rect">
            <a:avLst/>
          </a:prstGeom>
          <a:noFill/>
        </p:spPr>
        <p:txBody>
          <a:bodyPr wrap="square" anchor="t" lIns="0" rIns="0" tIns="0" bIns="0">
            <a:spAutoFit/>
          </a:bodyPr>
          <a:lstStyle/>
          <a:p>
            <a:pPr algn="l">
              <a:lnSpc>
                <a:spcPct val="115000"/>
              </a:lnSpc>
            </a:pPr>
            <a:r>
              <a:rPr sz="900" b="0">
                <a:solidFill>
                  <a:srgbClr val="5A6A80"/>
                </a:solidFill>
                <a:latin typeface="Hiragino Sans"/>
                <a:ea typeface="Hiragino Sans"/>
                <a:cs typeface="Hiragino Sans"/>
              </a:rPr>
              <a:t>履歴に基づくターゲティング可否</a:t>
            </a:r>
          </a:p>
        </p:txBody>
      </p:sp>
      <p:sp>
        <p:nvSpPr>
          <p:cNvPr id="28" name="Rounded Rectangle 27"/>
          <p:cNvSpPr/>
          <p:nvPr/>
        </p:nvSpPr>
        <p:spPr>
          <a:xfrm>
            <a:off x="6108192" y="4069080"/>
            <a:ext cx="5440680" cy="9144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08192" y="4069080"/>
            <a:ext cx="91440" cy="91440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82512" y="4178808"/>
            <a:ext cx="2743200" cy="320040"/>
          </a:xfrm>
          <a:prstGeom prst="rect">
            <a:avLst/>
          </a:prstGeom>
          <a:noFill/>
        </p:spPr>
        <p:txBody>
          <a:bodyPr wrap="square" anchor="t" lIns="0" rIns="0" tIns="0" bIns="0">
            <a:spAutoFit/>
          </a:bodyPr>
          <a:lstStyle/>
          <a:p>
            <a:pPr algn="l">
              <a:lnSpc>
                <a:spcPct val="115000"/>
              </a:lnSpc>
            </a:pPr>
            <a:r>
              <a:rPr sz="1300" b="1">
                <a:solidFill>
                  <a:srgbClr val="0F2A4F"/>
                </a:solidFill>
                <a:latin typeface="Helvetica Neue"/>
                <a:ea typeface="Helvetica Neue"/>
                <a:cs typeface="Helvetica Neue"/>
              </a:rPr>
              <a:t>analytics_storage</a:t>
            </a:r>
          </a:p>
        </p:txBody>
      </p:sp>
      <p:sp>
        <p:nvSpPr>
          <p:cNvPr id="31" name="TextBox 30"/>
          <p:cNvSpPr txBox="1"/>
          <p:nvPr/>
        </p:nvSpPr>
        <p:spPr>
          <a:xfrm>
            <a:off x="6382512" y="4480560"/>
            <a:ext cx="5029200" cy="274320"/>
          </a:xfrm>
          <a:prstGeom prst="rect">
            <a:avLst/>
          </a:prstGeom>
          <a:noFill/>
        </p:spPr>
        <p:txBody>
          <a:bodyPr wrap="square" anchor="t" lIns="0" rIns="0" tIns="0" bIns="0">
            <a:spAutoFit/>
          </a:bodyPr>
          <a:lstStyle/>
          <a:p>
            <a:pPr algn="l">
              <a:lnSpc>
                <a:spcPct val="115000"/>
              </a:lnSpc>
            </a:pPr>
            <a:r>
              <a:rPr sz="1100" b="1">
                <a:solidFill>
                  <a:srgbClr val="B85E1A"/>
                </a:solidFill>
                <a:latin typeface="Hiragino Sans"/>
                <a:ea typeface="Hiragino Sans"/>
                <a:cs typeface="Hiragino Sans"/>
              </a:rPr>
              <a:t>分析Cookie使用</a:t>
            </a:r>
          </a:p>
        </p:txBody>
      </p:sp>
      <p:sp>
        <p:nvSpPr>
          <p:cNvPr id="32" name="TextBox 31"/>
          <p:cNvSpPr txBox="1"/>
          <p:nvPr/>
        </p:nvSpPr>
        <p:spPr>
          <a:xfrm>
            <a:off x="6382512" y="4709160"/>
            <a:ext cx="5029200" cy="274320"/>
          </a:xfrm>
          <a:prstGeom prst="rect">
            <a:avLst/>
          </a:prstGeom>
          <a:noFill/>
        </p:spPr>
        <p:txBody>
          <a:bodyPr wrap="square" anchor="t" lIns="0" rIns="0" tIns="0" bIns="0">
            <a:spAutoFit/>
          </a:bodyPr>
          <a:lstStyle/>
          <a:p>
            <a:pPr algn="l">
              <a:lnSpc>
                <a:spcPct val="115000"/>
              </a:lnSpc>
            </a:pPr>
            <a:r>
              <a:rPr sz="900" b="0">
                <a:solidFill>
                  <a:srgbClr val="5A6A80"/>
                </a:solidFill>
                <a:latin typeface="Hiragino Sans"/>
                <a:ea typeface="Hiragino Sans"/>
                <a:cs typeface="Hiragino Sans"/>
              </a:rPr>
              <a:t>GA4計測Cookieの保存可否</a:t>
            </a:r>
          </a:p>
        </p:txBody>
      </p:sp>
      <p:sp>
        <p:nvSpPr>
          <p:cNvPr id="33" name="Rounded Rectangle 32"/>
          <p:cNvSpPr/>
          <p:nvPr/>
        </p:nvSpPr>
        <p:spPr>
          <a:xfrm>
            <a:off x="548640" y="5257800"/>
            <a:ext cx="11109960" cy="105156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77240" y="5376672"/>
            <a:ext cx="100584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日本実務への影響</a:t>
            </a:r>
          </a:p>
        </p:txBody>
      </p:sp>
      <p:sp>
        <p:nvSpPr>
          <p:cNvPr id="35" name="TextBox 34"/>
          <p:cNvSpPr txBox="1"/>
          <p:nvPr/>
        </p:nvSpPr>
        <p:spPr>
          <a:xfrm>
            <a:off x="777240" y="5687568"/>
            <a:ext cx="10972800" cy="59436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 EEA外（日本）は義務ではないが、グローバル企業は同実装が事実上標準</a:t>
            </a:r>
          </a:p>
          <a:p>
            <a:pPr algn="l">
              <a:lnSpc>
                <a:spcPct val="150000"/>
              </a:lnSpc>
            </a:pPr>
            <a:r>
              <a:rPr sz="1100" b="0">
                <a:solidFill>
                  <a:srgbClr val="1A1A1A"/>
                </a:solidFill>
                <a:latin typeface="Hiragino Sans"/>
                <a:ea typeface="Hiragino Sans"/>
                <a:cs typeface="Hiragino Sans"/>
              </a:rPr>
              <a:t>• CMP (Cookiebot / OneTrust / usercentrics / TrustArc) 導入案件が2024-2025で急増</a:t>
            </a:r>
          </a:p>
          <a:p>
            <a:pPr algn="l">
              <a:lnSpc>
                <a:spcPct val="150000"/>
              </a:lnSpc>
            </a:pPr>
            <a:r>
              <a:rPr sz="1100" b="0">
                <a:solidFill>
                  <a:srgbClr val="1A1A1A"/>
                </a:solidFill>
                <a:latin typeface="Hiragino Sans"/>
                <a:ea typeface="Hiragino Sans"/>
                <a:cs typeface="Hiragino Sans"/>
              </a:rPr>
              <a:t>• 運用者側: ad_personalization 無効時のビッド低下・DDAモデルの精度低下を説明できる必要</a:t>
            </a:r>
          </a:p>
        </p:txBody>
      </p:sp>
      <p:sp>
        <p:nvSpPr>
          <p:cNvPr id="36" name="TextBox 35"/>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LINEヤフー統合タイムライン 2023 → 2026</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日本広告市場の構造変化を時系列で把握</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P20 / 250</a:t>
            </a:r>
          </a:p>
        </p:txBody>
      </p:sp>
      <p:sp>
        <p:nvSpPr>
          <p:cNvPr id="8" name="Rectangle 7"/>
          <p:cNvSpPr/>
          <p:nvPr/>
        </p:nvSpPr>
        <p:spPr>
          <a:xfrm>
            <a:off x="1554480" y="3200400"/>
            <a:ext cx="9052560"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453896" y="3172968"/>
            <a:ext cx="201168" cy="201168"/>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011680"/>
            <a:ext cx="1645920" cy="274320"/>
          </a:xfrm>
          <a:prstGeom prst="rect">
            <a:avLst/>
          </a:prstGeom>
          <a:noFill/>
        </p:spPr>
        <p:txBody>
          <a:bodyPr wrap="square" anchor="t" lIns="0" rIns="0" tIns="0" bIns="0">
            <a:spAutoFit/>
          </a:bodyPr>
          <a:lstStyle/>
          <a:p>
            <a:pPr algn="ctr">
              <a:lnSpc>
                <a:spcPct val="115000"/>
              </a:lnSpc>
            </a:pPr>
            <a:r>
              <a:rPr sz="1000" b="1">
                <a:solidFill>
                  <a:srgbClr val="0F2A4F"/>
                </a:solidFill>
                <a:latin typeface="Helvetica Neue"/>
                <a:ea typeface="Helvetica Neue"/>
                <a:cs typeface="Helvetica Neue"/>
              </a:rPr>
              <a:t>2023/10/01</a:t>
            </a:r>
          </a:p>
        </p:txBody>
      </p:sp>
      <p:sp>
        <p:nvSpPr>
          <p:cNvPr id="11" name="TextBox 10"/>
          <p:cNvSpPr txBox="1"/>
          <p:nvPr/>
        </p:nvSpPr>
        <p:spPr>
          <a:xfrm>
            <a:off x="548640" y="2286000"/>
            <a:ext cx="2011680" cy="548640"/>
          </a:xfrm>
          <a:prstGeom prst="rect">
            <a:avLst/>
          </a:prstGeom>
          <a:noFill/>
        </p:spPr>
        <p:txBody>
          <a:bodyPr wrap="square" anchor="t" lIns="0" rIns="0" tIns="0" bIns="0">
            <a:spAutoFit/>
          </a:bodyPr>
          <a:lstStyle/>
          <a:p>
            <a:pPr algn="ctr">
              <a:lnSpc>
                <a:spcPct val="120000"/>
              </a:lnSpc>
            </a:pPr>
            <a:r>
              <a:rPr sz="1200" b="1">
                <a:solidFill>
                  <a:srgbClr val="0F2A4F"/>
                </a:solidFill>
                <a:latin typeface="Hiragino Sans"/>
                <a:ea typeface="Hiragino Sans"/>
                <a:cs typeface="Hiragino Sans"/>
              </a:rPr>
              <a:t>LINEヤフー</a:t>
            </a:r>
          </a:p>
          <a:p>
            <a:pPr algn="ctr">
              <a:lnSpc>
                <a:spcPct val="120000"/>
              </a:lnSpc>
            </a:pPr>
            <a:r>
              <a:rPr sz="1200" b="1">
                <a:solidFill>
                  <a:srgbClr val="0F2A4F"/>
                </a:solidFill>
                <a:latin typeface="Hiragino Sans"/>
                <a:ea typeface="Hiragino Sans"/>
                <a:cs typeface="Hiragino Sans"/>
              </a:rPr>
              <a:t>発足</a:t>
            </a:r>
          </a:p>
        </p:txBody>
      </p:sp>
      <p:sp>
        <p:nvSpPr>
          <p:cNvPr id="12" name="TextBox 11"/>
          <p:cNvSpPr txBox="1"/>
          <p:nvPr/>
        </p:nvSpPr>
        <p:spPr>
          <a:xfrm>
            <a:off x="411480" y="2880360"/>
            <a:ext cx="2286000" cy="320040"/>
          </a:xfrm>
          <a:prstGeom prst="rect">
            <a:avLst/>
          </a:prstGeom>
          <a:noFill/>
        </p:spPr>
        <p:txBody>
          <a:bodyPr wrap="square" anchor="t" lIns="0" rIns="0" tIns="0" bIns="0">
            <a:spAutoFit/>
          </a:bodyPr>
          <a:lstStyle/>
          <a:p>
            <a:pPr algn="ctr">
              <a:lnSpc>
                <a:spcPct val="130000"/>
              </a:lnSpc>
            </a:pPr>
            <a:r>
              <a:rPr sz="900" b="0">
                <a:solidFill>
                  <a:srgbClr val="5A6A80"/>
                </a:solidFill>
                <a:latin typeface="Hiragino Sans"/>
                <a:ea typeface="Hiragino Sans"/>
                <a:cs typeface="Hiragino Sans"/>
              </a:rPr>
              <a:t>LINE/ヤフー等5社合併</a:t>
            </a:r>
          </a:p>
        </p:txBody>
      </p:sp>
      <p:sp>
        <p:nvSpPr>
          <p:cNvPr id="13" name="Rectangle 12"/>
          <p:cNvSpPr/>
          <p:nvPr/>
        </p:nvSpPr>
        <p:spPr>
          <a:xfrm>
            <a:off x="1545336" y="2880360"/>
            <a:ext cx="13716" cy="320040"/>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264408" y="3172968"/>
            <a:ext cx="201168" cy="201168"/>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42032" y="3520440"/>
            <a:ext cx="1645920" cy="274320"/>
          </a:xfrm>
          <a:prstGeom prst="rect">
            <a:avLst/>
          </a:prstGeom>
          <a:noFill/>
        </p:spPr>
        <p:txBody>
          <a:bodyPr wrap="square" anchor="t" lIns="0" rIns="0" tIns="0" bIns="0">
            <a:spAutoFit/>
          </a:bodyPr>
          <a:lstStyle/>
          <a:p>
            <a:pPr algn="ctr">
              <a:lnSpc>
                <a:spcPct val="115000"/>
              </a:lnSpc>
            </a:pPr>
            <a:r>
              <a:rPr sz="1000" b="1">
                <a:solidFill>
                  <a:srgbClr val="0F2A4F"/>
                </a:solidFill>
                <a:latin typeface="Helvetica Neue"/>
                <a:ea typeface="Helvetica Neue"/>
                <a:cs typeface="Helvetica Neue"/>
              </a:rPr>
              <a:t>2023/10/02</a:t>
            </a:r>
          </a:p>
        </p:txBody>
      </p:sp>
      <p:sp>
        <p:nvSpPr>
          <p:cNvPr id="16" name="TextBox 15"/>
          <p:cNvSpPr txBox="1"/>
          <p:nvPr/>
        </p:nvSpPr>
        <p:spPr>
          <a:xfrm>
            <a:off x="2359152" y="3794760"/>
            <a:ext cx="2011680" cy="548640"/>
          </a:xfrm>
          <a:prstGeom prst="rect">
            <a:avLst/>
          </a:prstGeom>
          <a:noFill/>
        </p:spPr>
        <p:txBody>
          <a:bodyPr wrap="square" anchor="t" lIns="0" rIns="0" tIns="0" bIns="0">
            <a:spAutoFit/>
          </a:bodyPr>
          <a:lstStyle/>
          <a:p>
            <a:pPr algn="ctr">
              <a:lnSpc>
                <a:spcPct val="120000"/>
              </a:lnSpc>
            </a:pPr>
            <a:r>
              <a:rPr sz="1200" b="1">
                <a:solidFill>
                  <a:srgbClr val="0F2A4F"/>
                </a:solidFill>
                <a:latin typeface="Hiragino Sans"/>
                <a:ea typeface="Hiragino Sans"/>
                <a:cs typeface="Hiragino Sans"/>
              </a:rPr>
              <a:t>コネクトワン</a:t>
            </a:r>
          </a:p>
          <a:p>
            <a:pPr algn="ctr">
              <a:lnSpc>
                <a:spcPct val="120000"/>
              </a:lnSpc>
            </a:pPr>
            <a:r>
              <a:rPr sz="1200" b="1">
                <a:solidFill>
                  <a:srgbClr val="0F2A4F"/>
                </a:solidFill>
                <a:latin typeface="Hiragino Sans"/>
                <a:ea typeface="Hiragino Sans"/>
                <a:cs typeface="Hiragino Sans"/>
              </a:rPr>
              <a:t>構想発表</a:t>
            </a:r>
          </a:p>
        </p:txBody>
      </p:sp>
      <p:sp>
        <p:nvSpPr>
          <p:cNvPr id="17" name="TextBox 16"/>
          <p:cNvSpPr txBox="1"/>
          <p:nvPr/>
        </p:nvSpPr>
        <p:spPr>
          <a:xfrm>
            <a:off x="2221992" y="4361688"/>
            <a:ext cx="2286000" cy="320040"/>
          </a:xfrm>
          <a:prstGeom prst="rect">
            <a:avLst/>
          </a:prstGeom>
          <a:noFill/>
        </p:spPr>
        <p:txBody>
          <a:bodyPr wrap="square" anchor="t" lIns="0" rIns="0" tIns="0" bIns="0">
            <a:spAutoFit/>
          </a:bodyPr>
          <a:lstStyle/>
          <a:p>
            <a:pPr algn="ctr">
              <a:lnSpc>
                <a:spcPct val="130000"/>
              </a:lnSpc>
            </a:pPr>
            <a:r>
              <a:rPr sz="900" b="0">
                <a:solidFill>
                  <a:srgbClr val="5A6A80"/>
                </a:solidFill>
                <a:latin typeface="Hiragino Sans"/>
                <a:ea typeface="Hiragino Sans"/>
                <a:cs typeface="Hiragino Sans"/>
              </a:rPr>
              <a:t>LINE+Yahoo! ID統合ロードマップ</a:t>
            </a:r>
          </a:p>
        </p:txBody>
      </p:sp>
      <p:sp>
        <p:nvSpPr>
          <p:cNvPr id="18" name="Rectangle 17"/>
          <p:cNvSpPr/>
          <p:nvPr/>
        </p:nvSpPr>
        <p:spPr>
          <a:xfrm>
            <a:off x="3355848" y="3310128"/>
            <a:ext cx="13716" cy="502920"/>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015484" y="3113532"/>
            <a:ext cx="320040" cy="320040"/>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52544" y="2011680"/>
            <a:ext cx="1645920" cy="274320"/>
          </a:xfrm>
          <a:prstGeom prst="rect">
            <a:avLst/>
          </a:prstGeom>
          <a:noFill/>
        </p:spPr>
        <p:txBody>
          <a:bodyPr wrap="square" anchor="t" lIns="0" rIns="0" tIns="0" bIns="0">
            <a:spAutoFit/>
          </a:bodyPr>
          <a:lstStyle/>
          <a:p>
            <a:pPr algn="ctr">
              <a:lnSpc>
                <a:spcPct val="115000"/>
              </a:lnSpc>
            </a:pPr>
            <a:r>
              <a:rPr sz="1000" b="1">
                <a:solidFill>
                  <a:srgbClr val="E87722"/>
                </a:solidFill>
                <a:latin typeface="Helvetica Neue"/>
                <a:ea typeface="Helvetica Neue"/>
                <a:cs typeface="Helvetica Neue"/>
              </a:rPr>
              <a:t>2024/07</a:t>
            </a:r>
          </a:p>
        </p:txBody>
      </p:sp>
      <p:sp>
        <p:nvSpPr>
          <p:cNvPr id="21" name="TextBox 20"/>
          <p:cNvSpPr txBox="1"/>
          <p:nvPr/>
        </p:nvSpPr>
        <p:spPr>
          <a:xfrm>
            <a:off x="4169664" y="2286000"/>
            <a:ext cx="2011680" cy="548640"/>
          </a:xfrm>
          <a:prstGeom prst="rect">
            <a:avLst/>
          </a:prstGeom>
          <a:noFill/>
        </p:spPr>
        <p:txBody>
          <a:bodyPr wrap="square" anchor="t" lIns="0" rIns="0" tIns="0" bIns="0">
            <a:spAutoFit/>
          </a:bodyPr>
          <a:lstStyle/>
          <a:p>
            <a:pPr algn="ctr">
              <a:lnSpc>
                <a:spcPct val="120000"/>
              </a:lnSpc>
            </a:pPr>
            <a:r>
              <a:rPr sz="1200" b="1">
                <a:solidFill>
                  <a:srgbClr val="0F2A4F"/>
                </a:solidFill>
                <a:latin typeface="Hiragino Sans"/>
                <a:ea typeface="Hiragino Sans"/>
                <a:cs typeface="Hiragino Sans"/>
              </a:rPr>
              <a:t>DSP/LAP</a:t>
            </a:r>
          </a:p>
          <a:p>
            <a:pPr algn="ctr">
              <a:lnSpc>
                <a:spcPct val="120000"/>
              </a:lnSpc>
            </a:pPr>
            <a:r>
              <a:rPr sz="1200" b="1">
                <a:solidFill>
                  <a:srgbClr val="0F2A4F"/>
                </a:solidFill>
                <a:latin typeface="Hiragino Sans"/>
                <a:ea typeface="Hiragino Sans"/>
                <a:cs typeface="Hiragino Sans"/>
              </a:rPr>
              <a:t>統合開始</a:t>
            </a:r>
          </a:p>
        </p:txBody>
      </p:sp>
      <p:sp>
        <p:nvSpPr>
          <p:cNvPr id="22" name="TextBox 21"/>
          <p:cNvSpPr txBox="1"/>
          <p:nvPr/>
        </p:nvSpPr>
        <p:spPr>
          <a:xfrm>
            <a:off x="4032504" y="2880360"/>
            <a:ext cx="2286000" cy="320040"/>
          </a:xfrm>
          <a:prstGeom prst="rect">
            <a:avLst/>
          </a:prstGeom>
          <a:noFill/>
        </p:spPr>
        <p:txBody>
          <a:bodyPr wrap="square" anchor="t" lIns="0" rIns="0" tIns="0" bIns="0">
            <a:spAutoFit/>
          </a:bodyPr>
          <a:lstStyle/>
          <a:p>
            <a:pPr algn="ctr">
              <a:lnSpc>
                <a:spcPct val="130000"/>
              </a:lnSpc>
            </a:pPr>
            <a:r>
              <a:rPr sz="900" b="0">
                <a:solidFill>
                  <a:srgbClr val="5A6A80"/>
                </a:solidFill>
                <a:latin typeface="Hiragino Sans"/>
                <a:ea typeface="Hiragino Sans"/>
                <a:cs typeface="Hiragino Sans"/>
              </a:rPr>
              <a:t>ディスプレイ配信面の統合</a:t>
            </a:r>
          </a:p>
        </p:txBody>
      </p:sp>
      <p:sp>
        <p:nvSpPr>
          <p:cNvPr id="23" name="Rectangle 22"/>
          <p:cNvSpPr/>
          <p:nvPr/>
        </p:nvSpPr>
        <p:spPr>
          <a:xfrm>
            <a:off x="5166360" y="2880360"/>
            <a:ext cx="13716" cy="320040"/>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885432" y="3172968"/>
            <a:ext cx="201168" cy="201168"/>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63056" y="3520440"/>
            <a:ext cx="1645920" cy="274320"/>
          </a:xfrm>
          <a:prstGeom prst="rect">
            <a:avLst/>
          </a:prstGeom>
          <a:noFill/>
        </p:spPr>
        <p:txBody>
          <a:bodyPr wrap="square" anchor="t" lIns="0" rIns="0" tIns="0" bIns="0">
            <a:spAutoFit/>
          </a:bodyPr>
          <a:lstStyle/>
          <a:p>
            <a:pPr algn="ctr">
              <a:lnSpc>
                <a:spcPct val="115000"/>
              </a:lnSpc>
            </a:pPr>
            <a:r>
              <a:rPr sz="1000" b="1">
                <a:solidFill>
                  <a:srgbClr val="0F2A4F"/>
                </a:solidFill>
                <a:latin typeface="Helvetica Neue"/>
                <a:ea typeface="Helvetica Neue"/>
                <a:cs typeface="Helvetica Neue"/>
              </a:rPr>
              <a:t>2024/10/04</a:t>
            </a:r>
          </a:p>
        </p:txBody>
      </p:sp>
      <p:sp>
        <p:nvSpPr>
          <p:cNvPr id="26" name="TextBox 25"/>
          <p:cNvSpPr txBox="1"/>
          <p:nvPr/>
        </p:nvSpPr>
        <p:spPr>
          <a:xfrm>
            <a:off x="5980176" y="3794760"/>
            <a:ext cx="2011680" cy="548640"/>
          </a:xfrm>
          <a:prstGeom prst="rect">
            <a:avLst/>
          </a:prstGeom>
          <a:noFill/>
        </p:spPr>
        <p:txBody>
          <a:bodyPr wrap="square" anchor="t" lIns="0" rIns="0" tIns="0" bIns="0">
            <a:spAutoFit/>
          </a:bodyPr>
          <a:lstStyle/>
          <a:p>
            <a:pPr algn="ctr">
              <a:lnSpc>
                <a:spcPct val="120000"/>
              </a:lnSpc>
            </a:pPr>
            <a:r>
              <a:rPr sz="1200" b="1">
                <a:solidFill>
                  <a:srgbClr val="0F2A4F"/>
                </a:solidFill>
                <a:latin typeface="Hiragino Sans"/>
                <a:ea typeface="Hiragino Sans"/>
                <a:cs typeface="Hiragino Sans"/>
              </a:rPr>
              <a:t>アカウント</a:t>
            </a:r>
          </a:p>
          <a:p>
            <a:pPr algn="ctr">
              <a:lnSpc>
                <a:spcPct val="120000"/>
              </a:lnSpc>
            </a:pPr>
            <a:r>
              <a:rPr sz="1200" b="1">
                <a:solidFill>
                  <a:srgbClr val="0F2A4F"/>
                </a:solidFill>
                <a:latin typeface="Hiragino Sans"/>
                <a:ea typeface="Hiragino Sans"/>
                <a:cs typeface="Hiragino Sans"/>
              </a:rPr>
              <a:t>連携開始</a:t>
            </a:r>
          </a:p>
        </p:txBody>
      </p:sp>
      <p:sp>
        <p:nvSpPr>
          <p:cNvPr id="27" name="TextBox 26"/>
          <p:cNvSpPr txBox="1"/>
          <p:nvPr/>
        </p:nvSpPr>
        <p:spPr>
          <a:xfrm>
            <a:off x="5843016" y="4361688"/>
            <a:ext cx="2286000" cy="320040"/>
          </a:xfrm>
          <a:prstGeom prst="rect">
            <a:avLst/>
          </a:prstGeom>
          <a:noFill/>
        </p:spPr>
        <p:txBody>
          <a:bodyPr wrap="square" anchor="t" lIns="0" rIns="0" tIns="0" bIns="0">
            <a:spAutoFit/>
          </a:bodyPr>
          <a:lstStyle/>
          <a:p>
            <a:pPr algn="ctr">
              <a:lnSpc>
                <a:spcPct val="130000"/>
              </a:lnSpc>
            </a:pPr>
            <a:r>
              <a:rPr sz="900" b="0">
                <a:solidFill>
                  <a:srgbClr val="5A6A80"/>
                </a:solidFill>
                <a:latin typeface="Hiragino Sans"/>
                <a:ea typeface="Hiragino Sans"/>
                <a:cs typeface="Hiragino Sans"/>
              </a:rPr>
              <a:t>LINE+Yahoo!アカウントの一元化</a:t>
            </a:r>
          </a:p>
        </p:txBody>
      </p:sp>
      <p:sp>
        <p:nvSpPr>
          <p:cNvPr id="28" name="Rectangle 27"/>
          <p:cNvSpPr/>
          <p:nvPr/>
        </p:nvSpPr>
        <p:spPr>
          <a:xfrm>
            <a:off x="6976872" y="3310128"/>
            <a:ext cx="13716" cy="502920"/>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636508" y="3113532"/>
            <a:ext cx="320040" cy="320040"/>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73568" y="2011680"/>
            <a:ext cx="1645920" cy="274320"/>
          </a:xfrm>
          <a:prstGeom prst="rect">
            <a:avLst/>
          </a:prstGeom>
          <a:noFill/>
        </p:spPr>
        <p:txBody>
          <a:bodyPr wrap="square" anchor="t" lIns="0" rIns="0" tIns="0" bIns="0">
            <a:spAutoFit/>
          </a:bodyPr>
          <a:lstStyle/>
          <a:p>
            <a:pPr algn="ctr">
              <a:lnSpc>
                <a:spcPct val="115000"/>
              </a:lnSpc>
            </a:pPr>
            <a:r>
              <a:rPr sz="1000" b="1">
                <a:solidFill>
                  <a:srgbClr val="E87722"/>
                </a:solidFill>
                <a:latin typeface="Helvetica Neue"/>
                <a:ea typeface="Helvetica Neue"/>
                <a:cs typeface="Helvetica Neue"/>
              </a:rPr>
              <a:t>2025/06/30</a:t>
            </a:r>
          </a:p>
        </p:txBody>
      </p:sp>
      <p:sp>
        <p:nvSpPr>
          <p:cNvPr id="31" name="TextBox 30"/>
          <p:cNvSpPr txBox="1"/>
          <p:nvPr/>
        </p:nvSpPr>
        <p:spPr>
          <a:xfrm>
            <a:off x="7790688" y="2286000"/>
            <a:ext cx="2011680" cy="548640"/>
          </a:xfrm>
          <a:prstGeom prst="rect">
            <a:avLst/>
          </a:prstGeom>
          <a:noFill/>
        </p:spPr>
        <p:txBody>
          <a:bodyPr wrap="square" anchor="t" lIns="0" rIns="0" tIns="0" bIns="0">
            <a:spAutoFit/>
          </a:bodyPr>
          <a:lstStyle/>
          <a:p>
            <a:pPr algn="ctr">
              <a:lnSpc>
                <a:spcPct val="120000"/>
              </a:lnSpc>
            </a:pPr>
            <a:r>
              <a:rPr sz="1200" b="1">
                <a:solidFill>
                  <a:srgbClr val="0F2A4F"/>
                </a:solidFill>
                <a:latin typeface="Hiragino Sans"/>
                <a:ea typeface="Hiragino Sans"/>
                <a:cs typeface="Hiragino Sans"/>
              </a:rPr>
              <a:t>ビジネスID</a:t>
            </a:r>
          </a:p>
          <a:p>
            <a:pPr algn="ctr">
              <a:lnSpc>
                <a:spcPct val="120000"/>
              </a:lnSpc>
            </a:pPr>
            <a:r>
              <a:rPr sz="1200" b="1">
                <a:solidFill>
                  <a:srgbClr val="0F2A4F"/>
                </a:solidFill>
                <a:latin typeface="Hiragino Sans"/>
                <a:ea typeface="Hiragino Sans"/>
                <a:cs typeface="Hiragino Sans"/>
              </a:rPr>
              <a:t>統合</a:t>
            </a:r>
          </a:p>
        </p:txBody>
      </p:sp>
      <p:sp>
        <p:nvSpPr>
          <p:cNvPr id="32" name="TextBox 31"/>
          <p:cNvSpPr txBox="1"/>
          <p:nvPr/>
        </p:nvSpPr>
        <p:spPr>
          <a:xfrm>
            <a:off x="7653528" y="2880360"/>
            <a:ext cx="2286000" cy="320040"/>
          </a:xfrm>
          <a:prstGeom prst="rect">
            <a:avLst/>
          </a:prstGeom>
          <a:noFill/>
        </p:spPr>
        <p:txBody>
          <a:bodyPr wrap="square" anchor="t" lIns="0" rIns="0" tIns="0" bIns="0">
            <a:spAutoFit/>
          </a:bodyPr>
          <a:lstStyle/>
          <a:p>
            <a:pPr algn="ctr">
              <a:lnSpc>
                <a:spcPct val="130000"/>
              </a:lnSpc>
            </a:pPr>
            <a:r>
              <a:rPr sz="900" b="0">
                <a:solidFill>
                  <a:srgbClr val="5A6A80"/>
                </a:solidFill>
                <a:latin typeface="Hiragino Sans"/>
                <a:ea typeface="Hiragino Sans"/>
                <a:cs typeface="Hiragino Sans"/>
              </a:rPr>
              <a:t>広告管理画面の共通ID</a:t>
            </a:r>
          </a:p>
        </p:txBody>
      </p:sp>
      <p:sp>
        <p:nvSpPr>
          <p:cNvPr id="33" name="Rectangle 32"/>
          <p:cNvSpPr/>
          <p:nvPr/>
        </p:nvSpPr>
        <p:spPr>
          <a:xfrm>
            <a:off x="8787384" y="2880360"/>
            <a:ext cx="13716" cy="320040"/>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10447020" y="3113532"/>
            <a:ext cx="320040" cy="320040"/>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784080" y="3520440"/>
            <a:ext cx="1645920" cy="274320"/>
          </a:xfrm>
          <a:prstGeom prst="rect">
            <a:avLst/>
          </a:prstGeom>
          <a:noFill/>
        </p:spPr>
        <p:txBody>
          <a:bodyPr wrap="square" anchor="t" lIns="0" rIns="0" tIns="0" bIns="0">
            <a:spAutoFit/>
          </a:bodyPr>
          <a:lstStyle/>
          <a:p>
            <a:pPr algn="ctr">
              <a:lnSpc>
                <a:spcPct val="115000"/>
              </a:lnSpc>
            </a:pPr>
            <a:r>
              <a:rPr sz="1000" b="1">
                <a:solidFill>
                  <a:srgbClr val="E87722"/>
                </a:solidFill>
                <a:latin typeface="Helvetica Neue"/>
                <a:ea typeface="Helvetica Neue"/>
                <a:cs typeface="Helvetica Neue"/>
              </a:rPr>
              <a:t>2026/春</a:t>
            </a:r>
          </a:p>
        </p:txBody>
      </p:sp>
      <p:sp>
        <p:nvSpPr>
          <p:cNvPr id="36" name="TextBox 35"/>
          <p:cNvSpPr txBox="1"/>
          <p:nvPr/>
        </p:nvSpPr>
        <p:spPr>
          <a:xfrm>
            <a:off x="9601200" y="3794760"/>
            <a:ext cx="2011680" cy="548640"/>
          </a:xfrm>
          <a:prstGeom prst="rect">
            <a:avLst/>
          </a:prstGeom>
          <a:noFill/>
        </p:spPr>
        <p:txBody>
          <a:bodyPr wrap="square" anchor="t" lIns="0" rIns="0" tIns="0" bIns="0">
            <a:spAutoFit/>
          </a:bodyPr>
          <a:lstStyle/>
          <a:p>
            <a:pPr algn="ctr">
              <a:lnSpc>
                <a:spcPct val="120000"/>
              </a:lnSpc>
            </a:pPr>
            <a:r>
              <a:rPr sz="1200" b="1">
                <a:solidFill>
                  <a:srgbClr val="0F2A4F"/>
                </a:solidFill>
                <a:latin typeface="Hiragino Sans"/>
                <a:ea typeface="Hiragino Sans"/>
                <a:cs typeface="Hiragino Sans"/>
              </a:rPr>
              <a:t>LINEヤフー</a:t>
            </a:r>
          </a:p>
          <a:p>
            <a:pPr algn="ctr">
              <a:lnSpc>
                <a:spcPct val="120000"/>
              </a:lnSpc>
            </a:pPr>
            <a:r>
              <a:rPr sz="1200" b="1">
                <a:solidFill>
                  <a:srgbClr val="0F2A4F"/>
                </a:solidFill>
                <a:latin typeface="Hiragino Sans"/>
                <a:ea typeface="Hiragino Sans"/>
                <a:cs typeface="Hiragino Sans"/>
              </a:rPr>
              <a:t>広告 統合</a:t>
            </a:r>
          </a:p>
        </p:txBody>
      </p:sp>
      <p:sp>
        <p:nvSpPr>
          <p:cNvPr id="37" name="TextBox 36"/>
          <p:cNvSpPr txBox="1"/>
          <p:nvPr/>
        </p:nvSpPr>
        <p:spPr>
          <a:xfrm>
            <a:off x="9464040" y="4361688"/>
            <a:ext cx="2286000" cy="320040"/>
          </a:xfrm>
          <a:prstGeom prst="rect">
            <a:avLst/>
          </a:prstGeom>
          <a:noFill/>
        </p:spPr>
        <p:txBody>
          <a:bodyPr wrap="square" anchor="t" lIns="0" rIns="0" tIns="0" bIns="0">
            <a:spAutoFit/>
          </a:bodyPr>
          <a:lstStyle/>
          <a:p>
            <a:pPr algn="ctr">
              <a:lnSpc>
                <a:spcPct val="130000"/>
              </a:lnSpc>
            </a:pPr>
            <a:r>
              <a:rPr sz="900" b="0">
                <a:solidFill>
                  <a:srgbClr val="5A6A80"/>
                </a:solidFill>
                <a:latin typeface="Hiragino Sans"/>
                <a:ea typeface="Hiragino Sans"/>
                <a:cs typeface="Hiragino Sans"/>
              </a:rPr>
              <a:t>単一プラットフォームへ完成</a:t>
            </a:r>
          </a:p>
        </p:txBody>
      </p:sp>
      <p:sp>
        <p:nvSpPr>
          <p:cNvPr id="38" name="Rectangle 37"/>
          <p:cNvSpPr/>
          <p:nvPr/>
        </p:nvSpPr>
        <p:spPr>
          <a:xfrm>
            <a:off x="10597896" y="3310128"/>
            <a:ext cx="13716" cy="502920"/>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548640" y="5074920"/>
            <a:ext cx="11109960" cy="123444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77240" y="5212080"/>
            <a:ext cx="365760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統合後リーチ</a:t>
            </a:r>
          </a:p>
        </p:txBody>
      </p:sp>
      <p:sp>
        <p:nvSpPr>
          <p:cNvPr id="41" name="TextBox 40"/>
          <p:cNvSpPr txBox="1"/>
          <p:nvPr/>
        </p:nvSpPr>
        <p:spPr>
          <a:xfrm>
            <a:off x="777240" y="5468112"/>
            <a:ext cx="2286000" cy="640080"/>
          </a:xfrm>
          <a:prstGeom prst="rect">
            <a:avLst/>
          </a:prstGeom>
          <a:noFill/>
        </p:spPr>
        <p:txBody>
          <a:bodyPr wrap="square" anchor="t" lIns="0" rIns="0" tIns="0" bIns="0">
            <a:spAutoFit/>
          </a:bodyPr>
          <a:lstStyle/>
          <a:p>
            <a:pPr algn="l">
              <a:lnSpc>
                <a:spcPct val="115000"/>
              </a:lnSpc>
            </a:pPr>
            <a:r>
              <a:rPr sz="4200" b="1">
                <a:solidFill>
                  <a:srgbClr val="FFFFFF"/>
                </a:solidFill>
                <a:latin typeface="Helvetica Neue"/>
                <a:ea typeface="Helvetica Neue"/>
                <a:cs typeface="Helvetica Neue"/>
              </a:rPr>
              <a:t>94%</a:t>
            </a:r>
          </a:p>
        </p:txBody>
      </p:sp>
      <p:sp>
        <p:nvSpPr>
          <p:cNvPr id="42" name="TextBox 41"/>
          <p:cNvSpPr txBox="1"/>
          <p:nvPr/>
        </p:nvSpPr>
        <p:spPr>
          <a:xfrm>
            <a:off x="2926080" y="5532120"/>
            <a:ext cx="8229600" cy="320040"/>
          </a:xfrm>
          <a:prstGeom prst="rect">
            <a:avLst/>
          </a:prstGeom>
          <a:noFill/>
        </p:spPr>
        <p:txBody>
          <a:bodyPr wrap="square" anchor="t" lIns="0" rIns="0" tIns="0" bIns="0">
            <a:spAutoFit/>
          </a:bodyPr>
          <a:lstStyle/>
          <a:p>
            <a:pPr algn="l">
              <a:lnSpc>
                <a:spcPct val="115000"/>
              </a:lnSpc>
            </a:pPr>
            <a:r>
              <a:rPr sz="1300" b="0">
                <a:solidFill>
                  <a:srgbClr val="FFFFFF"/>
                </a:solidFill>
                <a:latin typeface="Hiragino Sans"/>
                <a:ea typeface="Hiragino Sans"/>
                <a:cs typeface="Hiragino Sans"/>
              </a:rPr>
              <a:t>of 国内スマートフォンユーザー (重複除く)</a:t>
            </a:r>
          </a:p>
        </p:txBody>
      </p:sp>
      <p:sp>
        <p:nvSpPr>
          <p:cNvPr id="43" name="TextBox 42"/>
          <p:cNvSpPr txBox="1"/>
          <p:nvPr/>
        </p:nvSpPr>
        <p:spPr>
          <a:xfrm>
            <a:off x="2926080" y="5833872"/>
            <a:ext cx="8229600" cy="457200"/>
          </a:xfrm>
          <a:prstGeom prst="rect">
            <a:avLst/>
          </a:prstGeom>
          <a:noFill/>
        </p:spPr>
        <p:txBody>
          <a:bodyPr wrap="square" anchor="t" lIns="0" rIns="0" tIns="0" bIns="0">
            <a:spAutoFit/>
          </a:bodyPr>
          <a:lstStyle/>
          <a:p>
            <a:pPr algn="l">
              <a:lnSpc>
                <a:spcPct val="135000"/>
              </a:lnSpc>
            </a:pPr>
            <a:r>
              <a:rPr sz="1000" b="0">
                <a:solidFill>
                  <a:srgbClr val="D7DDE8"/>
                </a:solidFill>
                <a:latin typeface="Hiragino Sans"/>
                <a:ea typeface="Hiragino Sans"/>
                <a:cs typeface="Hiragino Sans"/>
              </a:rPr>
              <a:t>Yahoo! の検索データ + LINE のチャット行動データの結合で</a:t>
            </a:r>
          </a:p>
          <a:p>
            <a:pPr algn="l">
              <a:lnSpc>
                <a:spcPct val="135000"/>
              </a:lnSpc>
            </a:pPr>
            <a:r>
              <a:rPr sz="1000" b="0">
                <a:solidFill>
                  <a:srgbClr val="D7DDE8"/>
                </a:solidFill>
                <a:latin typeface="Hiragino Sans"/>
                <a:ea typeface="Hiragino Sans"/>
                <a:cs typeface="Hiragino Sans"/>
              </a:rPr>
              <a:t>ターゲティング精度が向上、広告効果も改善傾向</a:t>
            </a:r>
          </a:p>
        </p:txBody>
      </p:sp>
      <p:sp>
        <p:nvSpPr>
          <p:cNvPr id="44" name="TextBox 43"/>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LINEヤフー広告 統合の実務インパクト</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運用者が押さえるべき変化ポイント</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P21 / 250</a:t>
            </a:r>
          </a:p>
        </p:txBody>
      </p:sp>
      <p:sp>
        <p:nvSpPr>
          <p:cNvPr id="8" name="TextBox 7"/>
          <p:cNvSpPr txBox="1"/>
          <p:nvPr/>
        </p:nvSpPr>
        <p:spPr>
          <a:xfrm>
            <a:off x="548640" y="1371600"/>
            <a:ext cx="5486400" cy="365760"/>
          </a:xfrm>
          <a:prstGeom prst="rect">
            <a:avLst/>
          </a:prstGeom>
          <a:noFill/>
        </p:spPr>
        <p:txBody>
          <a:bodyPr wrap="square" anchor="t" lIns="0" rIns="0" tIns="0" bIns="0">
            <a:spAutoFit/>
          </a:bodyPr>
          <a:lstStyle/>
          <a:p>
            <a:pPr algn="l">
              <a:lnSpc>
                <a:spcPct val="115000"/>
              </a:lnSpc>
            </a:pPr>
            <a:r>
              <a:rPr sz="1400" b="1">
                <a:solidFill>
                  <a:srgbClr val="5A6A80"/>
                </a:solidFill>
                <a:latin typeface="Hiragino Sans"/>
                <a:ea typeface="Hiragino Sans"/>
                <a:cs typeface="Hiragino Sans"/>
              </a:rPr>
              <a:t>Before (2023)</a:t>
            </a:r>
          </a:p>
        </p:txBody>
      </p:sp>
      <p:sp>
        <p:nvSpPr>
          <p:cNvPr id="9" name="TextBox 8"/>
          <p:cNvSpPr txBox="1"/>
          <p:nvPr/>
        </p:nvSpPr>
        <p:spPr>
          <a:xfrm>
            <a:off x="6400800" y="1371600"/>
            <a:ext cx="5486400" cy="365760"/>
          </a:xfrm>
          <a:prstGeom prst="rect">
            <a:avLst/>
          </a:prstGeom>
          <a:noFill/>
        </p:spPr>
        <p:txBody>
          <a:bodyPr wrap="square" anchor="t" lIns="0" rIns="0" tIns="0" bIns="0">
            <a:spAutoFit/>
          </a:bodyPr>
          <a:lstStyle/>
          <a:p>
            <a:pPr algn="l">
              <a:lnSpc>
                <a:spcPct val="115000"/>
              </a:lnSpc>
            </a:pPr>
            <a:r>
              <a:rPr sz="1400" b="1">
                <a:solidFill>
                  <a:srgbClr val="E87722"/>
                </a:solidFill>
                <a:latin typeface="Hiragino Sans"/>
                <a:ea typeface="Hiragino Sans"/>
                <a:cs typeface="Hiragino Sans"/>
              </a:rPr>
              <a:t>After (2026 春~)</a:t>
            </a:r>
          </a:p>
        </p:txBody>
      </p:sp>
      <p:sp>
        <p:nvSpPr>
          <p:cNvPr id="10" name="Rounded Rectangle 9"/>
          <p:cNvSpPr/>
          <p:nvPr/>
        </p:nvSpPr>
        <p:spPr>
          <a:xfrm>
            <a:off x="548640" y="1783080"/>
            <a:ext cx="5486400" cy="45720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874520"/>
            <a:ext cx="274320" cy="274320"/>
          </a:xfrm>
          <a:prstGeom prst="rect">
            <a:avLst/>
          </a:prstGeom>
          <a:noFill/>
        </p:spPr>
        <p:txBody>
          <a:bodyPr wrap="square" anchor="t" lIns="0" rIns="0" tIns="0" bIns="0">
            <a:spAutoFit/>
          </a:bodyPr>
          <a:lstStyle/>
          <a:p>
            <a:pPr algn="l">
              <a:lnSpc>
                <a:spcPct val="115000"/>
              </a:lnSpc>
            </a:pPr>
            <a:r>
              <a:rPr sz="1400" b="1">
                <a:solidFill>
                  <a:srgbClr val="C6452D"/>
                </a:solidFill>
                <a:latin typeface="Hiragino Sans"/>
                <a:ea typeface="Hiragino Sans"/>
                <a:cs typeface="Hiragino Sans"/>
              </a:rPr>
              <a:t>✗</a:t>
            </a:r>
          </a:p>
        </p:txBody>
      </p:sp>
      <p:sp>
        <p:nvSpPr>
          <p:cNvPr id="12" name="TextBox 11"/>
          <p:cNvSpPr txBox="1"/>
          <p:nvPr/>
        </p:nvSpPr>
        <p:spPr>
          <a:xfrm>
            <a:off x="1097280" y="1901952"/>
            <a:ext cx="4389120" cy="27432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Yahoo!広告管理画面で別運用</a:t>
            </a:r>
          </a:p>
        </p:txBody>
      </p:sp>
      <p:sp>
        <p:nvSpPr>
          <p:cNvPr id="13" name="Rounded Rectangle 12"/>
          <p:cNvSpPr/>
          <p:nvPr/>
        </p:nvSpPr>
        <p:spPr>
          <a:xfrm>
            <a:off x="548640" y="2286000"/>
            <a:ext cx="5486400" cy="45720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2377440"/>
            <a:ext cx="274320" cy="274320"/>
          </a:xfrm>
          <a:prstGeom prst="rect">
            <a:avLst/>
          </a:prstGeom>
          <a:noFill/>
        </p:spPr>
        <p:txBody>
          <a:bodyPr wrap="square" anchor="t" lIns="0" rIns="0" tIns="0" bIns="0">
            <a:spAutoFit/>
          </a:bodyPr>
          <a:lstStyle/>
          <a:p>
            <a:pPr algn="l">
              <a:lnSpc>
                <a:spcPct val="115000"/>
              </a:lnSpc>
            </a:pPr>
            <a:r>
              <a:rPr sz="1400" b="1">
                <a:solidFill>
                  <a:srgbClr val="C6452D"/>
                </a:solidFill>
                <a:latin typeface="Hiragino Sans"/>
                <a:ea typeface="Hiragino Sans"/>
                <a:cs typeface="Hiragino Sans"/>
              </a:rPr>
              <a:t>✗</a:t>
            </a:r>
          </a:p>
        </p:txBody>
      </p:sp>
      <p:sp>
        <p:nvSpPr>
          <p:cNvPr id="15" name="TextBox 14"/>
          <p:cNvSpPr txBox="1"/>
          <p:nvPr/>
        </p:nvSpPr>
        <p:spPr>
          <a:xfrm>
            <a:off x="1097280" y="2404872"/>
            <a:ext cx="4389120" cy="27432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LINE広告マネージャで別運用</a:t>
            </a:r>
          </a:p>
        </p:txBody>
      </p:sp>
      <p:sp>
        <p:nvSpPr>
          <p:cNvPr id="16" name="Rounded Rectangle 15"/>
          <p:cNvSpPr/>
          <p:nvPr/>
        </p:nvSpPr>
        <p:spPr>
          <a:xfrm>
            <a:off x="548640" y="2788920"/>
            <a:ext cx="5486400" cy="45720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2880360"/>
            <a:ext cx="274320" cy="274320"/>
          </a:xfrm>
          <a:prstGeom prst="rect">
            <a:avLst/>
          </a:prstGeom>
          <a:noFill/>
        </p:spPr>
        <p:txBody>
          <a:bodyPr wrap="square" anchor="t" lIns="0" rIns="0" tIns="0" bIns="0">
            <a:spAutoFit/>
          </a:bodyPr>
          <a:lstStyle/>
          <a:p>
            <a:pPr algn="l">
              <a:lnSpc>
                <a:spcPct val="115000"/>
              </a:lnSpc>
            </a:pPr>
            <a:r>
              <a:rPr sz="1400" b="1">
                <a:solidFill>
                  <a:srgbClr val="C6452D"/>
                </a:solidFill>
                <a:latin typeface="Hiragino Sans"/>
                <a:ea typeface="Hiragino Sans"/>
                <a:cs typeface="Hiragino Sans"/>
              </a:rPr>
              <a:t>✗</a:t>
            </a:r>
          </a:p>
        </p:txBody>
      </p:sp>
      <p:sp>
        <p:nvSpPr>
          <p:cNvPr id="18" name="TextBox 17"/>
          <p:cNvSpPr txBox="1"/>
          <p:nvPr/>
        </p:nvSpPr>
        <p:spPr>
          <a:xfrm>
            <a:off x="1097280" y="2907792"/>
            <a:ext cx="4389120" cy="27432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データ連携なし (別ID)</a:t>
            </a:r>
          </a:p>
        </p:txBody>
      </p:sp>
      <p:sp>
        <p:nvSpPr>
          <p:cNvPr id="19" name="Rounded Rectangle 18"/>
          <p:cNvSpPr/>
          <p:nvPr/>
        </p:nvSpPr>
        <p:spPr>
          <a:xfrm>
            <a:off x="548640" y="3291840"/>
            <a:ext cx="5486400" cy="45720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3383280"/>
            <a:ext cx="274320" cy="274320"/>
          </a:xfrm>
          <a:prstGeom prst="rect">
            <a:avLst/>
          </a:prstGeom>
          <a:noFill/>
        </p:spPr>
        <p:txBody>
          <a:bodyPr wrap="square" anchor="t" lIns="0" rIns="0" tIns="0" bIns="0">
            <a:spAutoFit/>
          </a:bodyPr>
          <a:lstStyle/>
          <a:p>
            <a:pPr algn="l">
              <a:lnSpc>
                <a:spcPct val="115000"/>
              </a:lnSpc>
            </a:pPr>
            <a:r>
              <a:rPr sz="1400" b="1">
                <a:solidFill>
                  <a:srgbClr val="C6452D"/>
                </a:solidFill>
                <a:latin typeface="Hiragino Sans"/>
                <a:ea typeface="Hiragino Sans"/>
                <a:cs typeface="Hiragino Sans"/>
              </a:rPr>
              <a:t>✗</a:t>
            </a:r>
          </a:p>
        </p:txBody>
      </p:sp>
      <p:sp>
        <p:nvSpPr>
          <p:cNvPr id="21" name="TextBox 20"/>
          <p:cNvSpPr txBox="1"/>
          <p:nvPr/>
        </p:nvSpPr>
        <p:spPr>
          <a:xfrm>
            <a:off x="1097280" y="3410712"/>
            <a:ext cx="4389120" cy="27432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在庫・面を横断できない</a:t>
            </a:r>
          </a:p>
        </p:txBody>
      </p:sp>
      <p:sp>
        <p:nvSpPr>
          <p:cNvPr id="22" name="Rounded Rectangle 21"/>
          <p:cNvSpPr/>
          <p:nvPr/>
        </p:nvSpPr>
        <p:spPr>
          <a:xfrm>
            <a:off x="548640" y="3794760"/>
            <a:ext cx="5486400" cy="45720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886200"/>
            <a:ext cx="274320" cy="274320"/>
          </a:xfrm>
          <a:prstGeom prst="rect">
            <a:avLst/>
          </a:prstGeom>
          <a:noFill/>
        </p:spPr>
        <p:txBody>
          <a:bodyPr wrap="square" anchor="t" lIns="0" rIns="0" tIns="0" bIns="0">
            <a:spAutoFit/>
          </a:bodyPr>
          <a:lstStyle/>
          <a:p>
            <a:pPr algn="l">
              <a:lnSpc>
                <a:spcPct val="115000"/>
              </a:lnSpc>
            </a:pPr>
            <a:r>
              <a:rPr sz="1400" b="1">
                <a:solidFill>
                  <a:srgbClr val="C6452D"/>
                </a:solidFill>
                <a:latin typeface="Hiragino Sans"/>
                <a:ea typeface="Hiragino Sans"/>
                <a:cs typeface="Hiragino Sans"/>
              </a:rPr>
              <a:t>✗</a:t>
            </a:r>
          </a:p>
        </p:txBody>
      </p:sp>
      <p:sp>
        <p:nvSpPr>
          <p:cNvPr id="24" name="TextBox 23"/>
          <p:cNvSpPr txBox="1"/>
          <p:nvPr/>
        </p:nvSpPr>
        <p:spPr>
          <a:xfrm>
            <a:off x="1097280" y="3913632"/>
            <a:ext cx="4389120" cy="27432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別々に予算設定・レポート作成</a:t>
            </a:r>
          </a:p>
        </p:txBody>
      </p:sp>
      <p:sp>
        <p:nvSpPr>
          <p:cNvPr id="25" name="Rounded Rectangle 24"/>
          <p:cNvSpPr/>
          <p:nvPr/>
        </p:nvSpPr>
        <p:spPr>
          <a:xfrm>
            <a:off x="6400800" y="1783080"/>
            <a:ext cx="5349240" cy="457200"/>
          </a:xfrm>
          <a:prstGeom prst="roundRect">
            <a:avLst>
              <a:gd name="adj" fmla="val 6000"/>
            </a:avLst>
          </a:prstGeom>
          <a:solidFill>
            <a:srgbClr val="FFF3E6"/>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0" y="1874520"/>
            <a:ext cx="274320" cy="274320"/>
          </a:xfrm>
          <a:prstGeom prst="rect">
            <a:avLst/>
          </a:prstGeom>
          <a:noFill/>
        </p:spPr>
        <p:txBody>
          <a:bodyPr wrap="square" anchor="t" lIns="0" rIns="0" tIns="0" bIns="0">
            <a:spAutoFit/>
          </a:bodyPr>
          <a:lstStyle/>
          <a:p>
            <a:pPr algn="l">
              <a:lnSpc>
                <a:spcPct val="115000"/>
              </a:lnSpc>
            </a:pPr>
            <a:r>
              <a:rPr sz="1400" b="1">
                <a:solidFill>
                  <a:srgbClr val="2E8B57"/>
                </a:solidFill>
                <a:latin typeface="Hiragino Sans"/>
                <a:ea typeface="Hiragino Sans"/>
                <a:cs typeface="Hiragino Sans"/>
              </a:rPr>
              <a:t>✓</a:t>
            </a:r>
          </a:p>
        </p:txBody>
      </p:sp>
      <p:sp>
        <p:nvSpPr>
          <p:cNvPr id="27" name="TextBox 26"/>
          <p:cNvSpPr txBox="1"/>
          <p:nvPr/>
        </p:nvSpPr>
        <p:spPr>
          <a:xfrm>
            <a:off x="6949440" y="1901952"/>
            <a:ext cx="4389120" cy="274320"/>
          </a:xfrm>
          <a:prstGeom prst="rect">
            <a:avLst/>
          </a:prstGeom>
          <a:noFill/>
        </p:spPr>
        <p:txBody>
          <a:bodyPr wrap="square" anchor="t" lIns="0" rIns="0" tIns="0" bIns="0">
            <a:spAutoFit/>
          </a:bodyPr>
          <a:lstStyle/>
          <a:p>
            <a:pPr algn="l">
              <a:lnSpc>
                <a:spcPct val="115000"/>
              </a:lnSpc>
            </a:pPr>
            <a:r>
              <a:rPr sz="1100" b="0">
                <a:solidFill>
                  <a:srgbClr val="0F2A4F"/>
                </a:solidFill>
                <a:latin typeface="Hiragino Sans"/>
                <a:ea typeface="Hiragino Sans"/>
                <a:cs typeface="Hiragino Sans"/>
              </a:rPr>
              <a:t>LINEヤフー広告（統合管理画面）</a:t>
            </a:r>
          </a:p>
        </p:txBody>
      </p:sp>
      <p:sp>
        <p:nvSpPr>
          <p:cNvPr id="28" name="Rounded Rectangle 27"/>
          <p:cNvSpPr/>
          <p:nvPr/>
        </p:nvSpPr>
        <p:spPr>
          <a:xfrm>
            <a:off x="6400800" y="2286000"/>
            <a:ext cx="5349240" cy="457200"/>
          </a:xfrm>
          <a:prstGeom prst="roundRect">
            <a:avLst>
              <a:gd name="adj" fmla="val 6000"/>
            </a:avLst>
          </a:prstGeom>
          <a:solidFill>
            <a:srgbClr val="FFF3E6"/>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0" y="2377440"/>
            <a:ext cx="274320" cy="274320"/>
          </a:xfrm>
          <a:prstGeom prst="rect">
            <a:avLst/>
          </a:prstGeom>
          <a:noFill/>
        </p:spPr>
        <p:txBody>
          <a:bodyPr wrap="square" anchor="t" lIns="0" rIns="0" tIns="0" bIns="0">
            <a:spAutoFit/>
          </a:bodyPr>
          <a:lstStyle/>
          <a:p>
            <a:pPr algn="l">
              <a:lnSpc>
                <a:spcPct val="115000"/>
              </a:lnSpc>
            </a:pPr>
            <a:r>
              <a:rPr sz="1400" b="1">
                <a:solidFill>
                  <a:srgbClr val="2E8B57"/>
                </a:solidFill>
                <a:latin typeface="Hiragino Sans"/>
                <a:ea typeface="Hiragino Sans"/>
                <a:cs typeface="Hiragino Sans"/>
              </a:rPr>
              <a:t>✓</a:t>
            </a:r>
          </a:p>
        </p:txBody>
      </p:sp>
      <p:sp>
        <p:nvSpPr>
          <p:cNvPr id="30" name="TextBox 29"/>
          <p:cNvSpPr txBox="1"/>
          <p:nvPr/>
        </p:nvSpPr>
        <p:spPr>
          <a:xfrm>
            <a:off x="6949440" y="2404872"/>
            <a:ext cx="4389120" cy="274320"/>
          </a:xfrm>
          <a:prstGeom prst="rect">
            <a:avLst/>
          </a:prstGeom>
          <a:noFill/>
        </p:spPr>
        <p:txBody>
          <a:bodyPr wrap="square" anchor="t" lIns="0" rIns="0" tIns="0" bIns="0">
            <a:spAutoFit/>
          </a:bodyPr>
          <a:lstStyle/>
          <a:p>
            <a:pPr algn="l">
              <a:lnSpc>
                <a:spcPct val="115000"/>
              </a:lnSpc>
            </a:pPr>
            <a:r>
              <a:rPr sz="1100" b="0">
                <a:solidFill>
                  <a:srgbClr val="0F2A4F"/>
                </a:solidFill>
                <a:latin typeface="Hiragino Sans"/>
                <a:ea typeface="Hiragino Sans"/>
                <a:cs typeface="Hiragino Sans"/>
              </a:rPr>
              <a:t>横断で配信面を指定可</a:t>
            </a:r>
          </a:p>
        </p:txBody>
      </p:sp>
      <p:sp>
        <p:nvSpPr>
          <p:cNvPr id="31" name="Rounded Rectangle 30"/>
          <p:cNvSpPr/>
          <p:nvPr/>
        </p:nvSpPr>
        <p:spPr>
          <a:xfrm>
            <a:off x="6400800" y="2788920"/>
            <a:ext cx="5349240" cy="457200"/>
          </a:xfrm>
          <a:prstGeom prst="roundRect">
            <a:avLst>
              <a:gd name="adj" fmla="val 6000"/>
            </a:avLst>
          </a:prstGeom>
          <a:solidFill>
            <a:srgbClr val="FFF3E6"/>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83680" y="2880360"/>
            <a:ext cx="274320" cy="274320"/>
          </a:xfrm>
          <a:prstGeom prst="rect">
            <a:avLst/>
          </a:prstGeom>
          <a:noFill/>
        </p:spPr>
        <p:txBody>
          <a:bodyPr wrap="square" anchor="t" lIns="0" rIns="0" tIns="0" bIns="0">
            <a:spAutoFit/>
          </a:bodyPr>
          <a:lstStyle/>
          <a:p>
            <a:pPr algn="l">
              <a:lnSpc>
                <a:spcPct val="115000"/>
              </a:lnSpc>
            </a:pPr>
            <a:r>
              <a:rPr sz="1400" b="1">
                <a:solidFill>
                  <a:srgbClr val="2E8B57"/>
                </a:solidFill>
                <a:latin typeface="Hiragino Sans"/>
                <a:ea typeface="Hiragino Sans"/>
                <a:cs typeface="Hiragino Sans"/>
              </a:rPr>
              <a:t>✓</a:t>
            </a:r>
          </a:p>
        </p:txBody>
      </p:sp>
      <p:sp>
        <p:nvSpPr>
          <p:cNvPr id="33" name="TextBox 32"/>
          <p:cNvSpPr txBox="1"/>
          <p:nvPr/>
        </p:nvSpPr>
        <p:spPr>
          <a:xfrm>
            <a:off x="6949440" y="2907792"/>
            <a:ext cx="4389120" cy="274320"/>
          </a:xfrm>
          <a:prstGeom prst="rect">
            <a:avLst/>
          </a:prstGeom>
          <a:noFill/>
        </p:spPr>
        <p:txBody>
          <a:bodyPr wrap="square" anchor="t" lIns="0" rIns="0" tIns="0" bIns="0">
            <a:spAutoFit/>
          </a:bodyPr>
          <a:lstStyle/>
          <a:p>
            <a:pPr algn="l">
              <a:lnSpc>
                <a:spcPct val="115000"/>
              </a:lnSpc>
            </a:pPr>
            <a:r>
              <a:rPr sz="1100" b="0">
                <a:solidFill>
                  <a:srgbClr val="0F2A4F"/>
                </a:solidFill>
                <a:latin typeface="Hiragino Sans"/>
                <a:ea typeface="Hiragino Sans"/>
                <a:cs typeface="Hiragino Sans"/>
              </a:rPr>
              <a:t>Yahoo!検索データ + LINE行動データ</a:t>
            </a:r>
          </a:p>
        </p:txBody>
      </p:sp>
      <p:sp>
        <p:nvSpPr>
          <p:cNvPr id="34" name="Rounded Rectangle 33"/>
          <p:cNvSpPr/>
          <p:nvPr/>
        </p:nvSpPr>
        <p:spPr>
          <a:xfrm>
            <a:off x="6400800" y="3291840"/>
            <a:ext cx="5349240" cy="457200"/>
          </a:xfrm>
          <a:prstGeom prst="roundRect">
            <a:avLst>
              <a:gd name="adj" fmla="val 6000"/>
            </a:avLst>
          </a:prstGeom>
          <a:solidFill>
            <a:srgbClr val="FFF3E6"/>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83680" y="3383280"/>
            <a:ext cx="274320" cy="274320"/>
          </a:xfrm>
          <a:prstGeom prst="rect">
            <a:avLst/>
          </a:prstGeom>
          <a:noFill/>
        </p:spPr>
        <p:txBody>
          <a:bodyPr wrap="square" anchor="t" lIns="0" rIns="0" tIns="0" bIns="0">
            <a:spAutoFit/>
          </a:bodyPr>
          <a:lstStyle/>
          <a:p>
            <a:pPr algn="l">
              <a:lnSpc>
                <a:spcPct val="115000"/>
              </a:lnSpc>
            </a:pPr>
            <a:r>
              <a:rPr sz="1400" b="1">
                <a:solidFill>
                  <a:srgbClr val="2E8B57"/>
                </a:solidFill>
                <a:latin typeface="Hiragino Sans"/>
                <a:ea typeface="Hiragino Sans"/>
                <a:cs typeface="Hiragino Sans"/>
              </a:rPr>
              <a:t>✓</a:t>
            </a:r>
          </a:p>
        </p:txBody>
      </p:sp>
      <p:sp>
        <p:nvSpPr>
          <p:cNvPr id="36" name="TextBox 35"/>
          <p:cNvSpPr txBox="1"/>
          <p:nvPr/>
        </p:nvSpPr>
        <p:spPr>
          <a:xfrm>
            <a:off x="6949440" y="3410712"/>
            <a:ext cx="4389120" cy="274320"/>
          </a:xfrm>
          <a:prstGeom prst="rect">
            <a:avLst/>
          </a:prstGeom>
          <a:noFill/>
        </p:spPr>
        <p:txBody>
          <a:bodyPr wrap="square" anchor="t" lIns="0" rIns="0" tIns="0" bIns="0">
            <a:spAutoFit/>
          </a:bodyPr>
          <a:lstStyle/>
          <a:p>
            <a:pPr algn="l">
              <a:lnSpc>
                <a:spcPct val="115000"/>
              </a:lnSpc>
            </a:pPr>
            <a:r>
              <a:rPr sz="1100" b="0">
                <a:solidFill>
                  <a:srgbClr val="0F2A4F"/>
                </a:solidFill>
                <a:latin typeface="Hiragino Sans"/>
                <a:ea typeface="Hiragino Sans"/>
                <a:cs typeface="Hiragino Sans"/>
              </a:rPr>
              <a:t>ビジネスID で一元管理</a:t>
            </a:r>
          </a:p>
        </p:txBody>
      </p:sp>
      <p:sp>
        <p:nvSpPr>
          <p:cNvPr id="37" name="Rounded Rectangle 36"/>
          <p:cNvSpPr/>
          <p:nvPr/>
        </p:nvSpPr>
        <p:spPr>
          <a:xfrm>
            <a:off x="6400800" y="3794760"/>
            <a:ext cx="5349240" cy="457200"/>
          </a:xfrm>
          <a:prstGeom prst="roundRect">
            <a:avLst>
              <a:gd name="adj" fmla="val 6000"/>
            </a:avLst>
          </a:prstGeom>
          <a:solidFill>
            <a:srgbClr val="FFF3E6"/>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83680" y="3886200"/>
            <a:ext cx="274320" cy="274320"/>
          </a:xfrm>
          <a:prstGeom prst="rect">
            <a:avLst/>
          </a:prstGeom>
          <a:noFill/>
        </p:spPr>
        <p:txBody>
          <a:bodyPr wrap="square" anchor="t" lIns="0" rIns="0" tIns="0" bIns="0">
            <a:spAutoFit/>
          </a:bodyPr>
          <a:lstStyle/>
          <a:p>
            <a:pPr algn="l">
              <a:lnSpc>
                <a:spcPct val="115000"/>
              </a:lnSpc>
            </a:pPr>
            <a:r>
              <a:rPr sz="1400" b="1">
                <a:solidFill>
                  <a:srgbClr val="2E8B57"/>
                </a:solidFill>
                <a:latin typeface="Hiragino Sans"/>
                <a:ea typeface="Hiragino Sans"/>
                <a:cs typeface="Hiragino Sans"/>
              </a:rPr>
              <a:t>✓</a:t>
            </a:r>
          </a:p>
        </p:txBody>
      </p:sp>
      <p:sp>
        <p:nvSpPr>
          <p:cNvPr id="39" name="TextBox 38"/>
          <p:cNvSpPr txBox="1"/>
          <p:nvPr/>
        </p:nvSpPr>
        <p:spPr>
          <a:xfrm>
            <a:off x="6949440" y="3913632"/>
            <a:ext cx="4389120" cy="274320"/>
          </a:xfrm>
          <a:prstGeom prst="rect">
            <a:avLst/>
          </a:prstGeom>
          <a:noFill/>
        </p:spPr>
        <p:txBody>
          <a:bodyPr wrap="square" anchor="t" lIns="0" rIns="0" tIns="0" bIns="0">
            <a:spAutoFit/>
          </a:bodyPr>
          <a:lstStyle/>
          <a:p>
            <a:pPr algn="l">
              <a:lnSpc>
                <a:spcPct val="115000"/>
              </a:lnSpc>
            </a:pPr>
            <a:r>
              <a:rPr sz="1100" b="0">
                <a:solidFill>
                  <a:srgbClr val="0F2A4F"/>
                </a:solidFill>
                <a:latin typeface="Hiragino Sans"/>
                <a:ea typeface="Hiragino Sans"/>
                <a:cs typeface="Hiragino Sans"/>
              </a:rPr>
              <a:t>統合レポート・横断最適化</a:t>
            </a:r>
          </a:p>
        </p:txBody>
      </p:sp>
      <p:sp>
        <p:nvSpPr>
          <p:cNvPr id="40" name="TextBox 39"/>
          <p:cNvSpPr txBox="1"/>
          <p:nvPr/>
        </p:nvSpPr>
        <p:spPr>
          <a:xfrm>
            <a:off x="548640" y="4572000"/>
            <a:ext cx="10972800" cy="36576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主要広告フォーマット (統合後)</a:t>
            </a:r>
          </a:p>
        </p:txBody>
      </p:sp>
      <p:sp>
        <p:nvSpPr>
          <p:cNvPr id="41" name="Rectangle 40"/>
          <p:cNvSpPr/>
          <p:nvPr/>
        </p:nvSpPr>
        <p:spPr>
          <a:xfrm>
            <a:off x="548640" y="4892040"/>
            <a:ext cx="1110996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548640" y="5074920"/>
            <a:ext cx="2697480" cy="12344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48640" y="5074920"/>
            <a:ext cx="2697480" cy="914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31520" y="5257800"/>
            <a:ext cx="2331720" cy="32004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ディスプレイ</a:t>
            </a:r>
          </a:p>
        </p:txBody>
      </p:sp>
      <p:sp>
        <p:nvSpPr>
          <p:cNvPr id="45" name="TextBox 44"/>
          <p:cNvSpPr txBox="1"/>
          <p:nvPr/>
        </p:nvSpPr>
        <p:spPr>
          <a:xfrm>
            <a:off x="731520" y="5577840"/>
            <a:ext cx="2331720" cy="68580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YDA + LAP統合。</a:t>
            </a:r>
          </a:p>
          <a:p>
            <a:pPr algn="l">
              <a:lnSpc>
                <a:spcPct val="140000"/>
              </a:lnSpc>
            </a:pPr>
            <a:r>
              <a:rPr sz="1000" b="0">
                <a:solidFill>
                  <a:srgbClr val="1A1A1A"/>
                </a:solidFill>
                <a:latin typeface="Hiragino Sans"/>
                <a:ea typeface="Hiragino Sans"/>
                <a:cs typeface="Hiragino Sans"/>
              </a:rPr>
              <a:t>Yahoo!面+LINE面+提携サイト</a:t>
            </a:r>
          </a:p>
        </p:txBody>
      </p:sp>
      <p:sp>
        <p:nvSpPr>
          <p:cNvPr id="46" name="Rounded Rectangle 45"/>
          <p:cNvSpPr/>
          <p:nvPr/>
        </p:nvSpPr>
        <p:spPr>
          <a:xfrm>
            <a:off x="3337560" y="5074920"/>
            <a:ext cx="2697480" cy="12344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3337560" y="5074920"/>
            <a:ext cx="2697480" cy="914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520440" y="5257800"/>
            <a:ext cx="2331720" cy="32004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検索</a:t>
            </a:r>
          </a:p>
        </p:txBody>
      </p:sp>
      <p:sp>
        <p:nvSpPr>
          <p:cNvPr id="49" name="TextBox 48"/>
          <p:cNvSpPr txBox="1"/>
          <p:nvPr/>
        </p:nvSpPr>
        <p:spPr>
          <a:xfrm>
            <a:off x="3520440" y="5577840"/>
            <a:ext cx="2331720" cy="68580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Yahoo!検索広告。</a:t>
            </a:r>
          </a:p>
          <a:p>
            <a:pPr algn="l">
              <a:lnSpc>
                <a:spcPct val="140000"/>
              </a:lnSpc>
            </a:pPr>
            <a:r>
              <a:rPr sz="1000" b="0">
                <a:solidFill>
                  <a:srgbClr val="1A1A1A"/>
                </a:solidFill>
                <a:latin typeface="Hiragino Sans"/>
                <a:ea typeface="Hiragino Sans"/>
                <a:cs typeface="Hiragino Sans"/>
              </a:rPr>
              <a:t>AIアシスト機能追加</a:t>
            </a:r>
          </a:p>
        </p:txBody>
      </p:sp>
      <p:sp>
        <p:nvSpPr>
          <p:cNvPr id="50" name="Rounded Rectangle 49"/>
          <p:cNvSpPr/>
          <p:nvPr/>
        </p:nvSpPr>
        <p:spPr>
          <a:xfrm>
            <a:off x="6126480" y="5074920"/>
            <a:ext cx="2697480" cy="12344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126480" y="5074920"/>
            <a:ext cx="2697480" cy="914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309360" y="5257800"/>
            <a:ext cx="2331720" cy="32004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LINE公式アカウント</a:t>
            </a:r>
          </a:p>
        </p:txBody>
      </p:sp>
      <p:sp>
        <p:nvSpPr>
          <p:cNvPr id="53" name="TextBox 52"/>
          <p:cNvSpPr txBox="1"/>
          <p:nvPr/>
        </p:nvSpPr>
        <p:spPr>
          <a:xfrm>
            <a:off x="6309360" y="5577840"/>
            <a:ext cx="2331720" cy="68580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友だち獲得・</a:t>
            </a:r>
          </a:p>
          <a:p>
            <a:pPr algn="l">
              <a:lnSpc>
                <a:spcPct val="140000"/>
              </a:lnSpc>
            </a:pPr>
            <a:r>
              <a:rPr sz="1000" b="0">
                <a:solidFill>
                  <a:srgbClr val="1A1A1A"/>
                </a:solidFill>
                <a:latin typeface="Hiragino Sans"/>
                <a:ea typeface="Hiragino Sans"/>
                <a:cs typeface="Hiragino Sans"/>
              </a:rPr>
              <a:t>メッセージ配信</a:t>
            </a:r>
          </a:p>
        </p:txBody>
      </p:sp>
      <p:sp>
        <p:nvSpPr>
          <p:cNvPr id="54" name="Rounded Rectangle 53"/>
          <p:cNvSpPr/>
          <p:nvPr/>
        </p:nvSpPr>
        <p:spPr>
          <a:xfrm>
            <a:off x="8915400" y="5074920"/>
            <a:ext cx="2697480" cy="12344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8915400" y="5074920"/>
            <a:ext cx="2697480" cy="914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098280" y="5257800"/>
            <a:ext cx="2331720" cy="32004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LINE特有面</a:t>
            </a:r>
          </a:p>
        </p:txBody>
      </p:sp>
      <p:sp>
        <p:nvSpPr>
          <p:cNvPr id="57" name="TextBox 56"/>
          <p:cNvSpPr txBox="1"/>
          <p:nvPr/>
        </p:nvSpPr>
        <p:spPr>
          <a:xfrm>
            <a:off x="9098280" y="5577840"/>
            <a:ext cx="2331720" cy="68580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トーク上部 / LINE NEWS /</a:t>
            </a:r>
          </a:p>
          <a:p>
            <a:pPr algn="l">
              <a:lnSpc>
                <a:spcPct val="140000"/>
              </a:lnSpc>
            </a:pPr>
            <a:r>
              <a:rPr sz="1000" b="0">
                <a:solidFill>
                  <a:srgbClr val="1A1A1A"/>
                </a:solidFill>
                <a:latin typeface="Hiragino Sans"/>
                <a:ea typeface="Hiragino Sans"/>
                <a:cs typeface="Hiragino Sans"/>
              </a:rPr>
              <a:t>VOOM / ウォレット</a:t>
            </a:r>
          </a:p>
        </p:txBody>
      </p:sp>
      <p:sp>
        <p:nvSpPr>
          <p:cNvPr id="58" name="TextBox 57"/>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 景表法ステマ規制 2023/10/01 施行</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事業者が広告であることを明示する義務</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P22 / 250</a:t>
            </a:r>
          </a:p>
        </p:txBody>
      </p:sp>
      <p:sp>
        <p:nvSpPr>
          <p:cNvPr id="8" name="Rounded Rectangle 7"/>
          <p:cNvSpPr/>
          <p:nvPr/>
        </p:nvSpPr>
        <p:spPr>
          <a:xfrm>
            <a:off x="548640" y="1371600"/>
            <a:ext cx="11109960" cy="109728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08760"/>
            <a:ext cx="274320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法的根拠</a:t>
            </a:r>
          </a:p>
        </p:txBody>
      </p:sp>
      <p:sp>
        <p:nvSpPr>
          <p:cNvPr id="10" name="TextBox 9"/>
          <p:cNvSpPr txBox="1"/>
          <p:nvPr/>
        </p:nvSpPr>
        <p:spPr>
          <a:xfrm>
            <a:off x="777240" y="1783080"/>
            <a:ext cx="10972800" cy="320040"/>
          </a:xfrm>
          <a:prstGeom prst="rect">
            <a:avLst/>
          </a:prstGeom>
          <a:noFill/>
        </p:spPr>
        <p:txBody>
          <a:bodyPr wrap="square" anchor="t" lIns="0" rIns="0" tIns="0" bIns="0">
            <a:spAutoFit/>
          </a:bodyPr>
          <a:lstStyle/>
          <a:p>
            <a:pPr algn="l">
              <a:lnSpc>
                <a:spcPct val="115000"/>
              </a:lnSpc>
            </a:pPr>
            <a:r>
              <a:rPr sz="1400" b="1">
                <a:solidFill>
                  <a:srgbClr val="FFFFFF"/>
                </a:solidFill>
                <a:latin typeface="Hiragino Sans"/>
                <a:ea typeface="Hiragino Sans"/>
                <a:cs typeface="Hiragino Sans"/>
              </a:rPr>
              <a:t>景品表示法 第5条第3号 告示 (消費者庁)</a:t>
            </a:r>
          </a:p>
        </p:txBody>
      </p:sp>
      <p:sp>
        <p:nvSpPr>
          <p:cNvPr id="11" name="TextBox 10"/>
          <p:cNvSpPr txBox="1"/>
          <p:nvPr/>
        </p:nvSpPr>
        <p:spPr>
          <a:xfrm>
            <a:off x="777240" y="2103120"/>
            <a:ext cx="10972800" cy="274320"/>
          </a:xfrm>
          <a:prstGeom prst="rect">
            <a:avLst/>
          </a:prstGeom>
          <a:noFill/>
        </p:spPr>
        <p:txBody>
          <a:bodyPr wrap="square" anchor="t" lIns="0" rIns="0" tIns="0" bIns="0">
            <a:spAutoFit/>
          </a:bodyPr>
          <a:lstStyle/>
          <a:p>
            <a:pPr algn="l">
              <a:lnSpc>
                <a:spcPct val="115000"/>
              </a:lnSpc>
            </a:pPr>
            <a:r>
              <a:rPr sz="1100" b="0">
                <a:solidFill>
                  <a:srgbClr val="D7DDE8"/>
                </a:solidFill>
                <a:latin typeface="Hiragino Sans"/>
                <a:ea typeface="Hiragino Sans"/>
                <a:cs typeface="Hiragino Sans"/>
              </a:rPr>
              <a:t>告示公布 2023/03/28 / 施行 2023/10/01 / 違反は措置命令・課徴金の対象</a:t>
            </a:r>
          </a:p>
        </p:txBody>
      </p:sp>
      <p:sp>
        <p:nvSpPr>
          <p:cNvPr id="12" name="TextBox 11"/>
          <p:cNvSpPr txBox="1"/>
          <p:nvPr/>
        </p:nvSpPr>
        <p:spPr>
          <a:xfrm>
            <a:off x="548640" y="2697480"/>
            <a:ext cx="5486400" cy="32004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規制される表示</a:t>
            </a:r>
          </a:p>
        </p:txBody>
      </p:sp>
      <p:sp>
        <p:nvSpPr>
          <p:cNvPr id="13" name="Rectangle 12"/>
          <p:cNvSpPr/>
          <p:nvPr/>
        </p:nvSpPr>
        <p:spPr>
          <a:xfrm>
            <a:off x="548640" y="3017520"/>
            <a:ext cx="548640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48640" y="3200400"/>
            <a:ext cx="5486400" cy="1371600"/>
          </a:xfrm>
          <a:prstGeom prst="roundRect">
            <a:avLst>
              <a:gd name="adj" fmla="val 6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3383280"/>
            <a:ext cx="5212080" cy="100584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事業者が自己の供給する商品または役務について行う表示であって、</a:t>
            </a:r>
          </a:p>
          <a:p>
            <a:pPr algn="l">
              <a:lnSpc>
                <a:spcPct val="150000"/>
              </a:lnSpc>
            </a:pPr>
            <a:r>
              <a:rPr sz="1100" b="0">
                <a:solidFill>
                  <a:srgbClr val="1A1A1A"/>
                </a:solidFill>
                <a:latin typeface="Hiragino Sans"/>
                <a:ea typeface="Hiragino Sans"/>
                <a:cs typeface="Hiragino Sans"/>
              </a:rPr>
              <a:t>一般消費者が広告と判別することが困難なもの</a:t>
            </a:r>
          </a:p>
        </p:txBody>
      </p:sp>
      <p:sp>
        <p:nvSpPr>
          <p:cNvPr id="16" name="TextBox 15"/>
          <p:cNvSpPr txBox="1"/>
          <p:nvPr/>
        </p:nvSpPr>
        <p:spPr>
          <a:xfrm>
            <a:off x="6400800" y="2697480"/>
            <a:ext cx="5486400" cy="32004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規制対象</a:t>
            </a:r>
          </a:p>
        </p:txBody>
      </p:sp>
      <p:sp>
        <p:nvSpPr>
          <p:cNvPr id="17" name="Rectangle 16"/>
          <p:cNvSpPr/>
          <p:nvPr/>
        </p:nvSpPr>
        <p:spPr>
          <a:xfrm>
            <a:off x="6400800" y="3017520"/>
            <a:ext cx="530352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400800" y="3200400"/>
            <a:ext cx="5303520" cy="640080"/>
          </a:xfrm>
          <a:prstGeom prst="roundRect">
            <a:avLst>
              <a:gd name="adj" fmla="val 6000"/>
            </a:avLst>
          </a:prstGeom>
          <a:solidFill>
            <a:srgbClr val="FFF3E6"/>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0" y="3383280"/>
            <a:ext cx="365760" cy="365760"/>
          </a:xfrm>
          <a:prstGeom prst="rect">
            <a:avLst/>
          </a:prstGeom>
          <a:noFill/>
        </p:spPr>
        <p:txBody>
          <a:bodyPr wrap="square" anchor="t" lIns="0" rIns="0" tIns="0" bIns="0">
            <a:spAutoFit/>
          </a:bodyPr>
          <a:lstStyle/>
          <a:p>
            <a:pPr algn="l">
              <a:lnSpc>
                <a:spcPct val="115000"/>
              </a:lnSpc>
            </a:pPr>
            <a:r>
              <a:rPr sz="1800" b="1">
                <a:solidFill>
                  <a:srgbClr val="E87722"/>
                </a:solidFill>
                <a:latin typeface="Hiragino Sans"/>
                <a:ea typeface="Hiragino Sans"/>
                <a:cs typeface="Hiragino Sans"/>
              </a:rPr>
              <a:t>✓</a:t>
            </a:r>
          </a:p>
        </p:txBody>
      </p:sp>
      <p:sp>
        <p:nvSpPr>
          <p:cNvPr id="20" name="TextBox 19"/>
          <p:cNvSpPr txBox="1"/>
          <p:nvPr/>
        </p:nvSpPr>
        <p:spPr>
          <a:xfrm>
            <a:off x="7040880" y="3310128"/>
            <a:ext cx="4114800" cy="27432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事業者 (広告主)</a:t>
            </a:r>
          </a:p>
        </p:txBody>
      </p:sp>
      <p:sp>
        <p:nvSpPr>
          <p:cNvPr id="21" name="TextBox 20"/>
          <p:cNvSpPr txBox="1"/>
          <p:nvPr/>
        </p:nvSpPr>
        <p:spPr>
          <a:xfrm>
            <a:off x="7040880" y="3584448"/>
            <a:ext cx="438912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規制の対象 = 違反時は措置命令・課徴金</a:t>
            </a:r>
          </a:p>
        </p:txBody>
      </p:sp>
      <p:sp>
        <p:nvSpPr>
          <p:cNvPr id="22" name="Rounded Rectangle 21"/>
          <p:cNvSpPr/>
          <p:nvPr/>
        </p:nvSpPr>
        <p:spPr>
          <a:xfrm>
            <a:off x="6400800" y="3931920"/>
            <a:ext cx="5303520" cy="64008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3680" y="4114800"/>
            <a:ext cx="365760" cy="365760"/>
          </a:xfrm>
          <a:prstGeom prst="rect">
            <a:avLst/>
          </a:prstGeom>
          <a:noFill/>
        </p:spPr>
        <p:txBody>
          <a:bodyPr wrap="square" anchor="t" lIns="0" rIns="0" tIns="0" bIns="0">
            <a:spAutoFit/>
          </a:bodyPr>
          <a:lstStyle/>
          <a:p>
            <a:pPr algn="l">
              <a:lnSpc>
                <a:spcPct val="115000"/>
              </a:lnSpc>
            </a:pPr>
            <a:r>
              <a:rPr sz="1800" b="1">
                <a:solidFill>
                  <a:srgbClr val="5A6A80"/>
                </a:solidFill>
                <a:latin typeface="Hiragino Sans"/>
                <a:ea typeface="Hiragino Sans"/>
                <a:cs typeface="Hiragino Sans"/>
              </a:rPr>
              <a:t>✗</a:t>
            </a:r>
          </a:p>
        </p:txBody>
      </p:sp>
      <p:sp>
        <p:nvSpPr>
          <p:cNvPr id="24" name="TextBox 23"/>
          <p:cNvSpPr txBox="1"/>
          <p:nvPr/>
        </p:nvSpPr>
        <p:spPr>
          <a:xfrm>
            <a:off x="7040880" y="4041648"/>
            <a:ext cx="4114800" cy="27432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インフルエンサー・発信者</a:t>
            </a:r>
          </a:p>
        </p:txBody>
      </p:sp>
      <p:sp>
        <p:nvSpPr>
          <p:cNvPr id="25" name="TextBox 24"/>
          <p:cNvSpPr txBox="1"/>
          <p:nvPr/>
        </p:nvSpPr>
        <p:spPr>
          <a:xfrm>
            <a:off x="7040880" y="4315968"/>
            <a:ext cx="438912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規制対象ではない (景表法上)</a:t>
            </a:r>
          </a:p>
        </p:txBody>
      </p:sp>
      <p:sp>
        <p:nvSpPr>
          <p:cNvPr id="26" name="Rounded Rectangle 25"/>
          <p:cNvSpPr/>
          <p:nvPr/>
        </p:nvSpPr>
        <p:spPr>
          <a:xfrm>
            <a:off x="548640" y="4754880"/>
            <a:ext cx="11109960" cy="160020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4892040"/>
            <a:ext cx="100584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 副業運用代行での実務</a:t>
            </a:r>
          </a:p>
        </p:txBody>
      </p:sp>
      <p:sp>
        <p:nvSpPr>
          <p:cNvPr id="28" name="TextBox 27"/>
          <p:cNvSpPr txBox="1"/>
          <p:nvPr/>
        </p:nvSpPr>
        <p:spPr>
          <a:xfrm>
            <a:off x="777240" y="5257800"/>
            <a:ext cx="10972800" cy="1005840"/>
          </a:xfrm>
          <a:prstGeom prst="rect">
            <a:avLst/>
          </a:prstGeom>
          <a:noFill/>
        </p:spPr>
        <p:txBody>
          <a:bodyPr wrap="square" anchor="t" lIns="0" rIns="0" tIns="0" bIns="0">
            <a:spAutoFit/>
          </a:bodyPr>
          <a:lstStyle/>
          <a:p>
            <a:pPr algn="l">
              <a:lnSpc>
                <a:spcPct val="155000"/>
              </a:lnSpc>
            </a:pPr>
            <a:r>
              <a:rPr sz="1100" b="0">
                <a:solidFill>
                  <a:srgbClr val="1A1A1A"/>
                </a:solidFill>
                <a:latin typeface="Hiragino Sans"/>
                <a:ea typeface="Hiragino Sans"/>
                <a:cs typeface="Hiragino Sans"/>
              </a:rPr>
              <a:t>インフルエンサー案件・アフィリエイト案件では PR表記の徹底をクライアントに助言。</a:t>
            </a:r>
          </a:p>
          <a:p>
            <a:pPr algn="l">
              <a:lnSpc>
                <a:spcPct val="155000"/>
              </a:lnSpc>
            </a:pPr>
            <a:r>
              <a:rPr sz="1100" b="0">
                <a:solidFill>
                  <a:srgbClr val="1A1A1A"/>
                </a:solidFill>
                <a:latin typeface="Hiragino Sans"/>
                <a:ea typeface="Hiragino Sans"/>
                <a:cs typeface="Hiragino Sans"/>
              </a:rPr>
              <a:t>推奨表記: #PR / #広告 / #スポンサード / #タイアップ / [広告] / [提供:〇〇] など</a:t>
            </a:r>
          </a:p>
          <a:p>
            <a:pPr algn="l">
              <a:lnSpc>
                <a:spcPct val="155000"/>
              </a:lnSpc>
            </a:pPr>
            <a:r>
              <a:rPr sz="1100" b="0">
                <a:solidFill>
                  <a:srgbClr val="1A1A1A"/>
                </a:solidFill>
                <a:latin typeface="Hiragino Sans"/>
                <a:ea typeface="Hiragino Sans"/>
                <a:cs typeface="Hiragino Sans"/>
              </a:rPr>
              <a:t>不適切表記: 表記なし、感想風装、小さすぎる文字、スクロールで見えなくなる位置</a:t>
            </a:r>
          </a:p>
        </p:txBody>
      </p:sp>
      <p:sp>
        <p:nvSpPr>
          <p:cNvPr id="29" name="TextBox 28"/>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EU DSA (Digital Services Act) 2024/02/17 全面適用</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広告の透明性・子ども保護・センシティブデータ禁止</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P23 / 250</a:t>
            </a:r>
          </a:p>
        </p:txBody>
      </p:sp>
      <p:sp>
        <p:nvSpPr>
          <p:cNvPr id="8" name="Rounded Rectangle 7"/>
          <p:cNvSpPr/>
          <p:nvPr/>
        </p:nvSpPr>
        <p:spPr>
          <a:xfrm>
            <a:off x="548640" y="1371600"/>
            <a:ext cx="11109960" cy="77724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54480"/>
            <a:ext cx="10972800" cy="502920"/>
          </a:xfrm>
          <a:prstGeom prst="rect">
            <a:avLst/>
          </a:prstGeom>
          <a:noFill/>
        </p:spPr>
        <p:txBody>
          <a:bodyPr wrap="square" anchor="t" lIns="0" rIns="0" tIns="0" bIns="0">
            <a:spAutoFit/>
          </a:bodyPr>
          <a:lstStyle/>
          <a:p>
            <a:pPr algn="l">
              <a:lnSpc>
                <a:spcPct val="140000"/>
              </a:lnSpc>
            </a:pPr>
            <a:r>
              <a:rPr sz="1200" b="1">
                <a:solidFill>
                  <a:srgbClr val="B85E1A"/>
                </a:solidFill>
                <a:latin typeface="Hiragino Sans"/>
                <a:ea typeface="Hiragino Sans"/>
                <a:cs typeface="Hiragino Sans"/>
              </a:rPr>
              <a:t>EU域内の広告・AdTech 全事業者に影響。VLOPs/VLOSEs (超大規模プラットフォーム) には特に厳しい義務</a:t>
            </a:r>
          </a:p>
        </p:txBody>
      </p:sp>
      <p:sp>
        <p:nvSpPr>
          <p:cNvPr id="10" name="Rounded Rectangle 9"/>
          <p:cNvSpPr/>
          <p:nvPr/>
        </p:nvSpPr>
        <p:spPr>
          <a:xfrm>
            <a:off x="548640" y="2331720"/>
            <a:ext cx="3611880" cy="34747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331720"/>
            <a:ext cx="3611880" cy="548640"/>
          </a:xfrm>
          <a:prstGeom prst="rect">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468880"/>
            <a:ext cx="3246120" cy="320040"/>
          </a:xfrm>
          <a:prstGeom prst="rect">
            <a:avLst/>
          </a:prstGeom>
          <a:noFill/>
        </p:spPr>
        <p:txBody>
          <a:bodyPr wrap="square" anchor="t" lIns="0" rIns="0" tIns="0" bIns="0">
            <a:spAutoFit/>
          </a:bodyPr>
          <a:lstStyle/>
          <a:p>
            <a:pPr algn="l">
              <a:lnSpc>
                <a:spcPct val="115000"/>
              </a:lnSpc>
            </a:pPr>
            <a:r>
              <a:rPr sz="1200" b="1">
                <a:solidFill>
                  <a:srgbClr val="FFFFFF"/>
                </a:solidFill>
                <a:latin typeface="Hiragino Sans"/>
                <a:ea typeface="Hiragino Sans"/>
                <a:cs typeface="Hiragino Sans"/>
              </a:rPr>
              <a:t>禁止されるターゲティング</a:t>
            </a:r>
          </a:p>
        </p:txBody>
      </p:sp>
      <p:sp>
        <p:nvSpPr>
          <p:cNvPr id="13" name="Rectangle 12"/>
          <p:cNvSpPr/>
          <p:nvPr/>
        </p:nvSpPr>
        <p:spPr>
          <a:xfrm>
            <a:off x="731520" y="3108960"/>
            <a:ext cx="324612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200400"/>
            <a:ext cx="324612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子ども (18歳未満)</a:t>
            </a:r>
          </a:p>
        </p:txBody>
      </p:sp>
      <p:sp>
        <p:nvSpPr>
          <p:cNvPr id="15" name="TextBox 14"/>
          <p:cNvSpPr txBox="1"/>
          <p:nvPr/>
        </p:nvSpPr>
        <p:spPr>
          <a:xfrm>
            <a:off x="731520" y="3474720"/>
            <a:ext cx="3246120" cy="457200"/>
          </a:xfrm>
          <a:prstGeom prst="rect">
            <a:avLst/>
          </a:prstGeom>
          <a:noFill/>
        </p:spPr>
        <p:txBody>
          <a:bodyPr wrap="square" anchor="t" lIns="0" rIns="0" tIns="0" bIns="0">
            <a:spAutoFit/>
          </a:bodyPr>
          <a:lstStyle/>
          <a:p>
            <a:pPr algn="l">
              <a:lnSpc>
                <a:spcPct val="135000"/>
              </a:lnSpc>
            </a:pPr>
            <a:r>
              <a:rPr sz="1000" b="0">
                <a:solidFill>
                  <a:srgbClr val="1A1A1A"/>
                </a:solidFill>
                <a:latin typeface="Hiragino Sans"/>
                <a:ea typeface="Hiragino Sans"/>
                <a:cs typeface="Hiragino Sans"/>
              </a:rPr>
              <a:t>TikTok/Meta/Snapchat 既に対応済</a:t>
            </a:r>
          </a:p>
        </p:txBody>
      </p:sp>
      <p:sp>
        <p:nvSpPr>
          <p:cNvPr id="16" name="Rectangle 15"/>
          <p:cNvSpPr/>
          <p:nvPr/>
        </p:nvSpPr>
        <p:spPr>
          <a:xfrm>
            <a:off x="731520" y="3977640"/>
            <a:ext cx="324612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069080"/>
            <a:ext cx="324612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センシティブデータ</a:t>
            </a:r>
          </a:p>
        </p:txBody>
      </p:sp>
      <p:sp>
        <p:nvSpPr>
          <p:cNvPr id="18" name="TextBox 17"/>
          <p:cNvSpPr txBox="1"/>
          <p:nvPr/>
        </p:nvSpPr>
        <p:spPr>
          <a:xfrm>
            <a:off x="731520" y="4343400"/>
            <a:ext cx="3246120" cy="457200"/>
          </a:xfrm>
          <a:prstGeom prst="rect">
            <a:avLst/>
          </a:prstGeom>
          <a:noFill/>
        </p:spPr>
        <p:txBody>
          <a:bodyPr wrap="square" anchor="t" lIns="0" rIns="0" tIns="0" bIns="0">
            <a:spAutoFit/>
          </a:bodyPr>
          <a:lstStyle/>
          <a:p>
            <a:pPr algn="l">
              <a:lnSpc>
                <a:spcPct val="135000"/>
              </a:lnSpc>
            </a:pPr>
            <a:r>
              <a:rPr sz="1000" b="0">
                <a:solidFill>
                  <a:srgbClr val="1A1A1A"/>
                </a:solidFill>
                <a:latin typeface="Hiragino Sans"/>
                <a:ea typeface="Hiragino Sans"/>
                <a:cs typeface="Hiragino Sans"/>
              </a:rPr>
              <a:t>人種・政治・宗教・性的指向・健康等</a:t>
            </a:r>
          </a:p>
        </p:txBody>
      </p:sp>
      <p:sp>
        <p:nvSpPr>
          <p:cNvPr id="19" name="Rectangle 18"/>
          <p:cNvSpPr/>
          <p:nvPr/>
        </p:nvSpPr>
        <p:spPr>
          <a:xfrm>
            <a:off x="731520" y="4846320"/>
            <a:ext cx="324612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4937760"/>
            <a:ext cx="324612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プロファイリング基盤</a:t>
            </a:r>
          </a:p>
        </p:txBody>
      </p:sp>
      <p:sp>
        <p:nvSpPr>
          <p:cNvPr id="21" name="TextBox 20"/>
          <p:cNvSpPr txBox="1"/>
          <p:nvPr/>
        </p:nvSpPr>
        <p:spPr>
          <a:xfrm>
            <a:off x="731520" y="5212080"/>
            <a:ext cx="3246120" cy="457200"/>
          </a:xfrm>
          <a:prstGeom prst="rect">
            <a:avLst/>
          </a:prstGeom>
          <a:noFill/>
        </p:spPr>
        <p:txBody>
          <a:bodyPr wrap="square" anchor="t" lIns="0" rIns="0" tIns="0" bIns="0">
            <a:spAutoFit/>
          </a:bodyPr>
          <a:lstStyle/>
          <a:p>
            <a:pPr algn="l">
              <a:lnSpc>
                <a:spcPct val="135000"/>
              </a:lnSpc>
            </a:pPr>
            <a:r>
              <a:rPr sz="1000" b="0">
                <a:solidFill>
                  <a:srgbClr val="1A1A1A"/>
                </a:solidFill>
                <a:latin typeface="Hiragino Sans"/>
                <a:ea typeface="Hiragino Sans"/>
                <a:cs typeface="Hiragino Sans"/>
              </a:rPr>
              <a:t>上記カテゴリを推定するML禁止</a:t>
            </a:r>
          </a:p>
        </p:txBody>
      </p:sp>
      <p:sp>
        <p:nvSpPr>
          <p:cNvPr id="22" name="Rounded Rectangle 21"/>
          <p:cNvSpPr/>
          <p:nvPr/>
        </p:nvSpPr>
        <p:spPr>
          <a:xfrm>
            <a:off x="4297680" y="2331720"/>
            <a:ext cx="3611880" cy="34747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297680" y="2331720"/>
            <a:ext cx="3611880" cy="5486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80560" y="2468880"/>
            <a:ext cx="3246120" cy="320040"/>
          </a:xfrm>
          <a:prstGeom prst="rect">
            <a:avLst/>
          </a:prstGeom>
          <a:noFill/>
        </p:spPr>
        <p:txBody>
          <a:bodyPr wrap="square" anchor="t" lIns="0" rIns="0" tIns="0" bIns="0">
            <a:spAutoFit/>
          </a:bodyPr>
          <a:lstStyle/>
          <a:p>
            <a:pPr algn="l">
              <a:lnSpc>
                <a:spcPct val="115000"/>
              </a:lnSpc>
            </a:pPr>
            <a:r>
              <a:rPr sz="1200" b="1">
                <a:solidFill>
                  <a:srgbClr val="FFFFFF"/>
                </a:solidFill>
                <a:latin typeface="Hiragino Sans"/>
                <a:ea typeface="Hiragino Sans"/>
                <a:cs typeface="Hiragino Sans"/>
              </a:rPr>
              <a:t>義務付けられる透明性</a:t>
            </a:r>
          </a:p>
        </p:txBody>
      </p:sp>
      <p:sp>
        <p:nvSpPr>
          <p:cNvPr id="25" name="Rectangle 24"/>
          <p:cNvSpPr/>
          <p:nvPr/>
        </p:nvSpPr>
        <p:spPr>
          <a:xfrm>
            <a:off x="4480560" y="3108960"/>
            <a:ext cx="324612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80560" y="3200400"/>
            <a:ext cx="324612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広告であることの明示</a:t>
            </a:r>
          </a:p>
        </p:txBody>
      </p:sp>
      <p:sp>
        <p:nvSpPr>
          <p:cNvPr id="27" name="TextBox 26"/>
          <p:cNvSpPr txBox="1"/>
          <p:nvPr/>
        </p:nvSpPr>
        <p:spPr>
          <a:xfrm>
            <a:off x="4480560" y="3474720"/>
            <a:ext cx="3246120" cy="457200"/>
          </a:xfrm>
          <a:prstGeom prst="rect">
            <a:avLst/>
          </a:prstGeom>
          <a:noFill/>
        </p:spPr>
        <p:txBody>
          <a:bodyPr wrap="square" anchor="t" lIns="0" rIns="0" tIns="0" bIns="0">
            <a:spAutoFit/>
          </a:bodyPr>
          <a:lstStyle/>
          <a:p>
            <a:pPr algn="l">
              <a:lnSpc>
                <a:spcPct val="135000"/>
              </a:lnSpc>
            </a:pPr>
            <a:r>
              <a:rPr sz="1000" b="0">
                <a:solidFill>
                  <a:srgbClr val="1A1A1A"/>
                </a:solidFill>
                <a:latin typeface="Hiragino Sans"/>
                <a:ea typeface="Hiragino Sans"/>
                <a:cs typeface="Hiragino Sans"/>
              </a:rPr>
              <a:t>"ad"ラベル必須</a:t>
            </a:r>
          </a:p>
        </p:txBody>
      </p:sp>
      <p:sp>
        <p:nvSpPr>
          <p:cNvPr id="28" name="Rectangle 27"/>
          <p:cNvSpPr/>
          <p:nvPr/>
        </p:nvSpPr>
        <p:spPr>
          <a:xfrm>
            <a:off x="4480560" y="3977640"/>
            <a:ext cx="324612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80560" y="4069080"/>
            <a:ext cx="324612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広告主・資金源の開示</a:t>
            </a:r>
          </a:p>
        </p:txBody>
      </p:sp>
      <p:sp>
        <p:nvSpPr>
          <p:cNvPr id="30" name="TextBox 29"/>
          <p:cNvSpPr txBox="1"/>
          <p:nvPr/>
        </p:nvSpPr>
        <p:spPr>
          <a:xfrm>
            <a:off x="4480560" y="4343400"/>
            <a:ext cx="3246120" cy="457200"/>
          </a:xfrm>
          <a:prstGeom prst="rect">
            <a:avLst/>
          </a:prstGeom>
          <a:noFill/>
        </p:spPr>
        <p:txBody>
          <a:bodyPr wrap="square" anchor="t" lIns="0" rIns="0" tIns="0" bIns="0">
            <a:spAutoFit/>
          </a:bodyPr>
          <a:lstStyle/>
          <a:p>
            <a:pPr algn="l">
              <a:lnSpc>
                <a:spcPct val="135000"/>
              </a:lnSpc>
            </a:pPr>
            <a:r>
              <a:rPr sz="1000" b="0">
                <a:solidFill>
                  <a:srgbClr val="1A1A1A"/>
                </a:solidFill>
                <a:latin typeface="Hiragino Sans"/>
                <a:ea typeface="Hiragino Sans"/>
                <a:cs typeface="Hiragino Sans"/>
              </a:rPr>
              <a:t>誰が払ったか・なぜ配信されたか</a:t>
            </a:r>
          </a:p>
        </p:txBody>
      </p:sp>
      <p:sp>
        <p:nvSpPr>
          <p:cNvPr id="31" name="Rectangle 30"/>
          <p:cNvSpPr/>
          <p:nvPr/>
        </p:nvSpPr>
        <p:spPr>
          <a:xfrm>
            <a:off x="4480560" y="4846320"/>
            <a:ext cx="324612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480560" y="4937760"/>
            <a:ext cx="324612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VLOPs 広告レポジトリ</a:t>
            </a:r>
          </a:p>
        </p:txBody>
      </p:sp>
      <p:sp>
        <p:nvSpPr>
          <p:cNvPr id="33" name="TextBox 32"/>
          <p:cNvSpPr txBox="1"/>
          <p:nvPr/>
        </p:nvSpPr>
        <p:spPr>
          <a:xfrm>
            <a:off x="4480560" y="5212080"/>
            <a:ext cx="3246120" cy="457200"/>
          </a:xfrm>
          <a:prstGeom prst="rect">
            <a:avLst/>
          </a:prstGeom>
          <a:noFill/>
        </p:spPr>
        <p:txBody>
          <a:bodyPr wrap="square" anchor="t" lIns="0" rIns="0" tIns="0" bIns="0">
            <a:spAutoFit/>
          </a:bodyPr>
          <a:lstStyle/>
          <a:p>
            <a:pPr algn="l">
              <a:lnSpc>
                <a:spcPct val="135000"/>
              </a:lnSpc>
            </a:pPr>
            <a:r>
              <a:rPr sz="1000" b="0">
                <a:solidFill>
                  <a:srgbClr val="1A1A1A"/>
                </a:solidFill>
                <a:latin typeface="Hiragino Sans"/>
                <a:ea typeface="Hiragino Sans"/>
                <a:cs typeface="Hiragino Sans"/>
              </a:rPr>
              <a:t>全広告を公開APIで閲覧可能に</a:t>
            </a:r>
          </a:p>
        </p:txBody>
      </p:sp>
      <p:sp>
        <p:nvSpPr>
          <p:cNvPr id="34" name="Rounded Rectangle 33"/>
          <p:cNvSpPr/>
          <p:nvPr/>
        </p:nvSpPr>
        <p:spPr>
          <a:xfrm>
            <a:off x="8046720" y="2331720"/>
            <a:ext cx="3611880" cy="34747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46720" y="2331720"/>
            <a:ext cx="3611880" cy="5486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29600" y="2468880"/>
            <a:ext cx="3246120" cy="320040"/>
          </a:xfrm>
          <a:prstGeom prst="rect">
            <a:avLst/>
          </a:prstGeom>
          <a:noFill/>
        </p:spPr>
        <p:txBody>
          <a:bodyPr wrap="square" anchor="t" lIns="0" rIns="0" tIns="0" bIns="0">
            <a:spAutoFit/>
          </a:bodyPr>
          <a:lstStyle/>
          <a:p>
            <a:pPr algn="l">
              <a:lnSpc>
                <a:spcPct val="115000"/>
              </a:lnSpc>
            </a:pPr>
            <a:r>
              <a:rPr sz="1200" b="1">
                <a:solidFill>
                  <a:srgbClr val="FFFFFF"/>
                </a:solidFill>
                <a:latin typeface="Hiragino Sans"/>
                <a:ea typeface="Hiragino Sans"/>
                <a:cs typeface="Hiragino Sans"/>
              </a:rPr>
              <a:t>主な罰則事例</a:t>
            </a:r>
          </a:p>
        </p:txBody>
      </p:sp>
      <p:sp>
        <p:nvSpPr>
          <p:cNvPr id="37" name="Rectangle 36"/>
          <p:cNvSpPr/>
          <p:nvPr/>
        </p:nvSpPr>
        <p:spPr>
          <a:xfrm>
            <a:off x="8229600" y="3108960"/>
            <a:ext cx="324612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29600" y="3200400"/>
            <a:ext cx="324612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X (Twitter)</a:t>
            </a:r>
          </a:p>
        </p:txBody>
      </p:sp>
      <p:sp>
        <p:nvSpPr>
          <p:cNvPr id="39" name="TextBox 38"/>
          <p:cNvSpPr txBox="1"/>
          <p:nvPr/>
        </p:nvSpPr>
        <p:spPr>
          <a:xfrm>
            <a:off x="8229600" y="3474720"/>
            <a:ext cx="3246120" cy="457200"/>
          </a:xfrm>
          <a:prstGeom prst="rect">
            <a:avLst/>
          </a:prstGeom>
          <a:noFill/>
        </p:spPr>
        <p:txBody>
          <a:bodyPr wrap="square" anchor="t" lIns="0" rIns="0" tIns="0" bIns="0">
            <a:spAutoFit/>
          </a:bodyPr>
          <a:lstStyle/>
          <a:p>
            <a:pPr algn="l">
              <a:lnSpc>
                <a:spcPct val="135000"/>
              </a:lnSpc>
            </a:pPr>
            <a:r>
              <a:rPr sz="1000" b="0">
                <a:solidFill>
                  <a:srgbClr val="1A1A1A"/>
                </a:solidFill>
                <a:latin typeface="Hiragino Sans"/>
                <a:ea typeface="Hiragino Sans"/>
                <a:cs typeface="Hiragino Sans"/>
              </a:rPr>
              <a:t>EUR 45百万 (広告レポジトリ違反)</a:t>
            </a:r>
          </a:p>
        </p:txBody>
      </p:sp>
      <p:sp>
        <p:nvSpPr>
          <p:cNvPr id="40" name="Rectangle 39"/>
          <p:cNvSpPr/>
          <p:nvPr/>
        </p:nvSpPr>
        <p:spPr>
          <a:xfrm>
            <a:off x="8229600" y="3977640"/>
            <a:ext cx="324612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229600" y="4069080"/>
            <a:ext cx="324612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Meta</a:t>
            </a:r>
          </a:p>
        </p:txBody>
      </p:sp>
      <p:sp>
        <p:nvSpPr>
          <p:cNvPr id="42" name="TextBox 41"/>
          <p:cNvSpPr txBox="1"/>
          <p:nvPr/>
        </p:nvSpPr>
        <p:spPr>
          <a:xfrm>
            <a:off x="8229600" y="4343400"/>
            <a:ext cx="3246120" cy="457200"/>
          </a:xfrm>
          <a:prstGeom prst="rect">
            <a:avLst/>
          </a:prstGeom>
          <a:noFill/>
        </p:spPr>
        <p:txBody>
          <a:bodyPr wrap="square" anchor="t" lIns="0" rIns="0" tIns="0" bIns="0">
            <a:spAutoFit/>
          </a:bodyPr>
          <a:lstStyle/>
          <a:p>
            <a:pPr algn="l">
              <a:lnSpc>
                <a:spcPct val="135000"/>
              </a:lnSpc>
            </a:pPr>
            <a:r>
              <a:rPr sz="1000" b="0">
                <a:solidFill>
                  <a:srgbClr val="1A1A1A"/>
                </a:solidFill>
                <a:latin typeface="Hiragino Sans"/>
                <a:ea typeface="Hiragino Sans"/>
                <a:cs typeface="Hiragino Sans"/>
              </a:rPr>
              <a:t>調査中 (広告関連複数)</a:t>
            </a:r>
          </a:p>
        </p:txBody>
      </p:sp>
      <p:sp>
        <p:nvSpPr>
          <p:cNvPr id="43" name="Rectangle 42"/>
          <p:cNvSpPr/>
          <p:nvPr/>
        </p:nvSpPr>
        <p:spPr>
          <a:xfrm>
            <a:off x="8229600" y="4846320"/>
            <a:ext cx="324612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229600" y="4937760"/>
            <a:ext cx="324612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最大罰金</a:t>
            </a:r>
          </a:p>
        </p:txBody>
      </p:sp>
      <p:sp>
        <p:nvSpPr>
          <p:cNvPr id="45" name="TextBox 44"/>
          <p:cNvSpPr txBox="1"/>
          <p:nvPr/>
        </p:nvSpPr>
        <p:spPr>
          <a:xfrm>
            <a:off x="8229600" y="5212080"/>
            <a:ext cx="3246120" cy="457200"/>
          </a:xfrm>
          <a:prstGeom prst="rect">
            <a:avLst/>
          </a:prstGeom>
          <a:noFill/>
        </p:spPr>
        <p:txBody>
          <a:bodyPr wrap="square" anchor="t" lIns="0" rIns="0" tIns="0" bIns="0">
            <a:spAutoFit/>
          </a:bodyPr>
          <a:lstStyle/>
          <a:p>
            <a:pPr algn="l">
              <a:lnSpc>
                <a:spcPct val="135000"/>
              </a:lnSpc>
            </a:pPr>
            <a:r>
              <a:rPr sz="1000" b="0">
                <a:solidFill>
                  <a:srgbClr val="1A1A1A"/>
                </a:solidFill>
                <a:latin typeface="Hiragino Sans"/>
                <a:ea typeface="Hiragino Sans"/>
                <a:cs typeface="Hiragino Sans"/>
              </a:rPr>
              <a:t>全世界年間売上の6%</a:t>
            </a:r>
          </a:p>
        </p:txBody>
      </p:sp>
      <p:sp>
        <p:nvSpPr>
          <p:cNvPr id="46" name="Rounded Rectangle 45"/>
          <p:cNvSpPr/>
          <p:nvPr/>
        </p:nvSpPr>
        <p:spPr>
          <a:xfrm>
            <a:off x="548640" y="5943600"/>
            <a:ext cx="11109960" cy="41148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77240" y="6016752"/>
            <a:ext cx="10972800" cy="320040"/>
          </a:xfrm>
          <a:prstGeom prst="rect">
            <a:avLst/>
          </a:prstGeom>
          <a:noFill/>
        </p:spPr>
        <p:txBody>
          <a:bodyPr wrap="square" anchor="t" lIns="0" rIns="0" tIns="0" bIns="0">
            <a:spAutoFit/>
          </a:bodyPr>
          <a:lstStyle/>
          <a:p>
            <a:pPr algn="l">
              <a:lnSpc>
                <a:spcPct val="115000"/>
              </a:lnSpc>
            </a:pPr>
            <a:r>
              <a:rPr sz="1100" b="1">
                <a:solidFill>
                  <a:srgbClr val="FFFFFF"/>
                </a:solidFill>
                <a:latin typeface="Hiragino Sans"/>
                <a:ea typeface="Hiragino Sans"/>
                <a:cs typeface="Hiragino Sans"/>
              </a:rPr>
              <a:t>💡 日本発でEU配信する場合も対象。グローバル配信のクライアントには事前説明必須</a:t>
            </a:r>
          </a:p>
        </p:txBody>
      </p:sp>
      <p:sp>
        <p:nvSpPr>
          <p:cNvPr id="48" name="TextBox 47"/>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米国のプライバシー規制 ─ 州法の乱立</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連邦法なきまま州別対応が現実解</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P24 / 250</a:t>
            </a:r>
          </a:p>
        </p:txBody>
      </p:sp>
      <p:sp>
        <p:nvSpPr>
          <p:cNvPr id="8" name="TextBox 7"/>
          <p:cNvSpPr txBox="1"/>
          <p:nvPr/>
        </p:nvSpPr>
        <p:spPr>
          <a:xfrm>
            <a:off x="548640" y="1417320"/>
            <a:ext cx="1097280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2026年時点で 20州以上が包括プライバシー法を施行</a:t>
            </a:r>
          </a:p>
        </p:txBody>
      </p:sp>
      <p:sp>
        <p:nvSpPr>
          <p:cNvPr id="9" name="Rectangle 8"/>
          <p:cNvSpPr/>
          <p:nvPr/>
        </p:nvSpPr>
        <p:spPr>
          <a:xfrm>
            <a:off x="548640" y="1920240"/>
            <a:ext cx="11109960" cy="50292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029968"/>
            <a:ext cx="1645920" cy="365760"/>
          </a:xfrm>
          <a:prstGeom prst="rect">
            <a:avLst/>
          </a:prstGeom>
          <a:noFill/>
        </p:spPr>
        <p:txBody>
          <a:bodyPr wrap="square" anchor="t" lIns="0" rIns="0" tIns="0" bIns="0">
            <a:spAutoFit/>
          </a:bodyPr>
          <a:lstStyle/>
          <a:p>
            <a:pPr algn="l">
              <a:lnSpc>
                <a:spcPct val="115000"/>
              </a:lnSpc>
            </a:pPr>
            <a:r>
              <a:rPr sz="1100" b="1">
                <a:solidFill>
                  <a:srgbClr val="FFFFFF"/>
                </a:solidFill>
                <a:latin typeface="Hiragino Sans"/>
                <a:ea typeface="Hiragino Sans"/>
                <a:cs typeface="Hiragino Sans"/>
              </a:rPr>
              <a:t>施行年</a:t>
            </a:r>
          </a:p>
        </p:txBody>
      </p:sp>
      <p:sp>
        <p:nvSpPr>
          <p:cNvPr id="11" name="TextBox 10"/>
          <p:cNvSpPr txBox="1"/>
          <p:nvPr/>
        </p:nvSpPr>
        <p:spPr>
          <a:xfrm>
            <a:off x="2514600" y="2029968"/>
            <a:ext cx="3931920" cy="365760"/>
          </a:xfrm>
          <a:prstGeom prst="rect">
            <a:avLst/>
          </a:prstGeom>
          <a:noFill/>
        </p:spPr>
        <p:txBody>
          <a:bodyPr wrap="square" anchor="t" lIns="0" rIns="0" tIns="0" bIns="0">
            <a:spAutoFit/>
          </a:bodyPr>
          <a:lstStyle/>
          <a:p>
            <a:pPr algn="l">
              <a:lnSpc>
                <a:spcPct val="115000"/>
              </a:lnSpc>
            </a:pPr>
            <a:r>
              <a:rPr sz="1100" b="1">
                <a:solidFill>
                  <a:srgbClr val="FFFFFF"/>
                </a:solidFill>
                <a:latin typeface="Hiragino Sans"/>
                <a:ea typeface="Hiragino Sans"/>
                <a:cs typeface="Hiragino Sans"/>
              </a:rPr>
              <a:t>主な州法</a:t>
            </a:r>
          </a:p>
        </p:txBody>
      </p:sp>
      <p:sp>
        <p:nvSpPr>
          <p:cNvPr id="12" name="TextBox 11"/>
          <p:cNvSpPr txBox="1"/>
          <p:nvPr/>
        </p:nvSpPr>
        <p:spPr>
          <a:xfrm>
            <a:off x="6629400" y="2029968"/>
            <a:ext cx="4983480" cy="365760"/>
          </a:xfrm>
          <a:prstGeom prst="rect">
            <a:avLst/>
          </a:prstGeom>
          <a:noFill/>
        </p:spPr>
        <p:txBody>
          <a:bodyPr wrap="square" anchor="t" lIns="0" rIns="0" tIns="0" bIns="0">
            <a:spAutoFit/>
          </a:bodyPr>
          <a:lstStyle/>
          <a:p>
            <a:pPr algn="l">
              <a:lnSpc>
                <a:spcPct val="115000"/>
              </a:lnSpc>
            </a:pPr>
            <a:r>
              <a:rPr sz="1100" b="1">
                <a:solidFill>
                  <a:srgbClr val="FFFFFF"/>
                </a:solidFill>
                <a:latin typeface="Hiragino Sans"/>
                <a:ea typeface="Hiragino Sans"/>
                <a:cs typeface="Hiragino Sans"/>
              </a:rPr>
              <a:t>特徴</a:t>
            </a:r>
          </a:p>
        </p:txBody>
      </p:sp>
      <p:sp>
        <p:nvSpPr>
          <p:cNvPr id="13" name="Rectangle 12"/>
          <p:cNvSpPr/>
          <p:nvPr/>
        </p:nvSpPr>
        <p:spPr>
          <a:xfrm>
            <a:off x="548640" y="2423160"/>
            <a:ext cx="11109960" cy="594360"/>
          </a:xfrm>
          <a:prstGeom prst="rect">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560320"/>
            <a:ext cx="1645920" cy="365760"/>
          </a:xfrm>
          <a:prstGeom prst="rect">
            <a:avLst/>
          </a:prstGeom>
          <a:noFill/>
        </p:spPr>
        <p:txBody>
          <a:bodyPr wrap="square" anchor="t" lIns="0" rIns="0" tIns="0" bIns="0">
            <a:spAutoFit/>
          </a:bodyPr>
          <a:lstStyle/>
          <a:p>
            <a:pPr algn="l">
              <a:lnSpc>
                <a:spcPct val="115000"/>
              </a:lnSpc>
            </a:pPr>
            <a:r>
              <a:rPr sz="1000" b="1">
                <a:solidFill>
                  <a:srgbClr val="E87722"/>
                </a:solidFill>
                <a:latin typeface="Helvetica Neue"/>
                <a:ea typeface="Helvetica Neue"/>
                <a:cs typeface="Helvetica Neue"/>
              </a:rPr>
              <a:t>2020 / 2023強化</a:t>
            </a:r>
          </a:p>
        </p:txBody>
      </p:sp>
      <p:sp>
        <p:nvSpPr>
          <p:cNvPr id="15" name="TextBox 14"/>
          <p:cNvSpPr txBox="1"/>
          <p:nvPr/>
        </p:nvSpPr>
        <p:spPr>
          <a:xfrm>
            <a:off x="2514600" y="2560320"/>
            <a:ext cx="3931920" cy="365760"/>
          </a:xfrm>
          <a:prstGeom prst="rect">
            <a:avLst/>
          </a:prstGeom>
          <a:noFill/>
        </p:spPr>
        <p:txBody>
          <a:bodyPr wrap="square" anchor="t" lIns="0" rIns="0" tIns="0" bIns="0">
            <a:spAutoFit/>
          </a:bodyPr>
          <a:lstStyle/>
          <a:p>
            <a:pPr algn="l">
              <a:lnSpc>
                <a:spcPct val="115000"/>
              </a:lnSpc>
            </a:pPr>
            <a:r>
              <a:rPr sz="1100" b="1">
                <a:solidFill>
                  <a:srgbClr val="0F2A4F"/>
                </a:solidFill>
                <a:latin typeface="Helvetica Neue"/>
                <a:ea typeface="Helvetica Neue"/>
                <a:cs typeface="Helvetica Neue"/>
              </a:rPr>
              <a:t>CCPA → CPRA (California)</a:t>
            </a:r>
          </a:p>
        </p:txBody>
      </p:sp>
      <p:sp>
        <p:nvSpPr>
          <p:cNvPr id="16" name="TextBox 15"/>
          <p:cNvSpPr txBox="1"/>
          <p:nvPr/>
        </p:nvSpPr>
        <p:spPr>
          <a:xfrm>
            <a:off x="6629400" y="2578608"/>
            <a:ext cx="4983480" cy="36576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消費者データアクセス権・削除権・オプトアウト権</a:t>
            </a:r>
          </a:p>
        </p:txBody>
      </p:sp>
      <p:sp>
        <p:nvSpPr>
          <p:cNvPr id="17" name="Rectangle 16"/>
          <p:cNvSpPr/>
          <p:nvPr/>
        </p:nvSpPr>
        <p:spPr>
          <a:xfrm>
            <a:off x="548640" y="3063240"/>
            <a:ext cx="11109960" cy="594360"/>
          </a:xfrm>
          <a:prstGeom prst="rect">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200400"/>
            <a:ext cx="1645920" cy="365760"/>
          </a:xfrm>
          <a:prstGeom prst="rect">
            <a:avLst/>
          </a:prstGeom>
          <a:noFill/>
        </p:spPr>
        <p:txBody>
          <a:bodyPr wrap="square" anchor="t" lIns="0" rIns="0" tIns="0" bIns="0">
            <a:spAutoFit/>
          </a:bodyPr>
          <a:lstStyle/>
          <a:p>
            <a:pPr algn="l">
              <a:lnSpc>
                <a:spcPct val="115000"/>
              </a:lnSpc>
            </a:pPr>
            <a:r>
              <a:rPr sz="1000" b="1">
                <a:solidFill>
                  <a:srgbClr val="E87722"/>
                </a:solidFill>
                <a:latin typeface="Helvetica Neue"/>
                <a:ea typeface="Helvetica Neue"/>
                <a:cs typeface="Helvetica Neue"/>
              </a:rPr>
              <a:t>2023</a:t>
            </a:r>
          </a:p>
        </p:txBody>
      </p:sp>
      <p:sp>
        <p:nvSpPr>
          <p:cNvPr id="19" name="TextBox 18"/>
          <p:cNvSpPr txBox="1"/>
          <p:nvPr/>
        </p:nvSpPr>
        <p:spPr>
          <a:xfrm>
            <a:off x="2514600" y="3200400"/>
            <a:ext cx="3931920" cy="365760"/>
          </a:xfrm>
          <a:prstGeom prst="rect">
            <a:avLst/>
          </a:prstGeom>
          <a:noFill/>
        </p:spPr>
        <p:txBody>
          <a:bodyPr wrap="square" anchor="t" lIns="0" rIns="0" tIns="0" bIns="0">
            <a:spAutoFit/>
          </a:bodyPr>
          <a:lstStyle/>
          <a:p>
            <a:pPr algn="l">
              <a:lnSpc>
                <a:spcPct val="115000"/>
              </a:lnSpc>
            </a:pPr>
            <a:r>
              <a:rPr sz="1100" b="1">
                <a:solidFill>
                  <a:srgbClr val="0F2A4F"/>
                </a:solidFill>
                <a:latin typeface="Helvetica Neue"/>
                <a:ea typeface="Helvetica Neue"/>
                <a:cs typeface="Helvetica Neue"/>
              </a:rPr>
              <a:t>VCDPA (Virginia) / CPA (Colorado)</a:t>
            </a:r>
          </a:p>
        </p:txBody>
      </p:sp>
      <p:sp>
        <p:nvSpPr>
          <p:cNvPr id="20" name="TextBox 19"/>
          <p:cNvSpPr txBox="1"/>
          <p:nvPr/>
        </p:nvSpPr>
        <p:spPr>
          <a:xfrm>
            <a:off x="6629400" y="3218688"/>
            <a:ext cx="4983480" cy="36576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CCPA準拠 + 影響評価義務</a:t>
            </a:r>
          </a:p>
        </p:txBody>
      </p:sp>
      <p:sp>
        <p:nvSpPr>
          <p:cNvPr id="21" name="Rectangle 20"/>
          <p:cNvSpPr/>
          <p:nvPr/>
        </p:nvSpPr>
        <p:spPr>
          <a:xfrm>
            <a:off x="548640" y="3703320"/>
            <a:ext cx="11109960" cy="594360"/>
          </a:xfrm>
          <a:prstGeom prst="rect">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840480"/>
            <a:ext cx="1645920" cy="365760"/>
          </a:xfrm>
          <a:prstGeom prst="rect">
            <a:avLst/>
          </a:prstGeom>
          <a:noFill/>
        </p:spPr>
        <p:txBody>
          <a:bodyPr wrap="square" anchor="t" lIns="0" rIns="0" tIns="0" bIns="0">
            <a:spAutoFit/>
          </a:bodyPr>
          <a:lstStyle/>
          <a:p>
            <a:pPr algn="l">
              <a:lnSpc>
                <a:spcPct val="115000"/>
              </a:lnSpc>
            </a:pPr>
            <a:r>
              <a:rPr sz="1000" b="1">
                <a:solidFill>
                  <a:srgbClr val="E87722"/>
                </a:solidFill>
                <a:latin typeface="Helvetica Neue"/>
                <a:ea typeface="Helvetica Neue"/>
                <a:cs typeface="Helvetica Neue"/>
              </a:rPr>
              <a:t>2023-2024</a:t>
            </a:r>
          </a:p>
        </p:txBody>
      </p:sp>
      <p:sp>
        <p:nvSpPr>
          <p:cNvPr id="23" name="TextBox 22"/>
          <p:cNvSpPr txBox="1"/>
          <p:nvPr/>
        </p:nvSpPr>
        <p:spPr>
          <a:xfrm>
            <a:off x="2514600" y="3840480"/>
            <a:ext cx="3931920" cy="365760"/>
          </a:xfrm>
          <a:prstGeom prst="rect">
            <a:avLst/>
          </a:prstGeom>
          <a:noFill/>
        </p:spPr>
        <p:txBody>
          <a:bodyPr wrap="square" anchor="t" lIns="0" rIns="0" tIns="0" bIns="0">
            <a:spAutoFit/>
          </a:bodyPr>
          <a:lstStyle/>
          <a:p>
            <a:pPr algn="l">
              <a:lnSpc>
                <a:spcPct val="115000"/>
              </a:lnSpc>
            </a:pPr>
            <a:r>
              <a:rPr sz="1100" b="1">
                <a:solidFill>
                  <a:srgbClr val="0F2A4F"/>
                </a:solidFill>
                <a:latin typeface="Helvetica Neue"/>
                <a:ea typeface="Helvetica Neue"/>
                <a:cs typeface="Helvetica Neue"/>
              </a:rPr>
              <a:t>UCPA (Utah) / CTDPA (Connecticut)</a:t>
            </a:r>
          </a:p>
        </p:txBody>
      </p:sp>
      <p:sp>
        <p:nvSpPr>
          <p:cNvPr id="24" name="TextBox 23"/>
          <p:cNvSpPr txBox="1"/>
          <p:nvPr/>
        </p:nvSpPr>
        <p:spPr>
          <a:xfrm>
            <a:off x="6629400" y="3858768"/>
            <a:ext cx="4983480" cy="36576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企業規模・収益閾値ベース</a:t>
            </a:r>
          </a:p>
        </p:txBody>
      </p:sp>
      <p:sp>
        <p:nvSpPr>
          <p:cNvPr id="25" name="Rectangle 24"/>
          <p:cNvSpPr/>
          <p:nvPr/>
        </p:nvSpPr>
        <p:spPr>
          <a:xfrm>
            <a:off x="548640" y="4343400"/>
            <a:ext cx="11109960" cy="594360"/>
          </a:xfrm>
          <a:prstGeom prst="rect">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480560"/>
            <a:ext cx="1645920" cy="365760"/>
          </a:xfrm>
          <a:prstGeom prst="rect">
            <a:avLst/>
          </a:prstGeom>
          <a:noFill/>
        </p:spPr>
        <p:txBody>
          <a:bodyPr wrap="square" anchor="t" lIns="0" rIns="0" tIns="0" bIns="0">
            <a:spAutoFit/>
          </a:bodyPr>
          <a:lstStyle/>
          <a:p>
            <a:pPr algn="l">
              <a:lnSpc>
                <a:spcPct val="115000"/>
              </a:lnSpc>
            </a:pPr>
            <a:r>
              <a:rPr sz="1000" b="1">
                <a:solidFill>
                  <a:srgbClr val="E87722"/>
                </a:solidFill>
                <a:latin typeface="Helvetica Neue"/>
                <a:ea typeface="Helvetica Neue"/>
                <a:cs typeface="Helvetica Neue"/>
              </a:rPr>
              <a:t>2024</a:t>
            </a:r>
          </a:p>
        </p:txBody>
      </p:sp>
      <p:sp>
        <p:nvSpPr>
          <p:cNvPr id="27" name="TextBox 26"/>
          <p:cNvSpPr txBox="1"/>
          <p:nvPr/>
        </p:nvSpPr>
        <p:spPr>
          <a:xfrm>
            <a:off x="2514600" y="4480560"/>
            <a:ext cx="3931920" cy="365760"/>
          </a:xfrm>
          <a:prstGeom prst="rect">
            <a:avLst/>
          </a:prstGeom>
          <a:noFill/>
        </p:spPr>
        <p:txBody>
          <a:bodyPr wrap="square" anchor="t" lIns="0" rIns="0" tIns="0" bIns="0">
            <a:spAutoFit/>
          </a:bodyPr>
          <a:lstStyle/>
          <a:p>
            <a:pPr algn="l">
              <a:lnSpc>
                <a:spcPct val="115000"/>
              </a:lnSpc>
            </a:pPr>
            <a:r>
              <a:rPr sz="1100" b="1">
                <a:solidFill>
                  <a:srgbClr val="0F2A4F"/>
                </a:solidFill>
                <a:latin typeface="Helvetica Neue"/>
                <a:ea typeface="Helvetica Neue"/>
                <a:cs typeface="Helvetica Neue"/>
              </a:rPr>
              <a:t>Texas DPSA / Florida FDBR</a:t>
            </a:r>
          </a:p>
        </p:txBody>
      </p:sp>
      <p:sp>
        <p:nvSpPr>
          <p:cNvPr id="28" name="TextBox 27"/>
          <p:cNvSpPr txBox="1"/>
          <p:nvPr/>
        </p:nvSpPr>
        <p:spPr>
          <a:xfrm>
            <a:off x="6629400" y="4498848"/>
            <a:ext cx="4983480" cy="36576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広範囲の事業者をカバー</a:t>
            </a:r>
          </a:p>
        </p:txBody>
      </p:sp>
      <p:sp>
        <p:nvSpPr>
          <p:cNvPr id="29" name="Rectangle 28"/>
          <p:cNvSpPr/>
          <p:nvPr/>
        </p:nvSpPr>
        <p:spPr>
          <a:xfrm>
            <a:off x="548640" y="4983480"/>
            <a:ext cx="11109960" cy="594360"/>
          </a:xfrm>
          <a:prstGeom prst="rect">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5120640"/>
            <a:ext cx="1645920" cy="365760"/>
          </a:xfrm>
          <a:prstGeom prst="rect">
            <a:avLst/>
          </a:prstGeom>
          <a:noFill/>
        </p:spPr>
        <p:txBody>
          <a:bodyPr wrap="square" anchor="t" lIns="0" rIns="0" tIns="0" bIns="0">
            <a:spAutoFit/>
          </a:bodyPr>
          <a:lstStyle/>
          <a:p>
            <a:pPr algn="l">
              <a:lnSpc>
                <a:spcPct val="115000"/>
              </a:lnSpc>
            </a:pPr>
            <a:r>
              <a:rPr sz="1000" b="1">
                <a:solidFill>
                  <a:srgbClr val="E87722"/>
                </a:solidFill>
                <a:latin typeface="Helvetica Neue"/>
                <a:ea typeface="Helvetica Neue"/>
                <a:cs typeface="Helvetica Neue"/>
              </a:rPr>
              <a:t>2024-2026</a:t>
            </a:r>
          </a:p>
        </p:txBody>
      </p:sp>
      <p:sp>
        <p:nvSpPr>
          <p:cNvPr id="31" name="TextBox 30"/>
          <p:cNvSpPr txBox="1"/>
          <p:nvPr/>
        </p:nvSpPr>
        <p:spPr>
          <a:xfrm>
            <a:off x="2514600" y="5120640"/>
            <a:ext cx="3931920" cy="365760"/>
          </a:xfrm>
          <a:prstGeom prst="rect">
            <a:avLst/>
          </a:prstGeom>
          <a:noFill/>
        </p:spPr>
        <p:txBody>
          <a:bodyPr wrap="square" anchor="t" lIns="0" rIns="0" tIns="0" bIns="0">
            <a:spAutoFit/>
          </a:bodyPr>
          <a:lstStyle/>
          <a:p>
            <a:pPr algn="l">
              <a:lnSpc>
                <a:spcPct val="115000"/>
              </a:lnSpc>
            </a:pPr>
            <a:r>
              <a:rPr sz="1100" b="1">
                <a:solidFill>
                  <a:srgbClr val="0F2A4F"/>
                </a:solidFill>
                <a:latin typeface="Helvetica Neue"/>
                <a:ea typeface="Helvetica Neue"/>
                <a:cs typeface="Helvetica Neue"/>
              </a:rPr>
              <a:t>その他 15州以上</a:t>
            </a:r>
          </a:p>
        </p:txBody>
      </p:sp>
      <p:sp>
        <p:nvSpPr>
          <p:cNvPr id="32" name="TextBox 31"/>
          <p:cNvSpPr txBox="1"/>
          <p:nvPr/>
        </p:nvSpPr>
        <p:spPr>
          <a:xfrm>
            <a:off x="6629400" y="5138928"/>
            <a:ext cx="4983480" cy="36576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Oregon/Montana/Tennessee/Delaware/Iowa/Indiana 等</a:t>
            </a:r>
          </a:p>
        </p:txBody>
      </p:sp>
      <p:sp>
        <p:nvSpPr>
          <p:cNvPr id="33" name="TextBox 32"/>
          <p:cNvSpPr txBox="1"/>
          <p:nvPr/>
        </p:nvSpPr>
        <p:spPr>
          <a:xfrm>
            <a:off x="548640" y="5806440"/>
            <a:ext cx="10972800" cy="32004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運用実務への影響</a:t>
            </a:r>
          </a:p>
        </p:txBody>
      </p:sp>
      <p:sp>
        <p:nvSpPr>
          <p:cNvPr id="34" name="Rounded Rectangle 33"/>
          <p:cNvSpPr/>
          <p:nvPr/>
        </p:nvSpPr>
        <p:spPr>
          <a:xfrm>
            <a:off x="548640" y="6126480"/>
            <a:ext cx="11109960" cy="22860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77240" y="6172200"/>
            <a:ext cx="10972800" cy="228600"/>
          </a:xfrm>
          <a:prstGeom prst="rect">
            <a:avLst/>
          </a:prstGeom>
          <a:noFill/>
        </p:spPr>
        <p:txBody>
          <a:bodyPr wrap="square" anchor="t" lIns="0" rIns="0" tIns="0" bIns="0">
            <a:spAutoFit/>
          </a:bodyPr>
          <a:lstStyle/>
          <a:p>
            <a:pPr algn="l">
              <a:lnSpc>
                <a:spcPct val="115000"/>
              </a:lnSpc>
            </a:pPr>
            <a:r>
              <a:rPr sz="1000" b="1">
                <a:solidFill>
                  <a:srgbClr val="B85E1A"/>
                </a:solidFill>
                <a:latin typeface="Hiragino Sans"/>
                <a:ea typeface="Hiragino Sans"/>
                <a:cs typeface="Hiragino Sans"/>
              </a:rPr>
              <a:t>CMP (Consent Management Platform) で州別対応 + グローバル統合運用が現実解</a:t>
            </a:r>
          </a:p>
        </p:txBody>
      </p:sp>
      <p:sp>
        <p:nvSpPr>
          <p:cNvPr id="36" name="TextBox 35"/>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生成AIの広告業界インパクト ─ 3波</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2023 → 2024 → 2025-: 段階的に仕事が書き換わる</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P25 / 250</a:t>
            </a:r>
          </a:p>
        </p:txBody>
      </p:sp>
      <p:sp>
        <p:nvSpPr>
          <p:cNvPr id="8" name="Rounded Rectangle 7"/>
          <p:cNvSpPr/>
          <p:nvPr/>
        </p:nvSpPr>
        <p:spPr>
          <a:xfrm>
            <a:off x="548640" y="1417320"/>
            <a:ext cx="3657600" cy="4572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365760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508760"/>
            <a:ext cx="3108960" cy="320040"/>
          </a:xfrm>
          <a:prstGeom prst="rect">
            <a:avLst/>
          </a:prstGeom>
          <a:noFill/>
        </p:spPr>
        <p:txBody>
          <a:bodyPr wrap="square" anchor="t" lIns="0" rIns="0" tIns="0" bIns="0">
            <a:spAutoFit/>
          </a:bodyPr>
          <a:lstStyle/>
          <a:p>
            <a:pPr algn="l">
              <a:lnSpc>
                <a:spcPct val="115000"/>
              </a:lnSpc>
            </a:pPr>
            <a:r>
              <a:rPr sz="1400" b="1">
                <a:solidFill>
                  <a:srgbClr val="E87722"/>
                </a:solidFill>
                <a:latin typeface="Helvetica Neue"/>
                <a:ea typeface="Helvetica Neue"/>
                <a:cs typeface="Helvetica Neue"/>
              </a:rPr>
              <a:t>第1波</a:t>
            </a:r>
          </a:p>
        </p:txBody>
      </p:sp>
      <p:sp>
        <p:nvSpPr>
          <p:cNvPr id="11" name="TextBox 10"/>
          <p:cNvSpPr txBox="1"/>
          <p:nvPr/>
        </p:nvSpPr>
        <p:spPr>
          <a:xfrm>
            <a:off x="822960" y="1783080"/>
            <a:ext cx="3108960" cy="320040"/>
          </a:xfrm>
          <a:prstGeom prst="rect">
            <a:avLst/>
          </a:prstGeom>
          <a:noFill/>
        </p:spPr>
        <p:txBody>
          <a:bodyPr wrap="square" anchor="t" lIns="0" rIns="0" tIns="0" bIns="0">
            <a:spAutoFit/>
          </a:bodyPr>
          <a:lstStyle/>
          <a:p>
            <a:pPr algn="l">
              <a:lnSpc>
                <a:spcPct val="115000"/>
              </a:lnSpc>
            </a:pPr>
            <a:r>
              <a:rPr sz="2000" b="1">
                <a:solidFill>
                  <a:srgbClr val="FFFFFF"/>
                </a:solidFill>
                <a:latin typeface="Helvetica Neue"/>
                <a:ea typeface="Helvetica Neue"/>
                <a:cs typeface="Helvetica Neue"/>
              </a:rPr>
              <a:t>2023</a:t>
            </a:r>
          </a:p>
        </p:txBody>
      </p:sp>
      <p:sp>
        <p:nvSpPr>
          <p:cNvPr id="12" name="TextBox 11"/>
          <p:cNvSpPr txBox="1"/>
          <p:nvPr/>
        </p:nvSpPr>
        <p:spPr>
          <a:xfrm>
            <a:off x="822960" y="2377440"/>
            <a:ext cx="3108960" cy="548640"/>
          </a:xfrm>
          <a:prstGeom prst="rect">
            <a:avLst/>
          </a:prstGeom>
          <a:noFill/>
        </p:spPr>
        <p:txBody>
          <a:bodyPr wrap="square" anchor="t" lIns="0" rIns="0" tIns="0" bIns="0">
            <a:spAutoFit/>
          </a:bodyPr>
          <a:lstStyle/>
          <a:p>
            <a:pPr algn="l">
              <a:lnSpc>
                <a:spcPct val="120000"/>
              </a:lnSpc>
            </a:pPr>
            <a:r>
              <a:rPr sz="2000" b="1">
                <a:solidFill>
                  <a:srgbClr val="0F2A4F"/>
                </a:solidFill>
                <a:latin typeface="Hiragino Sans"/>
                <a:ea typeface="Hiragino Sans"/>
                <a:cs typeface="Hiragino Sans"/>
              </a:rPr>
              <a:t>コピー生成</a:t>
            </a:r>
          </a:p>
        </p:txBody>
      </p:sp>
      <p:sp>
        <p:nvSpPr>
          <p:cNvPr id="13" name="Rectangle 12"/>
          <p:cNvSpPr/>
          <p:nvPr/>
        </p:nvSpPr>
        <p:spPr>
          <a:xfrm>
            <a:off x="822960" y="3017520"/>
            <a:ext cx="310896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154680"/>
            <a:ext cx="3108960" cy="274320"/>
          </a:xfrm>
          <a:prstGeom prst="rect">
            <a:avLst/>
          </a:prstGeom>
          <a:noFill/>
        </p:spPr>
        <p:txBody>
          <a:bodyPr wrap="square" anchor="t" lIns="0" rIns="0" tIns="0" bIns="0">
            <a:spAutoFit/>
          </a:bodyPr>
          <a:lstStyle/>
          <a:p>
            <a:pPr algn="l">
              <a:lnSpc>
                <a:spcPct val="115000"/>
              </a:lnSpc>
            </a:pPr>
            <a:r>
              <a:rPr sz="1000" b="1">
                <a:solidFill>
                  <a:srgbClr val="B85E1A"/>
                </a:solidFill>
                <a:latin typeface="Hiragino Sans"/>
                <a:ea typeface="Hiragino Sans"/>
                <a:cs typeface="Hiragino Sans"/>
              </a:rPr>
              <a:t>代表的ツール</a:t>
            </a:r>
          </a:p>
        </p:txBody>
      </p:sp>
      <p:sp>
        <p:nvSpPr>
          <p:cNvPr id="15" name="TextBox 14"/>
          <p:cNvSpPr txBox="1"/>
          <p:nvPr/>
        </p:nvSpPr>
        <p:spPr>
          <a:xfrm>
            <a:off x="822960" y="3429000"/>
            <a:ext cx="3108960" cy="1188720"/>
          </a:xfrm>
          <a:prstGeom prst="rect">
            <a:avLst/>
          </a:prstGeom>
          <a:noFill/>
        </p:spPr>
        <p:txBody>
          <a:bodyPr wrap="square" anchor="t" lIns="0" rIns="0" tIns="0" bIns="0">
            <a:spAutoFit/>
          </a:bodyPr>
          <a:lstStyle/>
          <a:p>
            <a:pPr algn="l">
              <a:lnSpc>
                <a:spcPct val="140000"/>
              </a:lnSpc>
            </a:pPr>
            <a:r>
              <a:rPr sz="1100" b="0">
                <a:solidFill>
                  <a:srgbClr val="1A1A1A"/>
                </a:solidFill>
                <a:latin typeface="Helvetica Neue"/>
                <a:ea typeface="Helvetica Neue"/>
                <a:cs typeface="Helvetica Neue"/>
              </a:rPr>
              <a:t>ChatGPT / Claude / Gemini</a:t>
            </a:r>
          </a:p>
        </p:txBody>
      </p:sp>
      <p:sp>
        <p:nvSpPr>
          <p:cNvPr id="16" name="TextBox 15"/>
          <p:cNvSpPr txBox="1"/>
          <p:nvPr/>
        </p:nvSpPr>
        <p:spPr>
          <a:xfrm>
            <a:off x="822960" y="4663440"/>
            <a:ext cx="3108960" cy="274320"/>
          </a:xfrm>
          <a:prstGeom prst="rect">
            <a:avLst/>
          </a:prstGeom>
          <a:noFill/>
        </p:spPr>
        <p:txBody>
          <a:bodyPr wrap="square" anchor="t" lIns="0" rIns="0" tIns="0" bIns="0">
            <a:spAutoFit/>
          </a:bodyPr>
          <a:lstStyle/>
          <a:p>
            <a:pPr algn="l">
              <a:lnSpc>
                <a:spcPct val="115000"/>
              </a:lnSpc>
            </a:pPr>
            <a:r>
              <a:rPr sz="1000" b="1">
                <a:solidFill>
                  <a:srgbClr val="B85E1A"/>
                </a:solidFill>
                <a:latin typeface="Hiragino Sans"/>
                <a:ea typeface="Hiragino Sans"/>
                <a:cs typeface="Hiragino Sans"/>
              </a:rPr>
              <a:t>広告業界インパクト</a:t>
            </a:r>
          </a:p>
        </p:txBody>
      </p:sp>
      <p:sp>
        <p:nvSpPr>
          <p:cNvPr id="17" name="TextBox 16"/>
          <p:cNvSpPr txBox="1"/>
          <p:nvPr/>
        </p:nvSpPr>
        <p:spPr>
          <a:xfrm>
            <a:off x="822960" y="4937760"/>
            <a:ext cx="3108960" cy="91440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運用者の広告文作成工数が激減。</a:t>
            </a:r>
          </a:p>
          <a:p>
            <a:pPr algn="l">
              <a:lnSpc>
                <a:spcPct val="150000"/>
              </a:lnSpc>
            </a:pPr>
            <a:r>
              <a:rPr sz="1100" b="0">
                <a:solidFill>
                  <a:srgbClr val="1A1A1A"/>
                </a:solidFill>
                <a:latin typeface="Hiragino Sans"/>
                <a:ea typeface="Hiragino Sans"/>
                <a:cs typeface="Hiragino Sans"/>
              </a:rPr>
              <a:t>テキスト系クリエイティブが民主化</a:t>
            </a:r>
          </a:p>
        </p:txBody>
      </p:sp>
      <p:sp>
        <p:nvSpPr>
          <p:cNvPr id="18" name="Rounded Rectangle 17"/>
          <p:cNvSpPr/>
          <p:nvPr/>
        </p:nvSpPr>
        <p:spPr>
          <a:xfrm>
            <a:off x="4297680" y="1417320"/>
            <a:ext cx="3657600" cy="4572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297680" y="1417320"/>
            <a:ext cx="365760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0" y="1508760"/>
            <a:ext cx="3108960" cy="320040"/>
          </a:xfrm>
          <a:prstGeom prst="rect">
            <a:avLst/>
          </a:prstGeom>
          <a:noFill/>
        </p:spPr>
        <p:txBody>
          <a:bodyPr wrap="square" anchor="t" lIns="0" rIns="0" tIns="0" bIns="0">
            <a:spAutoFit/>
          </a:bodyPr>
          <a:lstStyle/>
          <a:p>
            <a:pPr algn="l">
              <a:lnSpc>
                <a:spcPct val="115000"/>
              </a:lnSpc>
            </a:pPr>
            <a:r>
              <a:rPr sz="1400" b="1">
                <a:solidFill>
                  <a:srgbClr val="E87722"/>
                </a:solidFill>
                <a:latin typeface="Helvetica Neue"/>
                <a:ea typeface="Helvetica Neue"/>
                <a:cs typeface="Helvetica Neue"/>
              </a:rPr>
              <a:t>第2波</a:t>
            </a:r>
          </a:p>
        </p:txBody>
      </p:sp>
      <p:sp>
        <p:nvSpPr>
          <p:cNvPr id="21" name="TextBox 20"/>
          <p:cNvSpPr txBox="1"/>
          <p:nvPr/>
        </p:nvSpPr>
        <p:spPr>
          <a:xfrm>
            <a:off x="4572000" y="1783080"/>
            <a:ext cx="3108960" cy="320040"/>
          </a:xfrm>
          <a:prstGeom prst="rect">
            <a:avLst/>
          </a:prstGeom>
          <a:noFill/>
        </p:spPr>
        <p:txBody>
          <a:bodyPr wrap="square" anchor="t" lIns="0" rIns="0" tIns="0" bIns="0">
            <a:spAutoFit/>
          </a:bodyPr>
          <a:lstStyle/>
          <a:p>
            <a:pPr algn="l">
              <a:lnSpc>
                <a:spcPct val="115000"/>
              </a:lnSpc>
            </a:pPr>
            <a:r>
              <a:rPr sz="2000" b="1">
                <a:solidFill>
                  <a:srgbClr val="FFFFFF"/>
                </a:solidFill>
                <a:latin typeface="Helvetica Neue"/>
                <a:ea typeface="Helvetica Neue"/>
                <a:cs typeface="Helvetica Neue"/>
              </a:rPr>
              <a:t>2024</a:t>
            </a:r>
          </a:p>
        </p:txBody>
      </p:sp>
      <p:sp>
        <p:nvSpPr>
          <p:cNvPr id="22" name="TextBox 21"/>
          <p:cNvSpPr txBox="1"/>
          <p:nvPr/>
        </p:nvSpPr>
        <p:spPr>
          <a:xfrm>
            <a:off x="4572000" y="2377440"/>
            <a:ext cx="3108960" cy="548640"/>
          </a:xfrm>
          <a:prstGeom prst="rect">
            <a:avLst/>
          </a:prstGeom>
          <a:noFill/>
        </p:spPr>
        <p:txBody>
          <a:bodyPr wrap="square" anchor="t" lIns="0" rIns="0" tIns="0" bIns="0">
            <a:spAutoFit/>
          </a:bodyPr>
          <a:lstStyle/>
          <a:p>
            <a:pPr algn="l">
              <a:lnSpc>
                <a:spcPct val="120000"/>
              </a:lnSpc>
            </a:pPr>
            <a:r>
              <a:rPr sz="2000" b="1">
                <a:solidFill>
                  <a:srgbClr val="0F2A4F"/>
                </a:solidFill>
                <a:latin typeface="Hiragino Sans"/>
                <a:ea typeface="Hiragino Sans"/>
                <a:cs typeface="Hiragino Sans"/>
              </a:rPr>
              <a:t>画像・動画生成</a:t>
            </a:r>
          </a:p>
        </p:txBody>
      </p:sp>
      <p:sp>
        <p:nvSpPr>
          <p:cNvPr id="23" name="Rectangle 22"/>
          <p:cNvSpPr/>
          <p:nvPr/>
        </p:nvSpPr>
        <p:spPr>
          <a:xfrm>
            <a:off x="4572000" y="3017520"/>
            <a:ext cx="310896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0" y="3154680"/>
            <a:ext cx="3108960" cy="274320"/>
          </a:xfrm>
          <a:prstGeom prst="rect">
            <a:avLst/>
          </a:prstGeom>
          <a:noFill/>
        </p:spPr>
        <p:txBody>
          <a:bodyPr wrap="square" anchor="t" lIns="0" rIns="0" tIns="0" bIns="0">
            <a:spAutoFit/>
          </a:bodyPr>
          <a:lstStyle/>
          <a:p>
            <a:pPr algn="l">
              <a:lnSpc>
                <a:spcPct val="115000"/>
              </a:lnSpc>
            </a:pPr>
            <a:r>
              <a:rPr sz="1000" b="1">
                <a:solidFill>
                  <a:srgbClr val="B85E1A"/>
                </a:solidFill>
                <a:latin typeface="Hiragino Sans"/>
                <a:ea typeface="Hiragino Sans"/>
                <a:cs typeface="Hiragino Sans"/>
              </a:rPr>
              <a:t>代表的ツール</a:t>
            </a:r>
          </a:p>
        </p:txBody>
      </p:sp>
      <p:sp>
        <p:nvSpPr>
          <p:cNvPr id="25" name="TextBox 24"/>
          <p:cNvSpPr txBox="1"/>
          <p:nvPr/>
        </p:nvSpPr>
        <p:spPr>
          <a:xfrm>
            <a:off x="4572000" y="3429000"/>
            <a:ext cx="3108960" cy="1188720"/>
          </a:xfrm>
          <a:prstGeom prst="rect">
            <a:avLst/>
          </a:prstGeom>
          <a:noFill/>
        </p:spPr>
        <p:txBody>
          <a:bodyPr wrap="square" anchor="t" lIns="0" rIns="0" tIns="0" bIns="0">
            <a:spAutoFit/>
          </a:bodyPr>
          <a:lstStyle/>
          <a:p>
            <a:pPr algn="l">
              <a:lnSpc>
                <a:spcPct val="140000"/>
              </a:lnSpc>
            </a:pPr>
            <a:r>
              <a:rPr sz="1100" b="0">
                <a:solidFill>
                  <a:srgbClr val="1A1A1A"/>
                </a:solidFill>
                <a:latin typeface="Helvetica Neue"/>
                <a:ea typeface="Helvetica Neue"/>
                <a:cs typeface="Helvetica Neue"/>
              </a:rPr>
              <a:t>Midjourney / DALL·E / Firefly / Sora / Veo / Runway</a:t>
            </a:r>
          </a:p>
        </p:txBody>
      </p:sp>
      <p:sp>
        <p:nvSpPr>
          <p:cNvPr id="26" name="TextBox 25"/>
          <p:cNvSpPr txBox="1"/>
          <p:nvPr/>
        </p:nvSpPr>
        <p:spPr>
          <a:xfrm>
            <a:off x="4572000" y="4663440"/>
            <a:ext cx="3108960" cy="274320"/>
          </a:xfrm>
          <a:prstGeom prst="rect">
            <a:avLst/>
          </a:prstGeom>
          <a:noFill/>
        </p:spPr>
        <p:txBody>
          <a:bodyPr wrap="square" anchor="t" lIns="0" rIns="0" tIns="0" bIns="0">
            <a:spAutoFit/>
          </a:bodyPr>
          <a:lstStyle/>
          <a:p>
            <a:pPr algn="l">
              <a:lnSpc>
                <a:spcPct val="115000"/>
              </a:lnSpc>
            </a:pPr>
            <a:r>
              <a:rPr sz="1000" b="1">
                <a:solidFill>
                  <a:srgbClr val="B85E1A"/>
                </a:solidFill>
                <a:latin typeface="Hiragino Sans"/>
                <a:ea typeface="Hiragino Sans"/>
                <a:cs typeface="Hiragino Sans"/>
              </a:rPr>
              <a:t>広告業界インパクト</a:t>
            </a:r>
          </a:p>
        </p:txBody>
      </p:sp>
      <p:sp>
        <p:nvSpPr>
          <p:cNvPr id="27" name="TextBox 26"/>
          <p:cNvSpPr txBox="1"/>
          <p:nvPr/>
        </p:nvSpPr>
        <p:spPr>
          <a:xfrm>
            <a:off x="4572000" y="4937760"/>
            <a:ext cx="3108960" cy="91440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クリエイティブ制作そのものが変容。</a:t>
            </a:r>
          </a:p>
          <a:p>
            <a:pPr algn="l">
              <a:lnSpc>
                <a:spcPct val="150000"/>
              </a:lnSpc>
            </a:pPr>
            <a:r>
              <a:rPr sz="1100" b="0">
                <a:solidFill>
                  <a:srgbClr val="1A1A1A"/>
                </a:solidFill>
                <a:latin typeface="Hiragino Sans"/>
                <a:ea typeface="Hiragino Sans"/>
                <a:cs typeface="Hiragino Sans"/>
              </a:rPr>
              <a:t>デザイナー役割の再定義</a:t>
            </a:r>
          </a:p>
        </p:txBody>
      </p:sp>
      <p:sp>
        <p:nvSpPr>
          <p:cNvPr id="28" name="Rounded Rectangle 27"/>
          <p:cNvSpPr/>
          <p:nvPr/>
        </p:nvSpPr>
        <p:spPr>
          <a:xfrm>
            <a:off x="8046720" y="1417320"/>
            <a:ext cx="3657600" cy="4572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46720" y="1417320"/>
            <a:ext cx="365760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21040" y="1508760"/>
            <a:ext cx="3108960" cy="320040"/>
          </a:xfrm>
          <a:prstGeom prst="rect">
            <a:avLst/>
          </a:prstGeom>
          <a:noFill/>
        </p:spPr>
        <p:txBody>
          <a:bodyPr wrap="square" anchor="t" lIns="0" rIns="0" tIns="0" bIns="0">
            <a:spAutoFit/>
          </a:bodyPr>
          <a:lstStyle/>
          <a:p>
            <a:pPr algn="l">
              <a:lnSpc>
                <a:spcPct val="115000"/>
              </a:lnSpc>
            </a:pPr>
            <a:r>
              <a:rPr sz="1400" b="1">
                <a:solidFill>
                  <a:srgbClr val="E87722"/>
                </a:solidFill>
                <a:latin typeface="Helvetica Neue"/>
                <a:ea typeface="Helvetica Neue"/>
                <a:cs typeface="Helvetica Neue"/>
              </a:rPr>
              <a:t>第3波</a:t>
            </a:r>
          </a:p>
        </p:txBody>
      </p:sp>
      <p:sp>
        <p:nvSpPr>
          <p:cNvPr id="31" name="TextBox 30"/>
          <p:cNvSpPr txBox="1"/>
          <p:nvPr/>
        </p:nvSpPr>
        <p:spPr>
          <a:xfrm>
            <a:off x="8321040" y="1783080"/>
            <a:ext cx="3108960" cy="320040"/>
          </a:xfrm>
          <a:prstGeom prst="rect">
            <a:avLst/>
          </a:prstGeom>
          <a:noFill/>
        </p:spPr>
        <p:txBody>
          <a:bodyPr wrap="square" anchor="t" lIns="0" rIns="0" tIns="0" bIns="0">
            <a:spAutoFit/>
          </a:bodyPr>
          <a:lstStyle/>
          <a:p>
            <a:pPr algn="l">
              <a:lnSpc>
                <a:spcPct val="115000"/>
              </a:lnSpc>
            </a:pPr>
            <a:r>
              <a:rPr sz="2000" b="1">
                <a:solidFill>
                  <a:srgbClr val="FFFFFF"/>
                </a:solidFill>
                <a:latin typeface="Helvetica Neue"/>
                <a:ea typeface="Helvetica Neue"/>
                <a:cs typeface="Helvetica Neue"/>
              </a:rPr>
              <a:t>2025-</a:t>
            </a:r>
          </a:p>
        </p:txBody>
      </p:sp>
      <p:sp>
        <p:nvSpPr>
          <p:cNvPr id="32" name="TextBox 31"/>
          <p:cNvSpPr txBox="1"/>
          <p:nvPr/>
        </p:nvSpPr>
        <p:spPr>
          <a:xfrm>
            <a:off x="8321040" y="2377440"/>
            <a:ext cx="3108960" cy="548640"/>
          </a:xfrm>
          <a:prstGeom prst="rect">
            <a:avLst/>
          </a:prstGeom>
          <a:noFill/>
        </p:spPr>
        <p:txBody>
          <a:bodyPr wrap="square" anchor="t" lIns="0" rIns="0" tIns="0" bIns="0">
            <a:spAutoFit/>
          </a:bodyPr>
          <a:lstStyle/>
          <a:p>
            <a:pPr algn="l">
              <a:lnSpc>
                <a:spcPct val="120000"/>
              </a:lnSpc>
            </a:pPr>
            <a:r>
              <a:rPr sz="2000" b="1">
                <a:solidFill>
                  <a:srgbClr val="0F2A4F"/>
                </a:solidFill>
                <a:latin typeface="Hiragino Sans"/>
                <a:ea typeface="Hiragino Sans"/>
                <a:cs typeface="Hiragino Sans"/>
              </a:rPr>
              <a:t>運用AI / エージェント</a:t>
            </a:r>
          </a:p>
        </p:txBody>
      </p:sp>
      <p:sp>
        <p:nvSpPr>
          <p:cNvPr id="33" name="Rectangle 32"/>
          <p:cNvSpPr/>
          <p:nvPr/>
        </p:nvSpPr>
        <p:spPr>
          <a:xfrm>
            <a:off x="8321040" y="3017520"/>
            <a:ext cx="310896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21040" y="3154680"/>
            <a:ext cx="3108960" cy="274320"/>
          </a:xfrm>
          <a:prstGeom prst="rect">
            <a:avLst/>
          </a:prstGeom>
          <a:noFill/>
        </p:spPr>
        <p:txBody>
          <a:bodyPr wrap="square" anchor="t" lIns="0" rIns="0" tIns="0" bIns="0">
            <a:spAutoFit/>
          </a:bodyPr>
          <a:lstStyle/>
          <a:p>
            <a:pPr algn="l">
              <a:lnSpc>
                <a:spcPct val="115000"/>
              </a:lnSpc>
            </a:pPr>
            <a:r>
              <a:rPr sz="1000" b="1">
                <a:solidFill>
                  <a:srgbClr val="B85E1A"/>
                </a:solidFill>
                <a:latin typeface="Hiragino Sans"/>
                <a:ea typeface="Hiragino Sans"/>
                <a:cs typeface="Hiragino Sans"/>
              </a:rPr>
              <a:t>代表的ツール</a:t>
            </a:r>
          </a:p>
        </p:txBody>
      </p:sp>
      <p:sp>
        <p:nvSpPr>
          <p:cNvPr id="35" name="TextBox 34"/>
          <p:cNvSpPr txBox="1"/>
          <p:nvPr/>
        </p:nvSpPr>
        <p:spPr>
          <a:xfrm>
            <a:off x="8321040" y="3429000"/>
            <a:ext cx="3108960" cy="1188720"/>
          </a:xfrm>
          <a:prstGeom prst="rect">
            <a:avLst/>
          </a:prstGeom>
          <a:noFill/>
        </p:spPr>
        <p:txBody>
          <a:bodyPr wrap="square" anchor="t" lIns="0" rIns="0" tIns="0" bIns="0">
            <a:spAutoFit/>
          </a:bodyPr>
          <a:lstStyle/>
          <a:p>
            <a:pPr algn="l">
              <a:lnSpc>
                <a:spcPct val="140000"/>
              </a:lnSpc>
            </a:pPr>
            <a:r>
              <a:rPr sz="1100" b="0">
                <a:solidFill>
                  <a:srgbClr val="1A1A1A"/>
                </a:solidFill>
                <a:latin typeface="Helvetica Neue"/>
                <a:ea typeface="Helvetica Neue"/>
                <a:cs typeface="Helvetica Neue"/>
              </a:rPr>
              <a:t>PMax / Advantage+ / Smart+ / Claude Computer Use / Operator</a:t>
            </a:r>
          </a:p>
        </p:txBody>
      </p:sp>
      <p:sp>
        <p:nvSpPr>
          <p:cNvPr id="36" name="TextBox 35"/>
          <p:cNvSpPr txBox="1"/>
          <p:nvPr/>
        </p:nvSpPr>
        <p:spPr>
          <a:xfrm>
            <a:off x="8321040" y="4663440"/>
            <a:ext cx="3108960" cy="274320"/>
          </a:xfrm>
          <a:prstGeom prst="rect">
            <a:avLst/>
          </a:prstGeom>
          <a:noFill/>
        </p:spPr>
        <p:txBody>
          <a:bodyPr wrap="square" anchor="t" lIns="0" rIns="0" tIns="0" bIns="0">
            <a:spAutoFit/>
          </a:bodyPr>
          <a:lstStyle/>
          <a:p>
            <a:pPr algn="l">
              <a:lnSpc>
                <a:spcPct val="115000"/>
              </a:lnSpc>
            </a:pPr>
            <a:r>
              <a:rPr sz="1000" b="1">
                <a:solidFill>
                  <a:srgbClr val="B85E1A"/>
                </a:solidFill>
                <a:latin typeface="Hiragino Sans"/>
                <a:ea typeface="Hiragino Sans"/>
                <a:cs typeface="Hiragino Sans"/>
              </a:rPr>
              <a:t>広告業界インパクト</a:t>
            </a:r>
          </a:p>
        </p:txBody>
      </p:sp>
      <p:sp>
        <p:nvSpPr>
          <p:cNvPr id="37" name="TextBox 36"/>
          <p:cNvSpPr txBox="1"/>
          <p:nvPr/>
        </p:nvSpPr>
        <p:spPr>
          <a:xfrm>
            <a:off x="8321040" y="4937760"/>
            <a:ext cx="3108960" cy="91440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運用オペレーション自体が自動化。</a:t>
            </a:r>
          </a:p>
          <a:p>
            <a:pPr algn="l">
              <a:lnSpc>
                <a:spcPct val="150000"/>
              </a:lnSpc>
            </a:pPr>
            <a:r>
              <a:rPr sz="1100" b="0">
                <a:solidFill>
                  <a:srgbClr val="1A1A1A"/>
                </a:solidFill>
                <a:latin typeface="Hiragino Sans"/>
                <a:ea typeface="Hiragino Sans"/>
                <a:cs typeface="Hiragino Sans"/>
              </a:rPr>
              <a:t>運用職は『AIを導く』役へ</a:t>
            </a:r>
          </a:p>
        </p:txBody>
      </p:sp>
      <p:sp>
        <p:nvSpPr>
          <p:cNvPr id="38" name="Rounded Rectangle 37"/>
          <p:cNvSpPr/>
          <p:nvPr/>
        </p:nvSpPr>
        <p:spPr>
          <a:xfrm>
            <a:off x="548640" y="6080760"/>
            <a:ext cx="11109960" cy="32004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77240" y="6126480"/>
            <a:ext cx="10972800" cy="274320"/>
          </a:xfrm>
          <a:prstGeom prst="rect">
            <a:avLst/>
          </a:prstGeom>
          <a:noFill/>
        </p:spPr>
        <p:txBody>
          <a:bodyPr wrap="square" anchor="t" lIns="0" rIns="0" tIns="0" bIns="0">
            <a:spAutoFit/>
          </a:bodyPr>
          <a:lstStyle/>
          <a:p>
            <a:pPr algn="l">
              <a:lnSpc>
                <a:spcPct val="115000"/>
              </a:lnSpc>
            </a:pPr>
            <a:r>
              <a:rPr sz="1100" b="1">
                <a:solidFill>
                  <a:srgbClr val="B85E1A"/>
                </a:solidFill>
                <a:latin typeface="Hiragino Sans"/>
                <a:ea typeface="Hiragino Sans"/>
                <a:cs typeface="Hiragino Sans"/>
              </a:rPr>
              <a:t>共通パターン : 各波で『AIを導く』人間の介在が減少、差別化は意思決定と翻訳に移動</a:t>
            </a:r>
          </a:p>
        </p:txBody>
      </p:sp>
      <p:sp>
        <p:nvSpPr>
          <p:cNvPr id="40" name="TextBox 39"/>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AI検索の勃興 2024→2026</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『青いリンク』検索の終わりの始まり</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P26 / 250</a:t>
            </a:r>
          </a:p>
        </p:txBody>
      </p:sp>
      <p:sp>
        <p:nvSpPr>
          <p:cNvPr id="8" name="Rounded Rectangle 7"/>
          <p:cNvSpPr/>
          <p:nvPr/>
        </p:nvSpPr>
        <p:spPr>
          <a:xfrm>
            <a:off x="548640" y="1417320"/>
            <a:ext cx="2697480" cy="38404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26974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691640"/>
            <a:ext cx="2331720" cy="731520"/>
          </a:xfrm>
          <a:prstGeom prst="rect">
            <a:avLst/>
          </a:prstGeom>
          <a:noFill/>
        </p:spPr>
        <p:txBody>
          <a:bodyPr wrap="square" anchor="t" lIns="0" rIns="0" tIns="0" bIns="0">
            <a:spAutoFit/>
          </a:bodyPr>
          <a:lstStyle/>
          <a:p>
            <a:pPr algn="l">
              <a:lnSpc>
                <a:spcPct val="120000"/>
              </a:lnSpc>
            </a:pPr>
            <a:r>
              <a:rPr sz="1400" b="1">
                <a:solidFill>
                  <a:srgbClr val="0F2A4F"/>
                </a:solidFill>
                <a:latin typeface="Hiragino Sans"/>
                <a:ea typeface="Hiragino Sans"/>
                <a:cs typeface="Hiragino Sans"/>
              </a:rPr>
              <a:t>Google</a:t>
            </a:r>
          </a:p>
          <a:p>
            <a:pPr algn="l">
              <a:lnSpc>
                <a:spcPct val="120000"/>
              </a:lnSpc>
            </a:pPr>
            <a:r>
              <a:rPr sz="1400" b="1">
                <a:solidFill>
                  <a:srgbClr val="0F2A4F"/>
                </a:solidFill>
                <a:latin typeface="Hiragino Sans"/>
                <a:ea typeface="Hiragino Sans"/>
                <a:cs typeface="Hiragino Sans"/>
              </a:rPr>
              <a:t>AI Overview</a:t>
            </a:r>
          </a:p>
        </p:txBody>
      </p:sp>
      <p:sp>
        <p:nvSpPr>
          <p:cNvPr id="11" name="TextBox 10"/>
          <p:cNvSpPr txBox="1"/>
          <p:nvPr/>
        </p:nvSpPr>
        <p:spPr>
          <a:xfrm>
            <a:off x="731520" y="2560320"/>
            <a:ext cx="233172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elvetica Neue"/>
                <a:ea typeface="Helvetica Neue"/>
                <a:cs typeface="Helvetica Neue"/>
              </a:rPr>
              <a:t>2024/05/14</a:t>
            </a:r>
          </a:p>
        </p:txBody>
      </p:sp>
      <p:sp>
        <p:nvSpPr>
          <p:cNvPr id="12" name="Rectangle 11"/>
          <p:cNvSpPr/>
          <p:nvPr/>
        </p:nvSpPr>
        <p:spPr>
          <a:xfrm>
            <a:off x="731520" y="2880360"/>
            <a:ext cx="233172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017520"/>
            <a:ext cx="2331720" cy="2103120"/>
          </a:xfrm>
          <a:prstGeom prst="rect">
            <a:avLst/>
          </a:prstGeom>
          <a:noFill/>
        </p:spPr>
        <p:txBody>
          <a:bodyPr wrap="square" anchor="t" lIns="0" rIns="0" tIns="0" bIns="0">
            <a:spAutoFit/>
          </a:bodyPr>
          <a:lstStyle/>
          <a:p>
            <a:pPr algn="l">
              <a:lnSpc>
                <a:spcPct val="150000"/>
              </a:lnSpc>
            </a:pPr>
            <a:r>
              <a:rPr sz="1000" b="0">
                <a:solidFill>
                  <a:srgbClr val="1A1A1A"/>
                </a:solidFill>
                <a:latin typeface="Hiragino Sans"/>
                <a:ea typeface="Hiragino Sans"/>
                <a:cs typeface="Hiragino Sans"/>
              </a:rPr>
              <a:t>Google検索結果上部にAI要約を表示。</a:t>
            </a:r>
          </a:p>
          <a:p>
            <a:pPr algn="l">
              <a:lnSpc>
                <a:spcPct val="150000"/>
              </a:lnSpc>
            </a:pPr>
            <a:r>
              <a:rPr sz="1000" b="0">
                <a:solidFill>
                  <a:srgbClr val="1A1A1A"/>
                </a:solidFill>
                <a:latin typeface="Hiragino Sans"/>
                <a:ea typeface="Hiragino Sans"/>
                <a:cs typeface="Hiragino Sans"/>
              </a:rPr>
              <a:t>従来の青いリンクトラフィックを一部置換。</a:t>
            </a:r>
          </a:p>
          <a:p>
            <a:pPr algn="l">
              <a:lnSpc>
                <a:spcPct val="150000"/>
              </a:lnSpc>
            </a:pPr>
            <a:r>
              <a:rPr sz="1000" b="0">
                <a:solidFill>
                  <a:srgbClr val="1A1A1A"/>
                </a:solidFill>
                <a:latin typeface="Hiragino Sans"/>
                <a:ea typeface="Hiragino Sans"/>
                <a:cs typeface="Hiragino Sans"/>
              </a:rPr>
              <a:t>影響: SEOでの情報収集型クエリのトラフィック減</a:t>
            </a:r>
          </a:p>
        </p:txBody>
      </p:sp>
      <p:sp>
        <p:nvSpPr>
          <p:cNvPr id="14" name="Rounded Rectangle 13"/>
          <p:cNvSpPr/>
          <p:nvPr/>
        </p:nvSpPr>
        <p:spPr>
          <a:xfrm>
            <a:off x="3337560" y="1417320"/>
            <a:ext cx="2697480" cy="38404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37560" y="1417320"/>
            <a:ext cx="26974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20440" y="1691640"/>
            <a:ext cx="2331720" cy="731520"/>
          </a:xfrm>
          <a:prstGeom prst="rect">
            <a:avLst/>
          </a:prstGeom>
          <a:noFill/>
        </p:spPr>
        <p:txBody>
          <a:bodyPr wrap="square" anchor="t" lIns="0" rIns="0" tIns="0" bIns="0">
            <a:spAutoFit/>
          </a:bodyPr>
          <a:lstStyle/>
          <a:p>
            <a:pPr algn="l">
              <a:lnSpc>
                <a:spcPct val="120000"/>
              </a:lnSpc>
            </a:pPr>
            <a:r>
              <a:rPr sz="1400" b="1">
                <a:solidFill>
                  <a:srgbClr val="0F2A4F"/>
                </a:solidFill>
                <a:latin typeface="Hiragino Sans"/>
                <a:ea typeface="Hiragino Sans"/>
                <a:cs typeface="Hiragino Sans"/>
              </a:rPr>
              <a:t>ChatGPT</a:t>
            </a:r>
          </a:p>
          <a:p>
            <a:pPr algn="l">
              <a:lnSpc>
                <a:spcPct val="120000"/>
              </a:lnSpc>
            </a:pPr>
            <a:r>
              <a:rPr sz="1400" b="1">
                <a:solidFill>
                  <a:srgbClr val="0F2A4F"/>
                </a:solidFill>
                <a:latin typeface="Hiragino Sans"/>
                <a:ea typeface="Hiragino Sans"/>
                <a:cs typeface="Hiragino Sans"/>
              </a:rPr>
              <a:t>Search</a:t>
            </a:r>
          </a:p>
        </p:txBody>
      </p:sp>
      <p:sp>
        <p:nvSpPr>
          <p:cNvPr id="17" name="TextBox 16"/>
          <p:cNvSpPr txBox="1"/>
          <p:nvPr/>
        </p:nvSpPr>
        <p:spPr>
          <a:xfrm>
            <a:off x="3520440" y="2560320"/>
            <a:ext cx="233172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elvetica Neue"/>
                <a:ea typeface="Helvetica Neue"/>
                <a:cs typeface="Helvetica Neue"/>
              </a:rPr>
              <a:t>2024/10</a:t>
            </a:r>
          </a:p>
        </p:txBody>
      </p:sp>
      <p:sp>
        <p:nvSpPr>
          <p:cNvPr id="18" name="Rectangle 17"/>
          <p:cNvSpPr/>
          <p:nvPr/>
        </p:nvSpPr>
        <p:spPr>
          <a:xfrm>
            <a:off x="3520440" y="2880360"/>
            <a:ext cx="233172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20440" y="3017520"/>
            <a:ext cx="2331720" cy="2103120"/>
          </a:xfrm>
          <a:prstGeom prst="rect">
            <a:avLst/>
          </a:prstGeom>
          <a:noFill/>
        </p:spPr>
        <p:txBody>
          <a:bodyPr wrap="square" anchor="t" lIns="0" rIns="0" tIns="0" bIns="0">
            <a:spAutoFit/>
          </a:bodyPr>
          <a:lstStyle/>
          <a:p>
            <a:pPr algn="l">
              <a:lnSpc>
                <a:spcPct val="150000"/>
              </a:lnSpc>
            </a:pPr>
            <a:r>
              <a:rPr sz="1000" b="0">
                <a:solidFill>
                  <a:srgbClr val="1A1A1A"/>
                </a:solidFill>
                <a:latin typeface="Hiragino Sans"/>
                <a:ea typeface="Hiragino Sans"/>
                <a:cs typeface="Hiragino Sans"/>
              </a:rPr>
              <a:t>ChatGPT内の Web検索機能。</a:t>
            </a:r>
          </a:p>
          <a:p>
            <a:pPr algn="l">
              <a:lnSpc>
                <a:spcPct val="150000"/>
              </a:lnSpc>
            </a:pPr>
            <a:r>
              <a:rPr sz="1000" b="0">
                <a:solidFill>
                  <a:srgbClr val="1A1A1A"/>
                </a:solidFill>
                <a:latin typeface="Hiragino Sans"/>
                <a:ea typeface="Hiragino Sans"/>
                <a:cs typeface="Hiragino Sans"/>
              </a:rPr>
              <a:t>ユーザーはリンク列挙でなく回答で消費。</a:t>
            </a:r>
          </a:p>
          <a:p>
            <a:pPr algn="l">
              <a:lnSpc>
                <a:spcPct val="150000"/>
              </a:lnSpc>
            </a:pPr>
            <a:r>
              <a:rPr sz="1000" b="0">
                <a:solidFill>
                  <a:srgbClr val="1A1A1A"/>
                </a:solidFill>
                <a:latin typeface="Hiragino Sans"/>
                <a:ea typeface="Hiragino Sans"/>
                <a:cs typeface="Hiragino Sans"/>
              </a:rPr>
              <a:t>OpenAI Search Experience 内の広告枠も登場予定</a:t>
            </a:r>
          </a:p>
        </p:txBody>
      </p:sp>
      <p:sp>
        <p:nvSpPr>
          <p:cNvPr id="20" name="Rounded Rectangle 19"/>
          <p:cNvSpPr/>
          <p:nvPr/>
        </p:nvSpPr>
        <p:spPr>
          <a:xfrm>
            <a:off x="6126480" y="1417320"/>
            <a:ext cx="2697480" cy="38404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26480" y="1417320"/>
            <a:ext cx="26974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9360" y="1691640"/>
            <a:ext cx="2331720" cy="731520"/>
          </a:xfrm>
          <a:prstGeom prst="rect">
            <a:avLst/>
          </a:prstGeom>
          <a:noFill/>
        </p:spPr>
        <p:txBody>
          <a:bodyPr wrap="square" anchor="t" lIns="0" rIns="0" tIns="0" bIns="0">
            <a:spAutoFit/>
          </a:bodyPr>
          <a:lstStyle/>
          <a:p>
            <a:pPr algn="l">
              <a:lnSpc>
                <a:spcPct val="120000"/>
              </a:lnSpc>
            </a:pPr>
            <a:r>
              <a:rPr sz="1400" b="1">
                <a:solidFill>
                  <a:srgbClr val="0F2A4F"/>
                </a:solidFill>
                <a:latin typeface="Hiragino Sans"/>
                <a:ea typeface="Hiragino Sans"/>
                <a:cs typeface="Hiragino Sans"/>
              </a:rPr>
              <a:t>Perplexity</a:t>
            </a:r>
          </a:p>
        </p:txBody>
      </p:sp>
      <p:sp>
        <p:nvSpPr>
          <p:cNvPr id="23" name="TextBox 22"/>
          <p:cNvSpPr txBox="1"/>
          <p:nvPr/>
        </p:nvSpPr>
        <p:spPr>
          <a:xfrm>
            <a:off x="6309360" y="2560320"/>
            <a:ext cx="233172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elvetica Neue"/>
                <a:ea typeface="Helvetica Neue"/>
                <a:cs typeface="Helvetica Neue"/>
              </a:rPr>
              <a:t>2023-2024急成長</a:t>
            </a:r>
          </a:p>
        </p:txBody>
      </p:sp>
      <p:sp>
        <p:nvSpPr>
          <p:cNvPr id="24" name="Rectangle 23"/>
          <p:cNvSpPr/>
          <p:nvPr/>
        </p:nvSpPr>
        <p:spPr>
          <a:xfrm>
            <a:off x="6309360" y="2880360"/>
            <a:ext cx="233172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9360" y="3017520"/>
            <a:ext cx="2331720" cy="2103120"/>
          </a:xfrm>
          <a:prstGeom prst="rect">
            <a:avLst/>
          </a:prstGeom>
          <a:noFill/>
        </p:spPr>
        <p:txBody>
          <a:bodyPr wrap="square" anchor="t" lIns="0" rIns="0" tIns="0" bIns="0">
            <a:spAutoFit/>
          </a:bodyPr>
          <a:lstStyle/>
          <a:p>
            <a:pPr algn="l">
              <a:lnSpc>
                <a:spcPct val="150000"/>
              </a:lnSpc>
            </a:pPr>
            <a:r>
              <a:rPr sz="1000" b="0">
                <a:solidFill>
                  <a:srgbClr val="1A1A1A"/>
                </a:solidFill>
                <a:latin typeface="Hiragino Sans"/>
                <a:ea typeface="Hiragino Sans"/>
                <a:cs typeface="Hiragino Sans"/>
              </a:rPr>
              <a:t>直接回答型検索エンジン。</a:t>
            </a:r>
          </a:p>
          <a:p>
            <a:pPr algn="l">
              <a:lnSpc>
                <a:spcPct val="150000"/>
              </a:lnSpc>
            </a:pPr>
            <a:r>
              <a:rPr sz="1000" b="0">
                <a:solidFill>
                  <a:srgbClr val="1A1A1A"/>
                </a:solidFill>
                <a:latin typeface="Hiragino Sans"/>
                <a:ea typeface="Hiragino Sans"/>
                <a:cs typeface="Hiragino Sans"/>
              </a:rPr>
              <a:t>情報源明示付き。広告枠を2024年から導入。</a:t>
            </a:r>
          </a:p>
          <a:p>
            <a:pPr algn="l">
              <a:lnSpc>
                <a:spcPct val="150000"/>
              </a:lnSpc>
            </a:pPr>
            <a:r>
              <a:rPr sz="1000" b="0">
                <a:solidFill>
                  <a:srgbClr val="1A1A1A"/>
                </a:solidFill>
                <a:latin typeface="Hiragino Sans"/>
                <a:ea typeface="Hiragino Sans"/>
                <a:cs typeface="Hiragino Sans"/>
              </a:rPr>
              <a:t>企業契約型 Perplexity Enterprise Pro</a:t>
            </a:r>
          </a:p>
        </p:txBody>
      </p:sp>
      <p:sp>
        <p:nvSpPr>
          <p:cNvPr id="26" name="Rounded Rectangle 25"/>
          <p:cNvSpPr/>
          <p:nvPr/>
        </p:nvSpPr>
        <p:spPr>
          <a:xfrm>
            <a:off x="8915400" y="1417320"/>
            <a:ext cx="2697480" cy="38404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915400" y="1417320"/>
            <a:ext cx="26974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98280" y="1691640"/>
            <a:ext cx="2331720" cy="731520"/>
          </a:xfrm>
          <a:prstGeom prst="rect">
            <a:avLst/>
          </a:prstGeom>
          <a:noFill/>
        </p:spPr>
        <p:txBody>
          <a:bodyPr wrap="square" anchor="t" lIns="0" rIns="0" tIns="0" bIns="0">
            <a:spAutoFit/>
          </a:bodyPr>
          <a:lstStyle/>
          <a:p>
            <a:pPr algn="l">
              <a:lnSpc>
                <a:spcPct val="120000"/>
              </a:lnSpc>
            </a:pPr>
            <a:r>
              <a:rPr sz="1400" b="1">
                <a:solidFill>
                  <a:srgbClr val="0F2A4F"/>
                </a:solidFill>
                <a:latin typeface="Hiragino Sans"/>
                <a:ea typeface="Hiragino Sans"/>
                <a:cs typeface="Hiragino Sans"/>
              </a:rPr>
              <a:t>Claude + Web</a:t>
            </a:r>
          </a:p>
        </p:txBody>
      </p:sp>
      <p:sp>
        <p:nvSpPr>
          <p:cNvPr id="29" name="TextBox 28"/>
          <p:cNvSpPr txBox="1"/>
          <p:nvPr/>
        </p:nvSpPr>
        <p:spPr>
          <a:xfrm>
            <a:off x="9098280" y="2560320"/>
            <a:ext cx="233172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elvetica Neue"/>
                <a:ea typeface="Helvetica Neue"/>
                <a:cs typeface="Helvetica Neue"/>
              </a:rPr>
              <a:t>2025</a:t>
            </a:r>
          </a:p>
        </p:txBody>
      </p:sp>
      <p:sp>
        <p:nvSpPr>
          <p:cNvPr id="30" name="Rectangle 29"/>
          <p:cNvSpPr/>
          <p:nvPr/>
        </p:nvSpPr>
        <p:spPr>
          <a:xfrm>
            <a:off x="9098280" y="2880360"/>
            <a:ext cx="233172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280" y="3017520"/>
            <a:ext cx="2331720" cy="2103120"/>
          </a:xfrm>
          <a:prstGeom prst="rect">
            <a:avLst/>
          </a:prstGeom>
          <a:noFill/>
        </p:spPr>
        <p:txBody>
          <a:bodyPr wrap="square" anchor="t" lIns="0" rIns="0" tIns="0" bIns="0">
            <a:spAutoFit/>
          </a:bodyPr>
          <a:lstStyle/>
          <a:p>
            <a:pPr algn="l">
              <a:lnSpc>
                <a:spcPct val="150000"/>
              </a:lnSpc>
            </a:pPr>
            <a:r>
              <a:rPr sz="1000" b="0">
                <a:solidFill>
                  <a:srgbClr val="1A1A1A"/>
                </a:solidFill>
                <a:latin typeface="Hiragino Sans"/>
                <a:ea typeface="Hiragino Sans"/>
                <a:cs typeface="Hiragino Sans"/>
              </a:rPr>
              <a:t>Anthropic Claude の Web検索機能。</a:t>
            </a:r>
          </a:p>
          <a:p>
            <a:pPr algn="l">
              <a:lnSpc>
                <a:spcPct val="150000"/>
              </a:lnSpc>
            </a:pPr>
            <a:r>
              <a:rPr sz="1000" b="0">
                <a:solidFill>
                  <a:srgbClr val="1A1A1A"/>
                </a:solidFill>
                <a:latin typeface="Hiragino Sans"/>
                <a:ea typeface="Hiragino Sans"/>
                <a:cs typeface="Hiragino Sans"/>
              </a:rPr>
              <a:t>プロフェッショナル用途で支持</a:t>
            </a:r>
          </a:p>
        </p:txBody>
      </p:sp>
      <p:sp>
        <p:nvSpPr>
          <p:cNvPr id="32" name="Rounded Rectangle 31"/>
          <p:cNvSpPr/>
          <p:nvPr/>
        </p:nvSpPr>
        <p:spPr>
          <a:xfrm>
            <a:off x="548640" y="5394960"/>
            <a:ext cx="11109960" cy="96012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7240" y="5486400"/>
            <a:ext cx="365760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SEO への影響</a:t>
            </a:r>
          </a:p>
        </p:txBody>
      </p:sp>
      <p:sp>
        <p:nvSpPr>
          <p:cNvPr id="34" name="TextBox 33"/>
          <p:cNvSpPr txBox="1"/>
          <p:nvPr/>
        </p:nvSpPr>
        <p:spPr>
          <a:xfrm>
            <a:off x="777240" y="5760720"/>
            <a:ext cx="10972800" cy="548640"/>
          </a:xfrm>
          <a:prstGeom prst="rect">
            <a:avLst/>
          </a:prstGeom>
          <a:noFill/>
        </p:spPr>
        <p:txBody>
          <a:bodyPr wrap="square" anchor="t" lIns="0" rIns="0" tIns="0" bIns="0">
            <a:spAutoFit/>
          </a:bodyPr>
          <a:lstStyle/>
          <a:p>
            <a:pPr algn="l">
              <a:lnSpc>
                <a:spcPct val="145000"/>
              </a:lnSpc>
            </a:pPr>
            <a:r>
              <a:rPr sz="1100" b="0">
                <a:solidFill>
                  <a:srgbClr val="FFFFFF"/>
                </a:solidFill>
                <a:latin typeface="Hiragino Sans"/>
                <a:ea typeface="Hiragino Sans"/>
                <a:cs typeface="Hiragino Sans"/>
              </a:rPr>
              <a:t>情報収集型クエリで -10% 〜 -30% のクリック減が観測される事例多数。</a:t>
            </a:r>
          </a:p>
          <a:p>
            <a:pPr algn="l">
              <a:lnSpc>
                <a:spcPct val="145000"/>
              </a:lnSpc>
            </a:pPr>
            <a:r>
              <a:rPr sz="1100" b="0">
                <a:solidFill>
                  <a:srgbClr val="FFFFFF"/>
                </a:solidFill>
                <a:latin typeface="Hiragino Sans"/>
                <a:ea typeface="Hiragino Sans"/>
                <a:cs typeface="Hiragino Sans"/>
              </a:rPr>
              <a:t>ブランド検索・Transactional クエリは影響軽微 (※測定手法・業界で差) ※要確認</a:t>
            </a:r>
          </a:p>
        </p:txBody>
      </p:sp>
      <p:sp>
        <p:nvSpPr>
          <p:cNvPr id="35" name="TextBox 34"/>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GEO (Generative Engine Optimization)</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LLMに引用される情報源になる新しい最適化領域</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P27 / 250</a:t>
            </a:r>
          </a:p>
        </p:txBody>
      </p:sp>
      <p:sp>
        <p:nvSpPr>
          <p:cNvPr id="8" name="Rounded Rectangle 7"/>
          <p:cNvSpPr/>
          <p:nvPr/>
        </p:nvSpPr>
        <p:spPr>
          <a:xfrm>
            <a:off x="548640" y="1371600"/>
            <a:ext cx="11109960" cy="1188720"/>
          </a:xfrm>
          <a:prstGeom prst="roundRect">
            <a:avLst>
              <a:gd name="adj" fmla="val 6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08760"/>
            <a:ext cx="2743200" cy="27432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GEO とは</a:t>
            </a:r>
          </a:p>
        </p:txBody>
      </p:sp>
      <p:sp>
        <p:nvSpPr>
          <p:cNvPr id="10" name="TextBox 9"/>
          <p:cNvSpPr txBox="1"/>
          <p:nvPr/>
        </p:nvSpPr>
        <p:spPr>
          <a:xfrm>
            <a:off x="777240" y="1783080"/>
            <a:ext cx="10972800" cy="77724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Generative Engine Optimization。Google AI Overview / ChatGPT Search /</a:t>
            </a:r>
          </a:p>
          <a:p>
            <a:pPr algn="l">
              <a:lnSpc>
                <a:spcPct val="150000"/>
              </a:lnSpc>
            </a:pPr>
            <a:r>
              <a:rPr sz="1100" b="0">
                <a:solidFill>
                  <a:srgbClr val="1A1A1A"/>
                </a:solidFill>
                <a:latin typeface="Hiragino Sans"/>
                <a:ea typeface="Hiragino Sans"/>
                <a:cs typeface="Hiragino Sans"/>
              </a:rPr>
              <a:t>Perplexity 等の LLM検索が『回答で引用する情報源』になるための最適化技術。</a:t>
            </a:r>
          </a:p>
          <a:p>
            <a:pPr algn="l">
              <a:lnSpc>
                <a:spcPct val="150000"/>
              </a:lnSpc>
            </a:pPr>
            <a:r>
              <a:rPr sz="1100" b="0">
                <a:solidFill>
                  <a:srgbClr val="1A1A1A"/>
                </a:solidFill>
                <a:latin typeface="Hiragino Sans"/>
                <a:ea typeface="Hiragino Sans"/>
                <a:cs typeface="Hiragino Sans"/>
              </a:rPr>
              <a:t>SEOの後継/拡張として2024年後半から急速に用語定着</a:t>
            </a:r>
          </a:p>
        </p:txBody>
      </p:sp>
      <p:sp>
        <p:nvSpPr>
          <p:cNvPr id="11" name="TextBox 10"/>
          <p:cNvSpPr txBox="1"/>
          <p:nvPr/>
        </p:nvSpPr>
        <p:spPr>
          <a:xfrm>
            <a:off x="548640" y="2743200"/>
            <a:ext cx="5486400" cy="32004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主な手法</a:t>
            </a:r>
          </a:p>
        </p:txBody>
      </p:sp>
      <p:sp>
        <p:nvSpPr>
          <p:cNvPr id="12" name="Rectangle 11"/>
          <p:cNvSpPr/>
          <p:nvPr/>
        </p:nvSpPr>
        <p:spPr>
          <a:xfrm>
            <a:off x="548640" y="3063240"/>
            <a:ext cx="1110996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48640" y="3154680"/>
            <a:ext cx="3611880" cy="13716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291840"/>
            <a:ext cx="548640" cy="320040"/>
          </a:xfrm>
          <a:prstGeom prst="rect">
            <a:avLst/>
          </a:prstGeom>
          <a:noFill/>
        </p:spPr>
        <p:txBody>
          <a:bodyPr wrap="square" anchor="t" lIns="0" rIns="0" tIns="0" bIns="0">
            <a:spAutoFit/>
          </a:bodyPr>
          <a:lstStyle/>
          <a:p>
            <a:pPr algn="l">
              <a:lnSpc>
                <a:spcPct val="115000"/>
              </a:lnSpc>
            </a:pPr>
            <a:r>
              <a:rPr sz="2000" b="1">
                <a:solidFill>
                  <a:srgbClr val="E87722"/>
                </a:solidFill>
                <a:latin typeface="Helvetica Neue"/>
                <a:ea typeface="Helvetica Neue"/>
                <a:cs typeface="Helvetica Neue"/>
              </a:rPr>
              <a:t>01</a:t>
            </a:r>
          </a:p>
        </p:txBody>
      </p:sp>
      <p:sp>
        <p:nvSpPr>
          <p:cNvPr id="15" name="TextBox 14"/>
          <p:cNvSpPr txBox="1"/>
          <p:nvPr/>
        </p:nvSpPr>
        <p:spPr>
          <a:xfrm>
            <a:off x="1325880" y="3337560"/>
            <a:ext cx="2697480" cy="27432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構造化データ・FAQ形式</a:t>
            </a:r>
          </a:p>
        </p:txBody>
      </p:sp>
      <p:sp>
        <p:nvSpPr>
          <p:cNvPr id="16" name="TextBox 15"/>
          <p:cNvSpPr txBox="1"/>
          <p:nvPr/>
        </p:nvSpPr>
        <p:spPr>
          <a:xfrm>
            <a:off x="731520" y="3703320"/>
            <a:ext cx="3246120" cy="73152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Schema.org / HowTo / FAQPage。</a:t>
            </a:r>
          </a:p>
          <a:p>
            <a:pPr algn="l">
              <a:lnSpc>
                <a:spcPct val="140000"/>
              </a:lnSpc>
            </a:pPr>
            <a:r>
              <a:rPr sz="1000" b="0">
                <a:solidFill>
                  <a:srgbClr val="1A1A1A"/>
                </a:solidFill>
                <a:latin typeface="Hiragino Sans"/>
                <a:ea typeface="Hiragino Sans"/>
                <a:cs typeface="Hiragino Sans"/>
              </a:rPr>
              <a:t>LLMが抽出しやすい形式</a:t>
            </a:r>
          </a:p>
        </p:txBody>
      </p:sp>
      <p:sp>
        <p:nvSpPr>
          <p:cNvPr id="17" name="Rounded Rectangle 16"/>
          <p:cNvSpPr/>
          <p:nvPr/>
        </p:nvSpPr>
        <p:spPr>
          <a:xfrm>
            <a:off x="4297680" y="3154680"/>
            <a:ext cx="3611880" cy="13716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80560" y="3291840"/>
            <a:ext cx="548640" cy="320040"/>
          </a:xfrm>
          <a:prstGeom prst="rect">
            <a:avLst/>
          </a:prstGeom>
          <a:noFill/>
        </p:spPr>
        <p:txBody>
          <a:bodyPr wrap="square" anchor="t" lIns="0" rIns="0" tIns="0" bIns="0">
            <a:spAutoFit/>
          </a:bodyPr>
          <a:lstStyle/>
          <a:p>
            <a:pPr algn="l">
              <a:lnSpc>
                <a:spcPct val="115000"/>
              </a:lnSpc>
            </a:pPr>
            <a:r>
              <a:rPr sz="2000" b="1">
                <a:solidFill>
                  <a:srgbClr val="E87722"/>
                </a:solidFill>
                <a:latin typeface="Helvetica Neue"/>
                <a:ea typeface="Helvetica Neue"/>
                <a:cs typeface="Helvetica Neue"/>
              </a:rPr>
              <a:t>02</a:t>
            </a:r>
          </a:p>
        </p:txBody>
      </p:sp>
      <p:sp>
        <p:nvSpPr>
          <p:cNvPr id="19" name="TextBox 18"/>
          <p:cNvSpPr txBox="1"/>
          <p:nvPr/>
        </p:nvSpPr>
        <p:spPr>
          <a:xfrm>
            <a:off x="5074920" y="3337560"/>
            <a:ext cx="2697480" cy="27432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権威性・専門家監修</a:t>
            </a:r>
          </a:p>
        </p:txBody>
      </p:sp>
      <p:sp>
        <p:nvSpPr>
          <p:cNvPr id="20" name="TextBox 19"/>
          <p:cNvSpPr txBox="1"/>
          <p:nvPr/>
        </p:nvSpPr>
        <p:spPr>
          <a:xfrm>
            <a:off x="4480560" y="3703320"/>
            <a:ext cx="3246120" cy="73152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E-E-A-T準拠。</a:t>
            </a:r>
          </a:p>
          <a:p>
            <a:pPr algn="l">
              <a:lnSpc>
                <a:spcPct val="140000"/>
              </a:lnSpc>
            </a:pPr>
            <a:r>
              <a:rPr sz="1000" b="0">
                <a:solidFill>
                  <a:srgbClr val="1A1A1A"/>
                </a:solidFill>
                <a:latin typeface="Hiragino Sans"/>
                <a:ea typeface="Hiragino Sans"/>
                <a:cs typeface="Hiragino Sans"/>
              </a:rPr>
              <a:t>著者プロフ・資格・実績を明示</a:t>
            </a:r>
          </a:p>
        </p:txBody>
      </p:sp>
      <p:sp>
        <p:nvSpPr>
          <p:cNvPr id="21" name="Rounded Rectangle 20"/>
          <p:cNvSpPr/>
          <p:nvPr/>
        </p:nvSpPr>
        <p:spPr>
          <a:xfrm>
            <a:off x="8046720" y="3154680"/>
            <a:ext cx="3611880" cy="13716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0" y="3291840"/>
            <a:ext cx="548640" cy="320040"/>
          </a:xfrm>
          <a:prstGeom prst="rect">
            <a:avLst/>
          </a:prstGeom>
          <a:noFill/>
        </p:spPr>
        <p:txBody>
          <a:bodyPr wrap="square" anchor="t" lIns="0" rIns="0" tIns="0" bIns="0">
            <a:spAutoFit/>
          </a:bodyPr>
          <a:lstStyle/>
          <a:p>
            <a:pPr algn="l">
              <a:lnSpc>
                <a:spcPct val="115000"/>
              </a:lnSpc>
            </a:pPr>
            <a:r>
              <a:rPr sz="2000" b="1">
                <a:solidFill>
                  <a:srgbClr val="E87722"/>
                </a:solidFill>
                <a:latin typeface="Helvetica Neue"/>
                <a:ea typeface="Helvetica Neue"/>
                <a:cs typeface="Helvetica Neue"/>
              </a:rPr>
              <a:t>03</a:t>
            </a:r>
          </a:p>
        </p:txBody>
      </p:sp>
      <p:sp>
        <p:nvSpPr>
          <p:cNvPr id="23" name="TextBox 22"/>
          <p:cNvSpPr txBox="1"/>
          <p:nvPr/>
        </p:nvSpPr>
        <p:spPr>
          <a:xfrm>
            <a:off x="8823960" y="3337560"/>
            <a:ext cx="2697480" cy="27432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明確な因果・数字</a:t>
            </a:r>
          </a:p>
        </p:txBody>
      </p:sp>
      <p:sp>
        <p:nvSpPr>
          <p:cNvPr id="24" name="TextBox 23"/>
          <p:cNvSpPr txBox="1"/>
          <p:nvPr/>
        </p:nvSpPr>
        <p:spPr>
          <a:xfrm>
            <a:off x="8229600" y="3703320"/>
            <a:ext cx="3246120" cy="73152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曖昧さを排し、数値・比較を提示。</a:t>
            </a:r>
          </a:p>
          <a:p>
            <a:pPr algn="l">
              <a:lnSpc>
                <a:spcPct val="140000"/>
              </a:lnSpc>
            </a:pPr>
            <a:r>
              <a:rPr sz="1000" b="0">
                <a:solidFill>
                  <a:srgbClr val="1A1A1A"/>
                </a:solidFill>
                <a:latin typeface="Hiragino Sans"/>
                <a:ea typeface="Hiragino Sans"/>
                <a:cs typeface="Hiragino Sans"/>
              </a:rPr>
              <a:t>LLM が引用しやすい文</a:t>
            </a:r>
          </a:p>
        </p:txBody>
      </p:sp>
      <p:sp>
        <p:nvSpPr>
          <p:cNvPr id="25" name="Rounded Rectangle 24"/>
          <p:cNvSpPr/>
          <p:nvPr/>
        </p:nvSpPr>
        <p:spPr>
          <a:xfrm>
            <a:off x="548640" y="4663440"/>
            <a:ext cx="3611880" cy="13716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800600"/>
            <a:ext cx="548640" cy="320040"/>
          </a:xfrm>
          <a:prstGeom prst="rect">
            <a:avLst/>
          </a:prstGeom>
          <a:noFill/>
        </p:spPr>
        <p:txBody>
          <a:bodyPr wrap="square" anchor="t" lIns="0" rIns="0" tIns="0" bIns="0">
            <a:spAutoFit/>
          </a:bodyPr>
          <a:lstStyle/>
          <a:p>
            <a:pPr algn="l">
              <a:lnSpc>
                <a:spcPct val="115000"/>
              </a:lnSpc>
            </a:pPr>
            <a:r>
              <a:rPr sz="2000" b="1">
                <a:solidFill>
                  <a:srgbClr val="E87722"/>
                </a:solidFill>
                <a:latin typeface="Helvetica Neue"/>
                <a:ea typeface="Helvetica Neue"/>
                <a:cs typeface="Helvetica Neue"/>
              </a:rPr>
              <a:t>04</a:t>
            </a:r>
          </a:p>
        </p:txBody>
      </p:sp>
      <p:sp>
        <p:nvSpPr>
          <p:cNvPr id="27" name="TextBox 26"/>
          <p:cNvSpPr txBox="1"/>
          <p:nvPr/>
        </p:nvSpPr>
        <p:spPr>
          <a:xfrm>
            <a:off x="1325880" y="4846320"/>
            <a:ext cx="2697480" cy="27432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llms.txt</a:t>
            </a:r>
          </a:p>
        </p:txBody>
      </p:sp>
      <p:sp>
        <p:nvSpPr>
          <p:cNvPr id="28" name="TextBox 27"/>
          <p:cNvSpPr txBox="1"/>
          <p:nvPr/>
        </p:nvSpPr>
        <p:spPr>
          <a:xfrm>
            <a:off x="731520" y="5212080"/>
            <a:ext cx="3246120" cy="73152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2024末-2025導入。</a:t>
            </a:r>
          </a:p>
          <a:p>
            <a:pPr algn="l">
              <a:lnSpc>
                <a:spcPct val="140000"/>
              </a:lnSpc>
            </a:pPr>
            <a:r>
              <a:rPr sz="1000" b="0">
                <a:solidFill>
                  <a:srgbClr val="1A1A1A"/>
                </a:solidFill>
                <a:latin typeface="Hiragino Sans"/>
                <a:ea typeface="Hiragino Sans"/>
                <a:cs typeface="Hiragino Sans"/>
              </a:rPr>
              <a:t>robots.txt の LLM版</a:t>
            </a:r>
          </a:p>
        </p:txBody>
      </p:sp>
      <p:sp>
        <p:nvSpPr>
          <p:cNvPr id="29" name="Rounded Rectangle 28"/>
          <p:cNvSpPr/>
          <p:nvPr/>
        </p:nvSpPr>
        <p:spPr>
          <a:xfrm>
            <a:off x="4297680" y="4663440"/>
            <a:ext cx="3611880" cy="13716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480560" y="4800600"/>
            <a:ext cx="548640" cy="320040"/>
          </a:xfrm>
          <a:prstGeom prst="rect">
            <a:avLst/>
          </a:prstGeom>
          <a:noFill/>
        </p:spPr>
        <p:txBody>
          <a:bodyPr wrap="square" anchor="t" lIns="0" rIns="0" tIns="0" bIns="0">
            <a:spAutoFit/>
          </a:bodyPr>
          <a:lstStyle/>
          <a:p>
            <a:pPr algn="l">
              <a:lnSpc>
                <a:spcPct val="115000"/>
              </a:lnSpc>
            </a:pPr>
            <a:r>
              <a:rPr sz="2000" b="1">
                <a:solidFill>
                  <a:srgbClr val="E87722"/>
                </a:solidFill>
                <a:latin typeface="Helvetica Neue"/>
                <a:ea typeface="Helvetica Neue"/>
                <a:cs typeface="Helvetica Neue"/>
              </a:rPr>
              <a:t>05</a:t>
            </a:r>
          </a:p>
        </p:txBody>
      </p:sp>
      <p:sp>
        <p:nvSpPr>
          <p:cNvPr id="31" name="TextBox 30"/>
          <p:cNvSpPr txBox="1"/>
          <p:nvPr/>
        </p:nvSpPr>
        <p:spPr>
          <a:xfrm>
            <a:off x="5074920" y="4846320"/>
            <a:ext cx="2697480" cy="27432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Reddit / Quora シグナル</a:t>
            </a:r>
          </a:p>
        </p:txBody>
      </p:sp>
      <p:sp>
        <p:nvSpPr>
          <p:cNvPr id="32" name="TextBox 31"/>
          <p:cNvSpPr txBox="1"/>
          <p:nvPr/>
        </p:nvSpPr>
        <p:spPr>
          <a:xfrm>
            <a:off x="4480560" y="5212080"/>
            <a:ext cx="3246120" cy="73152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LLM 学習データ上での露出。</a:t>
            </a:r>
          </a:p>
          <a:p>
            <a:pPr algn="l">
              <a:lnSpc>
                <a:spcPct val="140000"/>
              </a:lnSpc>
            </a:pPr>
            <a:r>
              <a:rPr sz="1000" b="0">
                <a:solidFill>
                  <a:srgbClr val="1A1A1A"/>
                </a:solidFill>
                <a:latin typeface="Hiragino Sans"/>
                <a:ea typeface="Hiragino Sans"/>
                <a:cs typeface="Hiragino Sans"/>
              </a:rPr>
              <a:t>コミュニティ発信の重要度↑</a:t>
            </a:r>
          </a:p>
        </p:txBody>
      </p:sp>
      <p:sp>
        <p:nvSpPr>
          <p:cNvPr id="33" name="Rounded Rectangle 32"/>
          <p:cNvSpPr/>
          <p:nvPr/>
        </p:nvSpPr>
        <p:spPr>
          <a:xfrm>
            <a:off x="8046720" y="4663440"/>
            <a:ext cx="3611880" cy="13716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29600" y="4800600"/>
            <a:ext cx="548640" cy="320040"/>
          </a:xfrm>
          <a:prstGeom prst="rect">
            <a:avLst/>
          </a:prstGeom>
          <a:noFill/>
        </p:spPr>
        <p:txBody>
          <a:bodyPr wrap="square" anchor="t" lIns="0" rIns="0" tIns="0" bIns="0">
            <a:spAutoFit/>
          </a:bodyPr>
          <a:lstStyle/>
          <a:p>
            <a:pPr algn="l">
              <a:lnSpc>
                <a:spcPct val="115000"/>
              </a:lnSpc>
            </a:pPr>
            <a:r>
              <a:rPr sz="2000" b="1">
                <a:solidFill>
                  <a:srgbClr val="E87722"/>
                </a:solidFill>
                <a:latin typeface="Helvetica Neue"/>
                <a:ea typeface="Helvetica Neue"/>
                <a:cs typeface="Helvetica Neue"/>
              </a:rPr>
              <a:t>06</a:t>
            </a:r>
          </a:p>
        </p:txBody>
      </p:sp>
      <p:sp>
        <p:nvSpPr>
          <p:cNvPr id="35" name="TextBox 34"/>
          <p:cNvSpPr txBox="1"/>
          <p:nvPr/>
        </p:nvSpPr>
        <p:spPr>
          <a:xfrm>
            <a:off x="8823960" y="4846320"/>
            <a:ext cx="2697480" cy="27432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ブランドワード化</a:t>
            </a:r>
          </a:p>
        </p:txBody>
      </p:sp>
      <p:sp>
        <p:nvSpPr>
          <p:cNvPr id="36" name="TextBox 35"/>
          <p:cNvSpPr txBox="1"/>
          <p:nvPr/>
        </p:nvSpPr>
        <p:spPr>
          <a:xfrm>
            <a:off x="8229600" y="5212080"/>
            <a:ext cx="3246120" cy="73152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『〇〇といえば〇〇』の</a:t>
            </a:r>
          </a:p>
          <a:p>
            <a:pPr algn="l">
              <a:lnSpc>
                <a:spcPct val="140000"/>
              </a:lnSpc>
            </a:pPr>
            <a:r>
              <a:rPr sz="1000" b="0">
                <a:solidFill>
                  <a:srgbClr val="1A1A1A"/>
                </a:solidFill>
                <a:latin typeface="Hiragino Sans"/>
                <a:ea typeface="Hiragino Sans"/>
                <a:cs typeface="Hiragino Sans"/>
              </a:rPr>
              <a:t>言及文脈を増やす</a:t>
            </a:r>
          </a:p>
        </p:txBody>
      </p:sp>
      <p:sp>
        <p:nvSpPr>
          <p:cNvPr id="37" name="TextBox 36"/>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代理店業界の再編 2024-2026</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内製化・省人化・成果報酬シフト</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P28 / 250</a:t>
            </a:r>
          </a:p>
        </p:txBody>
      </p:sp>
      <p:sp>
        <p:nvSpPr>
          <p:cNvPr id="8" name="Rounded Rectangle 7"/>
          <p:cNvSpPr/>
          <p:nvPr/>
        </p:nvSpPr>
        <p:spPr>
          <a:xfrm>
            <a:off x="548640" y="1417320"/>
            <a:ext cx="11109960" cy="11887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109728" cy="11887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691640"/>
            <a:ext cx="914400" cy="822960"/>
          </a:xfrm>
          <a:prstGeom prst="rect">
            <a:avLst/>
          </a:prstGeom>
          <a:noFill/>
        </p:spPr>
        <p:txBody>
          <a:bodyPr wrap="square" anchor="t" lIns="0" rIns="0" tIns="0" bIns="0">
            <a:spAutoFit/>
          </a:bodyPr>
          <a:lstStyle/>
          <a:p>
            <a:pPr algn="l">
              <a:lnSpc>
                <a:spcPct val="115000"/>
              </a:lnSpc>
            </a:pPr>
            <a:r>
              <a:rPr sz="4400" b="0">
                <a:solidFill>
                  <a:srgbClr val="E87722"/>
                </a:solidFill>
                <a:latin typeface="Hiragino Sans"/>
                <a:ea typeface="Hiragino Sans"/>
                <a:cs typeface="Hiragino Sans"/>
              </a:rPr>
              <a:t>⚙</a:t>
            </a:r>
          </a:p>
        </p:txBody>
      </p:sp>
      <p:sp>
        <p:nvSpPr>
          <p:cNvPr id="11" name="TextBox 10"/>
          <p:cNvSpPr txBox="1"/>
          <p:nvPr/>
        </p:nvSpPr>
        <p:spPr>
          <a:xfrm>
            <a:off x="1828800" y="1645920"/>
            <a:ext cx="9144000" cy="457200"/>
          </a:xfrm>
          <a:prstGeom prst="rect">
            <a:avLst/>
          </a:prstGeom>
          <a:noFill/>
        </p:spPr>
        <p:txBody>
          <a:bodyPr wrap="square" anchor="t" lIns="0" rIns="0" tIns="0" bIns="0">
            <a:spAutoFit/>
          </a:bodyPr>
          <a:lstStyle/>
          <a:p>
            <a:pPr algn="l">
              <a:lnSpc>
                <a:spcPct val="115000"/>
              </a:lnSpc>
            </a:pPr>
            <a:r>
              <a:rPr sz="1600" b="1">
                <a:solidFill>
                  <a:srgbClr val="0F2A4F"/>
                </a:solidFill>
                <a:latin typeface="Hiragino Sans"/>
                <a:ea typeface="Hiragino Sans"/>
                <a:cs typeface="Hiragino Sans"/>
              </a:rPr>
              <a:t>内製AI化で省人化加速</a:t>
            </a:r>
          </a:p>
        </p:txBody>
      </p:sp>
      <p:sp>
        <p:nvSpPr>
          <p:cNvPr id="12" name="TextBox 11"/>
          <p:cNvSpPr txBox="1"/>
          <p:nvPr/>
        </p:nvSpPr>
        <p:spPr>
          <a:xfrm>
            <a:off x="1828800" y="2057400"/>
            <a:ext cx="9601200" cy="54864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電通 / 博報堂 / CARTA / アナグラム等、大手は社内AI基盤整備。</a:t>
            </a:r>
          </a:p>
          <a:p>
            <a:pPr algn="l">
              <a:lnSpc>
                <a:spcPct val="150000"/>
              </a:lnSpc>
            </a:pPr>
            <a:r>
              <a:rPr sz="1100" b="0">
                <a:solidFill>
                  <a:srgbClr val="1A1A1A"/>
                </a:solidFill>
                <a:latin typeface="Hiragino Sans"/>
                <a:ea typeface="Hiragino Sans"/>
                <a:cs typeface="Hiragino Sans"/>
              </a:rPr>
              <a:t>運用者1人あたり担当案件数が増加、『人月』ビジネスの単価下落圧力</a:t>
            </a:r>
          </a:p>
        </p:txBody>
      </p:sp>
      <p:sp>
        <p:nvSpPr>
          <p:cNvPr id="13" name="Rounded Rectangle 12"/>
          <p:cNvSpPr/>
          <p:nvPr/>
        </p:nvSpPr>
        <p:spPr>
          <a:xfrm>
            <a:off x="548640" y="2743200"/>
            <a:ext cx="11109960" cy="11887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2743200"/>
            <a:ext cx="109728" cy="11887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3017520"/>
            <a:ext cx="914400" cy="822960"/>
          </a:xfrm>
          <a:prstGeom prst="rect">
            <a:avLst/>
          </a:prstGeom>
          <a:noFill/>
        </p:spPr>
        <p:txBody>
          <a:bodyPr wrap="square" anchor="t" lIns="0" rIns="0" tIns="0" bIns="0">
            <a:spAutoFit/>
          </a:bodyPr>
          <a:lstStyle/>
          <a:p>
            <a:pPr algn="l">
              <a:lnSpc>
                <a:spcPct val="115000"/>
              </a:lnSpc>
            </a:pPr>
            <a:r>
              <a:rPr sz="4400" b="0">
                <a:solidFill>
                  <a:srgbClr val="E87722"/>
                </a:solidFill>
                <a:latin typeface="Hiragino Sans"/>
                <a:ea typeface="Hiragino Sans"/>
                <a:cs typeface="Hiragino Sans"/>
              </a:rPr>
              <a:t>🏢</a:t>
            </a:r>
          </a:p>
        </p:txBody>
      </p:sp>
      <p:sp>
        <p:nvSpPr>
          <p:cNvPr id="16" name="TextBox 15"/>
          <p:cNvSpPr txBox="1"/>
          <p:nvPr/>
        </p:nvSpPr>
        <p:spPr>
          <a:xfrm>
            <a:off x="1828800" y="2971800"/>
            <a:ext cx="9144000" cy="457200"/>
          </a:xfrm>
          <a:prstGeom prst="rect">
            <a:avLst/>
          </a:prstGeom>
          <a:noFill/>
        </p:spPr>
        <p:txBody>
          <a:bodyPr wrap="square" anchor="t" lIns="0" rIns="0" tIns="0" bIns="0">
            <a:spAutoFit/>
          </a:bodyPr>
          <a:lstStyle/>
          <a:p>
            <a:pPr algn="l">
              <a:lnSpc>
                <a:spcPct val="115000"/>
              </a:lnSpc>
            </a:pPr>
            <a:r>
              <a:rPr sz="1600" b="1">
                <a:solidFill>
                  <a:srgbClr val="0F2A4F"/>
                </a:solidFill>
                <a:latin typeface="Hiragino Sans"/>
                <a:ea typeface="Hiragino Sans"/>
                <a:cs typeface="Hiragino Sans"/>
              </a:rPr>
              <a:t>Tier2 代理店の統合・淘汰</a:t>
            </a:r>
          </a:p>
        </p:txBody>
      </p:sp>
      <p:sp>
        <p:nvSpPr>
          <p:cNvPr id="17" name="TextBox 16"/>
          <p:cNvSpPr txBox="1"/>
          <p:nvPr/>
        </p:nvSpPr>
        <p:spPr>
          <a:xfrm>
            <a:off x="1828800" y="3383280"/>
            <a:ext cx="9601200" cy="54864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専門特化型・地域密着型の中堅代理店で M&amp;A 進行。</a:t>
            </a:r>
          </a:p>
          <a:p>
            <a:pPr algn="l">
              <a:lnSpc>
                <a:spcPct val="150000"/>
              </a:lnSpc>
            </a:pPr>
            <a:r>
              <a:rPr sz="1100" b="0">
                <a:solidFill>
                  <a:srgbClr val="1A1A1A"/>
                </a:solidFill>
                <a:latin typeface="Hiragino Sans"/>
                <a:ea typeface="Hiragino Sans"/>
                <a:cs typeface="Hiragino Sans"/>
              </a:rPr>
              <a:t>ジェネラリスト型代理店は競争優位を失う傾向</a:t>
            </a:r>
          </a:p>
        </p:txBody>
      </p:sp>
      <p:sp>
        <p:nvSpPr>
          <p:cNvPr id="18" name="Rounded Rectangle 17"/>
          <p:cNvSpPr/>
          <p:nvPr/>
        </p:nvSpPr>
        <p:spPr>
          <a:xfrm>
            <a:off x="548640" y="4069080"/>
            <a:ext cx="11109960" cy="11887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4069080"/>
            <a:ext cx="109728" cy="11887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4343400"/>
            <a:ext cx="914400" cy="822960"/>
          </a:xfrm>
          <a:prstGeom prst="rect">
            <a:avLst/>
          </a:prstGeom>
          <a:noFill/>
        </p:spPr>
        <p:txBody>
          <a:bodyPr wrap="square" anchor="t" lIns="0" rIns="0" tIns="0" bIns="0">
            <a:spAutoFit/>
          </a:bodyPr>
          <a:lstStyle/>
          <a:p>
            <a:pPr algn="l">
              <a:lnSpc>
                <a:spcPct val="115000"/>
              </a:lnSpc>
            </a:pPr>
            <a:r>
              <a:rPr sz="4400" b="0">
                <a:solidFill>
                  <a:srgbClr val="E87722"/>
                </a:solidFill>
                <a:latin typeface="Hiragino Sans"/>
                <a:ea typeface="Hiragino Sans"/>
                <a:cs typeface="Hiragino Sans"/>
              </a:rPr>
              <a:t>📊</a:t>
            </a:r>
          </a:p>
        </p:txBody>
      </p:sp>
      <p:sp>
        <p:nvSpPr>
          <p:cNvPr id="21" name="TextBox 20"/>
          <p:cNvSpPr txBox="1"/>
          <p:nvPr/>
        </p:nvSpPr>
        <p:spPr>
          <a:xfrm>
            <a:off x="1828800" y="4297680"/>
            <a:ext cx="9144000" cy="457200"/>
          </a:xfrm>
          <a:prstGeom prst="rect">
            <a:avLst/>
          </a:prstGeom>
          <a:noFill/>
        </p:spPr>
        <p:txBody>
          <a:bodyPr wrap="square" anchor="t" lIns="0" rIns="0" tIns="0" bIns="0">
            <a:spAutoFit/>
          </a:bodyPr>
          <a:lstStyle/>
          <a:p>
            <a:pPr algn="l">
              <a:lnSpc>
                <a:spcPct val="115000"/>
              </a:lnSpc>
            </a:pPr>
            <a:r>
              <a:rPr sz="1600" b="1">
                <a:solidFill>
                  <a:srgbClr val="0F2A4F"/>
                </a:solidFill>
                <a:latin typeface="Hiragino Sans"/>
                <a:ea typeface="Hiragino Sans"/>
                <a:cs typeface="Hiragino Sans"/>
              </a:rPr>
              <a:t>成果報酬・Retainer + Outcome へ</a:t>
            </a:r>
          </a:p>
        </p:txBody>
      </p:sp>
      <p:sp>
        <p:nvSpPr>
          <p:cNvPr id="22" name="TextBox 21"/>
          <p:cNvSpPr txBox="1"/>
          <p:nvPr/>
        </p:nvSpPr>
        <p:spPr>
          <a:xfrm>
            <a:off x="1828800" y="4709160"/>
            <a:ext cx="9601200" cy="54864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月額固定(人月)から、成果連動(CPA/ROAS 連動 or 売上連動)への移行。</a:t>
            </a:r>
          </a:p>
          <a:p>
            <a:pPr algn="l">
              <a:lnSpc>
                <a:spcPct val="150000"/>
              </a:lnSpc>
            </a:pPr>
            <a:r>
              <a:rPr sz="1100" b="0">
                <a:solidFill>
                  <a:srgbClr val="1A1A1A"/>
                </a:solidFill>
                <a:latin typeface="Hiragino Sans"/>
                <a:ea typeface="Hiragino Sans"/>
                <a:cs typeface="Hiragino Sans"/>
              </a:rPr>
              <a:t>クライアント側も『何に払うか』を問い直す時期</a:t>
            </a:r>
          </a:p>
        </p:txBody>
      </p:sp>
      <p:sp>
        <p:nvSpPr>
          <p:cNvPr id="23" name="Rounded Rectangle 22"/>
          <p:cNvSpPr/>
          <p:nvPr/>
        </p:nvSpPr>
        <p:spPr>
          <a:xfrm>
            <a:off x="548640" y="5486400"/>
            <a:ext cx="11109960" cy="82296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623560"/>
            <a:ext cx="100584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 副業運用代行のチャンス</a:t>
            </a:r>
          </a:p>
        </p:txBody>
      </p:sp>
      <p:sp>
        <p:nvSpPr>
          <p:cNvPr id="25" name="TextBox 24"/>
          <p:cNvSpPr txBox="1"/>
          <p:nvPr/>
        </p:nvSpPr>
        <p:spPr>
          <a:xfrm>
            <a:off x="777240" y="5897880"/>
            <a:ext cx="10972800" cy="50292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代理店経由ではなく直接クライアント取引の時代。</a:t>
            </a:r>
          </a:p>
          <a:p>
            <a:pPr algn="l">
              <a:lnSpc>
                <a:spcPct val="150000"/>
              </a:lnSpc>
            </a:pPr>
            <a:r>
              <a:rPr sz="1100" b="0">
                <a:solidFill>
                  <a:srgbClr val="1A1A1A"/>
                </a:solidFill>
                <a:latin typeface="Hiragino Sans"/>
                <a:ea typeface="Hiragino Sans"/>
                <a:cs typeface="Hiragino Sans"/>
              </a:rPr>
              <a:t>中小企業の AI導入支援 + 運用代行は需要過多、価格決定権も持ちやすい</a:t>
            </a:r>
          </a:p>
        </p:txBody>
      </p:sp>
      <p:sp>
        <p:nvSpPr>
          <p:cNvPr id="26" name="TextBox 25"/>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運用職の役割シフトと人材要件 2026</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『AIを導く運用職』で差別化する</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P29 / 250</a:t>
            </a:r>
          </a:p>
        </p:txBody>
      </p:sp>
      <p:sp>
        <p:nvSpPr>
          <p:cNvPr id="8" name="TextBox 7"/>
          <p:cNvSpPr txBox="1"/>
          <p:nvPr/>
        </p:nvSpPr>
        <p:spPr>
          <a:xfrm>
            <a:off x="548640" y="1417320"/>
            <a:ext cx="5486400" cy="365760"/>
          </a:xfrm>
          <a:prstGeom prst="rect">
            <a:avLst/>
          </a:prstGeom>
          <a:noFill/>
        </p:spPr>
        <p:txBody>
          <a:bodyPr wrap="square" anchor="t" lIns="0" rIns="0" tIns="0" bIns="0">
            <a:spAutoFit/>
          </a:bodyPr>
          <a:lstStyle/>
          <a:p>
            <a:pPr algn="l">
              <a:lnSpc>
                <a:spcPct val="115000"/>
              </a:lnSpc>
            </a:pPr>
            <a:r>
              <a:rPr sz="1600" b="1">
                <a:solidFill>
                  <a:srgbClr val="5A6A80"/>
                </a:solidFill>
                <a:latin typeface="Hiragino Sans"/>
                <a:ea typeface="Hiragino Sans"/>
                <a:cs typeface="Hiragino Sans"/>
              </a:rPr>
              <a:t>旧 (〜2023)</a:t>
            </a:r>
          </a:p>
        </p:txBody>
      </p:sp>
      <p:sp>
        <p:nvSpPr>
          <p:cNvPr id="9" name="TextBox 8"/>
          <p:cNvSpPr txBox="1"/>
          <p:nvPr/>
        </p:nvSpPr>
        <p:spPr>
          <a:xfrm>
            <a:off x="6400800" y="1417320"/>
            <a:ext cx="5486400" cy="365760"/>
          </a:xfrm>
          <a:prstGeom prst="rect">
            <a:avLst/>
          </a:prstGeom>
          <a:noFill/>
        </p:spPr>
        <p:txBody>
          <a:bodyPr wrap="square" anchor="t" lIns="0" rIns="0" tIns="0" bIns="0">
            <a:spAutoFit/>
          </a:bodyPr>
          <a:lstStyle/>
          <a:p>
            <a:pPr algn="l">
              <a:lnSpc>
                <a:spcPct val="115000"/>
              </a:lnSpc>
            </a:pPr>
            <a:r>
              <a:rPr sz="1600" b="1">
                <a:solidFill>
                  <a:srgbClr val="E87722"/>
                </a:solidFill>
                <a:latin typeface="Hiragino Sans"/>
                <a:ea typeface="Hiragino Sans"/>
                <a:cs typeface="Hiragino Sans"/>
              </a:rPr>
              <a:t>新 (2026〜)</a:t>
            </a:r>
          </a:p>
        </p:txBody>
      </p:sp>
      <p:sp>
        <p:nvSpPr>
          <p:cNvPr id="10" name="Rounded Rectangle 9"/>
          <p:cNvSpPr/>
          <p:nvPr/>
        </p:nvSpPr>
        <p:spPr>
          <a:xfrm>
            <a:off x="548640" y="1920240"/>
            <a:ext cx="5486400" cy="50292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039112"/>
            <a:ext cx="274320" cy="274320"/>
          </a:xfrm>
          <a:prstGeom prst="rect">
            <a:avLst/>
          </a:prstGeom>
          <a:noFill/>
        </p:spPr>
        <p:txBody>
          <a:bodyPr wrap="square" anchor="t" lIns="0" rIns="0" tIns="0" bIns="0">
            <a:spAutoFit/>
          </a:bodyPr>
          <a:lstStyle/>
          <a:p>
            <a:pPr algn="l">
              <a:lnSpc>
                <a:spcPct val="115000"/>
              </a:lnSpc>
            </a:pPr>
            <a:r>
              <a:rPr sz="1400" b="1">
                <a:solidFill>
                  <a:srgbClr val="C6452D"/>
                </a:solidFill>
                <a:latin typeface="Hiragino Sans"/>
                <a:ea typeface="Hiragino Sans"/>
                <a:cs typeface="Hiragino Sans"/>
              </a:rPr>
              <a:t>✗</a:t>
            </a:r>
          </a:p>
        </p:txBody>
      </p:sp>
      <p:sp>
        <p:nvSpPr>
          <p:cNvPr id="12" name="TextBox 11"/>
          <p:cNvSpPr txBox="1"/>
          <p:nvPr/>
        </p:nvSpPr>
        <p:spPr>
          <a:xfrm>
            <a:off x="1097280" y="2066544"/>
            <a:ext cx="4389120" cy="27432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配信設定・入札調整を手動で</a:t>
            </a:r>
          </a:p>
        </p:txBody>
      </p:sp>
      <p:sp>
        <p:nvSpPr>
          <p:cNvPr id="13" name="Rounded Rectangle 12"/>
          <p:cNvSpPr/>
          <p:nvPr/>
        </p:nvSpPr>
        <p:spPr>
          <a:xfrm>
            <a:off x="6400800" y="1920240"/>
            <a:ext cx="5349240" cy="502920"/>
          </a:xfrm>
          <a:prstGeom prst="roundRect">
            <a:avLst>
              <a:gd name="adj" fmla="val 6000"/>
            </a:avLst>
          </a:prstGeom>
          <a:solidFill>
            <a:srgbClr val="FFF3E6"/>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0" y="2039112"/>
            <a:ext cx="274320" cy="274320"/>
          </a:xfrm>
          <a:prstGeom prst="rect">
            <a:avLst/>
          </a:prstGeom>
          <a:noFill/>
        </p:spPr>
        <p:txBody>
          <a:bodyPr wrap="square" anchor="t" lIns="0" rIns="0" tIns="0" bIns="0">
            <a:spAutoFit/>
          </a:bodyPr>
          <a:lstStyle/>
          <a:p>
            <a:pPr algn="l">
              <a:lnSpc>
                <a:spcPct val="115000"/>
              </a:lnSpc>
            </a:pPr>
            <a:r>
              <a:rPr sz="1400" b="1">
                <a:solidFill>
                  <a:srgbClr val="2E8B57"/>
                </a:solidFill>
                <a:latin typeface="Hiragino Sans"/>
                <a:ea typeface="Hiragino Sans"/>
                <a:cs typeface="Hiragino Sans"/>
              </a:rPr>
              <a:t>✓</a:t>
            </a:r>
          </a:p>
        </p:txBody>
      </p:sp>
      <p:sp>
        <p:nvSpPr>
          <p:cNvPr id="15" name="TextBox 14"/>
          <p:cNvSpPr txBox="1"/>
          <p:nvPr/>
        </p:nvSpPr>
        <p:spPr>
          <a:xfrm>
            <a:off x="6949440" y="2066544"/>
            <a:ext cx="4389120" cy="274320"/>
          </a:xfrm>
          <a:prstGeom prst="rect">
            <a:avLst/>
          </a:prstGeom>
          <a:noFill/>
        </p:spPr>
        <p:txBody>
          <a:bodyPr wrap="square" anchor="t" lIns="0" rIns="0" tIns="0" bIns="0">
            <a:spAutoFit/>
          </a:bodyPr>
          <a:lstStyle/>
          <a:p>
            <a:pPr algn="l">
              <a:lnSpc>
                <a:spcPct val="115000"/>
              </a:lnSpc>
            </a:pPr>
            <a:r>
              <a:rPr sz="1100" b="0">
                <a:solidFill>
                  <a:srgbClr val="0F2A4F"/>
                </a:solidFill>
                <a:latin typeface="Hiragino Sans"/>
                <a:ea typeface="Hiragino Sans"/>
                <a:cs typeface="Hiragino Sans"/>
              </a:rPr>
              <a:t>キャンペーン構造を設計し AIに任せる</a:t>
            </a:r>
          </a:p>
        </p:txBody>
      </p:sp>
      <p:sp>
        <p:nvSpPr>
          <p:cNvPr id="16" name="Rounded Rectangle 15"/>
          <p:cNvSpPr/>
          <p:nvPr/>
        </p:nvSpPr>
        <p:spPr>
          <a:xfrm>
            <a:off x="548640" y="2514600"/>
            <a:ext cx="5486400" cy="50292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2633472"/>
            <a:ext cx="274320" cy="274320"/>
          </a:xfrm>
          <a:prstGeom prst="rect">
            <a:avLst/>
          </a:prstGeom>
          <a:noFill/>
        </p:spPr>
        <p:txBody>
          <a:bodyPr wrap="square" anchor="t" lIns="0" rIns="0" tIns="0" bIns="0">
            <a:spAutoFit/>
          </a:bodyPr>
          <a:lstStyle/>
          <a:p>
            <a:pPr algn="l">
              <a:lnSpc>
                <a:spcPct val="115000"/>
              </a:lnSpc>
            </a:pPr>
            <a:r>
              <a:rPr sz="1400" b="1">
                <a:solidFill>
                  <a:srgbClr val="C6452D"/>
                </a:solidFill>
                <a:latin typeface="Hiragino Sans"/>
                <a:ea typeface="Hiragino Sans"/>
                <a:cs typeface="Hiragino Sans"/>
              </a:rPr>
              <a:t>✗</a:t>
            </a:r>
          </a:p>
        </p:txBody>
      </p:sp>
      <p:sp>
        <p:nvSpPr>
          <p:cNvPr id="18" name="TextBox 17"/>
          <p:cNvSpPr txBox="1"/>
          <p:nvPr/>
        </p:nvSpPr>
        <p:spPr>
          <a:xfrm>
            <a:off x="1097280" y="2660904"/>
            <a:ext cx="4389120" cy="27432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クリエイティブ指示をテキストで</a:t>
            </a:r>
          </a:p>
        </p:txBody>
      </p:sp>
      <p:sp>
        <p:nvSpPr>
          <p:cNvPr id="19" name="Rounded Rectangle 18"/>
          <p:cNvSpPr/>
          <p:nvPr/>
        </p:nvSpPr>
        <p:spPr>
          <a:xfrm>
            <a:off x="6400800" y="2514600"/>
            <a:ext cx="5349240" cy="502920"/>
          </a:xfrm>
          <a:prstGeom prst="roundRect">
            <a:avLst>
              <a:gd name="adj" fmla="val 6000"/>
            </a:avLst>
          </a:prstGeom>
          <a:solidFill>
            <a:srgbClr val="FFF3E6"/>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0" y="2633472"/>
            <a:ext cx="274320" cy="274320"/>
          </a:xfrm>
          <a:prstGeom prst="rect">
            <a:avLst/>
          </a:prstGeom>
          <a:noFill/>
        </p:spPr>
        <p:txBody>
          <a:bodyPr wrap="square" anchor="t" lIns="0" rIns="0" tIns="0" bIns="0">
            <a:spAutoFit/>
          </a:bodyPr>
          <a:lstStyle/>
          <a:p>
            <a:pPr algn="l">
              <a:lnSpc>
                <a:spcPct val="115000"/>
              </a:lnSpc>
            </a:pPr>
            <a:r>
              <a:rPr sz="1400" b="1">
                <a:solidFill>
                  <a:srgbClr val="2E8B57"/>
                </a:solidFill>
                <a:latin typeface="Hiragino Sans"/>
                <a:ea typeface="Hiragino Sans"/>
                <a:cs typeface="Hiragino Sans"/>
              </a:rPr>
              <a:t>✓</a:t>
            </a:r>
          </a:p>
        </p:txBody>
      </p:sp>
      <p:sp>
        <p:nvSpPr>
          <p:cNvPr id="21" name="TextBox 20"/>
          <p:cNvSpPr txBox="1"/>
          <p:nvPr/>
        </p:nvSpPr>
        <p:spPr>
          <a:xfrm>
            <a:off x="6949440" y="2660904"/>
            <a:ext cx="4389120" cy="274320"/>
          </a:xfrm>
          <a:prstGeom prst="rect">
            <a:avLst/>
          </a:prstGeom>
          <a:noFill/>
        </p:spPr>
        <p:txBody>
          <a:bodyPr wrap="square" anchor="t" lIns="0" rIns="0" tIns="0" bIns="0">
            <a:spAutoFit/>
          </a:bodyPr>
          <a:lstStyle/>
          <a:p>
            <a:pPr algn="l">
              <a:lnSpc>
                <a:spcPct val="115000"/>
              </a:lnSpc>
            </a:pPr>
            <a:r>
              <a:rPr sz="1100" b="0">
                <a:solidFill>
                  <a:srgbClr val="0F2A4F"/>
                </a:solidFill>
                <a:latin typeface="Hiragino Sans"/>
                <a:ea typeface="Hiragino Sans"/>
                <a:cs typeface="Hiragino Sans"/>
              </a:rPr>
              <a:t>生成AIでABテスト用素材を大量量産</a:t>
            </a:r>
          </a:p>
        </p:txBody>
      </p:sp>
      <p:sp>
        <p:nvSpPr>
          <p:cNvPr id="22" name="Rounded Rectangle 21"/>
          <p:cNvSpPr/>
          <p:nvPr/>
        </p:nvSpPr>
        <p:spPr>
          <a:xfrm>
            <a:off x="548640" y="3108960"/>
            <a:ext cx="5486400" cy="50292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227832"/>
            <a:ext cx="274320" cy="274320"/>
          </a:xfrm>
          <a:prstGeom prst="rect">
            <a:avLst/>
          </a:prstGeom>
          <a:noFill/>
        </p:spPr>
        <p:txBody>
          <a:bodyPr wrap="square" anchor="t" lIns="0" rIns="0" tIns="0" bIns="0">
            <a:spAutoFit/>
          </a:bodyPr>
          <a:lstStyle/>
          <a:p>
            <a:pPr algn="l">
              <a:lnSpc>
                <a:spcPct val="115000"/>
              </a:lnSpc>
            </a:pPr>
            <a:r>
              <a:rPr sz="1400" b="1">
                <a:solidFill>
                  <a:srgbClr val="C6452D"/>
                </a:solidFill>
                <a:latin typeface="Hiragino Sans"/>
                <a:ea typeface="Hiragino Sans"/>
                <a:cs typeface="Hiragino Sans"/>
              </a:rPr>
              <a:t>✗</a:t>
            </a:r>
          </a:p>
        </p:txBody>
      </p:sp>
      <p:sp>
        <p:nvSpPr>
          <p:cNvPr id="24" name="TextBox 23"/>
          <p:cNvSpPr txBox="1"/>
          <p:nvPr/>
        </p:nvSpPr>
        <p:spPr>
          <a:xfrm>
            <a:off x="1097280" y="3255264"/>
            <a:ext cx="4389120" cy="27432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レポート作成に数時間</a:t>
            </a:r>
          </a:p>
        </p:txBody>
      </p:sp>
      <p:sp>
        <p:nvSpPr>
          <p:cNvPr id="25" name="Rounded Rectangle 24"/>
          <p:cNvSpPr/>
          <p:nvPr/>
        </p:nvSpPr>
        <p:spPr>
          <a:xfrm>
            <a:off x="6400800" y="3108960"/>
            <a:ext cx="5349240" cy="502920"/>
          </a:xfrm>
          <a:prstGeom prst="roundRect">
            <a:avLst>
              <a:gd name="adj" fmla="val 6000"/>
            </a:avLst>
          </a:prstGeom>
          <a:solidFill>
            <a:srgbClr val="FFF3E6"/>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0" y="3227832"/>
            <a:ext cx="274320" cy="274320"/>
          </a:xfrm>
          <a:prstGeom prst="rect">
            <a:avLst/>
          </a:prstGeom>
          <a:noFill/>
        </p:spPr>
        <p:txBody>
          <a:bodyPr wrap="square" anchor="t" lIns="0" rIns="0" tIns="0" bIns="0">
            <a:spAutoFit/>
          </a:bodyPr>
          <a:lstStyle/>
          <a:p>
            <a:pPr algn="l">
              <a:lnSpc>
                <a:spcPct val="115000"/>
              </a:lnSpc>
            </a:pPr>
            <a:r>
              <a:rPr sz="1400" b="1">
                <a:solidFill>
                  <a:srgbClr val="2E8B57"/>
                </a:solidFill>
                <a:latin typeface="Hiragino Sans"/>
                <a:ea typeface="Hiragino Sans"/>
                <a:cs typeface="Hiragino Sans"/>
              </a:rPr>
              <a:t>✓</a:t>
            </a:r>
          </a:p>
        </p:txBody>
      </p:sp>
      <p:sp>
        <p:nvSpPr>
          <p:cNvPr id="27" name="TextBox 26"/>
          <p:cNvSpPr txBox="1"/>
          <p:nvPr/>
        </p:nvSpPr>
        <p:spPr>
          <a:xfrm>
            <a:off x="6949440" y="3255264"/>
            <a:ext cx="4389120" cy="274320"/>
          </a:xfrm>
          <a:prstGeom prst="rect">
            <a:avLst/>
          </a:prstGeom>
          <a:noFill/>
        </p:spPr>
        <p:txBody>
          <a:bodyPr wrap="square" anchor="t" lIns="0" rIns="0" tIns="0" bIns="0">
            <a:spAutoFit/>
          </a:bodyPr>
          <a:lstStyle/>
          <a:p>
            <a:pPr algn="l">
              <a:lnSpc>
                <a:spcPct val="115000"/>
              </a:lnSpc>
            </a:pPr>
            <a:r>
              <a:rPr sz="1100" b="0">
                <a:solidFill>
                  <a:srgbClr val="0F2A4F"/>
                </a:solidFill>
                <a:latin typeface="Hiragino Sans"/>
                <a:ea typeface="Hiragino Sans"/>
                <a:cs typeface="Hiragino Sans"/>
              </a:rPr>
              <a:t>Looker Studio + AI要約で30分</a:t>
            </a:r>
          </a:p>
        </p:txBody>
      </p:sp>
      <p:sp>
        <p:nvSpPr>
          <p:cNvPr id="28" name="Rounded Rectangle 27"/>
          <p:cNvSpPr/>
          <p:nvPr/>
        </p:nvSpPr>
        <p:spPr>
          <a:xfrm>
            <a:off x="548640" y="3703320"/>
            <a:ext cx="5486400" cy="50292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3822192"/>
            <a:ext cx="274320" cy="274320"/>
          </a:xfrm>
          <a:prstGeom prst="rect">
            <a:avLst/>
          </a:prstGeom>
          <a:noFill/>
        </p:spPr>
        <p:txBody>
          <a:bodyPr wrap="square" anchor="t" lIns="0" rIns="0" tIns="0" bIns="0">
            <a:spAutoFit/>
          </a:bodyPr>
          <a:lstStyle/>
          <a:p>
            <a:pPr algn="l">
              <a:lnSpc>
                <a:spcPct val="115000"/>
              </a:lnSpc>
            </a:pPr>
            <a:r>
              <a:rPr sz="1400" b="1">
                <a:solidFill>
                  <a:srgbClr val="C6452D"/>
                </a:solidFill>
                <a:latin typeface="Hiragino Sans"/>
                <a:ea typeface="Hiragino Sans"/>
                <a:cs typeface="Hiragino Sans"/>
              </a:rPr>
              <a:t>✗</a:t>
            </a:r>
          </a:p>
        </p:txBody>
      </p:sp>
      <p:sp>
        <p:nvSpPr>
          <p:cNvPr id="30" name="TextBox 29"/>
          <p:cNvSpPr txBox="1"/>
          <p:nvPr/>
        </p:nvSpPr>
        <p:spPr>
          <a:xfrm>
            <a:off x="1097280" y="3849624"/>
            <a:ext cx="4389120" cy="27432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ラストクリックCVを追う</a:t>
            </a:r>
          </a:p>
        </p:txBody>
      </p:sp>
      <p:sp>
        <p:nvSpPr>
          <p:cNvPr id="31" name="Rounded Rectangle 30"/>
          <p:cNvSpPr/>
          <p:nvPr/>
        </p:nvSpPr>
        <p:spPr>
          <a:xfrm>
            <a:off x="6400800" y="3703320"/>
            <a:ext cx="5349240" cy="502920"/>
          </a:xfrm>
          <a:prstGeom prst="roundRect">
            <a:avLst>
              <a:gd name="adj" fmla="val 6000"/>
            </a:avLst>
          </a:prstGeom>
          <a:solidFill>
            <a:srgbClr val="FFF3E6"/>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83680" y="3822192"/>
            <a:ext cx="274320" cy="274320"/>
          </a:xfrm>
          <a:prstGeom prst="rect">
            <a:avLst/>
          </a:prstGeom>
          <a:noFill/>
        </p:spPr>
        <p:txBody>
          <a:bodyPr wrap="square" anchor="t" lIns="0" rIns="0" tIns="0" bIns="0">
            <a:spAutoFit/>
          </a:bodyPr>
          <a:lstStyle/>
          <a:p>
            <a:pPr algn="l">
              <a:lnSpc>
                <a:spcPct val="115000"/>
              </a:lnSpc>
            </a:pPr>
            <a:r>
              <a:rPr sz="1400" b="1">
                <a:solidFill>
                  <a:srgbClr val="2E8B57"/>
                </a:solidFill>
                <a:latin typeface="Hiragino Sans"/>
                <a:ea typeface="Hiragino Sans"/>
                <a:cs typeface="Hiragino Sans"/>
              </a:rPr>
              <a:t>✓</a:t>
            </a:r>
          </a:p>
        </p:txBody>
      </p:sp>
      <p:sp>
        <p:nvSpPr>
          <p:cNvPr id="33" name="TextBox 32"/>
          <p:cNvSpPr txBox="1"/>
          <p:nvPr/>
        </p:nvSpPr>
        <p:spPr>
          <a:xfrm>
            <a:off x="6949440" y="3849624"/>
            <a:ext cx="4389120" cy="274320"/>
          </a:xfrm>
          <a:prstGeom prst="rect">
            <a:avLst/>
          </a:prstGeom>
          <a:noFill/>
        </p:spPr>
        <p:txBody>
          <a:bodyPr wrap="square" anchor="t" lIns="0" rIns="0" tIns="0" bIns="0">
            <a:spAutoFit/>
          </a:bodyPr>
          <a:lstStyle/>
          <a:p>
            <a:pPr algn="l">
              <a:lnSpc>
                <a:spcPct val="115000"/>
              </a:lnSpc>
            </a:pPr>
            <a:r>
              <a:rPr sz="1100" b="0">
                <a:solidFill>
                  <a:srgbClr val="0F2A4F"/>
                </a:solidFill>
                <a:latin typeface="Hiragino Sans"/>
                <a:ea typeface="Hiragino Sans"/>
                <a:cs typeface="Hiragino Sans"/>
              </a:rPr>
              <a:t>Incrementality / MMM / LTVで意思決定</a:t>
            </a:r>
          </a:p>
        </p:txBody>
      </p:sp>
      <p:sp>
        <p:nvSpPr>
          <p:cNvPr id="34" name="Rounded Rectangle 33"/>
          <p:cNvSpPr/>
          <p:nvPr/>
        </p:nvSpPr>
        <p:spPr>
          <a:xfrm>
            <a:off x="548640" y="4297680"/>
            <a:ext cx="5486400" cy="50292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1520" y="4416552"/>
            <a:ext cx="274320" cy="274320"/>
          </a:xfrm>
          <a:prstGeom prst="rect">
            <a:avLst/>
          </a:prstGeom>
          <a:noFill/>
        </p:spPr>
        <p:txBody>
          <a:bodyPr wrap="square" anchor="t" lIns="0" rIns="0" tIns="0" bIns="0">
            <a:spAutoFit/>
          </a:bodyPr>
          <a:lstStyle/>
          <a:p>
            <a:pPr algn="l">
              <a:lnSpc>
                <a:spcPct val="115000"/>
              </a:lnSpc>
            </a:pPr>
            <a:r>
              <a:rPr sz="1400" b="1">
                <a:solidFill>
                  <a:srgbClr val="C6452D"/>
                </a:solidFill>
                <a:latin typeface="Hiragino Sans"/>
                <a:ea typeface="Hiragino Sans"/>
                <a:cs typeface="Hiragino Sans"/>
              </a:rPr>
              <a:t>✗</a:t>
            </a:r>
          </a:p>
        </p:txBody>
      </p:sp>
      <p:sp>
        <p:nvSpPr>
          <p:cNvPr id="36" name="TextBox 35"/>
          <p:cNvSpPr txBox="1"/>
          <p:nvPr/>
        </p:nvSpPr>
        <p:spPr>
          <a:xfrm>
            <a:off x="1097280" y="4443984"/>
            <a:ext cx="4389120" cy="27432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媒体ごとのサイロ運用</a:t>
            </a:r>
          </a:p>
        </p:txBody>
      </p:sp>
      <p:sp>
        <p:nvSpPr>
          <p:cNvPr id="37" name="Rounded Rectangle 36"/>
          <p:cNvSpPr/>
          <p:nvPr/>
        </p:nvSpPr>
        <p:spPr>
          <a:xfrm>
            <a:off x="6400800" y="4297680"/>
            <a:ext cx="5349240" cy="502920"/>
          </a:xfrm>
          <a:prstGeom prst="roundRect">
            <a:avLst>
              <a:gd name="adj" fmla="val 6000"/>
            </a:avLst>
          </a:prstGeom>
          <a:solidFill>
            <a:srgbClr val="FFF3E6"/>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83680" y="4416552"/>
            <a:ext cx="274320" cy="274320"/>
          </a:xfrm>
          <a:prstGeom prst="rect">
            <a:avLst/>
          </a:prstGeom>
          <a:noFill/>
        </p:spPr>
        <p:txBody>
          <a:bodyPr wrap="square" anchor="t" lIns="0" rIns="0" tIns="0" bIns="0">
            <a:spAutoFit/>
          </a:bodyPr>
          <a:lstStyle/>
          <a:p>
            <a:pPr algn="l">
              <a:lnSpc>
                <a:spcPct val="115000"/>
              </a:lnSpc>
            </a:pPr>
            <a:r>
              <a:rPr sz="1400" b="1">
                <a:solidFill>
                  <a:srgbClr val="2E8B57"/>
                </a:solidFill>
                <a:latin typeface="Hiragino Sans"/>
                <a:ea typeface="Hiragino Sans"/>
                <a:cs typeface="Hiragino Sans"/>
              </a:rPr>
              <a:t>✓</a:t>
            </a:r>
          </a:p>
        </p:txBody>
      </p:sp>
      <p:sp>
        <p:nvSpPr>
          <p:cNvPr id="39" name="TextBox 38"/>
          <p:cNvSpPr txBox="1"/>
          <p:nvPr/>
        </p:nvSpPr>
        <p:spPr>
          <a:xfrm>
            <a:off x="6949440" y="4443984"/>
            <a:ext cx="4389120" cy="274320"/>
          </a:xfrm>
          <a:prstGeom prst="rect">
            <a:avLst/>
          </a:prstGeom>
          <a:noFill/>
        </p:spPr>
        <p:txBody>
          <a:bodyPr wrap="square" anchor="t" lIns="0" rIns="0" tIns="0" bIns="0">
            <a:spAutoFit/>
          </a:bodyPr>
          <a:lstStyle/>
          <a:p>
            <a:pPr algn="l">
              <a:lnSpc>
                <a:spcPct val="115000"/>
              </a:lnSpc>
            </a:pPr>
            <a:r>
              <a:rPr sz="1100" b="0">
                <a:solidFill>
                  <a:srgbClr val="0F2A4F"/>
                </a:solidFill>
                <a:latin typeface="Hiragino Sans"/>
                <a:ea typeface="Hiragino Sans"/>
                <a:cs typeface="Hiragino Sans"/>
              </a:rPr>
              <a:t>横断で予算配分・検証設計</a:t>
            </a:r>
          </a:p>
        </p:txBody>
      </p:sp>
      <p:sp>
        <p:nvSpPr>
          <p:cNvPr id="40" name="TextBox 39"/>
          <p:cNvSpPr txBox="1"/>
          <p:nvPr/>
        </p:nvSpPr>
        <p:spPr>
          <a:xfrm>
            <a:off x="548640" y="5212080"/>
            <a:ext cx="1097280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必須スキル 2026 (チェックリスト)</a:t>
            </a:r>
          </a:p>
        </p:txBody>
      </p:sp>
      <p:sp>
        <p:nvSpPr>
          <p:cNvPr id="41" name="Rectangle 40"/>
          <p:cNvSpPr/>
          <p:nvPr/>
        </p:nvSpPr>
        <p:spPr>
          <a:xfrm>
            <a:off x="548640" y="5532120"/>
            <a:ext cx="1110996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548640" y="5669280"/>
            <a:ext cx="2697480" cy="77724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85800" y="5806440"/>
            <a:ext cx="365760" cy="274320"/>
          </a:xfrm>
          <a:prstGeom prst="rect">
            <a:avLst/>
          </a:prstGeom>
          <a:noFill/>
        </p:spPr>
        <p:txBody>
          <a:bodyPr wrap="square" anchor="t" lIns="0" rIns="0" tIns="0" bIns="0">
            <a:spAutoFit/>
          </a:bodyPr>
          <a:lstStyle/>
          <a:p>
            <a:pPr algn="l">
              <a:lnSpc>
                <a:spcPct val="115000"/>
              </a:lnSpc>
            </a:pPr>
            <a:r>
              <a:rPr sz="1400" b="1">
                <a:solidFill>
                  <a:srgbClr val="E87722"/>
                </a:solidFill>
                <a:latin typeface="Hiragino Sans"/>
                <a:ea typeface="Hiragino Sans"/>
                <a:cs typeface="Hiragino Sans"/>
              </a:rPr>
              <a:t>☑</a:t>
            </a:r>
          </a:p>
        </p:txBody>
      </p:sp>
      <p:sp>
        <p:nvSpPr>
          <p:cNvPr id="44" name="TextBox 43"/>
          <p:cNvSpPr txBox="1"/>
          <p:nvPr/>
        </p:nvSpPr>
        <p:spPr>
          <a:xfrm>
            <a:off x="1051560" y="5788152"/>
            <a:ext cx="2103120" cy="274320"/>
          </a:xfrm>
          <a:prstGeom prst="rect">
            <a:avLst/>
          </a:prstGeom>
          <a:noFill/>
        </p:spPr>
        <p:txBody>
          <a:bodyPr wrap="square" anchor="t" lIns="0" rIns="0" tIns="0" bIns="0">
            <a:spAutoFit/>
          </a:bodyPr>
          <a:lstStyle/>
          <a:p>
            <a:pPr algn="l">
              <a:lnSpc>
                <a:spcPct val="120000"/>
              </a:lnSpc>
            </a:pPr>
            <a:r>
              <a:rPr sz="1100" b="1">
                <a:solidFill>
                  <a:srgbClr val="FFFFFF"/>
                </a:solidFill>
                <a:latin typeface="Hiragino Sans"/>
                <a:ea typeface="Hiragino Sans"/>
                <a:cs typeface="Hiragino Sans"/>
              </a:rPr>
              <a:t>GA4/SGTM/CAPIの実装理解</a:t>
            </a:r>
          </a:p>
        </p:txBody>
      </p:sp>
      <p:sp>
        <p:nvSpPr>
          <p:cNvPr id="45" name="TextBox 44"/>
          <p:cNvSpPr txBox="1"/>
          <p:nvPr/>
        </p:nvSpPr>
        <p:spPr>
          <a:xfrm>
            <a:off x="1051560" y="6108192"/>
            <a:ext cx="2103120" cy="274320"/>
          </a:xfrm>
          <a:prstGeom prst="rect">
            <a:avLst/>
          </a:prstGeom>
          <a:noFill/>
        </p:spPr>
        <p:txBody>
          <a:bodyPr wrap="square" anchor="t" lIns="0" rIns="0" tIns="0" bIns="0">
            <a:spAutoFit/>
          </a:bodyPr>
          <a:lstStyle/>
          <a:p>
            <a:pPr algn="l">
              <a:lnSpc>
                <a:spcPct val="115000"/>
              </a:lnSpc>
            </a:pPr>
            <a:r>
              <a:rPr sz="900" b="0">
                <a:solidFill>
                  <a:srgbClr val="D7DDE8"/>
                </a:solidFill>
                <a:latin typeface="Hiragino Sans"/>
                <a:ea typeface="Hiragino Sans"/>
                <a:cs typeface="Hiragino Sans"/>
              </a:rPr>
              <a:t>計測基盤</a:t>
            </a:r>
          </a:p>
        </p:txBody>
      </p:sp>
      <p:sp>
        <p:nvSpPr>
          <p:cNvPr id="46" name="Rounded Rectangle 45"/>
          <p:cNvSpPr/>
          <p:nvPr/>
        </p:nvSpPr>
        <p:spPr>
          <a:xfrm>
            <a:off x="3337560" y="5669280"/>
            <a:ext cx="2697480" cy="77724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474720" y="5806440"/>
            <a:ext cx="365760" cy="274320"/>
          </a:xfrm>
          <a:prstGeom prst="rect">
            <a:avLst/>
          </a:prstGeom>
          <a:noFill/>
        </p:spPr>
        <p:txBody>
          <a:bodyPr wrap="square" anchor="t" lIns="0" rIns="0" tIns="0" bIns="0">
            <a:spAutoFit/>
          </a:bodyPr>
          <a:lstStyle/>
          <a:p>
            <a:pPr algn="l">
              <a:lnSpc>
                <a:spcPct val="115000"/>
              </a:lnSpc>
            </a:pPr>
            <a:r>
              <a:rPr sz="1400" b="1">
                <a:solidFill>
                  <a:srgbClr val="E87722"/>
                </a:solidFill>
                <a:latin typeface="Hiragino Sans"/>
                <a:ea typeface="Hiragino Sans"/>
                <a:cs typeface="Hiragino Sans"/>
              </a:rPr>
              <a:t>☑</a:t>
            </a:r>
          </a:p>
        </p:txBody>
      </p:sp>
      <p:sp>
        <p:nvSpPr>
          <p:cNvPr id="48" name="TextBox 47"/>
          <p:cNvSpPr txBox="1"/>
          <p:nvPr/>
        </p:nvSpPr>
        <p:spPr>
          <a:xfrm>
            <a:off x="3840480" y="5788152"/>
            <a:ext cx="2103120" cy="274320"/>
          </a:xfrm>
          <a:prstGeom prst="rect">
            <a:avLst/>
          </a:prstGeom>
          <a:noFill/>
        </p:spPr>
        <p:txBody>
          <a:bodyPr wrap="square" anchor="t" lIns="0" rIns="0" tIns="0" bIns="0">
            <a:spAutoFit/>
          </a:bodyPr>
          <a:lstStyle/>
          <a:p>
            <a:pPr algn="l">
              <a:lnSpc>
                <a:spcPct val="120000"/>
              </a:lnSpc>
            </a:pPr>
            <a:r>
              <a:rPr sz="1100" b="1">
                <a:solidFill>
                  <a:srgbClr val="FFFFFF"/>
                </a:solidFill>
                <a:latin typeface="Hiragino Sans"/>
                <a:ea typeface="Hiragino Sans"/>
                <a:cs typeface="Hiragino Sans"/>
              </a:rPr>
              <a:t>生成AI 3種のワークフロー化</a:t>
            </a:r>
          </a:p>
        </p:txBody>
      </p:sp>
      <p:sp>
        <p:nvSpPr>
          <p:cNvPr id="49" name="TextBox 48"/>
          <p:cNvSpPr txBox="1"/>
          <p:nvPr/>
        </p:nvSpPr>
        <p:spPr>
          <a:xfrm>
            <a:off x="3840480" y="6108192"/>
            <a:ext cx="2103120" cy="274320"/>
          </a:xfrm>
          <a:prstGeom prst="rect">
            <a:avLst/>
          </a:prstGeom>
          <a:noFill/>
        </p:spPr>
        <p:txBody>
          <a:bodyPr wrap="square" anchor="t" lIns="0" rIns="0" tIns="0" bIns="0">
            <a:spAutoFit/>
          </a:bodyPr>
          <a:lstStyle/>
          <a:p>
            <a:pPr algn="l">
              <a:lnSpc>
                <a:spcPct val="115000"/>
              </a:lnSpc>
            </a:pPr>
            <a:r>
              <a:rPr sz="900" b="0">
                <a:solidFill>
                  <a:srgbClr val="D7DDE8"/>
                </a:solidFill>
                <a:latin typeface="Hiragino Sans"/>
                <a:ea typeface="Hiragino Sans"/>
                <a:cs typeface="Hiragino Sans"/>
              </a:rPr>
              <a:t>Claude/ChatGPT/Midjourney</a:t>
            </a:r>
          </a:p>
        </p:txBody>
      </p:sp>
      <p:sp>
        <p:nvSpPr>
          <p:cNvPr id="50" name="Rounded Rectangle 49"/>
          <p:cNvSpPr/>
          <p:nvPr/>
        </p:nvSpPr>
        <p:spPr>
          <a:xfrm>
            <a:off x="6126480" y="5669280"/>
            <a:ext cx="2697480" cy="77724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263640" y="5806440"/>
            <a:ext cx="365760" cy="274320"/>
          </a:xfrm>
          <a:prstGeom prst="rect">
            <a:avLst/>
          </a:prstGeom>
          <a:noFill/>
        </p:spPr>
        <p:txBody>
          <a:bodyPr wrap="square" anchor="t" lIns="0" rIns="0" tIns="0" bIns="0">
            <a:spAutoFit/>
          </a:bodyPr>
          <a:lstStyle/>
          <a:p>
            <a:pPr algn="l">
              <a:lnSpc>
                <a:spcPct val="115000"/>
              </a:lnSpc>
            </a:pPr>
            <a:r>
              <a:rPr sz="1400" b="1">
                <a:solidFill>
                  <a:srgbClr val="E87722"/>
                </a:solidFill>
                <a:latin typeface="Hiragino Sans"/>
                <a:ea typeface="Hiragino Sans"/>
                <a:cs typeface="Hiragino Sans"/>
              </a:rPr>
              <a:t>☑</a:t>
            </a:r>
          </a:p>
        </p:txBody>
      </p:sp>
      <p:sp>
        <p:nvSpPr>
          <p:cNvPr id="52" name="TextBox 51"/>
          <p:cNvSpPr txBox="1"/>
          <p:nvPr/>
        </p:nvSpPr>
        <p:spPr>
          <a:xfrm>
            <a:off x="6629400" y="5788152"/>
            <a:ext cx="2103120" cy="274320"/>
          </a:xfrm>
          <a:prstGeom prst="rect">
            <a:avLst/>
          </a:prstGeom>
          <a:noFill/>
        </p:spPr>
        <p:txBody>
          <a:bodyPr wrap="square" anchor="t" lIns="0" rIns="0" tIns="0" bIns="0">
            <a:spAutoFit/>
          </a:bodyPr>
          <a:lstStyle/>
          <a:p>
            <a:pPr algn="l">
              <a:lnSpc>
                <a:spcPct val="120000"/>
              </a:lnSpc>
            </a:pPr>
            <a:r>
              <a:rPr sz="1100" b="1">
                <a:solidFill>
                  <a:srgbClr val="FFFFFF"/>
                </a:solidFill>
                <a:latin typeface="Hiragino Sans"/>
                <a:ea typeface="Hiragino Sans"/>
                <a:cs typeface="Hiragino Sans"/>
              </a:rPr>
              <a:t>MMM/Lift 実験設計</a:t>
            </a:r>
          </a:p>
        </p:txBody>
      </p:sp>
      <p:sp>
        <p:nvSpPr>
          <p:cNvPr id="53" name="TextBox 52"/>
          <p:cNvSpPr txBox="1"/>
          <p:nvPr/>
        </p:nvSpPr>
        <p:spPr>
          <a:xfrm>
            <a:off x="6629400" y="6108192"/>
            <a:ext cx="2103120" cy="274320"/>
          </a:xfrm>
          <a:prstGeom prst="rect">
            <a:avLst/>
          </a:prstGeom>
          <a:noFill/>
        </p:spPr>
        <p:txBody>
          <a:bodyPr wrap="square" anchor="t" lIns="0" rIns="0" tIns="0" bIns="0">
            <a:spAutoFit/>
          </a:bodyPr>
          <a:lstStyle/>
          <a:p>
            <a:pPr algn="l">
              <a:lnSpc>
                <a:spcPct val="115000"/>
              </a:lnSpc>
            </a:pPr>
            <a:r>
              <a:rPr sz="900" b="0">
                <a:solidFill>
                  <a:srgbClr val="D7DDE8"/>
                </a:solidFill>
                <a:latin typeface="Hiragino Sans"/>
                <a:ea typeface="Hiragino Sans"/>
                <a:cs typeface="Hiragino Sans"/>
              </a:rPr>
              <a:t>Robyn/Meridian</a:t>
            </a:r>
          </a:p>
        </p:txBody>
      </p:sp>
      <p:sp>
        <p:nvSpPr>
          <p:cNvPr id="54" name="Rounded Rectangle 53"/>
          <p:cNvSpPr/>
          <p:nvPr/>
        </p:nvSpPr>
        <p:spPr>
          <a:xfrm>
            <a:off x="8915400" y="5669280"/>
            <a:ext cx="2697480" cy="77724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052560" y="5806440"/>
            <a:ext cx="365760" cy="274320"/>
          </a:xfrm>
          <a:prstGeom prst="rect">
            <a:avLst/>
          </a:prstGeom>
          <a:noFill/>
        </p:spPr>
        <p:txBody>
          <a:bodyPr wrap="square" anchor="t" lIns="0" rIns="0" tIns="0" bIns="0">
            <a:spAutoFit/>
          </a:bodyPr>
          <a:lstStyle/>
          <a:p>
            <a:pPr algn="l">
              <a:lnSpc>
                <a:spcPct val="115000"/>
              </a:lnSpc>
            </a:pPr>
            <a:r>
              <a:rPr sz="1400" b="1">
                <a:solidFill>
                  <a:srgbClr val="E87722"/>
                </a:solidFill>
                <a:latin typeface="Hiragino Sans"/>
                <a:ea typeface="Hiragino Sans"/>
                <a:cs typeface="Hiragino Sans"/>
              </a:rPr>
              <a:t>☑</a:t>
            </a:r>
          </a:p>
        </p:txBody>
      </p:sp>
      <p:sp>
        <p:nvSpPr>
          <p:cNvPr id="56" name="TextBox 55"/>
          <p:cNvSpPr txBox="1"/>
          <p:nvPr/>
        </p:nvSpPr>
        <p:spPr>
          <a:xfrm>
            <a:off x="9418320" y="5788152"/>
            <a:ext cx="2103120" cy="274320"/>
          </a:xfrm>
          <a:prstGeom prst="rect">
            <a:avLst/>
          </a:prstGeom>
          <a:noFill/>
        </p:spPr>
        <p:txBody>
          <a:bodyPr wrap="square" anchor="t" lIns="0" rIns="0" tIns="0" bIns="0">
            <a:spAutoFit/>
          </a:bodyPr>
          <a:lstStyle/>
          <a:p>
            <a:pPr algn="l">
              <a:lnSpc>
                <a:spcPct val="120000"/>
              </a:lnSpc>
            </a:pPr>
            <a:r>
              <a:rPr sz="1100" b="1">
                <a:solidFill>
                  <a:srgbClr val="FFFFFF"/>
                </a:solidFill>
                <a:latin typeface="Hiragino Sans"/>
                <a:ea typeface="Hiragino Sans"/>
                <a:cs typeface="Hiragino Sans"/>
              </a:rPr>
              <a:t>LTV/CAC/Payback の会話</a:t>
            </a:r>
          </a:p>
        </p:txBody>
      </p:sp>
      <p:sp>
        <p:nvSpPr>
          <p:cNvPr id="57" name="TextBox 56"/>
          <p:cNvSpPr txBox="1"/>
          <p:nvPr/>
        </p:nvSpPr>
        <p:spPr>
          <a:xfrm>
            <a:off x="9418320" y="6108192"/>
            <a:ext cx="2103120" cy="274320"/>
          </a:xfrm>
          <a:prstGeom prst="rect">
            <a:avLst/>
          </a:prstGeom>
          <a:noFill/>
        </p:spPr>
        <p:txBody>
          <a:bodyPr wrap="square" anchor="t" lIns="0" rIns="0" tIns="0" bIns="0">
            <a:spAutoFit/>
          </a:bodyPr>
          <a:lstStyle/>
          <a:p>
            <a:pPr algn="l">
              <a:lnSpc>
                <a:spcPct val="115000"/>
              </a:lnSpc>
            </a:pPr>
            <a:r>
              <a:rPr sz="900" b="0">
                <a:solidFill>
                  <a:srgbClr val="D7DDE8"/>
                </a:solidFill>
                <a:latin typeface="Hiragino Sans"/>
                <a:ea typeface="Hiragino Sans"/>
                <a:cs typeface="Hiragino Sans"/>
              </a:rPr>
              <a:t>ビジネス翻訳</a:t>
            </a:r>
          </a:p>
        </p:txBody>
      </p:sp>
      <p:sp>
        <p:nvSpPr>
          <p:cNvPr id="58" name="TextBox 57"/>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Part 2 まとめ → Part 3 へ</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業界構造の3大変化と次章の橋渡し</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P30 / 250</a:t>
            </a:r>
          </a:p>
        </p:txBody>
      </p:sp>
      <p:sp>
        <p:nvSpPr>
          <p:cNvPr id="8" name="Rounded Rectangle 7"/>
          <p:cNvSpPr/>
          <p:nvPr/>
        </p:nvSpPr>
        <p:spPr>
          <a:xfrm>
            <a:off x="548640" y="1371600"/>
            <a:ext cx="11109960" cy="10972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71600"/>
            <a:ext cx="137160" cy="109728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554480"/>
            <a:ext cx="914400" cy="640080"/>
          </a:xfrm>
          <a:prstGeom prst="rect">
            <a:avLst/>
          </a:prstGeom>
          <a:noFill/>
        </p:spPr>
        <p:txBody>
          <a:bodyPr wrap="square" anchor="t" lIns="0" rIns="0" tIns="0" bIns="0">
            <a:spAutoFit/>
          </a:bodyPr>
          <a:lstStyle/>
          <a:p>
            <a:pPr algn="l">
              <a:lnSpc>
                <a:spcPct val="115000"/>
              </a:lnSpc>
            </a:pPr>
            <a:r>
              <a:rPr sz="3400" b="1">
                <a:solidFill>
                  <a:srgbClr val="E87722"/>
                </a:solidFill>
                <a:latin typeface="Helvetica Neue"/>
                <a:ea typeface="Helvetica Neue"/>
                <a:cs typeface="Helvetica Neue"/>
              </a:rPr>
              <a:t>01</a:t>
            </a:r>
          </a:p>
        </p:txBody>
      </p:sp>
      <p:sp>
        <p:nvSpPr>
          <p:cNvPr id="11" name="TextBox 10"/>
          <p:cNvSpPr txBox="1"/>
          <p:nvPr/>
        </p:nvSpPr>
        <p:spPr>
          <a:xfrm>
            <a:off x="1920240" y="1554480"/>
            <a:ext cx="9601200" cy="411480"/>
          </a:xfrm>
          <a:prstGeom prst="rect">
            <a:avLst/>
          </a:prstGeom>
          <a:noFill/>
        </p:spPr>
        <p:txBody>
          <a:bodyPr wrap="square" anchor="t" lIns="0" rIns="0" tIns="0" bIns="0">
            <a:spAutoFit/>
          </a:bodyPr>
          <a:lstStyle/>
          <a:p>
            <a:pPr algn="l">
              <a:lnSpc>
                <a:spcPct val="115000"/>
              </a:lnSpc>
            </a:pPr>
            <a:r>
              <a:rPr sz="1500" b="1">
                <a:solidFill>
                  <a:srgbClr val="0F2A4F"/>
                </a:solidFill>
                <a:latin typeface="Hiragino Sans"/>
                <a:ea typeface="Hiragino Sans"/>
                <a:cs typeface="Hiragino Sans"/>
              </a:rPr>
              <a:t>Cookie『廃止→撤回→実質終了』の3幕劇</a:t>
            </a:r>
          </a:p>
        </p:txBody>
      </p:sp>
      <p:sp>
        <p:nvSpPr>
          <p:cNvPr id="12" name="TextBox 11"/>
          <p:cNvSpPr txBox="1"/>
          <p:nvPr/>
        </p:nvSpPr>
        <p:spPr>
          <a:xfrm>
            <a:off x="1920240" y="2011680"/>
            <a:ext cx="9601200" cy="45720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3rd Party Cookie は Chrome に残存するが、ATT 以降のシグナル減は不可逆。</a:t>
            </a:r>
          </a:p>
          <a:p>
            <a:pPr algn="l">
              <a:lnSpc>
                <a:spcPct val="150000"/>
              </a:lnSpc>
            </a:pPr>
            <a:r>
              <a:rPr sz="1100" b="0">
                <a:solidFill>
                  <a:srgbClr val="1A1A1A"/>
                </a:solidFill>
                <a:latin typeface="Hiragino Sans"/>
                <a:ea typeface="Hiragino Sans"/>
                <a:cs typeface="Hiragino Sans"/>
              </a:rPr>
              <a:t>CAPI / SGTM / 1PD / Enhanced Conversions が業界標準として定着</a:t>
            </a:r>
          </a:p>
        </p:txBody>
      </p:sp>
      <p:sp>
        <p:nvSpPr>
          <p:cNvPr id="13" name="Rounded Rectangle 12"/>
          <p:cNvSpPr/>
          <p:nvPr/>
        </p:nvSpPr>
        <p:spPr>
          <a:xfrm>
            <a:off x="548640" y="2606040"/>
            <a:ext cx="11109960" cy="10972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2606040"/>
            <a:ext cx="137160" cy="109728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2788920"/>
            <a:ext cx="914400" cy="640080"/>
          </a:xfrm>
          <a:prstGeom prst="rect">
            <a:avLst/>
          </a:prstGeom>
          <a:noFill/>
        </p:spPr>
        <p:txBody>
          <a:bodyPr wrap="square" anchor="t" lIns="0" rIns="0" tIns="0" bIns="0">
            <a:spAutoFit/>
          </a:bodyPr>
          <a:lstStyle/>
          <a:p>
            <a:pPr algn="l">
              <a:lnSpc>
                <a:spcPct val="115000"/>
              </a:lnSpc>
            </a:pPr>
            <a:r>
              <a:rPr sz="3400" b="1">
                <a:solidFill>
                  <a:srgbClr val="E87722"/>
                </a:solidFill>
                <a:latin typeface="Helvetica Neue"/>
                <a:ea typeface="Helvetica Neue"/>
                <a:cs typeface="Helvetica Neue"/>
              </a:rPr>
              <a:t>02</a:t>
            </a:r>
          </a:p>
        </p:txBody>
      </p:sp>
      <p:sp>
        <p:nvSpPr>
          <p:cNvPr id="16" name="TextBox 15"/>
          <p:cNvSpPr txBox="1"/>
          <p:nvPr/>
        </p:nvSpPr>
        <p:spPr>
          <a:xfrm>
            <a:off x="1920240" y="2788920"/>
            <a:ext cx="9601200" cy="411480"/>
          </a:xfrm>
          <a:prstGeom prst="rect">
            <a:avLst/>
          </a:prstGeom>
          <a:noFill/>
        </p:spPr>
        <p:txBody>
          <a:bodyPr wrap="square" anchor="t" lIns="0" rIns="0" tIns="0" bIns="0">
            <a:spAutoFit/>
          </a:bodyPr>
          <a:lstStyle/>
          <a:p>
            <a:pPr algn="l">
              <a:lnSpc>
                <a:spcPct val="115000"/>
              </a:lnSpc>
            </a:pPr>
            <a:r>
              <a:rPr sz="1500" b="1">
                <a:solidFill>
                  <a:srgbClr val="0F2A4F"/>
                </a:solidFill>
                <a:latin typeface="Hiragino Sans"/>
                <a:ea typeface="Hiragino Sans"/>
                <a:cs typeface="Hiragino Sans"/>
              </a:rPr>
              <a:t>LINEヤフー統合 + AI検索勃興で日本広告市場は新構造</a:t>
            </a:r>
          </a:p>
        </p:txBody>
      </p:sp>
      <p:sp>
        <p:nvSpPr>
          <p:cNvPr id="17" name="TextBox 16"/>
          <p:cNvSpPr txBox="1"/>
          <p:nvPr/>
        </p:nvSpPr>
        <p:spPr>
          <a:xfrm>
            <a:off x="1920240" y="3246120"/>
            <a:ext cx="9601200" cy="45720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LINEヤフー広告 (2026春〜) が Google / Meta に次ぐ第3の柱に。</a:t>
            </a:r>
          </a:p>
          <a:p>
            <a:pPr algn="l">
              <a:lnSpc>
                <a:spcPct val="150000"/>
              </a:lnSpc>
            </a:pPr>
            <a:r>
              <a:rPr sz="1100" b="0">
                <a:solidFill>
                  <a:srgbClr val="1A1A1A"/>
                </a:solidFill>
                <a:latin typeface="Hiragino Sans"/>
                <a:ea typeface="Hiragino Sans"/>
                <a:cs typeface="Hiragino Sans"/>
              </a:rPr>
              <a:t>AI Overview・ChatGPT・Perplexity で検索トラフィック構造が変化</a:t>
            </a:r>
          </a:p>
        </p:txBody>
      </p:sp>
      <p:sp>
        <p:nvSpPr>
          <p:cNvPr id="18" name="Rounded Rectangle 17"/>
          <p:cNvSpPr/>
          <p:nvPr/>
        </p:nvSpPr>
        <p:spPr>
          <a:xfrm>
            <a:off x="548640" y="3840480"/>
            <a:ext cx="11109960" cy="10972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840480"/>
            <a:ext cx="137160" cy="109728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4023360"/>
            <a:ext cx="914400" cy="640080"/>
          </a:xfrm>
          <a:prstGeom prst="rect">
            <a:avLst/>
          </a:prstGeom>
          <a:noFill/>
        </p:spPr>
        <p:txBody>
          <a:bodyPr wrap="square" anchor="t" lIns="0" rIns="0" tIns="0" bIns="0">
            <a:spAutoFit/>
          </a:bodyPr>
          <a:lstStyle/>
          <a:p>
            <a:pPr algn="l">
              <a:lnSpc>
                <a:spcPct val="115000"/>
              </a:lnSpc>
            </a:pPr>
            <a:r>
              <a:rPr sz="3400" b="1">
                <a:solidFill>
                  <a:srgbClr val="E87722"/>
                </a:solidFill>
                <a:latin typeface="Helvetica Neue"/>
                <a:ea typeface="Helvetica Neue"/>
                <a:cs typeface="Helvetica Neue"/>
              </a:rPr>
              <a:t>03</a:t>
            </a:r>
          </a:p>
        </p:txBody>
      </p:sp>
      <p:sp>
        <p:nvSpPr>
          <p:cNvPr id="21" name="TextBox 20"/>
          <p:cNvSpPr txBox="1"/>
          <p:nvPr/>
        </p:nvSpPr>
        <p:spPr>
          <a:xfrm>
            <a:off x="1920240" y="4023360"/>
            <a:ext cx="9601200" cy="411480"/>
          </a:xfrm>
          <a:prstGeom prst="rect">
            <a:avLst/>
          </a:prstGeom>
          <a:noFill/>
        </p:spPr>
        <p:txBody>
          <a:bodyPr wrap="square" anchor="t" lIns="0" rIns="0" tIns="0" bIns="0">
            <a:spAutoFit/>
          </a:bodyPr>
          <a:lstStyle/>
          <a:p>
            <a:pPr algn="l">
              <a:lnSpc>
                <a:spcPct val="115000"/>
              </a:lnSpc>
            </a:pPr>
            <a:r>
              <a:rPr sz="1500" b="1">
                <a:solidFill>
                  <a:srgbClr val="0F2A4F"/>
                </a:solidFill>
                <a:latin typeface="Hiragino Sans"/>
                <a:ea typeface="Hiragino Sans"/>
                <a:cs typeface="Hiragino Sans"/>
              </a:rPr>
              <a:t>代理店内製化 + 運用職シフト = 副業代行にチャンス</a:t>
            </a:r>
          </a:p>
        </p:txBody>
      </p:sp>
      <p:sp>
        <p:nvSpPr>
          <p:cNvPr id="22" name="TextBox 21"/>
          <p:cNvSpPr txBox="1"/>
          <p:nvPr/>
        </p:nvSpPr>
        <p:spPr>
          <a:xfrm>
            <a:off x="1920240" y="4480560"/>
            <a:ext cx="9601200" cy="45720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中小企業の AI導入支援 + 運用代行は需要過多。</a:t>
            </a:r>
          </a:p>
          <a:p>
            <a:pPr algn="l">
              <a:lnSpc>
                <a:spcPct val="150000"/>
              </a:lnSpc>
            </a:pPr>
            <a:r>
              <a:rPr sz="1100" b="0">
                <a:solidFill>
                  <a:srgbClr val="1A1A1A"/>
                </a:solidFill>
                <a:latin typeface="Hiragino Sans"/>
                <a:ea typeface="Hiragino Sans"/>
                <a:cs typeface="Hiragino Sans"/>
              </a:rPr>
              <a:t>『AIを導く運用職』として GA4/SGTM/Incrementality を備えた人材は希少</a:t>
            </a:r>
          </a:p>
        </p:txBody>
      </p:sp>
      <p:sp>
        <p:nvSpPr>
          <p:cNvPr id="23" name="Rounded Rectangle 22"/>
          <p:cNvSpPr/>
          <p:nvPr/>
        </p:nvSpPr>
        <p:spPr>
          <a:xfrm>
            <a:off x="548640" y="5212080"/>
            <a:ext cx="11109960" cy="109728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349240"/>
            <a:ext cx="10972800" cy="411480"/>
          </a:xfrm>
          <a:prstGeom prst="rect">
            <a:avLst/>
          </a:prstGeom>
          <a:noFill/>
        </p:spPr>
        <p:txBody>
          <a:bodyPr wrap="square" anchor="t" lIns="0" rIns="0" tIns="0" bIns="0">
            <a:spAutoFit/>
          </a:bodyPr>
          <a:lstStyle/>
          <a:p>
            <a:pPr algn="l">
              <a:lnSpc>
                <a:spcPct val="115000"/>
              </a:lnSpc>
            </a:pPr>
            <a:r>
              <a:rPr sz="1800" b="1">
                <a:solidFill>
                  <a:srgbClr val="E87722"/>
                </a:solidFill>
                <a:latin typeface="Helvetica Neue"/>
                <a:ea typeface="Helvetica Neue"/>
                <a:cs typeface="Helvetica Neue"/>
              </a:rPr>
              <a:t>NEXT →  Part 3 媒体別キャッチアップ (110p)</a:t>
            </a:r>
          </a:p>
        </p:txBody>
      </p:sp>
      <p:sp>
        <p:nvSpPr>
          <p:cNvPr id="25" name="TextBox 24"/>
          <p:cNvSpPr txBox="1"/>
          <p:nvPr/>
        </p:nvSpPr>
        <p:spPr>
          <a:xfrm>
            <a:off x="777240" y="5760720"/>
            <a:ext cx="10972800" cy="548640"/>
          </a:xfrm>
          <a:prstGeom prst="rect">
            <a:avLst/>
          </a:prstGeom>
          <a:noFill/>
        </p:spPr>
        <p:txBody>
          <a:bodyPr wrap="square" anchor="t" lIns="0" rIns="0" tIns="0" bIns="0">
            <a:spAutoFit/>
          </a:bodyPr>
          <a:lstStyle/>
          <a:p>
            <a:pPr algn="l">
              <a:lnSpc>
                <a:spcPct val="150000"/>
              </a:lnSpc>
            </a:pPr>
            <a:r>
              <a:rPr sz="1200" b="0">
                <a:solidFill>
                  <a:srgbClr val="FFFFFF"/>
                </a:solidFill>
                <a:latin typeface="Hiragino Sans"/>
                <a:ea typeface="Hiragino Sans"/>
                <a:cs typeface="Hiragino Sans"/>
              </a:rPr>
              <a:t>Google Ads (25p) / Meta (22p) / YouTube (12p) / Yahoo! (10p) / TikTok (15p)</a:t>
            </a:r>
          </a:p>
          <a:p>
            <a:pPr algn="l">
              <a:lnSpc>
                <a:spcPct val="150000"/>
              </a:lnSpc>
            </a:pPr>
            <a:r>
              <a:rPr sz="1200" b="0">
                <a:solidFill>
                  <a:srgbClr val="FFFFFF"/>
                </a:solidFill>
                <a:latin typeface="Hiragino Sans"/>
                <a:ea typeface="Hiragino Sans"/>
                <a:cs typeface="Hiragino Sans"/>
              </a:rPr>
              <a:t>LINE (10p) / X (6p) / LinkedIn (5p) / Amazon Ads (5p)</a:t>
            </a:r>
          </a:p>
        </p:txBody>
      </p:sp>
      <p:sp>
        <p:nvSpPr>
          <p:cNvPr id="26" name="TextBox 25"/>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914400"/>
            <a:ext cx="137160" cy="493776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914400"/>
            <a:ext cx="7315200" cy="365760"/>
          </a:xfrm>
          <a:prstGeom prst="rect">
            <a:avLst/>
          </a:prstGeom>
          <a:noFill/>
        </p:spPr>
        <p:txBody>
          <a:bodyPr wrap="square" anchor="t" lIns="0" rIns="0" tIns="0" bIns="0">
            <a:spAutoFit/>
          </a:bodyPr>
          <a:lstStyle/>
          <a:p>
            <a:pPr algn="l">
              <a:lnSpc>
                <a:spcPct val="115000"/>
              </a:lnSpc>
            </a:pPr>
            <a:r>
              <a:rPr sz="1200" b="1">
                <a:solidFill>
                  <a:srgbClr val="E87722"/>
                </a:solidFill>
                <a:latin typeface="Helvetica Neue"/>
                <a:ea typeface="Helvetica Neue"/>
                <a:cs typeface="Helvetica Neue"/>
              </a:rPr>
              <a:t>PART 3 / 媒体別キャッチアップ</a:t>
            </a:r>
          </a:p>
        </p:txBody>
      </p:sp>
      <p:sp>
        <p:nvSpPr>
          <p:cNvPr id="5" name="TextBox 4"/>
          <p:cNvSpPr txBox="1"/>
          <p:nvPr/>
        </p:nvSpPr>
        <p:spPr>
          <a:xfrm>
            <a:off x="1097280" y="1280160"/>
            <a:ext cx="7315200" cy="365760"/>
          </a:xfrm>
          <a:prstGeom prst="rect">
            <a:avLst/>
          </a:prstGeom>
          <a:noFill/>
        </p:spPr>
        <p:txBody>
          <a:bodyPr wrap="square" anchor="t" lIns="0" rIns="0" tIns="0" bIns="0">
            <a:spAutoFit/>
          </a:bodyPr>
          <a:lstStyle/>
          <a:p>
            <a:pPr algn="l">
              <a:lnSpc>
                <a:spcPct val="115000"/>
              </a:lnSpc>
            </a:pPr>
            <a:r>
              <a:rPr sz="1400" b="1">
                <a:solidFill>
                  <a:srgbClr val="D7DDE8"/>
                </a:solidFill>
                <a:latin typeface="Hiragino Sans"/>
                <a:ea typeface="Hiragino Sans"/>
                <a:cs typeface="Hiragino Sans"/>
              </a:rPr>
              <a:t>3-A</a:t>
            </a:r>
          </a:p>
        </p:txBody>
      </p:sp>
      <p:sp>
        <p:nvSpPr>
          <p:cNvPr id="6" name="TextBox 5"/>
          <p:cNvSpPr txBox="1"/>
          <p:nvPr/>
        </p:nvSpPr>
        <p:spPr>
          <a:xfrm>
            <a:off x="1097280" y="1691640"/>
            <a:ext cx="10058400" cy="1188720"/>
          </a:xfrm>
          <a:prstGeom prst="rect">
            <a:avLst/>
          </a:prstGeom>
          <a:noFill/>
        </p:spPr>
        <p:txBody>
          <a:bodyPr wrap="square" anchor="t" lIns="0" rIns="0" tIns="0" bIns="0">
            <a:spAutoFit/>
          </a:bodyPr>
          <a:lstStyle/>
          <a:p>
            <a:pPr algn="l">
              <a:lnSpc>
                <a:spcPct val="110000"/>
              </a:lnSpc>
            </a:pPr>
            <a:r>
              <a:rPr sz="5400" b="1">
                <a:solidFill>
                  <a:srgbClr val="FFFFFF"/>
                </a:solidFill>
                <a:latin typeface="Hiragino Sans"/>
                <a:ea typeface="Hiragino Sans"/>
                <a:cs typeface="Hiragino Sans"/>
              </a:rPr>
              <a:t>Google Ads</a:t>
            </a:r>
          </a:p>
        </p:txBody>
      </p:sp>
      <p:sp>
        <p:nvSpPr>
          <p:cNvPr id="7" name="TextBox 6"/>
          <p:cNvSpPr txBox="1"/>
          <p:nvPr/>
        </p:nvSpPr>
        <p:spPr>
          <a:xfrm>
            <a:off x="1097280" y="3017520"/>
            <a:ext cx="10058400" cy="365760"/>
          </a:xfrm>
          <a:prstGeom prst="rect">
            <a:avLst/>
          </a:prstGeom>
          <a:noFill/>
        </p:spPr>
        <p:txBody>
          <a:bodyPr wrap="square" anchor="t" lIns="0" rIns="0" tIns="0" bIns="0">
            <a:spAutoFit/>
          </a:bodyPr>
          <a:lstStyle/>
          <a:p>
            <a:pPr algn="l">
              <a:lnSpc>
                <a:spcPct val="115000"/>
              </a:lnSpc>
            </a:pPr>
            <a:r>
              <a:rPr sz="1600" b="0">
                <a:solidFill>
                  <a:srgbClr val="D7DDE8"/>
                </a:solidFill>
                <a:latin typeface="Hiragino Sans"/>
                <a:ea typeface="Hiragino Sans"/>
                <a:cs typeface="Hiragino Sans"/>
              </a:rPr>
              <a:t>2.5年で最も大きく変わった媒体。運用者の仕事そのものが書き換わった</a:t>
            </a:r>
          </a:p>
        </p:txBody>
      </p:sp>
      <p:sp>
        <p:nvSpPr>
          <p:cNvPr id="8" name="Rounded Rectangle 7"/>
          <p:cNvSpPr/>
          <p:nvPr/>
        </p:nvSpPr>
        <p:spPr>
          <a:xfrm>
            <a:off x="9875520" y="914400"/>
            <a:ext cx="1828800" cy="640080"/>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1078992"/>
            <a:ext cx="1828800" cy="457200"/>
          </a:xfrm>
          <a:prstGeom prst="rect">
            <a:avLst/>
          </a:prstGeom>
          <a:noFill/>
        </p:spPr>
        <p:txBody>
          <a:bodyPr wrap="square" anchor="t" lIns="0" rIns="0" tIns="0" bIns="0">
            <a:spAutoFit/>
          </a:bodyPr>
          <a:lstStyle/>
          <a:p>
            <a:pPr algn="ctr">
              <a:lnSpc>
                <a:spcPct val="115000"/>
              </a:lnSpc>
            </a:pPr>
            <a:r>
              <a:rPr sz="1800" b="1">
                <a:solidFill>
                  <a:srgbClr val="FFFFFF"/>
                </a:solidFill>
                <a:latin typeface="Helvetica Neue"/>
                <a:ea typeface="Helvetica Neue"/>
                <a:cs typeface="Helvetica Neue"/>
              </a:rPr>
              <a:t>25p</a:t>
            </a:r>
          </a:p>
        </p:txBody>
      </p:sp>
      <p:sp>
        <p:nvSpPr>
          <p:cNvPr id="10" name="Rectangle 9"/>
          <p:cNvSpPr/>
          <p:nvPr/>
        </p:nvSpPr>
        <p:spPr>
          <a:xfrm>
            <a:off x="1097280" y="3657600"/>
            <a:ext cx="914400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840480"/>
            <a:ext cx="10058400" cy="914400"/>
          </a:xfrm>
          <a:prstGeom prst="rect">
            <a:avLst/>
          </a:prstGeom>
          <a:noFill/>
        </p:spPr>
        <p:txBody>
          <a:bodyPr wrap="square" anchor="t" lIns="0" rIns="0" tIns="0" bIns="0">
            <a:spAutoFit/>
          </a:bodyPr>
          <a:lstStyle/>
          <a:p>
            <a:pPr algn="l">
              <a:lnSpc>
                <a:spcPct val="150000"/>
              </a:lnSpc>
            </a:pPr>
            <a:r>
              <a:rPr sz="1300" b="0">
                <a:solidFill>
                  <a:srgbClr val="D7DDE8"/>
                </a:solidFill>
                <a:latin typeface="Hiragino Sans"/>
                <a:ea typeface="Hiragino Sans"/>
                <a:cs typeface="Hiragino Sans"/>
              </a:rPr>
              <a:t>PMaxの成熟、AI Max for Search、Gemini in Ads、Demand Gen、Enhanced Conversions、</a:t>
            </a:r>
          </a:p>
          <a:p>
            <a:pPr algn="l">
              <a:lnSpc>
                <a:spcPct val="150000"/>
              </a:lnSpc>
            </a:pPr>
            <a:r>
              <a:rPr sz="1300" b="0">
                <a:solidFill>
                  <a:srgbClr val="D7DDE8"/>
                </a:solidFill>
                <a:latin typeface="Hiragino Sans"/>
                <a:ea typeface="Hiragino Sans"/>
                <a:cs typeface="Hiragino Sans"/>
              </a:rPr>
              <a:t>Consent Mode v2 連携、Broad Match + Smart Bidding の思想、Attribution の進化。</a:t>
            </a:r>
          </a:p>
          <a:p>
            <a:pPr algn="l">
              <a:lnSpc>
                <a:spcPct val="150000"/>
              </a:lnSpc>
            </a:pPr>
            <a:r>
              <a:rPr sz="1300" b="0">
                <a:solidFill>
                  <a:srgbClr val="D7DDE8"/>
                </a:solidFill>
                <a:latin typeface="Hiragino Sans"/>
                <a:ea typeface="Hiragino Sans"/>
                <a:cs typeface="Hiragino Sans"/>
              </a:rPr>
              <a:t>この章を読めば『今Google Adsを再開できる』状態になる</a:t>
            </a:r>
          </a:p>
        </p:txBody>
      </p:sp>
      <p:sp>
        <p:nvSpPr>
          <p:cNvPr id="12" name="TextBox 11"/>
          <p:cNvSpPr txBox="1"/>
          <p:nvPr/>
        </p:nvSpPr>
        <p:spPr>
          <a:xfrm>
            <a:off x="1097280" y="5029200"/>
            <a:ext cx="7315200" cy="320040"/>
          </a:xfrm>
          <a:prstGeom prst="rect">
            <a:avLst/>
          </a:prstGeom>
          <a:noFill/>
        </p:spPr>
        <p:txBody>
          <a:bodyPr wrap="square" anchor="t" lIns="0" rIns="0" tIns="0" bIns="0">
            <a:spAutoFit/>
          </a:bodyPr>
          <a:lstStyle/>
          <a:p>
            <a:pPr algn="l">
              <a:lnSpc>
                <a:spcPct val="115000"/>
              </a:lnSpc>
            </a:pPr>
            <a:r>
              <a:rPr sz="1200" b="1">
                <a:solidFill>
                  <a:srgbClr val="E87722"/>
                </a:solidFill>
                <a:latin typeface="Hiragino Sans"/>
                <a:ea typeface="Hiragino Sans"/>
                <a:cs typeface="Hiragino Sans"/>
              </a:rPr>
              <a:t>▸ 章内の主要トピック</a:t>
            </a:r>
          </a:p>
        </p:txBody>
      </p:sp>
      <p:sp>
        <p:nvSpPr>
          <p:cNvPr id="13" name="TextBox 12"/>
          <p:cNvSpPr txBox="1"/>
          <p:nvPr/>
        </p:nvSpPr>
        <p:spPr>
          <a:xfrm>
            <a:off x="1097280" y="5349240"/>
            <a:ext cx="5029200" cy="292608"/>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Google Ads 地殻変動 TL;DR</a:t>
            </a:r>
          </a:p>
        </p:txBody>
      </p:sp>
      <p:sp>
        <p:nvSpPr>
          <p:cNvPr id="14" name="TextBox 13"/>
          <p:cNvSpPr txBox="1"/>
          <p:nvPr/>
        </p:nvSpPr>
        <p:spPr>
          <a:xfrm>
            <a:off x="1097280" y="5641848"/>
            <a:ext cx="5029200" cy="292608"/>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キャンペーンタイプ現在地</a:t>
            </a:r>
          </a:p>
        </p:txBody>
      </p:sp>
      <p:sp>
        <p:nvSpPr>
          <p:cNvPr id="15" name="TextBox 14"/>
          <p:cNvSpPr txBox="1"/>
          <p:nvPr/>
        </p:nvSpPr>
        <p:spPr>
          <a:xfrm>
            <a:off x="1097280" y="5934456"/>
            <a:ext cx="5029200" cy="292608"/>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Performance Max の全貌</a:t>
            </a:r>
          </a:p>
        </p:txBody>
      </p:sp>
      <p:sp>
        <p:nvSpPr>
          <p:cNvPr id="16" name="TextBox 15"/>
          <p:cNvSpPr txBox="1"/>
          <p:nvPr/>
        </p:nvSpPr>
        <p:spPr>
          <a:xfrm>
            <a:off x="1097280" y="6227064"/>
            <a:ext cx="5029200" cy="292608"/>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PMax 統制術</a:t>
            </a:r>
          </a:p>
        </p:txBody>
      </p:sp>
      <p:sp>
        <p:nvSpPr>
          <p:cNvPr id="17" name="TextBox 16"/>
          <p:cNvSpPr txBox="1"/>
          <p:nvPr/>
        </p:nvSpPr>
        <p:spPr>
          <a:xfrm>
            <a:off x="1097280" y="6519672"/>
            <a:ext cx="5029200" cy="292608"/>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検索: Broad Match 復権</a:t>
            </a:r>
          </a:p>
        </p:txBody>
      </p:sp>
      <p:sp>
        <p:nvSpPr>
          <p:cNvPr id="18" name="TextBox 17"/>
          <p:cNvSpPr txBox="1"/>
          <p:nvPr/>
        </p:nvSpPr>
        <p:spPr>
          <a:xfrm>
            <a:off x="1097280" y="6812280"/>
            <a:ext cx="5029200" cy="292608"/>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AI Max for Search (2025/05)</a:t>
            </a:r>
          </a:p>
        </p:txBody>
      </p:sp>
      <p:sp>
        <p:nvSpPr>
          <p:cNvPr id="19" name="TextBox 18"/>
          <p:cNvSpPr txBox="1"/>
          <p:nvPr/>
        </p:nvSpPr>
        <p:spPr>
          <a:xfrm>
            <a:off x="1097280" y="7104888"/>
            <a:ext cx="5029200" cy="292608"/>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Gemini in Google Ads</a:t>
            </a:r>
          </a:p>
        </p:txBody>
      </p:sp>
      <p:sp>
        <p:nvSpPr>
          <p:cNvPr id="20" name="TextBox 19"/>
          <p:cNvSpPr txBox="1"/>
          <p:nvPr/>
        </p:nvSpPr>
        <p:spPr>
          <a:xfrm>
            <a:off x="1097280" y="7397496"/>
            <a:ext cx="5029200" cy="292608"/>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Demand Gen (Discovery統合)</a:t>
            </a:r>
          </a:p>
        </p:txBody>
      </p:sp>
      <p:sp>
        <p:nvSpPr>
          <p:cNvPr id="21" name="TextBox 20"/>
          <p:cNvSpPr txBox="1"/>
          <p:nvPr/>
        </p:nvSpPr>
        <p:spPr>
          <a:xfrm>
            <a:off x="1097280" y="7690104"/>
            <a:ext cx="5029200" cy="292608"/>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Enhanced Conversions</a:t>
            </a:r>
          </a:p>
        </p:txBody>
      </p:sp>
      <p:sp>
        <p:nvSpPr>
          <p:cNvPr id="22" name="TextBox 21"/>
          <p:cNvSpPr txBox="1"/>
          <p:nvPr/>
        </p:nvSpPr>
        <p:spPr>
          <a:xfrm>
            <a:off x="6309360" y="5349240"/>
            <a:ext cx="5029200" cy="292608"/>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Consent Mode v2 連携</a:t>
            </a:r>
          </a:p>
        </p:txBody>
      </p:sp>
      <p:sp>
        <p:nvSpPr>
          <p:cNvPr id="23" name="TextBox 22"/>
          <p:cNvSpPr txBox="1"/>
          <p:nvPr/>
        </p:nvSpPr>
        <p:spPr>
          <a:xfrm>
            <a:off x="6309360" y="5641848"/>
            <a:ext cx="5029200" cy="292608"/>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Offline / Customer Match</a:t>
            </a:r>
          </a:p>
        </p:txBody>
      </p:sp>
      <p:sp>
        <p:nvSpPr>
          <p:cNvPr id="24" name="TextBox 23"/>
          <p:cNvSpPr txBox="1"/>
          <p:nvPr/>
        </p:nvSpPr>
        <p:spPr>
          <a:xfrm>
            <a:off x="6309360" y="5934456"/>
            <a:ext cx="5029200" cy="292608"/>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Value-based Bidding</a:t>
            </a:r>
          </a:p>
        </p:txBody>
      </p:sp>
      <p:sp>
        <p:nvSpPr>
          <p:cNvPr id="25" name="TextBox 24"/>
          <p:cNvSpPr txBox="1"/>
          <p:nvPr/>
        </p:nvSpPr>
        <p:spPr>
          <a:xfrm>
            <a:off x="6309360" y="6227064"/>
            <a:ext cx="5029200" cy="292608"/>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Predictive Audiences</a:t>
            </a:r>
          </a:p>
        </p:txBody>
      </p:sp>
      <p:sp>
        <p:nvSpPr>
          <p:cNvPr id="26" name="TextBox 25"/>
          <p:cNvSpPr txBox="1"/>
          <p:nvPr/>
        </p:nvSpPr>
        <p:spPr>
          <a:xfrm>
            <a:off x="6309360" y="6519672"/>
            <a:ext cx="5029200" cy="292608"/>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DDA / Attribution</a:t>
            </a:r>
          </a:p>
        </p:txBody>
      </p:sp>
      <p:sp>
        <p:nvSpPr>
          <p:cNvPr id="27" name="TextBox 26"/>
          <p:cNvSpPr txBox="1"/>
          <p:nvPr/>
        </p:nvSpPr>
        <p:spPr>
          <a:xfrm>
            <a:off x="6309360" y="6812280"/>
            <a:ext cx="5029200" cy="292608"/>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Optiscore 活用と罠</a:t>
            </a:r>
          </a:p>
        </p:txBody>
      </p:sp>
      <p:sp>
        <p:nvSpPr>
          <p:cNvPr id="28" name="TextBox 27"/>
          <p:cNvSpPr txBox="1"/>
          <p:nvPr/>
        </p:nvSpPr>
        <p:spPr>
          <a:xfrm>
            <a:off x="6309360" y="7104888"/>
            <a:ext cx="5029200" cy="292608"/>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鉄板運用メソッド 2026</a:t>
            </a:r>
          </a:p>
        </p:txBody>
      </p:sp>
      <p:sp>
        <p:nvSpPr>
          <p:cNvPr id="29" name="TextBox 28"/>
          <p:cNvSpPr txBox="1"/>
          <p:nvPr/>
        </p:nvSpPr>
        <p:spPr>
          <a:xfrm>
            <a:off x="6309360" y="7397496"/>
            <a:ext cx="5029200" cy="292608"/>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よくある失敗・回避策</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Google Ads : 地殻変動 TL;DR</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2023年9月 → 2026年4月 で何が変わったか 5行で</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P32 / 250</a:t>
            </a:r>
          </a:p>
        </p:txBody>
      </p:sp>
      <p:sp>
        <p:nvSpPr>
          <p:cNvPr id="8" name="Rounded Rectangle 7"/>
          <p:cNvSpPr/>
          <p:nvPr/>
        </p:nvSpPr>
        <p:spPr>
          <a:xfrm>
            <a:off x="548640" y="1325880"/>
            <a:ext cx="11109960" cy="9601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25880"/>
            <a:ext cx="109728" cy="9601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508760"/>
            <a:ext cx="731520" cy="640080"/>
          </a:xfrm>
          <a:prstGeom prst="rect">
            <a:avLst/>
          </a:prstGeom>
          <a:noFill/>
        </p:spPr>
        <p:txBody>
          <a:bodyPr wrap="square" anchor="t" lIns="0" rIns="0" tIns="0" bIns="0">
            <a:spAutoFit/>
          </a:bodyPr>
          <a:lstStyle/>
          <a:p>
            <a:pPr algn="l">
              <a:lnSpc>
                <a:spcPct val="115000"/>
              </a:lnSpc>
            </a:pPr>
            <a:r>
              <a:rPr sz="3200" b="1">
                <a:solidFill>
                  <a:srgbClr val="E87722"/>
                </a:solidFill>
                <a:latin typeface="Helvetica Neue"/>
                <a:ea typeface="Helvetica Neue"/>
                <a:cs typeface="Helvetica Neue"/>
              </a:rPr>
              <a:t>01</a:t>
            </a:r>
          </a:p>
        </p:txBody>
      </p:sp>
      <p:sp>
        <p:nvSpPr>
          <p:cNvPr id="11" name="TextBox 10"/>
          <p:cNvSpPr txBox="1"/>
          <p:nvPr/>
        </p:nvSpPr>
        <p:spPr>
          <a:xfrm>
            <a:off x="1737360" y="1490472"/>
            <a:ext cx="9601200" cy="365760"/>
          </a:xfrm>
          <a:prstGeom prst="rect">
            <a:avLst/>
          </a:prstGeom>
          <a:noFill/>
        </p:spPr>
        <p:txBody>
          <a:bodyPr wrap="square" anchor="t" lIns="0" rIns="0" tIns="0" bIns="0">
            <a:spAutoFit/>
          </a:bodyPr>
          <a:lstStyle/>
          <a:p>
            <a:pPr algn="l">
              <a:lnSpc>
                <a:spcPct val="115000"/>
              </a:lnSpc>
            </a:pPr>
            <a:r>
              <a:rPr sz="1500" b="1">
                <a:solidFill>
                  <a:srgbClr val="0F2A4F"/>
                </a:solidFill>
                <a:latin typeface="Hiragino Sans"/>
                <a:ea typeface="Hiragino Sans"/>
                <a:cs typeface="Hiragino Sans"/>
              </a:rPr>
              <a:t>検索広告の思想逆転</a:t>
            </a:r>
          </a:p>
        </p:txBody>
      </p:sp>
      <p:sp>
        <p:nvSpPr>
          <p:cNvPr id="12" name="TextBox 11"/>
          <p:cNvSpPr txBox="1"/>
          <p:nvPr/>
        </p:nvSpPr>
        <p:spPr>
          <a:xfrm>
            <a:off x="1737360" y="1828800"/>
            <a:ext cx="9692640" cy="457200"/>
          </a:xfrm>
          <a:prstGeom prst="rect">
            <a:avLst/>
          </a:prstGeom>
          <a:noFill/>
        </p:spPr>
        <p:txBody>
          <a:bodyPr wrap="square" anchor="t" lIns="0" rIns="0" tIns="0" bIns="0">
            <a:spAutoFit/>
          </a:bodyPr>
          <a:lstStyle/>
          <a:p>
            <a:pPr algn="l">
              <a:lnSpc>
                <a:spcPct val="150000"/>
              </a:lnSpc>
            </a:pPr>
            <a:r>
              <a:rPr sz="1000" b="0">
                <a:solidFill>
                  <a:srgbClr val="1A1A1A"/>
                </a:solidFill>
                <a:latin typeface="Hiragino Sans"/>
                <a:ea typeface="Hiragino Sans"/>
                <a:cs typeface="Hiragino Sans"/>
              </a:rPr>
              <a:t>キーワード選定 + Phrase/Exact 細かく制御 → Broad Match + Smart Bidding 推奨へ。</a:t>
            </a:r>
          </a:p>
          <a:p>
            <a:pPr algn="l">
              <a:lnSpc>
                <a:spcPct val="150000"/>
              </a:lnSpc>
            </a:pPr>
            <a:r>
              <a:rPr sz="1000" b="0">
                <a:solidFill>
                  <a:srgbClr val="1A1A1A"/>
                </a:solidFill>
                <a:latin typeface="Hiragino Sans"/>
                <a:ea typeface="Hiragino Sans"/>
                <a:cs typeface="Hiragino Sans"/>
              </a:rPr>
              <a:t>『AIにマッチさせ、ネガで絞る』が基本</a:t>
            </a:r>
          </a:p>
        </p:txBody>
      </p:sp>
      <p:sp>
        <p:nvSpPr>
          <p:cNvPr id="13" name="Rounded Rectangle 12"/>
          <p:cNvSpPr/>
          <p:nvPr/>
        </p:nvSpPr>
        <p:spPr>
          <a:xfrm>
            <a:off x="548640" y="2313432"/>
            <a:ext cx="11109960" cy="9601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2313432"/>
            <a:ext cx="109728" cy="9601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2496312"/>
            <a:ext cx="731520" cy="640080"/>
          </a:xfrm>
          <a:prstGeom prst="rect">
            <a:avLst/>
          </a:prstGeom>
          <a:noFill/>
        </p:spPr>
        <p:txBody>
          <a:bodyPr wrap="square" anchor="t" lIns="0" rIns="0" tIns="0" bIns="0">
            <a:spAutoFit/>
          </a:bodyPr>
          <a:lstStyle/>
          <a:p>
            <a:pPr algn="l">
              <a:lnSpc>
                <a:spcPct val="115000"/>
              </a:lnSpc>
            </a:pPr>
            <a:r>
              <a:rPr sz="3200" b="1">
                <a:solidFill>
                  <a:srgbClr val="E87722"/>
                </a:solidFill>
                <a:latin typeface="Helvetica Neue"/>
                <a:ea typeface="Helvetica Neue"/>
                <a:cs typeface="Helvetica Neue"/>
              </a:rPr>
              <a:t>02</a:t>
            </a:r>
          </a:p>
        </p:txBody>
      </p:sp>
      <p:sp>
        <p:nvSpPr>
          <p:cNvPr id="16" name="TextBox 15"/>
          <p:cNvSpPr txBox="1"/>
          <p:nvPr/>
        </p:nvSpPr>
        <p:spPr>
          <a:xfrm>
            <a:off x="1737360" y="2478024"/>
            <a:ext cx="9601200" cy="365760"/>
          </a:xfrm>
          <a:prstGeom prst="rect">
            <a:avLst/>
          </a:prstGeom>
          <a:noFill/>
        </p:spPr>
        <p:txBody>
          <a:bodyPr wrap="square" anchor="t" lIns="0" rIns="0" tIns="0" bIns="0">
            <a:spAutoFit/>
          </a:bodyPr>
          <a:lstStyle/>
          <a:p>
            <a:pPr algn="l">
              <a:lnSpc>
                <a:spcPct val="115000"/>
              </a:lnSpc>
            </a:pPr>
            <a:r>
              <a:rPr sz="1500" b="1">
                <a:solidFill>
                  <a:srgbClr val="0F2A4F"/>
                </a:solidFill>
                <a:latin typeface="Hiragino Sans"/>
                <a:ea typeface="Hiragino Sans"/>
                <a:cs typeface="Hiragino Sans"/>
              </a:rPr>
              <a:t>キャンペーンタイプの整理</a:t>
            </a:r>
          </a:p>
        </p:txBody>
      </p:sp>
      <p:sp>
        <p:nvSpPr>
          <p:cNvPr id="17" name="TextBox 16"/>
          <p:cNvSpPr txBox="1"/>
          <p:nvPr/>
        </p:nvSpPr>
        <p:spPr>
          <a:xfrm>
            <a:off x="1737360" y="2816352"/>
            <a:ext cx="9692640" cy="457200"/>
          </a:xfrm>
          <a:prstGeom prst="rect">
            <a:avLst/>
          </a:prstGeom>
          <a:noFill/>
        </p:spPr>
        <p:txBody>
          <a:bodyPr wrap="square" anchor="t" lIns="0" rIns="0" tIns="0" bIns="0">
            <a:spAutoFit/>
          </a:bodyPr>
          <a:lstStyle/>
          <a:p>
            <a:pPr algn="l">
              <a:lnSpc>
                <a:spcPct val="150000"/>
              </a:lnSpc>
            </a:pPr>
            <a:r>
              <a:rPr sz="1000" b="0">
                <a:solidFill>
                  <a:srgbClr val="1A1A1A"/>
                </a:solidFill>
                <a:latin typeface="Hiragino Sans"/>
                <a:ea typeface="Hiragino Sans"/>
                <a:cs typeface="Hiragino Sans"/>
              </a:rPr>
              <a:t>Smart Shopping / Local Campaigns は廃止・PMax 統合。</a:t>
            </a:r>
          </a:p>
          <a:p>
            <a:pPr algn="l">
              <a:lnSpc>
                <a:spcPct val="150000"/>
              </a:lnSpc>
            </a:pPr>
            <a:r>
              <a:rPr sz="1000" b="0">
                <a:solidFill>
                  <a:srgbClr val="1A1A1A"/>
                </a:solidFill>
                <a:latin typeface="Hiragino Sans"/>
                <a:ea typeface="Hiragino Sans"/>
                <a:cs typeface="Hiragino Sans"/>
              </a:rPr>
              <a:t>Discovery Ads は Demand Gen に統合 (2023/10)。Video Action Campaign も Demand Gen へ</a:t>
            </a:r>
          </a:p>
        </p:txBody>
      </p:sp>
      <p:sp>
        <p:nvSpPr>
          <p:cNvPr id="18" name="Rounded Rectangle 17"/>
          <p:cNvSpPr/>
          <p:nvPr/>
        </p:nvSpPr>
        <p:spPr>
          <a:xfrm>
            <a:off x="548640" y="3300984"/>
            <a:ext cx="11109960" cy="9601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300984"/>
            <a:ext cx="109728" cy="9601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3483864"/>
            <a:ext cx="731520" cy="640080"/>
          </a:xfrm>
          <a:prstGeom prst="rect">
            <a:avLst/>
          </a:prstGeom>
          <a:noFill/>
        </p:spPr>
        <p:txBody>
          <a:bodyPr wrap="square" anchor="t" lIns="0" rIns="0" tIns="0" bIns="0">
            <a:spAutoFit/>
          </a:bodyPr>
          <a:lstStyle/>
          <a:p>
            <a:pPr algn="l">
              <a:lnSpc>
                <a:spcPct val="115000"/>
              </a:lnSpc>
            </a:pPr>
            <a:r>
              <a:rPr sz="3200" b="1">
                <a:solidFill>
                  <a:srgbClr val="E87722"/>
                </a:solidFill>
                <a:latin typeface="Helvetica Neue"/>
                <a:ea typeface="Helvetica Neue"/>
                <a:cs typeface="Helvetica Neue"/>
              </a:rPr>
              <a:t>03</a:t>
            </a:r>
          </a:p>
        </p:txBody>
      </p:sp>
      <p:sp>
        <p:nvSpPr>
          <p:cNvPr id="21" name="TextBox 20"/>
          <p:cNvSpPr txBox="1"/>
          <p:nvPr/>
        </p:nvSpPr>
        <p:spPr>
          <a:xfrm>
            <a:off x="1737360" y="3465576"/>
            <a:ext cx="9601200" cy="365760"/>
          </a:xfrm>
          <a:prstGeom prst="rect">
            <a:avLst/>
          </a:prstGeom>
          <a:noFill/>
        </p:spPr>
        <p:txBody>
          <a:bodyPr wrap="square" anchor="t" lIns="0" rIns="0" tIns="0" bIns="0">
            <a:spAutoFit/>
          </a:bodyPr>
          <a:lstStyle/>
          <a:p>
            <a:pPr algn="l">
              <a:lnSpc>
                <a:spcPct val="115000"/>
              </a:lnSpc>
            </a:pPr>
            <a:r>
              <a:rPr sz="1500" b="1">
                <a:solidFill>
                  <a:srgbClr val="0F2A4F"/>
                </a:solidFill>
                <a:latin typeface="Hiragino Sans"/>
                <a:ea typeface="Hiragino Sans"/>
                <a:cs typeface="Hiragino Sans"/>
              </a:rPr>
              <a:t>PMax が成熟化 + 統制機能が拡充</a:t>
            </a:r>
          </a:p>
        </p:txBody>
      </p:sp>
      <p:sp>
        <p:nvSpPr>
          <p:cNvPr id="22" name="TextBox 21"/>
          <p:cNvSpPr txBox="1"/>
          <p:nvPr/>
        </p:nvSpPr>
        <p:spPr>
          <a:xfrm>
            <a:off x="1737360" y="3803904"/>
            <a:ext cx="9692640" cy="457200"/>
          </a:xfrm>
          <a:prstGeom prst="rect">
            <a:avLst/>
          </a:prstGeom>
          <a:noFill/>
        </p:spPr>
        <p:txBody>
          <a:bodyPr wrap="square" anchor="t" lIns="0" rIns="0" tIns="0" bIns="0">
            <a:spAutoFit/>
          </a:bodyPr>
          <a:lstStyle/>
          <a:p>
            <a:pPr algn="l">
              <a:lnSpc>
                <a:spcPct val="150000"/>
              </a:lnSpc>
            </a:pPr>
            <a:r>
              <a:rPr sz="1000" b="0">
                <a:solidFill>
                  <a:srgbClr val="1A1A1A"/>
                </a:solidFill>
                <a:latin typeface="Hiragino Sans"/>
                <a:ea typeface="Hiragino Sans"/>
                <a:cs typeface="Hiragino Sans"/>
              </a:rPr>
              <a:t>Search Terms 開示 / Asset Insights / 50検索テーマ / ブランド除外 / デバイス指定 /</a:t>
            </a:r>
          </a:p>
          <a:p>
            <a:pPr algn="l">
              <a:lnSpc>
                <a:spcPct val="150000"/>
              </a:lnSpc>
            </a:pPr>
            <a:r>
              <a:rPr sz="1000" b="0">
                <a:solidFill>
                  <a:srgbClr val="1A1A1A"/>
                </a:solidFill>
                <a:latin typeface="Hiragino Sans"/>
                <a:ea typeface="Hiragino Sans"/>
                <a:cs typeface="Hiragino Sans"/>
              </a:rPr>
              <a:t>キャンペーンレベル除外キーワード 10,000件 / 動画 15本/asset group (2025)</a:t>
            </a:r>
          </a:p>
        </p:txBody>
      </p:sp>
      <p:sp>
        <p:nvSpPr>
          <p:cNvPr id="23" name="Rounded Rectangle 22"/>
          <p:cNvSpPr/>
          <p:nvPr/>
        </p:nvSpPr>
        <p:spPr>
          <a:xfrm>
            <a:off x="548640" y="4288536"/>
            <a:ext cx="11109960" cy="9601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4288536"/>
            <a:ext cx="109728" cy="9601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 y="4471416"/>
            <a:ext cx="731520" cy="640080"/>
          </a:xfrm>
          <a:prstGeom prst="rect">
            <a:avLst/>
          </a:prstGeom>
          <a:noFill/>
        </p:spPr>
        <p:txBody>
          <a:bodyPr wrap="square" anchor="t" lIns="0" rIns="0" tIns="0" bIns="0">
            <a:spAutoFit/>
          </a:bodyPr>
          <a:lstStyle/>
          <a:p>
            <a:pPr algn="l">
              <a:lnSpc>
                <a:spcPct val="115000"/>
              </a:lnSpc>
            </a:pPr>
            <a:r>
              <a:rPr sz="3200" b="1">
                <a:solidFill>
                  <a:srgbClr val="E87722"/>
                </a:solidFill>
                <a:latin typeface="Helvetica Neue"/>
                <a:ea typeface="Helvetica Neue"/>
                <a:cs typeface="Helvetica Neue"/>
              </a:rPr>
              <a:t>04</a:t>
            </a:r>
          </a:p>
        </p:txBody>
      </p:sp>
      <p:sp>
        <p:nvSpPr>
          <p:cNvPr id="26" name="TextBox 25"/>
          <p:cNvSpPr txBox="1"/>
          <p:nvPr/>
        </p:nvSpPr>
        <p:spPr>
          <a:xfrm>
            <a:off x="1737360" y="4453128"/>
            <a:ext cx="9601200" cy="365760"/>
          </a:xfrm>
          <a:prstGeom prst="rect">
            <a:avLst/>
          </a:prstGeom>
          <a:noFill/>
        </p:spPr>
        <p:txBody>
          <a:bodyPr wrap="square" anchor="t" lIns="0" rIns="0" tIns="0" bIns="0">
            <a:spAutoFit/>
          </a:bodyPr>
          <a:lstStyle/>
          <a:p>
            <a:pPr algn="l">
              <a:lnSpc>
                <a:spcPct val="115000"/>
              </a:lnSpc>
            </a:pPr>
            <a:r>
              <a:rPr sz="1500" b="1">
                <a:solidFill>
                  <a:srgbClr val="0F2A4F"/>
                </a:solidFill>
                <a:latin typeface="Hiragino Sans"/>
                <a:ea typeface="Hiragino Sans"/>
                <a:cs typeface="Hiragino Sans"/>
              </a:rPr>
              <a:t>Gemini + AI Max の登場</a:t>
            </a:r>
          </a:p>
        </p:txBody>
      </p:sp>
      <p:sp>
        <p:nvSpPr>
          <p:cNvPr id="27" name="TextBox 26"/>
          <p:cNvSpPr txBox="1"/>
          <p:nvPr/>
        </p:nvSpPr>
        <p:spPr>
          <a:xfrm>
            <a:off x="1737360" y="4791456"/>
            <a:ext cx="9692640" cy="457200"/>
          </a:xfrm>
          <a:prstGeom prst="rect">
            <a:avLst/>
          </a:prstGeom>
          <a:noFill/>
        </p:spPr>
        <p:txBody>
          <a:bodyPr wrap="square" anchor="t" lIns="0" rIns="0" tIns="0" bIns="0">
            <a:spAutoFit/>
          </a:bodyPr>
          <a:lstStyle/>
          <a:p>
            <a:pPr algn="l">
              <a:lnSpc>
                <a:spcPct val="150000"/>
              </a:lnSpc>
            </a:pPr>
            <a:r>
              <a:rPr sz="1000" b="0">
                <a:solidFill>
                  <a:srgbClr val="1A1A1A"/>
                </a:solidFill>
                <a:latin typeface="Hiragino Sans"/>
                <a:ea typeface="Hiragino Sans"/>
                <a:cs typeface="Hiragino Sans"/>
              </a:rPr>
              <a:t>Gemini in Ads : 会話型で広告文・アセット生成。</a:t>
            </a:r>
          </a:p>
          <a:p>
            <a:pPr algn="l">
              <a:lnSpc>
                <a:spcPct val="150000"/>
              </a:lnSpc>
            </a:pPr>
            <a:r>
              <a:rPr sz="1000" b="0">
                <a:solidFill>
                  <a:srgbClr val="1A1A1A"/>
                </a:solidFill>
                <a:latin typeface="Hiragino Sans"/>
                <a:ea typeface="Hiragino Sans"/>
                <a:cs typeface="Hiragino Sans"/>
              </a:rPr>
              <a:t>AI Max for Search (2025/05/06) : DSA置換の検索AI拡張層、14-27% CV向上の事例</a:t>
            </a:r>
          </a:p>
        </p:txBody>
      </p:sp>
      <p:sp>
        <p:nvSpPr>
          <p:cNvPr id="28" name="Rounded Rectangle 27"/>
          <p:cNvSpPr/>
          <p:nvPr/>
        </p:nvSpPr>
        <p:spPr>
          <a:xfrm>
            <a:off x="548640" y="5276088"/>
            <a:ext cx="11109960" cy="9601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5276088"/>
            <a:ext cx="109728" cy="9601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5458968"/>
            <a:ext cx="731520" cy="640080"/>
          </a:xfrm>
          <a:prstGeom prst="rect">
            <a:avLst/>
          </a:prstGeom>
          <a:noFill/>
        </p:spPr>
        <p:txBody>
          <a:bodyPr wrap="square" anchor="t" lIns="0" rIns="0" tIns="0" bIns="0">
            <a:spAutoFit/>
          </a:bodyPr>
          <a:lstStyle/>
          <a:p>
            <a:pPr algn="l">
              <a:lnSpc>
                <a:spcPct val="115000"/>
              </a:lnSpc>
            </a:pPr>
            <a:r>
              <a:rPr sz="3200" b="1">
                <a:solidFill>
                  <a:srgbClr val="E87722"/>
                </a:solidFill>
                <a:latin typeface="Helvetica Neue"/>
                <a:ea typeface="Helvetica Neue"/>
                <a:cs typeface="Helvetica Neue"/>
              </a:rPr>
              <a:t>05</a:t>
            </a:r>
          </a:p>
        </p:txBody>
      </p:sp>
      <p:sp>
        <p:nvSpPr>
          <p:cNvPr id="31" name="TextBox 30"/>
          <p:cNvSpPr txBox="1"/>
          <p:nvPr/>
        </p:nvSpPr>
        <p:spPr>
          <a:xfrm>
            <a:off x="1737360" y="5440680"/>
            <a:ext cx="9601200" cy="365760"/>
          </a:xfrm>
          <a:prstGeom prst="rect">
            <a:avLst/>
          </a:prstGeom>
          <a:noFill/>
        </p:spPr>
        <p:txBody>
          <a:bodyPr wrap="square" anchor="t" lIns="0" rIns="0" tIns="0" bIns="0">
            <a:spAutoFit/>
          </a:bodyPr>
          <a:lstStyle/>
          <a:p>
            <a:pPr algn="l">
              <a:lnSpc>
                <a:spcPct val="115000"/>
              </a:lnSpc>
            </a:pPr>
            <a:r>
              <a:rPr sz="1500" b="1">
                <a:solidFill>
                  <a:srgbClr val="0F2A4F"/>
                </a:solidFill>
                <a:latin typeface="Hiragino Sans"/>
                <a:ea typeface="Hiragino Sans"/>
                <a:cs typeface="Hiragino Sans"/>
              </a:rPr>
              <a:t>計測が 1stPD / SGTM / CAPI 前提に</a:t>
            </a:r>
          </a:p>
        </p:txBody>
      </p:sp>
      <p:sp>
        <p:nvSpPr>
          <p:cNvPr id="32" name="TextBox 31"/>
          <p:cNvSpPr txBox="1"/>
          <p:nvPr/>
        </p:nvSpPr>
        <p:spPr>
          <a:xfrm>
            <a:off x="1737360" y="5779008"/>
            <a:ext cx="9692640" cy="457200"/>
          </a:xfrm>
          <a:prstGeom prst="rect">
            <a:avLst/>
          </a:prstGeom>
          <a:noFill/>
        </p:spPr>
        <p:txBody>
          <a:bodyPr wrap="square" anchor="t" lIns="0" rIns="0" tIns="0" bIns="0">
            <a:spAutoFit/>
          </a:bodyPr>
          <a:lstStyle/>
          <a:p>
            <a:pPr algn="l">
              <a:lnSpc>
                <a:spcPct val="150000"/>
              </a:lnSpc>
            </a:pPr>
            <a:r>
              <a:rPr sz="1000" b="0">
                <a:solidFill>
                  <a:srgbClr val="1A1A1A"/>
                </a:solidFill>
                <a:latin typeface="Hiragino Sans"/>
                <a:ea typeface="Hiragino Sans"/>
                <a:cs typeface="Hiragino Sans"/>
              </a:rPr>
              <a:t>Enhanced Conversions / Consent Mode v2 / Offline Conversion Import /</a:t>
            </a:r>
          </a:p>
          <a:p>
            <a:pPr algn="l">
              <a:lnSpc>
                <a:spcPct val="150000"/>
              </a:lnSpc>
            </a:pPr>
            <a:r>
              <a:rPr sz="1000" b="0">
                <a:solidFill>
                  <a:srgbClr val="1A1A1A"/>
                </a:solidFill>
                <a:latin typeface="Hiragino Sans"/>
                <a:ea typeface="Hiragino Sans"/>
                <a:cs typeface="Hiragino Sans"/>
              </a:rPr>
              <a:t>Customer Match が実装必須。DDA (Data-Driven Attribution) が標準</a:t>
            </a:r>
          </a:p>
        </p:txBody>
      </p:sp>
      <p:sp>
        <p:nvSpPr>
          <p:cNvPr id="33" name="TextBox 32"/>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キャンペーンタイプの現在地マップ</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2026年: 5タイプに整理 + PMax中心の Hub &amp; Spoke 構造</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P33 / 250</a:t>
            </a:r>
          </a:p>
        </p:txBody>
      </p:sp>
      <p:sp>
        <p:nvSpPr>
          <p:cNvPr id="8" name="Rounded Rectangle 7"/>
          <p:cNvSpPr/>
          <p:nvPr/>
        </p:nvSpPr>
        <p:spPr>
          <a:xfrm>
            <a:off x="4626864" y="3017519"/>
            <a:ext cx="2926080" cy="1463040"/>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26864" y="3200399"/>
            <a:ext cx="2926080" cy="457200"/>
          </a:xfrm>
          <a:prstGeom prst="rect">
            <a:avLst/>
          </a:prstGeom>
          <a:noFill/>
        </p:spPr>
        <p:txBody>
          <a:bodyPr wrap="square" anchor="t" lIns="0" rIns="0" tIns="0" bIns="0">
            <a:spAutoFit/>
          </a:bodyPr>
          <a:lstStyle/>
          <a:p>
            <a:pPr algn="ctr">
              <a:lnSpc>
                <a:spcPct val="115000"/>
              </a:lnSpc>
            </a:pPr>
            <a:r>
              <a:rPr sz="1800" b="1">
                <a:solidFill>
                  <a:srgbClr val="FFFFFF"/>
                </a:solidFill>
                <a:latin typeface="Hiragino Sans"/>
                <a:ea typeface="Hiragino Sans"/>
                <a:cs typeface="Hiragino Sans"/>
              </a:rPr>
              <a:t>Performance Max</a:t>
            </a:r>
          </a:p>
        </p:txBody>
      </p:sp>
      <p:sp>
        <p:nvSpPr>
          <p:cNvPr id="10" name="TextBox 9"/>
          <p:cNvSpPr txBox="1"/>
          <p:nvPr/>
        </p:nvSpPr>
        <p:spPr>
          <a:xfrm>
            <a:off x="4626864" y="3566159"/>
            <a:ext cx="2926080" cy="320040"/>
          </a:xfrm>
          <a:prstGeom prst="rect">
            <a:avLst/>
          </a:prstGeom>
          <a:noFill/>
        </p:spPr>
        <p:txBody>
          <a:bodyPr wrap="square" anchor="t" lIns="0" rIns="0" tIns="0" bIns="0">
            <a:spAutoFit/>
          </a:bodyPr>
          <a:lstStyle/>
          <a:p>
            <a:pPr algn="ctr">
              <a:lnSpc>
                <a:spcPct val="115000"/>
              </a:lnSpc>
            </a:pPr>
            <a:r>
              <a:rPr sz="1100" b="0">
                <a:solidFill>
                  <a:srgbClr val="FFFFFF"/>
                </a:solidFill>
                <a:latin typeface="Hiragino Sans"/>
                <a:ea typeface="Hiragino Sans"/>
                <a:cs typeface="Hiragino Sans"/>
              </a:rPr>
              <a:t>フル自動 / 全面配信</a:t>
            </a:r>
          </a:p>
        </p:txBody>
      </p:sp>
      <p:sp>
        <p:nvSpPr>
          <p:cNvPr id="11" name="Rounded Rectangle 10"/>
          <p:cNvSpPr/>
          <p:nvPr/>
        </p:nvSpPr>
        <p:spPr>
          <a:xfrm>
            <a:off x="1463040" y="1828800"/>
            <a:ext cx="1463040" cy="109728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463040" y="1965960"/>
            <a:ext cx="1463040" cy="365760"/>
          </a:xfrm>
          <a:prstGeom prst="rect">
            <a:avLst/>
          </a:prstGeom>
          <a:noFill/>
        </p:spPr>
        <p:txBody>
          <a:bodyPr wrap="square" anchor="t" lIns="0" rIns="0" tIns="0" bIns="0">
            <a:spAutoFit/>
          </a:bodyPr>
          <a:lstStyle/>
          <a:p>
            <a:pPr algn="ctr">
              <a:lnSpc>
                <a:spcPct val="115000"/>
              </a:lnSpc>
            </a:pPr>
            <a:r>
              <a:rPr sz="1300" b="1">
                <a:solidFill>
                  <a:srgbClr val="E87722"/>
                </a:solidFill>
                <a:latin typeface="Hiragino Sans"/>
                <a:ea typeface="Hiragino Sans"/>
                <a:cs typeface="Hiragino Sans"/>
              </a:rPr>
              <a:t>Search</a:t>
            </a:r>
          </a:p>
        </p:txBody>
      </p:sp>
      <p:sp>
        <p:nvSpPr>
          <p:cNvPr id="13" name="TextBox 12"/>
          <p:cNvSpPr txBox="1"/>
          <p:nvPr/>
        </p:nvSpPr>
        <p:spPr>
          <a:xfrm>
            <a:off x="1463040" y="2331720"/>
            <a:ext cx="1463040" cy="594360"/>
          </a:xfrm>
          <a:prstGeom prst="rect">
            <a:avLst/>
          </a:prstGeom>
          <a:noFill/>
        </p:spPr>
        <p:txBody>
          <a:bodyPr wrap="square" anchor="t" lIns="0" rIns="0" tIns="0" bIns="0">
            <a:spAutoFit/>
          </a:bodyPr>
          <a:lstStyle/>
          <a:p>
            <a:pPr algn="ctr">
              <a:lnSpc>
                <a:spcPct val="135000"/>
              </a:lnSpc>
            </a:pPr>
            <a:r>
              <a:rPr sz="900" b="0">
                <a:solidFill>
                  <a:srgbClr val="FFFFFF"/>
                </a:solidFill>
                <a:latin typeface="Hiragino Sans"/>
                <a:ea typeface="Hiragino Sans"/>
                <a:cs typeface="Hiragino Sans"/>
              </a:rPr>
              <a:t>検索広告</a:t>
            </a:r>
          </a:p>
          <a:p>
            <a:pPr algn="ctr">
              <a:lnSpc>
                <a:spcPct val="135000"/>
              </a:lnSpc>
            </a:pPr>
            <a:r>
              <a:rPr sz="900" b="0">
                <a:solidFill>
                  <a:srgbClr val="FFFFFF"/>
                </a:solidFill>
                <a:latin typeface="Hiragino Sans"/>
                <a:ea typeface="Hiragino Sans"/>
                <a:cs typeface="Hiragino Sans"/>
              </a:rPr>
              <a:t>Broad Match + AI Max</a:t>
            </a:r>
          </a:p>
        </p:txBody>
      </p:sp>
      <p:sp>
        <p:nvSpPr>
          <p:cNvPr id="14" name="Rounded Rectangle 13"/>
          <p:cNvSpPr/>
          <p:nvPr/>
        </p:nvSpPr>
        <p:spPr>
          <a:xfrm>
            <a:off x="9692640" y="1828800"/>
            <a:ext cx="1463040" cy="109728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0" y="1965960"/>
            <a:ext cx="1463040" cy="365760"/>
          </a:xfrm>
          <a:prstGeom prst="rect">
            <a:avLst/>
          </a:prstGeom>
          <a:noFill/>
        </p:spPr>
        <p:txBody>
          <a:bodyPr wrap="square" anchor="t" lIns="0" rIns="0" tIns="0" bIns="0">
            <a:spAutoFit/>
          </a:bodyPr>
          <a:lstStyle/>
          <a:p>
            <a:pPr algn="ctr">
              <a:lnSpc>
                <a:spcPct val="115000"/>
              </a:lnSpc>
            </a:pPr>
            <a:r>
              <a:rPr sz="1300" b="1">
                <a:solidFill>
                  <a:srgbClr val="E87722"/>
                </a:solidFill>
                <a:latin typeface="Hiragino Sans"/>
                <a:ea typeface="Hiragino Sans"/>
                <a:cs typeface="Hiragino Sans"/>
              </a:rPr>
              <a:t>Demand Gen</a:t>
            </a:r>
          </a:p>
        </p:txBody>
      </p:sp>
      <p:sp>
        <p:nvSpPr>
          <p:cNvPr id="16" name="TextBox 15"/>
          <p:cNvSpPr txBox="1"/>
          <p:nvPr/>
        </p:nvSpPr>
        <p:spPr>
          <a:xfrm>
            <a:off x="9692640" y="2331720"/>
            <a:ext cx="1463040" cy="594360"/>
          </a:xfrm>
          <a:prstGeom prst="rect">
            <a:avLst/>
          </a:prstGeom>
          <a:noFill/>
        </p:spPr>
        <p:txBody>
          <a:bodyPr wrap="square" anchor="t" lIns="0" rIns="0" tIns="0" bIns="0">
            <a:spAutoFit/>
          </a:bodyPr>
          <a:lstStyle/>
          <a:p>
            <a:pPr algn="ctr">
              <a:lnSpc>
                <a:spcPct val="135000"/>
              </a:lnSpc>
            </a:pPr>
            <a:r>
              <a:rPr sz="900" b="0">
                <a:solidFill>
                  <a:srgbClr val="FFFFFF"/>
                </a:solidFill>
                <a:latin typeface="Hiragino Sans"/>
                <a:ea typeface="Hiragino Sans"/>
                <a:cs typeface="Hiragino Sans"/>
              </a:rPr>
              <a:t>YouTube+Discover+Gmail</a:t>
            </a:r>
          </a:p>
          <a:p>
            <a:pPr algn="ctr">
              <a:lnSpc>
                <a:spcPct val="135000"/>
              </a:lnSpc>
            </a:pPr>
            <a:r>
              <a:rPr sz="900" b="0">
                <a:solidFill>
                  <a:srgbClr val="FFFFFF"/>
                </a:solidFill>
                <a:latin typeface="Hiragino Sans"/>
                <a:ea typeface="Hiragino Sans"/>
                <a:cs typeface="Hiragino Sans"/>
              </a:rPr>
              <a:t>縦型/InFeed/Shorts</a:t>
            </a:r>
          </a:p>
        </p:txBody>
      </p:sp>
      <p:sp>
        <p:nvSpPr>
          <p:cNvPr id="17" name="Rounded Rectangle 16"/>
          <p:cNvSpPr/>
          <p:nvPr/>
        </p:nvSpPr>
        <p:spPr>
          <a:xfrm>
            <a:off x="1463040" y="4572000"/>
            <a:ext cx="1463040" cy="109728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463040" y="4709160"/>
            <a:ext cx="1463040" cy="365760"/>
          </a:xfrm>
          <a:prstGeom prst="rect">
            <a:avLst/>
          </a:prstGeom>
          <a:noFill/>
        </p:spPr>
        <p:txBody>
          <a:bodyPr wrap="square" anchor="t" lIns="0" rIns="0" tIns="0" bIns="0">
            <a:spAutoFit/>
          </a:bodyPr>
          <a:lstStyle/>
          <a:p>
            <a:pPr algn="ctr">
              <a:lnSpc>
                <a:spcPct val="115000"/>
              </a:lnSpc>
            </a:pPr>
            <a:r>
              <a:rPr sz="1300" b="1">
                <a:solidFill>
                  <a:srgbClr val="E87722"/>
                </a:solidFill>
                <a:latin typeface="Hiragino Sans"/>
                <a:ea typeface="Hiragino Sans"/>
                <a:cs typeface="Hiragino Sans"/>
              </a:rPr>
              <a:t>App</a:t>
            </a:r>
          </a:p>
        </p:txBody>
      </p:sp>
      <p:sp>
        <p:nvSpPr>
          <p:cNvPr id="19" name="TextBox 18"/>
          <p:cNvSpPr txBox="1"/>
          <p:nvPr/>
        </p:nvSpPr>
        <p:spPr>
          <a:xfrm>
            <a:off x="1463040" y="5074920"/>
            <a:ext cx="1463040" cy="594360"/>
          </a:xfrm>
          <a:prstGeom prst="rect">
            <a:avLst/>
          </a:prstGeom>
          <a:noFill/>
        </p:spPr>
        <p:txBody>
          <a:bodyPr wrap="square" anchor="t" lIns="0" rIns="0" tIns="0" bIns="0">
            <a:spAutoFit/>
          </a:bodyPr>
          <a:lstStyle/>
          <a:p>
            <a:pPr algn="ctr">
              <a:lnSpc>
                <a:spcPct val="135000"/>
              </a:lnSpc>
            </a:pPr>
            <a:r>
              <a:rPr sz="900" b="0">
                <a:solidFill>
                  <a:srgbClr val="FFFFFF"/>
                </a:solidFill>
                <a:latin typeface="Hiragino Sans"/>
                <a:ea typeface="Hiragino Sans"/>
                <a:cs typeface="Hiragino Sans"/>
              </a:rPr>
              <a:t>アプリインストール</a:t>
            </a:r>
          </a:p>
          <a:p>
            <a:pPr algn="ctr">
              <a:lnSpc>
                <a:spcPct val="135000"/>
              </a:lnSpc>
            </a:pPr>
            <a:r>
              <a:rPr sz="900" b="0">
                <a:solidFill>
                  <a:srgbClr val="FFFFFF"/>
                </a:solidFill>
                <a:latin typeface="Hiragino Sans"/>
                <a:ea typeface="Hiragino Sans"/>
                <a:cs typeface="Hiragino Sans"/>
              </a:rPr>
              <a:t>事前学習型自動配信</a:t>
            </a:r>
          </a:p>
        </p:txBody>
      </p:sp>
      <p:sp>
        <p:nvSpPr>
          <p:cNvPr id="20" name="Rounded Rectangle 19"/>
          <p:cNvSpPr/>
          <p:nvPr/>
        </p:nvSpPr>
        <p:spPr>
          <a:xfrm>
            <a:off x="9692640" y="4572000"/>
            <a:ext cx="1463040" cy="109728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92640" y="4709160"/>
            <a:ext cx="1463040" cy="365760"/>
          </a:xfrm>
          <a:prstGeom prst="rect">
            <a:avLst/>
          </a:prstGeom>
          <a:noFill/>
        </p:spPr>
        <p:txBody>
          <a:bodyPr wrap="square" anchor="t" lIns="0" rIns="0" tIns="0" bIns="0">
            <a:spAutoFit/>
          </a:bodyPr>
          <a:lstStyle/>
          <a:p>
            <a:pPr algn="ctr">
              <a:lnSpc>
                <a:spcPct val="115000"/>
              </a:lnSpc>
            </a:pPr>
            <a:r>
              <a:rPr sz="1300" b="1">
                <a:solidFill>
                  <a:srgbClr val="E87722"/>
                </a:solidFill>
                <a:latin typeface="Hiragino Sans"/>
                <a:ea typeface="Hiragino Sans"/>
                <a:cs typeface="Hiragino Sans"/>
              </a:rPr>
              <a:t>Video Reach</a:t>
            </a:r>
          </a:p>
        </p:txBody>
      </p:sp>
      <p:sp>
        <p:nvSpPr>
          <p:cNvPr id="22" name="TextBox 21"/>
          <p:cNvSpPr txBox="1"/>
          <p:nvPr/>
        </p:nvSpPr>
        <p:spPr>
          <a:xfrm>
            <a:off x="9692640" y="5074920"/>
            <a:ext cx="1463040" cy="594360"/>
          </a:xfrm>
          <a:prstGeom prst="rect">
            <a:avLst/>
          </a:prstGeom>
          <a:noFill/>
        </p:spPr>
        <p:txBody>
          <a:bodyPr wrap="square" anchor="t" lIns="0" rIns="0" tIns="0" bIns="0">
            <a:spAutoFit/>
          </a:bodyPr>
          <a:lstStyle/>
          <a:p>
            <a:pPr algn="ctr">
              <a:lnSpc>
                <a:spcPct val="135000"/>
              </a:lnSpc>
            </a:pPr>
            <a:r>
              <a:rPr sz="900" b="0">
                <a:solidFill>
                  <a:srgbClr val="FFFFFF"/>
                </a:solidFill>
                <a:latin typeface="Hiragino Sans"/>
                <a:ea typeface="Hiragino Sans"/>
                <a:cs typeface="Hiragino Sans"/>
              </a:rPr>
              <a:t>YouTubeブランディング</a:t>
            </a:r>
          </a:p>
          <a:p>
            <a:pPr algn="ctr">
              <a:lnSpc>
                <a:spcPct val="135000"/>
              </a:lnSpc>
            </a:pPr>
            <a:r>
              <a:rPr sz="900" b="0">
                <a:solidFill>
                  <a:srgbClr val="FFFFFF"/>
                </a:solidFill>
                <a:latin typeface="Hiragino Sans"/>
                <a:ea typeface="Hiragino Sans"/>
                <a:cs typeface="Hiragino Sans"/>
              </a:rPr>
              <a:t>TrueView/Bumper</a:t>
            </a:r>
          </a:p>
        </p:txBody>
      </p:sp>
      <p:sp>
        <p:nvSpPr>
          <p:cNvPr id="23" name="Rounded Rectangle 22"/>
          <p:cNvSpPr/>
          <p:nvPr/>
        </p:nvSpPr>
        <p:spPr>
          <a:xfrm>
            <a:off x="548640" y="5943600"/>
            <a:ext cx="11109960" cy="411480"/>
          </a:xfrm>
          <a:prstGeom prst="roundRect">
            <a:avLst>
              <a:gd name="adj" fmla="val 6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6035040"/>
            <a:ext cx="2377440" cy="274320"/>
          </a:xfrm>
          <a:prstGeom prst="rect">
            <a:avLst/>
          </a:prstGeom>
          <a:noFill/>
        </p:spPr>
        <p:txBody>
          <a:bodyPr wrap="square" anchor="t" lIns="0" rIns="0" tIns="0" bIns="0">
            <a:spAutoFit/>
          </a:bodyPr>
          <a:lstStyle/>
          <a:p>
            <a:pPr algn="l">
              <a:lnSpc>
                <a:spcPct val="115000"/>
              </a:lnSpc>
            </a:pPr>
            <a:r>
              <a:rPr sz="1000" b="1">
                <a:solidFill>
                  <a:srgbClr val="C6452D"/>
                </a:solidFill>
                <a:latin typeface="Hiragino Sans"/>
                <a:ea typeface="Hiragino Sans"/>
                <a:cs typeface="Hiragino Sans"/>
              </a:rPr>
              <a:t>✗ 消えたタイプ:</a:t>
            </a:r>
          </a:p>
        </p:txBody>
      </p:sp>
      <p:sp>
        <p:nvSpPr>
          <p:cNvPr id="25" name="TextBox 24"/>
          <p:cNvSpPr txBox="1"/>
          <p:nvPr/>
        </p:nvSpPr>
        <p:spPr>
          <a:xfrm>
            <a:off x="3200400" y="6053328"/>
            <a:ext cx="8412480" cy="274320"/>
          </a:xfrm>
          <a:prstGeom prst="rect">
            <a:avLst/>
          </a:prstGeom>
          <a:noFill/>
        </p:spPr>
        <p:txBody>
          <a:bodyPr wrap="square" anchor="t" lIns="0" rIns="0" tIns="0" bIns="0">
            <a:spAutoFit/>
          </a:bodyPr>
          <a:lstStyle/>
          <a:p>
            <a:pPr algn="l">
              <a:lnSpc>
                <a:spcPct val="115000"/>
              </a:lnSpc>
            </a:pPr>
            <a:r>
              <a:rPr sz="900" b="0">
                <a:solidFill>
                  <a:srgbClr val="1A1A1A"/>
                </a:solidFill>
                <a:latin typeface="Hiragino Sans"/>
                <a:ea typeface="Hiragino Sans"/>
                <a:cs typeface="Hiragino Sans"/>
              </a:rPr>
              <a:t>Smart Shopping → PMax / Local → PMax / Discovery → Demand Gen / Video Action → Demand Gen / ETA → RSA</a:t>
            </a:r>
          </a:p>
        </p:txBody>
      </p:sp>
      <p:sp>
        <p:nvSpPr>
          <p:cNvPr id="26" name="TextBox 25"/>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Performance Max の全貌</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Googleの全面統合AIキャンペーン (2021発表 → 2026成熟)</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P34 / 250</a:t>
            </a:r>
          </a:p>
        </p:txBody>
      </p:sp>
      <p:sp>
        <p:nvSpPr>
          <p:cNvPr id="8" name="Rounded Rectangle 7"/>
          <p:cNvSpPr/>
          <p:nvPr/>
        </p:nvSpPr>
        <p:spPr>
          <a:xfrm>
            <a:off x="548640" y="1371600"/>
            <a:ext cx="11109960" cy="91440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08760"/>
            <a:ext cx="2743200" cy="274320"/>
          </a:xfrm>
          <a:prstGeom prst="rect">
            <a:avLst/>
          </a:prstGeom>
          <a:noFill/>
        </p:spPr>
        <p:txBody>
          <a:bodyPr wrap="square" anchor="t" lIns="0" rIns="0" tIns="0" bIns="0">
            <a:spAutoFit/>
          </a:bodyPr>
          <a:lstStyle/>
          <a:p>
            <a:pPr algn="l">
              <a:lnSpc>
                <a:spcPct val="115000"/>
              </a:lnSpc>
            </a:pPr>
            <a:r>
              <a:rPr sz="1200" b="1">
                <a:solidFill>
                  <a:srgbClr val="E87722"/>
                </a:solidFill>
                <a:latin typeface="Hiragino Sans"/>
                <a:ea typeface="Hiragino Sans"/>
                <a:cs typeface="Hiragino Sans"/>
              </a:rPr>
              <a:t>PMax とは</a:t>
            </a:r>
          </a:p>
        </p:txBody>
      </p:sp>
      <p:sp>
        <p:nvSpPr>
          <p:cNvPr id="10" name="TextBox 9"/>
          <p:cNvSpPr txBox="1"/>
          <p:nvPr/>
        </p:nvSpPr>
        <p:spPr>
          <a:xfrm>
            <a:off x="777240" y="1828800"/>
            <a:ext cx="10972800" cy="411480"/>
          </a:xfrm>
          <a:prstGeom prst="rect">
            <a:avLst/>
          </a:prstGeom>
          <a:noFill/>
        </p:spPr>
        <p:txBody>
          <a:bodyPr wrap="square" anchor="t" lIns="0" rIns="0" tIns="0" bIns="0">
            <a:spAutoFit/>
          </a:bodyPr>
          <a:lstStyle/>
          <a:p>
            <a:pPr algn="l">
              <a:lnSpc>
                <a:spcPct val="140000"/>
              </a:lnSpc>
            </a:pPr>
            <a:r>
              <a:rPr sz="1200" b="0">
                <a:solidFill>
                  <a:srgbClr val="FFFFFF"/>
                </a:solidFill>
                <a:latin typeface="Hiragino Sans"/>
                <a:ea typeface="Hiragino Sans"/>
                <a:cs typeface="Hiragino Sans"/>
              </a:rPr>
              <a:t>Google広告在庫 (検索 / ショッピング / YouTube / Discover / Gmail / ディスプレイ / Maps) を</a:t>
            </a:r>
          </a:p>
          <a:p>
            <a:pPr algn="l">
              <a:lnSpc>
                <a:spcPct val="140000"/>
              </a:lnSpc>
            </a:pPr>
            <a:r>
              <a:rPr sz="1200" b="0">
                <a:solidFill>
                  <a:srgbClr val="FFFFFF"/>
                </a:solidFill>
                <a:latin typeface="Hiragino Sans"/>
                <a:ea typeface="Hiragino Sans"/>
                <a:cs typeface="Hiragino Sans"/>
              </a:rPr>
              <a:t>一つのキャンペーンで自動配信。クリエイティブ・入札・配信面を Google AI が最適化</a:t>
            </a:r>
          </a:p>
        </p:txBody>
      </p:sp>
      <p:sp>
        <p:nvSpPr>
          <p:cNvPr id="11" name="TextBox 10"/>
          <p:cNvSpPr txBox="1"/>
          <p:nvPr/>
        </p:nvSpPr>
        <p:spPr>
          <a:xfrm>
            <a:off x="548640" y="2560320"/>
            <a:ext cx="5486400" cy="32004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入力 (運用者が提供)</a:t>
            </a:r>
          </a:p>
        </p:txBody>
      </p:sp>
      <p:sp>
        <p:nvSpPr>
          <p:cNvPr id="12" name="Rectangle 11"/>
          <p:cNvSpPr/>
          <p:nvPr/>
        </p:nvSpPr>
        <p:spPr>
          <a:xfrm>
            <a:off x="548640" y="2880360"/>
            <a:ext cx="548640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48640" y="3063240"/>
            <a:ext cx="5486400" cy="384048"/>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154680"/>
            <a:ext cx="219456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Asset Group</a:t>
            </a:r>
          </a:p>
        </p:txBody>
      </p:sp>
      <p:sp>
        <p:nvSpPr>
          <p:cNvPr id="15" name="TextBox 14"/>
          <p:cNvSpPr txBox="1"/>
          <p:nvPr/>
        </p:nvSpPr>
        <p:spPr>
          <a:xfrm>
            <a:off x="2971800" y="3163824"/>
            <a:ext cx="246888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テキスト/画像/動画/ロゴ/URL</a:t>
            </a:r>
          </a:p>
        </p:txBody>
      </p:sp>
      <p:sp>
        <p:nvSpPr>
          <p:cNvPr id="16" name="Rounded Rectangle 15"/>
          <p:cNvSpPr/>
          <p:nvPr/>
        </p:nvSpPr>
        <p:spPr>
          <a:xfrm>
            <a:off x="548640" y="3502152"/>
            <a:ext cx="5486400" cy="384048"/>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3593592"/>
            <a:ext cx="219456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Audience Signal</a:t>
            </a:r>
          </a:p>
        </p:txBody>
      </p:sp>
      <p:sp>
        <p:nvSpPr>
          <p:cNvPr id="18" name="TextBox 17"/>
          <p:cNvSpPr txBox="1"/>
          <p:nvPr/>
        </p:nvSpPr>
        <p:spPr>
          <a:xfrm>
            <a:off x="2971800" y="3602736"/>
            <a:ext cx="246888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AIへのヒント (1PD / 興味関心)</a:t>
            </a:r>
          </a:p>
        </p:txBody>
      </p:sp>
      <p:sp>
        <p:nvSpPr>
          <p:cNvPr id="19" name="Rounded Rectangle 18"/>
          <p:cNvSpPr/>
          <p:nvPr/>
        </p:nvSpPr>
        <p:spPr>
          <a:xfrm>
            <a:off x="548640" y="3941064"/>
            <a:ext cx="5486400" cy="384048"/>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4032504"/>
            <a:ext cx="219456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Conversion Goal</a:t>
            </a:r>
          </a:p>
        </p:txBody>
      </p:sp>
      <p:sp>
        <p:nvSpPr>
          <p:cNvPr id="21" name="TextBox 20"/>
          <p:cNvSpPr txBox="1"/>
          <p:nvPr/>
        </p:nvSpPr>
        <p:spPr>
          <a:xfrm>
            <a:off x="2971800" y="4041648"/>
            <a:ext cx="246888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CV定義 + Value-based Bidding</a:t>
            </a:r>
          </a:p>
        </p:txBody>
      </p:sp>
      <p:sp>
        <p:nvSpPr>
          <p:cNvPr id="22" name="Rounded Rectangle 21"/>
          <p:cNvSpPr/>
          <p:nvPr/>
        </p:nvSpPr>
        <p:spPr>
          <a:xfrm>
            <a:off x="548640" y="4379976"/>
            <a:ext cx="5486400" cy="384048"/>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4471416"/>
            <a:ext cx="219456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Negative Keywords</a:t>
            </a:r>
          </a:p>
        </p:txBody>
      </p:sp>
      <p:sp>
        <p:nvSpPr>
          <p:cNvPr id="24" name="TextBox 23"/>
          <p:cNvSpPr txBox="1"/>
          <p:nvPr/>
        </p:nvSpPr>
        <p:spPr>
          <a:xfrm>
            <a:off x="2971800" y="4480560"/>
            <a:ext cx="246888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キャンペーン単位 10,000件 (2025~)</a:t>
            </a:r>
          </a:p>
        </p:txBody>
      </p:sp>
      <p:sp>
        <p:nvSpPr>
          <p:cNvPr id="25" name="Rounded Rectangle 24"/>
          <p:cNvSpPr/>
          <p:nvPr/>
        </p:nvSpPr>
        <p:spPr>
          <a:xfrm>
            <a:off x="548640" y="4818888"/>
            <a:ext cx="5486400" cy="384048"/>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910328"/>
            <a:ext cx="219456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Brand Exclusions</a:t>
            </a:r>
          </a:p>
        </p:txBody>
      </p:sp>
      <p:sp>
        <p:nvSpPr>
          <p:cNvPr id="27" name="TextBox 26"/>
          <p:cNvSpPr txBox="1"/>
          <p:nvPr/>
        </p:nvSpPr>
        <p:spPr>
          <a:xfrm>
            <a:off x="2971800" y="4919472"/>
            <a:ext cx="246888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除外ブランドリスト</a:t>
            </a:r>
          </a:p>
        </p:txBody>
      </p:sp>
      <p:sp>
        <p:nvSpPr>
          <p:cNvPr id="28" name="Rounded Rectangle 27"/>
          <p:cNvSpPr/>
          <p:nvPr/>
        </p:nvSpPr>
        <p:spPr>
          <a:xfrm>
            <a:off x="548640" y="5257800"/>
            <a:ext cx="5486400" cy="384048"/>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5349240"/>
            <a:ext cx="219456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Search Themes</a:t>
            </a:r>
          </a:p>
        </p:txBody>
      </p:sp>
      <p:sp>
        <p:nvSpPr>
          <p:cNvPr id="30" name="TextBox 29"/>
          <p:cNvSpPr txBox="1"/>
          <p:nvPr/>
        </p:nvSpPr>
        <p:spPr>
          <a:xfrm>
            <a:off x="2971800" y="5358384"/>
            <a:ext cx="246888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検索テーマ 50件 (2025~)</a:t>
            </a:r>
          </a:p>
        </p:txBody>
      </p:sp>
      <p:sp>
        <p:nvSpPr>
          <p:cNvPr id="31" name="TextBox 30"/>
          <p:cNvSpPr txBox="1"/>
          <p:nvPr/>
        </p:nvSpPr>
        <p:spPr>
          <a:xfrm>
            <a:off x="6400800" y="2560320"/>
            <a:ext cx="5486400" cy="32004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Google AI が自動決定</a:t>
            </a:r>
          </a:p>
        </p:txBody>
      </p:sp>
      <p:sp>
        <p:nvSpPr>
          <p:cNvPr id="32" name="Rectangle 31"/>
          <p:cNvSpPr/>
          <p:nvPr/>
        </p:nvSpPr>
        <p:spPr>
          <a:xfrm>
            <a:off x="6400800" y="2880360"/>
            <a:ext cx="525780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6400800" y="3063240"/>
            <a:ext cx="5257800" cy="384048"/>
          </a:xfrm>
          <a:prstGeom prst="roundRect">
            <a:avLst>
              <a:gd name="adj" fmla="val 6000"/>
            </a:avLst>
          </a:prstGeom>
          <a:solidFill>
            <a:srgbClr val="FFF3E6"/>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0" y="3154680"/>
            <a:ext cx="2194560" cy="274320"/>
          </a:xfrm>
          <a:prstGeom prst="rect">
            <a:avLst/>
          </a:prstGeom>
          <a:noFill/>
        </p:spPr>
        <p:txBody>
          <a:bodyPr wrap="square" anchor="t" lIns="0" rIns="0" tIns="0" bIns="0">
            <a:spAutoFit/>
          </a:bodyPr>
          <a:lstStyle/>
          <a:p>
            <a:pPr algn="l">
              <a:lnSpc>
                <a:spcPct val="115000"/>
              </a:lnSpc>
            </a:pPr>
            <a:r>
              <a:rPr sz="1100" b="1">
                <a:solidFill>
                  <a:srgbClr val="B85E1A"/>
                </a:solidFill>
                <a:latin typeface="Hiragino Sans"/>
                <a:ea typeface="Hiragino Sans"/>
                <a:cs typeface="Hiragino Sans"/>
              </a:rPr>
              <a:t>配信面の選択</a:t>
            </a:r>
          </a:p>
        </p:txBody>
      </p:sp>
      <p:sp>
        <p:nvSpPr>
          <p:cNvPr id="35" name="TextBox 34"/>
          <p:cNvSpPr txBox="1"/>
          <p:nvPr/>
        </p:nvSpPr>
        <p:spPr>
          <a:xfrm>
            <a:off x="8778240" y="3163824"/>
            <a:ext cx="283464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検索/ショッピング/YT/Discover他</a:t>
            </a:r>
          </a:p>
        </p:txBody>
      </p:sp>
      <p:sp>
        <p:nvSpPr>
          <p:cNvPr id="36" name="Rounded Rectangle 35"/>
          <p:cNvSpPr/>
          <p:nvPr/>
        </p:nvSpPr>
        <p:spPr>
          <a:xfrm>
            <a:off x="6400800" y="3502152"/>
            <a:ext cx="5257800" cy="384048"/>
          </a:xfrm>
          <a:prstGeom prst="roundRect">
            <a:avLst>
              <a:gd name="adj" fmla="val 6000"/>
            </a:avLst>
          </a:prstGeom>
          <a:solidFill>
            <a:srgbClr val="FFF3E6"/>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83680" y="3593592"/>
            <a:ext cx="2194560" cy="274320"/>
          </a:xfrm>
          <a:prstGeom prst="rect">
            <a:avLst/>
          </a:prstGeom>
          <a:noFill/>
        </p:spPr>
        <p:txBody>
          <a:bodyPr wrap="square" anchor="t" lIns="0" rIns="0" tIns="0" bIns="0">
            <a:spAutoFit/>
          </a:bodyPr>
          <a:lstStyle/>
          <a:p>
            <a:pPr algn="l">
              <a:lnSpc>
                <a:spcPct val="115000"/>
              </a:lnSpc>
            </a:pPr>
            <a:r>
              <a:rPr sz="1100" b="1">
                <a:solidFill>
                  <a:srgbClr val="B85E1A"/>
                </a:solidFill>
                <a:latin typeface="Hiragino Sans"/>
                <a:ea typeface="Hiragino Sans"/>
                <a:cs typeface="Hiragino Sans"/>
              </a:rPr>
              <a:t>ビッド単価</a:t>
            </a:r>
          </a:p>
        </p:txBody>
      </p:sp>
      <p:sp>
        <p:nvSpPr>
          <p:cNvPr id="38" name="TextBox 37"/>
          <p:cNvSpPr txBox="1"/>
          <p:nvPr/>
        </p:nvSpPr>
        <p:spPr>
          <a:xfrm>
            <a:off x="8778240" y="3602736"/>
            <a:ext cx="283464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Target CPA / ROAS で自動入札</a:t>
            </a:r>
          </a:p>
        </p:txBody>
      </p:sp>
      <p:sp>
        <p:nvSpPr>
          <p:cNvPr id="39" name="Rounded Rectangle 38"/>
          <p:cNvSpPr/>
          <p:nvPr/>
        </p:nvSpPr>
        <p:spPr>
          <a:xfrm>
            <a:off x="6400800" y="3941064"/>
            <a:ext cx="5257800" cy="384048"/>
          </a:xfrm>
          <a:prstGeom prst="roundRect">
            <a:avLst>
              <a:gd name="adj" fmla="val 6000"/>
            </a:avLst>
          </a:prstGeom>
          <a:solidFill>
            <a:srgbClr val="FFF3E6"/>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583680" y="4032504"/>
            <a:ext cx="2194560" cy="274320"/>
          </a:xfrm>
          <a:prstGeom prst="rect">
            <a:avLst/>
          </a:prstGeom>
          <a:noFill/>
        </p:spPr>
        <p:txBody>
          <a:bodyPr wrap="square" anchor="t" lIns="0" rIns="0" tIns="0" bIns="0">
            <a:spAutoFit/>
          </a:bodyPr>
          <a:lstStyle/>
          <a:p>
            <a:pPr algn="l">
              <a:lnSpc>
                <a:spcPct val="115000"/>
              </a:lnSpc>
            </a:pPr>
            <a:r>
              <a:rPr sz="1100" b="1">
                <a:solidFill>
                  <a:srgbClr val="B85E1A"/>
                </a:solidFill>
                <a:latin typeface="Hiragino Sans"/>
                <a:ea typeface="Hiragino Sans"/>
                <a:cs typeface="Hiragino Sans"/>
              </a:rPr>
              <a:t>クリエイティブ組み合わせ</a:t>
            </a:r>
          </a:p>
        </p:txBody>
      </p:sp>
      <p:sp>
        <p:nvSpPr>
          <p:cNvPr id="41" name="TextBox 40"/>
          <p:cNvSpPr txBox="1"/>
          <p:nvPr/>
        </p:nvSpPr>
        <p:spPr>
          <a:xfrm>
            <a:off x="8778240" y="4041648"/>
            <a:ext cx="283464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アセットの組み合わせ最適化</a:t>
            </a:r>
          </a:p>
        </p:txBody>
      </p:sp>
      <p:sp>
        <p:nvSpPr>
          <p:cNvPr id="42" name="Rounded Rectangle 41"/>
          <p:cNvSpPr/>
          <p:nvPr/>
        </p:nvSpPr>
        <p:spPr>
          <a:xfrm>
            <a:off x="6400800" y="4379976"/>
            <a:ext cx="5257800" cy="384048"/>
          </a:xfrm>
          <a:prstGeom prst="roundRect">
            <a:avLst>
              <a:gd name="adj" fmla="val 6000"/>
            </a:avLst>
          </a:prstGeom>
          <a:solidFill>
            <a:srgbClr val="FFF3E6"/>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583680" y="4471416"/>
            <a:ext cx="2194560" cy="274320"/>
          </a:xfrm>
          <a:prstGeom prst="rect">
            <a:avLst/>
          </a:prstGeom>
          <a:noFill/>
        </p:spPr>
        <p:txBody>
          <a:bodyPr wrap="square" anchor="t" lIns="0" rIns="0" tIns="0" bIns="0">
            <a:spAutoFit/>
          </a:bodyPr>
          <a:lstStyle/>
          <a:p>
            <a:pPr algn="l">
              <a:lnSpc>
                <a:spcPct val="115000"/>
              </a:lnSpc>
            </a:pPr>
            <a:r>
              <a:rPr sz="1100" b="1">
                <a:solidFill>
                  <a:srgbClr val="B85E1A"/>
                </a:solidFill>
                <a:latin typeface="Hiragino Sans"/>
                <a:ea typeface="Hiragino Sans"/>
                <a:cs typeface="Hiragino Sans"/>
              </a:rPr>
              <a:t>ターゲティング</a:t>
            </a:r>
          </a:p>
        </p:txBody>
      </p:sp>
      <p:sp>
        <p:nvSpPr>
          <p:cNvPr id="44" name="TextBox 43"/>
          <p:cNvSpPr txBox="1"/>
          <p:nvPr/>
        </p:nvSpPr>
        <p:spPr>
          <a:xfrm>
            <a:off x="8778240" y="4480560"/>
            <a:ext cx="283464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Audience Signal を出発点に拡張</a:t>
            </a:r>
          </a:p>
        </p:txBody>
      </p:sp>
      <p:sp>
        <p:nvSpPr>
          <p:cNvPr id="45" name="Rounded Rectangle 44"/>
          <p:cNvSpPr/>
          <p:nvPr/>
        </p:nvSpPr>
        <p:spPr>
          <a:xfrm>
            <a:off x="6400800" y="4818888"/>
            <a:ext cx="5257800" cy="384048"/>
          </a:xfrm>
          <a:prstGeom prst="roundRect">
            <a:avLst>
              <a:gd name="adj" fmla="val 6000"/>
            </a:avLst>
          </a:prstGeom>
          <a:solidFill>
            <a:srgbClr val="FFF3E6"/>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583680" y="4910328"/>
            <a:ext cx="2194560" cy="274320"/>
          </a:xfrm>
          <a:prstGeom prst="rect">
            <a:avLst/>
          </a:prstGeom>
          <a:noFill/>
        </p:spPr>
        <p:txBody>
          <a:bodyPr wrap="square" anchor="t" lIns="0" rIns="0" tIns="0" bIns="0">
            <a:spAutoFit/>
          </a:bodyPr>
          <a:lstStyle/>
          <a:p>
            <a:pPr algn="l">
              <a:lnSpc>
                <a:spcPct val="115000"/>
              </a:lnSpc>
            </a:pPr>
            <a:r>
              <a:rPr sz="1100" b="1">
                <a:solidFill>
                  <a:srgbClr val="B85E1A"/>
                </a:solidFill>
                <a:latin typeface="Hiragino Sans"/>
                <a:ea typeface="Hiragino Sans"/>
                <a:cs typeface="Hiragino Sans"/>
              </a:rPr>
              <a:t>頻度 / タイミング</a:t>
            </a:r>
          </a:p>
        </p:txBody>
      </p:sp>
      <p:sp>
        <p:nvSpPr>
          <p:cNvPr id="47" name="TextBox 46"/>
          <p:cNvSpPr txBox="1"/>
          <p:nvPr/>
        </p:nvSpPr>
        <p:spPr>
          <a:xfrm>
            <a:off x="8778240" y="4919472"/>
            <a:ext cx="283464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ユーザー単位で最適な頻度</a:t>
            </a:r>
          </a:p>
        </p:txBody>
      </p:sp>
      <p:sp>
        <p:nvSpPr>
          <p:cNvPr id="48" name="Rounded Rectangle 47"/>
          <p:cNvSpPr/>
          <p:nvPr/>
        </p:nvSpPr>
        <p:spPr>
          <a:xfrm>
            <a:off x="6400800" y="5257800"/>
            <a:ext cx="5257800" cy="384048"/>
          </a:xfrm>
          <a:prstGeom prst="roundRect">
            <a:avLst>
              <a:gd name="adj" fmla="val 6000"/>
            </a:avLst>
          </a:prstGeom>
          <a:solidFill>
            <a:srgbClr val="FFF3E6"/>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583680" y="5349240"/>
            <a:ext cx="2194560" cy="274320"/>
          </a:xfrm>
          <a:prstGeom prst="rect">
            <a:avLst/>
          </a:prstGeom>
          <a:noFill/>
        </p:spPr>
        <p:txBody>
          <a:bodyPr wrap="square" anchor="t" lIns="0" rIns="0" tIns="0" bIns="0">
            <a:spAutoFit/>
          </a:bodyPr>
          <a:lstStyle/>
          <a:p>
            <a:pPr algn="l">
              <a:lnSpc>
                <a:spcPct val="115000"/>
              </a:lnSpc>
            </a:pPr>
            <a:r>
              <a:rPr sz="1100" b="1">
                <a:solidFill>
                  <a:srgbClr val="B85E1A"/>
                </a:solidFill>
                <a:latin typeface="Hiragino Sans"/>
                <a:ea typeface="Hiragino Sans"/>
                <a:cs typeface="Hiragino Sans"/>
              </a:rPr>
              <a:t>検索マッチタイプ</a:t>
            </a:r>
          </a:p>
        </p:txBody>
      </p:sp>
      <p:sp>
        <p:nvSpPr>
          <p:cNvPr id="50" name="TextBox 49"/>
          <p:cNvSpPr txBox="1"/>
          <p:nvPr/>
        </p:nvSpPr>
        <p:spPr>
          <a:xfrm>
            <a:off x="8778240" y="5358384"/>
            <a:ext cx="283464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Broad Match 相当で広く意図マッチ</a:t>
            </a:r>
          </a:p>
        </p:txBody>
      </p:sp>
      <p:sp>
        <p:nvSpPr>
          <p:cNvPr id="51" name="TextBox 50"/>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PMax アカウント構造ベストプラクティス</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2026年版 : 成熟後に定着した5つの原則</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P35 / 250</a:t>
            </a:r>
          </a:p>
        </p:txBody>
      </p:sp>
      <p:sp>
        <p:nvSpPr>
          <p:cNvPr id="8" name="Rounded Rectangle 7"/>
          <p:cNvSpPr/>
          <p:nvPr/>
        </p:nvSpPr>
        <p:spPr>
          <a:xfrm>
            <a:off x="548640" y="1325880"/>
            <a:ext cx="3611880" cy="23317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25880"/>
            <a:ext cx="36118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600200"/>
            <a:ext cx="914400" cy="548640"/>
          </a:xfrm>
          <a:prstGeom prst="rect">
            <a:avLst/>
          </a:prstGeom>
          <a:noFill/>
        </p:spPr>
        <p:txBody>
          <a:bodyPr wrap="square" anchor="t" lIns="0" rIns="0" tIns="0" bIns="0">
            <a:spAutoFit/>
          </a:bodyPr>
          <a:lstStyle/>
          <a:p>
            <a:pPr algn="l">
              <a:lnSpc>
                <a:spcPct val="115000"/>
              </a:lnSpc>
            </a:pPr>
            <a:r>
              <a:rPr sz="3200" b="1">
                <a:solidFill>
                  <a:srgbClr val="E87722"/>
                </a:solidFill>
                <a:latin typeface="Helvetica Neue"/>
                <a:ea typeface="Helvetica Neue"/>
                <a:cs typeface="Helvetica Neue"/>
              </a:rPr>
              <a:t>01</a:t>
            </a:r>
          </a:p>
        </p:txBody>
      </p:sp>
      <p:sp>
        <p:nvSpPr>
          <p:cNvPr id="11" name="TextBox 10"/>
          <p:cNvSpPr txBox="1"/>
          <p:nvPr/>
        </p:nvSpPr>
        <p:spPr>
          <a:xfrm>
            <a:off x="777240" y="2286000"/>
            <a:ext cx="3154680" cy="685800"/>
          </a:xfrm>
          <a:prstGeom prst="rect">
            <a:avLst/>
          </a:prstGeom>
          <a:noFill/>
        </p:spPr>
        <p:txBody>
          <a:bodyPr wrap="square" anchor="t" lIns="0" rIns="0" tIns="0" bIns="0">
            <a:spAutoFit/>
          </a:bodyPr>
          <a:lstStyle/>
          <a:p>
            <a:pPr algn="l">
              <a:lnSpc>
                <a:spcPct val="130000"/>
              </a:lnSpc>
            </a:pPr>
            <a:r>
              <a:rPr sz="1300" b="1">
                <a:solidFill>
                  <a:srgbClr val="0F2A4F"/>
                </a:solidFill>
                <a:latin typeface="Hiragino Sans"/>
                <a:ea typeface="Hiragino Sans"/>
                <a:cs typeface="Hiragino Sans"/>
              </a:rPr>
              <a:t>商品/サービスの粒度でキャンペーン分割</a:t>
            </a:r>
          </a:p>
        </p:txBody>
      </p:sp>
      <p:sp>
        <p:nvSpPr>
          <p:cNvPr id="12" name="TextBox 11"/>
          <p:cNvSpPr txBox="1"/>
          <p:nvPr/>
        </p:nvSpPr>
        <p:spPr>
          <a:xfrm>
            <a:off x="777240" y="2971800"/>
            <a:ext cx="3154680" cy="685800"/>
          </a:xfrm>
          <a:prstGeom prst="rect">
            <a:avLst/>
          </a:prstGeom>
          <a:noFill/>
        </p:spPr>
        <p:txBody>
          <a:bodyPr wrap="square" anchor="t" lIns="0" rIns="0" tIns="0" bIns="0">
            <a:spAutoFit/>
          </a:bodyPr>
          <a:lstStyle/>
          <a:p>
            <a:pPr algn="l">
              <a:lnSpc>
                <a:spcPct val="145000"/>
              </a:lnSpc>
            </a:pPr>
            <a:r>
              <a:rPr sz="1000" b="0">
                <a:solidFill>
                  <a:srgbClr val="1A1A1A"/>
                </a:solidFill>
                <a:latin typeface="Hiragino Sans"/>
                <a:ea typeface="Hiragino Sans"/>
                <a:cs typeface="Hiragino Sans"/>
              </a:rPr>
              <a:t>LTV / ROAS 目標が異なるクラスタを混ぜない。</a:t>
            </a:r>
          </a:p>
          <a:p>
            <a:pPr algn="l">
              <a:lnSpc>
                <a:spcPct val="145000"/>
              </a:lnSpc>
            </a:pPr>
            <a:r>
              <a:rPr sz="1000" b="0">
                <a:solidFill>
                  <a:srgbClr val="1A1A1A"/>
                </a:solidFill>
                <a:latin typeface="Hiragino Sans"/>
                <a:ea typeface="Hiragino Sans"/>
                <a:cs typeface="Hiragino Sans"/>
              </a:rPr>
              <a:t>例: 新規獲得 vs 既存顧客 / 高単価 vs 低単価</a:t>
            </a:r>
          </a:p>
        </p:txBody>
      </p:sp>
      <p:sp>
        <p:nvSpPr>
          <p:cNvPr id="13" name="Rounded Rectangle 12"/>
          <p:cNvSpPr/>
          <p:nvPr/>
        </p:nvSpPr>
        <p:spPr>
          <a:xfrm>
            <a:off x="4297680" y="1325880"/>
            <a:ext cx="3611880" cy="23317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7680" y="1325880"/>
            <a:ext cx="36118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26280" y="1600200"/>
            <a:ext cx="914400" cy="548640"/>
          </a:xfrm>
          <a:prstGeom prst="rect">
            <a:avLst/>
          </a:prstGeom>
          <a:noFill/>
        </p:spPr>
        <p:txBody>
          <a:bodyPr wrap="square" anchor="t" lIns="0" rIns="0" tIns="0" bIns="0">
            <a:spAutoFit/>
          </a:bodyPr>
          <a:lstStyle/>
          <a:p>
            <a:pPr algn="l">
              <a:lnSpc>
                <a:spcPct val="115000"/>
              </a:lnSpc>
            </a:pPr>
            <a:r>
              <a:rPr sz="3200" b="1">
                <a:solidFill>
                  <a:srgbClr val="E87722"/>
                </a:solidFill>
                <a:latin typeface="Helvetica Neue"/>
                <a:ea typeface="Helvetica Neue"/>
                <a:cs typeface="Helvetica Neue"/>
              </a:rPr>
              <a:t>02</a:t>
            </a:r>
          </a:p>
        </p:txBody>
      </p:sp>
      <p:sp>
        <p:nvSpPr>
          <p:cNvPr id="16" name="TextBox 15"/>
          <p:cNvSpPr txBox="1"/>
          <p:nvPr/>
        </p:nvSpPr>
        <p:spPr>
          <a:xfrm>
            <a:off x="4526280" y="2286000"/>
            <a:ext cx="3154680" cy="685800"/>
          </a:xfrm>
          <a:prstGeom prst="rect">
            <a:avLst/>
          </a:prstGeom>
          <a:noFill/>
        </p:spPr>
        <p:txBody>
          <a:bodyPr wrap="square" anchor="t" lIns="0" rIns="0" tIns="0" bIns="0">
            <a:spAutoFit/>
          </a:bodyPr>
          <a:lstStyle/>
          <a:p>
            <a:pPr algn="l">
              <a:lnSpc>
                <a:spcPct val="130000"/>
              </a:lnSpc>
            </a:pPr>
            <a:r>
              <a:rPr sz="1300" b="1">
                <a:solidFill>
                  <a:srgbClr val="0F2A4F"/>
                </a:solidFill>
                <a:latin typeface="Hiragino Sans"/>
                <a:ea typeface="Hiragino Sans"/>
                <a:cs typeface="Hiragino Sans"/>
              </a:rPr>
              <a:t>Asset Group は 5-10 個が上限</a:t>
            </a:r>
          </a:p>
        </p:txBody>
      </p:sp>
      <p:sp>
        <p:nvSpPr>
          <p:cNvPr id="17" name="TextBox 16"/>
          <p:cNvSpPr txBox="1"/>
          <p:nvPr/>
        </p:nvSpPr>
        <p:spPr>
          <a:xfrm>
            <a:off x="4526280" y="2971800"/>
            <a:ext cx="3154680" cy="685800"/>
          </a:xfrm>
          <a:prstGeom prst="rect">
            <a:avLst/>
          </a:prstGeom>
          <a:noFill/>
        </p:spPr>
        <p:txBody>
          <a:bodyPr wrap="square" anchor="t" lIns="0" rIns="0" tIns="0" bIns="0">
            <a:spAutoFit/>
          </a:bodyPr>
          <a:lstStyle/>
          <a:p>
            <a:pPr algn="l">
              <a:lnSpc>
                <a:spcPct val="145000"/>
              </a:lnSpc>
            </a:pPr>
            <a:r>
              <a:rPr sz="1000" b="0">
                <a:solidFill>
                  <a:srgbClr val="1A1A1A"/>
                </a:solidFill>
                <a:latin typeface="Hiragino Sans"/>
                <a:ea typeface="Hiragino Sans"/>
                <a:cs typeface="Hiragino Sans"/>
              </a:rPr>
              <a:t>AI最適化が効くため分割しすぎ NG。</a:t>
            </a:r>
          </a:p>
          <a:p>
            <a:pPr algn="l">
              <a:lnSpc>
                <a:spcPct val="145000"/>
              </a:lnSpc>
            </a:pPr>
            <a:r>
              <a:rPr sz="1000" b="0">
                <a:solidFill>
                  <a:srgbClr val="1A1A1A"/>
                </a:solidFill>
                <a:latin typeface="Hiragino Sans"/>
                <a:ea typeface="Hiragino Sans"/>
                <a:cs typeface="Hiragino Sans"/>
              </a:rPr>
              <a:t>テーマ別 (例: 訴求軸 / 顧客層) で分ける</a:t>
            </a:r>
          </a:p>
        </p:txBody>
      </p:sp>
      <p:sp>
        <p:nvSpPr>
          <p:cNvPr id="18" name="Rounded Rectangle 17"/>
          <p:cNvSpPr/>
          <p:nvPr/>
        </p:nvSpPr>
        <p:spPr>
          <a:xfrm>
            <a:off x="8046720" y="1325880"/>
            <a:ext cx="3611880" cy="23317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6720" y="1325880"/>
            <a:ext cx="36118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1600200"/>
            <a:ext cx="914400" cy="548640"/>
          </a:xfrm>
          <a:prstGeom prst="rect">
            <a:avLst/>
          </a:prstGeom>
          <a:noFill/>
        </p:spPr>
        <p:txBody>
          <a:bodyPr wrap="square" anchor="t" lIns="0" rIns="0" tIns="0" bIns="0">
            <a:spAutoFit/>
          </a:bodyPr>
          <a:lstStyle/>
          <a:p>
            <a:pPr algn="l">
              <a:lnSpc>
                <a:spcPct val="115000"/>
              </a:lnSpc>
            </a:pPr>
            <a:r>
              <a:rPr sz="3200" b="1">
                <a:solidFill>
                  <a:srgbClr val="E87722"/>
                </a:solidFill>
                <a:latin typeface="Helvetica Neue"/>
                <a:ea typeface="Helvetica Neue"/>
                <a:cs typeface="Helvetica Neue"/>
              </a:rPr>
              <a:t>03</a:t>
            </a:r>
          </a:p>
        </p:txBody>
      </p:sp>
      <p:sp>
        <p:nvSpPr>
          <p:cNvPr id="21" name="TextBox 20"/>
          <p:cNvSpPr txBox="1"/>
          <p:nvPr/>
        </p:nvSpPr>
        <p:spPr>
          <a:xfrm>
            <a:off x="8275320" y="2286000"/>
            <a:ext cx="3154680" cy="685800"/>
          </a:xfrm>
          <a:prstGeom prst="rect">
            <a:avLst/>
          </a:prstGeom>
          <a:noFill/>
        </p:spPr>
        <p:txBody>
          <a:bodyPr wrap="square" anchor="t" lIns="0" rIns="0" tIns="0" bIns="0">
            <a:spAutoFit/>
          </a:bodyPr>
          <a:lstStyle/>
          <a:p>
            <a:pPr algn="l">
              <a:lnSpc>
                <a:spcPct val="130000"/>
              </a:lnSpc>
            </a:pPr>
            <a:r>
              <a:rPr sz="1300" b="1">
                <a:solidFill>
                  <a:srgbClr val="0F2A4F"/>
                </a:solidFill>
                <a:latin typeface="Hiragino Sans"/>
                <a:ea typeface="Hiragino Sans"/>
                <a:cs typeface="Hiragino Sans"/>
              </a:rPr>
              <a:t>Search Themes を積極活用 (2025~)</a:t>
            </a:r>
          </a:p>
        </p:txBody>
      </p:sp>
      <p:sp>
        <p:nvSpPr>
          <p:cNvPr id="22" name="TextBox 21"/>
          <p:cNvSpPr txBox="1"/>
          <p:nvPr/>
        </p:nvSpPr>
        <p:spPr>
          <a:xfrm>
            <a:off x="8275320" y="2971800"/>
            <a:ext cx="3154680" cy="685800"/>
          </a:xfrm>
          <a:prstGeom prst="rect">
            <a:avLst/>
          </a:prstGeom>
          <a:noFill/>
        </p:spPr>
        <p:txBody>
          <a:bodyPr wrap="square" anchor="t" lIns="0" rIns="0" tIns="0" bIns="0">
            <a:spAutoFit/>
          </a:bodyPr>
          <a:lstStyle/>
          <a:p>
            <a:pPr algn="l">
              <a:lnSpc>
                <a:spcPct val="145000"/>
              </a:lnSpc>
            </a:pPr>
            <a:r>
              <a:rPr sz="1000" b="0">
                <a:solidFill>
                  <a:srgbClr val="1A1A1A"/>
                </a:solidFill>
                <a:latin typeface="Hiragino Sans"/>
                <a:ea typeface="Hiragino Sans"/>
                <a:cs typeface="Hiragino Sans"/>
              </a:rPr>
              <a:t>AIへの 『このカテゴリを狙え』 ヒント。</a:t>
            </a:r>
          </a:p>
          <a:p>
            <a:pPr algn="l">
              <a:lnSpc>
                <a:spcPct val="145000"/>
              </a:lnSpc>
            </a:pPr>
            <a:r>
              <a:rPr sz="1000" b="0">
                <a:solidFill>
                  <a:srgbClr val="1A1A1A"/>
                </a:solidFill>
                <a:latin typeface="Hiragino Sans"/>
                <a:ea typeface="Hiragino Sans"/>
                <a:cs typeface="Hiragino Sans"/>
              </a:rPr>
              <a:t>Asset Group あたり 50件まで</a:t>
            </a:r>
          </a:p>
        </p:txBody>
      </p:sp>
      <p:sp>
        <p:nvSpPr>
          <p:cNvPr id="23" name="Rounded Rectangle 22"/>
          <p:cNvSpPr/>
          <p:nvPr/>
        </p:nvSpPr>
        <p:spPr>
          <a:xfrm>
            <a:off x="548640" y="3794760"/>
            <a:ext cx="3611880" cy="23317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3794760"/>
            <a:ext cx="36118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4069080"/>
            <a:ext cx="914400" cy="548640"/>
          </a:xfrm>
          <a:prstGeom prst="rect">
            <a:avLst/>
          </a:prstGeom>
          <a:noFill/>
        </p:spPr>
        <p:txBody>
          <a:bodyPr wrap="square" anchor="t" lIns="0" rIns="0" tIns="0" bIns="0">
            <a:spAutoFit/>
          </a:bodyPr>
          <a:lstStyle/>
          <a:p>
            <a:pPr algn="l">
              <a:lnSpc>
                <a:spcPct val="115000"/>
              </a:lnSpc>
            </a:pPr>
            <a:r>
              <a:rPr sz="3200" b="1">
                <a:solidFill>
                  <a:srgbClr val="E87722"/>
                </a:solidFill>
                <a:latin typeface="Helvetica Neue"/>
                <a:ea typeface="Helvetica Neue"/>
                <a:cs typeface="Helvetica Neue"/>
              </a:rPr>
              <a:t>04</a:t>
            </a:r>
          </a:p>
        </p:txBody>
      </p:sp>
      <p:sp>
        <p:nvSpPr>
          <p:cNvPr id="26" name="TextBox 25"/>
          <p:cNvSpPr txBox="1"/>
          <p:nvPr/>
        </p:nvSpPr>
        <p:spPr>
          <a:xfrm>
            <a:off x="777240" y="4754880"/>
            <a:ext cx="3154680" cy="685800"/>
          </a:xfrm>
          <a:prstGeom prst="rect">
            <a:avLst/>
          </a:prstGeom>
          <a:noFill/>
        </p:spPr>
        <p:txBody>
          <a:bodyPr wrap="square" anchor="t" lIns="0" rIns="0" tIns="0" bIns="0">
            <a:spAutoFit/>
          </a:bodyPr>
          <a:lstStyle/>
          <a:p>
            <a:pPr algn="l">
              <a:lnSpc>
                <a:spcPct val="130000"/>
              </a:lnSpc>
            </a:pPr>
            <a:r>
              <a:rPr sz="1300" b="1">
                <a:solidFill>
                  <a:srgbClr val="0F2A4F"/>
                </a:solidFill>
                <a:latin typeface="Hiragino Sans"/>
                <a:ea typeface="Hiragino Sans"/>
                <a:cs typeface="Hiragino Sans"/>
              </a:rPr>
              <a:t>Audience Signal は『AIへのヒント』</a:t>
            </a:r>
          </a:p>
        </p:txBody>
      </p:sp>
      <p:sp>
        <p:nvSpPr>
          <p:cNvPr id="27" name="TextBox 26"/>
          <p:cNvSpPr txBox="1"/>
          <p:nvPr/>
        </p:nvSpPr>
        <p:spPr>
          <a:xfrm>
            <a:off x="777240" y="5440680"/>
            <a:ext cx="3154680" cy="685800"/>
          </a:xfrm>
          <a:prstGeom prst="rect">
            <a:avLst/>
          </a:prstGeom>
          <a:noFill/>
        </p:spPr>
        <p:txBody>
          <a:bodyPr wrap="square" anchor="t" lIns="0" rIns="0" tIns="0" bIns="0">
            <a:spAutoFit/>
          </a:bodyPr>
          <a:lstStyle/>
          <a:p>
            <a:pPr algn="l">
              <a:lnSpc>
                <a:spcPct val="145000"/>
              </a:lnSpc>
            </a:pPr>
            <a:r>
              <a:rPr sz="1000" b="0">
                <a:solidFill>
                  <a:srgbClr val="1A1A1A"/>
                </a:solidFill>
                <a:latin typeface="Hiragino Sans"/>
                <a:ea typeface="Hiragino Sans"/>
                <a:cs typeface="Hiragino Sans"/>
              </a:rPr>
              <a:t>ターゲティングではない。1PD (Customer Match) +</a:t>
            </a:r>
          </a:p>
          <a:p>
            <a:pPr algn="l">
              <a:lnSpc>
                <a:spcPct val="145000"/>
              </a:lnSpc>
            </a:pPr>
            <a:r>
              <a:rPr sz="1000" b="0">
                <a:solidFill>
                  <a:srgbClr val="1A1A1A"/>
                </a:solidFill>
                <a:latin typeface="Hiragino Sans"/>
                <a:ea typeface="Hiragino Sans"/>
                <a:cs typeface="Hiragino Sans"/>
              </a:rPr>
              <a:t>Intent Segments を入れるのが効く</a:t>
            </a:r>
          </a:p>
        </p:txBody>
      </p:sp>
      <p:sp>
        <p:nvSpPr>
          <p:cNvPr id="28" name="Rounded Rectangle 27"/>
          <p:cNvSpPr/>
          <p:nvPr/>
        </p:nvSpPr>
        <p:spPr>
          <a:xfrm>
            <a:off x="4297680" y="3794760"/>
            <a:ext cx="3611880" cy="23317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297680" y="3794760"/>
            <a:ext cx="36118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26280" y="4069080"/>
            <a:ext cx="914400" cy="548640"/>
          </a:xfrm>
          <a:prstGeom prst="rect">
            <a:avLst/>
          </a:prstGeom>
          <a:noFill/>
        </p:spPr>
        <p:txBody>
          <a:bodyPr wrap="square" anchor="t" lIns="0" rIns="0" tIns="0" bIns="0">
            <a:spAutoFit/>
          </a:bodyPr>
          <a:lstStyle/>
          <a:p>
            <a:pPr algn="l">
              <a:lnSpc>
                <a:spcPct val="115000"/>
              </a:lnSpc>
            </a:pPr>
            <a:r>
              <a:rPr sz="3200" b="1">
                <a:solidFill>
                  <a:srgbClr val="E87722"/>
                </a:solidFill>
                <a:latin typeface="Helvetica Neue"/>
                <a:ea typeface="Helvetica Neue"/>
                <a:cs typeface="Helvetica Neue"/>
              </a:rPr>
              <a:t>05</a:t>
            </a:r>
          </a:p>
        </p:txBody>
      </p:sp>
      <p:sp>
        <p:nvSpPr>
          <p:cNvPr id="31" name="TextBox 30"/>
          <p:cNvSpPr txBox="1"/>
          <p:nvPr/>
        </p:nvSpPr>
        <p:spPr>
          <a:xfrm>
            <a:off x="4526280" y="4754880"/>
            <a:ext cx="3154680" cy="685800"/>
          </a:xfrm>
          <a:prstGeom prst="rect">
            <a:avLst/>
          </a:prstGeom>
          <a:noFill/>
        </p:spPr>
        <p:txBody>
          <a:bodyPr wrap="square" anchor="t" lIns="0" rIns="0" tIns="0" bIns="0">
            <a:spAutoFit/>
          </a:bodyPr>
          <a:lstStyle/>
          <a:p>
            <a:pPr algn="l">
              <a:lnSpc>
                <a:spcPct val="130000"/>
              </a:lnSpc>
            </a:pPr>
            <a:r>
              <a:rPr sz="1300" b="1">
                <a:solidFill>
                  <a:srgbClr val="0F2A4F"/>
                </a:solidFill>
                <a:latin typeface="Hiragino Sans"/>
                <a:ea typeface="Hiragino Sans"/>
                <a:cs typeface="Hiragino Sans"/>
              </a:rPr>
              <a:t>Negative Keywords と Brand Exclusions 必須</a:t>
            </a:r>
          </a:p>
        </p:txBody>
      </p:sp>
      <p:sp>
        <p:nvSpPr>
          <p:cNvPr id="32" name="TextBox 31"/>
          <p:cNvSpPr txBox="1"/>
          <p:nvPr/>
        </p:nvSpPr>
        <p:spPr>
          <a:xfrm>
            <a:off x="4526280" y="5440680"/>
            <a:ext cx="3154680" cy="685800"/>
          </a:xfrm>
          <a:prstGeom prst="rect">
            <a:avLst/>
          </a:prstGeom>
          <a:noFill/>
        </p:spPr>
        <p:txBody>
          <a:bodyPr wrap="square" anchor="t" lIns="0" rIns="0" tIns="0" bIns="0">
            <a:spAutoFit/>
          </a:bodyPr>
          <a:lstStyle/>
          <a:p>
            <a:pPr algn="l">
              <a:lnSpc>
                <a:spcPct val="145000"/>
              </a:lnSpc>
            </a:pPr>
            <a:r>
              <a:rPr sz="1000" b="0">
                <a:solidFill>
                  <a:srgbClr val="1A1A1A"/>
                </a:solidFill>
                <a:latin typeface="Hiragino Sans"/>
                <a:ea typeface="Hiragino Sans"/>
                <a:cs typeface="Hiragino Sans"/>
              </a:rPr>
              <a:t>ブランド KW の自己競合排除。</a:t>
            </a:r>
          </a:p>
          <a:p>
            <a:pPr algn="l">
              <a:lnSpc>
                <a:spcPct val="145000"/>
              </a:lnSpc>
            </a:pPr>
            <a:r>
              <a:rPr sz="1000" b="0">
                <a:solidFill>
                  <a:srgbClr val="1A1A1A"/>
                </a:solidFill>
                <a:latin typeface="Hiragino Sans"/>
                <a:ea typeface="Hiragino Sans"/>
                <a:cs typeface="Hiragino Sans"/>
              </a:rPr>
              <a:t>キャンペーン単位 10,000件活用</a:t>
            </a:r>
          </a:p>
        </p:txBody>
      </p:sp>
      <p:sp>
        <p:nvSpPr>
          <p:cNvPr id="33" name="TextBox 32"/>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PMax データアクセスの改善</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2023-2025 で透明性が段階的に開示された</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P36 / 250</a:t>
            </a:r>
          </a:p>
        </p:txBody>
      </p:sp>
      <p:sp>
        <p:nvSpPr>
          <p:cNvPr id="8" name="TextBox 7"/>
          <p:cNvSpPr txBox="1"/>
          <p:nvPr/>
        </p:nvSpPr>
        <p:spPr>
          <a:xfrm>
            <a:off x="548640" y="1417320"/>
            <a:ext cx="1097280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透明性改善のタイムライン</a:t>
            </a:r>
          </a:p>
        </p:txBody>
      </p:sp>
      <p:sp>
        <p:nvSpPr>
          <p:cNvPr id="9" name="Rounded Rectangle 8"/>
          <p:cNvSpPr/>
          <p:nvPr/>
        </p:nvSpPr>
        <p:spPr>
          <a:xfrm>
            <a:off x="548640" y="1828800"/>
            <a:ext cx="11109960" cy="50292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828800"/>
            <a:ext cx="1097280" cy="50292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65960"/>
            <a:ext cx="1097280" cy="274320"/>
          </a:xfrm>
          <a:prstGeom prst="rect">
            <a:avLst/>
          </a:prstGeom>
          <a:noFill/>
        </p:spPr>
        <p:txBody>
          <a:bodyPr wrap="square" anchor="t" lIns="0" rIns="0" tIns="0" bIns="0">
            <a:spAutoFit/>
          </a:bodyPr>
          <a:lstStyle/>
          <a:p>
            <a:pPr algn="ctr">
              <a:lnSpc>
                <a:spcPct val="115000"/>
              </a:lnSpc>
            </a:pPr>
            <a:r>
              <a:rPr sz="1200" b="1">
                <a:solidFill>
                  <a:srgbClr val="E87722"/>
                </a:solidFill>
                <a:latin typeface="Helvetica Neue"/>
                <a:ea typeface="Helvetica Neue"/>
                <a:cs typeface="Helvetica Neue"/>
              </a:rPr>
              <a:t>2023</a:t>
            </a:r>
          </a:p>
        </p:txBody>
      </p:sp>
      <p:sp>
        <p:nvSpPr>
          <p:cNvPr id="12" name="TextBox 11"/>
          <p:cNvSpPr txBox="1"/>
          <p:nvPr/>
        </p:nvSpPr>
        <p:spPr>
          <a:xfrm>
            <a:off x="1783080" y="1965960"/>
            <a:ext cx="4572000" cy="27432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Search Terms Insights</a:t>
            </a:r>
          </a:p>
        </p:txBody>
      </p:sp>
      <p:sp>
        <p:nvSpPr>
          <p:cNvPr id="13" name="TextBox 12"/>
          <p:cNvSpPr txBox="1"/>
          <p:nvPr/>
        </p:nvSpPr>
        <p:spPr>
          <a:xfrm>
            <a:off x="6355080" y="1984248"/>
            <a:ext cx="548640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検索クエリの一部開示。カテゴリ別集約表示</a:t>
            </a:r>
          </a:p>
        </p:txBody>
      </p:sp>
      <p:sp>
        <p:nvSpPr>
          <p:cNvPr id="14" name="Rounded Rectangle 13"/>
          <p:cNvSpPr/>
          <p:nvPr/>
        </p:nvSpPr>
        <p:spPr>
          <a:xfrm>
            <a:off x="548640" y="2423160"/>
            <a:ext cx="11109960" cy="5029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3160"/>
            <a:ext cx="1097280" cy="50292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2560320"/>
            <a:ext cx="1097280" cy="274320"/>
          </a:xfrm>
          <a:prstGeom prst="rect">
            <a:avLst/>
          </a:prstGeom>
          <a:noFill/>
        </p:spPr>
        <p:txBody>
          <a:bodyPr wrap="square" anchor="t" lIns="0" rIns="0" tIns="0" bIns="0">
            <a:spAutoFit/>
          </a:bodyPr>
          <a:lstStyle/>
          <a:p>
            <a:pPr algn="ctr">
              <a:lnSpc>
                <a:spcPct val="115000"/>
              </a:lnSpc>
            </a:pPr>
            <a:r>
              <a:rPr sz="1200" b="1">
                <a:solidFill>
                  <a:srgbClr val="E87722"/>
                </a:solidFill>
                <a:latin typeface="Helvetica Neue"/>
                <a:ea typeface="Helvetica Neue"/>
                <a:cs typeface="Helvetica Neue"/>
              </a:rPr>
              <a:t>2024</a:t>
            </a:r>
          </a:p>
        </p:txBody>
      </p:sp>
      <p:sp>
        <p:nvSpPr>
          <p:cNvPr id="17" name="TextBox 16"/>
          <p:cNvSpPr txBox="1"/>
          <p:nvPr/>
        </p:nvSpPr>
        <p:spPr>
          <a:xfrm>
            <a:off x="1783080" y="2560320"/>
            <a:ext cx="4572000" cy="27432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Asset Performance Reports</a:t>
            </a:r>
          </a:p>
        </p:txBody>
      </p:sp>
      <p:sp>
        <p:nvSpPr>
          <p:cNvPr id="18" name="TextBox 17"/>
          <p:cNvSpPr txBox="1"/>
          <p:nvPr/>
        </p:nvSpPr>
        <p:spPr>
          <a:xfrm>
            <a:off x="6355080" y="2578608"/>
            <a:ext cx="548640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アセット別の Best / Good / Low 評価と実数値</a:t>
            </a:r>
          </a:p>
        </p:txBody>
      </p:sp>
      <p:sp>
        <p:nvSpPr>
          <p:cNvPr id="19" name="Rounded Rectangle 18"/>
          <p:cNvSpPr/>
          <p:nvPr/>
        </p:nvSpPr>
        <p:spPr>
          <a:xfrm>
            <a:off x="548640" y="3017520"/>
            <a:ext cx="11109960" cy="50292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017520"/>
            <a:ext cx="1097280" cy="50292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3154680"/>
            <a:ext cx="1097280" cy="274320"/>
          </a:xfrm>
          <a:prstGeom prst="rect">
            <a:avLst/>
          </a:prstGeom>
          <a:noFill/>
        </p:spPr>
        <p:txBody>
          <a:bodyPr wrap="square" anchor="t" lIns="0" rIns="0" tIns="0" bIns="0">
            <a:spAutoFit/>
          </a:bodyPr>
          <a:lstStyle/>
          <a:p>
            <a:pPr algn="ctr">
              <a:lnSpc>
                <a:spcPct val="115000"/>
              </a:lnSpc>
            </a:pPr>
            <a:r>
              <a:rPr sz="1200" b="1">
                <a:solidFill>
                  <a:srgbClr val="E87722"/>
                </a:solidFill>
                <a:latin typeface="Helvetica Neue"/>
                <a:ea typeface="Helvetica Neue"/>
                <a:cs typeface="Helvetica Neue"/>
              </a:rPr>
              <a:t>2024</a:t>
            </a:r>
          </a:p>
        </p:txBody>
      </p:sp>
      <p:sp>
        <p:nvSpPr>
          <p:cNvPr id="22" name="TextBox 21"/>
          <p:cNvSpPr txBox="1"/>
          <p:nvPr/>
        </p:nvSpPr>
        <p:spPr>
          <a:xfrm>
            <a:off x="1783080" y="3154680"/>
            <a:ext cx="4572000" cy="27432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Attribution 表示</a:t>
            </a:r>
          </a:p>
        </p:txBody>
      </p:sp>
      <p:sp>
        <p:nvSpPr>
          <p:cNvPr id="23" name="TextBox 22"/>
          <p:cNvSpPr txBox="1"/>
          <p:nvPr/>
        </p:nvSpPr>
        <p:spPr>
          <a:xfrm>
            <a:off x="6355080" y="3172968"/>
            <a:ext cx="548640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Cross-channel アトリビューションの可視化</a:t>
            </a:r>
          </a:p>
        </p:txBody>
      </p:sp>
      <p:sp>
        <p:nvSpPr>
          <p:cNvPr id="24" name="Rounded Rectangle 23"/>
          <p:cNvSpPr/>
          <p:nvPr/>
        </p:nvSpPr>
        <p:spPr>
          <a:xfrm>
            <a:off x="548640" y="3611880"/>
            <a:ext cx="11109960" cy="5029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611880"/>
            <a:ext cx="1097280" cy="50292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3749040"/>
            <a:ext cx="1097280" cy="274320"/>
          </a:xfrm>
          <a:prstGeom prst="rect">
            <a:avLst/>
          </a:prstGeom>
          <a:noFill/>
        </p:spPr>
        <p:txBody>
          <a:bodyPr wrap="square" anchor="t" lIns="0" rIns="0" tIns="0" bIns="0">
            <a:spAutoFit/>
          </a:bodyPr>
          <a:lstStyle/>
          <a:p>
            <a:pPr algn="ctr">
              <a:lnSpc>
                <a:spcPct val="115000"/>
              </a:lnSpc>
            </a:pPr>
            <a:r>
              <a:rPr sz="1200" b="1">
                <a:solidFill>
                  <a:srgbClr val="E87722"/>
                </a:solidFill>
                <a:latin typeface="Helvetica Neue"/>
                <a:ea typeface="Helvetica Neue"/>
                <a:cs typeface="Helvetica Neue"/>
              </a:rPr>
              <a:t>2025</a:t>
            </a:r>
          </a:p>
        </p:txBody>
      </p:sp>
      <p:sp>
        <p:nvSpPr>
          <p:cNvPr id="27" name="TextBox 26"/>
          <p:cNvSpPr txBox="1"/>
          <p:nvPr/>
        </p:nvSpPr>
        <p:spPr>
          <a:xfrm>
            <a:off x="1783080" y="3749040"/>
            <a:ext cx="4572000" cy="27432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Campaign-level Negative Keywords (10,000件)</a:t>
            </a:r>
          </a:p>
        </p:txBody>
      </p:sp>
      <p:sp>
        <p:nvSpPr>
          <p:cNvPr id="28" name="TextBox 27"/>
          <p:cNvSpPr txBox="1"/>
          <p:nvPr/>
        </p:nvSpPr>
        <p:spPr>
          <a:xfrm>
            <a:off x="6355080" y="3767328"/>
            <a:ext cx="548640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検索 / ショッピング在庫に対して除外可</a:t>
            </a:r>
          </a:p>
        </p:txBody>
      </p:sp>
      <p:sp>
        <p:nvSpPr>
          <p:cNvPr id="29" name="Rounded Rectangle 28"/>
          <p:cNvSpPr/>
          <p:nvPr/>
        </p:nvSpPr>
        <p:spPr>
          <a:xfrm>
            <a:off x="548640" y="4206240"/>
            <a:ext cx="11109960" cy="50292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06240"/>
            <a:ext cx="1097280" cy="50292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4343400"/>
            <a:ext cx="1097280" cy="274320"/>
          </a:xfrm>
          <a:prstGeom prst="rect">
            <a:avLst/>
          </a:prstGeom>
          <a:noFill/>
        </p:spPr>
        <p:txBody>
          <a:bodyPr wrap="square" anchor="t" lIns="0" rIns="0" tIns="0" bIns="0">
            <a:spAutoFit/>
          </a:bodyPr>
          <a:lstStyle/>
          <a:p>
            <a:pPr algn="ctr">
              <a:lnSpc>
                <a:spcPct val="115000"/>
              </a:lnSpc>
            </a:pPr>
            <a:r>
              <a:rPr sz="1200" b="1">
                <a:solidFill>
                  <a:srgbClr val="E87722"/>
                </a:solidFill>
                <a:latin typeface="Helvetica Neue"/>
                <a:ea typeface="Helvetica Neue"/>
                <a:cs typeface="Helvetica Neue"/>
              </a:rPr>
              <a:t>2025</a:t>
            </a:r>
          </a:p>
        </p:txBody>
      </p:sp>
      <p:sp>
        <p:nvSpPr>
          <p:cNvPr id="32" name="TextBox 31"/>
          <p:cNvSpPr txBox="1"/>
          <p:nvPr/>
        </p:nvSpPr>
        <p:spPr>
          <a:xfrm>
            <a:off x="1783080" y="4343400"/>
            <a:ext cx="4572000" cy="27432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Search Themes 50件 / Video 15本</a:t>
            </a:r>
          </a:p>
        </p:txBody>
      </p:sp>
      <p:sp>
        <p:nvSpPr>
          <p:cNvPr id="33" name="TextBox 32"/>
          <p:cNvSpPr txBox="1"/>
          <p:nvPr/>
        </p:nvSpPr>
        <p:spPr>
          <a:xfrm>
            <a:off x="6355080" y="4361688"/>
            <a:ext cx="548640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Asset Group の制限緩和</a:t>
            </a:r>
          </a:p>
        </p:txBody>
      </p:sp>
      <p:sp>
        <p:nvSpPr>
          <p:cNvPr id="34" name="Rounded Rectangle 33"/>
          <p:cNvSpPr/>
          <p:nvPr/>
        </p:nvSpPr>
        <p:spPr>
          <a:xfrm>
            <a:off x="548640" y="4800600"/>
            <a:ext cx="11109960" cy="5029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800600"/>
            <a:ext cx="1097280" cy="50292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48640" y="4937760"/>
            <a:ext cx="1097280" cy="274320"/>
          </a:xfrm>
          <a:prstGeom prst="rect">
            <a:avLst/>
          </a:prstGeom>
          <a:noFill/>
        </p:spPr>
        <p:txBody>
          <a:bodyPr wrap="square" anchor="t" lIns="0" rIns="0" tIns="0" bIns="0">
            <a:spAutoFit/>
          </a:bodyPr>
          <a:lstStyle/>
          <a:p>
            <a:pPr algn="ctr">
              <a:lnSpc>
                <a:spcPct val="115000"/>
              </a:lnSpc>
            </a:pPr>
            <a:r>
              <a:rPr sz="1200" b="1">
                <a:solidFill>
                  <a:srgbClr val="E87722"/>
                </a:solidFill>
                <a:latin typeface="Helvetica Neue"/>
                <a:ea typeface="Helvetica Neue"/>
                <a:cs typeface="Helvetica Neue"/>
              </a:rPr>
              <a:t>2025</a:t>
            </a:r>
          </a:p>
        </p:txBody>
      </p:sp>
      <p:sp>
        <p:nvSpPr>
          <p:cNvPr id="37" name="TextBox 36"/>
          <p:cNvSpPr txBox="1"/>
          <p:nvPr/>
        </p:nvSpPr>
        <p:spPr>
          <a:xfrm>
            <a:off x="1783080" y="4937760"/>
            <a:ext cx="4572000" cy="27432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Device / Demographic Targeting</a:t>
            </a:r>
          </a:p>
        </p:txBody>
      </p:sp>
      <p:sp>
        <p:nvSpPr>
          <p:cNvPr id="38" name="TextBox 37"/>
          <p:cNvSpPr txBox="1"/>
          <p:nvPr/>
        </p:nvSpPr>
        <p:spPr>
          <a:xfrm>
            <a:off x="6355080" y="4956048"/>
            <a:ext cx="548640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デバイス指定 + 年齢性別指定が可能に</a:t>
            </a:r>
          </a:p>
        </p:txBody>
      </p:sp>
      <p:sp>
        <p:nvSpPr>
          <p:cNvPr id="39" name="Rounded Rectangle 38"/>
          <p:cNvSpPr/>
          <p:nvPr/>
        </p:nvSpPr>
        <p:spPr>
          <a:xfrm>
            <a:off x="548640" y="5394960"/>
            <a:ext cx="11109960" cy="50292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48640" y="5394960"/>
            <a:ext cx="1097280" cy="50292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48640" y="5532120"/>
            <a:ext cx="1097280" cy="274320"/>
          </a:xfrm>
          <a:prstGeom prst="rect">
            <a:avLst/>
          </a:prstGeom>
          <a:noFill/>
        </p:spPr>
        <p:txBody>
          <a:bodyPr wrap="square" anchor="t" lIns="0" rIns="0" tIns="0" bIns="0">
            <a:spAutoFit/>
          </a:bodyPr>
          <a:lstStyle/>
          <a:p>
            <a:pPr algn="ctr">
              <a:lnSpc>
                <a:spcPct val="115000"/>
              </a:lnSpc>
            </a:pPr>
            <a:r>
              <a:rPr sz="1200" b="1">
                <a:solidFill>
                  <a:srgbClr val="E87722"/>
                </a:solidFill>
                <a:latin typeface="Helvetica Neue"/>
                <a:ea typeface="Helvetica Neue"/>
                <a:cs typeface="Helvetica Neue"/>
              </a:rPr>
              <a:t>2026/03</a:t>
            </a:r>
          </a:p>
        </p:txBody>
      </p:sp>
      <p:sp>
        <p:nvSpPr>
          <p:cNvPr id="42" name="TextBox 41"/>
          <p:cNvSpPr txBox="1"/>
          <p:nvPr/>
        </p:nvSpPr>
        <p:spPr>
          <a:xfrm>
            <a:off x="1783080" y="5532120"/>
            <a:ext cx="4572000" cy="27432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Google Ads Editor 2.12: Brand Guidelines</a:t>
            </a:r>
          </a:p>
        </p:txBody>
      </p:sp>
      <p:sp>
        <p:nvSpPr>
          <p:cNvPr id="43" name="TextBox 42"/>
          <p:cNvSpPr txBox="1"/>
          <p:nvPr/>
        </p:nvSpPr>
        <p:spPr>
          <a:xfrm>
            <a:off x="6355080" y="5550408"/>
            <a:ext cx="548640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用語除外 25件 + メッセージ制限 40件 が指定可 ※要確認</a:t>
            </a:r>
          </a:p>
        </p:txBody>
      </p:sp>
      <p:sp>
        <p:nvSpPr>
          <p:cNvPr id="44" name="TextBox 43"/>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PMax の統制術</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AIを導くための 3レバー : Signal / Exclusions / Budget</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P37 / 250</a:t>
            </a:r>
          </a:p>
        </p:txBody>
      </p:sp>
      <p:sp>
        <p:nvSpPr>
          <p:cNvPr id="8" name="Rounded Rectangle 7"/>
          <p:cNvSpPr/>
          <p:nvPr/>
        </p:nvSpPr>
        <p:spPr>
          <a:xfrm>
            <a:off x="548640" y="1325880"/>
            <a:ext cx="3611880" cy="48006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25880"/>
            <a:ext cx="3611880" cy="86868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508760"/>
            <a:ext cx="3063240" cy="411480"/>
          </a:xfrm>
          <a:prstGeom prst="rect">
            <a:avLst/>
          </a:prstGeom>
          <a:noFill/>
        </p:spPr>
        <p:txBody>
          <a:bodyPr wrap="square" anchor="t" lIns="0" rIns="0" tIns="0" bIns="0">
            <a:spAutoFit/>
          </a:bodyPr>
          <a:lstStyle/>
          <a:p>
            <a:pPr algn="l">
              <a:lnSpc>
                <a:spcPct val="115000"/>
              </a:lnSpc>
            </a:pPr>
            <a:r>
              <a:rPr sz="1800" b="1">
                <a:solidFill>
                  <a:srgbClr val="FFFFFF"/>
                </a:solidFill>
                <a:latin typeface="Hiragino Sans"/>
                <a:ea typeface="Hiragino Sans"/>
                <a:cs typeface="Hiragino Sans"/>
              </a:rPr>
              <a:t>Audience Signal</a:t>
            </a:r>
          </a:p>
        </p:txBody>
      </p:sp>
      <p:sp>
        <p:nvSpPr>
          <p:cNvPr id="11" name="TextBox 10"/>
          <p:cNvSpPr txBox="1"/>
          <p:nvPr/>
        </p:nvSpPr>
        <p:spPr>
          <a:xfrm>
            <a:off x="822960" y="1892808"/>
            <a:ext cx="3063240" cy="27432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AIへのヒント</a:t>
            </a:r>
          </a:p>
        </p:txBody>
      </p:sp>
      <p:sp>
        <p:nvSpPr>
          <p:cNvPr id="12" name="Rectangle 11"/>
          <p:cNvSpPr/>
          <p:nvPr/>
        </p:nvSpPr>
        <p:spPr>
          <a:xfrm>
            <a:off x="822960" y="2514600"/>
            <a:ext cx="306324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2679192"/>
            <a:ext cx="3063240" cy="457200"/>
          </a:xfrm>
          <a:prstGeom prst="rect">
            <a:avLst/>
          </a:prstGeom>
          <a:noFill/>
        </p:spPr>
        <p:txBody>
          <a:bodyPr wrap="square" anchor="t" lIns="0" rIns="0" tIns="0" bIns="0">
            <a:spAutoFit/>
          </a:bodyPr>
          <a:lstStyle/>
          <a:p>
            <a:pPr algn="l">
              <a:lnSpc>
                <a:spcPct val="140000"/>
              </a:lnSpc>
            </a:pPr>
            <a:r>
              <a:rPr sz="1100" b="0">
                <a:solidFill>
                  <a:srgbClr val="1A1A1A"/>
                </a:solidFill>
                <a:latin typeface="Hiragino Sans"/>
                <a:ea typeface="Hiragino Sans"/>
                <a:cs typeface="Hiragino Sans"/>
              </a:rPr>
              <a:t>▸  1PD (Customer Match / Similar)</a:t>
            </a:r>
          </a:p>
        </p:txBody>
      </p:sp>
      <p:sp>
        <p:nvSpPr>
          <p:cNvPr id="14" name="Rectangle 13"/>
          <p:cNvSpPr/>
          <p:nvPr/>
        </p:nvSpPr>
        <p:spPr>
          <a:xfrm>
            <a:off x="822960" y="3291840"/>
            <a:ext cx="306324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3456432"/>
            <a:ext cx="3063240" cy="457200"/>
          </a:xfrm>
          <a:prstGeom prst="rect">
            <a:avLst/>
          </a:prstGeom>
          <a:noFill/>
        </p:spPr>
        <p:txBody>
          <a:bodyPr wrap="square" anchor="t" lIns="0" rIns="0" tIns="0" bIns="0">
            <a:spAutoFit/>
          </a:bodyPr>
          <a:lstStyle/>
          <a:p>
            <a:pPr algn="l">
              <a:lnSpc>
                <a:spcPct val="140000"/>
              </a:lnSpc>
            </a:pPr>
            <a:r>
              <a:rPr sz="1100" b="0">
                <a:solidFill>
                  <a:srgbClr val="1A1A1A"/>
                </a:solidFill>
                <a:latin typeface="Hiragino Sans"/>
                <a:ea typeface="Hiragino Sans"/>
                <a:cs typeface="Hiragino Sans"/>
              </a:rPr>
              <a:t>▸  Intent Segments / In-market</a:t>
            </a:r>
          </a:p>
        </p:txBody>
      </p:sp>
      <p:sp>
        <p:nvSpPr>
          <p:cNvPr id="16" name="Rectangle 15"/>
          <p:cNvSpPr/>
          <p:nvPr/>
        </p:nvSpPr>
        <p:spPr>
          <a:xfrm>
            <a:off x="822960" y="4069080"/>
            <a:ext cx="306324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4233672"/>
            <a:ext cx="3063240" cy="457200"/>
          </a:xfrm>
          <a:prstGeom prst="rect">
            <a:avLst/>
          </a:prstGeom>
          <a:noFill/>
        </p:spPr>
        <p:txBody>
          <a:bodyPr wrap="square" anchor="t" lIns="0" rIns="0" tIns="0" bIns="0">
            <a:spAutoFit/>
          </a:bodyPr>
          <a:lstStyle/>
          <a:p>
            <a:pPr algn="l">
              <a:lnSpc>
                <a:spcPct val="140000"/>
              </a:lnSpc>
            </a:pPr>
            <a:r>
              <a:rPr sz="1100" b="0">
                <a:solidFill>
                  <a:srgbClr val="1A1A1A"/>
                </a:solidFill>
                <a:latin typeface="Hiragino Sans"/>
                <a:ea typeface="Hiragino Sans"/>
                <a:cs typeface="Hiragino Sans"/>
              </a:rPr>
              <a:t>▸  カスタムセグメント (URLベース)</a:t>
            </a:r>
          </a:p>
        </p:txBody>
      </p:sp>
      <p:sp>
        <p:nvSpPr>
          <p:cNvPr id="18" name="Rectangle 17"/>
          <p:cNvSpPr/>
          <p:nvPr/>
        </p:nvSpPr>
        <p:spPr>
          <a:xfrm>
            <a:off x="822960" y="4846320"/>
            <a:ext cx="306324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5010912"/>
            <a:ext cx="3063240" cy="457200"/>
          </a:xfrm>
          <a:prstGeom prst="rect">
            <a:avLst/>
          </a:prstGeom>
          <a:noFill/>
        </p:spPr>
        <p:txBody>
          <a:bodyPr wrap="square" anchor="t" lIns="0" rIns="0" tIns="0" bIns="0">
            <a:spAutoFit/>
          </a:bodyPr>
          <a:lstStyle/>
          <a:p>
            <a:pPr algn="l">
              <a:lnSpc>
                <a:spcPct val="140000"/>
              </a:lnSpc>
            </a:pPr>
            <a:r>
              <a:rPr sz="1100" b="0">
                <a:solidFill>
                  <a:srgbClr val="1A1A1A"/>
                </a:solidFill>
                <a:latin typeface="Hiragino Sans"/>
                <a:ea typeface="Hiragino Sans"/>
                <a:cs typeface="Hiragino Sans"/>
              </a:rPr>
              <a:t>▸  Lookalike / Predictive Audiences</a:t>
            </a:r>
          </a:p>
        </p:txBody>
      </p:sp>
      <p:sp>
        <p:nvSpPr>
          <p:cNvPr id="20" name="Rounded Rectangle 19"/>
          <p:cNvSpPr/>
          <p:nvPr/>
        </p:nvSpPr>
        <p:spPr>
          <a:xfrm>
            <a:off x="4297680" y="1325880"/>
            <a:ext cx="3611880" cy="48006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297680" y="1325880"/>
            <a:ext cx="3611880" cy="868680"/>
          </a:xfrm>
          <a:prstGeom prst="rect">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0" y="1508760"/>
            <a:ext cx="3063240" cy="411480"/>
          </a:xfrm>
          <a:prstGeom prst="rect">
            <a:avLst/>
          </a:prstGeom>
          <a:noFill/>
        </p:spPr>
        <p:txBody>
          <a:bodyPr wrap="square" anchor="t" lIns="0" rIns="0" tIns="0" bIns="0">
            <a:spAutoFit/>
          </a:bodyPr>
          <a:lstStyle/>
          <a:p>
            <a:pPr algn="l">
              <a:lnSpc>
                <a:spcPct val="115000"/>
              </a:lnSpc>
            </a:pPr>
            <a:r>
              <a:rPr sz="1800" b="1">
                <a:solidFill>
                  <a:srgbClr val="FFFFFF"/>
                </a:solidFill>
                <a:latin typeface="Hiragino Sans"/>
                <a:ea typeface="Hiragino Sans"/>
                <a:cs typeface="Hiragino Sans"/>
              </a:rPr>
              <a:t>Exclusions</a:t>
            </a:r>
          </a:p>
        </p:txBody>
      </p:sp>
      <p:sp>
        <p:nvSpPr>
          <p:cNvPr id="23" name="TextBox 22"/>
          <p:cNvSpPr txBox="1"/>
          <p:nvPr/>
        </p:nvSpPr>
        <p:spPr>
          <a:xfrm>
            <a:off x="4572000" y="1892808"/>
            <a:ext cx="3063240" cy="27432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無駄配信の除去</a:t>
            </a:r>
          </a:p>
        </p:txBody>
      </p:sp>
      <p:sp>
        <p:nvSpPr>
          <p:cNvPr id="24" name="Rectangle 23"/>
          <p:cNvSpPr/>
          <p:nvPr/>
        </p:nvSpPr>
        <p:spPr>
          <a:xfrm>
            <a:off x="4572000" y="2514600"/>
            <a:ext cx="306324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0" y="2679192"/>
            <a:ext cx="3063240" cy="457200"/>
          </a:xfrm>
          <a:prstGeom prst="rect">
            <a:avLst/>
          </a:prstGeom>
          <a:noFill/>
        </p:spPr>
        <p:txBody>
          <a:bodyPr wrap="square" anchor="t" lIns="0" rIns="0" tIns="0" bIns="0">
            <a:spAutoFit/>
          </a:bodyPr>
          <a:lstStyle/>
          <a:p>
            <a:pPr algn="l">
              <a:lnSpc>
                <a:spcPct val="140000"/>
              </a:lnSpc>
            </a:pPr>
            <a:r>
              <a:rPr sz="1100" b="0">
                <a:solidFill>
                  <a:srgbClr val="1A1A1A"/>
                </a:solidFill>
                <a:latin typeface="Hiragino Sans"/>
                <a:ea typeface="Hiragino Sans"/>
                <a:cs typeface="Hiragino Sans"/>
              </a:rPr>
              <a:t>▸  Negative Keywords 10,000件</a:t>
            </a:r>
          </a:p>
        </p:txBody>
      </p:sp>
      <p:sp>
        <p:nvSpPr>
          <p:cNvPr id="26" name="Rectangle 25"/>
          <p:cNvSpPr/>
          <p:nvPr/>
        </p:nvSpPr>
        <p:spPr>
          <a:xfrm>
            <a:off x="4572000" y="3291840"/>
            <a:ext cx="306324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0" y="3456432"/>
            <a:ext cx="3063240" cy="457200"/>
          </a:xfrm>
          <a:prstGeom prst="rect">
            <a:avLst/>
          </a:prstGeom>
          <a:noFill/>
        </p:spPr>
        <p:txBody>
          <a:bodyPr wrap="square" anchor="t" lIns="0" rIns="0" tIns="0" bIns="0">
            <a:spAutoFit/>
          </a:bodyPr>
          <a:lstStyle/>
          <a:p>
            <a:pPr algn="l">
              <a:lnSpc>
                <a:spcPct val="140000"/>
              </a:lnSpc>
            </a:pPr>
            <a:r>
              <a:rPr sz="1100" b="0">
                <a:solidFill>
                  <a:srgbClr val="1A1A1A"/>
                </a:solidFill>
                <a:latin typeface="Hiragino Sans"/>
                <a:ea typeface="Hiragino Sans"/>
                <a:cs typeface="Hiragino Sans"/>
              </a:rPr>
              <a:t>▸  Brand Exclusions リスト</a:t>
            </a:r>
          </a:p>
        </p:txBody>
      </p:sp>
      <p:sp>
        <p:nvSpPr>
          <p:cNvPr id="28" name="Rectangle 27"/>
          <p:cNvSpPr/>
          <p:nvPr/>
        </p:nvSpPr>
        <p:spPr>
          <a:xfrm>
            <a:off x="4572000" y="4069080"/>
            <a:ext cx="306324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0" y="4233672"/>
            <a:ext cx="3063240" cy="457200"/>
          </a:xfrm>
          <a:prstGeom prst="rect">
            <a:avLst/>
          </a:prstGeom>
          <a:noFill/>
        </p:spPr>
        <p:txBody>
          <a:bodyPr wrap="square" anchor="t" lIns="0" rIns="0" tIns="0" bIns="0">
            <a:spAutoFit/>
          </a:bodyPr>
          <a:lstStyle/>
          <a:p>
            <a:pPr algn="l">
              <a:lnSpc>
                <a:spcPct val="140000"/>
              </a:lnSpc>
            </a:pPr>
            <a:r>
              <a:rPr sz="1100" b="0">
                <a:solidFill>
                  <a:srgbClr val="1A1A1A"/>
                </a:solidFill>
                <a:latin typeface="Hiragino Sans"/>
                <a:ea typeface="Hiragino Sans"/>
                <a:cs typeface="Hiragino Sans"/>
              </a:rPr>
              <a:t>▸  Placement Exclusions</a:t>
            </a:r>
          </a:p>
        </p:txBody>
      </p:sp>
      <p:sp>
        <p:nvSpPr>
          <p:cNvPr id="30" name="Rectangle 29"/>
          <p:cNvSpPr/>
          <p:nvPr/>
        </p:nvSpPr>
        <p:spPr>
          <a:xfrm>
            <a:off x="4572000" y="4846320"/>
            <a:ext cx="306324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0" y="5010912"/>
            <a:ext cx="3063240" cy="457200"/>
          </a:xfrm>
          <a:prstGeom prst="rect">
            <a:avLst/>
          </a:prstGeom>
          <a:noFill/>
        </p:spPr>
        <p:txBody>
          <a:bodyPr wrap="square" anchor="t" lIns="0" rIns="0" tIns="0" bIns="0">
            <a:spAutoFit/>
          </a:bodyPr>
          <a:lstStyle/>
          <a:p>
            <a:pPr algn="l">
              <a:lnSpc>
                <a:spcPct val="140000"/>
              </a:lnSpc>
            </a:pPr>
            <a:r>
              <a:rPr sz="1100" b="0">
                <a:solidFill>
                  <a:srgbClr val="1A1A1A"/>
                </a:solidFill>
                <a:latin typeface="Hiragino Sans"/>
                <a:ea typeface="Hiragino Sans"/>
                <a:cs typeface="Hiragino Sans"/>
              </a:rPr>
              <a:t>▸  Account-level 除外アプリ/URL</a:t>
            </a:r>
          </a:p>
        </p:txBody>
      </p:sp>
      <p:sp>
        <p:nvSpPr>
          <p:cNvPr id="32" name="Rounded Rectangle 31"/>
          <p:cNvSpPr/>
          <p:nvPr/>
        </p:nvSpPr>
        <p:spPr>
          <a:xfrm>
            <a:off x="8046720" y="1325880"/>
            <a:ext cx="3611880" cy="48006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6720" y="1325880"/>
            <a:ext cx="3611880" cy="86868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21040" y="1508760"/>
            <a:ext cx="3063240" cy="411480"/>
          </a:xfrm>
          <a:prstGeom prst="rect">
            <a:avLst/>
          </a:prstGeom>
          <a:noFill/>
        </p:spPr>
        <p:txBody>
          <a:bodyPr wrap="square" anchor="t" lIns="0" rIns="0" tIns="0" bIns="0">
            <a:spAutoFit/>
          </a:bodyPr>
          <a:lstStyle/>
          <a:p>
            <a:pPr algn="l">
              <a:lnSpc>
                <a:spcPct val="115000"/>
              </a:lnSpc>
            </a:pPr>
            <a:r>
              <a:rPr sz="1800" b="1">
                <a:solidFill>
                  <a:srgbClr val="FFFFFF"/>
                </a:solidFill>
                <a:latin typeface="Hiragino Sans"/>
                <a:ea typeface="Hiragino Sans"/>
                <a:cs typeface="Hiragino Sans"/>
              </a:rPr>
              <a:t>Budget Allocation</a:t>
            </a:r>
          </a:p>
        </p:txBody>
      </p:sp>
      <p:sp>
        <p:nvSpPr>
          <p:cNvPr id="35" name="TextBox 34"/>
          <p:cNvSpPr txBox="1"/>
          <p:nvPr/>
        </p:nvSpPr>
        <p:spPr>
          <a:xfrm>
            <a:off x="8321040" y="1892808"/>
            <a:ext cx="3063240" cy="27432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予算による意思表示</a:t>
            </a:r>
          </a:p>
        </p:txBody>
      </p:sp>
      <p:sp>
        <p:nvSpPr>
          <p:cNvPr id="36" name="Rectangle 35"/>
          <p:cNvSpPr/>
          <p:nvPr/>
        </p:nvSpPr>
        <p:spPr>
          <a:xfrm>
            <a:off x="8321040" y="2514600"/>
            <a:ext cx="306324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321040" y="2679192"/>
            <a:ext cx="3063240" cy="457200"/>
          </a:xfrm>
          <a:prstGeom prst="rect">
            <a:avLst/>
          </a:prstGeom>
          <a:noFill/>
        </p:spPr>
        <p:txBody>
          <a:bodyPr wrap="square" anchor="t" lIns="0" rIns="0" tIns="0" bIns="0">
            <a:spAutoFit/>
          </a:bodyPr>
          <a:lstStyle/>
          <a:p>
            <a:pPr algn="l">
              <a:lnSpc>
                <a:spcPct val="140000"/>
              </a:lnSpc>
            </a:pPr>
            <a:r>
              <a:rPr sz="1100" b="0">
                <a:solidFill>
                  <a:srgbClr val="1A1A1A"/>
                </a:solidFill>
                <a:latin typeface="Hiragino Sans"/>
                <a:ea typeface="Hiragino Sans"/>
                <a:cs typeface="Hiragino Sans"/>
              </a:rPr>
              <a:t>▸  キャンペーン単位の日予算</a:t>
            </a:r>
          </a:p>
        </p:txBody>
      </p:sp>
      <p:sp>
        <p:nvSpPr>
          <p:cNvPr id="38" name="Rectangle 37"/>
          <p:cNvSpPr/>
          <p:nvPr/>
        </p:nvSpPr>
        <p:spPr>
          <a:xfrm>
            <a:off x="8321040" y="3291840"/>
            <a:ext cx="306324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21040" y="3456432"/>
            <a:ext cx="3063240" cy="457200"/>
          </a:xfrm>
          <a:prstGeom prst="rect">
            <a:avLst/>
          </a:prstGeom>
          <a:noFill/>
        </p:spPr>
        <p:txBody>
          <a:bodyPr wrap="square" anchor="t" lIns="0" rIns="0" tIns="0" bIns="0">
            <a:spAutoFit/>
          </a:bodyPr>
          <a:lstStyle/>
          <a:p>
            <a:pPr algn="l">
              <a:lnSpc>
                <a:spcPct val="140000"/>
              </a:lnSpc>
            </a:pPr>
            <a:r>
              <a:rPr sz="1100" b="0">
                <a:solidFill>
                  <a:srgbClr val="1A1A1A"/>
                </a:solidFill>
                <a:latin typeface="Hiragino Sans"/>
                <a:ea typeface="Hiragino Sans"/>
                <a:cs typeface="Hiragino Sans"/>
              </a:rPr>
              <a:t>▸  tCPA / tROAS の目標値</a:t>
            </a:r>
          </a:p>
        </p:txBody>
      </p:sp>
      <p:sp>
        <p:nvSpPr>
          <p:cNvPr id="40" name="Rectangle 39"/>
          <p:cNvSpPr/>
          <p:nvPr/>
        </p:nvSpPr>
        <p:spPr>
          <a:xfrm>
            <a:off x="8321040" y="4069080"/>
            <a:ext cx="306324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321040" y="4233672"/>
            <a:ext cx="3063240" cy="457200"/>
          </a:xfrm>
          <a:prstGeom prst="rect">
            <a:avLst/>
          </a:prstGeom>
          <a:noFill/>
        </p:spPr>
        <p:txBody>
          <a:bodyPr wrap="square" anchor="t" lIns="0" rIns="0" tIns="0" bIns="0">
            <a:spAutoFit/>
          </a:bodyPr>
          <a:lstStyle/>
          <a:p>
            <a:pPr algn="l">
              <a:lnSpc>
                <a:spcPct val="140000"/>
              </a:lnSpc>
            </a:pPr>
            <a:r>
              <a:rPr sz="1100" b="0">
                <a:solidFill>
                  <a:srgbClr val="1A1A1A"/>
                </a:solidFill>
                <a:latin typeface="Hiragino Sans"/>
                <a:ea typeface="Hiragino Sans"/>
                <a:cs typeface="Hiragino Sans"/>
              </a:rPr>
              <a:t>▸  Bid Strategy : MaxConv vs MaxValue</a:t>
            </a:r>
          </a:p>
        </p:txBody>
      </p:sp>
      <p:sp>
        <p:nvSpPr>
          <p:cNvPr id="42" name="Rectangle 41"/>
          <p:cNvSpPr/>
          <p:nvPr/>
        </p:nvSpPr>
        <p:spPr>
          <a:xfrm>
            <a:off x="8321040" y="4846320"/>
            <a:ext cx="306324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321040" y="5010912"/>
            <a:ext cx="3063240" cy="457200"/>
          </a:xfrm>
          <a:prstGeom prst="rect">
            <a:avLst/>
          </a:prstGeom>
          <a:noFill/>
        </p:spPr>
        <p:txBody>
          <a:bodyPr wrap="square" anchor="t" lIns="0" rIns="0" tIns="0" bIns="0">
            <a:spAutoFit/>
          </a:bodyPr>
          <a:lstStyle/>
          <a:p>
            <a:pPr algn="l">
              <a:lnSpc>
                <a:spcPct val="140000"/>
              </a:lnSpc>
            </a:pPr>
            <a:r>
              <a:rPr sz="1100" b="0">
                <a:solidFill>
                  <a:srgbClr val="1A1A1A"/>
                </a:solidFill>
                <a:latin typeface="Hiragino Sans"/>
                <a:ea typeface="Hiragino Sans"/>
                <a:cs typeface="Hiragino Sans"/>
              </a:rPr>
              <a:t>▸  Seasonality Adjustment (短期)</a:t>
            </a:r>
          </a:p>
        </p:txBody>
      </p:sp>
      <p:sp>
        <p:nvSpPr>
          <p:cNvPr id="44" name="TextBox 43"/>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検索広告 : Broad Match の復権</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Smart Bidding 前提で BMM廃止後の混乱が終息した</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P38 / 250</a:t>
            </a:r>
          </a:p>
        </p:txBody>
      </p:sp>
      <p:sp>
        <p:nvSpPr>
          <p:cNvPr id="8" name="TextBox 7"/>
          <p:cNvSpPr txBox="1"/>
          <p:nvPr/>
        </p:nvSpPr>
        <p:spPr>
          <a:xfrm>
            <a:off x="548640" y="1417320"/>
            <a:ext cx="1097280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思想の逆転</a:t>
            </a:r>
          </a:p>
        </p:txBody>
      </p:sp>
      <p:sp>
        <p:nvSpPr>
          <p:cNvPr id="9" name="Rounded Rectangle 8"/>
          <p:cNvSpPr/>
          <p:nvPr/>
        </p:nvSpPr>
        <p:spPr>
          <a:xfrm>
            <a:off x="548640" y="1783080"/>
            <a:ext cx="11109960" cy="2011680"/>
          </a:xfrm>
          <a:prstGeom prst="roundRect">
            <a:avLst>
              <a:gd name="adj" fmla="val 6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920240"/>
            <a:ext cx="4572000" cy="320040"/>
          </a:xfrm>
          <a:prstGeom prst="rect">
            <a:avLst/>
          </a:prstGeom>
          <a:noFill/>
        </p:spPr>
        <p:txBody>
          <a:bodyPr wrap="square" anchor="t" lIns="0" rIns="0" tIns="0" bIns="0">
            <a:spAutoFit/>
          </a:bodyPr>
          <a:lstStyle/>
          <a:p>
            <a:pPr algn="l">
              <a:lnSpc>
                <a:spcPct val="115000"/>
              </a:lnSpc>
            </a:pPr>
            <a:r>
              <a:rPr sz="1300" b="1">
                <a:solidFill>
                  <a:srgbClr val="5A6A80"/>
                </a:solidFill>
                <a:latin typeface="Hiragino Sans"/>
                <a:ea typeface="Hiragino Sans"/>
                <a:cs typeface="Hiragino Sans"/>
              </a:rPr>
              <a:t>旧 (〜2023)</a:t>
            </a:r>
          </a:p>
        </p:txBody>
      </p:sp>
      <p:sp>
        <p:nvSpPr>
          <p:cNvPr id="11" name="TextBox 10"/>
          <p:cNvSpPr txBox="1"/>
          <p:nvPr/>
        </p:nvSpPr>
        <p:spPr>
          <a:xfrm>
            <a:off x="777240" y="2286000"/>
            <a:ext cx="5029200" cy="1463040"/>
          </a:xfrm>
          <a:prstGeom prst="rect">
            <a:avLst/>
          </a:prstGeom>
          <a:noFill/>
        </p:spPr>
        <p:txBody>
          <a:bodyPr wrap="square" anchor="t" lIns="0" rIns="0" tIns="0" bIns="0">
            <a:spAutoFit/>
          </a:bodyPr>
          <a:lstStyle/>
          <a:p>
            <a:pPr algn="l">
              <a:lnSpc>
                <a:spcPct val="165000"/>
              </a:lnSpc>
            </a:pPr>
            <a:r>
              <a:rPr sz="1100" b="0">
                <a:solidFill>
                  <a:srgbClr val="1A1A1A"/>
                </a:solidFill>
                <a:latin typeface="Hiragino Sans"/>
                <a:ea typeface="Hiragino Sans"/>
                <a:cs typeface="Hiragino Sans"/>
              </a:rPr>
              <a:t>キーワード粒度で細かく制御。</a:t>
            </a:r>
          </a:p>
          <a:p>
            <a:pPr algn="l">
              <a:lnSpc>
                <a:spcPct val="165000"/>
              </a:lnSpc>
            </a:pPr>
            <a:r>
              <a:rPr sz="1100" b="0">
                <a:solidFill>
                  <a:srgbClr val="1A1A1A"/>
                </a:solidFill>
                <a:latin typeface="Hiragino Sans"/>
                <a:ea typeface="Hiragino Sans"/>
                <a:cs typeface="Hiragino Sans"/>
              </a:rPr>
              <a:t>Phrase / Exact 中心。</a:t>
            </a:r>
          </a:p>
          <a:p>
            <a:pPr algn="l">
              <a:lnSpc>
                <a:spcPct val="165000"/>
              </a:lnSpc>
            </a:pPr>
            <a:r>
              <a:rPr sz="1100" b="0">
                <a:solidFill>
                  <a:srgbClr val="1A1A1A"/>
                </a:solidFill>
                <a:latin typeface="Hiragino Sans"/>
                <a:ea typeface="Hiragino Sans"/>
                <a:cs typeface="Hiragino Sans"/>
              </a:rPr>
              <a:t>Broad は無駄クリックが多いと忌避。</a:t>
            </a:r>
          </a:p>
          <a:p>
            <a:pPr algn="l">
              <a:lnSpc>
                <a:spcPct val="165000"/>
              </a:lnSpc>
            </a:pPr>
            <a:r>
              <a:rPr sz="1100" b="0">
                <a:solidFill>
                  <a:srgbClr val="1A1A1A"/>
                </a:solidFill>
                <a:latin typeface="Hiragino Sans"/>
                <a:ea typeface="Hiragino Sans"/>
                <a:cs typeface="Hiragino Sans"/>
              </a:rPr>
              <a:t>マッチタイプの細分化 → 管理コスト増</a:t>
            </a:r>
          </a:p>
        </p:txBody>
      </p:sp>
      <p:sp>
        <p:nvSpPr>
          <p:cNvPr id="12" name="Right Arrow 11"/>
          <p:cNvSpPr/>
          <p:nvPr/>
        </p:nvSpPr>
        <p:spPr>
          <a:xfrm>
            <a:off x="5943600" y="2606040"/>
            <a:ext cx="548640" cy="457200"/>
          </a:xfrm>
          <a:prstGeom prst="rightArrow">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66560" y="1920240"/>
            <a:ext cx="4572000" cy="320040"/>
          </a:xfrm>
          <a:prstGeom prst="rect">
            <a:avLst/>
          </a:prstGeom>
          <a:noFill/>
        </p:spPr>
        <p:txBody>
          <a:bodyPr wrap="square" anchor="t" lIns="0" rIns="0" tIns="0" bIns="0">
            <a:spAutoFit/>
          </a:bodyPr>
          <a:lstStyle/>
          <a:p>
            <a:pPr algn="l">
              <a:lnSpc>
                <a:spcPct val="115000"/>
              </a:lnSpc>
            </a:pPr>
            <a:r>
              <a:rPr sz="1300" b="1">
                <a:solidFill>
                  <a:srgbClr val="E87722"/>
                </a:solidFill>
                <a:latin typeface="Hiragino Sans"/>
                <a:ea typeface="Hiragino Sans"/>
                <a:cs typeface="Hiragino Sans"/>
              </a:rPr>
              <a:t>新 (2024〜)</a:t>
            </a:r>
          </a:p>
        </p:txBody>
      </p:sp>
      <p:sp>
        <p:nvSpPr>
          <p:cNvPr id="14" name="TextBox 13"/>
          <p:cNvSpPr txBox="1"/>
          <p:nvPr/>
        </p:nvSpPr>
        <p:spPr>
          <a:xfrm>
            <a:off x="6766560" y="2286000"/>
            <a:ext cx="4846320" cy="1463040"/>
          </a:xfrm>
          <a:prstGeom prst="rect">
            <a:avLst/>
          </a:prstGeom>
          <a:noFill/>
        </p:spPr>
        <p:txBody>
          <a:bodyPr wrap="square" anchor="t" lIns="0" rIns="0" tIns="0" bIns="0">
            <a:spAutoFit/>
          </a:bodyPr>
          <a:lstStyle/>
          <a:p>
            <a:pPr algn="l">
              <a:lnSpc>
                <a:spcPct val="165000"/>
              </a:lnSpc>
            </a:pPr>
            <a:r>
              <a:rPr sz="1100" b="0">
                <a:solidFill>
                  <a:srgbClr val="1A1A1A"/>
                </a:solidFill>
                <a:latin typeface="Hiragino Sans"/>
                <a:ea typeface="Hiragino Sans"/>
                <a:cs typeface="Hiragino Sans"/>
              </a:rPr>
              <a:t>Broad Match + Smart Bidding 推奨。</a:t>
            </a:r>
          </a:p>
          <a:p>
            <a:pPr algn="l">
              <a:lnSpc>
                <a:spcPct val="165000"/>
              </a:lnSpc>
            </a:pPr>
            <a:r>
              <a:rPr sz="1100" b="0">
                <a:solidFill>
                  <a:srgbClr val="1A1A1A"/>
                </a:solidFill>
                <a:latin typeface="Hiragino Sans"/>
                <a:ea typeface="Hiragino Sans"/>
                <a:cs typeface="Hiragino Sans"/>
              </a:rPr>
              <a:t>ネガティブキーワードで絞る思想に反転。</a:t>
            </a:r>
          </a:p>
          <a:p>
            <a:pPr algn="l">
              <a:lnSpc>
                <a:spcPct val="165000"/>
              </a:lnSpc>
            </a:pPr>
            <a:r>
              <a:rPr sz="1100" b="0">
                <a:solidFill>
                  <a:srgbClr val="1A1A1A"/>
                </a:solidFill>
                <a:latin typeface="Hiragino Sans"/>
                <a:ea typeface="Hiragino Sans"/>
                <a:cs typeface="Hiragino Sans"/>
              </a:rPr>
              <a:t>Google 公式: Broad の CV 貢献度が高い。</a:t>
            </a:r>
          </a:p>
          <a:p>
            <a:pPr algn="l">
              <a:lnSpc>
                <a:spcPct val="165000"/>
              </a:lnSpc>
            </a:pPr>
            <a:r>
              <a:rPr sz="1100" b="0">
                <a:solidFill>
                  <a:srgbClr val="1A1A1A"/>
                </a:solidFill>
                <a:latin typeface="Hiragino Sans"/>
                <a:ea typeface="Hiragino Sans"/>
                <a:cs typeface="Hiragino Sans"/>
              </a:rPr>
              <a:t>『AIにマッチさせ、ネガで絞る』</a:t>
            </a:r>
          </a:p>
        </p:txBody>
      </p:sp>
      <p:sp>
        <p:nvSpPr>
          <p:cNvPr id="15" name="TextBox 14"/>
          <p:cNvSpPr txBox="1"/>
          <p:nvPr/>
        </p:nvSpPr>
        <p:spPr>
          <a:xfrm>
            <a:off x="548640" y="3977639"/>
            <a:ext cx="5486400" cy="32004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なぜ逆転したか</a:t>
            </a:r>
          </a:p>
        </p:txBody>
      </p:sp>
      <p:sp>
        <p:nvSpPr>
          <p:cNvPr id="16" name="Rectangle 15"/>
          <p:cNvSpPr/>
          <p:nvPr/>
        </p:nvSpPr>
        <p:spPr>
          <a:xfrm>
            <a:off x="548640" y="4297680"/>
            <a:ext cx="548640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4480560"/>
            <a:ext cx="27432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a:t>
            </a:r>
          </a:p>
        </p:txBody>
      </p:sp>
      <p:sp>
        <p:nvSpPr>
          <p:cNvPr id="18" name="TextBox 17"/>
          <p:cNvSpPr txBox="1"/>
          <p:nvPr/>
        </p:nvSpPr>
        <p:spPr>
          <a:xfrm>
            <a:off x="914400" y="4507992"/>
            <a:ext cx="4937760" cy="36576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Smart Bidding (tCPA/tROAS) の精度向上で、雑なクリックもCV見込みでフィルタ</a:t>
            </a:r>
          </a:p>
        </p:txBody>
      </p:sp>
      <p:sp>
        <p:nvSpPr>
          <p:cNvPr id="19" name="TextBox 18"/>
          <p:cNvSpPr txBox="1"/>
          <p:nvPr/>
        </p:nvSpPr>
        <p:spPr>
          <a:xfrm>
            <a:off x="640080" y="4864608"/>
            <a:ext cx="27432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a:t>
            </a:r>
          </a:p>
        </p:txBody>
      </p:sp>
      <p:sp>
        <p:nvSpPr>
          <p:cNvPr id="20" name="TextBox 19"/>
          <p:cNvSpPr txBox="1"/>
          <p:nvPr/>
        </p:nvSpPr>
        <p:spPr>
          <a:xfrm>
            <a:off x="914400" y="4892040"/>
            <a:ext cx="4937760" cy="36576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BERT / MUM / Gemini の言語理解で意図マッチが飛躍的に向上</a:t>
            </a:r>
          </a:p>
        </p:txBody>
      </p:sp>
      <p:sp>
        <p:nvSpPr>
          <p:cNvPr id="21" name="TextBox 20"/>
          <p:cNvSpPr txBox="1"/>
          <p:nvPr/>
        </p:nvSpPr>
        <p:spPr>
          <a:xfrm>
            <a:off x="640080" y="5248656"/>
            <a:ext cx="27432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a:t>
            </a:r>
          </a:p>
        </p:txBody>
      </p:sp>
      <p:sp>
        <p:nvSpPr>
          <p:cNvPr id="22" name="TextBox 21"/>
          <p:cNvSpPr txBox="1"/>
          <p:nvPr/>
        </p:nvSpPr>
        <p:spPr>
          <a:xfrm>
            <a:off x="914400" y="5276088"/>
            <a:ext cx="4937760" cy="36576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Exact マッチのシェアが縮小 → 機会損失が増加</a:t>
            </a:r>
          </a:p>
        </p:txBody>
      </p:sp>
      <p:sp>
        <p:nvSpPr>
          <p:cNvPr id="23" name="TextBox 22"/>
          <p:cNvSpPr txBox="1"/>
          <p:nvPr/>
        </p:nvSpPr>
        <p:spPr>
          <a:xfrm>
            <a:off x="640080" y="5632704"/>
            <a:ext cx="27432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a:t>
            </a:r>
          </a:p>
        </p:txBody>
      </p:sp>
      <p:sp>
        <p:nvSpPr>
          <p:cNvPr id="24" name="TextBox 23"/>
          <p:cNvSpPr txBox="1"/>
          <p:nvPr/>
        </p:nvSpPr>
        <p:spPr>
          <a:xfrm>
            <a:off x="914400" y="5660136"/>
            <a:ext cx="4937760" cy="36576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Audience Signal + 1PD の活用で AI 判断の補強可能</a:t>
            </a:r>
          </a:p>
        </p:txBody>
      </p:sp>
      <p:sp>
        <p:nvSpPr>
          <p:cNvPr id="25" name="TextBox 24"/>
          <p:cNvSpPr txBox="1"/>
          <p:nvPr/>
        </p:nvSpPr>
        <p:spPr>
          <a:xfrm>
            <a:off x="6400800" y="3977639"/>
            <a:ext cx="5486400" cy="32004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副業運用の実務 (鉄板設定)</a:t>
            </a:r>
          </a:p>
        </p:txBody>
      </p:sp>
      <p:sp>
        <p:nvSpPr>
          <p:cNvPr id="26" name="Rectangle 25"/>
          <p:cNvSpPr/>
          <p:nvPr/>
        </p:nvSpPr>
        <p:spPr>
          <a:xfrm>
            <a:off x="6400800" y="4297680"/>
            <a:ext cx="525780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92240" y="4480560"/>
            <a:ext cx="365760" cy="274320"/>
          </a:xfrm>
          <a:prstGeom prst="rect">
            <a:avLst/>
          </a:prstGeom>
          <a:noFill/>
        </p:spPr>
        <p:txBody>
          <a:bodyPr wrap="square" anchor="t" lIns="0" rIns="0" tIns="0" bIns="0">
            <a:spAutoFit/>
          </a:bodyPr>
          <a:lstStyle/>
          <a:p>
            <a:pPr algn="l">
              <a:lnSpc>
                <a:spcPct val="115000"/>
              </a:lnSpc>
            </a:pPr>
            <a:r>
              <a:rPr sz="1300" b="1">
                <a:solidFill>
                  <a:srgbClr val="E87722"/>
                </a:solidFill>
                <a:latin typeface="Helvetica Neue"/>
                <a:ea typeface="Helvetica Neue"/>
                <a:cs typeface="Helvetica Neue"/>
              </a:rPr>
              <a:t>①</a:t>
            </a:r>
          </a:p>
        </p:txBody>
      </p:sp>
      <p:sp>
        <p:nvSpPr>
          <p:cNvPr id="28" name="TextBox 27"/>
          <p:cNvSpPr txBox="1"/>
          <p:nvPr/>
        </p:nvSpPr>
        <p:spPr>
          <a:xfrm>
            <a:off x="6903720" y="4507992"/>
            <a:ext cx="4754880" cy="36576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Core KW は Exact / Phrase を土台に</a:t>
            </a:r>
          </a:p>
        </p:txBody>
      </p:sp>
      <p:sp>
        <p:nvSpPr>
          <p:cNvPr id="29" name="TextBox 28"/>
          <p:cNvSpPr txBox="1"/>
          <p:nvPr/>
        </p:nvSpPr>
        <p:spPr>
          <a:xfrm>
            <a:off x="6492240" y="4864608"/>
            <a:ext cx="365760" cy="274320"/>
          </a:xfrm>
          <a:prstGeom prst="rect">
            <a:avLst/>
          </a:prstGeom>
          <a:noFill/>
        </p:spPr>
        <p:txBody>
          <a:bodyPr wrap="square" anchor="t" lIns="0" rIns="0" tIns="0" bIns="0">
            <a:spAutoFit/>
          </a:bodyPr>
          <a:lstStyle/>
          <a:p>
            <a:pPr algn="l">
              <a:lnSpc>
                <a:spcPct val="115000"/>
              </a:lnSpc>
            </a:pPr>
            <a:r>
              <a:rPr sz="1300" b="1">
                <a:solidFill>
                  <a:srgbClr val="E87722"/>
                </a:solidFill>
                <a:latin typeface="Helvetica Neue"/>
                <a:ea typeface="Helvetica Neue"/>
                <a:cs typeface="Helvetica Neue"/>
              </a:rPr>
              <a:t>②</a:t>
            </a:r>
          </a:p>
        </p:txBody>
      </p:sp>
      <p:sp>
        <p:nvSpPr>
          <p:cNvPr id="30" name="TextBox 29"/>
          <p:cNvSpPr txBox="1"/>
          <p:nvPr/>
        </p:nvSpPr>
        <p:spPr>
          <a:xfrm>
            <a:off x="6903720" y="4892040"/>
            <a:ext cx="4754880" cy="36576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Broad Match を同じ広告グループに入れる</a:t>
            </a:r>
          </a:p>
        </p:txBody>
      </p:sp>
      <p:sp>
        <p:nvSpPr>
          <p:cNvPr id="31" name="TextBox 30"/>
          <p:cNvSpPr txBox="1"/>
          <p:nvPr/>
        </p:nvSpPr>
        <p:spPr>
          <a:xfrm>
            <a:off x="6492240" y="5248656"/>
            <a:ext cx="365760" cy="274320"/>
          </a:xfrm>
          <a:prstGeom prst="rect">
            <a:avLst/>
          </a:prstGeom>
          <a:noFill/>
        </p:spPr>
        <p:txBody>
          <a:bodyPr wrap="square" anchor="t" lIns="0" rIns="0" tIns="0" bIns="0">
            <a:spAutoFit/>
          </a:bodyPr>
          <a:lstStyle/>
          <a:p>
            <a:pPr algn="l">
              <a:lnSpc>
                <a:spcPct val="115000"/>
              </a:lnSpc>
            </a:pPr>
            <a:r>
              <a:rPr sz="1300" b="1">
                <a:solidFill>
                  <a:srgbClr val="E87722"/>
                </a:solidFill>
                <a:latin typeface="Helvetica Neue"/>
                <a:ea typeface="Helvetica Neue"/>
                <a:cs typeface="Helvetica Neue"/>
              </a:rPr>
              <a:t>③</a:t>
            </a:r>
          </a:p>
        </p:txBody>
      </p:sp>
      <p:sp>
        <p:nvSpPr>
          <p:cNvPr id="32" name="TextBox 31"/>
          <p:cNvSpPr txBox="1"/>
          <p:nvPr/>
        </p:nvSpPr>
        <p:spPr>
          <a:xfrm>
            <a:off x="6903720" y="5276088"/>
            <a:ext cx="4754880" cy="36576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Target CPA / Target ROAS を設定</a:t>
            </a:r>
          </a:p>
        </p:txBody>
      </p:sp>
      <p:sp>
        <p:nvSpPr>
          <p:cNvPr id="33" name="TextBox 32"/>
          <p:cNvSpPr txBox="1"/>
          <p:nvPr/>
        </p:nvSpPr>
        <p:spPr>
          <a:xfrm>
            <a:off x="6492240" y="5632704"/>
            <a:ext cx="365760" cy="274320"/>
          </a:xfrm>
          <a:prstGeom prst="rect">
            <a:avLst/>
          </a:prstGeom>
          <a:noFill/>
        </p:spPr>
        <p:txBody>
          <a:bodyPr wrap="square" anchor="t" lIns="0" rIns="0" tIns="0" bIns="0">
            <a:spAutoFit/>
          </a:bodyPr>
          <a:lstStyle/>
          <a:p>
            <a:pPr algn="l">
              <a:lnSpc>
                <a:spcPct val="115000"/>
              </a:lnSpc>
            </a:pPr>
            <a:r>
              <a:rPr sz="1300" b="1">
                <a:solidFill>
                  <a:srgbClr val="E87722"/>
                </a:solidFill>
                <a:latin typeface="Helvetica Neue"/>
                <a:ea typeface="Helvetica Neue"/>
                <a:cs typeface="Helvetica Neue"/>
              </a:rPr>
              <a:t>④</a:t>
            </a:r>
          </a:p>
        </p:txBody>
      </p:sp>
      <p:sp>
        <p:nvSpPr>
          <p:cNvPr id="34" name="TextBox 33"/>
          <p:cNvSpPr txBox="1"/>
          <p:nvPr/>
        </p:nvSpPr>
        <p:spPr>
          <a:xfrm>
            <a:off x="6903720" y="5660136"/>
            <a:ext cx="4754880" cy="36576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Negative KW を 500件 程度で初期投入</a:t>
            </a:r>
          </a:p>
        </p:txBody>
      </p:sp>
      <p:sp>
        <p:nvSpPr>
          <p:cNvPr id="35" name="TextBox 34"/>
          <p:cNvSpPr txBox="1"/>
          <p:nvPr/>
        </p:nvSpPr>
        <p:spPr>
          <a:xfrm>
            <a:off x="6492240" y="6016752"/>
            <a:ext cx="365760" cy="274320"/>
          </a:xfrm>
          <a:prstGeom prst="rect">
            <a:avLst/>
          </a:prstGeom>
          <a:noFill/>
        </p:spPr>
        <p:txBody>
          <a:bodyPr wrap="square" anchor="t" lIns="0" rIns="0" tIns="0" bIns="0">
            <a:spAutoFit/>
          </a:bodyPr>
          <a:lstStyle/>
          <a:p>
            <a:pPr algn="l">
              <a:lnSpc>
                <a:spcPct val="115000"/>
              </a:lnSpc>
            </a:pPr>
            <a:r>
              <a:rPr sz="1300" b="1">
                <a:solidFill>
                  <a:srgbClr val="E87722"/>
                </a:solidFill>
                <a:latin typeface="Helvetica Neue"/>
                <a:ea typeface="Helvetica Neue"/>
                <a:cs typeface="Helvetica Neue"/>
              </a:rPr>
              <a:t>⑤</a:t>
            </a:r>
          </a:p>
        </p:txBody>
      </p:sp>
      <p:sp>
        <p:nvSpPr>
          <p:cNvPr id="36" name="TextBox 35"/>
          <p:cNvSpPr txBox="1"/>
          <p:nvPr/>
        </p:nvSpPr>
        <p:spPr>
          <a:xfrm>
            <a:off x="6903720" y="6044184"/>
            <a:ext cx="4754880" cy="36576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Asset Group + RSA で複数訴求をAIが選ぶ</a:t>
            </a:r>
          </a:p>
        </p:txBody>
      </p:sp>
      <p:sp>
        <p:nvSpPr>
          <p:cNvPr id="37" name="TextBox 36"/>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RSA と広告アセット設計</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Expanded Text Ads (ETA) 廃止後 (2022/06) の基本形</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P39 / 250</a:t>
            </a:r>
          </a:p>
        </p:txBody>
      </p:sp>
      <p:sp>
        <p:nvSpPr>
          <p:cNvPr id="8" name="Rounded Rectangle 7"/>
          <p:cNvSpPr/>
          <p:nvPr/>
        </p:nvSpPr>
        <p:spPr>
          <a:xfrm>
            <a:off x="548640" y="1371600"/>
            <a:ext cx="11109960" cy="91440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08760"/>
            <a:ext cx="5486400" cy="274320"/>
          </a:xfrm>
          <a:prstGeom prst="rect">
            <a:avLst/>
          </a:prstGeom>
          <a:noFill/>
        </p:spPr>
        <p:txBody>
          <a:bodyPr wrap="square" anchor="t" lIns="0" rIns="0" tIns="0" bIns="0">
            <a:spAutoFit/>
          </a:bodyPr>
          <a:lstStyle/>
          <a:p>
            <a:pPr algn="l">
              <a:lnSpc>
                <a:spcPct val="115000"/>
              </a:lnSpc>
            </a:pPr>
            <a:r>
              <a:rPr sz="1200" b="1">
                <a:solidFill>
                  <a:srgbClr val="E87722"/>
                </a:solidFill>
                <a:latin typeface="Hiragino Sans"/>
                <a:ea typeface="Hiragino Sans"/>
                <a:cs typeface="Hiragino Sans"/>
              </a:rPr>
              <a:t>RSA = Responsive Search Ads</a:t>
            </a:r>
          </a:p>
        </p:txBody>
      </p:sp>
      <p:sp>
        <p:nvSpPr>
          <p:cNvPr id="10" name="TextBox 9"/>
          <p:cNvSpPr txBox="1"/>
          <p:nvPr/>
        </p:nvSpPr>
        <p:spPr>
          <a:xfrm>
            <a:off x="777240" y="1828800"/>
            <a:ext cx="10972800" cy="457200"/>
          </a:xfrm>
          <a:prstGeom prst="rect">
            <a:avLst/>
          </a:prstGeom>
          <a:noFill/>
        </p:spPr>
        <p:txBody>
          <a:bodyPr wrap="square" anchor="t" lIns="0" rIns="0" tIns="0" bIns="0">
            <a:spAutoFit/>
          </a:bodyPr>
          <a:lstStyle/>
          <a:p>
            <a:pPr algn="l">
              <a:lnSpc>
                <a:spcPct val="140000"/>
              </a:lnSpc>
            </a:pPr>
            <a:r>
              <a:rPr sz="1100" b="0">
                <a:solidFill>
                  <a:srgbClr val="FFFFFF"/>
                </a:solidFill>
                <a:latin typeface="Hiragino Sans"/>
                <a:ea typeface="Hiragino Sans"/>
                <a:cs typeface="Hiragino Sans"/>
              </a:rPr>
              <a:t>見出し最大15個 + 説明文最大4個 を登録し、Google AI が組み合わせを最適化。</a:t>
            </a:r>
          </a:p>
          <a:p>
            <a:pPr algn="l">
              <a:lnSpc>
                <a:spcPct val="140000"/>
              </a:lnSpc>
            </a:pPr>
            <a:r>
              <a:rPr sz="1100" b="0">
                <a:solidFill>
                  <a:srgbClr val="FFFFFF"/>
                </a:solidFill>
                <a:latin typeface="Hiragino Sans"/>
                <a:ea typeface="Hiragino Sans"/>
                <a:cs typeface="Hiragino Sans"/>
              </a:rPr>
              <a:t>ETA は 2022/06 で新規作成終了、現在も既存は配信されるが非推奨</a:t>
            </a:r>
          </a:p>
        </p:txBody>
      </p:sp>
      <p:sp>
        <p:nvSpPr>
          <p:cNvPr id="11" name="TextBox 10"/>
          <p:cNvSpPr txBox="1"/>
          <p:nvPr/>
        </p:nvSpPr>
        <p:spPr>
          <a:xfrm>
            <a:off x="548640" y="2560320"/>
            <a:ext cx="5486400" cy="32004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RSA 設計のベストプラクティス</a:t>
            </a:r>
          </a:p>
        </p:txBody>
      </p:sp>
      <p:sp>
        <p:nvSpPr>
          <p:cNvPr id="12" name="Rounded Rectangle 11"/>
          <p:cNvSpPr/>
          <p:nvPr/>
        </p:nvSpPr>
        <p:spPr>
          <a:xfrm>
            <a:off x="548640" y="3017520"/>
            <a:ext cx="5440680" cy="10058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017520"/>
            <a:ext cx="73152" cy="10058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154680"/>
            <a:ext cx="5074920" cy="36576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見出し 15個 上限で登録</a:t>
            </a:r>
          </a:p>
        </p:txBody>
      </p:sp>
      <p:sp>
        <p:nvSpPr>
          <p:cNvPr id="15" name="TextBox 14"/>
          <p:cNvSpPr txBox="1"/>
          <p:nvPr/>
        </p:nvSpPr>
        <p:spPr>
          <a:xfrm>
            <a:off x="777240" y="3520440"/>
            <a:ext cx="5074920" cy="45720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AIの組み合わせ自由度を確保する</a:t>
            </a:r>
          </a:p>
        </p:txBody>
      </p:sp>
      <p:sp>
        <p:nvSpPr>
          <p:cNvPr id="16" name="Rounded Rectangle 15"/>
          <p:cNvSpPr/>
          <p:nvPr/>
        </p:nvSpPr>
        <p:spPr>
          <a:xfrm>
            <a:off x="6172200" y="3017520"/>
            <a:ext cx="5440680" cy="10058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72200" y="3017520"/>
            <a:ext cx="73152" cy="10058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3154680"/>
            <a:ext cx="5074920" cy="36576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訴求軸の多様化 (価格/信頼/機能)</a:t>
            </a:r>
          </a:p>
        </p:txBody>
      </p:sp>
      <p:sp>
        <p:nvSpPr>
          <p:cNvPr id="19" name="TextBox 18"/>
          <p:cNvSpPr txBox="1"/>
          <p:nvPr/>
        </p:nvSpPr>
        <p:spPr>
          <a:xfrm>
            <a:off x="6400800" y="3520440"/>
            <a:ext cx="5074920" cy="45720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ABテスト対象を AIが自動選別してくれる</a:t>
            </a:r>
          </a:p>
        </p:txBody>
      </p:sp>
      <p:sp>
        <p:nvSpPr>
          <p:cNvPr id="20" name="Rounded Rectangle 19"/>
          <p:cNvSpPr/>
          <p:nvPr/>
        </p:nvSpPr>
        <p:spPr>
          <a:xfrm>
            <a:off x="548640" y="4160520"/>
            <a:ext cx="5440680" cy="10058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160520"/>
            <a:ext cx="73152" cy="10058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297680"/>
            <a:ext cx="5074920" cy="36576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Pinning は最小限に</a:t>
            </a:r>
          </a:p>
        </p:txBody>
      </p:sp>
      <p:sp>
        <p:nvSpPr>
          <p:cNvPr id="23" name="TextBox 22"/>
          <p:cNvSpPr txBox="1"/>
          <p:nvPr/>
        </p:nvSpPr>
        <p:spPr>
          <a:xfrm>
            <a:off x="777240" y="4663440"/>
            <a:ext cx="5074920" cy="45720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AI最適化を阻害するため、ブランド必須箇所のみ</a:t>
            </a:r>
          </a:p>
        </p:txBody>
      </p:sp>
      <p:sp>
        <p:nvSpPr>
          <p:cNvPr id="24" name="Rounded Rectangle 23"/>
          <p:cNvSpPr/>
          <p:nvPr/>
        </p:nvSpPr>
        <p:spPr>
          <a:xfrm>
            <a:off x="6172200" y="4160520"/>
            <a:ext cx="5440680" cy="10058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72200" y="4160520"/>
            <a:ext cx="73152" cy="10058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0" y="4297680"/>
            <a:ext cx="5074920" cy="36576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Ad Strength: Excellent を目指す</a:t>
            </a:r>
          </a:p>
        </p:txBody>
      </p:sp>
      <p:sp>
        <p:nvSpPr>
          <p:cNvPr id="27" name="TextBox 26"/>
          <p:cNvSpPr txBox="1"/>
          <p:nvPr/>
        </p:nvSpPr>
        <p:spPr>
          <a:xfrm>
            <a:off x="6400800" y="4663440"/>
            <a:ext cx="5074920" cy="45720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Optiscore 上昇 + CVR改善効果あり</a:t>
            </a:r>
          </a:p>
        </p:txBody>
      </p:sp>
      <p:sp>
        <p:nvSpPr>
          <p:cNvPr id="28" name="Rounded Rectangle 27"/>
          <p:cNvSpPr/>
          <p:nvPr/>
        </p:nvSpPr>
        <p:spPr>
          <a:xfrm>
            <a:off x="548640" y="5303520"/>
            <a:ext cx="5440680" cy="10058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5303520"/>
            <a:ext cx="73152" cy="10058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5440680"/>
            <a:ext cx="5074920" cy="36576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Assets (sitelink / callout / structured)</a:t>
            </a:r>
          </a:p>
        </p:txBody>
      </p:sp>
      <p:sp>
        <p:nvSpPr>
          <p:cNvPr id="31" name="TextBox 30"/>
          <p:cNvSpPr txBox="1"/>
          <p:nvPr/>
        </p:nvSpPr>
        <p:spPr>
          <a:xfrm>
            <a:off x="777240" y="5806440"/>
            <a:ext cx="5074920" cy="45720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広告フォーマット拡大で表示面積とCTR UP</a:t>
            </a:r>
          </a:p>
        </p:txBody>
      </p:sp>
      <p:sp>
        <p:nvSpPr>
          <p:cNvPr id="32" name="Rounded Rectangle 31"/>
          <p:cNvSpPr/>
          <p:nvPr/>
        </p:nvSpPr>
        <p:spPr>
          <a:xfrm>
            <a:off x="6172200" y="5303520"/>
            <a:ext cx="5440680" cy="10058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2200" y="5303520"/>
            <a:ext cx="73152" cy="10058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0" y="5440680"/>
            <a:ext cx="5074920" cy="36576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動的アセット (Location / Price / Promotion)</a:t>
            </a:r>
          </a:p>
        </p:txBody>
      </p:sp>
      <p:sp>
        <p:nvSpPr>
          <p:cNvPr id="35" name="TextBox 34"/>
          <p:cNvSpPr txBox="1"/>
          <p:nvPr/>
        </p:nvSpPr>
        <p:spPr>
          <a:xfrm>
            <a:off x="6400800" y="5806440"/>
            <a:ext cx="5074920" cy="45720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在庫連携で商品単位の訴求を自動生成</a:t>
            </a:r>
          </a:p>
        </p:txBody>
      </p:sp>
      <p:sp>
        <p:nvSpPr>
          <p:cNvPr id="36" name="TextBox 35"/>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 AI Max for Search (2025/05/06 発表)</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検索広告のAI拡張レイヤー、DSA置換が確定</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P40 / 250</a:t>
            </a:r>
          </a:p>
        </p:txBody>
      </p:sp>
      <p:sp>
        <p:nvSpPr>
          <p:cNvPr id="8" name="Rounded Rectangle 7"/>
          <p:cNvSpPr/>
          <p:nvPr/>
        </p:nvSpPr>
        <p:spPr>
          <a:xfrm>
            <a:off x="548640" y="1371600"/>
            <a:ext cx="11109960" cy="109728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600200"/>
            <a:ext cx="731520" cy="731520"/>
          </a:xfrm>
          <a:prstGeom prst="rect">
            <a:avLst/>
          </a:prstGeom>
          <a:noFill/>
        </p:spPr>
        <p:txBody>
          <a:bodyPr wrap="square" anchor="t" lIns="0" rIns="0" tIns="0" bIns="0">
            <a:spAutoFit/>
          </a:bodyPr>
          <a:lstStyle/>
          <a:p>
            <a:pPr algn="l">
              <a:lnSpc>
                <a:spcPct val="115000"/>
              </a:lnSpc>
            </a:pPr>
            <a:r>
              <a:rPr sz="3000" b="0">
                <a:solidFill>
                  <a:srgbClr val="1A1A1A"/>
                </a:solidFill>
                <a:latin typeface="Hiragino Sans"/>
                <a:ea typeface="Hiragino Sans"/>
                <a:cs typeface="Hiragino Sans"/>
              </a:rPr>
              <a:t>📢</a:t>
            </a:r>
          </a:p>
        </p:txBody>
      </p:sp>
      <p:sp>
        <p:nvSpPr>
          <p:cNvPr id="10" name="TextBox 9"/>
          <p:cNvSpPr txBox="1"/>
          <p:nvPr/>
        </p:nvSpPr>
        <p:spPr>
          <a:xfrm>
            <a:off x="1554480" y="1554480"/>
            <a:ext cx="10058400" cy="365760"/>
          </a:xfrm>
          <a:prstGeom prst="rect">
            <a:avLst/>
          </a:prstGeom>
          <a:noFill/>
        </p:spPr>
        <p:txBody>
          <a:bodyPr wrap="square" anchor="t" lIns="0" rIns="0" tIns="0" bIns="0">
            <a:spAutoFit/>
          </a:bodyPr>
          <a:lstStyle/>
          <a:p>
            <a:pPr algn="l">
              <a:lnSpc>
                <a:spcPct val="115000"/>
              </a:lnSpc>
            </a:pPr>
            <a:r>
              <a:rPr sz="1200" b="1">
                <a:solidFill>
                  <a:srgbClr val="E87722"/>
                </a:solidFill>
                <a:latin typeface="Hiragino Sans"/>
                <a:ea typeface="Hiragino Sans"/>
                <a:cs typeface="Hiragino Sans"/>
              </a:rPr>
              <a:t>Google Marketing Live 2025 (2025/05/21)</a:t>
            </a:r>
          </a:p>
        </p:txBody>
      </p:sp>
      <p:sp>
        <p:nvSpPr>
          <p:cNvPr id="11" name="TextBox 10"/>
          <p:cNvSpPr txBox="1"/>
          <p:nvPr/>
        </p:nvSpPr>
        <p:spPr>
          <a:xfrm>
            <a:off x="1554480" y="1874519"/>
            <a:ext cx="10058400" cy="502920"/>
          </a:xfrm>
          <a:prstGeom prst="rect">
            <a:avLst/>
          </a:prstGeom>
          <a:noFill/>
        </p:spPr>
        <p:txBody>
          <a:bodyPr wrap="square" anchor="t" lIns="0" rIns="0" tIns="0" bIns="0">
            <a:spAutoFit/>
          </a:bodyPr>
          <a:lstStyle/>
          <a:p>
            <a:pPr algn="l">
              <a:lnSpc>
                <a:spcPct val="140000"/>
              </a:lnSpc>
            </a:pPr>
            <a:r>
              <a:rPr sz="1300" b="1">
                <a:solidFill>
                  <a:srgbClr val="FFFFFF"/>
                </a:solidFill>
                <a:latin typeface="Hiragino Sans"/>
                <a:ea typeface="Hiragino Sans"/>
                <a:cs typeface="Hiragino Sans"/>
              </a:rPr>
              <a:t>検索広告の入札・マッチング・クリエイティブに Google AI を統合する</a:t>
            </a:r>
          </a:p>
          <a:p>
            <a:pPr algn="l">
              <a:lnSpc>
                <a:spcPct val="140000"/>
              </a:lnSpc>
            </a:pPr>
            <a:r>
              <a:rPr sz="1300" b="1">
                <a:solidFill>
                  <a:srgbClr val="FFFFFF"/>
                </a:solidFill>
                <a:latin typeface="Hiragino Sans"/>
                <a:ea typeface="Hiragino Sans"/>
                <a:cs typeface="Hiragino Sans"/>
              </a:rPr>
              <a:t>『オプション機能群』として正式ローンチ。Q3 2025 全面ロールアウト</a:t>
            </a:r>
          </a:p>
        </p:txBody>
      </p:sp>
      <p:sp>
        <p:nvSpPr>
          <p:cNvPr id="12" name="TextBox 11"/>
          <p:cNvSpPr txBox="1"/>
          <p:nvPr/>
        </p:nvSpPr>
        <p:spPr>
          <a:xfrm>
            <a:off x="548640" y="2651760"/>
            <a:ext cx="5486400" cy="32004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3 つの主要機能</a:t>
            </a:r>
          </a:p>
        </p:txBody>
      </p:sp>
      <p:sp>
        <p:nvSpPr>
          <p:cNvPr id="13" name="Rounded Rectangle 12"/>
          <p:cNvSpPr/>
          <p:nvPr/>
        </p:nvSpPr>
        <p:spPr>
          <a:xfrm>
            <a:off x="548640" y="3108960"/>
            <a:ext cx="3611880" cy="210312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108960"/>
            <a:ext cx="91440" cy="21031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3291840"/>
            <a:ext cx="3246120" cy="457200"/>
          </a:xfrm>
          <a:prstGeom prst="rect">
            <a:avLst/>
          </a:prstGeom>
          <a:noFill/>
        </p:spPr>
        <p:txBody>
          <a:bodyPr wrap="square" anchor="t" lIns="0" rIns="0" tIns="0" bIns="0">
            <a:spAutoFit/>
          </a:bodyPr>
          <a:lstStyle/>
          <a:p>
            <a:pPr algn="l">
              <a:lnSpc>
                <a:spcPct val="130000"/>
              </a:lnSpc>
            </a:pPr>
            <a:r>
              <a:rPr sz="1400" b="1">
                <a:solidFill>
                  <a:srgbClr val="0F2A4F"/>
                </a:solidFill>
                <a:latin typeface="Hiragino Sans"/>
                <a:ea typeface="Hiragino Sans"/>
                <a:cs typeface="Hiragino Sans"/>
              </a:rPr>
              <a:t>① Search Term Matching</a:t>
            </a:r>
          </a:p>
        </p:txBody>
      </p:sp>
      <p:sp>
        <p:nvSpPr>
          <p:cNvPr id="16" name="TextBox 15"/>
          <p:cNvSpPr txBox="1"/>
          <p:nvPr/>
        </p:nvSpPr>
        <p:spPr>
          <a:xfrm>
            <a:off x="777240" y="3840480"/>
            <a:ext cx="3246120" cy="128016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Broad Match を拡張。</a:t>
            </a:r>
          </a:p>
          <a:p>
            <a:pPr algn="l">
              <a:lnSpc>
                <a:spcPct val="150000"/>
              </a:lnSpc>
            </a:pPr>
            <a:r>
              <a:rPr sz="1100" b="0">
                <a:solidFill>
                  <a:srgbClr val="1A1A1A"/>
                </a:solidFill>
                <a:latin typeface="Hiragino Sans"/>
                <a:ea typeface="Hiragino Sans"/>
                <a:cs typeface="Hiragino Sans"/>
              </a:rPr>
              <a:t>LLM ベースでユーザーの</a:t>
            </a:r>
          </a:p>
          <a:p>
            <a:pPr algn="l">
              <a:lnSpc>
                <a:spcPct val="150000"/>
              </a:lnSpc>
            </a:pPr>
            <a:r>
              <a:rPr sz="1100" b="0">
                <a:solidFill>
                  <a:srgbClr val="1A1A1A"/>
                </a:solidFill>
                <a:latin typeface="Hiragino Sans"/>
                <a:ea typeface="Hiragino Sans"/>
                <a:cs typeface="Hiragino Sans"/>
              </a:rPr>
              <a:t>意図に近いクエリにマッチ</a:t>
            </a:r>
          </a:p>
        </p:txBody>
      </p:sp>
      <p:sp>
        <p:nvSpPr>
          <p:cNvPr id="17" name="Rounded Rectangle 16"/>
          <p:cNvSpPr/>
          <p:nvPr/>
        </p:nvSpPr>
        <p:spPr>
          <a:xfrm>
            <a:off x="4297680" y="3108960"/>
            <a:ext cx="3611880" cy="210312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297680" y="3108960"/>
            <a:ext cx="91440" cy="21031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26280" y="3291840"/>
            <a:ext cx="3246120" cy="457200"/>
          </a:xfrm>
          <a:prstGeom prst="rect">
            <a:avLst/>
          </a:prstGeom>
          <a:noFill/>
        </p:spPr>
        <p:txBody>
          <a:bodyPr wrap="square" anchor="t" lIns="0" rIns="0" tIns="0" bIns="0">
            <a:spAutoFit/>
          </a:bodyPr>
          <a:lstStyle/>
          <a:p>
            <a:pPr algn="l">
              <a:lnSpc>
                <a:spcPct val="130000"/>
              </a:lnSpc>
            </a:pPr>
            <a:r>
              <a:rPr sz="1400" b="1">
                <a:solidFill>
                  <a:srgbClr val="0F2A4F"/>
                </a:solidFill>
                <a:latin typeface="Hiragino Sans"/>
                <a:ea typeface="Hiragino Sans"/>
                <a:cs typeface="Hiragino Sans"/>
              </a:rPr>
              <a:t>② Asset Optimization</a:t>
            </a:r>
          </a:p>
        </p:txBody>
      </p:sp>
      <p:sp>
        <p:nvSpPr>
          <p:cNvPr id="20" name="TextBox 19"/>
          <p:cNvSpPr txBox="1"/>
          <p:nvPr/>
        </p:nvSpPr>
        <p:spPr>
          <a:xfrm>
            <a:off x="4526280" y="3840480"/>
            <a:ext cx="3246120" cy="128016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ランディングページや</a:t>
            </a:r>
          </a:p>
          <a:p>
            <a:pPr algn="l">
              <a:lnSpc>
                <a:spcPct val="150000"/>
              </a:lnSpc>
            </a:pPr>
            <a:r>
              <a:rPr sz="1100" b="0">
                <a:solidFill>
                  <a:srgbClr val="1A1A1A"/>
                </a:solidFill>
                <a:latin typeface="Hiragino Sans"/>
                <a:ea typeface="Hiragino Sans"/>
                <a:cs typeface="Hiragino Sans"/>
              </a:rPr>
              <a:t>既存アセットから新アセットを</a:t>
            </a:r>
          </a:p>
          <a:p>
            <a:pPr algn="l">
              <a:lnSpc>
                <a:spcPct val="150000"/>
              </a:lnSpc>
            </a:pPr>
            <a:r>
              <a:rPr sz="1100" b="0">
                <a:solidFill>
                  <a:srgbClr val="1A1A1A"/>
                </a:solidFill>
                <a:latin typeface="Hiragino Sans"/>
                <a:ea typeface="Hiragino Sans"/>
                <a:cs typeface="Hiragino Sans"/>
              </a:rPr>
              <a:t>自動生成 (旧 ACA 後継)</a:t>
            </a:r>
          </a:p>
        </p:txBody>
      </p:sp>
      <p:sp>
        <p:nvSpPr>
          <p:cNvPr id="21" name="Rounded Rectangle 20"/>
          <p:cNvSpPr/>
          <p:nvPr/>
        </p:nvSpPr>
        <p:spPr>
          <a:xfrm>
            <a:off x="8046720" y="3108960"/>
            <a:ext cx="3611880" cy="210312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46720" y="3108960"/>
            <a:ext cx="91440" cy="21031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320" y="3291840"/>
            <a:ext cx="3246120" cy="457200"/>
          </a:xfrm>
          <a:prstGeom prst="rect">
            <a:avLst/>
          </a:prstGeom>
          <a:noFill/>
        </p:spPr>
        <p:txBody>
          <a:bodyPr wrap="square" anchor="t" lIns="0" rIns="0" tIns="0" bIns="0">
            <a:spAutoFit/>
          </a:bodyPr>
          <a:lstStyle/>
          <a:p>
            <a:pPr algn="l">
              <a:lnSpc>
                <a:spcPct val="130000"/>
              </a:lnSpc>
            </a:pPr>
            <a:r>
              <a:rPr sz="1400" b="1">
                <a:solidFill>
                  <a:srgbClr val="0F2A4F"/>
                </a:solidFill>
                <a:latin typeface="Hiragino Sans"/>
                <a:ea typeface="Hiragino Sans"/>
                <a:cs typeface="Hiragino Sans"/>
              </a:rPr>
              <a:t>③ Text Customization</a:t>
            </a:r>
          </a:p>
        </p:txBody>
      </p:sp>
      <p:sp>
        <p:nvSpPr>
          <p:cNvPr id="24" name="TextBox 23"/>
          <p:cNvSpPr txBox="1"/>
          <p:nvPr/>
        </p:nvSpPr>
        <p:spPr>
          <a:xfrm>
            <a:off x="8275320" y="3840480"/>
            <a:ext cx="3246120" cy="128016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クエリ単位で見出し・説明文を</a:t>
            </a:r>
          </a:p>
          <a:p>
            <a:pPr algn="l">
              <a:lnSpc>
                <a:spcPct val="150000"/>
              </a:lnSpc>
            </a:pPr>
            <a:r>
              <a:rPr sz="1100" b="0">
                <a:solidFill>
                  <a:srgbClr val="1A1A1A"/>
                </a:solidFill>
                <a:latin typeface="Hiragino Sans"/>
                <a:ea typeface="Hiragino Sans"/>
                <a:cs typeface="Hiragino Sans"/>
              </a:rPr>
              <a:t>カスタマイズ。</a:t>
            </a:r>
          </a:p>
          <a:p>
            <a:pPr algn="l">
              <a:lnSpc>
                <a:spcPct val="150000"/>
              </a:lnSpc>
            </a:pPr>
            <a:r>
              <a:rPr sz="1100" b="0">
                <a:solidFill>
                  <a:srgbClr val="1A1A1A"/>
                </a:solidFill>
                <a:latin typeface="Hiragino Sans"/>
                <a:ea typeface="Hiragino Sans"/>
                <a:cs typeface="Hiragino Sans"/>
              </a:rPr>
              <a:t>個別最適化されたコピー</a:t>
            </a:r>
          </a:p>
        </p:txBody>
      </p:sp>
      <p:sp>
        <p:nvSpPr>
          <p:cNvPr id="25" name="Rounded Rectangle 24"/>
          <p:cNvSpPr/>
          <p:nvPr/>
        </p:nvSpPr>
        <p:spPr>
          <a:xfrm>
            <a:off x="548640" y="5394960"/>
            <a:ext cx="11109960" cy="960120"/>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5486400"/>
            <a:ext cx="5486400" cy="320040"/>
          </a:xfrm>
          <a:prstGeom prst="rect">
            <a:avLst/>
          </a:prstGeom>
          <a:noFill/>
        </p:spPr>
        <p:txBody>
          <a:bodyPr wrap="square" anchor="t" lIns="0" rIns="0" tIns="0" bIns="0">
            <a:spAutoFit/>
          </a:bodyPr>
          <a:lstStyle/>
          <a:p>
            <a:pPr algn="l">
              <a:lnSpc>
                <a:spcPct val="115000"/>
              </a:lnSpc>
            </a:pPr>
            <a:r>
              <a:rPr sz="1200" b="1">
                <a:solidFill>
                  <a:srgbClr val="FFFFFF"/>
                </a:solidFill>
                <a:latin typeface="Hiragino Sans"/>
                <a:ea typeface="Hiragino Sans"/>
                <a:cs typeface="Hiragino Sans"/>
              </a:rPr>
              <a:t>📊 Google 公式のパフォーマンス</a:t>
            </a:r>
          </a:p>
        </p:txBody>
      </p:sp>
      <p:sp>
        <p:nvSpPr>
          <p:cNvPr id="27" name="TextBox 26"/>
          <p:cNvSpPr txBox="1"/>
          <p:nvPr/>
        </p:nvSpPr>
        <p:spPr>
          <a:xfrm>
            <a:off x="777240" y="5760720"/>
            <a:ext cx="10972800" cy="548640"/>
          </a:xfrm>
          <a:prstGeom prst="rect">
            <a:avLst/>
          </a:prstGeom>
          <a:noFill/>
        </p:spPr>
        <p:txBody>
          <a:bodyPr wrap="square" anchor="t" lIns="0" rIns="0" tIns="0" bIns="0">
            <a:spAutoFit/>
          </a:bodyPr>
          <a:lstStyle/>
          <a:p>
            <a:pPr algn="l">
              <a:lnSpc>
                <a:spcPct val="150000"/>
              </a:lnSpc>
            </a:pPr>
            <a:r>
              <a:rPr sz="1100" b="0">
                <a:solidFill>
                  <a:srgbClr val="FFFFFF"/>
                </a:solidFill>
                <a:latin typeface="Hiragino Sans"/>
                <a:ea typeface="Hiragino Sans"/>
                <a:cs typeface="Hiragino Sans"/>
              </a:rPr>
              <a:t>+14% のコンバージョン or CV値 (同 CPA / ROAS ベース)   |   Exact/Phrase 中心の検索キャンペーンでは +27%</a:t>
            </a:r>
          </a:p>
          <a:p>
            <a:pPr algn="l">
              <a:lnSpc>
                <a:spcPct val="150000"/>
              </a:lnSpc>
            </a:pPr>
            <a:r>
              <a:rPr sz="1100" b="0">
                <a:solidFill>
                  <a:srgbClr val="FFFFFF"/>
                </a:solidFill>
                <a:latin typeface="Hiragino Sans"/>
                <a:ea typeface="Hiragino Sans"/>
                <a:cs typeface="Hiragino Sans"/>
              </a:rPr>
              <a:t>Dynamic Search Ads (DSA) は AI Max に置換される方針 ※要確認 (2026時点)</a:t>
            </a:r>
          </a:p>
        </p:txBody>
      </p:sp>
      <p:sp>
        <p:nvSpPr>
          <p:cNvPr id="28" name="TextBox 27"/>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Gemini in Google Ads</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会話型で広告文・キャンペーン構築を補助</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P41 / 250</a:t>
            </a:r>
          </a:p>
        </p:txBody>
      </p:sp>
      <p:sp>
        <p:nvSpPr>
          <p:cNvPr id="8" name="TextBox 7"/>
          <p:cNvSpPr txBox="1"/>
          <p:nvPr/>
        </p:nvSpPr>
        <p:spPr>
          <a:xfrm>
            <a:off x="548640" y="1417320"/>
            <a:ext cx="1097280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Gemini が Google Ads 管理画面に統合 (2024~)</a:t>
            </a:r>
          </a:p>
        </p:txBody>
      </p:sp>
      <p:sp>
        <p:nvSpPr>
          <p:cNvPr id="9" name="Rounded Rectangle 8"/>
          <p:cNvSpPr/>
          <p:nvPr/>
        </p:nvSpPr>
        <p:spPr>
          <a:xfrm>
            <a:off x="548640" y="1920240"/>
            <a:ext cx="3611880" cy="425196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920240"/>
            <a:ext cx="3611880" cy="13716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240280"/>
            <a:ext cx="3246120" cy="868680"/>
          </a:xfrm>
          <a:prstGeom prst="rect">
            <a:avLst/>
          </a:prstGeom>
          <a:noFill/>
        </p:spPr>
        <p:txBody>
          <a:bodyPr wrap="square" anchor="t" lIns="0" rIns="0" tIns="0" bIns="0">
            <a:spAutoFit/>
          </a:bodyPr>
          <a:lstStyle/>
          <a:p>
            <a:pPr algn="l">
              <a:lnSpc>
                <a:spcPct val="120000"/>
              </a:lnSpc>
            </a:pPr>
            <a:r>
              <a:rPr sz="1600" b="1">
                <a:solidFill>
                  <a:srgbClr val="0F2A4F"/>
                </a:solidFill>
                <a:latin typeface="Hiragino Sans"/>
                <a:ea typeface="Hiragino Sans"/>
                <a:cs typeface="Hiragino Sans"/>
              </a:rPr>
              <a:t>Conversational</a:t>
            </a:r>
          </a:p>
          <a:p>
            <a:pPr algn="l">
              <a:lnSpc>
                <a:spcPct val="120000"/>
              </a:lnSpc>
            </a:pPr>
            <a:r>
              <a:rPr sz="1600" b="1">
                <a:solidFill>
                  <a:srgbClr val="0F2A4F"/>
                </a:solidFill>
                <a:latin typeface="Hiragino Sans"/>
                <a:ea typeface="Hiragino Sans"/>
                <a:cs typeface="Hiragino Sans"/>
              </a:rPr>
              <a:t>Campaign Builder</a:t>
            </a:r>
          </a:p>
        </p:txBody>
      </p:sp>
      <p:sp>
        <p:nvSpPr>
          <p:cNvPr id="12" name="TextBox 11"/>
          <p:cNvSpPr txBox="1"/>
          <p:nvPr/>
        </p:nvSpPr>
        <p:spPr>
          <a:xfrm>
            <a:off x="777240" y="3154680"/>
            <a:ext cx="3246120" cy="274320"/>
          </a:xfrm>
          <a:prstGeom prst="rect">
            <a:avLst/>
          </a:prstGeom>
          <a:noFill/>
        </p:spPr>
        <p:txBody>
          <a:bodyPr wrap="square" anchor="t" lIns="0" rIns="0" tIns="0" bIns="0">
            <a:spAutoFit/>
          </a:bodyPr>
          <a:lstStyle/>
          <a:p>
            <a:pPr algn="l">
              <a:lnSpc>
                <a:spcPct val="115000"/>
              </a:lnSpc>
            </a:pPr>
            <a:r>
              <a:rPr sz="1000" b="1">
                <a:solidFill>
                  <a:srgbClr val="B85E1A"/>
                </a:solidFill>
                <a:latin typeface="Helvetica Neue"/>
                <a:ea typeface="Helvetica Neue"/>
                <a:cs typeface="Helvetica Neue"/>
              </a:rPr>
              <a:t>2024</a:t>
            </a:r>
          </a:p>
        </p:txBody>
      </p:sp>
      <p:sp>
        <p:nvSpPr>
          <p:cNvPr id="13" name="Rectangle 12"/>
          <p:cNvSpPr/>
          <p:nvPr/>
        </p:nvSpPr>
        <p:spPr>
          <a:xfrm>
            <a:off x="777240" y="3474720"/>
            <a:ext cx="315468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611880"/>
            <a:ext cx="3246120" cy="109728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LPのURLを入力 → Gemini が</a:t>
            </a:r>
          </a:p>
          <a:p>
            <a:pPr algn="l">
              <a:lnSpc>
                <a:spcPct val="150000"/>
              </a:lnSpc>
            </a:pPr>
            <a:r>
              <a:rPr sz="1100" b="0">
                <a:solidFill>
                  <a:srgbClr val="1A1A1A"/>
                </a:solidFill>
                <a:latin typeface="Hiragino Sans"/>
                <a:ea typeface="Hiragino Sans"/>
                <a:cs typeface="Hiragino Sans"/>
              </a:rPr>
              <a:t>キーワード・広告文・画像・</a:t>
            </a:r>
          </a:p>
          <a:p>
            <a:pPr algn="l">
              <a:lnSpc>
                <a:spcPct val="150000"/>
              </a:lnSpc>
            </a:pPr>
            <a:r>
              <a:rPr sz="1100" b="0">
                <a:solidFill>
                  <a:srgbClr val="1A1A1A"/>
                </a:solidFill>
                <a:latin typeface="Hiragino Sans"/>
                <a:ea typeface="Hiragino Sans"/>
                <a:cs typeface="Hiragino Sans"/>
              </a:rPr>
              <a:t>除外設定を自動提案</a:t>
            </a:r>
          </a:p>
        </p:txBody>
      </p:sp>
      <p:sp>
        <p:nvSpPr>
          <p:cNvPr id="15" name="TextBox 14"/>
          <p:cNvSpPr txBox="1"/>
          <p:nvPr/>
        </p:nvSpPr>
        <p:spPr>
          <a:xfrm>
            <a:off x="777240" y="4800600"/>
            <a:ext cx="27432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16" name="TextBox 15"/>
          <p:cNvSpPr txBox="1"/>
          <p:nvPr/>
        </p:nvSpPr>
        <p:spPr>
          <a:xfrm>
            <a:off x="1005840" y="4818888"/>
            <a:ext cx="297180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LPコンテンツを解析</a:t>
            </a:r>
          </a:p>
        </p:txBody>
      </p:sp>
      <p:sp>
        <p:nvSpPr>
          <p:cNvPr id="17" name="TextBox 16"/>
          <p:cNvSpPr txBox="1"/>
          <p:nvPr/>
        </p:nvSpPr>
        <p:spPr>
          <a:xfrm>
            <a:off x="777240" y="5120640"/>
            <a:ext cx="27432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18" name="TextBox 17"/>
          <p:cNvSpPr txBox="1"/>
          <p:nvPr/>
        </p:nvSpPr>
        <p:spPr>
          <a:xfrm>
            <a:off x="1005840" y="5138928"/>
            <a:ext cx="297180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競合リサーチ結果を反映</a:t>
            </a:r>
          </a:p>
        </p:txBody>
      </p:sp>
      <p:sp>
        <p:nvSpPr>
          <p:cNvPr id="19" name="TextBox 18"/>
          <p:cNvSpPr txBox="1"/>
          <p:nvPr/>
        </p:nvSpPr>
        <p:spPr>
          <a:xfrm>
            <a:off x="777240" y="5440680"/>
            <a:ext cx="27432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20" name="TextBox 19"/>
          <p:cNvSpPr txBox="1"/>
          <p:nvPr/>
        </p:nvSpPr>
        <p:spPr>
          <a:xfrm>
            <a:off x="1005840" y="5458968"/>
            <a:ext cx="297180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訴求軸を複数生成</a:t>
            </a:r>
          </a:p>
        </p:txBody>
      </p:sp>
      <p:sp>
        <p:nvSpPr>
          <p:cNvPr id="21" name="TextBox 20"/>
          <p:cNvSpPr txBox="1"/>
          <p:nvPr/>
        </p:nvSpPr>
        <p:spPr>
          <a:xfrm>
            <a:off x="777240" y="5760720"/>
            <a:ext cx="27432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22" name="TextBox 21"/>
          <p:cNvSpPr txBox="1"/>
          <p:nvPr/>
        </p:nvSpPr>
        <p:spPr>
          <a:xfrm>
            <a:off x="1005840" y="5779008"/>
            <a:ext cx="297180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人間は確認・調整のみ</a:t>
            </a:r>
          </a:p>
        </p:txBody>
      </p:sp>
      <p:sp>
        <p:nvSpPr>
          <p:cNvPr id="23" name="Rounded Rectangle 22"/>
          <p:cNvSpPr/>
          <p:nvPr/>
        </p:nvSpPr>
        <p:spPr>
          <a:xfrm>
            <a:off x="4297680" y="1920240"/>
            <a:ext cx="3611880" cy="425196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297680" y="1920240"/>
            <a:ext cx="3611880" cy="13716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26280" y="2240280"/>
            <a:ext cx="3246120" cy="868680"/>
          </a:xfrm>
          <a:prstGeom prst="rect">
            <a:avLst/>
          </a:prstGeom>
          <a:noFill/>
        </p:spPr>
        <p:txBody>
          <a:bodyPr wrap="square" anchor="t" lIns="0" rIns="0" tIns="0" bIns="0">
            <a:spAutoFit/>
          </a:bodyPr>
          <a:lstStyle/>
          <a:p>
            <a:pPr algn="l">
              <a:lnSpc>
                <a:spcPct val="120000"/>
              </a:lnSpc>
            </a:pPr>
            <a:r>
              <a:rPr sz="1600" b="1">
                <a:solidFill>
                  <a:srgbClr val="0F2A4F"/>
                </a:solidFill>
                <a:latin typeface="Hiragino Sans"/>
                <a:ea typeface="Hiragino Sans"/>
                <a:cs typeface="Hiragino Sans"/>
              </a:rPr>
              <a:t>Asset Generation</a:t>
            </a:r>
          </a:p>
        </p:txBody>
      </p:sp>
      <p:sp>
        <p:nvSpPr>
          <p:cNvPr id="26" name="TextBox 25"/>
          <p:cNvSpPr txBox="1"/>
          <p:nvPr/>
        </p:nvSpPr>
        <p:spPr>
          <a:xfrm>
            <a:off x="4526280" y="3154680"/>
            <a:ext cx="3246120" cy="274320"/>
          </a:xfrm>
          <a:prstGeom prst="rect">
            <a:avLst/>
          </a:prstGeom>
          <a:noFill/>
        </p:spPr>
        <p:txBody>
          <a:bodyPr wrap="square" anchor="t" lIns="0" rIns="0" tIns="0" bIns="0">
            <a:spAutoFit/>
          </a:bodyPr>
          <a:lstStyle/>
          <a:p>
            <a:pPr algn="l">
              <a:lnSpc>
                <a:spcPct val="115000"/>
              </a:lnSpc>
            </a:pPr>
            <a:r>
              <a:rPr sz="1000" b="1">
                <a:solidFill>
                  <a:srgbClr val="B85E1A"/>
                </a:solidFill>
                <a:latin typeface="Helvetica Neue"/>
                <a:ea typeface="Helvetica Neue"/>
                <a:cs typeface="Helvetica Neue"/>
              </a:rPr>
              <a:t>2024-2025</a:t>
            </a:r>
          </a:p>
        </p:txBody>
      </p:sp>
      <p:sp>
        <p:nvSpPr>
          <p:cNvPr id="27" name="Rectangle 26"/>
          <p:cNvSpPr/>
          <p:nvPr/>
        </p:nvSpPr>
        <p:spPr>
          <a:xfrm>
            <a:off x="4526280" y="3474720"/>
            <a:ext cx="315468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26280" y="3611880"/>
            <a:ext cx="3246120" cy="109728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画像・動画・テキストの</a:t>
            </a:r>
          </a:p>
          <a:p>
            <a:pPr algn="l">
              <a:lnSpc>
                <a:spcPct val="150000"/>
              </a:lnSpc>
            </a:pPr>
            <a:r>
              <a:rPr sz="1100" b="0">
                <a:solidFill>
                  <a:srgbClr val="1A1A1A"/>
                </a:solidFill>
                <a:latin typeface="Hiragino Sans"/>
                <a:ea typeface="Hiragino Sans"/>
                <a:cs typeface="Hiragino Sans"/>
              </a:rPr>
              <a:t>生成を Google 内で実行。</a:t>
            </a:r>
          </a:p>
          <a:p>
            <a:pPr algn="l">
              <a:lnSpc>
                <a:spcPct val="150000"/>
              </a:lnSpc>
            </a:pPr>
            <a:r>
              <a:rPr sz="1100" b="0">
                <a:solidFill>
                  <a:srgbClr val="1A1A1A"/>
                </a:solidFill>
                <a:latin typeface="Hiragino Sans"/>
                <a:ea typeface="Hiragino Sans"/>
                <a:cs typeface="Hiragino Sans"/>
              </a:rPr>
              <a:t>外部ツール不要</a:t>
            </a:r>
          </a:p>
        </p:txBody>
      </p:sp>
      <p:sp>
        <p:nvSpPr>
          <p:cNvPr id="29" name="TextBox 28"/>
          <p:cNvSpPr txBox="1"/>
          <p:nvPr/>
        </p:nvSpPr>
        <p:spPr>
          <a:xfrm>
            <a:off x="4526280" y="4800600"/>
            <a:ext cx="27432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30" name="TextBox 29"/>
          <p:cNvSpPr txBox="1"/>
          <p:nvPr/>
        </p:nvSpPr>
        <p:spPr>
          <a:xfrm>
            <a:off x="4754880" y="4818888"/>
            <a:ext cx="297180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画像: Imagen モデル活用</a:t>
            </a:r>
          </a:p>
        </p:txBody>
      </p:sp>
      <p:sp>
        <p:nvSpPr>
          <p:cNvPr id="31" name="TextBox 30"/>
          <p:cNvSpPr txBox="1"/>
          <p:nvPr/>
        </p:nvSpPr>
        <p:spPr>
          <a:xfrm>
            <a:off x="4526280" y="5120640"/>
            <a:ext cx="27432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32" name="TextBox 31"/>
          <p:cNvSpPr txBox="1"/>
          <p:nvPr/>
        </p:nvSpPr>
        <p:spPr>
          <a:xfrm>
            <a:off x="4754880" y="5138928"/>
            <a:ext cx="297180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動画: 静止画を動画化</a:t>
            </a:r>
          </a:p>
        </p:txBody>
      </p:sp>
      <p:sp>
        <p:nvSpPr>
          <p:cNvPr id="33" name="TextBox 32"/>
          <p:cNvSpPr txBox="1"/>
          <p:nvPr/>
        </p:nvSpPr>
        <p:spPr>
          <a:xfrm>
            <a:off x="4526280" y="5440680"/>
            <a:ext cx="27432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34" name="TextBox 33"/>
          <p:cNvSpPr txBox="1"/>
          <p:nvPr/>
        </p:nvSpPr>
        <p:spPr>
          <a:xfrm>
            <a:off x="4754880" y="5458968"/>
            <a:ext cx="297180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テキスト: 複数パターン量産</a:t>
            </a:r>
          </a:p>
        </p:txBody>
      </p:sp>
      <p:sp>
        <p:nvSpPr>
          <p:cNvPr id="35" name="TextBox 34"/>
          <p:cNvSpPr txBox="1"/>
          <p:nvPr/>
        </p:nvSpPr>
        <p:spPr>
          <a:xfrm>
            <a:off x="4526280" y="5760720"/>
            <a:ext cx="27432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36" name="TextBox 35"/>
          <p:cNvSpPr txBox="1"/>
          <p:nvPr/>
        </p:nvSpPr>
        <p:spPr>
          <a:xfrm>
            <a:off x="4754880" y="5779008"/>
            <a:ext cx="297180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ブランドガイド準拠も2026で</a:t>
            </a:r>
          </a:p>
        </p:txBody>
      </p:sp>
      <p:sp>
        <p:nvSpPr>
          <p:cNvPr id="37" name="Rounded Rectangle 36"/>
          <p:cNvSpPr/>
          <p:nvPr/>
        </p:nvSpPr>
        <p:spPr>
          <a:xfrm>
            <a:off x="8046720" y="1920240"/>
            <a:ext cx="3611880" cy="425196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046720" y="1920240"/>
            <a:ext cx="3611880" cy="13716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75320" y="2240280"/>
            <a:ext cx="3246120" cy="868680"/>
          </a:xfrm>
          <a:prstGeom prst="rect">
            <a:avLst/>
          </a:prstGeom>
          <a:noFill/>
        </p:spPr>
        <p:txBody>
          <a:bodyPr wrap="square" anchor="t" lIns="0" rIns="0" tIns="0" bIns="0">
            <a:spAutoFit/>
          </a:bodyPr>
          <a:lstStyle/>
          <a:p>
            <a:pPr algn="l">
              <a:lnSpc>
                <a:spcPct val="120000"/>
              </a:lnSpc>
            </a:pPr>
            <a:r>
              <a:rPr sz="1600" b="1">
                <a:solidFill>
                  <a:srgbClr val="0F2A4F"/>
                </a:solidFill>
                <a:latin typeface="Hiragino Sans"/>
                <a:ea typeface="Hiragino Sans"/>
                <a:cs typeface="Hiragino Sans"/>
              </a:rPr>
              <a:t>Ads Studio</a:t>
            </a:r>
          </a:p>
          <a:p>
            <a:pPr algn="l">
              <a:lnSpc>
                <a:spcPct val="120000"/>
              </a:lnSpc>
            </a:pPr>
            <a:r>
              <a:rPr sz="1600" b="1">
                <a:solidFill>
                  <a:srgbClr val="0F2A4F"/>
                </a:solidFill>
                <a:latin typeface="Hiragino Sans"/>
                <a:ea typeface="Hiragino Sans"/>
                <a:cs typeface="Hiragino Sans"/>
              </a:rPr>
              <a:t>(Labs)</a:t>
            </a:r>
          </a:p>
        </p:txBody>
      </p:sp>
      <p:sp>
        <p:nvSpPr>
          <p:cNvPr id="40" name="TextBox 39"/>
          <p:cNvSpPr txBox="1"/>
          <p:nvPr/>
        </p:nvSpPr>
        <p:spPr>
          <a:xfrm>
            <a:off x="8275320" y="3154680"/>
            <a:ext cx="3246120" cy="274320"/>
          </a:xfrm>
          <a:prstGeom prst="rect">
            <a:avLst/>
          </a:prstGeom>
          <a:noFill/>
        </p:spPr>
        <p:txBody>
          <a:bodyPr wrap="square" anchor="t" lIns="0" rIns="0" tIns="0" bIns="0">
            <a:spAutoFit/>
          </a:bodyPr>
          <a:lstStyle/>
          <a:p>
            <a:pPr algn="l">
              <a:lnSpc>
                <a:spcPct val="115000"/>
              </a:lnSpc>
            </a:pPr>
            <a:r>
              <a:rPr sz="1000" b="1">
                <a:solidFill>
                  <a:srgbClr val="B85E1A"/>
                </a:solidFill>
                <a:latin typeface="Helvetica Neue"/>
                <a:ea typeface="Helvetica Neue"/>
                <a:cs typeface="Helvetica Neue"/>
              </a:rPr>
              <a:t>2024 Beta</a:t>
            </a:r>
          </a:p>
        </p:txBody>
      </p:sp>
      <p:sp>
        <p:nvSpPr>
          <p:cNvPr id="41" name="Rectangle 40"/>
          <p:cNvSpPr/>
          <p:nvPr/>
        </p:nvSpPr>
        <p:spPr>
          <a:xfrm>
            <a:off x="8275320" y="3474720"/>
            <a:ext cx="315468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275320" y="3611880"/>
            <a:ext cx="3246120" cy="109728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クリエイティブ制作のための</a:t>
            </a:r>
          </a:p>
          <a:p>
            <a:pPr algn="l">
              <a:lnSpc>
                <a:spcPct val="150000"/>
              </a:lnSpc>
            </a:pPr>
            <a:r>
              <a:rPr sz="1100" b="0">
                <a:solidFill>
                  <a:srgbClr val="1A1A1A"/>
                </a:solidFill>
                <a:latin typeface="Hiragino Sans"/>
                <a:ea typeface="Hiragino Sans"/>
                <a:cs typeface="Hiragino Sans"/>
              </a:rPr>
              <a:t>統合スタジオUI</a:t>
            </a:r>
          </a:p>
        </p:txBody>
      </p:sp>
      <p:sp>
        <p:nvSpPr>
          <p:cNvPr id="43" name="TextBox 42"/>
          <p:cNvSpPr txBox="1"/>
          <p:nvPr/>
        </p:nvSpPr>
        <p:spPr>
          <a:xfrm>
            <a:off x="8275320" y="4800600"/>
            <a:ext cx="27432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44" name="TextBox 43"/>
          <p:cNvSpPr txBox="1"/>
          <p:nvPr/>
        </p:nvSpPr>
        <p:spPr>
          <a:xfrm>
            <a:off x="8503920" y="4818888"/>
            <a:ext cx="297180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複数フォーマット一括生成</a:t>
            </a:r>
          </a:p>
        </p:txBody>
      </p:sp>
      <p:sp>
        <p:nvSpPr>
          <p:cNvPr id="45" name="TextBox 44"/>
          <p:cNvSpPr txBox="1"/>
          <p:nvPr/>
        </p:nvSpPr>
        <p:spPr>
          <a:xfrm>
            <a:off x="8275320" y="5120640"/>
            <a:ext cx="27432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46" name="TextBox 45"/>
          <p:cNvSpPr txBox="1"/>
          <p:nvPr/>
        </p:nvSpPr>
        <p:spPr>
          <a:xfrm>
            <a:off x="8503920" y="5138928"/>
            <a:ext cx="297180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AIプロンプトインターフェース</a:t>
            </a:r>
          </a:p>
        </p:txBody>
      </p:sp>
      <p:sp>
        <p:nvSpPr>
          <p:cNvPr id="47" name="TextBox 46"/>
          <p:cNvSpPr txBox="1"/>
          <p:nvPr/>
        </p:nvSpPr>
        <p:spPr>
          <a:xfrm>
            <a:off x="8275320" y="5440680"/>
            <a:ext cx="27432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48" name="TextBox 47"/>
          <p:cNvSpPr txBox="1"/>
          <p:nvPr/>
        </p:nvSpPr>
        <p:spPr>
          <a:xfrm>
            <a:off x="8503920" y="5458968"/>
            <a:ext cx="297180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2026時点で一部Beta ※要確認</a:t>
            </a:r>
          </a:p>
        </p:txBody>
      </p:sp>
      <p:sp>
        <p:nvSpPr>
          <p:cNvPr id="49" name="TextBox 48"/>
          <p:cNvSpPr txBox="1"/>
          <p:nvPr/>
        </p:nvSpPr>
        <p:spPr>
          <a:xfrm>
            <a:off x="8275320" y="5760720"/>
            <a:ext cx="27432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50" name="TextBox 49"/>
          <p:cNvSpPr txBox="1"/>
          <p:nvPr/>
        </p:nvSpPr>
        <p:spPr>
          <a:xfrm>
            <a:off x="8503920" y="5779008"/>
            <a:ext cx="297180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GA4 / CMS との連携拡張中</a:t>
            </a:r>
          </a:p>
        </p:txBody>
      </p:sp>
      <p:sp>
        <p:nvSpPr>
          <p:cNvPr id="51" name="TextBox 50"/>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Demand Gen (旧Discovery Ads 統合, 2023/10)</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YouTube + Discover + Gmail を横断する需要喚起型</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P42 / 250</a:t>
            </a:r>
          </a:p>
        </p:txBody>
      </p:sp>
      <p:sp>
        <p:nvSpPr>
          <p:cNvPr id="8" name="Rounded Rectangle 7"/>
          <p:cNvSpPr/>
          <p:nvPr/>
        </p:nvSpPr>
        <p:spPr>
          <a:xfrm>
            <a:off x="548640" y="1371600"/>
            <a:ext cx="11109960" cy="914400"/>
          </a:xfrm>
          <a:prstGeom prst="roundRect">
            <a:avLst>
              <a:gd name="adj" fmla="val 6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54480"/>
            <a:ext cx="10972800" cy="685800"/>
          </a:xfrm>
          <a:prstGeom prst="rect">
            <a:avLst/>
          </a:prstGeom>
          <a:noFill/>
        </p:spPr>
        <p:txBody>
          <a:bodyPr wrap="square" anchor="t" lIns="0" rIns="0" tIns="0" bIns="0">
            <a:spAutoFit/>
          </a:bodyPr>
          <a:lstStyle/>
          <a:p>
            <a:pPr algn="l">
              <a:lnSpc>
                <a:spcPct val="150000"/>
              </a:lnSpc>
            </a:pPr>
            <a:r>
              <a:rPr sz="1200" b="0">
                <a:solidFill>
                  <a:srgbClr val="1A1A1A"/>
                </a:solidFill>
                <a:latin typeface="Hiragino Sans"/>
                <a:ea typeface="Hiragino Sans"/>
                <a:cs typeface="Hiragino Sans"/>
              </a:rPr>
              <a:t>Demand Gen は 2023/10 に Discovery Ads を統合して登場。</a:t>
            </a:r>
          </a:p>
          <a:p>
            <a:pPr algn="l">
              <a:lnSpc>
                <a:spcPct val="150000"/>
              </a:lnSpc>
            </a:pPr>
            <a:r>
              <a:rPr sz="1200" b="0">
                <a:solidFill>
                  <a:srgbClr val="1A1A1A"/>
                </a:solidFill>
                <a:latin typeface="Hiragino Sans"/>
                <a:ea typeface="Hiragino Sans"/>
                <a:cs typeface="Hiragino Sans"/>
              </a:rPr>
              <a:t>2024-2025 で Video Action Campaign (VAC) も Demand Gen に段階アップグレード</a:t>
            </a:r>
          </a:p>
        </p:txBody>
      </p:sp>
      <p:sp>
        <p:nvSpPr>
          <p:cNvPr id="10" name="TextBox 9"/>
          <p:cNvSpPr txBox="1"/>
          <p:nvPr/>
        </p:nvSpPr>
        <p:spPr>
          <a:xfrm>
            <a:off x="548640" y="2514600"/>
            <a:ext cx="1097280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配信面 (2025~ チャネル別制御可)</a:t>
            </a:r>
          </a:p>
        </p:txBody>
      </p:sp>
      <p:sp>
        <p:nvSpPr>
          <p:cNvPr id="11" name="Rounded Rectangle 10"/>
          <p:cNvSpPr/>
          <p:nvPr/>
        </p:nvSpPr>
        <p:spPr>
          <a:xfrm>
            <a:off x="548640" y="2926080"/>
            <a:ext cx="2212848" cy="13716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926080"/>
            <a:ext cx="2212848" cy="109728"/>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3200400"/>
            <a:ext cx="1938528" cy="685800"/>
          </a:xfrm>
          <a:prstGeom prst="rect">
            <a:avLst/>
          </a:prstGeom>
          <a:noFill/>
        </p:spPr>
        <p:txBody>
          <a:bodyPr wrap="square" anchor="t" lIns="0" rIns="0" tIns="0" bIns="0">
            <a:spAutoFit/>
          </a:bodyPr>
          <a:lstStyle/>
          <a:p>
            <a:pPr algn="ctr">
              <a:lnSpc>
                <a:spcPct val="120000"/>
              </a:lnSpc>
            </a:pPr>
            <a:r>
              <a:rPr sz="1300" b="1">
                <a:solidFill>
                  <a:srgbClr val="0F2A4F"/>
                </a:solidFill>
                <a:latin typeface="Hiragino Sans"/>
                <a:ea typeface="Hiragino Sans"/>
                <a:cs typeface="Hiragino Sans"/>
              </a:rPr>
              <a:t>YouTube</a:t>
            </a:r>
          </a:p>
          <a:p>
            <a:pPr algn="ctr">
              <a:lnSpc>
                <a:spcPct val="120000"/>
              </a:lnSpc>
            </a:pPr>
            <a:r>
              <a:rPr sz="1300" b="1">
                <a:solidFill>
                  <a:srgbClr val="0F2A4F"/>
                </a:solidFill>
                <a:latin typeface="Hiragino Sans"/>
                <a:ea typeface="Hiragino Sans"/>
                <a:cs typeface="Hiragino Sans"/>
              </a:rPr>
              <a:t>In-Stream</a:t>
            </a:r>
          </a:p>
        </p:txBody>
      </p:sp>
      <p:sp>
        <p:nvSpPr>
          <p:cNvPr id="14" name="TextBox 13"/>
          <p:cNvSpPr txBox="1"/>
          <p:nvPr/>
        </p:nvSpPr>
        <p:spPr>
          <a:xfrm>
            <a:off x="685800" y="3931920"/>
            <a:ext cx="1938528" cy="320040"/>
          </a:xfrm>
          <a:prstGeom prst="rect">
            <a:avLst/>
          </a:prstGeom>
          <a:noFill/>
        </p:spPr>
        <p:txBody>
          <a:bodyPr wrap="square" anchor="t" lIns="0" rIns="0" tIns="0" bIns="0">
            <a:spAutoFit/>
          </a:bodyPr>
          <a:lstStyle/>
          <a:p>
            <a:pPr algn="ctr">
              <a:lnSpc>
                <a:spcPct val="130000"/>
              </a:lnSpc>
            </a:pPr>
            <a:r>
              <a:rPr sz="900" b="0">
                <a:solidFill>
                  <a:srgbClr val="5A6A80"/>
                </a:solidFill>
                <a:latin typeface="Hiragino Sans"/>
                <a:ea typeface="Hiragino Sans"/>
                <a:cs typeface="Hiragino Sans"/>
              </a:rPr>
              <a:t>従来の動画広告枠</a:t>
            </a:r>
          </a:p>
        </p:txBody>
      </p:sp>
      <p:sp>
        <p:nvSpPr>
          <p:cNvPr id="15" name="Rounded Rectangle 14"/>
          <p:cNvSpPr/>
          <p:nvPr/>
        </p:nvSpPr>
        <p:spPr>
          <a:xfrm>
            <a:off x="2807208" y="2926080"/>
            <a:ext cx="2212848" cy="13716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807208" y="2926080"/>
            <a:ext cx="2212848" cy="109728"/>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944368" y="3200400"/>
            <a:ext cx="1938528" cy="685800"/>
          </a:xfrm>
          <a:prstGeom prst="rect">
            <a:avLst/>
          </a:prstGeom>
          <a:noFill/>
        </p:spPr>
        <p:txBody>
          <a:bodyPr wrap="square" anchor="t" lIns="0" rIns="0" tIns="0" bIns="0">
            <a:spAutoFit/>
          </a:bodyPr>
          <a:lstStyle/>
          <a:p>
            <a:pPr algn="ctr">
              <a:lnSpc>
                <a:spcPct val="120000"/>
              </a:lnSpc>
            </a:pPr>
            <a:r>
              <a:rPr sz="1300" b="1">
                <a:solidFill>
                  <a:srgbClr val="0F2A4F"/>
                </a:solidFill>
                <a:latin typeface="Hiragino Sans"/>
                <a:ea typeface="Hiragino Sans"/>
                <a:cs typeface="Hiragino Sans"/>
              </a:rPr>
              <a:t>YouTube</a:t>
            </a:r>
          </a:p>
          <a:p>
            <a:pPr algn="ctr">
              <a:lnSpc>
                <a:spcPct val="120000"/>
              </a:lnSpc>
            </a:pPr>
            <a:r>
              <a:rPr sz="1300" b="1">
                <a:solidFill>
                  <a:srgbClr val="0F2A4F"/>
                </a:solidFill>
                <a:latin typeface="Hiragino Sans"/>
                <a:ea typeface="Hiragino Sans"/>
                <a:cs typeface="Hiragino Sans"/>
              </a:rPr>
              <a:t>In-Feed</a:t>
            </a:r>
          </a:p>
        </p:txBody>
      </p:sp>
      <p:sp>
        <p:nvSpPr>
          <p:cNvPr id="18" name="TextBox 17"/>
          <p:cNvSpPr txBox="1"/>
          <p:nvPr/>
        </p:nvSpPr>
        <p:spPr>
          <a:xfrm>
            <a:off x="2944368" y="3931920"/>
            <a:ext cx="1938528" cy="320040"/>
          </a:xfrm>
          <a:prstGeom prst="rect">
            <a:avLst/>
          </a:prstGeom>
          <a:noFill/>
        </p:spPr>
        <p:txBody>
          <a:bodyPr wrap="square" anchor="t" lIns="0" rIns="0" tIns="0" bIns="0">
            <a:spAutoFit/>
          </a:bodyPr>
          <a:lstStyle/>
          <a:p>
            <a:pPr algn="ctr">
              <a:lnSpc>
                <a:spcPct val="130000"/>
              </a:lnSpc>
            </a:pPr>
            <a:r>
              <a:rPr sz="900" b="0">
                <a:solidFill>
                  <a:srgbClr val="5A6A80"/>
                </a:solidFill>
                <a:latin typeface="Hiragino Sans"/>
                <a:ea typeface="Hiragino Sans"/>
                <a:cs typeface="Hiragino Sans"/>
              </a:rPr>
              <a:t>ホーム / 検索結果</a:t>
            </a:r>
          </a:p>
        </p:txBody>
      </p:sp>
      <p:sp>
        <p:nvSpPr>
          <p:cNvPr id="19" name="Rounded Rectangle 18"/>
          <p:cNvSpPr/>
          <p:nvPr/>
        </p:nvSpPr>
        <p:spPr>
          <a:xfrm>
            <a:off x="5065776" y="2926080"/>
            <a:ext cx="2212848" cy="13716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65776" y="2926080"/>
            <a:ext cx="2212848"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02936" y="3200400"/>
            <a:ext cx="1938528" cy="685800"/>
          </a:xfrm>
          <a:prstGeom prst="rect">
            <a:avLst/>
          </a:prstGeom>
          <a:noFill/>
        </p:spPr>
        <p:txBody>
          <a:bodyPr wrap="square" anchor="t" lIns="0" rIns="0" tIns="0" bIns="0">
            <a:spAutoFit/>
          </a:bodyPr>
          <a:lstStyle/>
          <a:p>
            <a:pPr algn="ctr">
              <a:lnSpc>
                <a:spcPct val="120000"/>
              </a:lnSpc>
            </a:pPr>
            <a:r>
              <a:rPr sz="1300" b="1">
                <a:solidFill>
                  <a:srgbClr val="0F2A4F"/>
                </a:solidFill>
                <a:latin typeface="Hiragino Sans"/>
                <a:ea typeface="Hiragino Sans"/>
                <a:cs typeface="Hiragino Sans"/>
              </a:rPr>
              <a:t>YouTube</a:t>
            </a:r>
          </a:p>
          <a:p>
            <a:pPr algn="ctr">
              <a:lnSpc>
                <a:spcPct val="120000"/>
              </a:lnSpc>
            </a:pPr>
            <a:r>
              <a:rPr sz="1300" b="1">
                <a:solidFill>
                  <a:srgbClr val="0F2A4F"/>
                </a:solidFill>
                <a:latin typeface="Hiragino Sans"/>
                <a:ea typeface="Hiragino Sans"/>
                <a:cs typeface="Hiragino Sans"/>
              </a:rPr>
              <a:t>Shorts</a:t>
            </a:r>
          </a:p>
        </p:txBody>
      </p:sp>
      <p:sp>
        <p:nvSpPr>
          <p:cNvPr id="22" name="TextBox 21"/>
          <p:cNvSpPr txBox="1"/>
          <p:nvPr/>
        </p:nvSpPr>
        <p:spPr>
          <a:xfrm>
            <a:off x="5202936" y="3931920"/>
            <a:ext cx="1938528" cy="320040"/>
          </a:xfrm>
          <a:prstGeom prst="rect">
            <a:avLst/>
          </a:prstGeom>
          <a:noFill/>
        </p:spPr>
        <p:txBody>
          <a:bodyPr wrap="square" anchor="t" lIns="0" rIns="0" tIns="0" bIns="0">
            <a:spAutoFit/>
          </a:bodyPr>
          <a:lstStyle/>
          <a:p>
            <a:pPr algn="ctr">
              <a:lnSpc>
                <a:spcPct val="130000"/>
              </a:lnSpc>
            </a:pPr>
            <a:r>
              <a:rPr sz="900" b="0">
                <a:solidFill>
                  <a:srgbClr val="5A6A80"/>
                </a:solidFill>
                <a:latin typeface="Hiragino Sans"/>
                <a:ea typeface="Hiragino Sans"/>
                <a:cs typeface="Hiragino Sans"/>
              </a:rPr>
              <a:t>縦型9:16 専用 2025~</a:t>
            </a:r>
          </a:p>
        </p:txBody>
      </p:sp>
      <p:sp>
        <p:nvSpPr>
          <p:cNvPr id="23" name="Rounded Rectangle 22"/>
          <p:cNvSpPr/>
          <p:nvPr/>
        </p:nvSpPr>
        <p:spPr>
          <a:xfrm>
            <a:off x="7324344" y="2926080"/>
            <a:ext cx="2212848" cy="13716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24344" y="2926080"/>
            <a:ext cx="2212848" cy="109728"/>
          </a:xfrm>
          <a:prstGeom prst="rect">
            <a:avLst/>
          </a:prstGeom>
          <a:solidFill>
            <a:srgbClr val="2B44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61504" y="3200400"/>
            <a:ext cx="1938528" cy="685800"/>
          </a:xfrm>
          <a:prstGeom prst="rect">
            <a:avLst/>
          </a:prstGeom>
          <a:noFill/>
        </p:spPr>
        <p:txBody>
          <a:bodyPr wrap="square" anchor="t" lIns="0" rIns="0" tIns="0" bIns="0">
            <a:spAutoFit/>
          </a:bodyPr>
          <a:lstStyle/>
          <a:p>
            <a:pPr algn="ctr">
              <a:lnSpc>
                <a:spcPct val="120000"/>
              </a:lnSpc>
            </a:pPr>
            <a:r>
              <a:rPr sz="1300" b="1">
                <a:solidFill>
                  <a:srgbClr val="0F2A4F"/>
                </a:solidFill>
                <a:latin typeface="Hiragino Sans"/>
                <a:ea typeface="Hiragino Sans"/>
                <a:cs typeface="Hiragino Sans"/>
              </a:rPr>
              <a:t>Discover</a:t>
            </a:r>
          </a:p>
        </p:txBody>
      </p:sp>
      <p:sp>
        <p:nvSpPr>
          <p:cNvPr id="26" name="TextBox 25"/>
          <p:cNvSpPr txBox="1"/>
          <p:nvPr/>
        </p:nvSpPr>
        <p:spPr>
          <a:xfrm>
            <a:off x="7461504" y="3931920"/>
            <a:ext cx="1938528" cy="320040"/>
          </a:xfrm>
          <a:prstGeom prst="rect">
            <a:avLst/>
          </a:prstGeom>
          <a:noFill/>
        </p:spPr>
        <p:txBody>
          <a:bodyPr wrap="square" anchor="t" lIns="0" rIns="0" tIns="0" bIns="0">
            <a:spAutoFit/>
          </a:bodyPr>
          <a:lstStyle/>
          <a:p>
            <a:pPr algn="ctr">
              <a:lnSpc>
                <a:spcPct val="130000"/>
              </a:lnSpc>
            </a:pPr>
            <a:r>
              <a:rPr sz="900" b="0">
                <a:solidFill>
                  <a:srgbClr val="5A6A80"/>
                </a:solidFill>
                <a:latin typeface="Hiragino Sans"/>
                <a:ea typeface="Hiragino Sans"/>
                <a:cs typeface="Hiragino Sans"/>
              </a:rPr>
              <a:t>Androidホームのフィード</a:t>
            </a:r>
          </a:p>
        </p:txBody>
      </p:sp>
      <p:sp>
        <p:nvSpPr>
          <p:cNvPr id="27" name="Rounded Rectangle 26"/>
          <p:cNvSpPr/>
          <p:nvPr/>
        </p:nvSpPr>
        <p:spPr>
          <a:xfrm>
            <a:off x="9582912" y="2926080"/>
            <a:ext cx="2212848" cy="13716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582912" y="2926080"/>
            <a:ext cx="2212848" cy="109728"/>
          </a:xfrm>
          <a:prstGeom prst="rect">
            <a:avLst/>
          </a:prstGeom>
          <a:solidFill>
            <a:srgbClr val="2B44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720072" y="3200400"/>
            <a:ext cx="1938528" cy="685800"/>
          </a:xfrm>
          <a:prstGeom prst="rect">
            <a:avLst/>
          </a:prstGeom>
          <a:noFill/>
        </p:spPr>
        <p:txBody>
          <a:bodyPr wrap="square" anchor="t" lIns="0" rIns="0" tIns="0" bIns="0">
            <a:spAutoFit/>
          </a:bodyPr>
          <a:lstStyle/>
          <a:p>
            <a:pPr algn="ctr">
              <a:lnSpc>
                <a:spcPct val="120000"/>
              </a:lnSpc>
            </a:pPr>
            <a:r>
              <a:rPr sz="1300" b="1">
                <a:solidFill>
                  <a:srgbClr val="0F2A4F"/>
                </a:solidFill>
                <a:latin typeface="Hiragino Sans"/>
                <a:ea typeface="Hiragino Sans"/>
                <a:cs typeface="Hiragino Sans"/>
              </a:rPr>
              <a:t>Gmail</a:t>
            </a:r>
          </a:p>
          <a:p>
            <a:pPr algn="ctr">
              <a:lnSpc>
                <a:spcPct val="120000"/>
              </a:lnSpc>
            </a:pPr>
            <a:r>
              <a:rPr sz="1300" b="1">
                <a:solidFill>
                  <a:srgbClr val="0F2A4F"/>
                </a:solidFill>
                <a:latin typeface="Hiragino Sans"/>
                <a:ea typeface="Hiragino Sans"/>
                <a:cs typeface="Hiragino Sans"/>
              </a:rPr>
              <a:t>Promotions</a:t>
            </a:r>
          </a:p>
        </p:txBody>
      </p:sp>
      <p:sp>
        <p:nvSpPr>
          <p:cNvPr id="30" name="TextBox 29"/>
          <p:cNvSpPr txBox="1"/>
          <p:nvPr/>
        </p:nvSpPr>
        <p:spPr>
          <a:xfrm>
            <a:off x="9720072" y="3931920"/>
            <a:ext cx="1938528" cy="320040"/>
          </a:xfrm>
          <a:prstGeom prst="rect">
            <a:avLst/>
          </a:prstGeom>
          <a:noFill/>
        </p:spPr>
        <p:txBody>
          <a:bodyPr wrap="square" anchor="t" lIns="0" rIns="0" tIns="0" bIns="0">
            <a:spAutoFit/>
          </a:bodyPr>
          <a:lstStyle/>
          <a:p>
            <a:pPr algn="ctr">
              <a:lnSpc>
                <a:spcPct val="130000"/>
              </a:lnSpc>
            </a:pPr>
            <a:r>
              <a:rPr sz="900" b="0">
                <a:solidFill>
                  <a:srgbClr val="5A6A80"/>
                </a:solidFill>
                <a:latin typeface="Hiragino Sans"/>
                <a:ea typeface="Hiragino Sans"/>
                <a:cs typeface="Hiragino Sans"/>
              </a:rPr>
              <a:t>Gmailプロモーションタブ</a:t>
            </a:r>
          </a:p>
        </p:txBody>
      </p:sp>
      <p:sp>
        <p:nvSpPr>
          <p:cNvPr id="31" name="TextBox 30"/>
          <p:cNvSpPr txBox="1"/>
          <p:nvPr/>
        </p:nvSpPr>
        <p:spPr>
          <a:xfrm>
            <a:off x="548640" y="4572000"/>
            <a:ext cx="1097280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2025年の主要アップデート</a:t>
            </a:r>
          </a:p>
        </p:txBody>
      </p:sp>
      <p:sp>
        <p:nvSpPr>
          <p:cNvPr id="32" name="Rectangle 31"/>
          <p:cNvSpPr/>
          <p:nvPr/>
        </p:nvSpPr>
        <p:spPr>
          <a:xfrm>
            <a:off x="548640" y="4937760"/>
            <a:ext cx="1110996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 y="5120640"/>
            <a:ext cx="274320" cy="274320"/>
          </a:xfrm>
          <a:prstGeom prst="rect">
            <a:avLst/>
          </a:prstGeom>
          <a:noFill/>
        </p:spPr>
        <p:txBody>
          <a:bodyPr wrap="square" anchor="t" lIns="0" rIns="0" tIns="0" bIns="0">
            <a:spAutoFit/>
          </a:bodyPr>
          <a:lstStyle/>
          <a:p>
            <a:pPr algn="l">
              <a:lnSpc>
                <a:spcPct val="115000"/>
              </a:lnSpc>
            </a:pPr>
            <a:r>
              <a:rPr sz="1200" b="1">
                <a:solidFill>
                  <a:srgbClr val="2E8B57"/>
                </a:solidFill>
                <a:latin typeface="Hiragino Sans"/>
                <a:ea typeface="Hiragino Sans"/>
                <a:cs typeface="Hiragino Sans"/>
              </a:rPr>
              <a:t>✓</a:t>
            </a:r>
          </a:p>
        </p:txBody>
      </p:sp>
      <p:sp>
        <p:nvSpPr>
          <p:cNvPr id="34" name="TextBox 33"/>
          <p:cNvSpPr txBox="1"/>
          <p:nvPr/>
        </p:nvSpPr>
        <p:spPr>
          <a:xfrm>
            <a:off x="1005840" y="5148072"/>
            <a:ext cx="10058400" cy="365760"/>
          </a:xfrm>
          <a:prstGeom prst="rect">
            <a:avLst/>
          </a:prstGeom>
          <a:noFill/>
        </p:spPr>
        <p:txBody>
          <a:bodyPr wrap="square" anchor="t" lIns="0" rIns="0" tIns="0" bIns="0">
            <a:spAutoFit/>
          </a:bodyPr>
          <a:lstStyle/>
          <a:p>
            <a:pPr algn="l">
              <a:lnSpc>
                <a:spcPct val="115000"/>
              </a:lnSpc>
            </a:pPr>
            <a:r>
              <a:rPr sz="1100" b="0">
                <a:solidFill>
                  <a:srgbClr val="1A1A1A"/>
                </a:solidFill>
                <a:latin typeface="Hiragino Sans"/>
                <a:ea typeface="Hiragino Sans"/>
                <a:cs typeface="Hiragino Sans"/>
              </a:rPr>
              <a:t>Channel Controls: 配信面別の除外設定が可能に</a:t>
            </a:r>
          </a:p>
        </p:txBody>
      </p:sp>
      <p:sp>
        <p:nvSpPr>
          <p:cNvPr id="35" name="TextBox 34"/>
          <p:cNvSpPr txBox="1"/>
          <p:nvPr/>
        </p:nvSpPr>
        <p:spPr>
          <a:xfrm>
            <a:off x="640080" y="5468112"/>
            <a:ext cx="274320" cy="274320"/>
          </a:xfrm>
          <a:prstGeom prst="rect">
            <a:avLst/>
          </a:prstGeom>
          <a:noFill/>
        </p:spPr>
        <p:txBody>
          <a:bodyPr wrap="square" anchor="t" lIns="0" rIns="0" tIns="0" bIns="0">
            <a:spAutoFit/>
          </a:bodyPr>
          <a:lstStyle/>
          <a:p>
            <a:pPr algn="l">
              <a:lnSpc>
                <a:spcPct val="115000"/>
              </a:lnSpc>
            </a:pPr>
            <a:r>
              <a:rPr sz="1200" b="1">
                <a:solidFill>
                  <a:srgbClr val="2E8B57"/>
                </a:solidFill>
                <a:latin typeface="Hiragino Sans"/>
                <a:ea typeface="Hiragino Sans"/>
                <a:cs typeface="Hiragino Sans"/>
              </a:rPr>
              <a:t>✓</a:t>
            </a:r>
          </a:p>
        </p:txBody>
      </p:sp>
      <p:sp>
        <p:nvSpPr>
          <p:cNvPr id="36" name="TextBox 35"/>
          <p:cNvSpPr txBox="1"/>
          <p:nvPr/>
        </p:nvSpPr>
        <p:spPr>
          <a:xfrm>
            <a:off x="1005840" y="5495544"/>
            <a:ext cx="10058400" cy="365760"/>
          </a:xfrm>
          <a:prstGeom prst="rect">
            <a:avLst/>
          </a:prstGeom>
          <a:noFill/>
        </p:spPr>
        <p:txBody>
          <a:bodyPr wrap="square" anchor="t" lIns="0" rIns="0" tIns="0" bIns="0">
            <a:spAutoFit/>
          </a:bodyPr>
          <a:lstStyle/>
          <a:p>
            <a:pPr algn="l">
              <a:lnSpc>
                <a:spcPct val="115000"/>
              </a:lnSpc>
            </a:pPr>
            <a:r>
              <a:rPr sz="1100" b="0">
                <a:solidFill>
                  <a:srgbClr val="1A1A1A"/>
                </a:solidFill>
                <a:latin typeface="Hiragino Sans"/>
                <a:ea typeface="Hiragino Sans"/>
                <a:cs typeface="Hiragino Sans"/>
              </a:rPr>
              <a:t>9:16 縦型画像アセットで YouTube Shorts 向け配信</a:t>
            </a:r>
          </a:p>
        </p:txBody>
      </p:sp>
      <p:sp>
        <p:nvSpPr>
          <p:cNvPr id="37" name="TextBox 36"/>
          <p:cNvSpPr txBox="1"/>
          <p:nvPr/>
        </p:nvSpPr>
        <p:spPr>
          <a:xfrm>
            <a:off x="640080" y="5815584"/>
            <a:ext cx="274320" cy="274320"/>
          </a:xfrm>
          <a:prstGeom prst="rect">
            <a:avLst/>
          </a:prstGeom>
          <a:noFill/>
        </p:spPr>
        <p:txBody>
          <a:bodyPr wrap="square" anchor="t" lIns="0" rIns="0" tIns="0" bIns="0">
            <a:spAutoFit/>
          </a:bodyPr>
          <a:lstStyle/>
          <a:p>
            <a:pPr algn="l">
              <a:lnSpc>
                <a:spcPct val="115000"/>
              </a:lnSpc>
            </a:pPr>
            <a:r>
              <a:rPr sz="1200" b="1">
                <a:solidFill>
                  <a:srgbClr val="2E8B57"/>
                </a:solidFill>
                <a:latin typeface="Hiragino Sans"/>
                <a:ea typeface="Hiragino Sans"/>
                <a:cs typeface="Hiragino Sans"/>
              </a:rPr>
              <a:t>✓</a:t>
            </a:r>
          </a:p>
        </p:txBody>
      </p:sp>
      <p:sp>
        <p:nvSpPr>
          <p:cNvPr id="38" name="TextBox 37"/>
          <p:cNvSpPr txBox="1"/>
          <p:nvPr/>
        </p:nvSpPr>
        <p:spPr>
          <a:xfrm>
            <a:off x="1005840" y="5843016"/>
            <a:ext cx="10058400" cy="365760"/>
          </a:xfrm>
          <a:prstGeom prst="rect">
            <a:avLst/>
          </a:prstGeom>
          <a:noFill/>
        </p:spPr>
        <p:txBody>
          <a:bodyPr wrap="square" anchor="t" lIns="0" rIns="0" tIns="0" bIns="0">
            <a:spAutoFit/>
          </a:bodyPr>
          <a:lstStyle/>
          <a:p>
            <a:pPr algn="l">
              <a:lnSpc>
                <a:spcPct val="115000"/>
              </a:lnSpc>
            </a:pPr>
            <a:r>
              <a:rPr sz="1100" b="0">
                <a:solidFill>
                  <a:srgbClr val="1A1A1A"/>
                </a:solidFill>
                <a:latin typeface="Hiragino Sans"/>
                <a:ea typeface="Hiragino Sans"/>
                <a:cs typeface="Hiragino Sans"/>
              </a:rPr>
              <a:t>動画拡張: 1本の動画から複数アスペクト比を自動生成</a:t>
            </a:r>
          </a:p>
        </p:txBody>
      </p:sp>
      <p:sp>
        <p:nvSpPr>
          <p:cNvPr id="39" name="TextBox 38"/>
          <p:cNvSpPr txBox="1"/>
          <p:nvPr/>
        </p:nvSpPr>
        <p:spPr>
          <a:xfrm>
            <a:off x="640080" y="6163056"/>
            <a:ext cx="274320" cy="274320"/>
          </a:xfrm>
          <a:prstGeom prst="rect">
            <a:avLst/>
          </a:prstGeom>
          <a:noFill/>
        </p:spPr>
        <p:txBody>
          <a:bodyPr wrap="square" anchor="t" lIns="0" rIns="0" tIns="0" bIns="0">
            <a:spAutoFit/>
          </a:bodyPr>
          <a:lstStyle/>
          <a:p>
            <a:pPr algn="l">
              <a:lnSpc>
                <a:spcPct val="115000"/>
              </a:lnSpc>
            </a:pPr>
            <a:r>
              <a:rPr sz="1200" b="1">
                <a:solidFill>
                  <a:srgbClr val="2E8B57"/>
                </a:solidFill>
                <a:latin typeface="Hiragino Sans"/>
                <a:ea typeface="Hiragino Sans"/>
                <a:cs typeface="Hiragino Sans"/>
              </a:rPr>
              <a:t>✓</a:t>
            </a:r>
          </a:p>
        </p:txBody>
      </p:sp>
      <p:sp>
        <p:nvSpPr>
          <p:cNvPr id="40" name="TextBox 39"/>
          <p:cNvSpPr txBox="1"/>
          <p:nvPr/>
        </p:nvSpPr>
        <p:spPr>
          <a:xfrm>
            <a:off x="1005840" y="6190488"/>
            <a:ext cx="10058400" cy="365760"/>
          </a:xfrm>
          <a:prstGeom prst="rect">
            <a:avLst/>
          </a:prstGeom>
          <a:noFill/>
        </p:spPr>
        <p:txBody>
          <a:bodyPr wrap="square" anchor="t" lIns="0" rIns="0" tIns="0" bIns="0">
            <a:spAutoFit/>
          </a:bodyPr>
          <a:lstStyle/>
          <a:p>
            <a:pPr algn="l">
              <a:lnSpc>
                <a:spcPct val="115000"/>
              </a:lnSpc>
            </a:pPr>
            <a:r>
              <a:rPr sz="1100" b="0">
                <a:solidFill>
                  <a:srgbClr val="1A1A1A"/>
                </a:solidFill>
                <a:latin typeface="Hiragino Sans"/>
                <a:ea typeface="Hiragino Sans"/>
                <a:cs typeface="Hiragino Sans"/>
              </a:rPr>
              <a:t>Shorts 単独パフォーマンス指標が表示される</a:t>
            </a:r>
          </a:p>
        </p:txBody>
      </p:sp>
      <p:sp>
        <p:nvSpPr>
          <p:cNvPr id="41" name="TextBox 40"/>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Enhanced Conversions (Web / Leads)</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ハッシュ化1PDで計測を補強する業界標準</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P43 / 250</a:t>
            </a:r>
          </a:p>
        </p:txBody>
      </p:sp>
      <p:sp>
        <p:nvSpPr>
          <p:cNvPr id="8" name="Rounded Rectangle 7"/>
          <p:cNvSpPr/>
          <p:nvPr/>
        </p:nvSpPr>
        <p:spPr>
          <a:xfrm>
            <a:off x="548640" y="1417320"/>
            <a:ext cx="5486400" cy="48463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5486400" cy="82296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554480"/>
            <a:ext cx="4937760" cy="411480"/>
          </a:xfrm>
          <a:prstGeom prst="rect">
            <a:avLst/>
          </a:prstGeom>
          <a:noFill/>
        </p:spPr>
        <p:txBody>
          <a:bodyPr wrap="square" anchor="t" lIns="0" rIns="0" tIns="0" bIns="0">
            <a:spAutoFit/>
          </a:bodyPr>
          <a:lstStyle/>
          <a:p>
            <a:pPr algn="l">
              <a:lnSpc>
                <a:spcPct val="120000"/>
              </a:lnSpc>
            </a:pPr>
            <a:r>
              <a:rPr sz="1700" b="1">
                <a:solidFill>
                  <a:srgbClr val="FFFFFF"/>
                </a:solidFill>
                <a:latin typeface="Hiragino Sans"/>
                <a:ea typeface="Hiragino Sans"/>
                <a:cs typeface="Hiragino Sans"/>
              </a:rPr>
              <a:t>Enhanced Conversions for Web</a:t>
            </a:r>
          </a:p>
        </p:txBody>
      </p:sp>
      <p:sp>
        <p:nvSpPr>
          <p:cNvPr id="11" name="TextBox 10"/>
          <p:cNvSpPr txBox="1"/>
          <p:nvPr/>
        </p:nvSpPr>
        <p:spPr>
          <a:xfrm>
            <a:off x="822960" y="1965960"/>
            <a:ext cx="4937760" cy="27432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購入CVを補強</a:t>
            </a:r>
          </a:p>
        </p:txBody>
      </p:sp>
      <p:sp>
        <p:nvSpPr>
          <p:cNvPr id="12" name="TextBox 11"/>
          <p:cNvSpPr txBox="1"/>
          <p:nvPr/>
        </p:nvSpPr>
        <p:spPr>
          <a:xfrm>
            <a:off x="822960" y="2468880"/>
            <a:ext cx="4937760" cy="1371600"/>
          </a:xfrm>
          <a:prstGeom prst="rect">
            <a:avLst/>
          </a:prstGeom>
          <a:noFill/>
        </p:spPr>
        <p:txBody>
          <a:bodyPr wrap="square" anchor="t" lIns="0" rIns="0" tIns="0" bIns="0">
            <a:spAutoFit/>
          </a:bodyPr>
          <a:lstStyle/>
          <a:p>
            <a:pPr algn="l">
              <a:lnSpc>
                <a:spcPct val="150000"/>
              </a:lnSpc>
            </a:pPr>
            <a:r>
              <a:rPr sz="1200" b="0">
                <a:solidFill>
                  <a:srgbClr val="1A1A1A"/>
                </a:solidFill>
                <a:latin typeface="Hiragino Sans"/>
                <a:ea typeface="Hiragino Sans"/>
                <a:cs typeface="Hiragino Sans"/>
              </a:rPr>
              <a:t>CV発生時に入力された</a:t>
            </a:r>
          </a:p>
          <a:p>
            <a:pPr algn="l">
              <a:lnSpc>
                <a:spcPct val="150000"/>
              </a:lnSpc>
            </a:pPr>
            <a:r>
              <a:rPr sz="1200" b="0">
                <a:solidFill>
                  <a:srgbClr val="1A1A1A"/>
                </a:solidFill>
                <a:latin typeface="Hiragino Sans"/>
                <a:ea typeface="Hiragino Sans"/>
                <a:cs typeface="Hiragino Sans"/>
              </a:rPr>
              <a:t>Email/電話番号をハッシュ化し</a:t>
            </a:r>
          </a:p>
          <a:p>
            <a:pPr algn="l">
              <a:lnSpc>
                <a:spcPct val="150000"/>
              </a:lnSpc>
            </a:pPr>
            <a:r>
              <a:rPr sz="1200" b="0">
                <a:solidFill>
                  <a:srgbClr val="1A1A1A"/>
                </a:solidFill>
                <a:latin typeface="Hiragino Sans"/>
                <a:ea typeface="Hiragino Sans"/>
                <a:cs typeface="Hiragino Sans"/>
              </a:rPr>
              <a:t>Googleへ送信。Cookieでの</a:t>
            </a:r>
          </a:p>
          <a:p>
            <a:pPr algn="l">
              <a:lnSpc>
                <a:spcPct val="150000"/>
              </a:lnSpc>
            </a:pPr>
            <a:r>
              <a:rPr sz="1200" b="0">
                <a:solidFill>
                  <a:srgbClr val="1A1A1A"/>
                </a:solidFill>
                <a:latin typeface="Hiragino Sans"/>
                <a:ea typeface="Hiragino Sans"/>
                <a:cs typeface="Hiragino Sans"/>
              </a:rPr>
              <a:t>計測漏れを補完する</a:t>
            </a:r>
          </a:p>
        </p:txBody>
      </p:sp>
      <p:sp>
        <p:nvSpPr>
          <p:cNvPr id="13" name="Rectangle 12"/>
          <p:cNvSpPr/>
          <p:nvPr/>
        </p:nvSpPr>
        <p:spPr>
          <a:xfrm>
            <a:off x="822960" y="3886200"/>
            <a:ext cx="493776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4023360"/>
            <a:ext cx="4937760" cy="274320"/>
          </a:xfrm>
          <a:prstGeom prst="rect">
            <a:avLst/>
          </a:prstGeom>
          <a:noFill/>
        </p:spPr>
        <p:txBody>
          <a:bodyPr wrap="square" anchor="t" lIns="0" rIns="0" tIns="0" bIns="0">
            <a:spAutoFit/>
          </a:bodyPr>
          <a:lstStyle/>
          <a:p>
            <a:pPr algn="l">
              <a:lnSpc>
                <a:spcPct val="115000"/>
              </a:lnSpc>
            </a:pPr>
            <a:r>
              <a:rPr sz="1100" b="1">
                <a:solidFill>
                  <a:srgbClr val="B85E1A"/>
                </a:solidFill>
                <a:latin typeface="Hiragino Sans"/>
                <a:ea typeface="Hiragino Sans"/>
                <a:cs typeface="Hiragino Sans"/>
              </a:rPr>
              <a:t>実装ポイント</a:t>
            </a:r>
          </a:p>
        </p:txBody>
      </p:sp>
      <p:sp>
        <p:nvSpPr>
          <p:cNvPr id="15" name="TextBox 14"/>
          <p:cNvSpPr txBox="1"/>
          <p:nvPr/>
        </p:nvSpPr>
        <p:spPr>
          <a:xfrm>
            <a:off x="822960" y="4389120"/>
            <a:ext cx="27432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a:t>
            </a:r>
          </a:p>
        </p:txBody>
      </p:sp>
      <p:sp>
        <p:nvSpPr>
          <p:cNvPr id="16" name="TextBox 15"/>
          <p:cNvSpPr txBox="1"/>
          <p:nvPr/>
        </p:nvSpPr>
        <p:spPr>
          <a:xfrm>
            <a:off x="1097280" y="4407408"/>
            <a:ext cx="4663440" cy="59436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GTM経由 / gtag.js 直接設定</a:t>
            </a:r>
          </a:p>
        </p:txBody>
      </p:sp>
      <p:sp>
        <p:nvSpPr>
          <p:cNvPr id="17" name="TextBox 16"/>
          <p:cNvSpPr txBox="1"/>
          <p:nvPr/>
        </p:nvSpPr>
        <p:spPr>
          <a:xfrm>
            <a:off x="822960" y="4800600"/>
            <a:ext cx="27432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a:t>
            </a:r>
          </a:p>
        </p:txBody>
      </p:sp>
      <p:sp>
        <p:nvSpPr>
          <p:cNvPr id="18" name="TextBox 17"/>
          <p:cNvSpPr txBox="1"/>
          <p:nvPr/>
        </p:nvSpPr>
        <p:spPr>
          <a:xfrm>
            <a:off x="1097280" y="4818888"/>
            <a:ext cx="4663440" cy="59436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SHA-256 ハッシュ化 (端末側)</a:t>
            </a:r>
          </a:p>
        </p:txBody>
      </p:sp>
      <p:sp>
        <p:nvSpPr>
          <p:cNvPr id="19" name="TextBox 18"/>
          <p:cNvSpPr txBox="1"/>
          <p:nvPr/>
        </p:nvSpPr>
        <p:spPr>
          <a:xfrm>
            <a:off x="822960" y="5212080"/>
            <a:ext cx="27432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a:t>
            </a:r>
          </a:p>
        </p:txBody>
      </p:sp>
      <p:sp>
        <p:nvSpPr>
          <p:cNvPr id="20" name="TextBox 19"/>
          <p:cNvSpPr txBox="1"/>
          <p:nvPr/>
        </p:nvSpPr>
        <p:spPr>
          <a:xfrm>
            <a:off x="1097280" y="5230368"/>
            <a:ext cx="4663440" cy="59436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Google側でマッチング拡張</a:t>
            </a:r>
          </a:p>
        </p:txBody>
      </p:sp>
      <p:sp>
        <p:nvSpPr>
          <p:cNvPr id="21" name="TextBox 20"/>
          <p:cNvSpPr txBox="1"/>
          <p:nvPr/>
        </p:nvSpPr>
        <p:spPr>
          <a:xfrm>
            <a:off x="822960" y="5623560"/>
            <a:ext cx="27432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a:t>
            </a:r>
          </a:p>
        </p:txBody>
      </p:sp>
      <p:sp>
        <p:nvSpPr>
          <p:cNvPr id="22" name="TextBox 21"/>
          <p:cNvSpPr txBox="1"/>
          <p:nvPr/>
        </p:nvSpPr>
        <p:spPr>
          <a:xfrm>
            <a:off x="1097280" y="5641848"/>
            <a:ext cx="4663440" cy="59436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典型: +5% 〜 +15% のCV復元</a:t>
            </a:r>
          </a:p>
        </p:txBody>
      </p:sp>
      <p:sp>
        <p:nvSpPr>
          <p:cNvPr id="23" name="Rounded Rectangle 22"/>
          <p:cNvSpPr/>
          <p:nvPr/>
        </p:nvSpPr>
        <p:spPr>
          <a:xfrm>
            <a:off x="6172200" y="1417320"/>
            <a:ext cx="5486400" cy="48463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72200" y="1417320"/>
            <a:ext cx="5486400" cy="82296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6520" y="1554480"/>
            <a:ext cx="4937760" cy="411480"/>
          </a:xfrm>
          <a:prstGeom prst="rect">
            <a:avLst/>
          </a:prstGeom>
          <a:noFill/>
        </p:spPr>
        <p:txBody>
          <a:bodyPr wrap="square" anchor="t" lIns="0" rIns="0" tIns="0" bIns="0">
            <a:spAutoFit/>
          </a:bodyPr>
          <a:lstStyle/>
          <a:p>
            <a:pPr algn="l">
              <a:lnSpc>
                <a:spcPct val="120000"/>
              </a:lnSpc>
            </a:pPr>
            <a:r>
              <a:rPr sz="1700" b="1">
                <a:solidFill>
                  <a:srgbClr val="FFFFFF"/>
                </a:solidFill>
                <a:latin typeface="Hiragino Sans"/>
                <a:ea typeface="Hiragino Sans"/>
                <a:cs typeface="Hiragino Sans"/>
              </a:rPr>
              <a:t>Enhanced Conversions for Leads</a:t>
            </a:r>
          </a:p>
        </p:txBody>
      </p:sp>
      <p:sp>
        <p:nvSpPr>
          <p:cNvPr id="26" name="TextBox 25"/>
          <p:cNvSpPr txBox="1"/>
          <p:nvPr/>
        </p:nvSpPr>
        <p:spPr>
          <a:xfrm>
            <a:off x="6446520" y="1965960"/>
            <a:ext cx="4937760" cy="27432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B2Bリード計測</a:t>
            </a:r>
          </a:p>
        </p:txBody>
      </p:sp>
      <p:sp>
        <p:nvSpPr>
          <p:cNvPr id="27" name="TextBox 26"/>
          <p:cNvSpPr txBox="1"/>
          <p:nvPr/>
        </p:nvSpPr>
        <p:spPr>
          <a:xfrm>
            <a:off x="6446520" y="2468880"/>
            <a:ext cx="4937760" cy="1371600"/>
          </a:xfrm>
          <a:prstGeom prst="rect">
            <a:avLst/>
          </a:prstGeom>
          <a:noFill/>
        </p:spPr>
        <p:txBody>
          <a:bodyPr wrap="square" anchor="t" lIns="0" rIns="0" tIns="0" bIns="0">
            <a:spAutoFit/>
          </a:bodyPr>
          <a:lstStyle/>
          <a:p>
            <a:pPr algn="l">
              <a:lnSpc>
                <a:spcPct val="150000"/>
              </a:lnSpc>
            </a:pPr>
            <a:r>
              <a:rPr sz="1200" b="0">
                <a:solidFill>
                  <a:srgbClr val="1A1A1A"/>
                </a:solidFill>
                <a:latin typeface="Hiragino Sans"/>
                <a:ea typeface="Hiragino Sans"/>
                <a:cs typeface="Hiragino Sans"/>
              </a:rPr>
              <a:t>リード獲得時のEmail/電話を</a:t>
            </a:r>
          </a:p>
          <a:p>
            <a:pPr algn="l">
              <a:lnSpc>
                <a:spcPct val="150000"/>
              </a:lnSpc>
            </a:pPr>
            <a:r>
              <a:rPr sz="1200" b="0">
                <a:solidFill>
                  <a:srgbClr val="1A1A1A"/>
                </a:solidFill>
                <a:latin typeface="Hiragino Sans"/>
                <a:ea typeface="Hiragino Sans"/>
                <a:cs typeface="Hiragino Sans"/>
              </a:rPr>
              <a:t>アップロードし、後でCRM側の</a:t>
            </a:r>
          </a:p>
          <a:p>
            <a:pPr algn="l">
              <a:lnSpc>
                <a:spcPct val="150000"/>
              </a:lnSpc>
            </a:pPr>
            <a:r>
              <a:rPr sz="1200" b="0">
                <a:solidFill>
                  <a:srgbClr val="1A1A1A"/>
                </a:solidFill>
                <a:latin typeface="Hiragino Sans"/>
                <a:ea typeface="Hiragino Sans"/>
                <a:cs typeface="Hiragino Sans"/>
              </a:rPr>
              <a:t>クロージングを Google Ads に</a:t>
            </a:r>
          </a:p>
          <a:p>
            <a:pPr algn="l">
              <a:lnSpc>
                <a:spcPct val="150000"/>
              </a:lnSpc>
            </a:pPr>
            <a:r>
              <a:rPr sz="1200" b="0">
                <a:solidFill>
                  <a:srgbClr val="1A1A1A"/>
                </a:solidFill>
                <a:latin typeface="Hiragino Sans"/>
                <a:ea typeface="Hiragino Sans"/>
                <a:cs typeface="Hiragino Sans"/>
              </a:rPr>
              <a:t>戻してオフラインCV化</a:t>
            </a:r>
          </a:p>
        </p:txBody>
      </p:sp>
      <p:sp>
        <p:nvSpPr>
          <p:cNvPr id="28" name="Rectangle 27"/>
          <p:cNvSpPr/>
          <p:nvPr/>
        </p:nvSpPr>
        <p:spPr>
          <a:xfrm>
            <a:off x="6446520" y="3886200"/>
            <a:ext cx="493776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46520" y="4023360"/>
            <a:ext cx="4937760" cy="274320"/>
          </a:xfrm>
          <a:prstGeom prst="rect">
            <a:avLst/>
          </a:prstGeom>
          <a:noFill/>
        </p:spPr>
        <p:txBody>
          <a:bodyPr wrap="square" anchor="t" lIns="0" rIns="0" tIns="0" bIns="0">
            <a:spAutoFit/>
          </a:bodyPr>
          <a:lstStyle/>
          <a:p>
            <a:pPr algn="l">
              <a:lnSpc>
                <a:spcPct val="115000"/>
              </a:lnSpc>
            </a:pPr>
            <a:r>
              <a:rPr sz="1100" b="1">
                <a:solidFill>
                  <a:srgbClr val="B85E1A"/>
                </a:solidFill>
                <a:latin typeface="Hiragino Sans"/>
                <a:ea typeface="Hiragino Sans"/>
                <a:cs typeface="Hiragino Sans"/>
              </a:rPr>
              <a:t>実装ポイント</a:t>
            </a:r>
          </a:p>
        </p:txBody>
      </p:sp>
      <p:sp>
        <p:nvSpPr>
          <p:cNvPr id="30" name="TextBox 29"/>
          <p:cNvSpPr txBox="1"/>
          <p:nvPr/>
        </p:nvSpPr>
        <p:spPr>
          <a:xfrm>
            <a:off x="6446520" y="4389120"/>
            <a:ext cx="27432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a:t>
            </a:r>
          </a:p>
        </p:txBody>
      </p:sp>
      <p:sp>
        <p:nvSpPr>
          <p:cNvPr id="31" name="TextBox 30"/>
          <p:cNvSpPr txBox="1"/>
          <p:nvPr/>
        </p:nvSpPr>
        <p:spPr>
          <a:xfrm>
            <a:off x="6720840" y="4407408"/>
            <a:ext cx="4663440" cy="59436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広告 → Lead 獲得を認識</a:t>
            </a:r>
          </a:p>
        </p:txBody>
      </p:sp>
      <p:sp>
        <p:nvSpPr>
          <p:cNvPr id="32" name="TextBox 31"/>
          <p:cNvSpPr txBox="1"/>
          <p:nvPr/>
        </p:nvSpPr>
        <p:spPr>
          <a:xfrm>
            <a:off x="6446520" y="4800600"/>
            <a:ext cx="27432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a:t>
            </a:r>
          </a:p>
        </p:txBody>
      </p:sp>
      <p:sp>
        <p:nvSpPr>
          <p:cNvPr id="33" name="TextBox 32"/>
          <p:cNvSpPr txBox="1"/>
          <p:nvPr/>
        </p:nvSpPr>
        <p:spPr>
          <a:xfrm>
            <a:off x="6720840" y="4818888"/>
            <a:ext cx="4663440" cy="59436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後日 CRM でクローズ → 送信</a:t>
            </a:r>
          </a:p>
        </p:txBody>
      </p:sp>
      <p:sp>
        <p:nvSpPr>
          <p:cNvPr id="34" name="TextBox 33"/>
          <p:cNvSpPr txBox="1"/>
          <p:nvPr/>
        </p:nvSpPr>
        <p:spPr>
          <a:xfrm>
            <a:off x="6446520" y="5212080"/>
            <a:ext cx="27432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a:t>
            </a:r>
          </a:p>
        </p:txBody>
      </p:sp>
      <p:sp>
        <p:nvSpPr>
          <p:cNvPr id="35" name="TextBox 34"/>
          <p:cNvSpPr txBox="1"/>
          <p:nvPr/>
        </p:nvSpPr>
        <p:spPr>
          <a:xfrm>
            <a:off x="6720840" y="5230368"/>
            <a:ext cx="4663440" cy="59436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Value-based Bidding の</a:t>
            </a:r>
          </a:p>
          <a:p>
            <a:pPr algn="l">
              <a:lnSpc>
                <a:spcPct val="140000"/>
              </a:lnSpc>
            </a:pPr>
            <a:r>
              <a:rPr sz="1000" b="0">
                <a:solidFill>
                  <a:srgbClr val="1A1A1A"/>
                </a:solidFill>
                <a:latin typeface="Hiragino Sans"/>
                <a:ea typeface="Hiragino Sans"/>
                <a:cs typeface="Hiragino Sans"/>
              </a:rPr>
              <a:t>核になる設計</a:t>
            </a:r>
          </a:p>
        </p:txBody>
      </p:sp>
      <p:sp>
        <p:nvSpPr>
          <p:cNvPr id="36" name="TextBox 35"/>
          <p:cNvSpPr txBox="1"/>
          <p:nvPr/>
        </p:nvSpPr>
        <p:spPr>
          <a:xfrm>
            <a:off x="6446520" y="5623560"/>
            <a:ext cx="27432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a:t>
            </a:r>
          </a:p>
        </p:txBody>
      </p:sp>
      <p:sp>
        <p:nvSpPr>
          <p:cNvPr id="37" name="TextBox 36"/>
          <p:cNvSpPr txBox="1"/>
          <p:nvPr/>
        </p:nvSpPr>
        <p:spPr>
          <a:xfrm>
            <a:off x="6720840" y="5641848"/>
            <a:ext cx="4663440" cy="59436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2024-2026 で普及拡大</a:t>
            </a:r>
          </a:p>
        </p:txBody>
      </p:sp>
      <p:sp>
        <p:nvSpPr>
          <p:cNvPr id="38" name="TextBox 37"/>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Google Ads と Consent Mode v2</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同意信号の送信が計測精度を分ける</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P44 / 250</a:t>
            </a:r>
          </a:p>
        </p:txBody>
      </p:sp>
      <p:sp>
        <p:nvSpPr>
          <p:cNvPr id="8" name="Rounded Rectangle 7"/>
          <p:cNvSpPr/>
          <p:nvPr/>
        </p:nvSpPr>
        <p:spPr>
          <a:xfrm>
            <a:off x="548640" y="1371600"/>
            <a:ext cx="11109960" cy="777240"/>
          </a:xfrm>
          <a:prstGeom prst="roundRect">
            <a:avLst>
              <a:gd name="adj" fmla="val 6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08760"/>
            <a:ext cx="10972800" cy="640080"/>
          </a:xfrm>
          <a:prstGeom prst="rect">
            <a:avLst/>
          </a:prstGeom>
          <a:noFill/>
        </p:spPr>
        <p:txBody>
          <a:bodyPr wrap="square" anchor="t" lIns="0" rIns="0" tIns="0" bIns="0">
            <a:spAutoFit/>
          </a:bodyPr>
          <a:lstStyle/>
          <a:p>
            <a:pPr algn="l">
              <a:lnSpc>
                <a:spcPct val="150000"/>
              </a:lnSpc>
            </a:pPr>
            <a:r>
              <a:rPr sz="1200" b="0">
                <a:solidFill>
                  <a:srgbClr val="1A1A1A"/>
                </a:solidFill>
                <a:latin typeface="Hiragino Sans"/>
                <a:ea typeface="Hiragino Sans"/>
                <a:cs typeface="Hiragino Sans"/>
              </a:rPr>
              <a:t>Consent Mode v2 : ユーザー同意の状態を Google に送信する仕組み。</a:t>
            </a:r>
          </a:p>
          <a:p>
            <a:pPr algn="l">
              <a:lnSpc>
                <a:spcPct val="150000"/>
              </a:lnSpc>
            </a:pPr>
            <a:r>
              <a:rPr sz="1200" b="0">
                <a:solidFill>
                  <a:srgbClr val="1A1A1A"/>
                </a:solidFill>
                <a:latin typeface="Hiragino Sans"/>
                <a:ea typeface="Hiragino Sans"/>
                <a:cs typeface="Hiragino Sans"/>
              </a:rPr>
              <a:t>2024/03/06 EEA 義務化、グローバル企業は実装が事実上標準</a:t>
            </a:r>
          </a:p>
        </p:txBody>
      </p:sp>
      <p:sp>
        <p:nvSpPr>
          <p:cNvPr id="10" name="Rounded Rectangle 9"/>
          <p:cNvSpPr/>
          <p:nvPr/>
        </p:nvSpPr>
        <p:spPr>
          <a:xfrm>
            <a:off x="548640" y="2331720"/>
            <a:ext cx="5486400" cy="219456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514600"/>
            <a:ext cx="4937760" cy="365760"/>
          </a:xfrm>
          <a:prstGeom prst="rect">
            <a:avLst/>
          </a:prstGeom>
          <a:noFill/>
        </p:spPr>
        <p:txBody>
          <a:bodyPr wrap="square" anchor="t" lIns="0" rIns="0" tIns="0" bIns="0">
            <a:spAutoFit/>
          </a:bodyPr>
          <a:lstStyle/>
          <a:p>
            <a:pPr algn="l">
              <a:lnSpc>
                <a:spcPct val="115000"/>
              </a:lnSpc>
            </a:pPr>
            <a:r>
              <a:rPr sz="1400" b="1">
                <a:solidFill>
                  <a:srgbClr val="5A6A80"/>
                </a:solidFill>
                <a:latin typeface="Hiragino Sans"/>
                <a:ea typeface="Hiragino Sans"/>
                <a:cs typeface="Hiragino Sans"/>
              </a:rPr>
              <a:t>Basic Consent Mode</a:t>
            </a:r>
          </a:p>
        </p:txBody>
      </p:sp>
      <p:sp>
        <p:nvSpPr>
          <p:cNvPr id="12" name="TextBox 11"/>
          <p:cNvSpPr txBox="1"/>
          <p:nvPr/>
        </p:nvSpPr>
        <p:spPr>
          <a:xfrm>
            <a:off x="822960" y="2880360"/>
            <a:ext cx="4937760" cy="274320"/>
          </a:xfrm>
          <a:prstGeom prst="rect">
            <a:avLst/>
          </a:prstGeom>
          <a:noFill/>
        </p:spPr>
        <p:txBody>
          <a:bodyPr wrap="square" anchor="t" lIns="0" rIns="0" tIns="0" bIns="0">
            <a:spAutoFit/>
          </a:bodyPr>
          <a:lstStyle/>
          <a:p>
            <a:pPr algn="l">
              <a:lnSpc>
                <a:spcPct val="115000"/>
              </a:lnSpc>
            </a:pPr>
            <a:r>
              <a:rPr sz="1100" b="0">
                <a:solidFill>
                  <a:srgbClr val="1A1A1A"/>
                </a:solidFill>
                <a:latin typeface="Hiragino Sans"/>
                <a:ea typeface="Hiragino Sans"/>
                <a:cs typeface="Hiragino Sans"/>
              </a:rPr>
              <a:t>同意なし = タグ発火なし</a:t>
            </a:r>
          </a:p>
        </p:txBody>
      </p:sp>
      <p:sp>
        <p:nvSpPr>
          <p:cNvPr id="13" name="Rectangle 12"/>
          <p:cNvSpPr/>
          <p:nvPr/>
        </p:nvSpPr>
        <p:spPr>
          <a:xfrm>
            <a:off x="822960" y="3200400"/>
            <a:ext cx="493776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337560"/>
            <a:ext cx="4937760" cy="114300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 モデル推計が限定的</a:t>
            </a:r>
          </a:p>
          <a:p>
            <a:pPr algn="l">
              <a:lnSpc>
                <a:spcPct val="150000"/>
              </a:lnSpc>
            </a:pPr>
            <a:r>
              <a:rPr sz="1100" b="0">
                <a:solidFill>
                  <a:srgbClr val="1A1A1A"/>
                </a:solidFill>
                <a:latin typeface="Hiragino Sans"/>
                <a:ea typeface="Hiragino Sans"/>
                <a:cs typeface="Hiragino Sans"/>
              </a:rPr>
              <a:t>✗ Remarketing 対象不可</a:t>
            </a:r>
          </a:p>
          <a:p>
            <a:pPr algn="l">
              <a:lnSpc>
                <a:spcPct val="150000"/>
              </a:lnSpc>
            </a:pPr>
            <a:r>
              <a:rPr sz="1100" b="0">
                <a:solidFill>
                  <a:srgbClr val="1A1A1A"/>
                </a:solidFill>
                <a:latin typeface="Hiragino Sans"/>
                <a:ea typeface="Hiragino Sans"/>
                <a:cs typeface="Hiragino Sans"/>
              </a:rPr>
              <a:t>✗ コンバージョンロス大</a:t>
            </a:r>
          </a:p>
        </p:txBody>
      </p:sp>
      <p:sp>
        <p:nvSpPr>
          <p:cNvPr id="15" name="Rounded Rectangle 14"/>
          <p:cNvSpPr/>
          <p:nvPr/>
        </p:nvSpPr>
        <p:spPr>
          <a:xfrm>
            <a:off x="6172200" y="2331720"/>
            <a:ext cx="5486400" cy="2194560"/>
          </a:xfrm>
          <a:prstGeom prst="roundRect">
            <a:avLst>
              <a:gd name="adj" fmla="val 6000"/>
            </a:avLst>
          </a:prstGeom>
          <a:solidFill>
            <a:srgbClr val="FFF3E6"/>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2514600"/>
            <a:ext cx="4937760" cy="365760"/>
          </a:xfrm>
          <a:prstGeom prst="rect">
            <a:avLst/>
          </a:prstGeom>
          <a:noFill/>
        </p:spPr>
        <p:txBody>
          <a:bodyPr wrap="square" anchor="t" lIns="0" rIns="0" tIns="0" bIns="0">
            <a:spAutoFit/>
          </a:bodyPr>
          <a:lstStyle/>
          <a:p>
            <a:pPr algn="l">
              <a:lnSpc>
                <a:spcPct val="115000"/>
              </a:lnSpc>
            </a:pPr>
            <a:r>
              <a:rPr sz="1400" b="1">
                <a:solidFill>
                  <a:srgbClr val="B85E1A"/>
                </a:solidFill>
                <a:latin typeface="Hiragino Sans"/>
                <a:ea typeface="Hiragino Sans"/>
                <a:cs typeface="Hiragino Sans"/>
              </a:rPr>
              <a:t>Advanced Consent Mode (推奨)</a:t>
            </a:r>
          </a:p>
        </p:txBody>
      </p:sp>
      <p:sp>
        <p:nvSpPr>
          <p:cNvPr id="17" name="TextBox 16"/>
          <p:cNvSpPr txBox="1"/>
          <p:nvPr/>
        </p:nvSpPr>
        <p:spPr>
          <a:xfrm>
            <a:off x="6446520" y="2880360"/>
            <a:ext cx="4937760" cy="274320"/>
          </a:xfrm>
          <a:prstGeom prst="rect">
            <a:avLst/>
          </a:prstGeom>
          <a:noFill/>
        </p:spPr>
        <p:txBody>
          <a:bodyPr wrap="square" anchor="t" lIns="0" rIns="0" tIns="0" bIns="0">
            <a:spAutoFit/>
          </a:bodyPr>
          <a:lstStyle/>
          <a:p>
            <a:pPr algn="l">
              <a:lnSpc>
                <a:spcPct val="115000"/>
              </a:lnSpc>
            </a:pPr>
            <a:r>
              <a:rPr sz="1100" b="0">
                <a:solidFill>
                  <a:srgbClr val="1A1A1A"/>
                </a:solidFill>
                <a:latin typeface="Hiragino Sans"/>
                <a:ea typeface="Hiragino Sans"/>
                <a:cs typeface="Hiragino Sans"/>
              </a:rPr>
              <a:t>同意有無に関わらずCookieless pingを送信</a:t>
            </a:r>
          </a:p>
        </p:txBody>
      </p:sp>
      <p:sp>
        <p:nvSpPr>
          <p:cNvPr id="18" name="Rectangle 17"/>
          <p:cNvSpPr/>
          <p:nvPr/>
        </p:nvSpPr>
        <p:spPr>
          <a:xfrm>
            <a:off x="6446520" y="3200400"/>
            <a:ext cx="493776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6520" y="3337560"/>
            <a:ext cx="4937760" cy="114300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 モデル推計でCVを復元 (+20〜65%)</a:t>
            </a:r>
          </a:p>
          <a:p>
            <a:pPr algn="l">
              <a:lnSpc>
                <a:spcPct val="150000"/>
              </a:lnSpc>
            </a:pPr>
            <a:r>
              <a:rPr sz="1100" b="0">
                <a:solidFill>
                  <a:srgbClr val="1A1A1A"/>
                </a:solidFill>
                <a:latin typeface="Hiragino Sans"/>
                <a:ea typeface="Hiragino Sans"/>
                <a:cs typeface="Hiragino Sans"/>
              </a:rPr>
              <a:t>✓ Bid Strategy の精度維持</a:t>
            </a:r>
          </a:p>
          <a:p>
            <a:pPr algn="l">
              <a:lnSpc>
                <a:spcPct val="150000"/>
              </a:lnSpc>
            </a:pPr>
            <a:r>
              <a:rPr sz="1100" b="0">
                <a:solidFill>
                  <a:srgbClr val="1A1A1A"/>
                </a:solidFill>
                <a:latin typeface="Hiragino Sans"/>
                <a:ea typeface="Hiragino Sans"/>
                <a:cs typeface="Hiragino Sans"/>
              </a:rPr>
              <a:t>✓ Optiscore 上昇</a:t>
            </a:r>
          </a:p>
        </p:txBody>
      </p:sp>
      <p:sp>
        <p:nvSpPr>
          <p:cNvPr id="20" name="TextBox 19"/>
          <p:cNvSpPr txBox="1"/>
          <p:nvPr/>
        </p:nvSpPr>
        <p:spPr>
          <a:xfrm>
            <a:off x="548640" y="4709160"/>
            <a:ext cx="1097280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実装のポイント (2026年)</a:t>
            </a:r>
          </a:p>
        </p:txBody>
      </p:sp>
      <p:sp>
        <p:nvSpPr>
          <p:cNvPr id="21" name="Rectangle 20"/>
          <p:cNvSpPr/>
          <p:nvPr/>
        </p:nvSpPr>
        <p:spPr>
          <a:xfrm>
            <a:off x="548640" y="5074920"/>
            <a:ext cx="1110996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5257800"/>
            <a:ext cx="36576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elvetica Neue"/>
                <a:ea typeface="Helvetica Neue"/>
                <a:cs typeface="Helvetica Neue"/>
              </a:rPr>
              <a:t>1.</a:t>
            </a:r>
          </a:p>
        </p:txBody>
      </p:sp>
      <p:sp>
        <p:nvSpPr>
          <p:cNvPr id="23" name="TextBox 22"/>
          <p:cNvSpPr txBox="1"/>
          <p:nvPr/>
        </p:nvSpPr>
        <p:spPr>
          <a:xfrm>
            <a:off x="1051560" y="5285232"/>
            <a:ext cx="10058400" cy="320040"/>
          </a:xfrm>
          <a:prstGeom prst="rect">
            <a:avLst/>
          </a:prstGeom>
          <a:noFill/>
        </p:spPr>
        <p:txBody>
          <a:bodyPr wrap="square" anchor="t" lIns="0" rIns="0" tIns="0" bIns="0">
            <a:spAutoFit/>
          </a:bodyPr>
          <a:lstStyle/>
          <a:p>
            <a:pPr algn="l">
              <a:lnSpc>
                <a:spcPct val="130000"/>
              </a:lnSpc>
            </a:pPr>
            <a:r>
              <a:rPr sz="1100" b="0">
                <a:solidFill>
                  <a:srgbClr val="1A1A1A"/>
                </a:solidFill>
                <a:latin typeface="Hiragino Sans"/>
                <a:ea typeface="Hiragino Sans"/>
                <a:cs typeface="Hiragino Sans"/>
              </a:rPr>
              <a:t>CMP (Cookiebot / OneTrust / usercentrics) を先に導入</a:t>
            </a:r>
          </a:p>
        </p:txBody>
      </p:sp>
      <p:sp>
        <p:nvSpPr>
          <p:cNvPr id="24" name="TextBox 23"/>
          <p:cNvSpPr txBox="1"/>
          <p:nvPr/>
        </p:nvSpPr>
        <p:spPr>
          <a:xfrm>
            <a:off x="640080" y="5550408"/>
            <a:ext cx="36576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elvetica Neue"/>
                <a:ea typeface="Helvetica Neue"/>
                <a:cs typeface="Helvetica Neue"/>
              </a:rPr>
              <a:t>2.</a:t>
            </a:r>
          </a:p>
        </p:txBody>
      </p:sp>
      <p:sp>
        <p:nvSpPr>
          <p:cNvPr id="25" name="TextBox 24"/>
          <p:cNvSpPr txBox="1"/>
          <p:nvPr/>
        </p:nvSpPr>
        <p:spPr>
          <a:xfrm>
            <a:off x="1051560" y="5577840"/>
            <a:ext cx="10058400" cy="320040"/>
          </a:xfrm>
          <a:prstGeom prst="rect">
            <a:avLst/>
          </a:prstGeom>
          <a:noFill/>
        </p:spPr>
        <p:txBody>
          <a:bodyPr wrap="square" anchor="t" lIns="0" rIns="0" tIns="0" bIns="0">
            <a:spAutoFit/>
          </a:bodyPr>
          <a:lstStyle/>
          <a:p>
            <a:pPr algn="l">
              <a:lnSpc>
                <a:spcPct val="130000"/>
              </a:lnSpc>
            </a:pPr>
            <a:r>
              <a:rPr sz="1100" b="0">
                <a:solidFill>
                  <a:srgbClr val="1A1A1A"/>
                </a:solidFill>
                <a:latin typeface="Hiragino Sans"/>
                <a:ea typeface="Hiragino Sans"/>
                <a:cs typeface="Hiragino Sans"/>
              </a:rPr>
              <a:t>Google Tag で Consent Mode v2 を Advanced に設定</a:t>
            </a:r>
          </a:p>
        </p:txBody>
      </p:sp>
      <p:sp>
        <p:nvSpPr>
          <p:cNvPr id="26" name="TextBox 25"/>
          <p:cNvSpPr txBox="1"/>
          <p:nvPr/>
        </p:nvSpPr>
        <p:spPr>
          <a:xfrm>
            <a:off x="640080" y="5843016"/>
            <a:ext cx="36576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elvetica Neue"/>
                <a:ea typeface="Helvetica Neue"/>
                <a:cs typeface="Helvetica Neue"/>
              </a:rPr>
              <a:t>3.</a:t>
            </a:r>
          </a:p>
        </p:txBody>
      </p:sp>
      <p:sp>
        <p:nvSpPr>
          <p:cNvPr id="27" name="TextBox 26"/>
          <p:cNvSpPr txBox="1"/>
          <p:nvPr/>
        </p:nvSpPr>
        <p:spPr>
          <a:xfrm>
            <a:off x="1051560" y="5870448"/>
            <a:ext cx="10058400" cy="320040"/>
          </a:xfrm>
          <a:prstGeom prst="rect">
            <a:avLst/>
          </a:prstGeom>
          <a:noFill/>
        </p:spPr>
        <p:txBody>
          <a:bodyPr wrap="square" anchor="t" lIns="0" rIns="0" tIns="0" bIns="0">
            <a:spAutoFit/>
          </a:bodyPr>
          <a:lstStyle/>
          <a:p>
            <a:pPr algn="l">
              <a:lnSpc>
                <a:spcPct val="130000"/>
              </a:lnSpc>
            </a:pPr>
            <a:r>
              <a:rPr sz="1100" b="0">
                <a:solidFill>
                  <a:srgbClr val="1A1A1A"/>
                </a:solidFill>
                <a:latin typeface="Hiragino Sans"/>
                <a:ea typeface="Hiragino Sans"/>
                <a:cs typeface="Hiragino Sans"/>
              </a:rPr>
              <a:t>4つの consent パラメータを正しく送信 (ad_storage / ad_user_data / ad_personalization / analytics_storage)</a:t>
            </a:r>
          </a:p>
        </p:txBody>
      </p:sp>
      <p:sp>
        <p:nvSpPr>
          <p:cNvPr id="28" name="TextBox 27"/>
          <p:cNvSpPr txBox="1"/>
          <p:nvPr/>
        </p:nvSpPr>
        <p:spPr>
          <a:xfrm>
            <a:off x="640080" y="6135624"/>
            <a:ext cx="36576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elvetica Neue"/>
                <a:ea typeface="Helvetica Neue"/>
                <a:cs typeface="Helvetica Neue"/>
              </a:rPr>
              <a:t>4.</a:t>
            </a:r>
          </a:p>
        </p:txBody>
      </p:sp>
      <p:sp>
        <p:nvSpPr>
          <p:cNvPr id="29" name="TextBox 28"/>
          <p:cNvSpPr txBox="1"/>
          <p:nvPr/>
        </p:nvSpPr>
        <p:spPr>
          <a:xfrm>
            <a:off x="1051560" y="6163056"/>
            <a:ext cx="10058400" cy="320040"/>
          </a:xfrm>
          <a:prstGeom prst="rect">
            <a:avLst/>
          </a:prstGeom>
          <a:noFill/>
        </p:spPr>
        <p:txBody>
          <a:bodyPr wrap="square" anchor="t" lIns="0" rIns="0" tIns="0" bIns="0">
            <a:spAutoFit/>
          </a:bodyPr>
          <a:lstStyle/>
          <a:p>
            <a:pPr algn="l">
              <a:lnSpc>
                <a:spcPct val="130000"/>
              </a:lnSpc>
            </a:pPr>
            <a:r>
              <a:rPr sz="1100" b="0">
                <a:solidFill>
                  <a:srgbClr val="1A1A1A"/>
                </a:solidFill>
                <a:latin typeface="Hiragino Sans"/>
                <a:ea typeface="Hiragino Sans"/>
                <a:cs typeface="Hiragino Sans"/>
              </a:rPr>
              <a:t>Tag Assistant で動作確認 → GA4 / Google Ads 両方でチェック</a:t>
            </a:r>
          </a:p>
        </p:txBody>
      </p:sp>
      <p:sp>
        <p:nvSpPr>
          <p:cNvPr id="30" name="TextBox 29"/>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Offline Conversions / Customer Match</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1PD (ファーストパーティデータ) で Google Ads を武装する</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P45 / 250</a:t>
            </a:r>
          </a:p>
        </p:txBody>
      </p:sp>
      <p:sp>
        <p:nvSpPr>
          <p:cNvPr id="8" name="Rounded Rectangle 7"/>
          <p:cNvSpPr/>
          <p:nvPr/>
        </p:nvSpPr>
        <p:spPr>
          <a:xfrm>
            <a:off x="548640" y="1417320"/>
            <a:ext cx="5486400" cy="4572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548640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600200"/>
            <a:ext cx="4937760" cy="502920"/>
          </a:xfrm>
          <a:prstGeom prst="rect">
            <a:avLst/>
          </a:prstGeom>
          <a:noFill/>
        </p:spPr>
        <p:txBody>
          <a:bodyPr wrap="square" anchor="t" lIns="0" rIns="0" tIns="0" bIns="0">
            <a:spAutoFit/>
          </a:bodyPr>
          <a:lstStyle/>
          <a:p>
            <a:pPr algn="l">
              <a:lnSpc>
                <a:spcPct val="120000"/>
              </a:lnSpc>
            </a:pPr>
            <a:r>
              <a:rPr sz="1600" b="1">
                <a:solidFill>
                  <a:srgbClr val="E87722"/>
                </a:solidFill>
                <a:latin typeface="Hiragino Sans"/>
                <a:ea typeface="Hiragino Sans"/>
                <a:cs typeface="Hiragino Sans"/>
              </a:rPr>
              <a:t>Offline Conversion Import (OCI)</a:t>
            </a:r>
          </a:p>
        </p:txBody>
      </p:sp>
      <p:sp>
        <p:nvSpPr>
          <p:cNvPr id="11" name="TextBox 10"/>
          <p:cNvSpPr txBox="1"/>
          <p:nvPr/>
        </p:nvSpPr>
        <p:spPr>
          <a:xfrm>
            <a:off x="822960" y="2331720"/>
            <a:ext cx="4937760" cy="1005840"/>
          </a:xfrm>
          <a:prstGeom prst="rect">
            <a:avLst/>
          </a:prstGeom>
          <a:noFill/>
        </p:spPr>
        <p:txBody>
          <a:bodyPr wrap="square" anchor="t" lIns="0" rIns="0" tIns="0" bIns="0">
            <a:spAutoFit/>
          </a:bodyPr>
          <a:lstStyle/>
          <a:p>
            <a:pPr algn="l">
              <a:lnSpc>
                <a:spcPct val="150000"/>
              </a:lnSpc>
            </a:pPr>
            <a:r>
              <a:rPr sz="1200" b="0">
                <a:solidFill>
                  <a:srgbClr val="1A1A1A"/>
                </a:solidFill>
                <a:latin typeface="Hiragino Sans"/>
                <a:ea typeface="Hiragino Sans"/>
                <a:cs typeface="Hiragino Sans"/>
              </a:rPr>
              <a:t>広告クリック → CRM上でクロージング</a:t>
            </a:r>
          </a:p>
          <a:p>
            <a:pPr algn="l">
              <a:lnSpc>
                <a:spcPct val="150000"/>
              </a:lnSpc>
            </a:pPr>
            <a:r>
              <a:rPr sz="1200" b="0">
                <a:solidFill>
                  <a:srgbClr val="1A1A1A"/>
                </a:solidFill>
                <a:latin typeface="Hiragino Sans"/>
                <a:ea typeface="Hiragino Sans"/>
                <a:cs typeface="Hiragino Sans"/>
              </a:rPr>
              <a:t>発生した売上・LTV を GCLID 紐付けで戻す</a:t>
            </a:r>
          </a:p>
        </p:txBody>
      </p:sp>
      <p:sp>
        <p:nvSpPr>
          <p:cNvPr id="12" name="Rectangle 11"/>
          <p:cNvSpPr/>
          <p:nvPr/>
        </p:nvSpPr>
        <p:spPr>
          <a:xfrm>
            <a:off x="822960" y="3383280"/>
            <a:ext cx="493776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520440"/>
            <a:ext cx="4937760" cy="274320"/>
          </a:xfrm>
          <a:prstGeom prst="rect">
            <a:avLst/>
          </a:prstGeom>
          <a:noFill/>
        </p:spPr>
        <p:txBody>
          <a:bodyPr wrap="square" anchor="t" lIns="0" rIns="0" tIns="0" bIns="0">
            <a:spAutoFit/>
          </a:bodyPr>
          <a:lstStyle/>
          <a:p>
            <a:pPr algn="l">
              <a:lnSpc>
                <a:spcPct val="115000"/>
              </a:lnSpc>
            </a:pPr>
            <a:r>
              <a:rPr sz="1100" b="1">
                <a:solidFill>
                  <a:srgbClr val="B85E1A"/>
                </a:solidFill>
                <a:latin typeface="Hiragino Sans"/>
                <a:ea typeface="Hiragino Sans"/>
                <a:cs typeface="Hiragino Sans"/>
              </a:rPr>
              <a:t>実装ポイント</a:t>
            </a:r>
          </a:p>
        </p:txBody>
      </p:sp>
      <p:sp>
        <p:nvSpPr>
          <p:cNvPr id="14" name="TextBox 13"/>
          <p:cNvSpPr txBox="1"/>
          <p:nvPr/>
        </p:nvSpPr>
        <p:spPr>
          <a:xfrm>
            <a:off x="822960" y="3840480"/>
            <a:ext cx="27432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a:t>
            </a:r>
          </a:p>
        </p:txBody>
      </p:sp>
      <p:sp>
        <p:nvSpPr>
          <p:cNvPr id="15" name="TextBox 14"/>
          <p:cNvSpPr txBox="1"/>
          <p:nvPr/>
        </p:nvSpPr>
        <p:spPr>
          <a:xfrm>
            <a:off x="1097280" y="3858768"/>
            <a:ext cx="4663440" cy="45720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Lead Gen / B2B で必須</a:t>
            </a:r>
          </a:p>
        </p:txBody>
      </p:sp>
      <p:sp>
        <p:nvSpPr>
          <p:cNvPr id="16" name="TextBox 15"/>
          <p:cNvSpPr txBox="1"/>
          <p:nvPr/>
        </p:nvSpPr>
        <p:spPr>
          <a:xfrm>
            <a:off x="822960" y="4297680"/>
            <a:ext cx="27432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a:t>
            </a:r>
          </a:p>
        </p:txBody>
      </p:sp>
      <p:sp>
        <p:nvSpPr>
          <p:cNvPr id="17" name="TextBox 16"/>
          <p:cNvSpPr txBox="1"/>
          <p:nvPr/>
        </p:nvSpPr>
        <p:spPr>
          <a:xfrm>
            <a:off x="1097280" y="4315968"/>
            <a:ext cx="4663440" cy="45720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Enhanced Conversions for Leads と並行実装</a:t>
            </a:r>
          </a:p>
        </p:txBody>
      </p:sp>
      <p:sp>
        <p:nvSpPr>
          <p:cNvPr id="18" name="TextBox 17"/>
          <p:cNvSpPr txBox="1"/>
          <p:nvPr/>
        </p:nvSpPr>
        <p:spPr>
          <a:xfrm>
            <a:off x="822960" y="4754880"/>
            <a:ext cx="27432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a:t>
            </a:r>
          </a:p>
        </p:txBody>
      </p:sp>
      <p:sp>
        <p:nvSpPr>
          <p:cNvPr id="19" name="TextBox 18"/>
          <p:cNvSpPr txBox="1"/>
          <p:nvPr/>
        </p:nvSpPr>
        <p:spPr>
          <a:xfrm>
            <a:off x="1097280" y="4773168"/>
            <a:ext cx="4663440" cy="45720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tROAS Bidding の基盤データ</a:t>
            </a:r>
          </a:p>
        </p:txBody>
      </p:sp>
      <p:sp>
        <p:nvSpPr>
          <p:cNvPr id="20" name="TextBox 19"/>
          <p:cNvSpPr txBox="1"/>
          <p:nvPr/>
        </p:nvSpPr>
        <p:spPr>
          <a:xfrm>
            <a:off x="822960" y="5212080"/>
            <a:ext cx="27432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a:t>
            </a:r>
          </a:p>
        </p:txBody>
      </p:sp>
      <p:sp>
        <p:nvSpPr>
          <p:cNvPr id="21" name="TextBox 20"/>
          <p:cNvSpPr txBox="1"/>
          <p:nvPr/>
        </p:nvSpPr>
        <p:spPr>
          <a:xfrm>
            <a:off x="1097280" y="5230368"/>
            <a:ext cx="4663440" cy="45720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週次 or 日次でアップロード</a:t>
            </a:r>
          </a:p>
        </p:txBody>
      </p:sp>
      <p:sp>
        <p:nvSpPr>
          <p:cNvPr id="22" name="Rounded Rectangle 21"/>
          <p:cNvSpPr/>
          <p:nvPr/>
        </p:nvSpPr>
        <p:spPr>
          <a:xfrm>
            <a:off x="6172200" y="1417320"/>
            <a:ext cx="5486400" cy="4572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2200" y="1417320"/>
            <a:ext cx="548640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46520" y="1600200"/>
            <a:ext cx="4937760" cy="502920"/>
          </a:xfrm>
          <a:prstGeom prst="rect">
            <a:avLst/>
          </a:prstGeom>
          <a:noFill/>
        </p:spPr>
        <p:txBody>
          <a:bodyPr wrap="square" anchor="t" lIns="0" rIns="0" tIns="0" bIns="0">
            <a:spAutoFit/>
          </a:bodyPr>
          <a:lstStyle/>
          <a:p>
            <a:pPr algn="l">
              <a:lnSpc>
                <a:spcPct val="120000"/>
              </a:lnSpc>
            </a:pPr>
            <a:r>
              <a:rPr sz="1600" b="1">
                <a:solidFill>
                  <a:srgbClr val="E87722"/>
                </a:solidFill>
                <a:latin typeface="Hiragino Sans"/>
                <a:ea typeface="Hiragino Sans"/>
                <a:cs typeface="Hiragino Sans"/>
              </a:rPr>
              <a:t>Customer Match</a:t>
            </a:r>
          </a:p>
        </p:txBody>
      </p:sp>
      <p:sp>
        <p:nvSpPr>
          <p:cNvPr id="25" name="TextBox 24"/>
          <p:cNvSpPr txBox="1"/>
          <p:nvPr/>
        </p:nvSpPr>
        <p:spPr>
          <a:xfrm>
            <a:off x="6446520" y="2331720"/>
            <a:ext cx="4937760" cy="1005840"/>
          </a:xfrm>
          <a:prstGeom prst="rect">
            <a:avLst/>
          </a:prstGeom>
          <a:noFill/>
        </p:spPr>
        <p:txBody>
          <a:bodyPr wrap="square" anchor="t" lIns="0" rIns="0" tIns="0" bIns="0">
            <a:spAutoFit/>
          </a:bodyPr>
          <a:lstStyle/>
          <a:p>
            <a:pPr algn="l">
              <a:lnSpc>
                <a:spcPct val="150000"/>
              </a:lnSpc>
            </a:pPr>
            <a:r>
              <a:rPr sz="1200" b="0">
                <a:solidFill>
                  <a:srgbClr val="1A1A1A"/>
                </a:solidFill>
                <a:latin typeface="Hiragino Sans"/>
                <a:ea typeface="Hiragino Sans"/>
                <a:cs typeface="Hiragino Sans"/>
              </a:rPr>
              <a:t>既存顧客リスト (Email/電話) を Google にアップ</a:t>
            </a:r>
          </a:p>
          <a:p>
            <a:pPr algn="l">
              <a:lnSpc>
                <a:spcPct val="150000"/>
              </a:lnSpc>
            </a:pPr>
            <a:r>
              <a:rPr sz="1200" b="0">
                <a:solidFill>
                  <a:srgbClr val="1A1A1A"/>
                </a:solidFill>
                <a:latin typeface="Hiragino Sans"/>
                <a:ea typeface="Hiragino Sans"/>
                <a:cs typeface="Hiragino Sans"/>
              </a:rPr>
              <a:t>既存ユーザーへのターゲティング / 除外 / Lookalike</a:t>
            </a:r>
          </a:p>
        </p:txBody>
      </p:sp>
      <p:sp>
        <p:nvSpPr>
          <p:cNvPr id="26" name="Rectangle 25"/>
          <p:cNvSpPr/>
          <p:nvPr/>
        </p:nvSpPr>
        <p:spPr>
          <a:xfrm>
            <a:off x="6446520" y="3383280"/>
            <a:ext cx="493776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46520" y="3520440"/>
            <a:ext cx="4937760" cy="274320"/>
          </a:xfrm>
          <a:prstGeom prst="rect">
            <a:avLst/>
          </a:prstGeom>
          <a:noFill/>
        </p:spPr>
        <p:txBody>
          <a:bodyPr wrap="square" anchor="t" lIns="0" rIns="0" tIns="0" bIns="0">
            <a:spAutoFit/>
          </a:bodyPr>
          <a:lstStyle/>
          <a:p>
            <a:pPr algn="l">
              <a:lnSpc>
                <a:spcPct val="115000"/>
              </a:lnSpc>
            </a:pPr>
            <a:r>
              <a:rPr sz="1100" b="1">
                <a:solidFill>
                  <a:srgbClr val="B85E1A"/>
                </a:solidFill>
                <a:latin typeface="Hiragino Sans"/>
                <a:ea typeface="Hiragino Sans"/>
                <a:cs typeface="Hiragino Sans"/>
              </a:rPr>
              <a:t>実装ポイント</a:t>
            </a:r>
          </a:p>
        </p:txBody>
      </p:sp>
      <p:sp>
        <p:nvSpPr>
          <p:cNvPr id="28" name="TextBox 27"/>
          <p:cNvSpPr txBox="1"/>
          <p:nvPr/>
        </p:nvSpPr>
        <p:spPr>
          <a:xfrm>
            <a:off x="6446520" y="3840480"/>
            <a:ext cx="27432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a:t>
            </a:r>
          </a:p>
        </p:txBody>
      </p:sp>
      <p:sp>
        <p:nvSpPr>
          <p:cNvPr id="29" name="TextBox 28"/>
          <p:cNvSpPr txBox="1"/>
          <p:nvPr/>
        </p:nvSpPr>
        <p:spPr>
          <a:xfrm>
            <a:off x="6720840" y="3858768"/>
            <a:ext cx="4663440" cy="45720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ハッシュ化して送信 (SHA-256)</a:t>
            </a:r>
          </a:p>
        </p:txBody>
      </p:sp>
      <p:sp>
        <p:nvSpPr>
          <p:cNvPr id="30" name="TextBox 29"/>
          <p:cNvSpPr txBox="1"/>
          <p:nvPr/>
        </p:nvSpPr>
        <p:spPr>
          <a:xfrm>
            <a:off x="6446520" y="4297680"/>
            <a:ext cx="27432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a:t>
            </a:r>
          </a:p>
        </p:txBody>
      </p:sp>
      <p:sp>
        <p:nvSpPr>
          <p:cNvPr id="31" name="TextBox 30"/>
          <p:cNvSpPr txBox="1"/>
          <p:nvPr/>
        </p:nvSpPr>
        <p:spPr>
          <a:xfrm>
            <a:off x="6720840" y="4315968"/>
            <a:ext cx="4663440" cy="45720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最低 100マッチ 必要 (媒体条件による)</a:t>
            </a:r>
          </a:p>
        </p:txBody>
      </p:sp>
      <p:sp>
        <p:nvSpPr>
          <p:cNvPr id="32" name="TextBox 31"/>
          <p:cNvSpPr txBox="1"/>
          <p:nvPr/>
        </p:nvSpPr>
        <p:spPr>
          <a:xfrm>
            <a:off x="6446520" y="4754880"/>
            <a:ext cx="27432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a:t>
            </a:r>
          </a:p>
        </p:txBody>
      </p:sp>
      <p:sp>
        <p:nvSpPr>
          <p:cNvPr id="33" name="TextBox 32"/>
          <p:cNvSpPr txBox="1"/>
          <p:nvPr/>
        </p:nvSpPr>
        <p:spPr>
          <a:xfrm>
            <a:off x="6720840" y="4773168"/>
            <a:ext cx="4663440" cy="45720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CRM → API 直接連携が現代的</a:t>
            </a:r>
          </a:p>
        </p:txBody>
      </p:sp>
      <p:sp>
        <p:nvSpPr>
          <p:cNvPr id="34" name="TextBox 33"/>
          <p:cNvSpPr txBox="1"/>
          <p:nvPr/>
        </p:nvSpPr>
        <p:spPr>
          <a:xfrm>
            <a:off x="6446520" y="5212080"/>
            <a:ext cx="27432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a:t>
            </a:r>
          </a:p>
        </p:txBody>
      </p:sp>
      <p:sp>
        <p:nvSpPr>
          <p:cNvPr id="35" name="TextBox 34"/>
          <p:cNvSpPr txBox="1"/>
          <p:nvPr/>
        </p:nvSpPr>
        <p:spPr>
          <a:xfrm>
            <a:off x="6720840" y="5230368"/>
            <a:ext cx="4663440" cy="45720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PMax の Audience Signal でも活用</a:t>
            </a:r>
          </a:p>
        </p:txBody>
      </p:sp>
      <p:sp>
        <p:nvSpPr>
          <p:cNvPr id="36" name="TextBox 35"/>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Value-based Bidding (VBB)</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売上金額・LTV で入札する現代の標準</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P46 / 250</a:t>
            </a:r>
          </a:p>
        </p:txBody>
      </p:sp>
      <p:sp>
        <p:nvSpPr>
          <p:cNvPr id="8" name="Rounded Rectangle 7"/>
          <p:cNvSpPr/>
          <p:nvPr/>
        </p:nvSpPr>
        <p:spPr>
          <a:xfrm>
            <a:off x="548640" y="1371600"/>
            <a:ext cx="11109960" cy="82296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08760"/>
            <a:ext cx="10972800" cy="640080"/>
          </a:xfrm>
          <a:prstGeom prst="rect">
            <a:avLst/>
          </a:prstGeom>
          <a:noFill/>
        </p:spPr>
        <p:txBody>
          <a:bodyPr wrap="square" anchor="t" lIns="0" rIns="0" tIns="0" bIns="0">
            <a:spAutoFit/>
          </a:bodyPr>
          <a:lstStyle/>
          <a:p>
            <a:pPr algn="l">
              <a:lnSpc>
                <a:spcPct val="150000"/>
              </a:lnSpc>
            </a:pPr>
            <a:r>
              <a:rPr sz="1200" b="0">
                <a:solidFill>
                  <a:srgbClr val="FFFFFF"/>
                </a:solidFill>
                <a:latin typeface="Hiragino Sans"/>
                <a:ea typeface="Hiragino Sans"/>
                <a:cs typeface="Hiragino Sans"/>
              </a:rPr>
              <a:t>コンバージョン 1件ごとに『価値』を送信し、tROAS (Target ROAS) で入札。</a:t>
            </a:r>
          </a:p>
          <a:p>
            <a:pPr algn="l">
              <a:lnSpc>
                <a:spcPct val="150000"/>
              </a:lnSpc>
            </a:pPr>
            <a:r>
              <a:rPr sz="1200" b="0">
                <a:solidFill>
                  <a:srgbClr val="FFFFFF"/>
                </a:solidFill>
                <a:latin typeface="Hiragino Sans"/>
                <a:ea typeface="Hiragino Sans"/>
                <a:cs typeface="Hiragino Sans"/>
              </a:rPr>
              <a:t>同じCVでも高LTV顧客・高利益商品を重視して配信できる</a:t>
            </a:r>
          </a:p>
        </p:txBody>
      </p:sp>
      <p:sp>
        <p:nvSpPr>
          <p:cNvPr id="10" name="TextBox 9"/>
          <p:cNvSpPr txBox="1"/>
          <p:nvPr/>
        </p:nvSpPr>
        <p:spPr>
          <a:xfrm>
            <a:off x="548640" y="2377440"/>
            <a:ext cx="1097280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従来の CV ベース vs Value ベース</a:t>
            </a:r>
          </a:p>
        </p:txBody>
      </p:sp>
      <p:sp>
        <p:nvSpPr>
          <p:cNvPr id="11" name="Rectangle 10"/>
          <p:cNvSpPr/>
          <p:nvPr/>
        </p:nvSpPr>
        <p:spPr>
          <a:xfrm>
            <a:off x="548640" y="2788920"/>
            <a:ext cx="11109960" cy="45720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880360"/>
            <a:ext cx="2560320" cy="274320"/>
          </a:xfrm>
          <a:prstGeom prst="rect">
            <a:avLst/>
          </a:prstGeom>
          <a:noFill/>
        </p:spPr>
        <p:txBody>
          <a:bodyPr wrap="square" anchor="t" lIns="0" rIns="0" tIns="0" bIns="0">
            <a:spAutoFit/>
          </a:bodyPr>
          <a:lstStyle/>
          <a:p>
            <a:pPr algn="l">
              <a:lnSpc>
                <a:spcPct val="115000"/>
              </a:lnSpc>
            </a:pPr>
            <a:r>
              <a:rPr sz="1100" b="1">
                <a:solidFill>
                  <a:srgbClr val="FFFFFF"/>
                </a:solidFill>
                <a:latin typeface="Hiragino Sans"/>
                <a:ea typeface="Hiragino Sans"/>
                <a:cs typeface="Hiragino Sans"/>
              </a:rPr>
              <a:t>観点</a:t>
            </a:r>
          </a:p>
        </p:txBody>
      </p:sp>
      <p:sp>
        <p:nvSpPr>
          <p:cNvPr id="13" name="TextBox 12"/>
          <p:cNvSpPr txBox="1"/>
          <p:nvPr/>
        </p:nvSpPr>
        <p:spPr>
          <a:xfrm>
            <a:off x="3429000" y="2880360"/>
            <a:ext cx="4023360" cy="274320"/>
          </a:xfrm>
          <a:prstGeom prst="rect">
            <a:avLst/>
          </a:prstGeom>
          <a:noFill/>
        </p:spPr>
        <p:txBody>
          <a:bodyPr wrap="square" anchor="t" lIns="0" rIns="0" tIns="0" bIns="0">
            <a:spAutoFit/>
          </a:bodyPr>
          <a:lstStyle/>
          <a:p>
            <a:pPr algn="l">
              <a:lnSpc>
                <a:spcPct val="115000"/>
              </a:lnSpc>
            </a:pPr>
            <a:r>
              <a:rPr sz="1100" b="1">
                <a:solidFill>
                  <a:srgbClr val="FFFFFF"/>
                </a:solidFill>
                <a:latin typeface="Hiragino Sans"/>
                <a:ea typeface="Hiragino Sans"/>
                <a:cs typeface="Hiragino Sans"/>
              </a:rPr>
              <a:t>CV件数ベース</a:t>
            </a:r>
          </a:p>
        </p:txBody>
      </p:sp>
      <p:sp>
        <p:nvSpPr>
          <p:cNvPr id="14" name="TextBox 13"/>
          <p:cNvSpPr txBox="1"/>
          <p:nvPr/>
        </p:nvSpPr>
        <p:spPr>
          <a:xfrm>
            <a:off x="7635239" y="2880360"/>
            <a:ext cx="3977640" cy="274320"/>
          </a:xfrm>
          <a:prstGeom prst="rect">
            <a:avLst/>
          </a:prstGeom>
          <a:noFill/>
        </p:spPr>
        <p:txBody>
          <a:bodyPr wrap="square" anchor="t" lIns="0" rIns="0" tIns="0" bIns="0">
            <a:spAutoFit/>
          </a:bodyPr>
          <a:lstStyle/>
          <a:p>
            <a:pPr algn="l">
              <a:lnSpc>
                <a:spcPct val="115000"/>
              </a:lnSpc>
            </a:pPr>
            <a:r>
              <a:rPr sz="1100" b="1">
                <a:solidFill>
                  <a:srgbClr val="FFFFFF"/>
                </a:solidFill>
                <a:latin typeface="Hiragino Sans"/>
                <a:ea typeface="Hiragino Sans"/>
                <a:cs typeface="Hiragino Sans"/>
              </a:rPr>
              <a:t>Value ベース (VBB)</a:t>
            </a:r>
          </a:p>
        </p:txBody>
      </p:sp>
      <p:sp>
        <p:nvSpPr>
          <p:cNvPr id="15" name="Rectangle 14"/>
          <p:cNvSpPr/>
          <p:nvPr/>
        </p:nvSpPr>
        <p:spPr>
          <a:xfrm>
            <a:off x="548640" y="3246120"/>
            <a:ext cx="11109960" cy="457200"/>
          </a:xfrm>
          <a:prstGeom prst="rect">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364992"/>
            <a:ext cx="2560320" cy="274320"/>
          </a:xfrm>
          <a:prstGeom prst="rect">
            <a:avLst/>
          </a:prstGeom>
          <a:noFill/>
        </p:spPr>
        <p:txBody>
          <a:bodyPr wrap="square" anchor="t" lIns="0" rIns="0" tIns="0" bIns="0">
            <a:spAutoFit/>
          </a:bodyPr>
          <a:lstStyle/>
          <a:p>
            <a:pPr algn="l">
              <a:lnSpc>
                <a:spcPct val="130000"/>
              </a:lnSpc>
            </a:pPr>
            <a:r>
              <a:rPr sz="1100" b="1">
                <a:solidFill>
                  <a:srgbClr val="0F2A4F"/>
                </a:solidFill>
                <a:latin typeface="Hiragino Sans"/>
                <a:ea typeface="Hiragino Sans"/>
                <a:cs typeface="Hiragino Sans"/>
              </a:rPr>
              <a:t>評価軸</a:t>
            </a:r>
          </a:p>
        </p:txBody>
      </p:sp>
      <p:sp>
        <p:nvSpPr>
          <p:cNvPr id="17" name="TextBox 16"/>
          <p:cNvSpPr txBox="1"/>
          <p:nvPr/>
        </p:nvSpPr>
        <p:spPr>
          <a:xfrm>
            <a:off x="3429000" y="3364992"/>
            <a:ext cx="4023360" cy="274320"/>
          </a:xfrm>
          <a:prstGeom prst="rect">
            <a:avLst/>
          </a:prstGeom>
          <a:noFill/>
        </p:spPr>
        <p:txBody>
          <a:bodyPr wrap="square" anchor="t" lIns="0" rIns="0" tIns="0" bIns="0">
            <a:spAutoFit/>
          </a:bodyPr>
          <a:lstStyle/>
          <a:p>
            <a:pPr algn="l">
              <a:lnSpc>
                <a:spcPct val="130000"/>
              </a:lnSpc>
            </a:pPr>
            <a:r>
              <a:rPr sz="1100" b="0">
                <a:solidFill>
                  <a:srgbClr val="1A1A1A"/>
                </a:solidFill>
                <a:latin typeface="Hiragino Sans"/>
                <a:ea typeface="Hiragino Sans"/>
                <a:cs typeface="Hiragino Sans"/>
              </a:rPr>
              <a:t>CV件数 (tCPA / MaxConv)</a:t>
            </a:r>
          </a:p>
        </p:txBody>
      </p:sp>
      <p:sp>
        <p:nvSpPr>
          <p:cNvPr id="18" name="TextBox 17"/>
          <p:cNvSpPr txBox="1"/>
          <p:nvPr/>
        </p:nvSpPr>
        <p:spPr>
          <a:xfrm>
            <a:off x="7635239" y="3364992"/>
            <a:ext cx="3977640" cy="274320"/>
          </a:xfrm>
          <a:prstGeom prst="rect">
            <a:avLst/>
          </a:prstGeom>
          <a:noFill/>
        </p:spPr>
        <p:txBody>
          <a:bodyPr wrap="square" anchor="t" lIns="0" rIns="0" tIns="0" bIns="0">
            <a:spAutoFit/>
          </a:bodyPr>
          <a:lstStyle/>
          <a:p>
            <a:pPr algn="l">
              <a:lnSpc>
                <a:spcPct val="130000"/>
              </a:lnSpc>
            </a:pPr>
            <a:r>
              <a:rPr sz="1100" b="0">
                <a:solidFill>
                  <a:srgbClr val="1A1A1A"/>
                </a:solidFill>
                <a:latin typeface="Hiragino Sans"/>
                <a:ea typeface="Hiragino Sans"/>
                <a:cs typeface="Hiragino Sans"/>
              </a:rPr>
              <a:t>CV値 / 売上 (tROAS / MaxValue)</a:t>
            </a:r>
          </a:p>
        </p:txBody>
      </p:sp>
      <p:sp>
        <p:nvSpPr>
          <p:cNvPr id="19" name="Rectangle 18"/>
          <p:cNvSpPr/>
          <p:nvPr/>
        </p:nvSpPr>
        <p:spPr>
          <a:xfrm>
            <a:off x="548640" y="3749040"/>
            <a:ext cx="11109960" cy="457200"/>
          </a:xfrm>
          <a:prstGeom prst="rect">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3867912"/>
            <a:ext cx="2560320" cy="274320"/>
          </a:xfrm>
          <a:prstGeom prst="rect">
            <a:avLst/>
          </a:prstGeom>
          <a:noFill/>
        </p:spPr>
        <p:txBody>
          <a:bodyPr wrap="square" anchor="t" lIns="0" rIns="0" tIns="0" bIns="0">
            <a:spAutoFit/>
          </a:bodyPr>
          <a:lstStyle/>
          <a:p>
            <a:pPr algn="l">
              <a:lnSpc>
                <a:spcPct val="130000"/>
              </a:lnSpc>
            </a:pPr>
            <a:r>
              <a:rPr sz="1100" b="1">
                <a:solidFill>
                  <a:srgbClr val="0F2A4F"/>
                </a:solidFill>
                <a:latin typeface="Hiragino Sans"/>
                <a:ea typeface="Hiragino Sans"/>
                <a:cs typeface="Hiragino Sans"/>
              </a:rPr>
              <a:t>最適化対象</a:t>
            </a:r>
          </a:p>
        </p:txBody>
      </p:sp>
      <p:sp>
        <p:nvSpPr>
          <p:cNvPr id="21" name="TextBox 20"/>
          <p:cNvSpPr txBox="1"/>
          <p:nvPr/>
        </p:nvSpPr>
        <p:spPr>
          <a:xfrm>
            <a:off x="3429000" y="3867912"/>
            <a:ext cx="4023360" cy="274320"/>
          </a:xfrm>
          <a:prstGeom prst="rect">
            <a:avLst/>
          </a:prstGeom>
          <a:noFill/>
        </p:spPr>
        <p:txBody>
          <a:bodyPr wrap="square" anchor="t" lIns="0" rIns="0" tIns="0" bIns="0">
            <a:spAutoFit/>
          </a:bodyPr>
          <a:lstStyle/>
          <a:p>
            <a:pPr algn="l">
              <a:lnSpc>
                <a:spcPct val="130000"/>
              </a:lnSpc>
            </a:pPr>
            <a:r>
              <a:rPr sz="1100" b="0">
                <a:solidFill>
                  <a:srgbClr val="1A1A1A"/>
                </a:solidFill>
                <a:latin typeface="Hiragino Sans"/>
                <a:ea typeface="Hiragino Sans"/>
                <a:cs typeface="Hiragino Sans"/>
              </a:rPr>
              <a:t>低単価CVの大量獲得</a:t>
            </a:r>
          </a:p>
        </p:txBody>
      </p:sp>
      <p:sp>
        <p:nvSpPr>
          <p:cNvPr id="22" name="TextBox 21"/>
          <p:cNvSpPr txBox="1"/>
          <p:nvPr/>
        </p:nvSpPr>
        <p:spPr>
          <a:xfrm>
            <a:off x="7635239" y="3867912"/>
            <a:ext cx="3977640" cy="274320"/>
          </a:xfrm>
          <a:prstGeom prst="rect">
            <a:avLst/>
          </a:prstGeom>
          <a:noFill/>
        </p:spPr>
        <p:txBody>
          <a:bodyPr wrap="square" anchor="t" lIns="0" rIns="0" tIns="0" bIns="0">
            <a:spAutoFit/>
          </a:bodyPr>
          <a:lstStyle/>
          <a:p>
            <a:pPr algn="l">
              <a:lnSpc>
                <a:spcPct val="130000"/>
              </a:lnSpc>
            </a:pPr>
            <a:r>
              <a:rPr sz="1100" b="0">
                <a:solidFill>
                  <a:srgbClr val="1A1A1A"/>
                </a:solidFill>
                <a:latin typeface="Hiragino Sans"/>
                <a:ea typeface="Hiragino Sans"/>
                <a:cs typeface="Hiragino Sans"/>
              </a:rPr>
              <a:t>高LTV・高利益のCVに偏重</a:t>
            </a:r>
          </a:p>
        </p:txBody>
      </p:sp>
      <p:sp>
        <p:nvSpPr>
          <p:cNvPr id="23" name="Rectangle 22"/>
          <p:cNvSpPr/>
          <p:nvPr/>
        </p:nvSpPr>
        <p:spPr>
          <a:xfrm>
            <a:off x="548640" y="4251960"/>
            <a:ext cx="11109960" cy="457200"/>
          </a:xfrm>
          <a:prstGeom prst="rect">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4370832"/>
            <a:ext cx="2560320" cy="274320"/>
          </a:xfrm>
          <a:prstGeom prst="rect">
            <a:avLst/>
          </a:prstGeom>
          <a:noFill/>
        </p:spPr>
        <p:txBody>
          <a:bodyPr wrap="square" anchor="t" lIns="0" rIns="0" tIns="0" bIns="0">
            <a:spAutoFit/>
          </a:bodyPr>
          <a:lstStyle/>
          <a:p>
            <a:pPr algn="l">
              <a:lnSpc>
                <a:spcPct val="130000"/>
              </a:lnSpc>
            </a:pPr>
            <a:r>
              <a:rPr sz="1100" b="1">
                <a:solidFill>
                  <a:srgbClr val="0F2A4F"/>
                </a:solidFill>
                <a:latin typeface="Hiragino Sans"/>
                <a:ea typeface="Hiragino Sans"/>
                <a:cs typeface="Hiragino Sans"/>
              </a:rPr>
              <a:t>データ要件</a:t>
            </a:r>
          </a:p>
        </p:txBody>
      </p:sp>
      <p:sp>
        <p:nvSpPr>
          <p:cNvPr id="25" name="TextBox 24"/>
          <p:cNvSpPr txBox="1"/>
          <p:nvPr/>
        </p:nvSpPr>
        <p:spPr>
          <a:xfrm>
            <a:off x="3429000" y="4370832"/>
            <a:ext cx="4023360" cy="274320"/>
          </a:xfrm>
          <a:prstGeom prst="rect">
            <a:avLst/>
          </a:prstGeom>
          <a:noFill/>
        </p:spPr>
        <p:txBody>
          <a:bodyPr wrap="square" anchor="t" lIns="0" rIns="0" tIns="0" bIns="0">
            <a:spAutoFit/>
          </a:bodyPr>
          <a:lstStyle/>
          <a:p>
            <a:pPr algn="l">
              <a:lnSpc>
                <a:spcPct val="130000"/>
              </a:lnSpc>
            </a:pPr>
            <a:r>
              <a:rPr sz="1100" b="0">
                <a:solidFill>
                  <a:srgbClr val="1A1A1A"/>
                </a:solidFill>
                <a:latin typeface="Hiragino Sans"/>
                <a:ea typeface="Hiragino Sans"/>
                <a:cs typeface="Hiragino Sans"/>
              </a:rPr>
              <a:t>CV発生のみ</a:t>
            </a:r>
          </a:p>
        </p:txBody>
      </p:sp>
      <p:sp>
        <p:nvSpPr>
          <p:cNvPr id="26" name="TextBox 25"/>
          <p:cNvSpPr txBox="1"/>
          <p:nvPr/>
        </p:nvSpPr>
        <p:spPr>
          <a:xfrm>
            <a:off x="7635239" y="4370832"/>
            <a:ext cx="3977640" cy="274320"/>
          </a:xfrm>
          <a:prstGeom prst="rect">
            <a:avLst/>
          </a:prstGeom>
          <a:noFill/>
        </p:spPr>
        <p:txBody>
          <a:bodyPr wrap="square" anchor="t" lIns="0" rIns="0" tIns="0" bIns="0">
            <a:spAutoFit/>
          </a:bodyPr>
          <a:lstStyle/>
          <a:p>
            <a:pPr algn="l">
              <a:lnSpc>
                <a:spcPct val="130000"/>
              </a:lnSpc>
            </a:pPr>
            <a:r>
              <a:rPr sz="1100" b="0">
                <a:solidFill>
                  <a:srgbClr val="1A1A1A"/>
                </a:solidFill>
                <a:latin typeface="Hiragino Sans"/>
                <a:ea typeface="Hiragino Sans"/>
                <a:cs typeface="Hiragino Sans"/>
              </a:rPr>
              <a:t>CV + 値 (購入金額 / LTV推定値)</a:t>
            </a:r>
          </a:p>
        </p:txBody>
      </p:sp>
      <p:sp>
        <p:nvSpPr>
          <p:cNvPr id="27" name="Rectangle 26"/>
          <p:cNvSpPr/>
          <p:nvPr/>
        </p:nvSpPr>
        <p:spPr>
          <a:xfrm>
            <a:off x="548640" y="4754880"/>
            <a:ext cx="11109960" cy="457200"/>
          </a:xfrm>
          <a:prstGeom prst="rect">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873752"/>
            <a:ext cx="2560320" cy="274320"/>
          </a:xfrm>
          <a:prstGeom prst="rect">
            <a:avLst/>
          </a:prstGeom>
          <a:noFill/>
        </p:spPr>
        <p:txBody>
          <a:bodyPr wrap="square" anchor="t" lIns="0" rIns="0" tIns="0" bIns="0">
            <a:spAutoFit/>
          </a:bodyPr>
          <a:lstStyle/>
          <a:p>
            <a:pPr algn="l">
              <a:lnSpc>
                <a:spcPct val="130000"/>
              </a:lnSpc>
            </a:pPr>
            <a:r>
              <a:rPr sz="1100" b="1">
                <a:solidFill>
                  <a:srgbClr val="0F2A4F"/>
                </a:solidFill>
                <a:latin typeface="Hiragino Sans"/>
                <a:ea typeface="Hiragino Sans"/>
                <a:cs typeface="Hiragino Sans"/>
              </a:rPr>
              <a:t>おすすめ業種</a:t>
            </a:r>
          </a:p>
        </p:txBody>
      </p:sp>
      <p:sp>
        <p:nvSpPr>
          <p:cNvPr id="29" name="TextBox 28"/>
          <p:cNvSpPr txBox="1"/>
          <p:nvPr/>
        </p:nvSpPr>
        <p:spPr>
          <a:xfrm>
            <a:off x="3429000" y="4873752"/>
            <a:ext cx="4023360" cy="274320"/>
          </a:xfrm>
          <a:prstGeom prst="rect">
            <a:avLst/>
          </a:prstGeom>
          <a:noFill/>
        </p:spPr>
        <p:txBody>
          <a:bodyPr wrap="square" anchor="t" lIns="0" rIns="0" tIns="0" bIns="0">
            <a:spAutoFit/>
          </a:bodyPr>
          <a:lstStyle/>
          <a:p>
            <a:pPr algn="l">
              <a:lnSpc>
                <a:spcPct val="130000"/>
              </a:lnSpc>
            </a:pPr>
            <a:r>
              <a:rPr sz="1100" b="0">
                <a:solidFill>
                  <a:srgbClr val="1A1A1A"/>
                </a:solidFill>
                <a:latin typeface="Hiragino Sans"/>
                <a:ea typeface="Hiragino Sans"/>
                <a:cs typeface="Hiragino Sans"/>
              </a:rPr>
              <a:t>リード獲得 / 新規</a:t>
            </a:r>
          </a:p>
        </p:txBody>
      </p:sp>
      <p:sp>
        <p:nvSpPr>
          <p:cNvPr id="30" name="TextBox 29"/>
          <p:cNvSpPr txBox="1"/>
          <p:nvPr/>
        </p:nvSpPr>
        <p:spPr>
          <a:xfrm>
            <a:off x="7635239" y="4873752"/>
            <a:ext cx="3977640" cy="274320"/>
          </a:xfrm>
          <a:prstGeom prst="rect">
            <a:avLst/>
          </a:prstGeom>
          <a:noFill/>
        </p:spPr>
        <p:txBody>
          <a:bodyPr wrap="square" anchor="t" lIns="0" rIns="0" tIns="0" bIns="0">
            <a:spAutoFit/>
          </a:bodyPr>
          <a:lstStyle/>
          <a:p>
            <a:pPr algn="l">
              <a:lnSpc>
                <a:spcPct val="130000"/>
              </a:lnSpc>
            </a:pPr>
            <a:r>
              <a:rPr sz="1100" b="0">
                <a:solidFill>
                  <a:srgbClr val="1A1A1A"/>
                </a:solidFill>
                <a:latin typeface="Hiragino Sans"/>
                <a:ea typeface="Hiragino Sans"/>
                <a:cs typeface="Hiragino Sans"/>
              </a:rPr>
              <a:t>EC / SaaS / 高単価商材</a:t>
            </a:r>
          </a:p>
        </p:txBody>
      </p:sp>
      <p:sp>
        <p:nvSpPr>
          <p:cNvPr id="31" name="Rectangle 30"/>
          <p:cNvSpPr/>
          <p:nvPr/>
        </p:nvSpPr>
        <p:spPr>
          <a:xfrm>
            <a:off x="548640" y="5257800"/>
            <a:ext cx="11109960" cy="457200"/>
          </a:xfrm>
          <a:prstGeom prst="rect">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5800" y="5376672"/>
            <a:ext cx="2560320" cy="274320"/>
          </a:xfrm>
          <a:prstGeom prst="rect">
            <a:avLst/>
          </a:prstGeom>
          <a:noFill/>
        </p:spPr>
        <p:txBody>
          <a:bodyPr wrap="square" anchor="t" lIns="0" rIns="0" tIns="0" bIns="0">
            <a:spAutoFit/>
          </a:bodyPr>
          <a:lstStyle/>
          <a:p>
            <a:pPr algn="l">
              <a:lnSpc>
                <a:spcPct val="130000"/>
              </a:lnSpc>
            </a:pPr>
            <a:r>
              <a:rPr sz="1100" b="1">
                <a:solidFill>
                  <a:srgbClr val="0F2A4F"/>
                </a:solidFill>
                <a:latin typeface="Hiragino Sans"/>
                <a:ea typeface="Hiragino Sans"/>
                <a:cs typeface="Hiragino Sans"/>
              </a:rPr>
              <a:t>導入難易度</a:t>
            </a:r>
          </a:p>
        </p:txBody>
      </p:sp>
      <p:sp>
        <p:nvSpPr>
          <p:cNvPr id="33" name="TextBox 32"/>
          <p:cNvSpPr txBox="1"/>
          <p:nvPr/>
        </p:nvSpPr>
        <p:spPr>
          <a:xfrm>
            <a:off x="3429000" y="5376672"/>
            <a:ext cx="4023360" cy="274320"/>
          </a:xfrm>
          <a:prstGeom prst="rect">
            <a:avLst/>
          </a:prstGeom>
          <a:noFill/>
        </p:spPr>
        <p:txBody>
          <a:bodyPr wrap="square" anchor="t" lIns="0" rIns="0" tIns="0" bIns="0">
            <a:spAutoFit/>
          </a:bodyPr>
          <a:lstStyle/>
          <a:p>
            <a:pPr algn="l">
              <a:lnSpc>
                <a:spcPct val="130000"/>
              </a:lnSpc>
            </a:pPr>
            <a:r>
              <a:rPr sz="1100" b="0">
                <a:solidFill>
                  <a:srgbClr val="1A1A1A"/>
                </a:solidFill>
                <a:latin typeface="Hiragino Sans"/>
                <a:ea typeface="Hiragino Sans"/>
                <a:cs typeface="Hiragino Sans"/>
              </a:rPr>
              <a:t>低 (基本構成)</a:t>
            </a:r>
          </a:p>
        </p:txBody>
      </p:sp>
      <p:sp>
        <p:nvSpPr>
          <p:cNvPr id="34" name="TextBox 33"/>
          <p:cNvSpPr txBox="1"/>
          <p:nvPr/>
        </p:nvSpPr>
        <p:spPr>
          <a:xfrm>
            <a:off x="7635239" y="5376672"/>
            <a:ext cx="3977640" cy="274320"/>
          </a:xfrm>
          <a:prstGeom prst="rect">
            <a:avLst/>
          </a:prstGeom>
          <a:noFill/>
        </p:spPr>
        <p:txBody>
          <a:bodyPr wrap="square" anchor="t" lIns="0" rIns="0" tIns="0" bIns="0">
            <a:spAutoFit/>
          </a:bodyPr>
          <a:lstStyle/>
          <a:p>
            <a:pPr algn="l">
              <a:lnSpc>
                <a:spcPct val="130000"/>
              </a:lnSpc>
            </a:pPr>
            <a:r>
              <a:rPr sz="1100" b="0">
                <a:solidFill>
                  <a:srgbClr val="1A1A1A"/>
                </a:solidFill>
                <a:latin typeface="Hiragino Sans"/>
                <a:ea typeface="Hiragino Sans"/>
                <a:cs typeface="Hiragino Sans"/>
              </a:rPr>
              <a:t>中 (値の設計が必要)</a:t>
            </a:r>
          </a:p>
        </p:txBody>
      </p:sp>
      <p:sp>
        <p:nvSpPr>
          <p:cNvPr id="35" name="Rounded Rectangle 34"/>
          <p:cNvSpPr/>
          <p:nvPr/>
        </p:nvSpPr>
        <p:spPr>
          <a:xfrm>
            <a:off x="548640" y="5943600"/>
            <a:ext cx="11109960" cy="41148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77240" y="6016752"/>
            <a:ext cx="10972800" cy="320040"/>
          </a:xfrm>
          <a:prstGeom prst="rect">
            <a:avLst/>
          </a:prstGeom>
          <a:noFill/>
        </p:spPr>
        <p:txBody>
          <a:bodyPr wrap="square" anchor="t" lIns="0" rIns="0" tIns="0" bIns="0">
            <a:spAutoFit/>
          </a:bodyPr>
          <a:lstStyle/>
          <a:p>
            <a:pPr algn="l">
              <a:lnSpc>
                <a:spcPct val="115000"/>
              </a:lnSpc>
            </a:pPr>
            <a:r>
              <a:rPr sz="1100" b="1">
                <a:solidFill>
                  <a:srgbClr val="B85E1A"/>
                </a:solidFill>
                <a:latin typeface="Hiragino Sans"/>
                <a:ea typeface="Hiragino Sans"/>
                <a:cs typeface="Hiragino Sans"/>
              </a:rPr>
              <a:t>💡 LTV推定が難しい場合は『初回購入金額 × 係数』や『商品カテゴリ別固定値』から始める</a:t>
            </a:r>
          </a:p>
        </p:txBody>
      </p:sp>
      <p:sp>
        <p:nvSpPr>
          <p:cNvPr id="37" name="TextBox 36"/>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Audience / Predictive Audiences (2026)</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1PD + AI予測で攻めるオーディエンス設計</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P47 / 250</a:t>
            </a:r>
          </a:p>
        </p:txBody>
      </p:sp>
      <p:sp>
        <p:nvSpPr>
          <p:cNvPr id="8" name="Rounded Rectangle 7"/>
          <p:cNvSpPr/>
          <p:nvPr/>
        </p:nvSpPr>
        <p:spPr>
          <a:xfrm>
            <a:off x="548640" y="1417320"/>
            <a:ext cx="2697480" cy="21031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2697480" cy="13716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691640"/>
            <a:ext cx="2331720" cy="685800"/>
          </a:xfrm>
          <a:prstGeom prst="rect">
            <a:avLst/>
          </a:prstGeom>
          <a:noFill/>
        </p:spPr>
        <p:txBody>
          <a:bodyPr wrap="square" anchor="t" lIns="0" rIns="0" tIns="0" bIns="0">
            <a:spAutoFit/>
          </a:bodyPr>
          <a:lstStyle/>
          <a:p>
            <a:pPr algn="ctr">
              <a:lnSpc>
                <a:spcPct val="120000"/>
              </a:lnSpc>
            </a:pPr>
            <a:r>
              <a:rPr sz="1500" b="1">
                <a:solidFill>
                  <a:srgbClr val="0F2A4F"/>
                </a:solidFill>
                <a:latin typeface="Hiragino Sans"/>
                <a:ea typeface="Hiragino Sans"/>
                <a:cs typeface="Hiragino Sans"/>
              </a:rPr>
              <a:t>1PD</a:t>
            </a:r>
          </a:p>
          <a:p>
            <a:pPr algn="ctr">
              <a:lnSpc>
                <a:spcPct val="120000"/>
              </a:lnSpc>
            </a:pPr>
            <a:r>
              <a:rPr sz="1500" b="1">
                <a:solidFill>
                  <a:srgbClr val="0F2A4F"/>
                </a:solidFill>
                <a:latin typeface="Hiragino Sans"/>
                <a:ea typeface="Hiragino Sans"/>
                <a:cs typeface="Hiragino Sans"/>
              </a:rPr>
              <a:t>Audience</a:t>
            </a:r>
          </a:p>
        </p:txBody>
      </p:sp>
      <p:sp>
        <p:nvSpPr>
          <p:cNvPr id="11" name="TextBox 10"/>
          <p:cNvSpPr txBox="1"/>
          <p:nvPr/>
        </p:nvSpPr>
        <p:spPr>
          <a:xfrm>
            <a:off x="731520" y="2377440"/>
            <a:ext cx="2331720" cy="502920"/>
          </a:xfrm>
          <a:prstGeom prst="rect">
            <a:avLst/>
          </a:prstGeom>
          <a:noFill/>
        </p:spPr>
        <p:txBody>
          <a:bodyPr wrap="square" anchor="t" lIns="0" rIns="0" tIns="0" bIns="0">
            <a:spAutoFit/>
          </a:bodyPr>
          <a:lstStyle/>
          <a:p>
            <a:pPr algn="ctr">
              <a:lnSpc>
                <a:spcPct val="130000"/>
              </a:lnSpc>
            </a:pPr>
            <a:r>
              <a:rPr sz="1100" b="1">
                <a:solidFill>
                  <a:srgbClr val="B85E1A"/>
                </a:solidFill>
                <a:latin typeface="Hiragino Sans"/>
                <a:ea typeface="Hiragino Sans"/>
                <a:cs typeface="Hiragino Sans"/>
              </a:rPr>
              <a:t>Customer Match</a:t>
            </a:r>
          </a:p>
          <a:p>
            <a:pPr algn="ctr">
              <a:lnSpc>
                <a:spcPct val="130000"/>
              </a:lnSpc>
            </a:pPr>
            <a:r>
              <a:rPr sz="1100" b="1">
                <a:solidFill>
                  <a:srgbClr val="B85E1A"/>
                </a:solidFill>
                <a:latin typeface="Hiragino Sans"/>
                <a:ea typeface="Hiragino Sans"/>
                <a:cs typeface="Hiragino Sans"/>
              </a:rPr>
              <a:t>Similar Audience</a:t>
            </a:r>
          </a:p>
        </p:txBody>
      </p:sp>
      <p:sp>
        <p:nvSpPr>
          <p:cNvPr id="12" name="TextBox 11"/>
          <p:cNvSpPr txBox="1"/>
          <p:nvPr/>
        </p:nvSpPr>
        <p:spPr>
          <a:xfrm>
            <a:off x="731520" y="2880360"/>
            <a:ext cx="2331720" cy="594360"/>
          </a:xfrm>
          <a:prstGeom prst="rect">
            <a:avLst/>
          </a:prstGeom>
          <a:noFill/>
        </p:spPr>
        <p:txBody>
          <a:bodyPr wrap="square" anchor="t" lIns="0" rIns="0" tIns="0" bIns="0">
            <a:spAutoFit/>
          </a:bodyPr>
          <a:lstStyle/>
          <a:p>
            <a:pPr algn="ctr">
              <a:lnSpc>
                <a:spcPct val="140000"/>
              </a:lnSpc>
            </a:pPr>
            <a:r>
              <a:rPr sz="1000" b="0">
                <a:solidFill>
                  <a:srgbClr val="1A1A1A"/>
                </a:solidFill>
                <a:latin typeface="Hiragino Sans"/>
                <a:ea typeface="Hiragino Sans"/>
                <a:cs typeface="Hiragino Sans"/>
              </a:rPr>
              <a:t>既存顧客リスト・LAL</a:t>
            </a:r>
          </a:p>
          <a:p>
            <a:pPr algn="ctr">
              <a:lnSpc>
                <a:spcPct val="140000"/>
              </a:lnSpc>
            </a:pPr>
            <a:r>
              <a:rPr sz="1000" b="0">
                <a:solidFill>
                  <a:srgbClr val="1A1A1A"/>
                </a:solidFill>
                <a:latin typeface="Hiragino Sans"/>
                <a:ea typeface="Hiragino Sans"/>
                <a:cs typeface="Hiragino Sans"/>
              </a:rPr>
              <a:t>ハッシュ化 → API連携</a:t>
            </a:r>
          </a:p>
        </p:txBody>
      </p:sp>
      <p:sp>
        <p:nvSpPr>
          <p:cNvPr id="13" name="Rounded Rectangle 12"/>
          <p:cNvSpPr/>
          <p:nvPr/>
        </p:nvSpPr>
        <p:spPr>
          <a:xfrm>
            <a:off x="3337560" y="1417320"/>
            <a:ext cx="2697480" cy="21031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37560" y="1417320"/>
            <a:ext cx="2697480" cy="13716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20440" y="1691640"/>
            <a:ext cx="2331720" cy="685800"/>
          </a:xfrm>
          <a:prstGeom prst="rect">
            <a:avLst/>
          </a:prstGeom>
          <a:noFill/>
        </p:spPr>
        <p:txBody>
          <a:bodyPr wrap="square" anchor="t" lIns="0" rIns="0" tIns="0" bIns="0">
            <a:spAutoFit/>
          </a:bodyPr>
          <a:lstStyle/>
          <a:p>
            <a:pPr algn="ctr">
              <a:lnSpc>
                <a:spcPct val="120000"/>
              </a:lnSpc>
            </a:pPr>
            <a:r>
              <a:rPr sz="1500" b="1">
                <a:solidFill>
                  <a:srgbClr val="0F2A4F"/>
                </a:solidFill>
                <a:latin typeface="Hiragino Sans"/>
                <a:ea typeface="Hiragino Sans"/>
                <a:cs typeface="Hiragino Sans"/>
              </a:rPr>
              <a:t>Intent</a:t>
            </a:r>
          </a:p>
          <a:p>
            <a:pPr algn="ctr">
              <a:lnSpc>
                <a:spcPct val="120000"/>
              </a:lnSpc>
            </a:pPr>
            <a:r>
              <a:rPr sz="1500" b="1">
                <a:solidFill>
                  <a:srgbClr val="0F2A4F"/>
                </a:solidFill>
                <a:latin typeface="Hiragino Sans"/>
                <a:ea typeface="Hiragino Sans"/>
                <a:cs typeface="Hiragino Sans"/>
              </a:rPr>
              <a:t>(Google)</a:t>
            </a:r>
          </a:p>
        </p:txBody>
      </p:sp>
      <p:sp>
        <p:nvSpPr>
          <p:cNvPr id="16" name="TextBox 15"/>
          <p:cNvSpPr txBox="1"/>
          <p:nvPr/>
        </p:nvSpPr>
        <p:spPr>
          <a:xfrm>
            <a:off x="3520440" y="2377440"/>
            <a:ext cx="2331720" cy="502920"/>
          </a:xfrm>
          <a:prstGeom prst="rect">
            <a:avLst/>
          </a:prstGeom>
          <a:noFill/>
        </p:spPr>
        <p:txBody>
          <a:bodyPr wrap="square" anchor="t" lIns="0" rIns="0" tIns="0" bIns="0">
            <a:spAutoFit/>
          </a:bodyPr>
          <a:lstStyle/>
          <a:p>
            <a:pPr algn="ctr">
              <a:lnSpc>
                <a:spcPct val="130000"/>
              </a:lnSpc>
            </a:pPr>
            <a:r>
              <a:rPr sz="1100" b="1">
                <a:solidFill>
                  <a:srgbClr val="B85E1A"/>
                </a:solidFill>
                <a:latin typeface="Hiragino Sans"/>
                <a:ea typeface="Hiragino Sans"/>
                <a:cs typeface="Hiragino Sans"/>
              </a:rPr>
              <a:t>In-market</a:t>
            </a:r>
          </a:p>
          <a:p>
            <a:pPr algn="ctr">
              <a:lnSpc>
                <a:spcPct val="130000"/>
              </a:lnSpc>
            </a:pPr>
            <a:r>
              <a:rPr sz="1100" b="1">
                <a:solidFill>
                  <a:srgbClr val="B85E1A"/>
                </a:solidFill>
                <a:latin typeface="Hiragino Sans"/>
                <a:ea typeface="Hiragino Sans"/>
                <a:cs typeface="Hiragino Sans"/>
              </a:rPr>
              <a:t>Custom Intent</a:t>
            </a:r>
          </a:p>
        </p:txBody>
      </p:sp>
      <p:sp>
        <p:nvSpPr>
          <p:cNvPr id="17" name="TextBox 16"/>
          <p:cNvSpPr txBox="1"/>
          <p:nvPr/>
        </p:nvSpPr>
        <p:spPr>
          <a:xfrm>
            <a:off x="3520440" y="2880360"/>
            <a:ext cx="2331720" cy="594360"/>
          </a:xfrm>
          <a:prstGeom prst="rect">
            <a:avLst/>
          </a:prstGeom>
          <a:noFill/>
        </p:spPr>
        <p:txBody>
          <a:bodyPr wrap="square" anchor="t" lIns="0" rIns="0" tIns="0" bIns="0">
            <a:spAutoFit/>
          </a:bodyPr>
          <a:lstStyle/>
          <a:p>
            <a:pPr algn="ctr">
              <a:lnSpc>
                <a:spcPct val="140000"/>
              </a:lnSpc>
            </a:pPr>
            <a:r>
              <a:rPr sz="1000" b="0">
                <a:solidFill>
                  <a:srgbClr val="1A1A1A"/>
                </a:solidFill>
                <a:latin typeface="Hiragino Sans"/>
                <a:ea typeface="Hiragino Sans"/>
                <a:cs typeface="Hiragino Sans"/>
              </a:rPr>
              <a:t>検索意図・</a:t>
            </a:r>
          </a:p>
          <a:p>
            <a:pPr algn="ctr">
              <a:lnSpc>
                <a:spcPct val="140000"/>
              </a:lnSpc>
            </a:pPr>
            <a:r>
              <a:rPr sz="1000" b="0">
                <a:solidFill>
                  <a:srgbClr val="1A1A1A"/>
                </a:solidFill>
                <a:latin typeface="Hiragino Sans"/>
                <a:ea typeface="Hiragino Sans"/>
                <a:cs typeface="Hiragino Sans"/>
              </a:rPr>
              <a:t>Webサイト履歴ベース</a:t>
            </a:r>
          </a:p>
        </p:txBody>
      </p:sp>
      <p:sp>
        <p:nvSpPr>
          <p:cNvPr id="18" name="Rounded Rectangle 17"/>
          <p:cNvSpPr/>
          <p:nvPr/>
        </p:nvSpPr>
        <p:spPr>
          <a:xfrm>
            <a:off x="6126480" y="1417320"/>
            <a:ext cx="2697480" cy="21031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0" y="1417320"/>
            <a:ext cx="2697480" cy="13716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1691640"/>
            <a:ext cx="2331720" cy="685800"/>
          </a:xfrm>
          <a:prstGeom prst="rect">
            <a:avLst/>
          </a:prstGeom>
          <a:noFill/>
        </p:spPr>
        <p:txBody>
          <a:bodyPr wrap="square" anchor="t" lIns="0" rIns="0" tIns="0" bIns="0">
            <a:spAutoFit/>
          </a:bodyPr>
          <a:lstStyle/>
          <a:p>
            <a:pPr algn="ctr">
              <a:lnSpc>
                <a:spcPct val="120000"/>
              </a:lnSpc>
            </a:pPr>
            <a:r>
              <a:rPr sz="1500" b="1">
                <a:solidFill>
                  <a:srgbClr val="0F2A4F"/>
                </a:solidFill>
                <a:latin typeface="Hiragino Sans"/>
                <a:ea typeface="Hiragino Sans"/>
                <a:cs typeface="Hiragino Sans"/>
              </a:rPr>
              <a:t>GA4</a:t>
            </a:r>
          </a:p>
          <a:p>
            <a:pPr algn="ctr">
              <a:lnSpc>
                <a:spcPct val="120000"/>
              </a:lnSpc>
            </a:pPr>
            <a:r>
              <a:rPr sz="1500" b="1">
                <a:solidFill>
                  <a:srgbClr val="0F2A4F"/>
                </a:solidFill>
                <a:latin typeface="Hiragino Sans"/>
                <a:ea typeface="Hiragino Sans"/>
                <a:cs typeface="Hiragino Sans"/>
              </a:rPr>
              <a:t>ベース</a:t>
            </a:r>
          </a:p>
        </p:txBody>
      </p:sp>
      <p:sp>
        <p:nvSpPr>
          <p:cNvPr id="21" name="TextBox 20"/>
          <p:cNvSpPr txBox="1"/>
          <p:nvPr/>
        </p:nvSpPr>
        <p:spPr>
          <a:xfrm>
            <a:off x="6309360" y="2377440"/>
            <a:ext cx="2331720" cy="502920"/>
          </a:xfrm>
          <a:prstGeom prst="rect">
            <a:avLst/>
          </a:prstGeom>
          <a:noFill/>
        </p:spPr>
        <p:txBody>
          <a:bodyPr wrap="square" anchor="t" lIns="0" rIns="0" tIns="0" bIns="0">
            <a:spAutoFit/>
          </a:bodyPr>
          <a:lstStyle/>
          <a:p>
            <a:pPr algn="ctr">
              <a:lnSpc>
                <a:spcPct val="130000"/>
              </a:lnSpc>
            </a:pPr>
            <a:r>
              <a:rPr sz="1100" b="1">
                <a:solidFill>
                  <a:srgbClr val="B85E1A"/>
                </a:solidFill>
                <a:latin typeface="Hiragino Sans"/>
                <a:ea typeface="Hiragino Sans"/>
                <a:cs typeface="Hiragino Sans"/>
              </a:rPr>
              <a:t>Remarketing</a:t>
            </a:r>
          </a:p>
          <a:p>
            <a:pPr algn="ctr">
              <a:lnSpc>
                <a:spcPct val="130000"/>
              </a:lnSpc>
            </a:pPr>
            <a:r>
              <a:rPr sz="1100" b="1">
                <a:solidFill>
                  <a:srgbClr val="B85E1A"/>
                </a:solidFill>
                <a:latin typeface="Hiragino Sans"/>
                <a:ea typeface="Hiragino Sans"/>
                <a:cs typeface="Hiragino Sans"/>
              </a:rPr>
              <a:t>Predictive Audiences</a:t>
            </a:r>
          </a:p>
        </p:txBody>
      </p:sp>
      <p:sp>
        <p:nvSpPr>
          <p:cNvPr id="22" name="TextBox 21"/>
          <p:cNvSpPr txBox="1"/>
          <p:nvPr/>
        </p:nvSpPr>
        <p:spPr>
          <a:xfrm>
            <a:off x="6309360" y="2880360"/>
            <a:ext cx="2331720" cy="594360"/>
          </a:xfrm>
          <a:prstGeom prst="rect">
            <a:avLst/>
          </a:prstGeom>
          <a:noFill/>
        </p:spPr>
        <p:txBody>
          <a:bodyPr wrap="square" anchor="t" lIns="0" rIns="0" tIns="0" bIns="0">
            <a:spAutoFit/>
          </a:bodyPr>
          <a:lstStyle/>
          <a:p>
            <a:pPr algn="ctr">
              <a:lnSpc>
                <a:spcPct val="140000"/>
              </a:lnSpc>
            </a:pPr>
            <a:r>
              <a:rPr sz="1000" b="0">
                <a:solidFill>
                  <a:srgbClr val="1A1A1A"/>
                </a:solidFill>
                <a:latin typeface="Hiragino Sans"/>
                <a:ea typeface="Hiragino Sans"/>
                <a:cs typeface="Hiragino Sans"/>
              </a:rPr>
              <a:t>購入予測 / 離脱予測</a:t>
            </a:r>
          </a:p>
          <a:p>
            <a:pPr algn="ctr">
              <a:lnSpc>
                <a:spcPct val="140000"/>
              </a:lnSpc>
            </a:pPr>
            <a:r>
              <a:rPr sz="1000" b="0">
                <a:solidFill>
                  <a:srgbClr val="1A1A1A"/>
                </a:solidFill>
                <a:latin typeface="Hiragino Sans"/>
                <a:ea typeface="Hiragino Sans"/>
                <a:cs typeface="Hiragino Sans"/>
              </a:rPr>
              <a:t>有料ユーザー予測</a:t>
            </a:r>
          </a:p>
        </p:txBody>
      </p:sp>
      <p:sp>
        <p:nvSpPr>
          <p:cNvPr id="23" name="Rounded Rectangle 22"/>
          <p:cNvSpPr/>
          <p:nvPr/>
        </p:nvSpPr>
        <p:spPr>
          <a:xfrm>
            <a:off x="8915400" y="1417320"/>
            <a:ext cx="2697480" cy="21031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15400" y="1417320"/>
            <a:ext cx="2697480" cy="13716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98280" y="1691640"/>
            <a:ext cx="2331720" cy="685800"/>
          </a:xfrm>
          <a:prstGeom prst="rect">
            <a:avLst/>
          </a:prstGeom>
          <a:noFill/>
        </p:spPr>
        <p:txBody>
          <a:bodyPr wrap="square" anchor="t" lIns="0" rIns="0" tIns="0" bIns="0">
            <a:spAutoFit/>
          </a:bodyPr>
          <a:lstStyle/>
          <a:p>
            <a:pPr algn="ctr">
              <a:lnSpc>
                <a:spcPct val="120000"/>
              </a:lnSpc>
            </a:pPr>
            <a:r>
              <a:rPr sz="1500" b="1">
                <a:solidFill>
                  <a:srgbClr val="0F2A4F"/>
                </a:solidFill>
                <a:latin typeface="Hiragino Sans"/>
                <a:ea typeface="Hiragino Sans"/>
                <a:cs typeface="Hiragino Sans"/>
              </a:rPr>
              <a:t>YouTube</a:t>
            </a:r>
          </a:p>
          <a:p>
            <a:pPr algn="ctr">
              <a:lnSpc>
                <a:spcPct val="120000"/>
              </a:lnSpc>
            </a:pPr>
            <a:r>
              <a:rPr sz="1500" b="1">
                <a:solidFill>
                  <a:srgbClr val="0F2A4F"/>
                </a:solidFill>
                <a:latin typeface="Hiragino Sans"/>
                <a:ea typeface="Hiragino Sans"/>
                <a:cs typeface="Hiragino Sans"/>
              </a:rPr>
              <a:t>Audience</a:t>
            </a:r>
          </a:p>
        </p:txBody>
      </p:sp>
      <p:sp>
        <p:nvSpPr>
          <p:cNvPr id="26" name="TextBox 25"/>
          <p:cNvSpPr txBox="1"/>
          <p:nvPr/>
        </p:nvSpPr>
        <p:spPr>
          <a:xfrm>
            <a:off x="9098280" y="2377440"/>
            <a:ext cx="2331720" cy="502920"/>
          </a:xfrm>
          <a:prstGeom prst="rect">
            <a:avLst/>
          </a:prstGeom>
          <a:noFill/>
        </p:spPr>
        <p:txBody>
          <a:bodyPr wrap="square" anchor="t" lIns="0" rIns="0" tIns="0" bIns="0">
            <a:spAutoFit/>
          </a:bodyPr>
          <a:lstStyle/>
          <a:p>
            <a:pPr algn="ctr">
              <a:lnSpc>
                <a:spcPct val="130000"/>
              </a:lnSpc>
            </a:pPr>
            <a:r>
              <a:rPr sz="1100" b="1">
                <a:solidFill>
                  <a:srgbClr val="B85E1A"/>
                </a:solidFill>
                <a:latin typeface="Hiragino Sans"/>
                <a:ea typeface="Hiragino Sans"/>
                <a:cs typeface="Hiragino Sans"/>
              </a:rPr>
              <a:t>Affinity</a:t>
            </a:r>
          </a:p>
          <a:p>
            <a:pPr algn="ctr">
              <a:lnSpc>
                <a:spcPct val="130000"/>
              </a:lnSpc>
            </a:pPr>
            <a:r>
              <a:rPr sz="1100" b="1">
                <a:solidFill>
                  <a:srgbClr val="B85E1A"/>
                </a:solidFill>
                <a:latin typeface="Hiragino Sans"/>
                <a:ea typeface="Hiragino Sans"/>
                <a:cs typeface="Hiragino Sans"/>
              </a:rPr>
              <a:t>視聴履歴ベース</a:t>
            </a:r>
          </a:p>
        </p:txBody>
      </p:sp>
      <p:sp>
        <p:nvSpPr>
          <p:cNvPr id="27" name="TextBox 26"/>
          <p:cNvSpPr txBox="1"/>
          <p:nvPr/>
        </p:nvSpPr>
        <p:spPr>
          <a:xfrm>
            <a:off x="9098280" y="2880360"/>
            <a:ext cx="2331720" cy="594360"/>
          </a:xfrm>
          <a:prstGeom prst="rect">
            <a:avLst/>
          </a:prstGeom>
          <a:noFill/>
        </p:spPr>
        <p:txBody>
          <a:bodyPr wrap="square" anchor="t" lIns="0" rIns="0" tIns="0" bIns="0">
            <a:spAutoFit/>
          </a:bodyPr>
          <a:lstStyle/>
          <a:p>
            <a:pPr algn="ctr">
              <a:lnSpc>
                <a:spcPct val="140000"/>
              </a:lnSpc>
            </a:pPr>
            <a:r>
              <a:rPr sz="1000" b="0">
                <a:solidFill>
                  <a:srgbClr val="1A1A1A"/>
                </a:solidFill>
                <a:latin typeface="Hiragino Sans"/>
                <a:ea typeface="Hiragino Sans"/>
                <a:cs typeface="Hiragino Sans"/>
              </a:rPr>
              <a:t>興味関心カテゴリ</a:t>
            </a:r>
          </a:p>
          <a:p>
            <a:pPr algn="ctr">
              <a:lnSpc>
                <a:spcPct val="140000"/>
              </a:lnSpc>
            </a:pPr>
            <a:r>
              <a:rPr sz="1000" b="0">
                <a:solidFill>
                  <a:srgbClr val="1A1A1A"/>
                </a:solidFill>
                <a:latin typeface="Hiragino Sans"/>
                <a:ea typeface="Hiragino Sans"/>
                <a:cs typeface="Hiragino Sans"/>
              </a:rPr>
              <a:t>視聴行動からの推定</a:t>
            </a:r>
          </a:p>
        </p:txBody>
      </p:sp>
      <p:sp>
        <p:nvSpPr>
          <p:cNvPr id="28" name="TextBox 27"/>
          <p:cNvSpPr txBox="1"/>
          <p:nvPr/>
        </p:nvSpPr>
        <p:spPr>
          <a:xfrm>
            <a:off x="548640" y="3749039"/>
            <a:ext cx="1097280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 GA4 Predictive Audiences (副業代行で差別化できる)</a:t>
            </a:r>
          </a:p>
        </p:txBody>
      </p:sp>
      <p:sp>
        <p:nvSpPr>
          <p:cNvPr id="29" name="Rectangle 28"/>
          <p:cNvSpPr/>
          <p:nvPr/>
        </p:nvSpPr>
        <p:spPr>
          <a:xfrm>
            <a:off x="548640" y="4114800"/>
            <a:ext cx="1110996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48640" y="4297680"/>
            <a:ext cx="2697480" cy="100584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8640" y="4297680"/>
            <a:ext cx="73152" cy="10058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4434840"/>
            <a:ext cx="2423160" cy="365760"/>
          </a:xfrm>
          <a:prstGeom prst="rect">
            <a:avLst/>
          </a:prstGeom>
          <a:noFill/>
        </p:spPr>
        <p:txBody>
          <a:bodyPr wrap="square" anchor="t" lIns="0" rIns="0" tIns="0" bIns="0">
            <a:spAutoFit/>
          </a:bodyPr>
          <a:lstStyle/>
          <a:p>
            <a:pPr algn="l">
              <a:lnSpc>
                <a:spcPct val="130000"/>
              </a:lnSpc>
            </a:pPr>
            <a:r>
              <a:rPr sz="1100" b="1">
                <a:solidFill>
                  <a:srgbClr val="0F2A4F"/>
                </a:solidFill>
                <a:latin typeface="Helvetica Neue"/>
                <a:ea typeface="Helvetica Neue"/>
                <a:cs typeface="Helvetica Neue"/>
              </a:rPr>
              <a:t>Likely 7-day Purchasers</a:t>
            </a:r>
          </a:p>
        </p:txBody>
      </p:sp>
      <p:sp>
        <p:nvSpPr>
          <p:cNvPr id="33" name="TextBox 32"/>
          <p:cNvSpPr txBox="1"/>
          <p:nvPr/>
        </p:nvSpPr>
        <p:spPr>
          <a:xfrm>
            <a:off x="731520" y="4800600"/>
            <a:ext cx="2423160" cy="45720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7日以内に購入見込みのユーザー</a:t>
            </a:r>
          </a:p>
        </p:txBody>
      </p:sp>
      <p:sp>
        <p:nvSpPr>
          <p:cNvPr id="34" name="Rounded Rectangle 33"/>
          <p:cNvSpPr/>
          <p:nvPr/>
        </p:nvSpPr>
        <p:spPr>
          <a:xfrm>
            <a:off x="3337560" y="4297680"/>
            <a:ext cx="2697480" cy="100584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337560" y="4297680"/>
            <a:ext cx="73152" cy="10058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520440" y="4434840"/>
            <a:ext cx="2423160" cy="365760"/>
          </a:xfrm>
          <a:prstGeom prst="rect">
            <a:avLst/>
          </a:prstGeom>
          <a:noFill/>
        </p:spPr>
        <p:txBody>
          <a:bodyPr wrap="square" anchor="t" lIns="0" rIns="0" tIns="0" bIns="0">
            <a:spAutoFit/>
          </a:bodyPr>
          <a:lstStyle/>
          <a:p>
            <a:pPr algn="l">
              <a:lnSpc>
                <a:spcPct val="130000"/>
              </a:lnSpc>
            </a:pPr>
            <a:r>
              <a:rPr sz="1100" b="1">
                <a:solidFill>
                  <a:srgbClr val="0F2A4F"/>
                </a:solidFill>
                <a:latin typeface="Helvetica Neue"/>
                <a:ea typeface="Helvetica Neue"/>
                <a:cs typeface="Helvetica Neue"/>
              </a:rPr>
              <a:t>Likely 7-day Churners</a:t>
            </a:r>
          </a:p>
        </p:txBody>
      </p:sp>
      <p:sp>
        <p:nvSpPr>
          <p:cNvPr id="37" name="TextBox 36"/>
          <p:cNvSpPr txBox="1"/>
          <p:nvPr/>
        </p:nvSpPr>
        <p:spPr>
          <a:xfrm>
            <a:off x="3520440" y="4800600"/>
            <a:ext cx="2423160" cy="45720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7日以内に離脱見込みのユーザー</a:t>
            </a:r>
          </a:p>
        </p:txBody>
      </p:sp>
      <p:sp>
        <p:nvSpPr>
          <p:cNvPr id="38" name="Rounded Rectangle 37"/>
          <p:cNvSpPr/>
          <p:nvPr/>
        </p:nvSpPr>
        <p:spPr>
          <a:xfrm>
            <a:off x="6126480" y="4297680"/>
            <a:ext cx="2697480" cy="100584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126480" y="4297680"/>
            <a:ext cx="73152" cy="10058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09360" y="4434840"/>
            <a:ext cx="2423160" cy="365760"/>
          </a:xfrm>
          <a:prstGeom prst="rect">
            <a:avLst/>
          </a:prstGeom>
          <a:noFill/>
        </p:spPr>
        <p:txBody>
          <a:bodyPr wrap="square" anchor="t" lIns="0" rIns="0" tIns="0" bIns="0">
            <a:spAutoFit/>
          </a:bodyPr>
          <a:lstStyle/>
          <a:p>
            <a:pPr algn="l">
              <a:lnSpc>
                <a:spcPct val="130000"/>
              </a:lnSpc>
            </a:pPr>
            <a:r>
              <a:rPr sz="1100" b="1">
                <a:solidFill>
                  <a:srgbClr val="0F2A4F"/>
                </a:solidFill>
                <a:latin typeface="Helvetica Neue"/>
                <a:ea typeface="Helvetica Neue"/>
                <a:cs typeface="Helvetica Neue"/>
              </a:rPr>
              <a:t>Predicted Revenue</a:t>
            </a:r>
          </a:p>
        </p:txBody>
      </p:sp>
      <p:sp>
        <p:nvSpPr>
          <p:cNvPr id="41" name="TextBox 40"/>
          <p:cNvSpPr txBox="1"/>
          <p:nvPr/>
        </p:nvSpPr>
        <p:spPr>
          <a:xfrm>
            <a:off x="6309360" y="4800600"/>
            <a:ext cx="2423160" cy="45720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予測される30日売上で重み付け</a:t>
            </a:r>
          </a:p>
        </p:txBody>
      </p:sp>
      <p:sp>
        <p:nvSpPr>
          <p:cNvPr id="42" name="Rounded Rectangle 41"/>
          <p:cNvSpPr/>
          <p:nvPr/>
        </p:nvSpPr>
        <p:spPr>
          <a:xfrm>
            <a:off x="8915400" y="4297680"/>
            <a:ext cx="2697480" cy="100584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915400" y="4297680"/>
            <a:ext cx="73152" cy="10058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98280" y="4434840"/>
            <a:ext cx="2423160" cy="365760"/>
          </a:xfrm>
          <a:prstGeom prst="rect">
            <a:avLst/>
          </a:prstGeom>
          <a:noFill/>
        </p:spPr>
        <p:txBody>
          <a:bodyPr wrap="square" anchor="t" lIns="0" rIns="0" tIns="0" bIns="0">
            <a:spAutoFit/>
          </a:bodyPr>
          <a:lstStyle/>
          <a:p>
            <a:pPr algn="l">
              <a:lnSpc>
                <a:spcPct val="130000"/>
              </a:lnSpc>
            </a:pPr>
            <a:r>
              <a:rPr sz="1100" b="1">
                <a:solidFill>
                  <a:srgbClr val="0F2A4F"/>
                </a:solidFill>
                <a:latin typeface="Helvetica Neue"/>
                <a:ea typeface="Helvetica Neue"/>
                <a:cs typeface="Helvetica Neue"/>
              </a:rPr>
              <a:t>Top Spenders</a:t>
            </a:r>
          </a:p>
        </p:txBody>
      </p:sp>
      <p:sp>
        <p:nvSpPr>
          <p:cNvPr id="45" name="TextBox 44"/>
          <p:cNvSpPr txBox="1"/>
          <p:nvPr/>
        </p:nvSpPr>
        <p:spPr>
          <a:xfrm>
            <a:off x="9098280" y="4800600"/>
            <a:ext cx="2423160" cy="45720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累計支出上位ユーザーの LAL</a:t>
            </a:r>
          </a:p>
        </p:txBody>
      </p:sp>
      <p:sp>
        <p:nvSpPr>
          <p:cNvPr id="46" name="TextBox 45"/>
          <p:cNvSpPr txBox="1"/>
          <p:nvPr/>
        </p:nvSpPr>
        <p:spPr>
          <a:xfrm>
            <a:off x="548640" y="5577840"/>
            <a:ext cx="10972800" cy="274320"/>
          </a:xfrm>
          <a:prstGeom prst="rect">
            <a:avLst/>
          </a:prstGeom>
          <a:noFill/>
        </p:spPr>
        <p:txBody>
          <a:bodyPr wrap="square" anchor="t" lIns="0" rIns="0" tIns="0" bIns="0">
            <a:spAutoFit/>
          </a:bodyPr>
          <a:lstStyle/>
          <a:p>
            <a:pPr algn="l">
              <a:lnSpc>
                <a:spcPct val="115000"/>
              </a:lnSpc>
            </a:pPr>
            <a:r>
              <a:rPr sz="1000" b="0">
                <a:solidFill>
                  <a:srgbClr val="5A6A80"/>
                </a:solidFill>
                <a:latin typeface="Hiragino Sans"/>
                <a:ea typeface="Hiragino Sans"/>
                <a:cs typeface="Hiragino Sans"/>
              </a:rPr>
              <a:t>💡 これらは GA4 の機械学習で自動生成される。Ecサイト / サブスクで強力</a:t>
            </a:r>
          </a:p>
        </p:txBody>
      </p:sp>
      <p:sp>
        <p:nvSpPr>
          <p:cNvPr id="47" name="TextBox 46"/>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Attribution : DDA と Cross-channel</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ラストクリック時代は終わり、DDA が標準に</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P48 / 250</a:t>
            </a:r>
          </a:p>
        </p:txBody>
      </p:sp>
      <p:sp>
        <p:nvSpPr>
          <p:cNvPr id="8" name="TextBox 7"/>
          <p:cNvSpPr txBox="1"/>
          <p:nvPr/>
        </p:nvSpPr>
        <p:spPr>
          <a:xfrm>
            <a:off x="548640" y="1417320"/>
            <a:ext cx="1097280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アトリビューションモデルの歴史</a:t>
            </a:r>
          </a:p>
        </p:txBody>
      </p:sp>
      <p:sp>
        <p:nvSpPr>
          <p:cNvPr id="9" name="Rounded Rectangle 8"/>
          <p:cNvSpPr/>
          <p:nvPr/>
        </p:nvSpPr>
        <p:spPr>
          <a:xfrm>
            <a:off x="548640" y="1828800"/>
            <a:ext cx="11109960" cy="45720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828800"/>
            <a:ext cx="2286000" cy="457200"/>
          </a:xfrm>
          <a:prstGeom prst="rect">
            <a:avLst/>
          </a:prstGeom>
          <a:solidFill>
            <a:srgbClr val="5A6A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47672"/>
            <a:ext cx="2286000" cy="274320"/>
          </a:xfrm>
          <a:prstGeom prst="rect">
            <a:avLst/>
          </a:prstGeom>
          <a:noFill/>
        </p:spPr>
        <p:txBody>
          <a:bodyPr wrap="square" anchor="t" lIns="0" rIns="0" tIns="0" bIns="0">
            <a:spAutoFit/>
          </a:bodyPr>
          <a:lstStyle/>
          <a:p>
            <a:pPr algn="ctr">
              <a:lnSpc>
                <a:spcPct val="115000"/>
              </a:lnSpc>
            </a:pPr>
            <a:r>
              <a:rPr sz="1200" b="1">
                <a:solidFill>
                  <a:srgbClr val="FFFFFF"/>
                </a:solidFill>
                <a:latin typeface="Hiragino Sans"/>
                <a:ea typeface="Hiragino Sans"/>
                <a:cs typeface="Hiragino Sans"/>
              </a:rPr>
              <a:t>Last Click</a:t>
            </a:r>
          </a:p>
        </p:txBody>
      </p:sp>
      <p:sp>
        <p:nvSpPr>
          <p:cNvPr id="12" name="TextBox 11"/>
          <p:cNvSpPr txBox="1"/>
          <p:nvPr/>
        </p:nvSpPr>
        <p:spPr>
          <a:xfrm>
            <a:off x="3017520" y="1947672"/>
            <a:ext cx="1828800" cy="274320"/>
          </a:xfrm>
          <a:prstGeom prst="rect">
            <a:avLst/>
          </a:prstGeom>
          <a:noFill/>
        </p:spPr>
        <p:txBody>
          <a:bodyPr wrap="square" anchor="t" lIns="0" rIns="0" tIns="0" bIns="0">
            <a:spAutoFit/>
          </a:bodyPr>
          <a:lstStyle/>
          <a:p>
            <a:pPr algn="l">
              <a:lnSpc>
                <a:spcPct val="115000"/>
              </a:lnSpc>
            </a:pPr>
            <a:r>
              <a:rPr sz="1100" b="1">
                <a:solidFill>
                  <a:srgbClr val="5A6A80"/>
                </a:solidFill>
                <a:latin typeface="Helvetica Neue"/>
                <a:ea typeface="Helvetica Neue"/>
                <a:cs typeface="Helvetica Neue"/>
              </a:rPr>
              <a:t>従来主流</a:t>
            </a:r>
          </a:p>
        </p:txBody>
      </p:sp>
      <p:sp>
        <p:nvSpPr>
          <p:cNvPr id="13" name="TextBox 12"/>
          <p:cNvSpPr txBox="1"/>
          <p:nvPr/>
        </p:nvSpPr>
        <p:spPr>
          <a:xfrm>
            <a:off x="5029200" y="1965960"/>
            <a:ext cx="6400800" cy="274320"/>
          </a:xfrm>
          <a:prstGeom prst="rect">
            <a:avLst/>
          </a:prstGeom>
          <a:noFill/>
        </p:spPr>
        <p:txBody>
          <a:bodyPr wrap="square" anchor="t" lIns="0" rIns="0" tIns="0" bIns="0">
            <a:spAutoFit/>
          </a:bodyPr>
          <a:lstStyle/>
          <a:p>
            <a:pPr algn="l">
              <a:lnSpc>
                <a:spcPct val="115000"/>
              </a:lnSpc>
            </a:pPr>
            <a:r>
              <a:rPr sz="1100" b="0">
                <a:solidFill>
                  <a:srgbClr val="1A1A1A"/>
                </a:solidFill>
                <a:latin typeface="Hiragino Sans"/>
                <a:ea typeface="Hiragino Sans"/>
                <a:cs typeface="Hiragino Sans"/>
              </a:rPr>
              <a:t>最後のクリックに100%配分</a:t>
            </a:r>
          </a:p>
        </p:txBody>
      </p:sp>
      <p:sp>
        <p:nvSpPr>
          <p:cNvPr id="14" name="Rounded Rectangle 13"/>
          <p:cNvSpPr/>
          <p:nvPr/>
        </p:nvSpPr>
        <p:spPr>
          <a:xfrm>
            <a:off x="548640" y="2377440"/>
            <a:ext cx="11109960" cy="4572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377440"/>
            <a:ext cx="2286000" cy="457200"/>
          </a:xfrm>
          <a:prstGeom prst="rect">
            <a:avLst/>
          </a:prstGeom>
          <a:solidFill>
            <a:srgbClr val="5A6A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2496312"/>
            <a:ext cx="2286000" cy="274320"/>
          </a:xfrm>
          <a:prstGeom prst="rect">
            <a:avLst/>
          </a:prstGeom>
          <a:noFill/>
        </p:spPr>
        <p:txBody>
          <a:bodyPr wrap="square" anchor="t" lIns="0" rIns="0" tIns="0" bIns="0">
            <a:spAutoFit/>
          </a:bodyPr>
          <a:lstStyle/>
          <a:p>
            <a:pPr algn="ctr">
              <a:lnSpc>
                <a:spcPct val="115000"/>
              </a:lnSpc>
            </a:pPr>
            <a:r>
              <a:rPr sz="1200" b="1">
                <a:solidFill>
                  <a:srgbClr val="FFFFFF"/>
                </a:solidFill>
                <a:latin typeface="Hiragino Sans"/>
                <a:ea typeface="Hiragino Sans"/>
                <a:cs typeface="Hiragino Sans"/>
              </a:rPr>
              <a:t>Position-Based</a:t>
            </a:r>
          </a:p>
        </p:txBody>
      </p:sp>
      <p:sp>
        <p:nvSpPr>
          <p:cNvPr id="17" name="TextBox 16"/>
          <p:cNvSpPr txBox="1"/>
          <p:nvPr/>
        </p:nvSpPr>
        <p:spPr>
          <a:xfrm>
            <a:off x="3017520" y="2496312"/>
            <a:ext cx="1828800" cy="274320"/>
          </a:xfrm>
          <a:prstGeom prst="rect">
            <a:avLst/>
          </a:prstGeom>
          <a:noFill/>
        </p:spPr>
        <p:txBody>
          <a:bodyPr wrap="square" anchor="t" lIns="0" rIns="0" tIns="0" bIns="0">
            <a:spAutoFit/>
          </a:bodyPr>
          <a:lstStyle/>
          <a:p>
            <a:pPr algn="l">
              <a:lnSpc>
                <a:spcPct val="115000"/>
              </a:lnSpc>
            </a:pPr>
            <a:r>
              <a:rPr sz="1100" b="1">
                <a:solidFill>
                  <a:srgbClr val="5A6A80"/>
                </a:solidFill>
                <a:latin typeface="Helvetica Neue"/>
                <a:ea typeface="Helvetica Neue"/>
                <a:cs typeface="Helvetica Neue"/>
              </a:rPr>
              <a:t>2019~</a:t>
            </a:r>
          </a:p>
        </p:txBody>
      </p:sp>
      <p:sp>
        <p:nvSpPr>
          <p:cNvPr id="18" name="TextBox 17"/>
          <p:cNvSpPr txBox="1"/>
          <p:nvPr/>
        </p:nvSpPr>
        <p:spPr>
          <a:xfrm>
            <a:off x="5029200" y="2514600"/>
            <a:ext cx="6400800" cy="274320"/>
          </a:xfrm>
          <a:prstGeom prst="rect">
            <a:avLst/>
          </a:prstGeom>
          <a:noFill/>
        </p:spPr>
        <p:txBody>
          <a:bodyPr wrap="square" anchor="t" lIns="0" rIns="0" tIns="0" bIns="0">
            <a:spAutoFit/>
          </a:bodyPr>
          <a:lstStyle/>
          <a:p>
            <a:pPr algn="l">
              <a:lnSpc>
                <a:spcPct val="115000"/>
              </a:lnSpc>
            </a:pPr>
            <a:r>
              <a:rPr sz="1100" b="0">
                <a:solidFill>
                  <a:srgbClr val="1A1A1A"/>
                </a:solidFill>
                <a:latin typeface="Hiragino Sans"/>
                <a:ea typeface="Hiragino Sans"/>
                <a:cs typeface="Hiragino Sans"/>
              </a:rPr>
              <a:t>First + Last を重視</a:t>
            </a:r>
          </a:p>
        </p:txBody>
      </p:sp>
      <p:sp>
        <p:nvSpPr>
          <p:cNvPr id="19" name="Rounded Rectangle 18"/>
          <p:cNvSpPr/>
          <p:nvPr/>
        </p:nvSpPr>
        <p:spPr>
          <a:xfrm>
            <a:off x="548640" y="2926080"/>
            <a:ext cx="11109960" cy="45720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926080"/>
            <a:ext cx="2286000" cy="457200"/>
          </a:xfrm>
          <a:prstGeom prst="rect">
            <a:avLst/>
          </a:prstGeom>
          <a:solidFill>
            <a:srgbClr val="5A6A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3044952"/>
            <a:ext cx="2286000" cy="274320"/>
          </a:xfrm>
          <a:prstGeom prst="rect">
            <a:avLst/>
          </a:prstGeom>
          <a:noFill/>
        </p:spPr>
        <p:txBody>
          <a:bodyPr wrap="square" anchor="t" lIns="0" rIns="0" tIns="0" bIns="0">
            <a:spAutoFit/>
          </a:bodyPr>
          <a:lstStyle/>
          <a:p>
            <a:pPr algn="ctr">
              <a:lnSpc>
                <a:spcPct val="115000"/>
              </a:lnSpc>
            </a:pPr>
            <a:r>
              <a:rPr sz="1200" b="1">
                <a:solidFill>
                  <a:srgbClr val="FFFFFF"/>
                </a:solidFill>
                <a:latin typeface="Hiragino Sans"/>
                <a:ea typeface="Hiragino Sans"/>
                <a:cs typeface="Hiragino Sans"/>
              </a:rPr>
              <a:t>Linear</a:t>
            </a:r>
          </a:p>
        </p:txBody>
      </p:sp>
      <p:sp>
        <p:nvSpPr>
          <p:cNvPr id="22" name="TextBox 21"/>
          <p:cNvSpPr txBox="1"/>
          <p:nvPr/>
        </p:nvSpPr>
        <p:spPr>
          <a:xfrm>
            <a:off x="3017520" y="3044952"/>
            <a:ext cx="1828800" cy="274320"/>
          </a:xfrm>
          <a:prstGeom prst="rect">
            <a:avLst/>
          </a:prstGeom>
          <a:noFill/>
        </p:spPr>
        <p:txBody>
          <a:bodyPr wrap="square" anchor="t" lIns="0" rIns="0" tIns="0" bIns="0">
            <a:spAutoFit/>
          </a:bodyPr>
          <a:lstStyle/>
          <a:p>
            <a:pPr algn="l">
              <a:lnSpc>
                <a:spcPct val="115000"/>
              </a:lnSpc>
            </a:pPr>
            <a:r>
              <a:rPr sz="1100" b="1">
                <a:solidFill>
                  <a:srgbClr val="5A6A80"/>
                </a:solidFill>
                <a:latin typeface="Helvetica Neue"/>
                <a:ea typeface="Helvetica Neue"/>
                <a:cs typeface="Helvetica Neue"/>
              </a:rPr>
              <a:t>2019~</a:t>
            </a:r>
          </a:p>
        </p:txBody>
      </p:sp>
      <p:sp>
        <p:nvSpPr>
          <p:cNvPr id="23" name="TextBox 22"/>
          <p:cNvSpPr txBox="1"/>
          <p:nvPr/>
        </p:nvSpPr>
        <p:spPr>
          <a:xfrm>
            <a:off x="5029200" y="3063240"/>
            <a:ext cx="6400800" cy="274320"/>
          </a:xfrm>
          <a:prstGeom prst="rect">
            <a:avLst/>
          </a:prstGeom>
          <a:noFill/>
        </p:spPr>
        <p:txBody>
          <a:bodyPr wrap="square" anchor="t" lIns="0" rIns="0" tIns="0" bIns="0">
            <a:spAutoFit/>
          </a:bodyPr>
          <a:lstStyle/>
          <a:p>
            <a:pPr algn="l">
              <a:lnSpc>
                <a:spcPct val="115000"/>
              </a:lnSpc>
            </a:pPr>
            <a:r>
              <a:rPr sz="1100" b="0">
                <a:solidFill>
                  <a:srgbClr val="1A1A1A"/>
                </a:solidFill>
                <a:latin typeface="Hiragino Sans"/>
                <a:ea typeface="Hiragino Sans"/>
                <a:cs typeface="Hiragino Sans"/>
              </a:rPr>
              <a:t>全タッチポイント均等</a:t>
            </a:r>
          </a:p>
        </p:txBody>
      </p:sp>
      <p:sp>
        <p:nvSpPr>
          <p:cNvPr id="24" name="Rounded Rectangle 23"/>
          <p:cNvSpPr/>
          <p:nvPr/>
        </p:nvSpPr>
        <p:spPr>
          <a:xfrm>
            <a:off x="548640" y="3474720"/>
            <a:ext cx="11109960" cy="4572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474720"/>
            <a:ext cx="2286000" cy="457200"/>
          </a:xfrm>
          <a:prstGeom prst="rect">
            <a:avLst/>
          </a:prstGeom>
          <a:solidFill>
            <a:srgbClr val="5A6A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3593592"/>
            <a:ext cx="2286000" cy="274320"/>
          </a:xfrm>
          <a:prstGeom prst="rect">
            <a:avLst/>
          </a:prstGeom>
          <a:noFill/>
        </p:spPr>
        <p:txBody>
          <a:bodyPr wrap="square" anchor="t" lIns="0" rIns="0" tIns="0" bIns="0">
            <a:spAutoFit/>
          </a:bodyPr>
          <a:lstStyle/>
          <a:p>
            <a:pPr algn="ctr">
              <a:lnSpc>
                <a:spcPct val="115000"/>
              </a:lnSpc>
            </a:pPr>
            <a:r>
              <a:rPr sz="1200" b="1">
                <a:solidFill>
                  <a:srgbClr val="FFFFFF"/>
                </a:solidFill>
                <a:latin typeface="Hiragino Sans"/>
                <a:ea typeface="Hiragino Sans"/>
                <a:cs typeface="Hiragino Sans"/>
              </a:rPr>
              <a:t>Time Decay</a:t>
            </a:r>
          </a:p>
        </p:txBody>
      </p:sp>
      <p:sp>
        <p:nvSpPr>
          <p:cNvPr id="27" name="TextBox 26"/>
          <p:cNvSpPr txBox="1"/>
          <p:nvPr/>
        </p:nvSpPr>
        <p:spPr>
          <a:xfrm>
            <a:off x="3017520" y="3593592"/>
            <a:ext cx="1828800" cy="274320"/>
          </a:xfrm>
          <a:prstGeom prst="rect">
            <a:avLst/>
          </a:prstGeom>
          <a:noFill/>
        </p:spPr>
        <p:txBody>
          <a:bodyPr wrap="square" anchor="t" lIns="0" rIns="0" tIns="0" bIns="0">
            <a:spAutoFit/>
          </a:bodyPr>
          <a:lstStyle/>
          <a:p>
            <a:pPr algn="l">
              <a:lnSpc>
                <a:spcPct val="115000"/>
              </a:lnSpc>
            </a:pPr>
            <a:r>
              <a:rPr sz="1100" b="1">
                <a:solidFill>
                  <a:srgbClr val="5A6A80"/>
                </a:solidFill>
                <a:latin typeface="Helvetica Neue"/>
                <a:ea typeface="Helvetica Neue"/>
                <a:cs typeface="Helvetica Neue"/>
              </a:rPr>
              <a:t>2019~</a:t>
            </a:r>
          </a:p>
        </p:txBody>
      </p:sp>
      <p:sp>
        <p:nvSpPr>
          <p:cNvPr id="28" name="TextBox 27"/>
          <p:cNvSpPr txBox="1"/>
          <p:nvPr/>
        </p:nvSpPr>
        <p:spPr>
          <a:xfrm>
            <a:off x="5029200" y="3611880"/>
            <a:ext cx="6400800" cy="274320"/>
          </a:xfrm>
          <a:prstGeom prst="rect">
            <a:avLst/>
          </a:prstGeom>
          <a:noFill/>
        </p:spPr>
        <p:txBody>
          <a:bodyPr wrap="square" anchor="t" lIns="0" rIns="0" tIns="0" bIns="0">
            <a:spAutoFit/>
          </a:bodyPr>
          <a:lstStyle/>
          <a:p>
            <a:pPr algn="l">
              <a:lnSpc>
                <a:spcPct val="115000"/>
              </a:lnSpc>
            </a:pPr>
            <a:r>
              <a:rPr sz="1100" b="0">
                <a:solidFill>
                  <a:srgbClr val="1A1A1A"/>
                </a:solidFill>
                <a:latin typeface="Hiragino Sans"/>
                <a:ea typeface="Hiragino Sans"/>
                <a:cs typeface="Hiragino Sans"/>
              </a:rPr>
              <a:t>直近のクリックほど重い</a:t>
            </a:r>
          </a:p>
        </p:txBody>
      </p:sp>
      <p:sp>
        <p:nvSpPr>
          <p:cNvPr id="29" name="Rounded Rectangle 28"/>
          <p:cNvSpPr/>
          <p:nvPr/>
        </p:nvSpPr>
        <p:spPr>
          <a:xfrm>
            <a:off x="548640" y="4023360"/>
            <a:ext cx="11109960" cy="45720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023360"/>
            <a:ext cx="2286000" cy="45720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4142232"/>
            <a:ext cx="2286000" cy="274320"/>
          </a:xfrm>
          <a:prstGeom prst="rect">
            <a:avLst/>
          </a:prstGeom>
          <a:noFill/>
        </p:spPr>
        <p:txBody>
          <a:bodyPr wrap="square" anchor="t" lIns="0" rIns="0" tIns="0" bIns="0">
            <a:spAutoFit/>
          </a:bodyPr>
          <a:lstStyle/>
          <a:p>
            <a:pPr algn="ctr">
              <a:lnSpc>
                <a:spcPct val="115000"/>
              </a:lnSpc>
            </a:pPr>
            <a:r>
              <a:rPr sz="1200" b="1">
                <a:solidFill>
                  <a:srgbClr val="FFFFFF"/>
                </a:solidFill>
                <a:latin typeface="Hiragino Sans"/>
                <a:ea typeface="Hiragino Sans"/>
                <a:cs typeface="Hiragino Sans"/>
              </a:rPr>
              <a:t>Data-Driven (DDA)</a:t>
            </a:r>
          </a:p>
        </p:txBody>
      </p:sp>
      <p:sp>
        <p:nvSpPr>
          <p:cNvPr id="32" name="TextBox 31"/>
          <p:cNvSpPr txBox="1"/>
          <p:nvPr/>
        </p:nvSpPr>
        <p:spPr>
          <a:xfrm>
            <a:off x="3017520" y="4142232"/>
            <a:ext cx="182880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elvetica Neue"/>
                <a:ea typeface="Helvetica Neue"/>
                <a:cs typeface="Helvetica Neue"/>
              </a:rPr>
              <a:t>2022~デフォルト</a:t>
            </a:r>
          </a:p>
        </p:txBody>
      </p:sp>
      <p:sp>
        <p:nvSpPr>
          <p:cNvPr id="33" name="TextBox 32"/>
          <p:cNvSpPr txBox="1"/>
          <p:nvPr/>
        </p:nvSpPr>
        <p:spPr>
          <a:xfrm>
            <a:off x="5029200" y="4160520"/>
            <a:ext cx="6400800" cy="274320"/>
          </a:xfrm>
          <a:prstGeom prst="rect">
            <a:avLst/>
          </a:prstGeom>
          <a:noFill/>
        </p:spPr>
        <p:txBody>
          <a:bodyPr wrap="square" anchor="t" lIns="0" rIns="0" tIns="0" bIns="0">
            <a:spAutoFit/>
          </a:bodyPr>
          <a:lstStyle/>
          <a:p>
            <a:pPr algn="l">
              <a:lnSpc>
                <a:spcPct val="115000"/>
              </a:lnSpc>
            </a:pPr>
            <a:r>
              <a:rPr sz="1100" b="0">
                <a:solidFill>
                  <a:srgbClr val="1A1A1A"/>
                </a:solidFill>
                <a:latin typeface="Hiragino Sans"/>
                <a:ea typeface="Hiragino Sans"/>
                <a:cs typeface="Hiragino Sans"/>
              </a:rPr>
              <a:t>ML で実データから配分</a:t>
            </a:r>
          </a:p>
        </p:txBody>
      </p:sp>
      <p:sp>
        <p:nvSpPr>
          <p:cNvPr id="34" name="Rounded Rectangle 33"/>
          <p:cNvSpPr/>
          <p:nvPr/>
        </p:nvSpPr>
        <p:spPr>
          <a:xfrm>
            <a:off x="548640" y="4709160"/>
            <a:ext cx="11109960" cy="164592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77240" y="4846320"/>
            <a:ext cx="9144000" cy="320040"/>
          </a:xfrm>
          <a:prstGeom prst="rect">
            <a:avLst/>
          </a:prstGeom>
          <a:noFill/>
        </p:spPr>
        <p:txBody>
          <a:bodyPr wrap="square" anchor="t" lIns="0" rIns="0" tIns="0" bIns="0">
            <a:spAutoFit/>
          </a:bodyPr>
          <a:lstStyle/>
          <a:p>
            <a:pPr algn="l">
              <a:lnSpc>
                <a:spcPct val="115000"/>
              </a:lnSpc>
            </a:pPr>
            <a:r>
              <a:rPr sz="1300" b="1">
                <a:solidFill>
                  <a:srgbClr val="E87722"/>
                </a:solidFill>
                <a:latin typeface="Hiragino Sans"/>
                <a:ea typeface="Hiragino Sans"/>
                <a:cs typeface="Hiragino Sans"/>
              </a:rPr>
              <a:t>Data-Driven Attribution (DDA) の中身</a:t>
            </a:r>
          </a:p>
        </p:txBody>
      </p:sp>
      <p:sp>
        <p:nvSpPr>
          <p:cNvPr id="36" name="TextBox 35"/>
          <p:cNvSpPr txBox="1"/>
          <p:nvPr/>
        </p:nvSpPr>
        <p:spPr>
          <a:xfrm>
            <a:off x="777240" y="5212080"/>
            <a:ext cx="10972800" cy="1097280"/>
          </a:xfrm>
          <a:prstGeom prst="rect">
            <a:avLst/>
          </a:prstGeom>
          <a:noFill/>
        </p:spPr>
        <p:txBody>
          <a:bodyPr wrap="square" anchor="t" lIns="0" rIns="0" tIns="0" bIns="0">
            <a:spAutoFit/>
          </a:bodyPr>
          <a:lstStyle/>
          <a:p>
            <a:pPr algn="l">
              <a:lnSpc>
                <a:spcPct val="155000"/>
              </a:lnSpc>
            </a:pPr>
            <a:r>
              <a:rPr sz="1100" b="0">
                <a:solidFill>
                  <a:srgbClr val="FFFFFF"/>
                </a:solidFill>
                <a:latin typeface="Hiragino Sans"/>
                <a:ea typeface="Hiragino Sans"/>
                <a:cs typeface="Hiragino Sans"/>
              </a:rPr>
              <a:t>• 機械学習が実際の購入経路からタッチポイントの貢献度を算出</a:t>
            </a:r>
          </a:p>
          <a:p>
            <a:pPr algn="l">
              <a:lnSpc>
                <a:spcPct val="155000"/>
              </a:lnSpc>
            </a:pPr>
            <a:r>
              <a:rPr sz="1100" b="0">
                <a:solidFill>
                  <a:srgbClr val="FFFFFF"/>
                </a:solidFill>
                <a:latin typeface="Hiragino Sans"/>
                <a:ea typeface="Hiragino Sans"/>
                <a:cs typeface="Hiragino Sans"/>
              </a:rPr>
              <a:t>• 2022年に Google Ads / GA4 のデフォルトに昇格</a:t>
            </a:r>
          </a:p>
          <a:p>
            <a:pPr algn="l">
              <a:lnSpc>
                <a:spcPct val="155000"/>
              </a:lnSpc>
            </a:pPr>
            <a:r>
              <a:rPr sz="1100" b="0">
                <a:solidFill>
                  <a:srgbClr val="FFFFFF"/>
                </a:solidFill>
                <a:latin typeface="Hiragino Sans"/>
                <a:ea typeface="Hiragino Sans"/>
                <a:cs typeface="Hiragino Sans"/>
              </a:rPr>
              <a:t>• Cross-channel : Search / Display / YouTube / Shopping を横断評価</a:t>
            </a:r>
          </a:p>
          <a:p>
            <a:pPr algn="l">
              <a:lnSpc>
                <a:spcPct val="155000"/>
              </a:lnSpc>
            </a:pPr>
            <a:r>
              <a:rPr sz="1100" b="0">
                <a:solidFill>
                  <a:srgbClr val="FFFFFF"/>
                </a:solidFill>
                <a:latin typeface="Hiragino Sans"/>
                <a:ea typeface="Hiragino Sans"/>
                <a:cs typeface="Hiragino Sans"/>
              </a:rPr>
              <a:t>• 副業代行のポイント : レポートで必ず『DDA設定済』を確認、Last Click は非推奨</a:t>
            </a:r>
          </a:p>
        </p:txBody>
      </p:sp>
      <p:sp>
        <p:nvSpPr>
          <p:cNvPr id="37" name="TextBox 36"/>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Optiscore の活用と罠</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100点満点を盲信しない、使いどころを選ぶ</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P49 / 250</a:t>
            </a:r>
          </a:p>
        </p:txBody>
      </p:sp>
      <p:sp>
        <p:nvSpPr>
          <p:cNvPr id="8" name="TextBox 7"/>
          <p:cNvSpPr txBox="1"/>
          <p:nvPr/>
        </p:nvSpPr>
        <p:spPr>
          <a:xfrm>
            <a:off x="548640" y="1417320"/>
            <a:ext cx="5486400" cy="320040"/>
          </a:xfrm>
          <a:prstGeom prst="rect">
            <a:avLst/>
          </a:prstGeom>
          <a:noFill/>
        </p:spPr>
        <p:txBody>
          <a:bodyPr wrap="square" anchor="t" lIns="0" rIns="0" tIns="0" bIns="0">
            <a:spAutoFit/>
          </a:bodyPr>
          <a:lstStyle/>
          <a:p>
            <a:pPr algn="l">
              <a:lnSpc>
                <a:spcPct val="115000"/>
              </a:lnSpc>
            </a:pPr>
            <a:r>
              <a:rPr sz="1300" b="1">
                <a:solidFill>
                  <a:srgbClr val="2E8B57"/>
                </a:solidFill>
                <a:latin typeface="Hiragino Sans"/>
                <a:ea typeface="Hiragino Sans"/>
                <a:cs typeface="Hiragino Sans"/>
              </a:rPr>
              <a:t>活用するべき提案</a:t>
            </a:r>
          </a:p>
        </p:txBody>
      </p:sp>
      <p:sp>
        <p:nvSpPr>
          <p:cNvPr id="9" name="Rectangle 8"/>
          <p:cNvSpPr/>
          <p:nvPr/>
        </p:nvSpPr>
        <p:spPr>
          <a:xfrm>
            <a:off x="548640" y="1737360"/>
            <a:ext cx="548640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1920240"/>
            <a:ext cx="5486400" cy="457200"/>
          </a:xfrm>
          <a:prstGeom prst="roundRect">
            <a:avLst>
              <a:gd name="adj" fmla="val 6000"/>
            </a:avLst>
          </a:prstGeom>
          <a:solidFill>
            <a:srgbClr val="FFF3E6"/>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039112"/>
            <a:ext cx="274320" cy="274320"/>
          </a:xfrm>
          <a:prstGeom prst="rect">
            <a:avLst/>
          </a:prstGeom>
          <a:noFill/>
        </p:spPr>
        <p:txBody>
          <a:bodyPr wrap="square" anchor="t" lIns="0" rIns="0" tIns="0" bIns="0">
            <a:spAutoFit/>
          </a:bodyPr>
          <a:lstStyle/>
          <a:p>
            <a:pPr algn="l">
              <a:lnSpc>
                <a:spcPct val="115000"/>
              </a:lnSpc>
            </a:pPr>
            <a:r>
              <a:rPr sz="1400" b="1">
                <a:solidFill>
                  <a:srgbClr val="2E8B57"/>
                </a:solidFill>
                <a:latin typeface="Hiragino Sans"/>
                <a:ea typeface="Hiragino Sans"/>
                <a:cs typeface="Hiragino Sans"/>
              </a:rPr>
              <a:t>✓</a:t>
            </a:r>
          </a:p>
        </p:txBody>
      </p:sp>
      <p:sp>
        <p:nvSpPr>
          <p:cNvPr id="12" name="TextBox 11"/>
          <p:cNvSpPr txBox="1"/>
          <p:nvPr/>
        </p:nvSpPr>
        <p:spPr>
          <a:xfrm>
            <a:off x="1097280" y="1993392"/>
            <a:ext cx="429768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Enhanced Conversions 有効化</a:t>
            </a:r>
          </a:p>
        </p:txBody>
      </p:sp>
      <p:sp>
        <p:nvSpPr>
          <p:cNvPr id="13" name="TextBox 12"/>
          <p:cNvSpPr txBox="1"/>
          <p:nvPr/>
        </p:nvSpPr>
        <p:spPr>
          <a:xfrm>
            <a:off x="1097280" y="2194560"/>
            <a:ext cx="4297680" cy="274320"/>
          </a:xfrm>
          <a:prstGeom prst="rect">
            <a:avLst/>
          </a:prstGeom>
          <a:noFill/>
        </p:spPr>
        <p:txBody>
          <a:bodyPr wrap="square" anchor="t" lIns="0" rIns="0" tIns="0" bIns="0">
            <a:spAutoFit/>
          </a:bodyPr>
          <a:lstStyle/>
          <a:p>
            <a:pPr algn="l">
              <a:lnSpc>
                <a:spcPct val="115000"/>
              </a:lnSpc>
            </a:pPr>
            <a:r>
              <a:rPr sz="900" b="0">
                <a:solidFill>
                  <a:srgbClr val="5A6A80"/>
                </a:solidFill>
                <a:latin typeface="Hiragino Sans"/>
                <a:ea typeface="Hiragino Sans"/>
                <a:cs typeface="Hiragino Sans"/>
              </a:rPr>
              <a:t>シグナル補強 = 無料で効く</a:t>
            </a:r>
          </a:p>
        </p:txBody>
      </p:sp>
      <p:sp>
        <p:nvSpPr>
          <p:cNvPr id="14" name="Rounded Rectangle 13"/>
          <p:cNvSpPr/>
          <p:nvPr/>
        </p:nvSpPr>
        <p:spPr>
          <a:xfrm>
            <a:off x="548640" y="2423160"/>
            <a:ext cx="5486400" cy="457200"/>
          </a:xfrm>
          <a:prstGeom prst="roundRect">
            <a:avLst>
              <a:gd name="adj" fmla="val 6000"/>
            </a:avLst>
          </a:prstGeom>
          <a:solidFill>
            <a:srgbClr val="FFF3E6"/>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2542032"/>
            <a:ext cx="274320" cy="274320"/>
          </a:xfrm>
          <a:prstGeom prst="rect">
            <a:avLst/>
          </a:prstGeom>
          <a:noFill/>
        </p:spPr>
        <p:txBody>
          <a:bodyPr wrap="square" anchor="t" lIns="0" rIns="0" tIns="0" bIns="0">
            <a:spAutoFit/>
          </a:bodyPr>
          <a:lstStyle/>
          <a:p>
            <a:pPr algn="l">
              <a:lnSpc>
                <a:spcPct val="115000"/>
              </a:lnSpc>
            </a:pPr>
            <a:r>
              <a:rPr sz="1400" b="1">
                <a:solidFill>
                  <a:srgbClr val="2E8B57"/>
                </a:solidFill>
                <a:latin typeface="Hiragino Sans"/>
                <a:ea typeface="Hiragino Sans"/>
                <a:cs typeface="Hiragino Sans"/>
              </a:rPr>
              <a:t>✓</a:t>
            </a:r>
          </a:p>
        </p:txBody>
      </p:sp>
      <p:sp>
        <p:nvSpPr>
          <p:cNvPr id="16" name="TextBox 15"/>
          <p:cNvSpPr txBox="1"/>
          <p:nvPr/>
        </p:nvSpPr>
        <p:spPr>
          <a:xfrm>
            <a:off x="1097280" y="2496312"/>
            <a:ext cx="429768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Consent Mode v2 実装</a:t>
            </a:r>
          </a:p>
        </p:txBody>
      </p:sp>
      <p:sp>
        <p:nvSpPr>
          <p:cNvPr id="17" name="TextBox 16"/>
          <p:cNvSpPr txBox="1"/>
          <p:nvPr/>
        </p:nvSpPr>
        <p:spPr>
          <a:xfrm>
            <a:off x="1097280" y="2697480"/>
            <a:ext cx="4297680" cy="274320"/>
          </a:xfrm>
          <a:prstGeom prst="rect">
            <a:avLst/>
          </a:prstGeom>
          <a:noFill/>
        </p:spPr>
        <p:txBody>
          <a:bodyPr wrap="square" anchor="t" lIns="0" rIns="0" tIns="0" bIns="0">
            <a:spAutoFit/>
          </a:bodyPr>
          <a:lstStyle/>
          <a:p>
            <a:pPr algn="l">
              <a:lnSpc>
                <a:spcPct val="115000"/>
              </a:lnSpc>
            </a:pPr>
            <a:r>
              <a:rPr sz="900" b="0">
                <a:solidFill>
                  <a:srgbClr val="5A6A80"/>
                </a:solidFill>
                <a:latin typeface="Hiragino Sans"/>
                <a:ea typeface="Hiragino Sans"/>
                <a:cs typeface="Hiragino Sans"/>
              </a:rPr>
              <a:t>モデリング精度向上</a:t>
            </a:r>
          </a:p>
        </p:txBody>
      </p:sp>
      <p:sp>
        <p:nvSpPr>
          <p:cNvPr id="18" name="Rounded Rectangle 17"/>
          <p:cNvSpPr/>
          <p:nvPr/>
        </p:nvSpPr>
        <p:spPr>
          <a:xfrm>
            <a:off x="548640" y="2926080"/>
            <a:ext cx="5486400" cy="457200"/>
          </a:xfrm>
          <a:prstGeom prst="roundRect">
            <a:avLst>
              <a:gd name="adj" fmla="val 6000"/>
            </a:avLst>
          </a:prstGeom>
          <a:solidFill>
            <a:srgbClr val="FFF3E6"/>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3044952"/>
            <a:ext cx="274320" cy="274320"/>
          </a:xfrm>
          <a:prstGeom prst="rect">
            <a:avLst/>
          </a:prstGeom>
          <a:noFill/>
        </p:spPr>
        <p:txBody>
          <a:bodyPr wrap="square" anchor="t" lIns="0" rIns="0" tIns="0" bIns="0">
            <a:spAutoFit/>
          </a:bodyPr>
          <a:lstStyle/>
          <a:p>
            <a:pPr algn="l">
              <a:lnSpc>
                <a:spcPct val="115000"/>
              </a:lnSpc>
            </a:pPr>
            <a:r>
              <a:rPr sz="1400" b="1">
                <a:solidFill>
                  <a:srgbClr val="2E8B57"/>
                </a:solidFill>
                <a:latin typeface="Hiragino Sans"/>
                <a:ea typeface="Hiragino Sans"/>
                <a:cs typeface="Hiragino Sans"/>
              </a:rPr>
              <a:t>✓</a:t>
            </a:r>
          </a:p>
        </p:txBody>
      </p:sp>
      <p:sp>
        <p:nvSpPr>
          <p:cNvPr id="20" name="TextBox 19"/>
          <p:cNvSpPr txBox="1"/>
          <p:nvPr/>
        </p:nvSpPr>
        <p:spPr>
          <a:xfrm>
            <a:off x="1097280" y="2999232"/>
            <a:ext cx="429768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DDA への切り替え</a:t>
            </a:r>
          </a:p>
        </p:txBody>
      </p:sp>
      <p:sp>
        <p:nvSpPr>
          <p:cNvPr id="21" name="TextBox 20"/>
          <p:cNvSpPr txBox="1"/>
          <p:nvPr/>
        </p:nvSpPr>
        <p:spPr>
          <a:xfrm>
            <a:off x="1097280" y="3200400"/>
            <a:ext cx="4297680" cy="274320"/>
          </a:xfrm>
          <a:prstGeom prst="rect">
            <a:avLst/>
          </a:prstGeom>
          <a:noFill/>
        </p:spPr>
        <p:txBody>
          <a:bodyPr wrap="square" anchor="t" lIns="0" rIns="0" tIns="0" bIns="0">
            <a:spAutoFit/>
          </a:bodyPr>
          <a:lstStyle/>
          <a:p>
            <a:pPr algn="l">
              <a:lnSpc>
                <a:spcPct val="115000"/>
              </a:lnSpc>
            </a:pPr>
            <a:r>
              <a:rPr sz="900" b="0">
                <a:solidFill>
                  <a:srgbClr val="5A6A80"/>
                </a:solidFill>
                <a:latin typeface="Hiragino Sans"/>
                <a:ea typeface="Hiragino Sans"/>
                <a:cs typeface="Hiragino Sans"/>
              </a:rPr>
              <a:t>ラストクリック依存を脱する</a:t>
            </a:r>
          </a:p>
        </p:txBody>
      </p:sp>
      <p:sp>
        <p:nvSpPr>
          <p:cNvPr id="22" name="Rounded Rectangle 21"/>
          <p:cNvSpPr/>
          <p:nvPr/>
        </p:nvSpPr>
        <p:spPr>
          <a:xfrm>
            <a:off x="548640" y="3429000"/>
            <a:ext cx="5486400" cy="457200"/>
          </a:xfrm>
          <a:prstGeom prst="roundRect">
            <a:avLst>
              <a:gd name="adj" fmla="val 6000"/>
            </a:avLst>
          </a:prstGeom>
          <a:solidFill>
            <a:srgbClr val="FFF3E6"/>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547872"/>
            <a:ext cx="274320" cy="274320"/>
          </a:xfrm>
          <a:prstGeom prst="rect">
            <a:avLst/>
          </a:prstGeom>
          <a:noFill/>
        </p:spPr>
        <p:txBody>
          <a:bodyPr wrap="square" anchor="t" lIns="0" rIns="0" tIns="0" bIns="0">
            <a:spAutoFit/>
          </a:bodyPr>
          <a:lstStyle/>
          <a:p>
            <a:pPr algn="l">
              <a:lnSpc>
                <a:spcPct val="115000"/>
              </a:lnSpc>
            </a:pPr>
            <a:r>
              <a:rPr sz="1400" b="1">
                <a:solidFill>
                  <a:srgbClr val="2E8B57"/>
                </a:solidFill>
                <a:latin typeface="Hiragino Sans"/>
                <a:ea typeface="Hiragino Sans"/>
                <a:cs typeface="Hiragino Sans"/>
              </a:rPr>
              <a:t>✓</a:t>
            </a:r>
          </a:p>
        </p:txBody>
      </p:sp>
      <p:sp>
        <p:nvSpPr>
          <p:cNvPr id="24" name="TextBox 23"/>
          <p:cNvSpPr txBox="1"/>
          <p:nvPr/>
        </p:nvSpPr>
        <p:spPr>
          <a:xfrm>
            <a:off x="1097280" y="3502152"/>
            <a:ext cx="429768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Audience Signal 追加</a:t>
            </a:r>
          </a:p>
        </p:txBody>
      </p:sp>
      <p:sp>
        <p:nvSpPr>
          <p:cNvPr id="25" name="TextBox 24"/>
          <p:cNvSpPr txBox="1"/>
          <p:nvPr/>
        </p:nvSpPr>
        <p:spPr>
          <a:xfrm>
            <a:off x="1097280" y="3703320"/>
            <a:ext cx="4297680" cy="274320"/>
          </a:xfrm>
          <a:prstGeom prst="rect">
            <a:avLst/>
          </a:prstGeom>
          <a:noFill/>
        </p:spPr>
        <p:txBody>
          <a:bodyPr wrap="square" anchor="t" lIns="0" rIns="0" tIns="0" bIns="0">
            <a:spAutoFit/>
          </a:bodyPr>
          <a:lstStyle/>
          <a:p>
            <a:pPr algn="l">
              <a:lnSpc>
                <a:spcPct val="115000"/>
              </a:lnSpc>
            </a:pPr>
            <a:r>
              <a:rPr sz="900" b="0">
                <a:solidFill>
                  <a:srgbClr val="5A6A80"/>
                </a:solidFill>
                <a:latin typeface="Hiragino Sans"/>
                <a:ea typeface="Hiragino Sans"/>
                <a:cs typeface="Hiragino Sans"/>
              </a:rPr>
              <a:t>PMax の学習加速</a:t>
            </a:r>
          </a:p>
        </p:txBody>
      </p:sp>
      <p:sp>
        <p:nvSpPr>
          <p:cNvPr id="26" name="Rounded Rectangle 25"/>
          <p:cNvSpPr/>
          <p:nvPr/>
        </p:nvSpPr>
        <p:spPr>
          <a:xfrm>
            <a:off x="548640" y="3931920"/>
            <a:ext cx="5486400" cy="457200"/>
          </a:xfrm>
          <a:prstGeom prst="roundRect">
            <a:avLst>
              <a:gd name="adj" fmla="val 6000"/>
            </a:avLst>
          </a:prstGeom>
          <a:solidFill>
            <a:srgbClr val="FFF3E6"/>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4050792"/>
            <a:ext cx="274320" cy="274320"/>
          </a:xfrm>
          <a:prstGeom prst="rect">
            <a:avLst/>
          </a:prstGeom>
          <a:noFill/>
        </p:spPr>
        <p:txBody>
          <a:bodyPr wrap="square" anchor="t" lIns="0" rIns="0" tIns="0" bIns="0">
            <a:spAutoFit/>
          </a:bodyPr>
          <a:lstStyle/>
          <a:p>
            <a:pPr algn="l">
              <a:lnSpc>
                <a:spcPct val="115000"/>
              </a:lnSpc>
            </a:pPr>
            <a:r>
              <a:rPr sz="1400" b="1">
                <a:solidFill>
                  <a:srgbClr val="2E8B57"/>
                </a:solidFill>
                <a:latin typeface="Hiragino Sans"/>
                <a:ea typeface="Hiragino Sans"/>
                <a:cs typeface="Hiragino Sans"/>
              </a:rPr>
              <a:t>✓</a:t>
            </a:r>
          </a:p>
        </p:txBody>
      </p:sp>
      <p:sp>
        <p:nvSpPr>
          <p:cNvPr id="28" name="TextBox 27"/>
          <p:cNvSpPr txBox="1"/>
          <p:nvPr/>
        </p:nvSpPr>
        <p:spPr>
          <a:xfrm>
            <a:off x="1097280" y="4005072"/>
            <a:ext cx="429768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Ad Strength 改善</a:t>
            </a:r>
          </a:p>
        </p:txBody>
      </p:sp>
      <p:sp>
        <p:nvSpPr>
          <p:cNvPr id="29" name="TextBox 28"/>
          <p:cNvSpPr txBox="1"/>
          <p:nvPr/>
        </p:nvSpPr>
        <p:spPr>
          <a:xfrm>
            <a:off x="1097280" y="4206240"/>
            <a:ext cx="4297680" cy="274320"/>
          </a:xfrm>
          <a:prstGeom prst="rect">
            <a:avLst/>
          </a:prstGeom>
          <a:noFill/>
        </p:spPr>
        <p:txBody>
          <a:bodyPr wrap="square" anchor="t" lIns="0" rIns="0" tIns="0" bIns="0">
            <a:spAutoFit/>
          </a:bodyPr>
          <a:lstStyle/>
          <a:p>
            <a:pPr algn="l">
              <a:lnSpc>
                <a:spcPct val="115000"/>
              </a:lnSpc>
            </a:pPr>
            <a:r>
              <a:rPr sz="900" b="0">
                <a:solidFill>
                  <a:srgbClr val="5A6A80"/>
                </a:solidFill>
                <a:latin typeface="Hiragino Sans"/>
                <a:ea typeface="Hiragino Sans"/>
                <a:cs typeface="Hiragino Sans"/>
              </a:rPr>
              <a:t>アセット多様化で CVR 改善</a:t>
            </a:r>
          </a:p>
        </p:txBody>
      </p:sp>
      <p:sp>
        <p:nvSpPr>
          <p:cNvPr id="30" name="TextBox 29"/>
          <p:cNvSpPr txBox="1"/>
          <p:nvPr/>
        </p:nvSpPr>
        <p:spPr>
          <a:xfrm>
            <a:off x="6400800" y="1417320"/>
            <a:ext cx="5486400" cy="320040"/>
          </a:xfrm>
          <a:prstGeom prst="rect">
            <a:avLst/>
          </a:prstGeom>
          <a:noFill/>
        </p:spPr>
        <p:txBody>
          <a:bodyPr wrap="square" anchor="t" lIns="0" rIns="0" tIns="0" bIns="0">
            <a:spAutoFit/>
          </a:bodyPr>
          <a:lstStyle/>
          <a:p>
            <a:pPr algn="l">
              <a:lnSpc>
                <a:spcPct val="115000"/>
              </a:lnSpc>
            </a:pPr>
            <a:r>
              <a:rPr sz="1300" b="1">
                <a:solidFill>
                  <a:srgbClr val="C6452D"/>
                </a:solidFill>
                <a:latin typeface="Hiragino Sans"/>
                <a:ea typeface="Hiragino Sans"/>
                <a:cs typeface="Hiragino Sans"/>
              </a:rPr>
              <a:t>鵜呑みにしない提案 (罠)</a:t>
            </a:r>
          </a:p>
        </p:txBody>
      </p:sp>
      <p:sp>
        <p:nvSpPr>
          <p:cNvPr id="31" name="Rectangle 30"/>
          <p:cNvSpPr/>
          <p:nvPr/>
        </p:nvSpPr>
        <p:spPr>
          <a:xfrm>
            <a:off x="6400800" y="1737360"/>
            <a:ext cx="525780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400800" y="1920240"/>
            <a:ext cx="5257800" cy="45720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83680" y="2039112"/>
            <a:ext cx="274320" cy="274320"/>
          </a:xfrm>
          <a:prstGeom prst="rect">
            <a:avLst/>
          </a:prstGeom>
          <a:noFill/>
        </p:spPr>
        <p:txBody>
          <a:bodyPr wrap="square" anchor="t" lIns="0" rIns="0" tIns="0" bIns="0">
            <a:spAutoFit/>
          </a:bodyPr>
          <a:lstStyle/>
          <a:p>
            <a:pPr algn="l">
              <a:lnSpc>
                <a:spcPct val="115000"/>
              </a:lnSpc>
            </a:pPr>
            <a:r>
              <a:rPr sz="1400" b="1">
                <a:solidFill>
                  <a:srgbClr val="C6452D"/>
                </a:solidFill>
                <a:latin typeface="Hiragino Sans"/>
                <a:ea typeface="Hiragino Sans"/>
                <a:cs typeface="Hiragino Sans"/>
              </a:rPr>
              <a:t>✗</a:t>
            </a:r>
          </a:p>
        </p:txBody>
      </p:sp>
      <p:sp>
        <p:nvSpPr>
          <p:cNvPr id="34" name="TextBox 33"/>
          <p:cNvSpPr txBox="1"/>
          <p:nvPr/>
        </p:nvSpPr>
        <p:spPr>
          <a:xfrm>
            <a:off x="6949440" y="1993392"/>
            <a:ext cx="411480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予算増額</a:t>
            </a:r>
          </a:p>
        </p:txBody>
      </p:sp>
      <p:sp>
        <p:nvSpPr>
          <p:cNvPr id="35" name="TextBox 34"/>
          <p:cNvSpPr txBox="1"/>
          <p:nvPr/>
        </p:nvSpPr>
        <p:spPr>
          <a:xfrm>
            <a:off x="6949440" y="2194560"/>
            <a:ext cx="4114800" cy="274320"/>
          </a:xfrm>
          <a:prstGeom prst="rect">
            <a:avLst/>
          </a:prstGeom>
          <a:noFill/>
        </p:spPr>
        <p:txBody>
          <a:bodyPr wrap="square" anchor="t" lIns="0" rIns="0" tIns="0" bIns="0">
            <a:spAutoFit/>
          </a:bodyPr>
          <a:lstStyle/>
          <a:p>
            <a:pPr algn="l">
              <a:lnSpc>
                <a:spcPct val="115000"/>
              </a:lnSpc>
            </a:pPr>
            <a:r>
              <a:rPr sz="900" b="0">
                <a:solidFill>
                  <a:srgbClr val="5A6A80"/>
                </a:solidFill>
                <a:latin typeface="Hiragino Sans"/>
                <a:ea typeface="Hiragino Sans"/>
                <a:cs typeface="Hiragino Sans"/>
              </a:rPr>
              <a:t>CPA悪化のリスク, 目標と別基準</a:t>
            </a:r>
          </a:p>
        </p:txBody>
      </p:sp>
      <p:sp>
        <p:nvSpPr>
          <p:cNvPr id="36" name="Rounded Rectangle 35"/>
          <p:cNvSpPr/>
          <p:nvPr/>
        </p:nvSpPr>
        <p:spPr>
          <a:xfrm>
            <a:off x="6400800" y="2423160"/>
            <a:ext cx="5257800" cy="45720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83680" y="2542032"/>
            <a:ext cx="274320" cy="274320"/>
          </a:xfrm>
          <a:prstGeom prst="rect">
            <a:avLst/>
          </a:prstGeom>
          <a:noFill/>
        </p:spPr>
        <p:txBody>
          <a:bodyPr wrap="square" anchor="t" lIns="0" rIns="0" tIns="0" bIns="0">
            <a:spAutoFit/>
          </a:bodyPr>
          <a:lstStyle/>
          <a:p>
            <a:pPr algn="l">
              <a:lnSpc>
                <a:spcPct val="115000"/>
              </a:lnSpc>
            </a:pPr>
            <a:r>
              <a:rPr sz="1400" b="1">
                <a:solidFill>
                  <a:srgbClr val="C6452D"/>
                </a:solidFill>
                <a:latin typeface="Hiragino Sans"/>
                <a:ea typeface="Hiragino Sans"/>
                <a:cs typeface="Hiragino Sans"/>
              </a:rPr>
              <a:t>✗</a:t>
            </a:r>
          </a:p>
        </p:txBody>
      </p:sp>
      <p:sp>
        <p:nvSpPr>
          <p:cNvPr id="38" name="TextBox 37"/>
          <p:cNvSpPr txBox="1"/>
          <p:nvPr/>
        </p:nvSpPr>
        <p:spPr>
          <a:xfrm>
            <a:off x="6949440" y="2496312"/>
            <a:ext cx="411480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tCPA/tROAS の緩和</a:t>
            </a:r>
          </a:p>
        </p:txBody>
      </p:sp>
      <p:sp>
        <p:nvSpPr>
          <p:cNvPr id="39" name="TextBox 38"/>
          <p:cNvSpPr txBox="1"/>
          <p:nvPr/>
        </p:nvSpPr>
        <p:spPr>
          <a:xfrm>
            <a:off x="6949440" y="2697480"/>
            <a:ext cx="4114800" cy="274320"/>
          </a:xfrm>
          <a:prstGeom prst="rect">
            <a:avLst/>
          </a:prstGeom>
          <a:noFill/>
        </p:spPr>
        <p:txBody>
          <a:bodyPr wrap="square" anchor="t" lIns="0" rIns="0" tIns="0" bIns="0">
            <a:spAutoFit/>
          </a:bodyPr>
          <a:lstStyle/>
          <a:p>
            <a:pPr algn="l">
              <a:lnSpc>
                <a:spcPct val="115000"/>
              </a:lnSpc>
            </a:pPr>
            <a:r>
              <a:rPr sz="900" b="0">
                <a:solidFill>
                  <a:srgbClr val="5A6A80"/>
                </a:solidFill>
                <a:latin typeface="Hiragino Sans"/>
                <a:ea typeface="Hiragino Sans"/>
                <a:cs typeface="Hiragino Sans"/>
              </a:rPr>
              <a:t>AIの『学習しやすい』提案、収益性劣化</a:t>
            </a:r>
          </a:p>
        </p:txBody>
      </p:sp>
      <p:sp>
        <p:nvSpPr>
          <p:cNvPr id="40" name="Rounded Rectangle 39"/>
          <p:cNvSpPr/>
          <p:nvPr/>
        </p:nvSpPr>
        <p:spPr>
          <a:xfrm>
            <a:off x="6400800" y="2926080"/>
            <a:ext cx="5257800" cy="45720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83680" y="3044952"/>
            <a:ext cx="274320" cy="274320"/>
          </a:xfrm>
          <a:prstGeom prst="rect">
            <a:avLst/>
          </a:prstGeom>
          <a:noFill/>
        </p:spPr>
        <p:txBody>
          <a:bodyPr wrap="square" anchor="t" lIns="0" rIns="0" tIns="0" bIns="0">
            <a:spAutoFit/>
          </a:bodyPr>
          <a:lstStyle/>
          <a:p>
            <a:pPr algn="l">
              <a:lnSpc>
                <a:spcPct val="115000"/>
              </a:lnSpc>
            </a:pPr>
            <a:r>
              <a:rPr sz="1400" b="1">
                <a:solidFill>
                  <a:srgbClr val="C6452D"/>
                </a:solidFill>
                <a:latin typeface="Hiragino Sans"/>
                <a:ea typeface="Hiragino Sans"/>
                <a:cs typeface="Hiragino Sans"/>
              </a:rPr>
              <a:t>✗</a:t>
            </a:r>
          </a:p>
        </p:txBody>
      </p:sp>
      <p:sp>
        <p:nvSpPr>
          <p:cNvPr id="42" name="TextBox 41"/>
          <p:cNvSpPr txBox="1"/>
          <p:nvPr/>
        </p:nvSpPr>
        <p:spPr>
          <a:xfrm>
            <a:off x="6949440" y="2999232"/>
            <a:ext cx="411480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マッチタイプを全 Broad に</a:t>
            </a:r>
          </a:p>
        </p:txBody>
      </p:sp>
      <p:sp>
        <p:nvSpPr>
          <p:cNvPr id="43" name="TextBox 42"/>
          <p:cNvSpPr txBox="1"/>
          <p:nvPr/>
        </p:nvSpPr>
        <p:spPr>
          <a:xfrm>
            <a:off x="6949440" y="3200400"/>
            <a:ext cx="4114800" cy="274320"/>
          </a:xfrm>
          <a:prstGeom prst="rect">
            <a:avLst/>
          </a:prstGeom>
          <a:noFill/>
        </p:spPr>
        <p:txBody>
          <a:bodyPr wrap="square" anchor="t" lIns="0" rIns="0" tIns="0" bIns="0">
            <a:spAutoFit/>
          </a:bodyPr>
          <a:lstStyle/>
          <a:p>
            <a:pPr algn="l">
              <a:lnSpc>
                <a:spcPct val="115000"/>
              </a:lnSpc>
            </a:pPr>
            <a:r>
              <a:rPr sz="900" b="0">
                <a:solidFill>
                  <a:srgbClr val="5A6A80"/>
                </a:solidFill>
                <a:latin typeface="Hiragino Sans"/>
                <a:ea typeface="Hiragino Sans"/>
                <a:cs typeface="Hiragino Sans"/>
              </a:rPr>
              <a:t>同業種 KW侵食や無関係 Broad</a:t>
            </a:r>
          </a:p>
        </p:txBody>
      </p:sp>
      <p:sp>
        <p:nvSpPr>
          <p:cNvPr id="44" name="Rounded Rectangle 43"/>
          <p:cNvSpPr/>
          <p:nvPr/>
        </p:nvSpPr>
        <p:spPr>
          <a:xfrm>
            <a:off x="6400800" y="3429000"/>
            <a:ext cx="5257800" cy="45720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583680" y="3547872"/>
            <a:ext cx="274320" cy="274320"/>
          </a:xfrm>
          <a:prstGeom prst="rect">
            <a:avLst/>
          </a:prstGeom>
          <a:noFill/>
        </p:spPr>
        <p:txBody>
          <a:bodyPr wrap="square" anchor="t" lIns="0" rIns="0" tIns="0" bIns="0">
            <a:spAutoFit/>
          </a:bodyPr>
          <a:lstStyle/>
          <a:p>
            <a:pPr algn="l">
              <a:lnSpc>
                <a:spcPct val="115000"/>
              </a:lnSpc>
            </a:pPr>
            <a:r>
              <a:rPr sz="1400" b="1">
                <a:solidFill>
                  <a:srgbClr val="C6452D"/>
                </a:solidFill>
                <a:latin typeface="Hiragino Sans"/>
                <a:ea typeface="Hiragino Sans"/>
                <a:cs typeface="Hiragino Sans"/>
              </a:rPr>
              <a:t>✗</a:t>
            </a:r>
          </a:p>
        </p:txBody>
      </p:sp>
      <p:sp>
        <p:nvSpPr>
          <p:cNvPr id="46" name="TextBox 45"/>
          <p:cNvSpPr txBox="1"/>
          <p:nvPr/>
        </p:nvSpPr>
        <p:spPr>
          <a:xfrm>
            <a:off x="6949440" y="3502152"/>
            <a:ext cx="411480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全自動入札への切替</a:t>
            </a:r>
          </a:p>
        </p:txBody>
      </p:sp>
      <p:sp>
        <p:nvSpPr>
          <p:cNvPr id="47" name="TextBox 46"/>
          <p:cNvSpPr txBox="1"/>
          <p:nvPr/>
        </p:nvSpPr>
        <p:spPr>
          <a:xfrm>
            <a:off x="6949440" y="3703320"/>
            <a:ext cx="4114800" cy="274320"/>
          </a:xfrm>
          <a:prstGeom prst="rect">
            <a:avLst/>
          </a:prstGeom>
          <a:noFill/>
        </p:spPr>
        <p:txBody>
          <a:bodyPr wrap="square" anchor="t" lIns="0" rIns="0" tIns="0" bIns="0">
            <a:spAutoFit/>
          </a:bodyPr>
          <a:lstStyle/>
          <a:p>
            <a:pPr algn="l">
              <a:lnSpc>
                <a:spcPct val="115000"/>
              </a:lnSpc>
            </a:pPr>
            <a:r>
              <a:rPr sz="900" b="0">
                <a:solidFill>
                  <a:srgbClr val="5A6A80"/>
                </a:solidFill>
                <a:latin typeface="Hiragino Sans"/>
                <a:ea typeface="Hiragino Sans"/>
                <a:cs typeface="Hiragino Sans"/>
              </a:rPr>
              <a:t>業種・商材で効かないケースあり</a:t>
            </a:r>
          </a:p>
        </p:txBody>
      </p:sp>
      <p:sp>
        <p:nvSpPr>
          <p:cNvPr id="48" name="Rounded Rectangle 47"/>
          <p:cNvSpPr/>
          <p:nvPr/>
        </p:nvSpPr>
        <p:spPr>
          <a:xfrm>
            <a:off x="6400800" y="3931920"/>
            <a:ext cx="5257800" cy="45720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583680" y="4050792"/>
            <a:ext cx="274320" cy="274320"/>
          </a:xfrm>
          <a:prstGeom prst="rect">
            <a:avLst/>
          </a:prstGeom>
          <a:noFill/>
        </p:spPr>
        <p:txBody>
          <a:bodyPr wrap="square" anchor="t" lIns="0" rIns="0" tIns="0" bIns="0">
            <a:spAutoFit/>
          </a:bodyPr>
          <a:lstStyle/>
          <a:p>
            <a:pPr algn="l">
              <a:lnSpc>
                <a:spcPct val="115000"/>
              </a:lnSpc>
            </a:pPr>
            <a:r>
              <a:rPr sz="1400" b="1">
                <a:solidFill>
                  <a:srgbClr val="C6452D"/>
                </a:solidFill>
                <a:latin typeface="Hiragino Sans"/>
                <a:ea typeface="Hiragino Sans"/>
                <a:cs typeface="Hiragino Sans"/>
              </a:rPr>
              <a:t>✗</a:t>
            </a:r>
          </a:p>
        </p:txBody>
      </p:sp>
      <p:sp>
        <p:nvSpPr>
          <p:cNvPr id="50" name="TextBox 49"/>
          <p:cNvSpPr txBox="1"/>
          <p:nvPr/>
        </p:nvSpPr>
        <p:spPr>
          <a:xfrm>
            <a:off x="6949440" y="4005072"/>
            <a:ext cx="411480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キーワード追加 (意図不一致)</a:t>
            </a:r>
          </a:p>
        </p:txBody>
      </p:sp>
      <p:sp>
        <p:nvSpPr>
          <p:cNvPr id="51" name="TextBox 50"/>
          <p:cNvSpPr txBox="1"/>
          <p:nvPr/>
        </p:nvSpPr>
        <p:spPr>
          <a:xfrm>
            <a:off x="6949440" y="4206240"/>
            <a:ext cx="4114800" cy="274320"/>
          </a:xfrm>
          <a:prstGeom prst="rect">
            <a:avLst/>
          </a:prstGeom>
          <a:noFill/>
        </p:spPr>
        <p:txBody>
          <a:bodyPr wrap="square" anchor="t" lIns="0" rIns="0" tIns="0" bIns="0">
            <a:spAutoFit/>
          </a:bodyPr>
          <a:lstStyle/>
          <a:p>
            <a:pPr algn="l">
              <a:lnSpc>
                <a:spcPct val="115000"/>
              </a:lnSpc>
            </a:pPr>
            <a:r>
              <a:rPr sz="900" b="0">
                <a:solidFill>
                  <a:srgbClr val="5A6A80"/>
                </a:solidFill>
                <a:latin typeface="Hiragino Sans"/>
                <a:ea typeface="Hiragino Sans"/>
                <a:cs typeface="Hiragino Sans"/>
              </a:rPr>
              <a:t>競合・類語の関連KW混入</a:t>
            </a:r>
          </a:p>
        </p:txBody>
      </p:sp>
      <p:sp>
        <p:nvSpPr>
          <p:cNvPr id="52" name="Rounded Rectangle 51"/>
          <p:cNvSpPr/>
          <p:nvPr/>
        </p:nvSpPr>
        <p:spPr>
          <a:xfrm>
            <a:off x="548640" y="4709160"/>
            <a:ext cx="11109960" cy="160020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77240" y="4846320"/>
            <a:ext cx="10058400" cy="320040"/>
          </a:xfrm>
          <a:prstGeom prst="rect">
            <a:avLst/>
          </a:prstGeom>
          <a:noFill/>
        </p:spPr>
        <p:txBody>
          <a:bodyPr wrap="square" anchor="t" lIns="0" rIns="0" tIns="0" bIns="0">
            <a:spAutoFit/>
          </a:bodyPr>
          <a:lstStyle/>
          <a:p>
            <a:pPr algn="l">
              <a:lnSpc>
                <a:spcPct val="115000"/>
              </a:lnSpc>
            </a:pPr>
            <a:r>
              <a:rPr sz="1200" b="1">
                <a:solidFill>
                  <a:srgbClr val="E87722"/>
                </a:solidFill>
                <a:latin typeface="Hiragino Sans"/>
                <a:ea typeface="Hiragino Sans"/>
                <a:cs typeface="Hiragino Sans"/>
              </a:rPr>
              <a:t>💡 Optiscore との付き合い方</a:t>
            </a:r>
          </a:p>
        </p:txBody>
      </p:sp>
      <p:sp>
        <p:nvSpPr>
          <p:cNvPr id="54" name="TextBox 53"/>
          <p:cNvSpPr txBox="1"/>
          <p:nvPr/>
        </p:nvSpPr>
        <p:spPr>
          <a:xfrm>
            <a:off x="777240" y="5166360"/>
            <a:ext cx="10972800" cy="1097280"/>
          </a:xfrm>
          <a:prstGeom prst="rect">
            <a:avLst/>
          </a:prstGeom>
          <a:noFill/>
        </p:spPr>
        <p:txBody>
          <a:bodyPr wrap="square" anchor="t" lIns="0" rIns="0" tIns="0" bIns="0">
            <a:spAutoFit/>
          </a:bodyPr>
          <a:lstStyle/>
          <a:p>
            <a:pPr algn="l">
              <a:lnSpc>
                <a:spcPct val="155000"/>
              </a:lnSpc>
            </a:pPr>
            <a:r>
              <a:rPr sz="1100" b="0">
                <a:solidFill>
                  <a:srgbClr val="FFFFFF"/>
                </a:solidFill>
                <a:latin typeface="Hiragino Sans"/>
                <a:ea typeface="Hiragino Sans"/>
                <a:cs typeface="Hiragino Sans"/>
              </a:rPr>
              <a:t>• 80%以上は目指す価値あり / 95%以上を追求すると過剰最適化 (予算爆増・CPA崩壊) のリスク</a:t>
            </a:r>
          </a:p>
          <a:p>
            <a:pPr algn="l">
              <a:lnSpc>
                <a:spcPct val="155000"/>
              </a:lnSpc>
            </a:pPr>
            <a:r>
              <a:rPr sz="1100" b="0">
                <a:solidFill>
                  <a:srgbClr val="FFFFFF"/>
                </a:solidFill>
                <a:latin typeface="Hiragino Sans"/>
                <a:ea typeface="Hiragino Sans"/>
                <a:cs typeface="Hiragino Sans"/>
              </a:rPr>
              <a:t>• 提案は『計測・学習補助系』を優先。『予算・入札緩和』は慎重</a:t>
            </a:r>
          </a:p>
          <a:p>
            <a:pPr algn="l">
              <a:lnSpc>
                <a:spcPct val="155000"/>
              </a:lnSpc>
            </a:pPr>
            <a:r>
              <a:rPr sz="1100" b="0">
                <a:solidFill>
                  <a:srgbClr val="FFFFFF"/>
                </a:solidFill>
                <a:latin typeface="Hiragino Sans"/>
                <a:ea typeface="Hiragino Sans"/>
                <a:cs typeface="Hiragino Sans"/>
              </a:rPr>
              <a:t>• 提案を適用しても月次レビューで必ずパフォーマンスを確認</a:t>
            </a:r>
          </a:p>
          <a:p>
            <a:pPr algn="l">
              <a:lnSpc>
                <a:spcPct val="155000"/>
              </a:lnSpc>
            </a:pPr>
            <a:r>
              <a:rPr sz="1100" b="0">
                <a:solidFill>
                  <a:srgbClr val="FFFFFF"/>
                </a:solidFill>
                <a:latin typeface="Hiragino Sans"/>
                <a:ea typeface="Hiragino Sans"/>
                <a:cs typeface="Hiragino Sans"/>
              </a:rPr>
              <a:t>• 副業代行 : クライアントには『適用した提案リストと理由』を月次レポートで明示</a:t>
            </a:r>
          </a:p>
        </p:txBody>
      </p:sp>
      <p:sp>
        <p:nvSpPr>
          <p:cNvPr id="55" name="TextBox 54"/>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New Customer Acquisition (NCA) Goal</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新規顧客獲得を明示的に最適化する</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P50 / 250</a:t>
            </a:r>
          </a:p>
        </p:txBody>
      </p:sp>
      <p:sp>
        <p:nvSpPr>
          <p:cNvPr id="8" name="Rounded Rectangle 7"/>
          <p:cNvSpPr/>
          <p:nvPr/>
        </p:nvSpPr>
        <p:spPr>
          <a:xfrm>
            <a:off x="548640" y="1371600"/>
            <a:ext cx="11109960" cy="914400"/>
          </a:xfrm>
          <a:prstGeom prst="roundRect">
            <a:avLst>
              <a:gd name="adj" fmla="val 6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08760"/>
            <a:ext cx="10972800" cy="731520"/>
          </a:xfrm>
          <a:prstGeom prst="rect">
            <a:avLst/>
          </a:prstGeom>
          <a:noFill/>
        </p:spPr>
        <p:txBody>
          <a:bodyPr wrap="square" anchor="t" lIns="0" rIns="0" tIns="0" bIns="0">
            <a:spAutoFit/>
          </a:bodyPr>
          <a:lstStyle/>
          <a:p>
            <a:pPr algn="l">
              <a:lnSpc>
                <a:spcPct val="150000"/>
              </a:lnSpc>
            </a:pPr>
            <a:r>
              <a:rPr sz="1200" b="0">
                <a:solidFill>
                  <a:srgbClr val="1A1A1A"/>
                </a:solidFill>
                <a:latin typeface="Hiragino Sans"/>
                <a:ea typeface="Hiragino Sans"/>
                <a:cs typeface="Hiragino Sans"/>
              </a:rPr>
              <a:t>PMax / Demand Gen / Search に搭載された『新規顧客優先』設定。</a:t>
            </a:r>
          </a:p>
          <a:p>
            <a:pPr algn="l">
              <a:lnSpc>
                <a:spcPct val="150000"/>
              </a:lnSpc>
            </a:pPr>
            <a:r>
              <a:rPr sz="1200" b="0">
                <a:solidFill>
                  <a:srgbClr val="1A1A1A"/>
                </a:solidFill>
                <a:latin typeface="Hiragino Sans"/>
                <a:ea typeface="Hiragino Sans"/>
                <a:cs typeface="Hiragino Sans"/>
              </a:rPr>
              <a:t>過去の購入履歴を参照し、既存顧客 vs 新規顧客を識別して最適化</a:t>
            </a:r>
          </a:p>
        </p:txBody>
      </p:sp>
      <p:sp>
        <p:nvSpPr>
          <p:cNvPr id="10" name="Rounded Rectangle 9"/>
          <p:cNvSpPr/>
          <p:nvPr/>
        </p:nvSpPr>
        <p:spPr>
          <a:xfrm>
            <a:off x="548640" y="2514600"/>
            <a:ext cx="5486400" cy="27432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514600"/>
            <a:ext cx="5486400" cy="68580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2679192"/>
            <a:ext cx="4937760" cy="411480"/>
          </a:xfrm>
          <a:prstGeom prst="rect">
            <a:avLst/>
          </a:prstGeom>
          <a:noFill/>
        </p:spPr>
        <p:txBody>
          <a:bodyPr wrap="square" anchor="t" lIns="0" rIns="0" tIns="0" bIns="0">
            <a:spAutoFit/>
          </a:bodyPr>
          <a:lstStyle/>
          <a:p>
            <a:pPr algn="l">
              <a:lnSpc>
                <a:spcPct val="115000"/>
              </a:lnSpc>
            </a:pPr>
            <a:r>
              <a:rPr sz="1500" b="1">
                <a:solidFill>
                  <a:srgbClr val="FFFFFF"/>
                </a:solidFill>
                <a:latin typeface="Hiragino Sans"/>
                <a:ea typeface="Hiragino Sans"/>
                <a:cs typeface="Hiragino Sans"/>
              </a:rPr>
              <a:t>New Customer Only</a:t>
            </a:r>
          </a:p>
        </p:txBody>
      </p:sp>
      <p:sp>
        <p:nvSpPr>
          <p:cNvPr id="13" name="TextBox 12"/>
          <p:cNvSpPr txBox="1"/>
          <p:nvPr/>
        </p:nvSpPr>
        <p:spPr>
          <a:xfrm>
            <a:off x="822960" y="3429000"/>
            <a:ext cx="4937760" cy="82296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新規顧客にのみ配信</a:t>
            </a:r>
          </a:p>
          <a:p>
            <a:pPr algn="l">
              <a:lnSpc>
                <a:spcPct val="150000"/>
              </a:lnSpc>
            </a:pPr>
            <a:r>
              <a:rPr sz="1100" b="0">
                <a:solidFill>
                  <a:srgbClr val="1A1A1A"/>
                </a:solidFill>
                <a:latin typeface="Hiragino Sans"/>
                <a:ea typeface="Hiragino Sans"/>
                <a:cs typeface="Hiragino Sans"/>
              </a:rPr>
              <a:t>既存顧客には一切配信しない</a:t>
            </a:r>
          </a:p>
        </p:txBody>
      </p:sp>
      <p:sp>
        <p:nvSpPr>
          <p:cNvPr id="14" name="Rectangle 13"/>
          <p:cNvSpPr/>
          <p:nvPr/>
        </p:nvSpPr>
        <p:spPr>
          <a:xfrm>
            <a:off x="822960" y="4297680"/>
            <a:ext cx="493776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4434840"/>
            <a:ext cx="4937760" cy="274320"/>
          </a:xfrm>
          <a:prstGeom prst="rect">
            <a:avLst/>
          </a:prstGeom>
          <a:noFill/>
        </p:spPr>
        <p:txBody>
          <a:bodyPr wrap="square" anchor="t" lIns="0" rIns="0" tIns="0" bIns="0">
            <a:spAutoFit/>
          </a:bodyPr>
          <a:lstStyle/>
          <a:p>
            <a:pPr algn="l">
              <a:lnSpc>
                <a:spcPct val="115000"/>
              </a:lnSpc>
            </a:pPr>
            <a:r>
              <a:rPr sz="1100" b="1">
                <a:solidFill>
                  <a:srgbClr val="B85E1A"/>
                </a:solidFill>
                <a:latin typeface="Hiragino Sans"/>
                <a:ea typeface="Hiragino Sans"/>
                <a:cs typeface="Hiragino Sans"/>
              </a:rPr>
              <a:t>効果とフィット</a:t>
            </a:r>
          </a:p>
        </p:txBody>
      </p:sp>
      <p:sp>
        <p:nvSpPr>
          <p:cNvPr id="16" name="TextBox 15"/>
          <p:cNvSpPr txBox="1"/>
          <p:nvPr/>
        </p:nvSpPr>
        <p:spPr>
          <a:xfrm>
            <a:off x="822960" y="4663440"/>
            <a:ext cx="4937760" cy="594360"/>
          </a:xfrm>
          <a:prstGeom prst="rect">
            <a:avLst/>
          </a:prstGeom>
          <a:noFill/>
        </p:spPr>
        <p:txBody>
          <a:bodyPr wrap="square" anchor="t" lIns="0" rIns="0" tIns="0" bIns="0">
            <a:spAutoFit/>
          </a:bodyPr>
          <a:lstStyle/>
          <a:p>
            <a:pPr algn="l">
              <a:lnSpc>
                <a:spcPct val="150000"/>
              </a:lnSpc>
            </a:pPr>
            <a:r>
              <a:rPr sz="1000" b="0">
                <a:solidFill>
                  <a:srgbClr val="1A1A1A"/>
                </a:solidFill>
                <a:latin typeface="Hiragino Sans"/>
                <a:ea typeface="Hiragino Sans"/>
                <a:cs typeface="Hiragino Sans"/>
              </a:rPr>
              <a:t>コスト : 短期CPA高騰</a:t>
            </a:r>
          </a:p>
          <a:p>
            <a:pPr algn="l">
              <a:lnSpc>
                <a:spcPct val="150000"/>
              </a:lnSpc>
            </a:pPr>
            <a:r>
              <a:rPr sz="1000" b="0">
                <a:solidFill>
                  <a:srgbClr val="1A1A1A"/>
                </a:solidFill>
                <a:latin typeface="Hiragino Sans"/>
                <a:ea typeface="Hiragino Sans"/>
                <a:cs typeface="Hiragino Sans"/>
              </a:rPr>
              <a:t>ポテンシャル : 顧客ベース拡大</a:t>
            </a:r>
          </a:p>
          <a:p>
            <a:pPr algn="l">
              <a:lnSpc>
                <a:spcPct val="150000"/>
              </a:lnSpc>
            </a:pPr>
            <a:r>
              <a:rPr sz="1000" b="0">
                <a:solidFill>
                  <a:srgbClr val="1A1A1A"/>
                </a:solidFill>
                <a:latin typeface="Hiragino Sans"/>
                <a:ea typeface="Hiragino Sans"/>
                <a:cs typeface="Hiragino Sans"/>
              </a:rPr>
              <a:t>適合 : D2C / SaaS の CAC 管理</a:t>
            </a:r>
          </a:p>
        </p:txBody>
      </p:sp>
      <p:sp>
        <p:nvSpPr>
          <p:cNvPr id="17" name="Rounded Rectangle 16"/>
          <p:cNvSpPr/>
          <p:nvPr/>
        </p:nvSpPr>
        <p:spPr>
          <a:xfrm>
            <a:off x="6172200" y="2514600"/>
            <a:ext cx="5486400" cy="27432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72200" y="2514600"/>
            <a:ext cx="5486400" cy="68580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6520" y="2679192"/>
            <a:ext cx="4937760" cy="411480"/>
          </a:xfrm>
          <a:prstGeom prst="rect">
            <a:avLst/>
          </a:prstGeom>
          <a:noFill/>
        </p:spPr>
        <p:txBody>
          <a:bodyPr wrap="square" anchor="t" lIns="0" rIns="0" tIns="0" bIns="0">
            <a:spAutoFit/>
          </a:bodyPr>
          <a:lstStyle/>
          <a:p>
            <a:pPr algn="l">
              <a:lnSpc>
                <a:spcPct val="115000"/>
              </a:lnSpc>
            </a:pPr>
            <a:r>
              <a:rPr sz="1500" b="1">
                <a:solidFill>
                  <a:srgbClr val="FFFFFF"/>
                </a:solidFill>
                <a:latin typeface="Hiragino Sans"/>
                <a:ea typeface="Hiragino Sans"/>
                <a:cs typeface="Hiragino Sans"/>
              </a:rPr>
              <a:t>New Customer Value</a:t>
            </a:r>
          </a:p>
        </p:txBody>
      </p:sp>
      <p:sp>
        <p:nvSpPr>
          <p:cNvPr id="20" name="TextBox 19"/>
          <p:cNvSpPr txBox="1"/>
          <p:nvPr/>
        </p:nvSpPr>
        <p:spPr>
          <a:xfrm>
            <a:off x="6446520" y="3429000"/>
            <a:ext cx="4937760" cy="82296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新規のCVに『プレミアム価値』を上乗せ</a:t>
            </a:r>
          </a:p>
          <a:p>
            <a:pPr algn="l">
              <a:lnSpc>
                <a:spcPct val="150000"/>
              </a:lnSpc>
            </a:pPr>
            <a:r>
              <a:rPr sz="1100" b="0">
                <a:solidFill>
                  <a:srgbClr val="1A1A1A"/>
                </a:solidFill>
                <a:latin typeface="Hiragino Sans"/>
                <a:ea typeface="Hiragino Sans"/>
                <a:cs typeface="Hiragino Sans"/>
              </a:rPr>
              <a:t>既存も配信 + AIへ新規志向を伝える</a:t>
            </a:r>
          </a:p>
        </p:txBody>
      </p:sp>
      <p:sp>
        <p:nvSpPr>
          <p:cNvPr id="21" name="Rectangle 20"/>
          <p:cNvSpPr/>
          <p:nvPr/>
        </p:nvSpPr>
        <p:spPr>
          <a:xfrm>
            <a:off x="6446520" y="4297680"/>
            <a:ext cx="493776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434840"/>
            <a:ext cx="4937760" cy="274320"/>
          </a:xfrm>
          <a:prstGeom prst="rect">
            <a:avLst/>
          </a:prstGeom>
          <a:noFill/>
        </p:spPr>
        <p:txBody>
          <a:bodyPr wrap="square" anchor="t" lIns="0" rIns="0" tIns="0" bIns="0">
            <a:spAutoFit/>
          </a:bodyPr>
          <a:lstStyle/>
          <a:p>
            <a:pPr algn="l">
              <a:lnSpc>
                <a:spcPct val="115000"/>
              </a:lnSpc>
            </a:pPr>
            <a:r>
              <a:rPr sz="1100" b="1">
                <a:solidFill>
                  <a:srgbClr val="B85E1A"/>
                </a:solidFill>
                <a:latin typeface="Hiragino Sans"/>
                <a:ea typeface="Hiragino Sans"/>
                <a:cs typeface="Hiragino Sans"/>
              </a:rPr>
              <a:t>効果とフィット</a:t>
            </a:r>
          </a:p>
        </p:txBody>
      </p:sp>
      <p:sp>
        <p:nvSpPr>
          <p:cNvPr id="23" name="TextBox 22"/>
          <p:cNvSpPr txBox="1"/>
          <p:nvPr/>
        </p:nvSpPr>
        <p:spPr>
          <a:xfrm>
            <a:off x="6446520" y="4663440"/>
            <a:ext cx="4937760" cy="594360"/>
          </a:xfrm>
          <a:prstGeom prst="rect">
            <a:avLst/>
          </a:prstGeom>
          <a:noFill/>
        </p:spPr>
        <p:txBody>
          <a:bodyPr wrap="square" anchor="t" lIns="0" rIns="0" tIns="0" bIns="0">
            <a:spAutoFit/>
          </a:bodyPr>
          <a:lstStyle/>
          <a:p>
            <a:pPr algn="l">
              <a:lnSpc>
                <a:spcPct val="150000"/>
              </a:lnSpc>
            </a:pPr>
            <a:r>
              <a:rPr sz="1000" b="0">
                <a:solidFill>
                  <a:srgbClr val="1A1A1A"/>
                </a:solidFill>
                <a:latin typeface="Hiragino Sans"/>
                <a:ea typeface="Hiragino Sans"/>
                <a:cs typeface="Hiragino Sans"/>
              </a:rPr>
              <a:t>コスト : 短期CPA は既存比で高め</a:t>
            </a:r>
          </a:p>
          <a:p>
            <a:pPr algn="l">
              <a:lnSpc>
                <a:spcPct val="150000"/>
              </a:lnSpc>
            </a:pPr>
            <a:r>
              <a:rPr sz="1000" b="0">
                <a:solidFill>
                  <a:srgbClr val="1A1A1A"/>
                </a:solidFill>
                <a:latin typeface="Hiragino Sans"/>
                <a:ea typeface="Hiragino Sans"/>
                <a:cs typeface="Hiragino Sans"/>
              </a:rPr>
              <a:t>ポテンシャル : LTV想定と整合</a:t>
            </a:r>
          </a:p>
          <a:p>
            <a:pPr algn="l">
              <a:lnSpc>
                <a:spcPct val="150000"/>
              </a:lnSpc>
            </a:pPr>
            <a:r>
              <a:rPr sz="1000" b="0">
                <a:solidFill>
                  <a:srgbClr val="1A1A1A"/>
                </a:solidFill>
                <a:latin typeface="Hiragino Sans"/>
                <a:ea typeface="Hiragino Sans"/>
                <a:cs typeface="Hiragino Sans"/>
              </a:rPr>
              <a:t>適合 : バランス重視の EC</a:t>
            </a:r>
          </a:p>
        </p:txBody>
      </p:sp>
      <p:sp>
        <p:nvSpPr>
          <p:cNvPr id="24" name="Rounded Rectangle 23"/>
          <p:cNvSpPr/>
          <p:nvPr/>
        </p:nvSpPr>
        <p:spPr>
          <a:xfrm>
            <a:off x="548640" y="5440680"/>
            <a:ext cx="11109960" cy="86868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5532120"/>
            <a:ext cx="10058400" cy="274320"/>
          </a:xfrm>
          <a:prstGeom prst="rect">
            <a:avLst/>
          </a:prstGeom>
          <a:noFill/>
        </p:spPr>
        <p:txBody>
          <a:bodyPr wrap="square" anchor="t" lIns="0" rIns="0" tIns="0" bIns="0">
            <a:spAutoFit/>
          </a:bodyPr>
          <a:lstStyle/>
          <a:p>
            <a:pPr algn="l">
              <a:lnSpc>
                <a:spcPct val="115000"/>
              </a:lnSpc>
            </a:pPr>
            <a:r>
              <a:rPr sz="1100" b="1">
                <a:solidFill>
                  <a:srgbClr val="B85E1A"/>
                </a:solidFill>
                <a:latin typeface="Hiragino Sans"/>
                <a:ea typeface="Hiragino Sans"/>
                <a:cs typeface="Hiragino Sans"/>
              </a:rPr>
              <a:t>実装に必要なもの</a:t>
            </a:r>
          </a:p>
        </p:txBody>
      </p:sp>
      <p:sp>
        <p:nvSpPr>
          <p:cNvPr id="26" name="TextBox 25"/>
          <p:cNvSpPr txBox="1"/>
          <p:nvPr/>
        </p:nvSpPr>
        <p:spPr>
          <a:xfrm>
            <a:off x="777240" y="5806440"/>
            <a:ext cx="10972800" cy="457200"/>
          </a:xfrm>
          <a:prstGeom prst="rect">
            <a:avLst/>
          </a:prstGeom>
          <a:noFill/>
        </p:spPr>
        <p:txBody>
          <a:bodyPr wrap="square" anchor="t" lIns="0" rIns="0" tIns="0" bIns="0">
            <a:spAutoFit/>
          </a:bodyPr>
          <a:lstStyle/>
          <a:p>
            <a:pPr algn="l">
              <a:lnSpc>
                <a:spcPct val="150000"/>
              </a:lnSpc>
            </a:pPr>
            <a:r>
              <a:rPr sz="1000" b="0">
                <a:solidFill>
                  <a:srgbClr val="1A1A1A"/>
                </a:solidFill>
                <a:latin typeface="Hiragino Sans"/>
                <a:ea typeface="Hiragino Sans"/>
                <a:cs typeface="Hiragino Sans"/>
              </a:rPr>
              <a:t>Customer Match リスト (既存顧客) のアップロード or GA4 の Purchaser Audience 接続</a:t>
            </a:r>
          </a:p>
          <a:p>
            <a:pPr algn="l">
              <a:lnSpc>
                <a:spcPct val="150000"/>
              </a:lnSpc>
            </a:pPr>
            <a:r>
              <a:rPr sz="1000" b="0">
                <a:solidFill>
                  <a:srgbClr val="1A1A1A"/>
                </a:solidFill>
                <a:latin typeface="Hiragino Sans"/>
                <a:ea typeface="Hiragino Sans"/>
                <a:cs typeface="Hiragino Sans"/>
              </a:rPr>
              <a:t>→ Google が識別し、新規 vs 既存でフラグを付けて最適化。副業代行の初回ヒアリングで必ず確認</a:t>
            </a:r>
          </a:p>
        </p:txBody>
      </p:sp>
      <p:sp>
        <p:nvSpPr>
          <p:cNvPr id="27" name="TextBox 26"/>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Store Goals / Local キャンペーン</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実店舗系の施策は PMax に吸収された</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P51 / 250</a:t>
            </a:r>
          </a:p>
        </p:txBody>
      </p:sp>
      <p:sp>
        <p:nvSpPr>
          <p:cNvPr id="8" name="TextBox 7"/>
          <p:cNvSpPr txBox="1"/>
          <p:nvPr/>
        </p:nvSpPr>
        <p:spPr>
          <a:xfrm>
            <a:off x="548640" y="1417320"/>
            <a:ext cx="1097280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2023年以前 vs 2026年</a:t>
            </a:r>
          </a:p>
        </p:txBody>
      </p:sp>
      <p:sp>
        <p:nvSpPr>
          <p:cNvPr id="9" name="Rectangle 8"/>
          <p:cNvSpPr/>
          <p:nvPr/>
        </p:nvSpPr>
        <p:spPr>
          <a:xfrm>
            <a:off x="548640" y="1874519"/>
            <a:ext cx="11109960" cy="45720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984247"/>
            <a:ext cx="2743200" cy="274320"/>
          </a:xfrm>
          <a:prstGeom prst="rect">
            <a:avLst/>
          </a:prstGeom>
          <a:noFill/>
        </p:spPr>
        <p:txBody>
          <a:bodyPr wrap="square" anchor="t" lIns="0" rIns="0" tIns="0" bIns="0">
            <a:spAutoFit/>
          </a:bodyPr>
          <a:lstStyle/>
          <a:p>
            <a:pPr algn="l">
              <a:lnSpc>
                <a:spcPct val="115000"/>
              </a:lnSpc>
            </a:pPr>
            <a:r>
              <a:rPr sz="1100" b="1">
                <a:solidFill>
                  <a:srgbClr val="FFFFFF"/>
                </a:solidFill>
                <a:latin typeface="Hiragino Sans"/>
                <a:ea typeface="Hiragino Sans"/>
                <a:cs typeface="Hiragino Sans"/>
              </a:rPr>
              <a:t>項目</a:t>
            </a:r>
          </a:p>
        </p:txBody>
      </p:sp>
      <p:sp>
        <p:nvSpPr>
          <p:cNvPr id="11" name="TextBox 10"/>
          <p:cNvSpPr txBox="1"/>
          <p:nvPr/>
        </p:nvSpPr>
        <p:spPr>
          <a:xfrm>
            <a:off x="3657600" y="1984247"/>
            <a:ext cx="4114800" cy="274320"/>
          </a:xfrm>
          <a:prstGeom prst="rect">
            <a:avLst/>
          </a:prstGeom>
          <a:noFill/>
        </p:spPr>
        <p:txBody>
          <a:bodyPr wrap="square" anchor="t" lIns="0" rIns="0" tIns="0" bIns="0">
            <a:spAutoFit/>
          </a:bodyPr>
          <a:lstStyle/>
          <a:p>
            <a:pPr algn="l">
              <a:lnSpc>
                <a:spcPct val="115000"/>
              </a:lnSpc>
            </a:pPr>
            <a:r>
              <a:rPr sz="1100" b="1">
                <a:solidFill>
                  <a:srgbClr val="FFFFFF"/>
                </a:solidFill>
                <a:latin typeface="Hiragino Sans"/>
                <a:ea typeface="Hiragino Sans"/>
                <a:cs typeface="Hiragino Sans"/>
              </a:rPr>
              <a:t>旧 (〜2023)</a:t>
            </a:r>
          </a:p>
        </p:txBody>
      </p:sp>
      <p:sp>
        <p:nvSpPr>
          <p:cNvPr id="12" name="TextBox 11"/>
          <p:cNvSpPr txBox="1"/>
          <p:nvPr/>
        </p:nvSpPr>
        <p:spPr>
          <a:xfrm>
            <a:off x="7955280" y="1984247"/>
            <a:ext cx="3703320" cy="274320"/>
          </a:xfrm>
          <a:prstGeom prst="rect">
            <a:avLst/>
          </a:prstGeom>
          <a:noFill/>
        </p:spPr>
        <p:txBody>
          <a:bodyPr wrap="square" anchor="t" lIns="0" rIns="0" tIns="0" bIns="0">
            <a:spAutoFit/>
          </a:bodyPr>
          <a:lstStyle/>
          <a:p>
            <a:pPr algn="l">
              <a:lnSpc>
                <a:spcPct val="115000"/>
              </a:lnSpc>
            </a:pPr>
            <a:r>
              <a:rPr sz="1100" b="1">
                <a:solidFill>
                  <a:srgbClr val="FFFFFF"/>
                </a:solidFill>
                <a:latin typeface="Hiragino Sans"/>
                <a:ea typeface="Hiragino Sans"/>
                <a:cs typeface="Hiragino Sans"/>
              </a:rPr>
              <a:t>新 (2026)</a:t>
            </a:r>
          </a:p>
        </p:txBody>
      </p:sp>
      <p:sp>
        <p:nvSpPr>
          <p:cNvPr id="13" name="Rectangle 12"/>
          <p:cNvSpPr/>
          <p:nvPr/>
        </p:nvSpPr>
        <p:spPr>
          <a:xfrm>
            <a:off x="548640" y="2331719"/>
            <a:ext cx="11109960" cy="594360"/>
          </a:xfrm>
          <a:prstGeom prst="rect">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2505455"/>
            <a:ext cx="2743200" cy="320040"/>
          </a:xfrm>
          <a:prstGeom prst="rect">
            <a:avLst/>
          </a:prstGeom>
          <a:noFill/>
        </p:spPr>
        <p:txBody>
          <a:bodyPr wrap="square" anchor="t" lIns="0" rIns="0" tIns="0" bIns="0">
            <a:spAutoFit/>
          </a:bodyPr>
          <a:lstStyle/>
          <a:p>
            <a:pPr algn="l">
              <a:lnSpc>
                <a:spcPct val="130000"/>
              </a:lnSpc>
            </a:pPr>
            <a:r>
              <a:rPr sz="1100" b="1">
                <a:solidFill>
                  <a:srgbClr val="0F2A4F"/>
                </a:solidFill>
                <a:latin typeface="Hiragino Sans"/>
                <a:ea typeface="Hiragino Sans"/>
                <a:cs typeface="Hiragino Sans"/>
              </a:rPr>
              <a:t>キャンペーンタイプ</a:t>
            </a:r>
          </a:p>
        </p:txBody>
      </p:sp>
      <p:sp>
        <p:nvSpPr>
          <p:cNvPr id="15" name="TextBox 14"/>
          <p:cNvSpPr txBox="1"/>
          <p:nvPr/>
        </p:nvSpPr>
        <p:spPr>
          <a:xfrm>
            <a:off x="3657600" y="2505455"/>
            <a:ext cx="4114800" cy="320040"/>
          </a:xfrm>
          <a:prstGeom prst="rect">
            <a:avLst/>
          </a:prstGeom>
          <a:noFill/>
        </p:spPr>
        <p:txBody>
          <a:bodyPr wrap="square" anchor="t" lIns="0" rIns="0" tIns="0" bIns="0">
            <a:spAutoFit/>
          </a:bodyPr>
          <a:lstStyle/>
          <a:p>
            <a:pPr algn="l">
              <a:lnSpc>
                <a:spcPct val="130000"/>
              </a:lnSpc>
            </a:pPr>
            <a:r>
              <a:rPr sz="1100" b="0">
                <a:solidFill>
                  <a:srgbClr val="5A6A80"/>
                </a:solidFill>
                <a:latin typeface="Hiragino Sans"/>
                <a:ea typeface="Hiragino Sans"/>
                <a:cs typeface="Hiragino Sans"/>
              </a:rPr>
              <a:t>Local Campaigns (単独)</a:t>
            </a:r>
          </a:p>
        </p:txBody>
      </p:sp>
      <p:sp>
        <p:nvSpPr>
          <p:cNvPr id="16" name="TextBox 15"/>
          <p:cNvSpPr txBox="1"/>
          <p:nvPr/>
        </p:nvSpPr>
        <p:spPr>
          <a:xfrm>
            <a:off x="7955280" y="2505455"/>
            <a:ext cx="3703320" cy="320040"/>
          </a:xfrm>
          <a:prstGeom prst="rect">
            <a:avLst/>
          </a:prstGeom>
          <a:noFill/>
        </p:spPr>
        <p:txBody>
          <a:bodyPr wrap="square" anchor="t" lIns="0" rIns="0" tIns="0" bIns="0">
            <a:spAutoFit/>
          </a:bodyPr>
          <a:lstStyle/>
          <a:p>
            <a:pPr algn="l">
              <a:lnSpc>
                <a:spcPct val="130000"/>
              </a:lnSpc>
            </a:pPr>
            <a:r>
              <a:rPr sz="1100" b="0">
                <a:solidFill>
                  <a:srgbClr val="1A1A1A"/>
                </a:solidFill>
                <a:latin typeface="Hiragino Sans"/>
                <a:ea typeface="Hiragino Sans"/>
                <a:cs typeface="Hiragino Sans"/>
              </a:rPr>
              <a:t>PMax with Store Goals (統合)</a:t>
            </a:r>
          </a:p>
        </p:txBody>
      </p:sp>
      <p:sp>
        <p:nvSpPr>
          <p:cNvPr id="17" name="Rectangle 16"/>
          <p:cNvSpPr/>
          <p:nvPr/>
        </p:nvSpPr>
        <p:spPr>
          <a:xfrm>
            <a:off x="548640" y="2926079"/>
            <a:ext cx="11109960" cy="594360"/>
          </a:xfrm>
          <a:prstGeom prst="rect">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3099815"/>
            <a:ext cx="2743200" cy="320040"/>
          </a:xfrm>
          <a:prstGeom prst="rect">
            <a:avLst/>
          </a:prstGeom>
          <a:noFill/>
        </p:spPr>
        <p:txBody>
          <a:bodyPr wrap="square" anchor="t" lIns="0" rIns="0" tIns="0" bIns="0">
            <a:spAutoFit/>
          </a:bodyPr>
          <a:lstStyle/>
          <a:p>
            <a:pPr algn="l">
              <a:lnSpc>
                <a:spcPct val="130000"/>
              </a:lnSpc>
            </a:pPr>
            <a:r>
              <a:rPr sz="1100" b="1">
                <a:solidFill>
                  <a:srgbClr val="0F2A4F"/>
                </a:solidFill>
                <a:latin typeface="Hiragino Sans"/>
                <a:ea typeface="Hiragino Sans"/>
                <a:cs typeface="Hiragino Sans"/>
              </a:rPr>
              <a:t>最適化対象</a:t>
            </a:r>
          </a:p>
        </p:txBody>
      </p:sp>
      <p:sp>
        <p:nvSpPr>
          <p:cNvPr id="19" name="TextBox 18"/>
          <p:cNvSpPr txBox="1"/>
          <p:nvPr/>
        </p:nvSpPr>
        <p:spPr>
          <a:xfrm>
            <a:off x="3657600" y="3099815"/>
            <a:ext cx="4114800" cy="320040"/>
          </a:xfrm>
          <a:prstGeom prst="rect">
            <a:avLst/>
          </a:prstGeom>
          <a:noFill/>
        </p:spPr>
        <p:txBody>
          <a:bodyPr wrap="square" anchor="t" lIns="0" rIns="0" tIns="0" bIns="0">
            <a:spAutoFit/>
          </a:bodyPr>
          <a:lstStyle/>
          <a:p>
            <a:pPr algn="l">
              <a:lnSpc>
                <a:spcPct val="130000"/>
              </a:lnSpc>
            </a:pPr>
            <a:r>
              <a:rPr sz="1100" b="0">
                <a:solidFill>
                  <a:srgbClr val="5A6A80"/>
                </a:solidFill>
                <a:latin typeface="Hiragino Sans"/>
                <a:ea typeface="Hiragino Sans"/>
                <a:cs typeface="Hiragino Sans"/>
              </a:rPr>
              <a:t>店舗訪問 / 電話 / ルート</a:t>
            </a:r>
          </a:p>
        </p:txBody>
      </p:sp>
      <p:sp>
        <p:nvSpPr>
          <p:cNvPr id="20" name="TextBox 19"/>
          <p:cNvSpPr txBox="1"/>
          <p:nvPr/>
        </p:nvSpPr>
        <p:spPr>
          <a:xfrm>
            <a:off x="7955280" y="3099815"/>
            <a:ext cx="3703320" cy="320040"/>
          </a:xfrm>
          <a:prstGeom prst="rect">
            <a:avLst/>
          </a:prstGeom>
          <a:noFill/>
        </p:spPr>
        <p:txBody>
          <a:bodyPr wrap="square" anchor="t" lIns="0" rIns="0" tIns="0" bIns="0">
            <a:spAutoFit/>
          </a:bodyPr>
          <a:lstStyle/>
          <a:p>
            <a:pPr algn="l">
              <a:lnSpc>
                <a:spcPct val="130000"/>
              </a:lnSpc>
            </a:pPr>
            <a:r>
              <a:rPr sz="1100" b="0">
                <a:solidFill>
                  <a:srgbClr val="1A1A1A"/>
                </a:solidFill>
                <a:latin typeface="Hiragino Sans"/>
                <a:ea typeface="Hiragino Sans"/>
                <a:cs typeface="Hiragino Sans"/>
              </a:rPr>
              <a:t>Store Visit + Online CV 同時最適化</a:t>
            </a:r>
          </a:p>
        </p:txBody>
      </p:sp>
      <p:sp>
        <p:nvSpPr>
          <p:cNvPr id="21" name="Rectangle 20"/>
          <p:cNvSpPr/>
          <p:nvPr/>
        </p:nvSpPr>
        <p:spPr>
          <a:xfrm>
            <a:off x="548640" y="3520439"/>
            <a:ext cx="11109960" cy="594360"/>
          </a:xfrm>
          <a:prstGeom prst="rect">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3694175"/>
            <a:ext cx="2743200" cy="320040"/>
          </a:xfrm>
          <a:prstGeom prst="rect">
            <a:avLst/>
          </a:prstGeom>
          <a:noFill/>
        </p:spPr>
        <p:txBody>
          <a:bodyPr wrap="square" anchor="t" lIns="0" rIns="0" tIns="0" bIns="0">
            <a:spAutoFit/>
          </a:bodyPr>
          <a:lstStyle/>
          <a:p>
            <a:pPr algn="l">
              <a:lnSpc>
                <a:spcPct val="130000"/>
              </a:lnSpc>
            </a:pPr>
            <a:r>
              <a:rPr sz="1100" b="1">
                <a:solidFill>
                  <a:srgbClr val="0F2A4F"/>
                </a:solidFill>
                <a:latin typeface="Hiragino Sans"/>
                <a:ea typeface="Hiragino Sans"/>
                <a:cs typeface="Hiragino Sans"/>
              </a:rPr>
              <a:t>配信面</a:t>
            </a:r>
          </a:p>
        </p:txBody>
      </p:sp>
      <p:sp>
        <p:nvSpPr>
          <p:cNvPr id="23" name="TextBox 22"/>
          <p:cNvSpPr txBox="1"/>
          <p:nvPr/>
        </p:nvSpPr>
        <p:spPr>
          <a:xfrm>
            <a:off x="3657600" y="3694175"/>
            <a:ext cx="4114800" cy="320040"/>
          </a:xfrm>
          <a:prstGeom prst="rect">
            <a:avLst/>
          </a:prstGeom>
          <a:noFill/>
        </p:spPr>
        <p:txBody>
          <a:bodyPr wrap="square" anchor="t" lIns="0" rIns="0" tIns="0" bIns="0">
            <a:spAutoFit/>
          </a:bodyPr>
          <a:lstStyle/>
          <a:p>
            <a:pPr algn="l">
              <a:lnSpc>
                <a:spcPct val="130000"/>
              </a:lnSpc>
            </a:pPr>
            <a:r>
              <a:rPr sz="1100" b="0">
                <a:solidFill>
                  <a:srgbClr val="5A6A80"/>
                </a:solidFill>
                <a:latin typeface="Hiragino Sans"/>
                <a:ea typeface="Hiragino Sans"/>
                <a:cs typeface="Hiragino Sans"/>
              </a:rPr>
              <a:t>Maps / Search / YouTube</a:t>
            </a:r>
          </a:p>
        </p:txBody>
      </p:sp>
      <p:sp>
        <p:nvSpPr>
          <p:cNvPr id="24" name="TextBox 23"/>
          <p:cNvSpPr txBox="1"/>
          <p:nvPr/>
        </p:nvSpPr>
        <p:spPr>
          <a:xfrm>
            <a:off x="7955280" y="3694175"/>
            <a:ext cx="3703320" cy="320040"/>
          </a:xfrm>
          <a:prstGeom prst="rect">
            <a:avLst/>
          </a:prstGeom>
          <a:noFill/>
        </p:spPr>
        <p:txBody>
          <a:bodyPr wrap="square" anchor="t" lIns="0" rIns="0" tIns="0" bIns="0">
            <a:spAutoFit/>
          </a:bodyPr>
          <a:lstStyle/>
          <a:p>
            <a:pPr algn="l">
              <a:lnSpc>
                <a:spcPct val="130000"/>
              </a:lnSpc>
            </a:pPr>
            <a:r>
              <a:rPr sz="1100" b="0">
                <a:solidFill>
                  <a:srgbClr val="1A1A1A"/>
                </a:solidFill>
                <a:latin typeface="Hiragino Sans"/>
                <a:ea typeface="Hiragino Sans"/>
                <a:cs typeface="Hiragino Sans"/>
              </a:rPr>
              <a:t>PMax全面 (Maps / 検索 / YT / Discover / Display)</a:t>
            </a:r>
          </a:p>
        </p:txBody>
      </p:sp>
      <p:sp>
        <p:nvSpPr>
          <p:cNvPr id="25" name="Rectangle 24"/>
          <p:cNvSpPr/>
          <p:nvPr/>
        </p:nvSpPr>
        <p:spPr>
          <a:xfrm>
            <a:off x="548640" y="4114799"/>
            <a:ext cx="11109960" cy="594360"/>
          </a:xfrm>
          <a:prstGeom prst="rect">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288535"/>
            <a:ext cx="2743200" cy="320040"/>
          </a:xfrm>
          <a:prstGeom prst="rect">
            <a:avLst/>
          </a:prstGeom>
          <a:noFill/>
        </p:spPr>
        <p:txBody>
          <a:bodyPr wrap="square" anchor="t" lIns="0" rIns="0" tIns="0" bIns="0">
            <a:spAutoFit/>
          </a:bodyPr>
          <a:lstStyle/>
          <a:p>
            <a:pPr algn="l">
              <a:lnSpc>
                <a:spcPct val="130000"/>
              </a:lnSpc>
            </a:pPr>
            <a:r>
              <a:rPr sz="1100" b="1">
                <a:solidFill>
                  <a:srgbClr val="0F2A4F"/>
                </a:solidFill>
                <a:latin typeface="Hiragino Sans"/>
                <a:ea typeface="Hiragino Sans"/>
                <a:cs typeface="Hiragino Sans"/>
              </a:rPr>
              <a:t>アセット</a:t>
            </a:r>
          </a:p>
        </p:txBody>
      </p:sp>
      <p:sp>
        <p:nvSpPr>
          <p:cNvPr id="27" name="TextBox 26"/>
          <p:cNvSpPr txBox="1"/>
          <p:nvPr/>
        </p:nvSpPr>
        <p:spPr>
          <a:xfrm>
            <a:off x="3657600" y="4288535"/>
            <a:ext cx="4114800" cy="320040"/>
          </a:xfrm>
          <a:prstGeom prst="rect">
            <a:avLst/>
          </a:prstGeom>
          <a:noFill/>
        </p:spPr>
        <p:txBody>
          <a:bodyPr wrap="square" anchor="t" lIns="0" rIns="0" tIns="0" bIns="0">
            <a:spAutoFit/>
          </a:bodyPr>
          <a:lstStyle/>
          <a:p>
            <a:pPr algn="l">
              <a:lnSpc>
                <a:spcPct val="130000"/>
              </a:lnSpc>
            </a:pPr>
            <a:r>
              <a:rPr sz="1100" b="0">
                <a:solidFill>
                  <a:srgbClr val="5A6A80"/>
                </a:solidFill>
                <a:latin typeface="Hiragino Sans"/>
                <a:ea typeface="Hiragino Sans"/>
                <a:cs typeface="Hiragino Sans"/>
              </a:rPr>
              <a:t>個別入稿</a:t>
            </a:r>
          </a:p>
        </p:txBody>
      </p:sp>
      <p:sp>
        <p:nvSpPr>
          <p:cNvPr id="28" name="TextBox 27"/>
          <p:cNvSpPr txBox="1"/>
          <p:nvPr/>
        </p:nvSpPr>
        <p:spPr>
          <a:xfrm>
            <a:off x="7955280" y="4288535"/>
            <a:ext cx="3703320" cy="320040"/>
          </a:xfrm>
          <a:prstGeom prst="rect">
            <a:avLst/>
          </a:prstGeom>
          <a:noFill/>
        </p:spPr>
        <p:txBody>
          <a:bodyPr wrap="square" anchor="t" lIns="0" rIns="0" tIns="0" bIns="0">
            <a:spAutoFit/>
          </a:bodyPr>
          <a:lstStyle/>
          <a:p>
            <a:pPr algn="l">
              <a:lnSpc>
                <a:spcPct val="130000"/>
              </a:lnSpc>
            </a:pPr>
            <a:r>
              <a:rPr sz="1100" b="0">
                <a:solidFill>
                  <a:srgbClr val="1A1A1A"/>
                </a:solidFill>
                <a:latin typeface="Hiragino Sans"/>
                <a:ea typeface="Hiragino Sans"/>
                <a:cs typeface="Hiragino Sans"/>
              </a:rPr>
              <a:t>Asset Group で一元管理</a:t>
            </a:r>
          </a:p>
        </p:txBody>
      </p:sp>
      <p:sp>
        <p:nvSpPr>
          <p:cNvPr id="29" name="Rectangle 28"/>
          <p:cNvSpPr/>
          <p:nvPr/>
        </p:nvSpPr>
        <p:spPr>
          <a:xfrm>
            <a:off x="548640" y="4709159"/>
            <a:ext cx="11109960" cy="594360"/>
          </a:xfrm>
          <a:prstGeom prst="rect">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4882895"/>
            <a:ext cx="2743200" cy="320040"/>
          </a:xfrm>
          <a:prstGeom prst="rect">
            <a:avLst/>
          </a:prstGeom>
          <a:noFill/>
        </p:spPr>
        <p:txBody>
          <a:bodyPr wrap="square" anchor="t" lIns="0" rIns="0" tIns="0" bIns="0">
            <a:spAutoFit/>
          </a:bodyPr>
          <a:lstStyle/>
          <a:p>
            <a:pPr algn="l">
              <a:lnSpc>
                <a:spcPct val="130000"/>
              </a:lnSpc>
            </a:pPr>
            <a:r>
              <a:rPr sz="1100" b="1">
                <a:solidFill>
                  <a:srgbClr val="0F2A4F"/>
                </a:solidFill>
                <a:latin typeface="Hiragino Sans"/>
                <a:ea typeface="Hiragino Sans"/>
                <a:cs typeface="Hiragino Sans"/>
              </a:rPr>
              <a:t>計測</a:t>
            </a:r>
          </a:p>
        </p:txBody>
      </p:sp>
      <p:sp>
        <p:nvSpPr>
          <p:cNvPr id="31" name="TextBox 30"/>
          <p:cNvSpPr txBox="1"/>
          <p:nvPr/>
        </p:nvSpPr>
        <p:spPr>
          <a:xfrm>
            <a:off x="3657600" y="4882895"/>
            <a:ext cx="4114800" cy="320040"/>
          </a:xfrm>
          <a:prstGeom prst="rect">
            <a:avLst/>
          </a:prstGeom>
          <a:noFill/>
        </p:spPr>
        <p:txBody>
          <a:bodyPr wrap="square" anchor="t" lIns="0" rIns="0" tIns="0" bIns="0">
            <a:spAutoFit/>
          </a:bodyPr>
          <a:lstStyle/>
          <a:p>
            <a:pPr algn="l">
              <a:lnSpc>
                <a:spcPct val="130000"/>
              </a:lnSpc>
            </a:pPr>
            <a:r>
              <a:rPr sz="1100" b="0">
                <a:solidFill>
                  <a:srgbClr val="5A6A80"/>
                </a:solidFill>
                <a:latin typeface="Hiragino Sans"/>
                <a:ea typeface="Hiragino Sans"/>
                <a:cs typeface="Hiragino Sans"/>
              </a:rPr>
              <a:t>Store Visit 独立</a:t>
            </a:r>
          </a:p>
        </p:txBody>
      </p:sp>
      <p:sp>
        <p:nvSpPr>
          <p:cNvPr id="32" name="TextBox 31"/>
          <p:cNvSpPr txBox="1"/>
          <p:nvPr/>
        </p:nvSpPr>
        <p:spPr>
          <a:xfrm>
            <a:off x="7955280" y="4882895"/>
            <a:ext cx="3703320" cy="320040"/>
          </a:xfrm>
          <a:prstGeom prst="rect">
            <a:avLst/>
          </a:prstGeom>
          <a:noFill/>
        </p:spPr>
        <p:txBody>
          <a:bodyPr wrap="square" anchor="t" lIns="0" rIns="0" tIns="0" bIns="0">
            <a:spAutoFit/>
          </a:bodyPr>
          <a:lstStyle/>
          <a:p>
            <a:pPr algn="l">
              <a:lnSpc>
                <a:spcPct val="130000"/>
              </a:lnSpc>
            </a:pPr>
            <a:r>
              <a:rPr sz="1100" b="0">
                <a:solidFill>
                  <a:srgbClr val="1A1A1A"/>
                </a:solidFill>
                <a:latin typeface="Hiragino Sans"/>
                <a:ea typeface="Hiragino Sans"/>
                <a:cs typeface="Hiragino Sans"/>
              </a:rPr>
              <a:t>Store Sales Direct + Store Visit 統合</a:t>
            </a:r>
          </a:p>
        </p:txBody>
      </p:sp>
      <p:sp>
        <p:nvSpPr>
          <p:cNvPr id="33" name="Rounded Rectangle 32"/>
          <p:cNvSpPr/>
          <p:nvPr/>
        </p:nvSpPr>
        <p:spPr>
          <a:xfrm>
            <a:off x="548640" y="5715000"/>
            <a:ext cx="11109960" cy="64008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77240" y="5833872"/>
            <a:ext cx="10972800" cy="274320"/>
          </a:xfrm>
          <a:prstGeom prst="rect">
            <a:avLst/>
          </a:prstGeom>
          <a:noFill/>
        </p:spPr>
        <p:txBody>
          <a:bodyPr wrap="square" anchor="t" lIns="0" rIns="0" tIns="0" bIns="0">
            <a:spAutoFit/>
          </a:bodyPr>
          <a:lstStyle/>
          <a:p>
            <a:pPr algn="l">
              <a:lnSpc>
                <a:spcPct val="115000"/>
              </a:lnSpc>
            </a:pPr>
            <a:r>
              <a:rPr sz="1100" b="1">
                <a:solidFill>
                  <a:srgbClr val="B85E1A"/>
                </a:solidFill>
                <a:latin typeface="Hiragino Sans"/>
                <a:ea typeface="Hiragino Sans"/>
                <a:cs typeface="Hiragino Sans"/>
              </a:rPr>
              <a:t>💡 実店舗 (飲食/小売/美容) の副業代行では Store Goals 付き PMax が基本構成</a:t>
            </a:r>
          </a:p>
        </p:txBody>
      </p:sp>
      <p:sp>
        <p:nvSpPr>
          <p:cNvPr id="35" name="TextBox 34"/>
          <p:cNvSpPr txBox="1"/>
          <p:nvPr/>
        </p:nvSpPr>
        <p:spPr>
          <a:xfrm>
            <a:off x="777240" y="6080760"/>
            <a:ext cx="1097280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Maps / Google ビジネスプロフィール の連携が前提。Local Inventory Ads (LIA) も補助的に</a:t>
            </a:r>
          </a:p>
        </p:txBody>
      </p:sp>
      <p:sp>
        <p:nvSpPr>
          <p:cNvPr id="36" name="TextBox 35"/>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App Campaigns (参考)</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アプリインストール・エンゲージメント専用</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P52 / 250</a:t>
            </a:r>
          </a:p>
        </p:txBody>
      </p:sp>
      <p:sp>
        <p:nvSpPr>
          <p:cNvPr id="8" name="Rounded Rectangle 7"/>
          <p:cNvSpPr/>
          <p:nvPr/>
        </p:nvSpPr>
        <p:spPr>
          <a:xfrm>
            <a:off x="548640" y="1417320"/>
            <a:ext cx="3611880" cy="21031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3611880" cy="13716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691640"/>
            <a:ext cx="3154680" cy="411480"/>
          </a:xfrm>
          <a:prstGeom prst="rect">
            <a:avLst/>
          </a:prstGeom>
          <a:noFill/>
        </p:spPr>
        <p:txBody>
          <a:bodyPr wrap="square" anchor="t" lIns="0" rIns="0" tIns="0" bIns="0">
            <a:spAutoFit/>
          </a:bodyPr>
          <a:lstStyle/>
          <a:p>
            <a:pPr algn="l">
              <a:lnSpc>
                <a:spcPct val="115000"/>
              </a:lnSpc>
            </a:pPr>
            <a:r>
              <a:rPr sz="1600" b="1">
                <a:solidFill>
                  <a:srgbClr val="0F2A4F"/>
                </a:solidFill>
                <a:latin typeface="Hiragino Sans"/>
                <a:ea typeface="Hiragino Sans"/>
                <a:cs typeface="Hiragino Sans"/>
              </a:rPr>
              <a:t>App Install</a:t>
            </a:r>
          </a:p>
        </p:txBody>
      </p:sp>
      <p:sp>
        <p:nvSpPr>
          <p:cNvPr id="11" name="TextBox 10"/>
          <p:cNvSpPr txBox="1"/>
          <p:nvPr/>
        </p:nvSpPr>
        <p:spPr>
          <a:xfrm>
            <a:off x="777240" y="2148840"/>
            <a:ext cx="3154680" cy="274320"/>
          </a:xfrm>
          <a:prstGeom prst="rect">
            <a:avLst/>
          </a:prstGeom>
          <a:noFill/>
        </p:spPr>
        <p:txBody>
          <a:bodyPr wrap="square" anchor="t" lIns="0" rIns="0" tIns="0" bIns="0">
            <a:spAutoFit/>
          </a:bodyPr>
          <a:lstStyle/>
          <a:p>
            <a:pPr algn="l">
              <a:lnSpc>
                <a:spcPct val="115000"/>
              </a:lnSpc>
            </a:pPr>
            <a:r>
              <a:rPr sz="1000" b="0">
                <a:solidFill>
                  <a:srgbClr val="B85E1A"/>
                </a:solidFill>
                <a:latin typeface="Helvetica Neue"/>
                <a:ea typeface="Helvetica Neue"/>
                <a:cs typeface="Helvetica Neue"/>
              </a:rPr>
              <a:t>Ads for Install</a:t>
            </a:r>
          </a:p>
        </p:txBody>
      </p:sp>
      <p:sp>
        <p:nvSpPr>
          <p:cNvPr id="12" name="TextBox 11"/>
          <p:cNvSpPr txBox="1"/>
          <p:nvPr/>
        </p:nvSpPr>
        <p:spPr>
          <a:xfrm>
            <a:off x="777240" y="2514600"/>
            <a:ext cx="3154680" cy="96012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新規ダウンロード獲得。</a:t>
            </a:r>
          </a:p>
          <a:p>
            <a:pPr algn="l">
              <a:lnSpc>
                <a:spcPct val="150000"/>
              </a:lnSpc>
            </a:pPr>
            <a:r>
              <a:rPr sz="1100" b="0">
                <a:solidFill>
                  <a:srgbClr val="1A1A1A"/>
                </a:solidFill>
                <a:latin typeface="Hiragino Sans"/>
                <a:ea typeface="Hiragino Sans"/>
                <a:cs typeface="Hiragino Sans"/>
              </a:rPr>
              <a:t>目標CPIで自動入札</a:t>
            </a:r>
          </a:p>
        </p:txBody>
      </p:sp>
      <p:sp>
        <p:nvSpPr>
          <p:cNvPr id="13" name="Rounded Rectangle 12"/>
          <p:cNvSpPr/>
          <p:nvPr/>
        </p:nvSpPr>
        <p:spPr>
          <a:xfrm>
            <a:off x="4297680" y="1417320"/>
            <a:ext cx="3611880" cy="21031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7680" y="1417320"/>
            <a:ext cx="3611880" cy="13716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26280" y="1691640"/>
            <a:ext cx="3154680" cy="411480"/>
          </a:xfrm>
          <a:prstGeom prst="rect">
            <a:avLst/>
          </a:prstGeom>
          <a:noFill/>
        </p:spPr>
        <p:txBody>
          <a:bodyPr wrap="square" anchor="t" lIns="0" rIns="0" tIns="0" bIns="0">
            <a:spAutoFit/>
          </a:bodyPr>
          <a:lstStyle/>
          <a:p>
            <a:pPr algn="l">
              <a:lnSpc>
                <a:spcPct val="115000"/>
              </a:lnSpc>
            </a:pPr>
            <a:r>
              <a:rPr sz="1600" b="1">
                <a:solidFill>
                  <a:srgbClr val="0F2A4F"/>
                </a:solidFill>
                <a:latin typeface="Hiragino Sans"/>
                <a:ea typeface="Hiragino Sans"/>
                <a:cs typeface="Hiragino Sans"/>
              </a:rPr>
              <a:t>App Engagement</a:t>
            </a:r>
          </a:p>
        </p:txBody>
      </p:sp>
      <p:sp>
        <p:nvSpPr>
          <p:cNvPr id="16" name="TextBox 15"/>
          <p:cNvSpPr txBox="1"/>
          <p:nvPr/>
        </p:nvSpPr>
        <p:spPr>
          <a:xfrm>
            <a:off x="4526280" y="2148840"/>
            <a:ext cx="3154680" cy="274320"/>
          </a:xfrm>
          <a:prstGeom prst="rect">
            <a:avLst/>
          </a:prstGeom>
          <a:noFill/>
        </p:spPr>
        <p:txBody>
          <a:bodyPr wrap="square" anchor="t" lIns="0" rIns="0" tIns="0" bIns="0">
            <a:spAutoFit/>
          </a:bodyPr>
          <a:lstStyle/>
          <a:p>
            <a:pPr algn="l">
              <a:lnSpc>
                <a:spcPct val="115000"/>
              </a:lnSpc>
            </a:pPr>
            <a:r>
              <a:rPr sz="1000" b="0">
                <a:solidFill>
                  <a:srgbClr val="B85E1A"/>
                </a:solidFill>
                <a:latin typeface="Helvetica Neue"/>
                <a:ea typeface="Helvetica Neue"/>
                <a:cs typeface="Helvetica Neue"/>
              </a:rPr>
              <a:t>App Campaigns for Engagement</a:t>
            </a:r>
          </a:p>
        </p:txBody>
      </p:sp>
      <p:sp>
        <p:nvSpPr>
          <p:cNvPr id="17" name="TextBox 16"/>
          <p:cNvSpPr txBox="1"/>
          <p:nvPr/>
        </p:nvSpPr>
        <p:spPr>
          <a:xfrm>
            <a:off x="4526280" y="2514600"/>
            <a:ext cx="3154680" cy="96012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既存ユーザーの復帰・</a:t>
            </a:r>
          </a:p>
          <a:p>
            <a:pPr algn="l">
              <a:lnSpc>
                <a:spcPct val="150000"/>
              </a:lnSpc>
            </a:pPr>
            <a:r>
              <a:rPr sz="1100" b="0">
                <a:solidFill>
                  <a:srgbClr val="1A1A1A"/>
                </a:solidFill>
                <a:latin typeface="Hiragino Sans"/>
                <a:ea typeface="Hiragino Sans"/>
                <a:cs typeface="Hiragino Sans"/>
              </a:rPr>
              <a:t>ディープリンクで特定画面へ</a:t>
            </a:r>
          </a:p>
        </p:txBody>
      </p:sp>
      <p:sp>
        <p:nvSpPr>
          <p:cNvPr id="18" name="Rounded Rectangle 17"/>
          <p:cNvSpPr/>
          <p:nvPr/>
        </p:nvSpPr>
        <p:spPr>
          <a:xfrm>
            <a:off x="8046720" y="1417320"/>
            <a:ext cx="3611880" cy="21031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6720" y="1417320"/>
            <a:ext cx="3611880" cy="13716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1691640"/>
            <a:ext cx="3154680" cy="411480"/>
          </a:xfrm>
          <a:prstGeom prst="rect">
            <a:avLst/>
          </a:prstGeom>
          <a:noFill/>
        </p:spPr>
        <p:txBody>
          <a:bodyPr wrap="square" anchor="t" lIns="0" rIns="0" tIns="0" bIns="0">
            <a:spAutoFit/>
          </a:bodyPr>
          <a:lstStyle/>
          <a:p>
            <a:pPr algn="l">
              <a:lnSpc>
                <a:spcPct val="115000"/>
              </a:lnSpc>
            </a:pPr>
            <a:r>
              <a:rPr sz="1600" b="1">
                <a:solidFill>
                  <a:srgbClr val="0F2A4F"/>
                </a:solidFill>
                <a:latin typeface="Hiragino Sans"/>
                <a:ea typeface="Hiragino Sans"/>
                <a:cs typeface="Hiragino Sans"/>
              </a:rPr>
              <a:t>App Pre-registration</a:t>
            </a:r>
          </a:p>
        </p:txBody>
      </p:sp>
      <p:sp>
        <p:nvSpPr>
          <p:cNvPr id="21" name="TextBox 20"/>
          <p:cNvSpPr txBox="1"/>
          <p:nvPr/>
        </p:nvSpPr>
        <p:spPr>
          <a:xfrm>
            <a:off x="8275320" y="2148840"/>
            <a:ext cx="3154680" cy="274320"/>
          </a:xfrm>
          <a:prstGeom prst="rect">
            <a:avLst/>
          </a:prstGeom>
          <a:noFill/>
        </p:spPr>
        <p:txBody>
          <a:bodyPr wrap="square" anchor="t" lIns="0" rIns="0" tIns="0" bIns="0">
            <a:spAutoFit/>
          </a:bodyPr>
          <a:lstStyle/>
          <a:p>
            <a:pPr algn="l">
              <a:lnSpc>
                <a:spcPct val="115000"/>
              </a:lnSpc>
            </a:pPr>
            <a:r>
              <a:rPr sz="1000" b="0">
                <a:solidFill>
                  <a:srgbClr val="B85E1A"/>
                </a:solidFill>
                <a:latin typeface="Helvetica Neue"/>
                <a:ea typeface="Helvetica Neue"/>
                <a:cs typeface="Helvetica Neue"/>
              </a:rPr>
              <a:t>リリース前の事前登録</a:t>
            </a:r>
          </a:p>
        </p:txBody>
      </p:sp>
      <p:sp>
        <p:nvSpPr>
          <p:cNvPr id="22" name="TextBox 21"/>
          <p:cNvSpPr txBox="1"/>
          <p:nvPr/>
        </p:nvSpPr>
        <p:spPr>
          <a:xfrm>
            <a:off x="8275320" y="2514600"/>
            <a:ext cx="3154680" cy="96012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Google Play の</a:t>
            </a:r>
          </a:p>
          <a:p>
            <a:pPr algn="l">
              <a:lnSpc>
                <a:spcPct val="150000"/>
              </a:lnSpc>
            </a:pPr>
            <a:r>
              <a:rPr sz="1100" b="0">
                <a:solidFill>
                  <a:srgbClr val="1A1A1A"/>
                </a:solidFill>
                <a:latin typeface="Hiragino Sans"/>
                <a:ea typeface="Hiragino Sans"/>
                <a:cs typeface="Hiragino Sans"/>
              </a:rPr>
              <a:t>事前登録リスト獲得</a:t>
            </a:r>
          </a:p>
        </p:txBody>
      </p:sp>
      <p:sp>
        <p:nvSpPr>
          <p:cNvPr id="23" name="TextBox 22"/>
          <p:cNvSpPr txBox="1"/>
          <p:nvPr/>
        </p:nvSpPr>
        <p:spPr>
          <a:xfrm>
            <a:off x="548640" y="3840480"/>
            <a:ext cx="1097280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2026年の主な変化</a:t>
            </a:r>
          </a:p>
        </p:txBody>
      </p:sp>
      <p:sp>
        <p:nvSpPr>
          <p:cNvPr id="24" name="Rectangle 23"/>
          <p:cNvSpPr/>
          <p:nvPr/>
        </p:nvSpPr>
        <p:spPr>
          <a:xfrm>
            <a:off x="548640" y="4206240"/>
            <a:ext cx="1110996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4389120"/>
            <a:ext cx="274320" cy="274320"/>
          </a:xfrm>
          <a:prstGeom prst="rect">
            <a:avLst/>
          </a:prstGeom>
          <a:noFill/>
        </p:spPr>
        <p:txBody>
          <a:bodyPr wrap="square" anchor="t" lIns="0" rIns="0" tIns="0" bIns="0">
            <a:spAutoFit/>
          </a:bodyPr>
          <a:lstStyle/>
          <a:p>
            <a:pPr algn="l">
              <a:lnSpc>
                <a:spcPct val="115000"/>
              </a:lnSpc>
            </a:pPr>
            <a:r>
              <a:rPr sz="1200" b="1">
                <a:solidFill>
                  <a:srgbClr val="E87722"/>
                </a:solidFill>
                <a:latin typeface="Hiragino Sans"/>
                <a:ea typeface="Hiragino Sans"/>
                <a:cs typeface="Hiragino Sans"/>
              </a:rPr>
              <a:t>▸</a:t>
            </a:r>
          </a:p>
        </p:txBody>
      </p:sp>
      <p:sp>
        <p:nvSpPr>
          <p:cNvPr id="26" name="TextBox 25"/>
          <p:cNvSpPr txBox="1"/>
          <p:nvPr/>
        </p:nvSpPr>
        <p:spPr>
          <a:xfrm>
            <a:off x="914400" y="4416552"/>
            <a:ext cx="10058400" cy="365760"/>
          </a:xfrm>
          <a:prstGeom prst="rect">
            <a:avLst/>
          </a:prstGeom>
          <a:noFill/>
        </p:spPr>
        <p:txBody>
          <a:bodyPr wrap="square" anchor="t" lIns="0" rIns="0" tIns="0" bIns="0">
            <a:spAutoFit/>
          </a:bodyPr>
          <a:lstStyle/>
          <a:p>
            <a:pPr algn="l">
              <a:lnSpc>
                <a:spcPct val="140000"/>
              </a:lnSpc>
            </a:pPr>
            <a:r>
              <a:rPr sz="1100" b="0">
                <a:solidFill>
                  <a:srgbClr val="1A1A1A"/>
                </a:solidFill>
                <a:latin typeface="Hiragino Sans"/>
                <a:ea typeface="Hiragino Sans"/>
                <a:cs typeface="Hiragino Sans"/>
              </a:rPr>
              <a:t>Advantage+ App (Meta) との比較でUAC vs Advantage+ の使い分けが定着</a:t>
            </a:r>
          </a:p>
        </p:txBody>
      </p:sp>
      <p:sp>
        <p:nvSpPr>
          <p:cNvPr id="27" name="TextBox 26"/>
          <p:cNvSpPr txBox="1"/>
          <p:nvPr/>
        </p:nvSpPr>
        <p:spPr>
          <a:xfrm>
            <a:off x="640080" y="4773168"/>
            <a:ext cx="274320" cy="274320"/>
          </a:xfrm>
          <a:prstGeom prst="rect">
            <a:avLst/>
          </a:prstGeom>
          <a:noFill/>
        </p:spPr>
        <p:txBody>
          <a:bodyPr wrap="square" anchor="t" lIns="0" rIns="0" tIns="0" bIns="0">
            <a:spAutoFit/>
          </a:bodyPr>
          <a:lstStyle/>
          <a:p>
            <a:pPr algn="l">
              <a:lnSpc>
                <a:spcPct val="115000"/>
              </a:lnSpc>
            </a:pPr>
            <a:r>
              <a:rPr sz="1200" b="1">
                <a:solidFill>
                  <a:srgbClr val="E87722"/>
                </a:solidFill>
                <a:latin typeface="Hiragino Sans"/>
                <a:ea typeface="Hiragino Sans"/>
                <a:cs typeface="Hiragino Sans"/>
              </a:rPr>
              <a:t>▸</a:t>
            </a:r>
          </a:p>
        </p:txBody>
      </p:sp>
      <p:sp>
        <p:nvSpPr>
          <p:cNvPr id="28" name="TextBox 27"/>
          <p:cNvSpPr txBox="1"/>
          <p:nvPr/>
        </p:nvSpPr>
        <p:spPr>
          <a:xfrm>
            <a:off x="914400" y="4800600"/>
            <a:ext cx="10058400" cy="365760"/>
          </a:xfrm>
          <a:prstGeom prst="rect">
            <a:avLst/>
          </a:prstGeom>
          <a:noFill/>
        </p:spPr>
        <p:txBody>
          <a:bodyPr wrap="square" anchor="t" lIns="0" rIns="0" tIns="0" bIns="0">
            <a:spAutoFit/>
          </a:bodyPr>
          <a:lstStyle/>
          <a:p>
            <a:pPr algn="l">
              <a:lnSpc>
                <a:spcPct val="140000"/>
              </a:lnSpc>
            </a:pPr>
            <a:r>
              <a:rPr sz="1100" b="0">
                <a:solidFill>
                  <a:srgbClr val="1A1A1A"/>
                </a:solidFill>
                <a:latin typeface="Hiragino Sans"/>
                <a:ea typeface="Hiragino Sans"/>
                <a:cs typeface="Hiragino Sans"/>
              </a:rPr>
              <a:t>SKAN (iOS) と Consented Install Referrer (Android) でシグナル再設計</a:t>
            </a:r>
          </a:p>
        </p:txBody>
      </p:sp>
      <p:sp>
        <p:nvSpPr>
          <p:cNvPr id="29" name="TextBox 28"/>
          <p:cNvSpPr txBox="1"/>
          <p:nvPr/>
        </p:nvSpPr>
        <p:spPr>
          <a:xfrm>
            <a:off x="640080" y="5157216"/>
            <a:ext cx="274320" cy="274320"/>
          </a:xfrm>
          <a:prstGeom prst="rect">
            <a:avLst/>
          </a:prstGeom>
          <a:noFill/>
        </p:spPr>
        <p:txBody>
          <a:bodyPr wrap="square" anchor="t" lIns="0" rIns="0" tIns="0" bIns="0">
            <a:spAutoFit/>
          </a:bodyPr>
          <a:lstStyle/>
          <a:p>
            <a:pPr algn="l">
              <a:lnSpc>
                <a:spcPct val="115000"/>
              </a:lnSpc>
            </a:pPr>
            <a:r>
              <a:rPr sz="1200" b="1">
                <a:solidFill>
                  <a:srgbClr val="E87722"/>
                </a:solidFill>
                <a:latin typeface="Hiragino Sans"/>
                <a:ea typeface="Hiragino Sans"/>
                <a:cs typeface="Hiragino Sans"/>
              </a:rPr>
              <a:t>▸</a:t>
            </a:r>
          </a:p>
        </p:txBody>
      </p:sp>
      <p:sp>
        <p:nvSpPr>
          <p:cNvPr id="30" name="TextBox 29"/>
          <p:cNvSpPr txBox="1"/>
          <p:nvPr/>
        </p:nvSpPr>
        <p:spPr>
          <a:xfrm>
            <a:off x="914400" y="5184648"/>
            <a:ext cx="10058400" cy="365760"/>
          </a:xfrm>
          <a:prstGeom prst="rect">
            <a:avLst/>
          </a:prstGeom>
          <a:noFill/>
        </p:spPr>
        <p:txBody>
          <a:bodyPr wrap="square" anchor="t" lIns="0" rIns="0" tIns="0" bIns="0">
            <a:spAutoFit/>
          </a:bodyPr>
          <a:lstStyle/>
          <a:p>
            <a:pPr algn="l">
              <a:lnSpc>
                <a:spcPct val="140000"/>
              </a:lnSpc>
            </a:pPr>
            <a:r>
              <a:rPr sz="1100" b="0">
                <a:solidFill>
                  <a:srgbClr val="1A1A1A"/>
                </a:solidFill>
                <a:latin typeface="Hiragino Sans"/>
                <a:ea typeface="Hiragino Sans"/>
                <a:cs typeface="Hiragino Sans"/>
              </a:rPr>
              <a:t>Engagement 型では GA4 4 の Audience 連携が強化</a:t>
            </a:r>
          </a:p>
        </p:txBody>
      </p:sp>
      <p:sp>
        <p:nvSpPr>
          <p:cNvPr id="31" name="TextBox 30"/>
          <p:cNvSpPr txBox="1"/>
          <p:nvPr/>
        </p:nvSpPr>
        <p:spPr>
          <a:xfrm>
            <a:off x="640080" y="5541264"/>
            <a:ext cx="274320" cy="274320"/>
          </a:xfrm>
          <a:prstGeom prst="rect">
            <a:avLst/>
          </a:prstGeom>
          <a:noFill/>
        </p:spPr>
        <p:txBody>
          <a:bodyPr wrap="square" anchor="t" lIns="0" rIns="0" tIns="0" bIns="0">
            <a:spAutoFit/>
          </a:bodyPr>
          <a:lstStyle/>
          <a:p>
            <a:pPr algn="l">
              <a:lnSpc>
                <a:spcPct val="115000"/>
              </a:lnSpc>
            </a:pPr>
            <a:r>
              <a:rPr sz="1200" b="1">
                <a:solidFill>
                  <a:srgbClr val="E87722"/>
                </a:solidFill>
                <a:latin typeface="Hiragino Sans"/>
                <a:ea typeface="Hiragino Sans"/>
                <a:cs typeface="Hiragino Sans"/>
              </a:rPr>
              <a:t>▸</a:t>
            </a:r>
          </a:p>
        </p:txBody>
      </p:sp>
      <p:sp>
        <p:nvSpPr>
          <p:cNvPr id="32" name="TextBox 31"/>
          <p:cNvSpPr txBox="1"/>
          <p:nvPr/>
        </p:nvSpPr>
        <p:spPr>
          <a:xfrm>
            <a:off x="914400" y="5568696"/>
            <a:ext cx="10058400" cy="365760"/>
          </a:xfrm>
          <a:prstGeom prst="rect">
            <a:avLst/>
          </a:prstGeom>
          <a:noFill/>
        </p:spPr>
        <p:txBody>
          <a:bodyPr wrap="square" anchor="t" lIns="0" rIns="0" tIns="0" bIns="0">
            <a:spAutoFit/>
          </a:bodyPr>
          <a:lstStyle/>
          <a:p>
            <a:pPr algn="l">
              <a:lnSpc>
                <a:spcPct val="140000"/>
              </a:lnSpc>
            </a:pPr>
            <a:r>
              <a:rPr sz="1100" b="0">
                <a:solidFill>
                  <a:srgbClr val="1A1A1A"/>
                </a:solidFill>
                <a:latin typeface="Hiragino Sans"/>
                <a:ea typeface="Hiragino Sans"/>
                <a:cs typeface="Hiragino Sans"/>
              </a:rPr>
              <a:t>Install の価値差 (高LTV vs 低LTV) 向け Value-based Bidding 推奨</a:t>
            </a:r>
          </a:p>
        </p:txBody>
      </p:sp>
      <p:sp>
        <p:nvSpPr>
          <p:cNvPr id="33" name="Rounded Rectangle 32"/>
          <p:cNvSpPr/>
          <p:nvPr/>
        </p:nvSpPr>
        <p:spPr>
          <a:xfrm>
            <a:off x="548640" y="6080760"/>
            <a:ext cx="11109960" cy="27432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77240" y="6144768"/>
            <a:ext cx="10972800" cy="228600"/>
          </a:xfrm>
          <a:prstGeom prst="rect">
            <a:avLst/>
          </a:prstGeom>
          <a:noFill/>
        </p:spPr>
        <p:txBody>
          <a:bodyPr wrap="square" anchor="t" lIns="0" rIns="0" tIns="0" bIns="0">
            <a:spAutoFit/>
          </a:bodyPr>
          <a:lstStyle/>
          <a:p>
            <a:pPr algn="l">
              <a:lnSpc>
                <a:spcPct val="115000"/>
              </a:lnSpc>
            </a:pPr>
            <a:r>
              <a:rPr sz="1000" b="1">
                <a:solidFill>
                  <a:srgbClr val="B85E1A"/>
                </a:solidFill>
                <a:latin typeface="Hiragino Sans"/>
                <a:ea typeface="Hiragino Sans"/>
                <a:cs typeface="Hiragino Sans"/>
              </a:rPr>
              <a:t>💡 Webクライアント中心の副業代行では低頻度。アプリ案件はUA / Firebase / App Campaigns 基本形を再学習</a:t>
            </a:r>
          </a:p>
        </p:txBody>
      </p:sp>
      <p:sp>
        <p:nvSpPr>
          <p:cNvPr id="35" name="TextBox 34"/>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YouTube 面の Google Ads 側まとめ</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Video Reach / Demand Gen / PMax で分担</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P53 / 250</a:t>
            </a:r>
          </a:p>
        </p:txBody>
      </p:sp>
      <p:sp>
        <p:nvSpPr>
          <p:cNvPr id="8" name="Rounded Rectangle 7"/>
          <p:cNvSpPr/>
          <p:nvPr/>
        </p:nvSpPr>
        <p:spPr>
          <a:xfrm>
            <a:off x="548640" y="1417320"/>
            <a:ext cx="3611880" cy="27432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361188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581912"/>
            <a:ext cx="3154680" cy="411480"/>
          </a:xfrm>
          <a:prstGeom prst="rect">
            <a:avLst/>
          </a:prstGeom>
          <a:noFill/>
        </p:spPr>
        <p:txBody>
          <a:bodyPr wrap="square" anchor="t" lIns="0" rIns="0" tIns="0" bIns="0">
            <a:spAutoFit/>
          </a:bodyPr>
          <a:lstStyle/>
          <a:p>
            <a:pPr algn="l">
              <a:lnSpc>
                <a:spcPct val="120000"/>
              </a:lnSpc>
            </a:pPr>
            <a:r>
              <a:rPr sz="1500" b="1">
                <a:solidFill>
                  <a:srgbClr val="FFFFFF"/>
                </a:solidFill>
                <a:latin typeface="Hiragino Sans"/>
                <a:ea typeface="Hiragino Sans"/>
                <a:cs typeface="Hiragino Sans"/>
              </a:rPr>
              <a:t>Video Reach Campaign</a:t>
            </a:r>
          </a:p>
        </p:txBody>
      </p:sp>
      <p:sp>
        <p:nvSpPr>
          <p:cNvPr id="11" name="TextBox 10"/>
          <p:cNvSpPr txBox="1"/>
          <p:nvPr/>
        </p:nvSpPr>
        <p:spPr>
          <a:xfrm>
            <a:off x="777240" y="1965960"/>
            <a:ext cx="3154680" cy="27432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ブランド認知</a:t>
            </a:r>
          </a:p>
        </p:txBody>
      </p:sp>
      <p:sp>
        <p:nvSpPr>
          <p:cNvPr id="12" name="TextBox 11"/>
          <p:cNvSpPr txBox="1"/>
          <p:nvPr/>
        </p:nvSpPr>
        <p:spPr>
          <a:xfrm>
            <a:off x="777240" y="2423160"/>
            <a:ext cx="3154680" cy="1645920"/>
          </a:xfrm>
          <a:prstGeom prst="rect">
            <a:avLst/>
          </a:prstGeom>
          <a:noFill/>
        </p:spPr>
        <p:txBody>
          <a:bodyPr wrap="square" anchor="t" lIns="0" rIns="0" tIns="0" bIns="0">
            <a:spAutoFit/>
          </a:bodyPr>
          <a:lstStyle/>
          <a:p>
            <a:pPr algn="l">
              <a:lnSpc>
                <a:spcPct val="155000"/>
              </a:lnSpc>
            </a:pPr>
            <a:r>
              <a:rPr sz="1100" b="0">
                <a:solidFill>
                  <a:srgbClr val="1A1A1A"/>
                </a:solidFill>
                <a:latin typeface="Hiragino Sans"/>
                <a:ea typeface="Hiragino Sans"/>
                <a:cs typeface="Hiragino Sans"/>
              </a:rPr>
              <a:t>TrueView / Bumper /</a:t>
            </a:r>
          </a:p>
          <a:p>
            <a:pPr algn="l">
              <a:lnSpc>
                <a:spcPct val="155000"/>
              </a:lnSpc>
            </a:pPr>
            <a:r>
              <a:rPr sz="1100" b="0">
                <a:solidFill>
                  <a:srgbClr val="1A1A1A"/>
                </a:solidFill>
                <a:latin typeface="Hiragino Sans"/>
                <a:ea typeface="Hiragino Sans"/>
                <a:cs typeface="Hiragino Sans"/>
              </a:rPr>
              <a:t>Skippable / Non-skippable を</a:t>
            </a:r>
          </a:p>
          <a:p>
            <a:pPr algn="l">
              <a:lnSpc>
                <a:spcPct val="155000"/>
              </a:lnSpc>
            </a:pPr>
            <a:r>
              <a:rPr sz="1100" b="0">
                <a:solidFill>
                  <a:srgbClr val="1A1A1A"/>
                </a:solidFill>
                <a:latin typeface="Hiragino Sans"/>
                <a:ea typeface="Hiragino Sans"/>
                <a:cs typeface="Hiragino Sans"/>
              </a:rPr>
              <a:t>統合配信。CPM 最適化</a:t>
            </a:r>
          </a:p>
        </p:txBody>
      </p:sp>
      <p:sp>
        <p:nvSpPr>
          <p:cNvPr id="13" name="Rounded Rectangle 12"/>
          <p:cNvSpPr/>
          <p:nvPr/>
        </p:nvSpPr>
        <p:spPr>
          <a:xfrm>
            <a:off x="4297680" y="1417320"/>
            <a:ext cx="3611880" cy="27432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7680" y="1417320"/>
            <a:ext cx="361188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26280" y="1581912"/>
            <a:ext cx="3154680" cy="411480"/>
          </a:xfrm>
          <a:prstGeom prst="rect">
            <a:avLst/>
          </a:prstGeom>
          <a:noFill/>
        </p:spPr>
        <p:txBody>
          <a:bodyPr wrap="square" anchor="t" lIns="0" rIns="0" tIns="0" bIns="0">
            <a:spAutoFit/>
          </a:bodyPr>
          <a:lstStyle/>
          <a:p>
            <a:pPr algn="l">
              <a:lnSpc>
                <a:spcPct val="120000"/>
              </a:lnSpc>
            </a:pPr>
            <a:r>
              <a:rPr sz="1500" b="1">
                <a:solidFill>
                  <a:srgbClr val="FFFFFF"/>
                </a:solidFill>
                <a:latin typeface="Hiragino Sans"/>
                <a:ea typeface="Hiragino Sans"/>
                <a:cs typeface="Hiragino Sans"/>
              </a:rPr>
              <a:t>Demand Gen</a:t>
            </a:r>
          </a:p>
        </p:txBody>
      </p:sp>
      <p:sp>
        <p:nvSpPr>
          <p:cNvPr id="16" name="TextBox 15"/>
          <p:cNvSpPr txBox="1"/>
          <p:nvPr/>
        </p:nvSpPr>
        <p:spPr>
          <a:xfrm>
            <a:off x="4526280" y="1965960"/>
            <a:ext cx="3154680" cy="27432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需要喚起・中間CV</a:t>
            </a:r>
          </a:p>
        </p:txBody>
      </p:sp>
      <p:sp>
        <p:nvSpPr>
          <p:cNvPr id="17" name="TextBox 16"/>
          <p:cNvSpPr txBox="1"/>
          <p:nvPr/>
        </p:nvSpPr>
        <p:spPr>
          <a:xfrm>
            <a:off x="4526280" y="2423160"/>
            <a:ext cx="3154680" cy="1645920"/>
          </a:xfrm>
          <a:prstGeom prst="rect">
            <a:avLst/>
          </a:prstGeom>
          <a:noFill/>
        </p:spPr>
        <p:txBody>
          <a:bodyPr wrap="square" anchor="t" lIns="0" rIns="0" tIns="0" bIns="0">
            <a:spAutoFit/>
          </a:bodyPr>
          <a:lstStyle/>
          <a:p>
            <a:pPr algn="l">
              <a:lnSpc>
                <a:spcPct val="155000"/>
              </a:lnSpc>
            </a:pPr>
            <a:r>
              <a:rPr sz="1100" b="0">
                <a:solidFill>
                  <a:srgbClr val="1A1A1A"/>
                </a:solidFill>
                <a:latin typeface="Hiragino Sans"/>
                <a:ea typeface="Hiragino Sans"/>
                <a:cs typeface="Hiragino Sans"/>
              </a:rPr>
              <a:t>YT In-Stream / In-Feed / Shorts +</a:t>
            </a:r>
          </a:p>
          <a:p>
            <a:pPr algn="l">
              <a:lnSpc>
                <a:spcPct val="155000"/>
              </a:lnSpc>
            </a:pPr>
            <a:r>
              <a:rPr sz="1100" b="0">
                <a:solidFill>
                  <a:srgbClr val="1A1A1A"/>
                </a:solidFill>
                <a:latin typeface="Hiragino Sans"/>
                <a:ea typeface="Hiragino Sans"/>
                <a:cs typeface="Hiragino Sans"/>
              </a:rPr>
              <a:t>Discover + Gmail</a:t>
            </a:r>
          </a:p>
          <a:p>
            <a:pPr algn="l">
              <a:lnSpc>
                <a:spcPct val="155000"/>
              </a:lnSpc>
            </a:pPr>
            <a:r>
              <a:rPr sz="1100" b="0">
                <a:solidFill>
                  <a:srgbClr val="1A1A1A"/>
                </a:solidFill>
                <a:latin typeface="Hiragino Sans"/>
                <a:ea typeface="Hiragino Sans"/>
                <a:cs typeface="Hiragino Sans"/>
              </a:rPr>
              <a:t>縦型対応, VAC 後継</a:t>
            </a:r>
          </a:p>
        </p:txBody>
      </p:sp>
      <p:sp>
        <p:nvSpPr>
          <p:cNvPr id="18" name="Rounded Rectangle 17"/>
          <p:cNvSpPr/>
          <p:nvPr/>
        </p:nvSpPr>
        <p:spPr>
          <a:xfrm>
            <a:off x="8046720" y="1417320"/>
            <a:ext cx="3611880" cy="27432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6720" y="1417320"/>
            <a:ext cx="3611880" cy="777240"/>
          </a:xfrm>
          <a:prstGeom prst="rect">
            <a:avLst/>
          </a:prstGeom>
          <a:solidFill>
            <a:srgbClr val="2B44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1581912"/>
            <a:ext cx="3154680" cy="411480"/>
          </a:xfrm>
          <a:prstGeom prst="rect">
            <a:avLst/>
          </a:prstGeom>
          <a:noFill/>
        </p:spPr>
        <p:txBody>
          <a:bodyPr wrap="square" anchor="t" lIns="0" rIns="0" tIns="0" bIns="0">
            <a:spAutoFit/>
          </a:bodyPr>
          <a:lstStyle/>
          <a:p>
            <a:pPr algn="l">
              <a:lnSpc>
                <a:spcPct val="120000"/>
              </a:lnSpc>
            </a:pPr>
            <a:r>
              <a:rPr sz="1500" b="1">
                <a:solidFill>
                  <a:srgbClr val="FFFFFF"/>
                </a:solidFill>
                <a:latin typeface="Hiragino Sans"/>
                <a:ea typeface="Hiragino Sans"/>
                <a:cs typeface="Hiragino Sans"/>
              </a:rPr>
              <a:t>Performance Max</a:t>
            </a:r>
          </a:p>
        </p:txBody>
      </p:sp>
      <p:sp>
        <p:nvSpPr>
          <p:cNvPr id="21" name="TextBox 20"/>
          <p:cNvSpPr txBox="1"/>
          <p:nvPr/>
        </p:nvSpPr>
        <p:spPr>
          <a:xfrm>
            <a:off x="8275320" y="1965960"/>
            <a:ext cx="3154680" cy="27432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コンバージョン獲得</a:t>
            </a:r>
          </a:p>
        </p:txBody>
      </p:sp>
      <p:sp>
        <p:nvSpPr>
          <p:cNvPr id="22" name="TextBox 21"/>
          <p:cNvSpPr txBox="1"/>
          <p:nvPr/>
        </p:nvSpPr>
        <p:spPr>
          <a:xfrm>
            <a:off x="8275320" y="2423160"/>
            <a:ext cx="3154680" cy="1645920"/>
          </a:xfrm>
          <a:prstGeom prst="rect">
            <a:avLst/>
          </a:prstGeom>
          <a:noFill/>
        </p:spPr>
        <p:txBody>
          <a:bodyPr wrap="square" anchor="t" lIns="0" rIns="0" tIns="0" bIns="0">
            <a:spAutoFit/>
          </a:bodyPr>
          <a:lstStyle/>
          <a:p>
            <a:pPr algn="l">
              <a:lnSpc>
                <a:spcPct val="155000"/>
              </a:lnSpc>
            </a:pPr>
            <a:r>
              <a:rPr sz="1100" b="0">
                <a:solidFill>
                  <a:srgbClr val="1A1A1A"/>
                </a:solidFill>
                <a:latin typeface="Hiragino Sans"/>
                <a:ea typeface="Hiragino Sans"/>
                <a:cs typeface="Hiragino Sans"/>
              </a:rPr>
              <a:t>YT枠を含む全在庫で</a:t>
            </a:r>
          </a:p>
          <a:p>
            <a:pPr algn="l">
              <a:lnSpc>
                <a:spcPct val="155000"/>
              </a:lnSpc>
            </a:pPr>
            <a:r>
              <a:rPr sz="1100" b="0">
                <a:solidFill>
                  <a:srgbClr val="1A1A1A"/>
                </a:solidFill>
                <a:latin typeface="Hiragino Sans"/>
                <a:ea typeface="Hiragino Sans"/>
                <a:cs typeface="Hiragino Sans"/>
              </a:rPr>
              <a:t>自動配信。tROAS / tCPA</a:t>
            </a:r>
          </a:p>
        </p:txBody>
      </p:sp>
      <p:sp>
        <p:nvSpPr>
          <p:cNvPr id="23" name="TextBox 22"/>
          <p:cNvSpPr txBox="1"/>
          <p:nvPr/>
        </p:nvSpPr>
        <p:spPr>
          <a:xfrm>
            <a:off x="548640" y="4434840"/>
            <a:ext cx="1097280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YouTube広告クリエイティブの ABCD原則 (2026版)</a:t>
            </a:r>
          </a:p>
        </p:txBody>
      </p:sp>
      <p:sp>
        <p:nvSpPr>
          <p:cNvPr id="24" name="Rectangle 23"/>
          <p:cNvSpPr/>
          <p:nvPr/>
        </p:nvSpPr>
        <p:spPr>
          <a:xfrm>
            <a:off x="548640" y="4800600"/>
            <a:ext cx="1110996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48640" y="4983480"/>
            <a:ext cx="2697480" cy="13716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5120640"/>
            <a:ext cx="731520" cy="731520"/>
          </a:xfrm>
          <a:prstGeom prst="rect">
            <a:avLst/>
          </a:prstGeom>
          <a:noFill/>
        </p:spPr>
        <p:txBody>
          <a:bodyPr wrap="square" anchor="t" lIns="0" rIns="0" tIns="0" bIns="0">
            <a:spAutoFit/>
          </a:bodyPr>
          <a:lstStyle/>
          <a:p>
            <a:pPr algn="l">
              <a:lnSpc>
                <a:spcPct val="115000"/>
              </a:lnSpc>
            </a:pPr>
            <a:r>
              <a:rPr sz="4800" b="1">
                <a:solidFill>
                  <a:srgbClr val="E87722"/>
                </a:solidFill>
                <a:latin typeface="Helvetica Neue"/>
                <a:ea typeface="Helvetica Neue"/>
                <a:cs typeface="Helvetica Neue"/>
              </a:rPr>
              <a:t>A</a:t>
            </a:r>
          </a:p>
        </p:txBody>
      </p:sp>
      <p:sp>
        <p:nvSpPr>
          <p:cNvPr id="27" name="TextBox 26"/>
          <p:cNvSpPr txBox="1"/>
          <p:nvPr/>
        </p:nvSpPr>
        <p:spPr>
          <a:xfrm>
            <a:off x="1645920" y="5212080"/>
            <a:ext cx="1508760" cy="320040"/>
          </a:xfrm>
          <a:prstGeom prst="rect">
            <a:avLst/>
          </a:prstGeom>
          <a:noFill/>
        </p:spPr>
        <p:txBody>
          <a:bodyPr wrap="square" anchor="t" lIns="0" rIns="0" tIns="0" bIns="0">
            <a:spAutoFit/>
          </a:bodyPr>
          <a:lstStyle/>
          <a:p>
            <a:pPr algn="l">
              <a:lnSpc>
                <a:spcPct val="115000"/>
              </a:lnSpc>
            </a:pPr>
            <a:r>
              <a:rPr sz="1400" b="1">
                <a:solidFill>
                  <a:srgbClr val="0F2A4F"/>
                </a:solidFill>
                <a:latin typeface="Helvetica Neue"/>
                <a:ea typeface="Helvetica Neue"/>
                <a:cs typeface="Helvetica Neue"/>
              </a:rPr>
              <a:t>Attract</a:t>
            </a:r>
          </a:p>
        </p:txBody>
      </p:sp>
      <p:sp>
        <p:nvSpPr>
          <p:cNvPr id="28" name="TextBox 27"/>
          <p:cNvSpPr txBox="1"/>
          <p:nvPr/>
        </p:nvSpPr>
        <p:spPr>
          <a:xfrm>
            <a:off x="777240" y="5852160"/>
            <a:ext cx="2331720" cy="457200"/>
          </a:xfrm>
          <a:prstGeom prst="rect">
            <a:avLst/>
          </a:prstGeom>
          <a:noFill/>
        </p:spPr>
        <p:txBody>
          <a:bodyPr wrap="square" anchor="t" lIns="0" rIns="0" tIns="0" bIns="0">
            <a:spAutoFit/>
          </a:bodyPr>
          <a:lstStyle/>
          <a:p>
            <a:pPr algn="l">
              <a:lnSpc>
                <a:spcPct val="140000"/>
              </a:lnSpc>
            </a:pPr>
            <a:r>
              <a:rPr sz="900" b="0">
                <a:solidFill>
                  <a:srgbClr val="1A1A1A"/>
                </a:solidFill>
                <a:latin typeface="Hiragino Sans"/>
                <a:ea typeface="Hiragino Sans"/>
                <a:cs typeface="Hiragino Sans"/>
              </a:rPr>
              <a:t>最初の3秒で掴む。人物/音/テロップで意表を突く</a:t>
            </a:r>
          </a:p>
        </p:txBody>
      </p:sp>
      <p:sp>
        <p:nvSpPr>
          <p:cNvPr id="29" name="Rounded Rectangle 28"/>
          <p:cNvSpPr/>
          <p:nvPr/>
        </p:nvSpPr>
        <p:spPr>
          <a:xfrm>
            <a:off x="3337560" y="4983480"/>
            <a:ext cx="2697480" cy="13716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566160" y="5120640"/>
            <a:ext cx="731520" cy="731520"/>
          </a:xfrm>
          <a:prstGeom prst="rect">
            <a:avLst/>
          </a:prstGeom>
          <a:noFill/>
        </p:spPr>
        <p:txBody>
          <a:bodyPr wrap="square" anchor="t" lIns="0" rIns="0" tIns="0" bIns="0">
            <a:spAutoFit/>
          </a:bodyPr>
          <a:lstStyle/>
          <a:p>
            <a:pPr algn="l">
              <a:lnSpc>
                <a:spcPct val="115000"/>
              </a:lnSpc>
            </a:pPr>
            <a:r>
              <a:rPr sz="4800" b="1">
                <a:solidFill>
                  <a:srgbClr val="E87722"/>
                </a:solidFill>
                <a:latin typeface="Helvetica Neue"/>
                <a:ea typeface="Helvetica Neue"/>
                <a:cs typeface="Helvetica Neue"/>
              </a:rPr>
              <a:t>B</a:t>
            </a:r>
          </a:p>
        </p:txBody>
      </p:sp>
      <p:sp>
        <p:nvSpPr>
          <p:cNvPr id="31" name="TextBox 30"/>
          <p:cNvSpPr txBox="1"/>
          <p:nvPr/>
        </p:nvSpPr>
        <p:spPr>
          <a:xfrm>
            <a:off x="4434840" y="5212080"/>
            <a:ext cx="1508760" cy="320040"/>
          </a:xfrm>
          <a:prstGeom prst="rect">
            <a:avLst/>
          </a:prstGeom>
          <a:noFill/>
        </p:spPr>
        <p:txBody>
          <a:bodyPr wrap="square" anchor="t" lIns="0" rIns="0" tIns="0" bIns="0">
            <a:spAutoFit/>
          </a:bodyPr>
          <a:lstStyle/>
          <a:p>
            <a:pPr algn="l">
              <a:lnSpc>
                <a:spcPct val="115000"/>
              </a:lnSpc>
            </a:pPr>
            <a:r>
              <a:rPr sz="1400" b="1">
                <a:solidFill>
                  <a:srgbClr val="0F2A4F"/>
                </a:solidFill>
                <a:latin typeface="Helvetica Neue"/>
                <a:ea typeface="Helvetica Neue"/>
                <a:cs typeface="Helvetica Neue"/>
              </a:rPr>
              <a:t>Brand</a:t>
            </a:r>
          </a:p>
        </p:txBody>
      </p:sp>
      <p:sp>
        <p:nvSpPr>
          <p:cNvPr id="32" name="TextBox 31"/>
          <p:cNvSpPr txBox="1"/>
          <p:nvPr/>
        </p:nvSpPr>
        <p:spPr>
          <a:xfrm>
            <a:off x="3566160" y="5852160"/>
            <a:ext cx="2331720" cy="457200"/>
          </a:xfrm>
          <a:prstGeom prst="rect">
            <a:avLst/>
          </a:prstGeom>
          <a:noFill/>
        </p:spPr>
        <p:txBody>
          <a:bodyPr wrap="square" anchor="t" lIns="0" rIns="0" tIns="0" bIns="0">
            <a:spAutoFit/>
          </a:bodyPr>
          <a:lstStyle/>
          <a:p>
            <a:pPr algn="l">
              <a:lnSpc>
                <a:spcPct val="140000"/>
              </a:lnSpc>
            </a:pPr>
            <a:r>
              <a:rPr sz="900" b="0">
                <a:solidFill>
                  <a:srgbClr val="1A1A1A"/>
                </a:solidFill>
                <a:latin typeface="Hiragino Sans"/>
                <a:ea typeface="Hiragino Sans"/>
                <a:cs typeface="Hiragino Sans"/>
              </a:rPr>
              <a:t>5秒以内にブランド露出。ロゴ/商品/色を前面に</a:t>
            </a:r>
          </a:p>
        </p:txBody>
      </p:sp>
      <p:sp>
        <p:nvSpPr>
          <p:cNvPr id="33" name="Rounded Rectangle 32"/>
          <p:cNvSpPr/>
          <p:nvPr/>
        </p:nvSpPr>
        <p:spPr>
          <a:xfrm>
            <a:off x="6126480" y="4983480"/>
            <a:ext cx="2697480" cy="13716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55080" y="5120640"/>
            <a:ext cx="731520" cy="731520"/>
          </a:xfrm>
          <a:prstGeom prst="rect">
            <a:avLst/>
          </a:prstGeom>
          <a:noFill/>
        </p:spPr>
        <p:txBody>
          <a:bodyPr wrap="square" anchor="t" lIns="0" rIns="0" tIns="0" bIns="0">
            <a:spAutoFit/>
          </a:bodyPr>
          <a:lstStyle/>
          <a:p>
            <a:pPr algn="l">
              <a:lnSpc>
                <a:spcPct val="115000"/>
              </a:lnSpc>
            </a:pPr>
            <a:r>
              <a:rPr sz="4800" b="1">
                <a:solidFill>
                  <a:srgbClr val="E87722"/>
                </a:solidFill>
                <a:latin typeface="Helvetica Neue"/>
                <a:ea typeface="Helvetica Neue"/>
                <a:cs typeface="Helvetica Neue"/>
              </a:rPr>
              <a:t>C</a:t>
            </a:r>
          </a:p>
        </p:txBody>
      </p:sp>
      <p:sp>
        <p:nvSpPr>
          <p:cNvPr id="35" name="TextBox 34"/>
          <p:cNvSpPr txBox="1"/>
          <p:nvPr/>
        </p:nvSpPr>
        <p:spPr>
          <a:xfrm>
            <a:off x="7223760" y="5212080"/>
            <a:ext cx="1508760" cy="320040"/>
          </a:xfrm>
          <a:prstGeom prst="rect">
            <a:avLst/>
          </a:prstGeom>
          <a:noFill/>
        </p:spPr>
        <p:txBody>
          <a:bodyPr wrap="square" anchor="t" lIns="0" rIns="0" tIns="0" bIns="0">
            <a:spAutoFit/>
          </a:bodyPr>
          <a:lstStyle/>
          <a:p>
            <a:pPr algn="l">
              <a:lnSpc>
                <a:spcPct val="115000"/>
              </a:lnSpc>
            </a:pPr>
            <a:r>
              <a:rPr sz="1400" b="1">
                <a:solidFill>
                  <a:srgbClr val="0F2A4F"/>
                </a:solidFill>
                <a:latin typeface="Helvetica Neue"/>
                <a:ea typeface="Helvetica Neue"/>
                <a:cs typeface="Helvetica Neue"/>
              </a:rPr>
              <a:t>Connect</a:t>
            </a:r>
          </a:p>
        </p:txBody>
      </p:sp>
      <p:sp>
        <p:nvSpPr>
          <p:cNvPr id="36" name="TextBox 35"/>
          <p:cNvSpPr txBox="1"/>
          <p:nvPr/>
        </p:nvSpPr>
        <p:spPr>
          <a:xfrm>
            <a:off x="6355080" y="5852160"/>
            <a:ext cx="2331720" cy="457200"/>
          </a:xfrm>
          <a:prstGeom prst="rect">
            <a:avLst/>
          </a:prstGeom>
          <a:noFill/>
        </p:spPr>
        <p:txBody>
          <a:bodyPr wrap="square" anchor="t" lIns="0" rIns="0" tIns="0" bIns="0">
            <a:spAutoFit/>
          </a:bodyPr>
          <a:lstStyle/>
          <a:p>
            <a:pPr algn="l">
              <a:lnSpc>
                <a:spcPct val="140000"/>
              </a:lnSpc>
            </a:pPr>
            <a:r>
              <a:rPr sz="900" b="0">
                <a:solidFill>
                  <a:srgbClr val="1A1A1A"/>
                </a:solidFill>
                <a:latin typeface="Hiragino Sans"/>
                <a:ea typeface="Hiragino Sans"/>
                <a:cs typeface="Hiragino Sans"/>
              </a:rPr>
              <a:t>ベネフィットを具体的に。数字/事例を入れる</a:t>
            </a:r>
          </a:p>
        </p:txBody>
      </p:sp>
      <p:sp>
        <p:nvSpPr>
          <p:cNvPr id="37" name="Rounded Rectangle 36"/>
          <p:cNvSpPr/>
          <p:nvPr/>
        </p:nvSpPr>
        <p:spPr>
          <a:xfrm>
            <a:off x="8915400" y="4983480"/>
            <a:ext cx="2697480" cy="13716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4000" y="5120640"/>
            <a:ext cx="731520" cy="731520"/>
          </a:xfrm>
          <a:prstGeom prst="rect">
            <a:avLst/>
          </a:prstGeom>
          <a:noFill/>
        </p:spPr>
        <p:txBody>
          <a:bodyPr wrap="square" anchor="t" lIns="0" rIns="0" tIns="0" bIns="0">
            <a:spAutoFit/>
          </a:bodyPr>
          <a:lstStyle/>
          <a:p>
            <a:pPr algn="l">
              <a:lnSpc>
                <a:spcPct val="115000"/>
              </a:lnSpc>
            </a:pPr>
            <a:r>
              <a:rPr sz="4800" b="1">
                <a:solidFill>
                  <a:srgbClr val="E87722"/>
                </a:solidFill>
                <a:latin typeface="Helvetica Neue"/>
                <a:ea typeface="Helvetica Neue"/>
                <a:cs typeface="Helvetica Neue"/>
              </a:rPr>
              <a:t>D</a:t>
            </a:r>
          </a:p>
        </p:txBody>
      </p:sp>
      <p:sp>
        <p:nvSpPr>
          <p:cNvPr id="39" name="TextBox 38"/>
          <p:cNvSpPr txBox="1"/>
          <p:nvPr/>
        </p:nvSpPr>
        <p:spPr>
          <a:xfrm>
            <a:off x="10012680" y="5212080"/>
            <a:ext cx="1508760" cy="320040"/>
          </a:xfrm>
          <a:prstGeom prst="rect">
            <a:avLst/>
          </a:prstGeom>
          <a:noFill/>
        </p:spPr>
        <p:txBody>
          <a:bodyPr wrap="square" anchor="t" lIns="0" rIns="0" tIns="0" bIns="0">
            <a:spAutoFit/>
          </a:bodyPr>
          <a:lstStyle/>
          <a:p>
            <a:pPr algn="l">
              <a:lnSpc>
                <a:spcPct val="115000"/>
              </a:lnSpc>
            </a:pPr>
            <a:r>
              <a:rPr sz="1400" b="1">
                <a:solidFill>
                  <a:srgbClr val="0F2A4F"/>
                </a:solidFill>
                <a:latin typeface="Helvetica Neue"/>
                <a:ea typeface="Helvetica Neue"/>
                <a:cs typeface="Helvetica Neue"/>
              </a:rPr>
              <a:t>Direct</a:t>
            </a:r>
          </a:p>
        </p:txBody>
      </p:sp>
      <p:sp>
        <p:nvSpPr>
          <p:cNvPr id="40" name="TextBox 39"/>
          <p:cNvSpPr txBox="1"/>
          <p:nvPr/>
        </p:nvSpPr>
        <p:spPr>
          <a:xfrm>
            <a:off x="9144000" y="5852160"/>
            <a:ext cx="2331720" cy="457200"/>
          </a:xfrm>
          <a:prstGeom prst="rect">
            <a:avLst/>
          </a:prstGeom>
          <a:noFill/>
        </p:spPr>
        <p:txBody>
          <a:bodyPr wrap="square" anchor="t" lIns="0" rIns="0" tIns="0" bIns="0">
            <a:spAutoFit/>
          </a:bodyPr>
          <a:lstStyle/>
          <a:p>
            <a:pPr algn="l">
              <a:lnSpc>
                <a:spcPct val="140000"/>
              </a:lnSpc>
            </a:pPr>
            <a:r>
              <a:rPr sz="900" b="0">
                <a:solidFill>
                  <a:srgbClr val="1A1A1A"/>
                </a:solidFill>
                <a:latin typeface="Hiragino Sans"/>
                <a:ea typeface="Hiragino Sans"/>
                <a:cs typeface="Hiragino Sans"/>
              </a:rPr>
              <a:t>CTA明確化 : 『今すぐ』『LINE友達追加』等</a:t>
            </a:r>
          </a:p>
        </p:txBody>
      </p:sp>
      <p:sp>
        <p:nvSpPr>
          <p:cNvPr id="41" name="TextBox 40"/>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鉄板運用メソッド 2026年版</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新規案件で最初の30日にやること</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P54 / 250</a:t>
            </a:r>
          </a:p>
        </p:txBody>
      </p:sp>
      <p:sp>
        <p:nvSpPr>
          <p:cNvPr id="8" name="Rounded Rectangle 7"/>
          <p:cNvSpPr/>
          <p:nvPr/>
        </p:nvSpPr>
        <p:spPr>
          <a:xfrm>
            <a:off x="548640" y="1371600"/>
            <a:ext cx="11109960" cy="11887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71600"/>
            <a:ext cx="137160" cy="11887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508760"/>
            <a:ext cx="10515600" cy="32004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Day 0-2 : 計測基盤の整備</a:t>
            </a:r>
          </a:p>
        </p:txBody>
      </p:sp>
      <p:sp>
        <p:nvSpPr>
          <p:cNvPr id="11" name="TextBox 10"/>
          <p:cNvSpPr txBox="1"/>
          <p:nvPr/>
        </p:nvSpPr>
        <p:spPr>
          <a:xfrm>
            <a:off x="868680" y="182880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12" name="TextBox 11"/>
          <p:cNvSpPr txBox="1"/>
          <p:nvPr/>
        </p:nvSpPr>
        <p:spPr>
          <a:xfrm>
            <a:off x="1097280" y="185623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GA4 + GTM (or SGTM) + Consent Mode v2 導入状況の確認</a:t>
            </a:r>
          </a:p>
        </p:txBody>
      </p:sp>
      <p:sp>
        <p:nvSpPr>
          <p:cNvPr id="13" name="TextBox 12"/>
          <p:cNvSpPr txBox="1"/>
          <p:nvPr/>
        </p:nvSpPr>
        <p:spPr>
          <a:xfrm>
            <a:off x="6309360" y="182880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14" name="TextBox 13"/>
          <p:cNvSpPr txBox="1"/>
          <p:nvPr/>
        </p:nvSpPr>
        <p:spPr>
          <a:xfrm>
            <a:off x="6537960" y="185623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Enhanced Conversions 有効化</a:t>
            </a:r>
          </a:p>
        </p:txBody>
      </p:sp>
      <p:sp>
        <p:nvSpPr>
          <p:cNvPr id="15" name="TextBox 14"/>
          <p:cNvSpPr txBox="1"/>
          <p:nvPr/>
        </p:nvSpPr>
        <p:spPr>
          <a:xfrm>
            <a:off x="868680" y="214884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16" name="TextBox 15"/>
          <p:cNvSpPr txBox="1"/>
          <p:nvPr/>
        </p:nvSpPr>
        <p:spPr>
          <a:xfrm>
            <a:off x="1097280" y="217627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Customer Match リストのアップロード (Customer Match)</a:t>
            </a:r>
          </a:p>
        </p:txBody>
      </p:sp>
      <p:sp>
        <p:nvSpPr>
          <p:cNvPr id="17" name="TextBox 16"/>
          <p:cNvSpPr txBox="1"/>
          <p:nvPr/>
        </p:nvSpPr>
        <p:spPr>
          <a:xfrm>
            <a:off x="6309360" y="214884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18" name="TextBox 17"/>
          <p:cNvSpPr txBox="1"/>
          <p:nvPr/>
        </p:nvSpPr>
        <p:spPr>
          <a:xfrm>
            <a:off x="6537960" y="217627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Offline Conversion Import の設定 (リード案件のみ)</a:t>
            </a:r>
          </a:p>
        </p:txBody>
      </p:sp>
      <p:sp>
        <p:nvSpPr>
          <p:cNvPr id="19" name="Rounded Rectangle 18"/>
          <p:cNvSpPr/>
          <p:nvPr/>
        </p:nvSpPr>
        <p:spPr>
          <a:xfrm>
            <a:off x="548640" y="2651760"/>
            <a:ext cx="11109960" cy="11887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651760"/>
            <a:ext cx="137160" cy="11887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2788920"/>
            <a:ext cx="10515600" cy="32004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Day 3-7 : キャンペーン構造の設計</a:t>
            </a:r>
          </a:p>
        </p:txBody>
      </p:sp>
      <p:sp>
        <p:nvSpPr>
          <p:cNvPr id="22" name="TextBox 21"/>
          <p:cNvSpPr txBox="1"/>
          <p:nvPr/>
        </p:nvSpPr>
        <p:spPr>
          <a:xfrm>
            <a:off x="868680" y="310896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23" name="TextBox 22"/>
          <p:cNvSpPr txBox="1"/>
          <p:nvPr/>
        </p:nvSpPr>
        <p:spPr>
          <a:xfrm>
            <a:off x="1097280" y="313639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検索 (Broad Match + Smart Bidding) + PMax の2軸構成</a:t>
            </a:r>
          </a:p>
        </p:txBody>
      </p:sp>
      <p:sp>
        <p:nvSpPr>
          <p:cNvPr id="24" name="TextBox 23"/>
          <p:cNvSpPr txBox="1"/>
          <p:nvPr/>
        </p:nvSpPr>
        <p:spPr>
          <a:xfrm>
            <a:off x="6309360" y="310896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25" name="TextBox 24"/>
          <p:cNvSpPr txBox="1"/>
          <p:nvPr/>
        </p:nvSpPr>
        <p:spPr>
          <a:xfrm>
            <a:off x="6537960" y="313639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Asset Group を 3-5 個で start (訴求軸ごと)</a:t>
            </a:r>
          </a:p>
        </p:txBody>
      </p:sp>
      <p:sp>
        <p:nvSpPr>
          <p:cNvPr id="26" name="TextBox 25"/>
          <p:cNvSpPr txBox="1"/>
          <p:nvPr/>
        </p:nvSpPr>
        <p:spPr>
          <a:xfrm>
            <a:off x="868680" y="342900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27" name="TextBox 26"/>
          <p:cNvSpPr txBox="1"/>
          <p:nvPr/>
        </p:nvSpPr>
        <p:spPr>
          <a:xfrm>
            <a:off x="1097280" y="345643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Audience Signal に 1PD を投入</a:t>
            </a:r>
          </a:p>
        </p:txBody>
      </p:sp>
      <p:sp>
        <p:nvSpPr>
          <p:cNvPr id="28" name="TextBox 27"/>
          <p:cNvSpPr txBox="1"/>
          <p:nvPr/>
        </p:nvSpPr>
        <p:spPr>
          <a:xfrm>
            <a:off x="6309360" y="342900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29" name="TextBox 28"/>
          <p:cNvSpPr txBox="1"/>
          <p:nvPr/>
        </p:nvSpPr>
        <p:spPr>
          <a:xfrm>
            <a:off x="6537960" y="345643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Negative Keywords 500件 を初期投入</a:t>
            </a:r>
          </a:p>
        </p:txBody>
      </p:sp>
      <p:sp>
        <p:nvSpPr>
          <p:cNvPr id="30" name="Rounded Rectangle 29"/>
          <p:cNvSpPr/>
          <p:nvPr/>
        </p:nvSpPr>
        <p:spPr>
          <a:xfrm>
            <a:off x="548640" y="3931920"/>
            <a:ext cx="11109960" cy="11887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8640" y="3931920"/>
            <a:ext cx="137160" cy="11887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68680" y="4069080"/>
            <a:ext cx="10515600" cy="32004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Day 8-21 : 学習期間</a:t>
            </a:r>
          </a:p>
        </p:txBody>
      </p:sp>
      <p:sp>
        <p:nvSpPr>
          <p:cNvPr id="33" name="TextBox 32"/>
          <p:cNvSpPr txBox="1"/>
          <p:nvPr/>
        </p:nvSpPr>
        <p:spPr>
          <a:xfrm>
            <a:off x="868680" y="438912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34" name="TextBox 33"/>
          <p:cNvSpPr txBox="1"/>
          <p:nvPr/>
        </p:nvSpPr>
        <p:spPr>
          <a:xfrm>
            <a:off x="1097280" y="441655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Bid Strategy は tCPA / tROAS で固定</a:t>
            </a:r>
          </a:p>
        </p:txBody>
      </p:sp>
      <p:sp>
        <p:nvSpPr>
          <p:cNvPr id="35" name="TextBox 34"/>
          <p:cNvSpPr txBox="1"/>
          <p:nvPr/>
        </p:nvSpPr>
        <p:spPr>
          <a:xfrm>
            <a:off x="6309360" y="438912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36" name="TextBox 35"/>
          <p:cNvSpPr txBox="1"/>
          <p:nvPr/>
        </p:nvSpPr>
        <p:spPr>
          <a:xfrm>
            <a:off x="6537960" y="441655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予算変動 ±20% 以内に抑える</a:t>
            </a:r>
          </a:p>
        </p:txBody>
      </p:sp>
      <p:sp>
        <p:nvSpPr>
          <p:cNvPr id="37" name="TextBox 36"/>
          <p:cNvSpPr txBox="1"/>
          <p:nvPr/>
        </p:nvSpPr>
        <p:spPr>
          <a:xfrm>
            <a:off x="868680" y="470916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38" name="TextBox 37"/>
          <p:cNvSpPr txBox="1"/>
          <p:nvPr/>
        </p:nvSpPr>
        <p:spPr>
          <a:xfrm>
            <a:off x="1097280" y="473659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アセット追加は慎重 (学習リセットのリスク)</a:t>
            </a:r>
          </a:p>
        </p:txBody>
      </p:sp>
      <p:sp>
        <p:nvSpPr>
          <p:cNvPr id="39" name="TextBox 38"/>
          <p:cNvSpPr txBox="1"/>
          <p:nvPr/>
        </p:nvSpPr>
        <p:spPr>
          <a:xfrm>
            <a:off x="6309360" y="470916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40" name="TextBox 39"/>
          <p:cNvSpPr txBox="1"/>
          <p:nvPr/>
        </p:nvSpPr>
        <p:spPr>
          <a:xfrm>
            <a:off x="6537960" y="473659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Optiscore の『計測・学習補助系』提案のみ適用</a:t>
            </a:r>
          </a:p>
        </p:txBody>
      </p:sp>
      <p:sp>
        <p:nvSpPr>
          <p:cNvPr id="41" name="Rounded Rectangle 40"/>
          <p:cNvSpPr/>
          <p:nvPr/>
        </p:nvSpPr>
        <p:spPr>
          <a:xfrm>
            <a:off x="548640" y="5212080"/>
            <a:ext cx="11109960" cy="11887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48640" y="5212080"/>
            <a:ext cx="137160" cy="11887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68680" y="5349240"/>
            <a:ext cx="10515600" cy="32004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Day 22-30 : 最適化+レポート</a:t>
            </a:r>
          </a:p>
        </p:txBody>
      </p:sp>
      <p:sp>
        <p:nvSpPr>
          <p:cNvPr id="44" name="TextBox 43"/>
          <p:cNvSpPr txBox="1"/>
          <p:nvPr/>
        </p:nvSpPr>
        <p:spPr>
          <a:xfrm>
            <a:off x="868680" y="566928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45" name="TextBox 44"/>
          <p:cNvSpPr txBox="1"/>
          <p:nvPr/>
        </p:nvSpPr>
        <p:spPr>
          <a:xfrm>
            <a:off x="1097280" y="569671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Search Terms で無駄クエリ特定 → Negative 追加</a:t>
            </a:r>
          </a:p>
        </p:txBody>
      </p:sp>
      <p:sp>
        <p:nvSpPr>
          <p:cNvPr id="46" name="TextBox 45"/>
          <p:cNvSpPr txBox="1"/>
          <p:nvPr/>
        </p:nvSpPr>
        <p:spPr>
          <a:xfrm>
            <a:off x="6309360" y="566928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47" name="TextBox 46"/>
          <p:cNvSpPr txBox="1"/>
          <p:nvPr/>
        </p:nvSpPr>
        <p:spPr>
          <a:xfrm>
            <a:off x="6537960" y="569671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アセット Best / Low を入れ替え</a:t>
            </a:r>
          </a:p>
        </p:txBody>
      </p:sp>
      <p:sp>
        <p:nvSpPr>
          <p:cNvPr id="48" name="TextBox 47"/>
          <p:cNvSpPr txBox="1"/>
          <p:nvPr/>
        </p:nvSpPr>
        <p:spPr>
          <a:xfrm>
            <a:off x="868680" y="598932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49" name="TextBox 48"/>
          <p:cNvSpPr txBox="1"/>
          <p:nvPr/>
        </p:nvSpPr>
        <p:spPr>
          <a:xfrm>
            <a:off x="1097280" y="601675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DDA での Cross-channel 貢献度確認</a:t>
            </a:r>
          </a:p>
        </p:txBody>
      </p:sp>
      <p:sp>
        <p:nvSpPr>
          <p:cNvPr id="50" name="TextBox 49"/>
          <p:cNvSpPr txBox="1"/>
          <p:nvPr/>
        </p:nvSpPr>
        <p:spPr>
          <a:xfrm>
            <a:off x="6309360" y="598932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51" name="TextBox 50"/>
          <p:cNvSpPr txBox="1"/>
          <p:nvPr/>
        </p:nvSpPr>
        <p:spPr>
          <a:xfrm>
            <a:off x="6537960" y="601675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月次レポート + 次月提案</a:t>
            </a:r>
          </a:p>
        </p:txBody>
      </p:sp>
      <p:sp>
        <p:nvSpPr>
          <p:cNvPr id="52" name="TextBox 51"/>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よくある失敗と回避策</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副業代行で『あ、やっちゃった』を防ぐチェック</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P55 / 250</a:t>
            </a:r>
          </a:p>
        </p:txBody>
      </p:sp>
      <p:sp>
        <p:nvSpPr>
          <p:cNvPr id="8" name="Rounded Rectangle 7"/>
          <p:cNvSpPr/>
          <p:nvPr/>
        </p:nvSpPr>
        <p:spPr>
          <a:xfrm>
            <a:off x="548640" y="1325880"/>
            <a:ext cx="5440680" cy="15544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25880"/>
            <a:ext cx="91440" cy="1554480"/>
          </a:xfrm>
          <a:prstGeom prst="rect">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63040"/>
            <a:ext cx="457200" cy="320040"/>
          </a:xfrm>
          <a:prstGeom prst="rect">
            <a:avLst/>
          </a:prstGeom>
          <a:noFill/>
        </p:spPr>
        <p:txBody>
          <a:bodyPr wrap="square" anchor="t" lIns="0" rIns="0" tIns="0" bIns="0">
            <a:spAutoFit/>
          </a:bodyPr>
          <a:lstStyle/>
          <a:p>
            <a:pPr algn="l">
              <a:lnSpc>
                <a:spcPct val="115000"/>
              </a:lnSpc>
            </a:pPr>
            <a:r>
              <a:rPr sz="1800" b="1">
                <a:solidFill>
                  <a:srgbClr val="C6452D"/>
                </a:solidFill>
                <a:latin typeface="Hiragino Sans"/>
                <a:ea typeface="Hiragino Sans"/>
                <a:cs typeface="Hiragino Sans"/>
              </a:rPr>
              <a:t>✗</a:t>
            </a:r>
          </a:p>
        </p:txBody>
      </p:sp>
      <p:sp>
        <p:nvSpPr>
          <p:cNvPr id="11" name="TextBox 10"/>
          <p:cNvSpPr txBox="1"/>
          <p:nvPr/>
        </p:nvSpPr>
        <p:spPr>
          <a:xfrm>
            <a:off x="1188720" y="1463040"/>
            <a:ext cx="4663440" cy="365760"/>
          </a:xfrm>
          <a:prstGeom prst="rect">
            <a:avLst/>
          </a:prstGeom>
          <a:noFill/>
        </p:spPr>
        <p:txBody>
          <a:bodyPr wrap="square" anchor="t" lIns="0" rIns="0" tIns="0" bIns="0">
            <a:spAutoFit/>
          </a:bodyPr>
          <a:lstStyle/>
          <a:p>
            <a:pPr algn="l">
              <a:lnSpc>
                <a:spcPct val="130000"/>
              </a:lnSpc>
            </a:pPr>
            <a:r>
              <a:rPr sz="1200" b="1">
                <a:solidFill>
                  <a:srgbClr val="0F2A4F"/>
                </a:solidFill>
                <a:latin typeface="Hiragino Sans"/>
                <a:ea typeface="Hiragino Sans"/>
                <a:cs typeface="Hiragino Sans"/>
              </a:rPr>
              <a:t>学習期間中に予算を大きく動かす</a:t>
            </a:r>
          </a:p>
        </p:txBody>
      </p:sp>
      <p:sp>
        <p:nvSpPr>
          <p:cNvPr id="12" name="TextBox 11"/>
          <p:cNvSpPr txBox="1"/>
          <p:nvPr/>
        </p:nvSpPr>
        <p:spPr>
          <a:xfrm>
            <a:off x="777240" y="1920240"/>
            <a:ext cx="5074920" cy="411480"/>
          </a:xfrm>
          <a:prstGeom prst="rect">
            <a:avLst/>
          </a:prstGeom>
          <a:noFill/>
        </p:spPr>
        <p:txBody>
          <a:bodyPr wrap="square" anchor="t" lIns="0" rIns="0" tIns="0" bIns="0">
            <a:spAutoFit/>
          </a:bodyPr>
          <a:lstStyle/>
          <a:p>
            <a:pPr algn="l">
              <a:lnSpc>
                <a:spcPct val="140000"/>
              </a:lnSpc>
            </a:pPr>
            <a:r>
              <a:rPr sz="1000" b="0">
                <a:solidFill>
                  <a:srgbClr val="5A6A80"/>
                </a:solidFill>
                <a:latin typeface="Hiragino Sans"/>
                <a:ea typeface="Hiragino Sans"/>
                <a:cs typeface="Hiragino Sans"/>
              </a:rPr>
              <a:t>Bid Strategy が不安定化 → CPA/ROAS 崩壊</a:t>
            </a:r>
          </a:p>
        </p:txBody>
      </p:sp>
      <p:sp>
        <p:nvSpPr>
          <p:cNvPr id="13" name="Rectangle 12"/>
          <p:cNvSpPr/>
          <p:nvPr/>
        </p:nvSpPr>
        <p:spPr>
          <a:xfrm>
            <a:off x="777240" y="2331720"/>
            <a:ext cx="507492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423160"/>
            <a:ext cx="5074920" cy="411480"/>
          </a:xfrm>
          <a:prstGeom prst="rect">
            <a:avLst/>
          </a:prstGeom>
          <a:noFill/>
        </p:spPr>
        <p:txBody>
          <a:bodyPr wrap="square" anchor="t" lIns="0" rIns="0" tIns="0" bIns="0">
            <a:spAutoFit/>
          </a:bodyPr>
          <a:lstStyle/>
          <a:p>
            <a:pPr algn="l">
              <a:lnSpc>
                <a:spcPct val="140000"/>
              </a:lnSpc>
            </a:pPr>
            <a:r>
              <a:rPr sz="1000" b="1">
                <a:solidFill>
                  <a:srgbClr val="B85E1A"/>
                </a:solidFill>
                <a:latin typeface="Hiragino Sans"/>
                <a:ea typeface="Hiragino Sans"/>
                <a:cs typeface="Hiragino Sans"/>
              </a:rPr>
              <a:t>→  最初2週間は ±20% 以内に制限</a:t>
            </a:r>
          </a:p>
        </p:txBody>
      </p:sp>
      <p:sp>
        <p:nvSpPr>
          <p:cNvPr id="15" name="Rounded Rectangle 14"/>
          <p:cNvSpPr/>
          <p:nvPr/>
        </p:nvSpPr>
        <p:spPr>
          <a:xfrm>
            <a:off x="6172200" y="1325880"/>
            <a:ext cx="5440680" cy="15544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1325880"/>
            <a:ext cx="91440" cy="1554480"/>
          </a:xfrm>
          <a:prstGeom prst="rect">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1463040"/>
            <a:ext cx="457200" cy="320040"/>
          </a:xfrm>
          <a:prstGeom prst="rect">
            <a:avLst/>
          </a:prstGeom>
          <a:noFill/>
        </p:spPr>
        <p:txBody>
          <a:bodyPr wrap="square" anchor="t" lIns="0" rIns="0" tIns="0" bIns="0">
            <a:spAutoFit/>
          </a:bodyPr>
          <a:lstStyle/>
          <a:p>
            <a:pPr algn="l">
              <a:lnSpc>
                <a:spcPct val="115000"/>
              </a:lnSpc>
            </a:pPr>
            <a:r>
              <a:rPr sz="1800" b="1">
                <a:solidFill>
                  <a:srgbClr val="C6452D"/>
                </a:solidFill>
                <a:latin typeface="Hiragino Sans"/>
                <a:ea typeface="Hiragino Sans"/>
                <a:cs typeface="Hiragino Sans"/>
              </a:rPr>
              <a:t>✗</a:t>
            </a:r>
          </a:p>
        </p:txBody>
      </p:sp>
      <p:sp>
        <p:nvSpPr>
          <p:cNvPr id="18" name="TextBox 17"/>
          <p:cNvSpPr txBox="1"/>
          <p:nvPr/>
        </p:nvSpPr>
        <p:spPr>
          <a:xfrm>
            <a:off x="6812280" y="1463040"/>
            <a:ext cx="4663440" cy="365760"/>
          </a:xfrm>
          <a:prstGeom prst="rect">
            <a:avLst/>
          </a:prstGeom>
          <a:noFill/>
        </p:spPr>
        <p:txBody>
          <a:bodyPr wrap="square" anchor="t" lIns="0" rIns="0" tIns="0" bIns="0">
            <a:spAutoFit/>
          </a:bodyPr>
          <a:lstStyle/>
          <a:p>
            <a:pPr algn="l">
              <a:lnSpc>
                <a:spcPct val="130000"/>
              </a:lnSpc>
            </a:pPr>
            <a:r>
              <a:rPr sz="1200" b="1">
                <a:solidFill>
                  <a:srgbClr val="0F2A4F"/>
                </a:solidFill>
                <a:latin typeface="Hiragino Sans"/>
                <a:ea typeface="Hiragino Sans"/>
                <a:cs typeface="Hiragino Sans"/>
              </a:rPr>
              <a:t>Asset Group を分けすぎる</a:t>
            </a:r>
          </a:p>
        </p:txBody>
      </p:sp>
      <p:sp>
        <p:nvSpPr>
          <p:cNvPr id="19" name="TextBox 18"/>
          <p:cNvSpPr txBox="1"/>
          <p:nvPr/>
        </p:nvSpPr>
        <p:spPr>
          <a:xfrm>
            <a:off x="6400800" y="1920240"/>
            <a:ext cx="5074920" cy="411480"/>
          </a:xfrm>
          <a:prstGeom prst="rect">
            <a:avLst/>
          </a:prstGeom>
          <a:noFill/>
        </p:spPr>
        <p:txBody>
          <a:bodyPr wrap="square" anchor="t" lIns="0" rIns="0" tIns="0" bIns="0">
            <a:spAutoFit/>
          </a:bodyPr>
          <a:lstStyle/>
          <a:p>
            <a:pPr algn="l">
              <a:lnSpc>
                <a:spcPct val="140000"/>
              </a:lnSpc>
            </a:pPr>
            <a:r>
              <a:rPr sz="1000" b="0">
                <a:solidFill>
                  <a:srgbClr val="5A6A80"/>
                </a:solidFill>
                <a:latin typeface="Hiragino Sans"/>
                <a:ea typeface="Hiragino Sans"/>
                <a:cs typeface="Hiragino Sans"/>
              </a:rPr>
              <a:t>各 Asset Group のデータ量が不足 → AI学習弱体</a:t>
            </a:r>
          </a:p>
        </p:txBody>
      </p:sp>
      <p:sp>
        <p:nvSpPr>
          <p:cNvPr id="20" name="Rectangle 19"/>
          <p:cNvSpPr/>
          <p:nvPr/>
        </p:nvSpPr>
        <p:spPr>
          <a:xfrm>
            <a:off x="6400800" y="2331720"/>
            <a:ext cx="507492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0" y="2423160"/>
            <a:ext cx="5074920" cy="411480"/>
          </a:xfrm>
          <a:prstGeom prst="rect">
            <a:avLst/>
          </a:prstGeom>
          <a:noFill/>
        </p:spPr>
        <p:txBody>
          <a:bodyPr wrap="square" anchor="t" lIns="0" rIns="0" tIns="0" bIns="0">
            <a:spAutoFit/>
          </a:bodyPr>
          <a:lstStyle/>
          <a:p>
            <a:pPr algn="l">
              <a:lnSpc>
                <a:spcPct val="140000"/>
              </a:lnSpc>
            </a:pPr>
            <a:r>
              <a:rPr sz="1000" b="1">
                <a:solidFill>
                  <a:srgbClr val="B85E1A"/>
                </a:solidFill>
                <a:latin typeface="Hiragino Sans"/>
                <a:ea typeface="Hiragino Sans"/>
                <a:cs typeface="Hiragino Sans"/>
              </a:rPr>
              <a:t>→  3-5 個 を上限に、訴求軸で分ける</a:t>
            </a:r>
          </a:p>
        </p:txBody>
      </p:sp>
      <p:sp>
        <p:nvSpPr>
          <p:cNvPr id="22" name="Rounded Rectangle 21"/>
          <p:cNvSpPr/>
          <p:nvPr/>
        </p:nvSpPr>
        <p:spPr>
          <a:xfrm>
            <a:off x="548640" y="3017520"/>
            <a:ext cx="5440680" cy="15544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48640" y="3017520"/>
            <a:ext cx="91440" cy="1554480"/>
          </a:xfrm>
          <a:prstGeom prst="rect">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3154680"/>
            <a:ext cx="457200" cy="320040"/>
          </a:xfrm>
          <a:prstGeom prst="rect">
            <a:avLst/>
          </a:prstGeom>
          <a:noFill/>
        </p:spPr>
        <p:txBody>
          <a:bodyPr wrap="square" anchor="t" lIns="0" rIns="0" tIns="0" bIns="0">
            <a:spAutoFit/>
          </a:bodyPr>
          <a:lstStyle/>
          <a:p>
            <a:pPr algn="l">
              <a:lnSpc>
                <a:spcPct val="115000"/>
              </a:lnSpc>
            </a:pPr>
            <a:r>
              <a:rPr sz="1800" b="1">
                <a:solidFill>
                  <a:srgbClr val="C6452D"/>
                </a:solidFill>
                <a:latin typeface="Hiragino Sans"/>
                <a:ea typeface="Hiragino Sans"/>
                <a:cs typeface="Hiragino Sans"/>
              </a:rPr>
              <a:t>✗</a:t>
            </a:r>
          </a:p>
        </p:txBody>
      </p:sp>
      <p:sp>
        <p:nvSpPr>
          <p:cNvPr id="25" name="TextBox 24"/>
          <p:cNvSpPr txBox="1"/>
          <p:nvPr/>
        </p:nvSpPr>
        <p:spPr>
          <a:xfrm>
            <a:off x="1188720" y="3154680"/>
            <a:ext cx="4663440" cy="365760"/>
          </a:xfrm>
          <a:prstGeom prst="rect">
            <a:avLst/>
          </a:prstGeom>
          <a:noFill/>
        </p:spPr>
        <p:txBody>
          <a:bodyPr wrap="square" anchor="t" lIns="0" rIns="0" tIns="0" bIns="0">
            <a:spAutoFit/>
          </a:bodyPr>
          <a:lstStyle/>
          <a:p>
            <a:pPr algn="l">
              <a:lnSpc>
                <a:spcPct val="130000"/>
              </a:lnSpc>
            </a:pPr>
            <a:r>
              <a:rPr sz="1200" b="1">
                <a:solidFill>
                  <a:srgbClr val="0F2A4F"/>
                </a:solidFill>
                <a:latin typeface="Hiragino Sans"/>
                <a:ea typeface="Hiragino Sans"/>
                <a:cs typeface="Hiragino Sans"/>
              </a:rPr>
              <a:t>Exact / Phrase だけで固める</a:t>
            </a:r>
          </a:p>
        </p:txBody>
      </p:sp>
      <p:sp>
        <p:nvSpPr>
          <p:cNvPr id="26" name="TextBox 25"/>
          <p:cNvSpPr txBox="1"/>
          <p:nvPr/>
        </p:nvSpPr>
        <p:spPr>
          <a:xfrm>
            <a:off x="777240" y="3611880"/>
            <a:ext cx="5074920" cy="411480"/>
          </a:xfrm>
          <a:prstGeom prst="rect">
            <a:avLst/>
          </a:prstGeom>
          <a:noFill/>
        </p:spPr>
        <p:txBody>
          <a:bodyPr wrap="square" anchor="t" lIns="0" rIns="0" tIns="0" bIns="0">
            <a:spAutoFit/>
          </a:bodyPr>
          <a:lstStyle/>
          <a:p>
            <a:pPr algn="l">
              <a:lnSpc>
                <a:spcPct val="140000"/>
              </a:lnSpc>
            </a:pPr>
            <a:r>
              <a:rPr sz="1000" b="0">
                <a:solidFill>
                  <a:srgbClr val="5A6A80"/>
                </a:solidFill>
                <a:latin typeface="Hiragino Sans"/>
                <a:ea typeface="Hiragino Sans"/>
                <a:cs typeface="Hiragino Sans"/>
              </a:rPr>
              <a:t>機会損失大 + Broad にすべきクエリを逃す</a:t>
            </a:r>
          </a:p>
        </p:txBody>
      </p:sp>
      <p:sp>
        <p:nvSpPr>
          <p:cNvPr id="27" name="Rectangle 26"/>
          <p:cNvSpPr/>
          <p:nvPr/>
        </p:nvSpPr>
        <p:spPr>
          <a:xfrm>
            <a:off x="777240" y="4023360"/>
            <a:ext cx="507492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4114800"/>
            <a:ext cx="5074920" cy="411480"/>
          </a:xfrm>
          <a:prstGeom prst="rect">
            <a:avLst/>
          </a:prstGeom>
          <a:noFill/>
        </p:spPr>
        <p:txBody>
          <a:bodyPr wrap="square" anchor="t" lIns="0" rIns="0" tIns="0" bIns="0">
            <a:spAutoFit/>
          </a:bodyPr>
          <a:lstStyle/>
          <a:p>
            <a:pPr algn="l">
              <a:lnSpc>
                <a:spcPct val="140000"/>
              </a:lnSpc>
            </a:pPr>
            <a:r>
              <a:rPr sz="1000" b="1">
                <a:solidFill>
                  <a:srgbClr val="B85E1A"/>
                </a:solidFill>
                <a:latin typeface="Hiragino Sans"/>
                <a:ea typeface="Hiragino Sans"/>
                <a:cs typeface="Hiragino Sans"/>
              </a:rPr>
              <a:t>→  Broad + Smart Bidding を併用、ネガで絞る</a:t>
            </a:r>
          </a:p>
        </p:txBody>
      </p:sp>
      <p:sp>
        <p:nvSpPr>
          <p:cNvPr id="29" name="Rounded Rectangle 28"/>
          <p:cNvSpPr/>
          <p:nvPr/>
        </p:nvSpPr>
        <p:spPr>
          <a:xfrm>
            <a:off x="6172200" y="3017520"/>
            <a:ext cx="5440680" cy="15544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72200" y="3017520"/>
            <a:ext cx="91440" cy="1554480"/>
          </a:xfrm>
          <a:prstGeom prst="rect">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0" y="3154680"/>
            <a:ext cx="457200" cy="320040"/>
          </a:xfrm>
          <a:prstGeom prst="rect">
            <a:avLst/>
          </a:prstGeom>
          <a:noFill/>
        </p:spPr>
        <p:txBody>
          <a:bodyPr wrap="square" anchor="t" lIns="0" rIns="0" tIns="0" bIns="0">
            <a:spAutoFit/>
          </a:bodyPr>
          <a:lstStyle/>
          <a:p>
            <a:pPr algn="l">
              <a:lnSpc>
                <a:spcPct val="115000"/>
              </a:lnSpc>
            </a:pPr>
            <a:r>
              <a:rPr sz="1800" b="1">
                <a:solidFill>
                  <a:srgbClr val="C6452D"/>
                </a:solidFill>
                <a:latin typeface="Hiragino Sans"/>
                <a:ea typeface="Hiragino Sans"/>
                <a:cs typeface="Hiragino Sans"/>
              </a:rPr>
              <a:t>✗</a:t>
            </a:r>
          </a:p>
        </p:txBody>
      </p:sp>
      <p:sp>
        <p:nvSpPr>
          <p:cNvPr id="32" name="TextBox 31"/>
          <p:cNvSpPr txBox="1"/>
          <p:nvPr/>
        </p:nvSpPr>
        <p:spPr>
          <a:xfrm>
            <a:off x="6812280" y="3154680"/>
            <a:ext cx="4663440" cy="365760"/>
          </a:xfrm>
          <a:prstGeom prst="rect">
            <a:avLst/>
          </a:prstGeom>
          <a:noFill/>
        </p:spPr>
        <p:txBody>
          <a:bodyPr wrap="square" anchor="t" lIns="0" rIns="0" tIns="0" bIns="0">
            <a:spAutoFit/>
          </a:bodyPr>
          <a:lstStyle/>
          <a:p>
            <a:pPr algn="l">
              <a:lnSpc>
                <a:spcPct val="130000"/>
              </a:lnSpc>
            </a:pPr>
            <a:r>
              <a:rPr sz="1200" b="1">
                <a:solidFill>
                  <a:srgbClr val="0F2A4F"/>
                </a:solidFill>
                <a:latin typeface="Hiragino Sans"/>
                <a:ea typeface="Hiragino Sans"/>
                <a:cs typeface="Hiragino Sans"/>
              </a:rPr>
              <a:t>Consent Mode 未実装で配信</a:t>
            </a:r>
          </a:p>
        </p:txBody>
      </p:sp>
      <p:sp>
        <p:nvSpPr>
          <p:cNvPr id="33" name="TextBox 32"/>
          <p:cNvSpPr txBox="1"/>
          <p:nvPr/>
        </p:nvSpPr>
        <p:spPr>
          <a:xfrm>
            <a:off x="6400800" y="3611880"/>
            <a:ext cx="5074920" cy="411480"/>
          </a:xfrm>
          <a:prstGeom prst="rect">
            <a:avLst/>
          </a:prstGeom>
          <a:noFill/>
        </p:spPr>
        <p:txBody>
          <a:bodyPr wrap="square" anchor="t" lIns="0" rIns="0" tIns="0" bIns="0">
            <a:spAutoFit/>
          </a:bodyPr>
          <a:lstStyle/>
          <a:p>
            <a:pPr algn="l">
              <a:lnSpc>
                <a:spcPct val="140000"/>
              </a:lnSpc>
            </a:pPr>
            <a:r>
              <a:rPr sz="1000" b="0">
                <a:solidFill>
                  <a:srgbClr val="5A6A80"/>
                </a:solidFill>
                <a:latin typeface="Hiragino Sans"/>
                <a:ea typeface="Hiragino Sans"/>
                <a:cs typeface="Hiragino Sans"/>
              </a:rPr>
              <a:t>計測ロス + モデリング不可</a:t>
            </a:r>
          </a:p>
        </p:txBody>
      </p:sp>
      <p:sp>
        <p:nvSpPr>
          <p:cNvPr id="34" name="Rectangle 33"/>
          <p:cNvSpPr/>
          <p:nvPr/>
        </p:nvSpPr>
        <p:spPr>
          <a:xfrm>
            <a:off x="6400800" y="4023360"/>
            <a:ext cx="507492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0" y="4114800"/>
            <a:ext cx="5074920" cy="411480"/>
          </a:xfrm>
          <a:prstGeom prst="rect">
            <a:avLst/>
          </a:prstGeom>
          <a:noFill/>
        </p:spPr>
        <p:txBody>
          <a:bodyPr wrap="square" anchor="t" lIns="0" rIns="0" tIns="0" bIns="0">
            <a:spAutoFit/>
          </a:bodyPr>
          <a:lstStyle/>
          <a:p>
            <a:pPr algn="l">
              <a:lnSpc>
                <a:spcPct val="140000"/>
              </a:lnSpc>
            </a:pPr>
            <a:r>
              <a:rPr sz="1000" b="1">
                <a:solidFill>
                  <a:srgbClr val="B85E1A"/>
                </a:solidFill>
                <a:latin typeface="Hiragino Sans"/>
                <a:ea typeface="Hiragino Sans"/>
                <a:cs typeface="Hiragino Sans"/>
              </a:rPr>
              <a:t>→  初回ヒアリングで必ず実装状況確認</a:t>
            </a:r>
          </a:p>
        </p:txBody>
      </p:sp>
      <p:sp>
        <p:nvSpPr>
          <p:cNvPr id="36" name="Rounded Rectangle 35"/>
          <p:cNvSpPr/>
          <p:nvPr/>
        </p:nvSpPr>
        <p:spPr>
          <a:xfrm>
            <a:off x="548640" y="4709160"/>
            <a:ext cx="5440680" cy="15544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 y="4709160"/>
            <a:ext cx="91440" cy="1554480"/>
          </a:xfrm>
          <a:prstGeom prst="rect">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77240" y="4846320"/>
            <a:ext cx="457200" cy="320040"/>
          </a:xfrm>
          <a:prstGeom prst="rect">
            <a:avLst/>
          </a:prstGeom>
          <a:noFill/>
        </p:spPr>
        <p:txBody>
          <a:bodyPr wrap="square" anchor="t" lIns="0" rIns="0" tIns="0" bIns="0">
            <a:spAutoFit/>
          </a:bodyPr>
          <a:lstStyle/>
          <a:p>
            <a:pPr algn="l">
              <a:lnSpc>
                <a:spcPct val="115000"/>
              </a:lnSpc>
            </a:pPr>
            <a:r>
              <a:rPr sz="1800" b="1">
                <a:solidFill>
                  <a:srgbClr val="C6452D"/>
                </a:solidFill>
                <a:latin typeface="Hiragino Sans"/>
                <a:ea typeface="Hiragino Sans"/>
                <a:cs typeface="Hiragino Sans"/>
              </a:rPr>
              <a:t>✗</a:t>
            </a:r>
          </a:p>
        </p:txBody>
      </p:sp>
      <p:sp>
        <p:nvSpPr>
          <p:cNvPr id="39" name="TextBox 38"/>
          <p:cNvSpPr txBox="1"/>
          <p:nvPr/>
        </p:nvSpPr>
        <p:spPr>
          <a:xfrm>
            <a:off x="1188720" y="4846320"/>
            <a:ext cx="4663440" cy="365760"/>
          </a:xfrm>
          <a:prstGeom prst="rect">
            <a:avLst/>
          </a:prstGeom>
          <a:noFill/>
        </p:spPr>
        <p:txBody>
          <a:bodyPr wrap="square" anchor="t" lIns="0" rIns="0" tIns="0" bIns="0">
            <a:spAutoFit/>
          </a:bodyPr>
          <a:lstStyle/>
          <a:p>
            <a:pPr algn="l">
              <a:lnSpc>
                <a:spcPct val="130000"/>
              </a:lnSpc>
            </a:pPr>
            <a:r>
              <a:rPr sz="1200" b="1">
                <a:solidFill>
                  <a:srgbClr val="0F2A4F"/>
                </a:solidFill>
                <a:latin typeface="Hiragino Sans"/>
                <a:ea typeface="Hiragino Sans"/>
                <a:cs typeface="Hiragino Sans"/>
              </a:rPr>
              <a:t>Optiscore 100%を追求</a:t>
            </a:r>
          </a:p>
        </p:txBody>
      </p:sp>
      <p:sp>
        <p:nvSpPr>
          <p:cNvPr id="40" name="TextBox 39"/>
          <p:cNvSpPr txBox="1"/>
          <p:nvPr/>
        </p:nvSpPr>
        <p:spPr>
          <a:xfrm>
            <a:off x="777240" y="5303520"/>
            <a:ext cx="5074920" cy="411480"/>
          </a:xfrm>
          <a:prstGeom prst="rect">
            <a:avLst/>
          </a:prstGeom>
          <a:noFill/>
        </p:spPr>
        <p:txBody>
          <a:bodyPr wrap="square" anchor="t" lIns="0" rIns="0" tIns="0" bIns="0">
            <a:spAutoFit/>
          </a:bodyPr>
          <a:lstStyle/>
          <a:p>
            <a:pPr algn="l">
              <a:lnSpc>
                <a:spcPct val="140000"/>
              </a:lnSpc>
            </a:pPr>
            <a:r>
              <a:rPr sz="1000" b="0">
                <a:solidFill>
                  <a:srgbClr val="5A6A80"/>
                </a:solidFill>
                <a:latin typeface="Hiragino Sans"/>
                <a:ea typeface="Hiragino Sans"/>
                <a:cs typeface="Hiragino Sans"/>
              </a:rPr>
              <a:t>予算爆増・CPA 高騰 → クライアント激怒</a:t>
            </a:r>
          </a:p>
        </p:txBody>
      </p:sp>
      <p:sp>
        <p:nvSpPr>
          <p:cNvPr id="41" name="Rectangle 40"/>
          <p:cNvSpPr/>
          <p:nvPr/>
        </p:nvSpPr>
        <p:spPr>
          <a:xfrm>
            <a:off x="777240" y="5715000"/>
            <a:ext cx="507492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77240" y="5806440"/>
            <a:ext cx="5074920" cy="411480"/>
          </a:xfrm>
          <a:prstGeom prst="rect">
            <a:avLst/>
          </a:prstGeom>
          <a:noFill/>
        </p:spPr>
        <p:txBody>
          <a:bodyPr wrap="square" anchor="t" lIns="0" rIns="0" tIns="0" bIns="0">
            <a:spAutoFit/>
          </a:bodyPr>
          <a:lstStyle/>
          <a:p>
            <a:pPr algn="l">
              <a:lnSpc>
                <a:spcPct val="140000"/>
              </a:lnSpc>
            </a:pPr>
            <a:r>
              <a:rPr sz="1000" b="1">
                <a:solidFill>
                  <a:srgbClr val="B85E1A"/>
                </a:solidFill>
                <a:latin typeface="Hiragino Sans"/>
                <a:ea typeface="Hiragino Sans"/>
                <a:cs typeface="Hiragino Sans"/>
              </a:rPr>
              <a:t>→  80-90% 前後で運用、提案は選別適用</a:t>
            </a:r>
          </a:p>
        </p:txBody>
      </p:sp>
      <p:sp>
        <p:nvSpPr>
          <p:cNvPr id="43" name="Rounded Rectangle 42"/>
          <p:cNvSpPr/>
          <p:nvPr/>
        </p:nvSpPr>
        <p:spPr>
          <a:xfrm>
            <a:off x="6172200" y="4709160"/>
            <a:ext cx="5440680" cy="15544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172200" y="4709160"/>
            <a:ext cx="91440" cy="1554480"/>
          </a:xfrm>
          <a:prstGeom prst="rect">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00800" y="4846320"/>
            <a:ext cx="457200" cy="320040"/>
          </a:xfrm>
          <a:prstGeom prst="rect">
            <a:avLst/>
          </a:prstGeom>
          <a:noFill/>
        </p:spPr>
        <p:txBody>
          <a:bodyPr wrap="square" anchor="t" lIns="0" rIns="0" tIns="0" bIns="0">
            <a:spAutoFit/>
          </a:bodyPr>
          <a:lstStyle/>
          <a:p>
            <a:pPr algn="l">
              <a:lnSpc>
                <a:spcPct val="115000"/>
              </a:lnSpc>
            </a:pPr>
            <a:r>
              <a:rPr sz="1800" b="1">
                <a:solidFill>
                  <a:srgbClr val="C6452D"/>
                </a:solidFill>
                <a:latin typeface="Hiragino Sans"/>
                <a:ea typeface="Hiragino Sans"/>
                <a:cs typeface="Hiragino Sans"/>
              </a:rPr>
              <a:t>✗</a:t>
            </a:r>
          </a:p>
        </p:txBody>
      </p:sp>
      <p:sp>
        <p:nvSpPr>
          <p:cNvPr id="46" name="TextBox 45"/>
          <p:cNvSpPr txBox="1"/>
          <p:nvPr/>
        </p:nvSpPr>
        <p:spPr>
          <a:xfrm>
            <a:off x="6812280" y="4846320"/>
            <a:ext cx="4663440" cy="365760"/>
          </a:xfrm>
          <a:prstGeom prst="rect">
            <a:avLst/>
          </a:prstGeom>
          <a:noFill/>
        </p:spPr>
        <p:txBody>
          <a:bodyPr wrap="square" anchor="t" lIns="0" rIns="0" tIns="0" bIns="0">
            <a:spAutoFit/>
          </a:bodyPr>
          <a:lstStyle/>
          <a:p>
            <a:pPr algn="l">
              <a:lnSpc>
                <a:spcPct val="130000"/>
              </a:lnSpc>
            </a:pPr>
            <a:r>
              <a:rPr sz="1200" b="1">
                <a:solidFill>
                  <a:srgbClr val="0F2A4F"/>
                </a:solidFill>
                <a:latin typeface="Hiragino Sans"/>
                <a:ea typeface="Hiragino Sans"/>
                <a:cs typeface="Hiragino Sans"/>
              </a:rPr>
              <a:t>Last Click モデルで評価</a:t>
            </a:r>
          </a:p>
        </p:txBody>
      </p:sp>
      <p:sp>
        <p:nvSpPr>
          <p:cNvPr id="47" name="TextBox 46"/>
          <p:cNvSpPr txBox="1"/>
          <p:nvPr/>
        </p:nvSpPr>
        <p:spPr>
          <a:xfrm>
            <a:off x="6400800" y="5303520"/>
            <a:ext cx="5074920" cy="411480"/>
          </a:xfrm>
          <a:prstGeom prst="rect">
            <a:avLst/>
          </a:prstGeom>
          <a:noFill/>
        </p:spPr>
        <p:txBody>
          <a:bodyPr wrap="square" anchor="t" lIns="0" rIns="0" tIns="0" bIns="0">
            <a:spAutoFit/>
          </a:bodyPr>
          <a:lstStyle/>
          <a:p>
            <a:pPr algn="l">
              <a:lnSpc>
                <a:spcPct val="140000"/>
              </a:lnSpc>
            </a:pPr>
            <a:r>
              <a:rPr sz="1000" b="0">
                <a:solidFill>
                  <a:srgbClr val="5A6A80"/>
                </a:solidFill>
                <a:latin typeface="Hiragino Sans"/>
                <a:ea typeface="Hiragino Sans"/>
                <a:cs typeface="Hiragino Sans"/>
              </a:rPr>
              <a:t>AI キャンペーンの貢献を正しく計れない</a:t>
            </a:r>
          </a:p>
        </p:txBody>
      </p:sp>
      <p:sp>
        <p:nvSpPr>
          <p:cNvPr id="48" name="Rectangle 47"/>
          <p:cNvSpPr/>
          <p:nvPr/>
        </p:nvSpPr>
        <p:spPr>
          <a:xfrm>
            <a:off x="6400800" y="5715000"/>
            <a:ext cx="507492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400800" y="5806440"/>
            <a:ext cx="5074920" cy="411480"/>
          </a:xfrm>
          <a:prstGeom prst="rect">
            <a:avLst/>
          </a:prstGeom>
          <a:noFill/>
        </p:spPr>
        <p:txBody>
          <a:bodyPr wrap="square" anchor="t" lIns="0" rIns="0" tIns="0" bIns="0">
            <a:spAutoFit/>
          </a:bodyPr>
          <a:lstStyle/>
          <a:p>
            <a:pPr algn="l">
              <a:lnSpc>
                <a:spcPct val="140000"/>
              </a:lnSpc>
            </a:pPr>
            <a:r>
              <a:rPr sz="1000" b="1">
                <a:solidFill>
                  <a:srgbClr val="B85E1A"/>
                </a:solidFill>
                <a:latin typeface="Hiragino Sans"/>
                <a:ea typeface="Hiragino Sans"/>
                <a:cs typeface="Hiragino Sans"/>
              </a:rPr>
              <a:t>→  DDA に即切り替え、レポートも DDA 基準</a:t>
            </a:r>
          </a:p>
        </p:txBody>
      </p:sp>
      <p:sp>
        <p:nvSpPr>
          <p:cNvPr id="50" name="TextBox 49"/>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914400"/>
            <a:ext cx="137160" cy="493776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914400"/>
            <a:ext cx="7315200" cy="365760"/>
          </a:xfrm>
          <a:prstGeom prst="rect">
            <a:avLst/>
          </a:prstGeom>
          <a:noFill/>
        </p:spPr>
        <p:txBody>
          <a:bodyPr wrap="square" anchor="t" lIns="0" rIns="0" tIns="0" bIns="0">
            <a:spAutoFit/>
          </a:bodyPr>
          <a:lstStyle/>
          <a:p>
            <a:pPr algn="l">
              <a:lnSpc>
                <a:spcPct val="115000"/>
              </a:lnSpc>
            </a:pPr>
            <a:r>
              <a:rPr sz="1200" b="1">
                <a:solidFill>
                  <a:srgbClr val="E87722"/>
                </a:solidFill>
                <a:latin typeface="Helvetica Neue"/>
                <a:ea typeface="Helvetica Neue"/>
                <a:cs typeface="Helvetica Neue"/>
              </a:rPr>
              <a:t>PART 3 / 媒体別キャッチアップ</a:t>
            </a:r>
          </a:p>
        </p:txBody>
      </p:sp>
      <p:sp>
        <p:nvSpPr>
          <p:cNvPr id="5" name="TextBox 4"/>
          <p:cNvSpPr txBox="1"/>
          <p:nvPr/>
        </p:nvSpPr>
        <p:spPr>
          <a:xfrm>
            <a:off x="1097280" y="1280160"/>
            <a:ext cx="7315200" cy="365760"/>
          </a:xfrm>
          <a:prstGeom prst="rect">
            <a:avLst/>
          </a:prstGeom>
          <a:noFill/>
        </p:spPr>
        <p:txBody>
          <a:bodyPr wrap="square" anchor="t" lIns="0" rIns="0" tIns="0" bIns="0">
            <a:spAutoFit/>
          </a:bodyPr>
          <a:lstStyle/>
          <a:p>
            <a:pPr algn="l">
              <a:lnSpc>
                <a:spcPct val="115000"/>
              </a:lnSpc>
            </a:pPr>
            <a:r>
              <a:rPr sz="1400" b="1">
                <a:solidFill>
                  <a:srgbClr val="D7DDE8"/>
                </a:solidFill>
                <a:latin typeface="Hiragino Sans"/>
                <a:ea typeface="Hiragino Sans"/>
                <a:cs typeface="Hiragino Sans"/>
              </a:rPr>
              <a:t>3-B   |   Facebook / Instagram / Threads</a:t>
            </a:r>
          </a:p>
        </p:txBody>
      </p:sp>
      <p:sp>
        <p:nvSpPr>
          <p:cNvPr id="6" name="TextBox 5"/>
          <p:cNvSpPr txBox="1"/>
          <p:nvPr/>
        </p:nvSpPr>
        <p:spPr>
          <a:xfrm>
            <a:off x="1097280" y="1691640"/>
            <a:ext cx="10058400" cy="1188720"/>
          </a:xfrm>
          <a:prstGeom prst="rect">
            <a:avLst/>
          </a:prstGeom>
          <a:noFill/>
        </p:spPr>
        <p:txBody>
          <a:bodyPr wrap="square" anchor="t" lIns="0" rIns="0" tIns="0" bIns="0">
            <a:spAutoFit/>
          </a:bodyPr>
          <a:lstStyle/>
          <a:p>
            <a:pPr algn="l">
              <a:lnSpc>
                <a:spcPct val="110000"/>
              </a:lnSpc>
            </a:pPr>
            <a:r>
              <a:rPr sz="5400" b="1">
                <a:solidFill>
                  <a:srgbClr val="FFFFFF"/>
                </a:solidFill>
                <a:latin typeface="Hiragino Sans"/>
                <a:ea typeface="Hiragino Sans"/>
                <a:cs typeface="Hiragino Sans"/>
              </a:rPr>
              <a:t>Meta</a:t>
            </a:r>
          </a:p>
        </p:txBody>
      </p:sp>
      <p:sp>
        <p:nvSpPr>
          <p:cNvPr id="7" name="TextBox 6"/>
          <p:cNvSpPr txBox="1"/>
          <p:nvPr/>
        </p:nvSpPr>
        <p:spPr>
          <a:xfrm>
            <a:off x="1097280" y="3017520"/>
            <a:ext cx="10058400" cy="365760"/>
          </a:xfrm>
          <a:prstGeom prst="rect">
            <a:avLst/>
          </a:prstGeom>
          <a:noFill/>
        </p:spPr>
        <p:txBody>
          <a:bodyPr wrap="square" anchor="t" lIns="0" rIns="0" tIns="0" bIns="0">
            <a:spAutoFit/>
          </a:bodyPr>
          <a:lstStyle/>
          <a:p>
            <a:pPr algn="l">
              <a:lnSpc>
                <a:spcPct val="115000"/>
              </a:lnSpc>
            </a:pPr>
            <a:r>
              <a:rPr sz="1600" b="0">
                <a:solidFill>
                  <a:srgbClr val="D7DDE8"/>
                </a:solidFill>
                <a:latin typeface="Hiragino Sans"/>
                <a:ea typeface="Hiragino Sans"/>
                <a:cs typeface="Hiragino Sans"/>
              </a:rPr>
              <a:t>AI配信の最先端。Advantage+ 全盛 + Andromeda 配信エンジン世代交代</a:t>
            </a:r>
          </a:p>
        </p:txBody>
      </p:sp>
      <p:sp>
        <p:nvSpPr>
          <p:cNvPr id="8" name="Rounded Rectangle 7"/>
          <p:cNvSpPr/>
          <p:nvPr/>
        </p:nvSpPr>
        <p:spPr>
          <a:xfrm>
            <a:off x="9875520" y="914400"/>
            <a:ext cx="1828800" cy="640080"/>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1078992"/>
            <a:ext cx="1828800" cy="457200"/>
          </a:xfrm>
          <a:prstGeom prst="rect">
            <a:avLst/>
          </a:prstGeom>
          <a:noFill/>
        </p:spPr>
        <p:txBody>
          <a:bodyPr wrap="square" anchor="t" lIns="0" rIns="0" tIns="0" bIns="0">
            <a:spAutoFit/>
          </a:bodyPr>
          <a:lstStyle/>
          <a:p>
            <a:pPr algn="ctr">
              <a:lnSpc>
                <a:spcPct val="115000"/>
              </a:lnSpc>
            </a:pPr>
            <a:r>
              <a:rPr sz="1800" b="1">
                <a:solidFill>
                  <a:srgbClr val="FFFFFF"/>
                </a:solidFill>
                <a:latin typeface="Helvetica Neue"/>
                <a:ea typeface="Helvetica Neue"/>
                <a:cs typeface="Helvetica Neue"/>
              </a:rPr>
              <a:t>22p</a:t>
            </a:r>
          </a:p>
        </p:txBody>
      </p:sp>
      <p:sp>
        <p:nvSpPr>
          <p:cNvPr id="10" name="Rectangle 9"/>
          <p:cNvSpPr/>
          <p:nvPr/>
        </p:nvSpPr>
        <p:spPr>
          <a:xfrm>
            <a:off x="1097280" y="3657600"/>
            <a:ext cx="914400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840480"/>
            <a:ext cx="10058400" cy="914400"/>
          </a:xfrm>
          <a:prstGeom prst="rect">
            <a:avLst/>
          </a:prstGeom>
          <a:noFill/>
        </p:spPr>
        <p:txBody>
          <a:bodyPr wrap="square" anchor="t" lIns="0" rIns="0" tIns="0" bIns="0">
            <a:spAutoFit/>
          </a:bodyPr>
          <a:lstStyle/>
          <a:p>
            <a:pPr algn="l">
              <a:lnSpc>
                <a:spcPct val="150000"/>
              </a:lnSpc>
            </a:pPr>
            <a:r>
              <a:rPr sz="1300" b="0">
                <a:solidFill>
                  <a:srgbClr val="D7DDE8"/>
                </a:solidFill>
                <a:latin typeface="Hiragino Sans"/>
                <a:ea typeface="Hiragino Sans"/>
                <a:cs typeface="Hiragino Sans"/>
              </a:rPr>
              <a:t>Advantage+ Sales (旧ASC) リブランド (2025/02)、Andromeda 配信MLの世代交代 (2024末)、</a:t>
            </a:r>
          </a:p>
          <a:p>
            <a:pPr algn="l">
              <a:lnSpc>
                <a:spcPct val="150000"/>
              </a:lnSpc>
            </a:pPr>
            <a:r>
              <a:rPr sz="1300" b="0">
                <a:solidFill>
                  <a:srgbClr val="D7DDE8"/>
                </a:solidFill>
                <a:latin typeface="Hiragino Sans"/>
                <a:ea typeface="Hiragino Sans"/>
                <a:cs typeface="Hiragino Sans"/>
              </a:rPr>
              <a:t>Threads広告グローバル展開 (2025/04)、CAPI/AEM標準化、Conversion Lift民主化。</a:t>
            </a:r>
          </a:p>
          <a:p>
            <a:pPr algn="l">
              <a:lnSpc>
                <a:spcPct val="150000"/>
              </a:lnSpc>
            </a:pPr>
            <a:r>
              <a:rPr sz="1300" b="0">
                <a:solidFill>
                  <a:srgbClr val="D7DDE8"/>
                </a:solidFill>
                <a:latin typeface="Hiragino Sans"/>
                <a:ea typeface="Hiragino Sans"/>
                <a:cs typeface="Hiragino Sans"/>
              </a:rPr>
              <a:t>EC / D2C / リード獲得で最重要の媒体</a:t>
            </a:r>
          </a:p>
        </p:txBody>
      </p:sp>
      <p:sp>
        <p:nvSpPr>
          <p:cNvPr id="12" name="TextBox 11"/>
          <p:cNvSpPr txBox="1"/>
          <p:nvPr/>
        </p:nvSpPr>
        <p:spPr>
          <a:xfrm>
            <a:off x="1097280" y="5029200"/>
            <a:ext cx="7315200" cy="320040"/>
          </a:xfrm>
          <a:prstGeom prst="rect">
            <a:avLst/>
          </a:prstGeom>
          <a:noFill/>
        </p:spPr>
        <p:txBody>
          <a:bodyPr wrap="square" anchor="t" lIns="0" rIns="0" tIns="0" bIns="0">
            <a:spAutoFit/>
          </a:bodyPr>
          <a:lstStyle/>
          <a:p>
            <a:pPr algn="l">
              <a:lnSpc>
                <a:spcPct val="115000"/>
              </a:lnSpc>
            </a:pPr>
            <a:r>
              <a:rPr sz="1200" b="1">
                <a:solidFill>
                  <a:srgbClr val="E87722"/>
                </a:solidFill>
                <a:latin typeface="Hiragino Sans"/>
                <a:ea typeface="Hiragino Sans"/>
                <a:cs typeface="Hiragino Sans"/>
              </a:rPr>
              <a:t>▸ 章内の主要トピック</a:t>
            </a:r>
          </a:p>
        </p:txBody>
      </p:sp>
      <p:sp>
        <p:nvSpPr>
          <p:cNvPr id="13" name="TextBox 12"/>
          <p:cNvSpPr txBox="1"/>
          <p:nvPr/>
        </p:nvSpPr>
        <p:spPr>
          <a:xfrm>
            <a:off x="1097280" y="5349240"/>
            <a:ext cx="5029200" cy="292608"/>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Meta 地殻変動 TL;DR</a:t>
            </a:r>
          </a:p>
        </p:txBody>
      </p:sp>
      <p:sp>
        <p:nvSpPr>
          <p:cNvPr id="14" name="TextBox 13"/>
          <p:cNvSpPr txBox="1"/>
          <p:nvPr/>
        </p:nvSpPr>
        <p:spPr>
          <a:xfrm>
            <a:off x="1097280" y="5641848"/>
            <a:ext cx="5029200" cy="292608"/>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Advantage+ ランドスケープ</a:t>
            </a:r>
          </a:p>
        </p:txBody>
      </p:sp>
      <p:sp>
        <p:nvSpPr>
          <p:cNvPr id="15" name="TextBox 14"/>
          <p:cNvSpPr txBox="1"/>
          <p:nvPr/>
        </p:nvSpPr>
        <p:spPr>
          <a:xfrm>
            <a:off x="1097280" y="5934456"/>
            <a:ext cx="5029200" cy="292608"/>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Advantage+ Sales (旧ASC)</a:t>
            </a:r>
          </a:p>
        </p:txBody>
      </p:sp>
      <p:sp>
        <p:nvSpPr>
          <p:cNvPr id="16" name="TextBox 15"/>
          <p:cNvSpPr txBox="1"/>
          <p:nvPr/>
        </p:nvSpPr>
        <p:spPr>
          <a:xfrm>
            <a:off x="1097280" y="6227064"/>
            <a:ext cx="5029200" cy="292608"/>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Advantage+ App / Leads</a:t>
            </a:r>
          </a:p>
        </p:txBody>
      </p:sp>
      <p:sp>
        <p:nvSpPr>
          <p:cNvPr id="17" name="TextBox 16"/>
          <p:cNvSpPr txBox="1"/>
          <p:nvPr/>
        </p:nvSpPr>
        <p:spPr>
          <a:xfrm>
            <a:off x="1097280" y="6519672"/>
            <a:ext cx="5029200" cy="292608"/>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Advantage+ Creative</a:t>
            </a:r>
          </a:p>
        </p:txBody>
      </p:sp>
      <p:sp>
        <p:nvSpPr>
          <p:cNvPr id="18" name="TextBox 17"/>
          <p:cNvSpPr txBox="1"/>
          <p:nvPr/>
        </p:nvSpPr>
        <p:spPr>
          <a:xfrm>
            <a:off x="1097280" y="6812280"/>
            <a:ext cx="5029200" cy="292608"/>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Andromeda (2024末)</a:t>
            </a:r>
          </a:p>
        </p:txBody>
      </p:sp>
      <p:sp>
        <p:nvSpPr>
          <p:cNvPr id="19" name="TextBox 18"/>
          <p:cNvSpPr txBox="1"/>
          <p:nvPr/>
        </p:nvSpPr>
        <p:spPr>
          <a:xfrm>
            <a:off x="1097280" y="7104888"/>
            <a:ext cx="5029200" cy="292608"/>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GEM と配信ML</a:t>
            </a:r>
          </a:p>
        </p:txBody>
      </p:sp>
      <p:sp>
        <p:nvSpPr>
          <p:cNvPr id="20" name="TextBox 19"/>
          <p:cNvSpPr txBox="1"/>
          <p:nvPr/>
        </p:nvSpPr>
        <p:spPr>
          <a:xfrm>
            <a:off x="1097280" y="7397496"/>
            <a:ext cx="5029200" cy="292608"/>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Lattice 統合</a:t>
            </a:r>
          </a:p>
        </p:txBody>
      </p:sp>
      <p:sp>
        <p:nvSpPr>
          <p:cNvPr id="21" name="TextBox 20"/>
          <p:cNvSpPr txBox="1"/>
          <p:nvPr/>
        </p:nvSpPr>
        <p:spPr>
          <a:xfrm>
            <a:off x="1097280" y="7690104"/>
            <a:ext cx="5029200" cy="292608"/>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CAPI / CAPI Gateway</a:t>
            </a:r>
          </a:p>
        </p:txBody>
      </p:sp>
      <p:sp>
        <p:nvSpPr>
          <p:cNvPr id="22" name="TextBox 21"/>
          <p:cNvSpPr txBox="1"/>
          <p:nvPr/>
        </p:nvSpPr>
        <p:spPr>
          <a:xfrm>
            <a:off x="1097280" y="7982712"/>
            <a:ext cx="5029200" cy="292608"/>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AEM / SKAN</a:t>
            </a:r>
          </a:p>
        </p:txBody>
      </p:sp>
      <p:sp>
        <p:nvSpPr>
          <p:cNvPr id="23" name="TextBox 22"/>
          <p:cNvSpPr txBox="1"/>
          <p:nvPr/>
        </p:nvSpPr>
        <p:spPr>
          <a:xfrm>
            <a:off x="1097280" y="8275320"/>
            <a:ext cx="5029200" cy="292608"/>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Audience Manager</a:t>
            </a:r>
          </a:p>
        </p:txBody>
      </p:sp>
      <p:sp>
        <p:nvSpPr>
          <p:cNvPr id="24" name="TextBox 23"/>
          <p:cNvSpPr txBox="1"/>
          <p:nvPr/>
        </p:nvSpPr>
        <p:spPr>
          <a:xfrm>
            <a:off x="6309360" y="5349240"/>
            <a:ext cx="5029200" cy="292608"/>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Reels / Stories / Feed</a:t>
            </a:r>
          </a:p>
        </p:txBody>
      </p:sp>
      <p:sp>
        <p:nvSpPr>
          <p:cNvPr id="25" name="TextBox 24"/>
          <p:cNvSpPr txBox="1"/>
          <p:nvPr/>
        </p:nvSpPr>
        <p:spPr>
          <a:xfrm>
            <a:off x="6309360" y="5641848"/>
            <a:ext cx="5029200" cy="292608"/>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Threads Ads (2025/04)</a:t>
            </a:r>
          </a:p>
        </p:txBody>
      </p:sp>
      <p:sp>
        <p:nvSpPr>
          <p:cNvPr id="26" name="TextBox 25"/>
          <p:cNvSpPr txBox="1"/>
          <p:nvPr/>
        </p:nvSpPr>
        <p:spPr>
          <a:xfrm>
            <a:off x="6309360" y="5934456"/>
            <a:ext cx="5029200" cy="292608"/>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Click-to-Message</a:t>
            </a:r>
          </a:p>
        </p:txBody>
      </p:sp>
      <p:sp>
        <p:nvSpPr>
          <p:cNvPr id="27" name="TextBox 26"/>
          <p:cNvSpPr txBox="1"/>
          <p:nvPr/>
        </p:nvSpPr>
        <p:spPr>
          <a:xfrm>
            <a:off x="6309360" y="6227064"/>
            <a:ext cx="5029200" cy="292608"/>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Conversion Lift</a:t>
            </a:r>
          </a:p>
        </p:txBody>
      </p:sp>
      <p:sp>
        <p:nvSpPr>
          <p:cNvPr id="28" name="TextBox 27"/>
          <p:cNvSpPr txBox="1"/>
          <p:nvPr/>
        </p:nvSpPr>
        <p:spPr>
          <a:xfrm>
            <a:off x="6309360" y="6519672"/>
            <a:ext cx="5029200" cy="292608"/>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Brand Lift Studies</a:t>
            </a:r>
          </a:p>
        </p:txBody>
      </p:sp>
      <p:sp>
        <p:nvSpPr>
          <p:cNvPr id="29" name="TextBox 28"/>
          <p:cNvSpPr txBox="1"/>
          <p:nvPr/>
        </p:nvSpPr>
        <p:spPr>
          <a:xfrm>
            <a:off x="6309360" y="6812280"/>
            <a:ext cx="5029200" cy="292608"/>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Meta Verified for Biz</a:t>
            </a:r>
          </a:p>
        </p:txBody>
      </p:sp>
      <p:sp>
        <p:nvSpPr>
          <p:cNvPr id="30" name="TextBox 29"/>
          <p:cNvSpPr txBox="1"/>
          <p:nvPr/>
        </p:nvSpPr>
        <p:spPr>
          <a:xfrm>
            <a:off x="6309360" y="7104888"/>
            <a:ext cx="5029200" cy="292608"/>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Brand Safety</a:t>
            </a:r>
          </a:p>
        </p:txBody>
      </p:sp>
      <p:sp>
        <p:nvSpPr>
          <p:cNvPr id="31" name="TextBox 30"/>
          <p:cNvSpPr txBox="1"/>
          <p:nvPr/>
        </p:nvSpPr>
        <p:spPr>
          <a:xfrm>
            <a:off x="6309360" y="7397496"/>
            <a:ext cx="5029200" cy="292608"/>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Pixel + CAPI ハイブリッド</a:t>
            </a:r>
          </a:p>
        </p:txBody>
      </p:sp>
      <p:sp>
        <p:nvSpPr>
          <p:cNvPr id="32" name="TextBox 31"/>
          <p:cNvSpPr txBox="1"/>
          <p:nvPr/>
        </p:nvSpPr>
        <p:spPr>
          <a:xfrm>
            <a:off x="6309360" y="7690104"/>
            <a:ext cx="5029200" cy="292608"/>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鉄板運用メソッド</a:t>
            </a:r>
          </a:p>
        </p:txBody>
      </p:sp>
      <p:sp>
        <p:nvSpPr>
          <p:cNvPr id="33" name="TextBox 32"/>
          <p:cNvSpPr txBox="1"/>
          <p:nvPr/>
        </p:nvSpPr>
        <p:spPr>
          <a:xfrm>
            <a:off x="6309360" y="7982712"/>
            <a:ext cx="5029200" cy="292608"/>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よくある失敗・回避策</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Meta : 地殻変動 TL;DR</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2023年9月 → 2026年4月 / 5つの大きな変化</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P57 / 250</a:t>
            </a:r>
          </a:p>
        </p:txBody>
      </p:sp>
      <p:sp>
        <p:nvSpPr>
          <p:cNvPr id="8" name="Rounded Rectangle 7"/>
          <p:cNvSpPr/>
          <p:nvPr/>
        </p:nvSpPr>
        <p:spPr>
          <a:xfrm>
            <a:off x="548640" y="1325880"/>
            <a:ext cx="11109960" cy="9601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25880"/>
            <a:ext cx="109728" cy="9601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508760"/>
            <a:ext cx="731520" cy="640080"/>
          </a:xfrm>
          <a:prstGeom prst="rect">
            <a:avLst/>
          </a:prstGeom>
          <a:noFill/>
        </p:spPr>
        <p:txBody>
          <a:bodyPr wrap="square" anchor="t" lIns="0" rIns="0" tIns="0" bIns="0">
            <a:spAutoFit/>
          </a:bodyPr>
          <a:lstStyle/>
          <a:p>
            <a:pPr algn="l">
              <a:lnSpc>
                <a:spcPct val="115000"/>
              </a:lnSpc>
            </a:pPr>
            <a:r>
              <a:rPr sz="3200" b="1">
                <a:solidFill>
                  <a:srgbClr val="E87722"/>
                </a:solidFill>
                <a:latin typeface="Helvetica Neue"/>
                <a:ea typeface="Helvetica Neue"/>
                <a:cs typeface="Helvetica Neue"/>
              </a:rPr>
              <a:t>01</a:t>
            </a:r>
          </a:p>
        </p:txBody>
      </p:sp>
      <p:sp>
        <p:nvSpPr>
          <p:cNvPr id="11" name="TextBox 10"/>
          <p:cNvSpPr txBox="1"/>
          <p:nvPr/>
        </p:nvSpPr>
        <p:spPr>
          <a:xfrm>
            <a:off x="1737360" y="1490472"/>
            <a:ext cx="9601200" cy="365760"/>
          </a:xfrm>
          <a:prstGeom prst="rect">
            <a:avLst/>
          </a:prstGeom>
          <a:noFill/>
        </p:spPr>
        <p:txBody>
          <a:bodyPr wrap="square" anchor="t" lIns="0" rIns="0" tIns="0" bIns="0">
            <a:spAutoFit/>
          </a:bodyPr>
          <a:lstStyle/>
          <a:p>
            <a:pPr algn="l">
              <a:lnSpc>
                <a:spcPct val="115000"/>
              </a:lnSpc>
            </a:pPr>
            <a:r>
              <a:rPr sz="1500" b="1">
                <a:solidFill>
                  <a:srgbClr val="0F2A4F"/>
                </a:solidFill>
                <a:latin typeface="Hiragino Sans"/>
                <a:ea typeface="Hiragino Sans"/>
                <a:cs typeface="Hiragino Sans"/>
              </a:rPr>
              <a:t>Advantage+ が全プロダクトで Default に</a:t>
            </a:r>
          </a:p>
        </p:txBody>
      </p:sp>
      <p:sp>
        <p:nvSpPr>
          <p:cNvPr id="12" name="TextBox 11"/>
          <p:cNvSpPr txBox="1"/>
          <p:nvPr/>
        </p:nvSpPr>
        <p:spPr>
          <a:xfrm>
            <a:off x="1737360" y="1828800"/>
            <a:ext cx="9692640" cy="457200"/>
          </a:xfrm>
          <a:prstGeom prst="rect">
            <a:avLst/>
          </a:prstGeom>
          <a:noFill/>
        </p:spPr>
        <p:txBody>
          <a:bodyPr wrap="square" anchor="t" lIns="0" rIns="0" tIns="0" bIns="0">
            <a:spAutoFit/>
          </a:bodyPr>
          <a:lstStyle/>
          <a:p>
            <a:pPr algn="l">
              <a:lnSpc>
                <a:spcPct val="150000"/>
              </a:lnSpc>
            </a:pPr>
            <a:r>
              <a:rPr sz="1000" b="0">
                <a:solidFill>
                  <a:srgbClr val="1A1A1A"/>
                </a:solidFill>
                <a:latin typeface="Hiragino Sans"/>
                <a:ea typeface="Hiragino Sans"/>
                <a:cs typeface="Hiragino Sans"/>
              </a:rPr>
              <a:t>ASC → Advantage+ Sales に名称変更 (2025/02)。Sales/App/Leads/Catalog で</a:t>
            </a:r>
          </a:p>
          <a:p>
            <a:pPr algn="l">
              <a:lnSpc>
                <a:spcPct val="150000"/>
              </a:lnSpc>
            </a:pPr>
            <a:r>
              <a:rPr sz="1000" b="0">
                <a:solidFill>
                  <a:srgbClr val="1A1A1A"/>
                </a:solidFill>
                <a:latin typeface="Hiragino Sans"/>
                <a:ea typeface="Hiragino Sans"/>
                <a:cs typeface="Hiragino Sans"/>
              </a:rPr>
              <a:t>Advantage+ がデフォルトON。複数広告セット併存が可能に</a:t>
            </a:r>
          </a:p>
        </p:txBody>
      </p:sp>
      <p:sp>
        <p:nvSpPr>
          <p:cNvPr id="13" name="Rounded Rectangle 12"/>
          <p:cNvSpPr/>
          <p:nvPr/>
        </p:nvSpPr>
        <p:spPr>
          <a:xfrm>
            <a:off x="548640" y="2313432"/>
            <a:ext cx="11109960" cy="9601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2313432"/>
            <a:ext cx="109728" cy="9601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2496312"/>
            <a:ext cx="731520" cy="640080"/>
          </a:xfrm>
          <a:prstGeom prst="rect">
            <a:avLst/>
          </a:prstGeom>
          <a:noFill/>
        </p:spPr>
        <p:txBody>
          <a:bodyPr wrap="square" anchor="t" lIns="0" rIns="0" tIns="0" bIns="0">
            <a:spAutoFit/>
          </a:bodyPr>
          <a:lstStyle/>
          <a:p>
            <a:pPr algn="l">
              <a:lnSpc>
                <a:spcPct val="115000"/>
              </a:lnSpc>
            </a:pPr>
            <a:r>
              <a:rPr sz="3200" b="1">
                <a:solidFill>
                  <a:srgbClr val="E87722"/>
                </a:solidFill>
                <a:latin typeface="Helvetica Neue"/>
                <a:ea typeface="Helvetica Neue"/>
                <a:cs typeface="Helvetica Neue"/>
              </a:rPr>
              <a:t>02</a:t>
            </a:r>
          </a:p>
        </p:txBody>
      </p:sp>
      <p:sp>
        <p:nvSpPr>
          <p:cNvPr id="16" name="TextBox 15"/>
          <p:cNvSpPr txBox="1"/>
          <p:nvPr/>
        </p:nvSpPr>
        <p:spPr>
          <a:xfrm>
            <a:off x="1737360" y="2478024"/>
            <a:ext cx="9601200" cy="365760"/>
          </a:xfrm>
          <a:prstGeom prst="rect">
            <a:avLst/>
          </a:prstGeom>
          <a:noFill/>
        </p:spPr>
        <p:txBody>
          <a:bodyPr wrap="square" anchor="t" lIns="0" rIns="0" tIns="0" bIns="0">
            <a:spAutoFit/>
          </a:bodyPr>
          <a:lstStyle/>
          <a:p>
            <a:pPr algn="l">
              <a:lnSpc>
                <a:spcPct val="115000"/>
              </a:lnSpc>
            </a:pPr>
            <a:r>
              <a:rPr sz="1500" b="1">
                <a:solidFill>
                  <a:srgbClr val="0F2A4F"/>
                </a:solidFill>
                <a:latin typeface="Hiragino Sans"/>
                <a:ea typeface="Hiragino Sans"/>
                <a:cs typeface="Hiragino Sans"/>
              </a:rPr>
              <a:t>配信MLが Andromeda 世代へ (2024末)</a:t>
            </a:r>
          </a:p>
        </p:txBody>
      </p:sp>
      <p:sp>
        <p:nvSpPr>
          <p:cNvPr id="17" name="TextBox 16"/>
          <p:cNvSpPr txBox="1"/>
          <p:nvPr/>
        </p:nvSpPr>
        <p:spPr>
          <a:xfrm>
            <a:off x="1737360" y="2816352"/>
            <a:ext cx="9692640" cy="457200"/>
          </a:xfrm>
          <a:prstGeom prst="rect">
            <a:avLst/>
          </a:prstGeom>
          <a:noFill/>
        </p:spPr>
        <p:txBody>
          <a:bodyPr wrap="square" anchor="t" lIns="0" rIns="0" tIns="0" bIns="0">
            <a:spAutoFit/>
          </a:bodyPr>
          <a:lstStyle/>
          <a:p>
            <a:pPr algn="l">
              <a:lnSpc>
                <a:spcPct val="150000"/>
              </a:lnSpc>
            </a:pPr>
            <a:r>
              <a:rPr sz="1000" b="0">
                <a:solidFill>
                  <a:srgbClr val="1A1A1A"/>
                </a:solidFill>
                <a:latin typeface="Hiragino Sans"/>
                <a:ea typeface="Hiragino Sans"/>
                <a:cs typeface="Hiragino Sans"/>
              </a:rPr>
              <a:t>MTIA + NVIDIA Grace Hopper による新ハードウェア。</a:t>
            </a:r>
          </a:p>
          <a:p>
            <a:pPr algn="l">
              <a:lnSpc>
                <a:spcPct val="150000"/>
              </a:lnSpc>
            </a:pPr>
            <a:r>
              <a:rPr sz="1000" b="0">
                <a:solidFill>
                  <a:srgbClr val="1A1A1A"/>
                </a:solidFill>
                <a:latin typeface="Hiragino Sans"/>
                <a:ea typeface="Hiragino Sans"/>
                <a:cs typeface="Hiragino Sans"/>
              </a:rPr>
              <a:t>Ads retrieval モデルの複雑度 10,000倍化、Quality +8%, CV +6%</a:t>
            </a:r>
          </a:p>
        </p:txBody>
      </p:sp>
      <p:sp>
        <p:nvSpPr>
          <p:cNvPr id="18" name="Rounded Rectangle 17"/>
          <p:cNvSpPr/>
          <p:nvPr/>
        </p:nvSpPr>
        <p:spPr>
          <a:xfrm>
            <a:off x="548640" y="3300984"/>
            <a:ext cx="11109960" cy="9601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300984"/>
            <a:ext cx="109728" cy="9601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3483864"/>
            <a:ext cx="731520" cy="640080"/>
          </a:xfrm>
          <a:prstGeom prst="rect">
            <a:avLst/>
          </a:prstGeom>
          <a:noFill/>
        </p:spPr>
        <p:txBody>
          <a:bodyPr wrap="square" anchor="t" lIns="0" rIns="0" tIns="0" bIns="0">
            <a:spAutoFit/>
          </a:bodyPr>
          <a:lstStyle/>
          <a:p>
            <a:pPr algn="l">
              <a:lnSpc>
                <a:spcPct val="115000"/>
              </a:lnSpc>
            </a:pPr>
            <a:r>
              <a:rPr sz="3200" b="1">
                <a:solidFill>
                  <a:srgbClr val="E87722"/>
                </a:solidFill>
                <a:latin typeface="Helvetica Neue"/>
                <a:ea typeface="Helvetica Neue"/>
                <a:cs typeface="Helvetica Neue"/>
              </a:rPr>
              <a:t>03</a:t>
            </a:r>
          </a:p>
        </p:txBody>
      </p:sp>
      <p:sp>
        <p:nvSpPr>
          <p:cNvPr id="21" name="TextBox 20"/>
          <p:cNvSpPr txBox="1"/>
          <p:nvPr/>
        </p:nvSpPr>
        <p:spPr>
          <a:xfrm>
            <a:off x="1737360" y="3465576"/>
            <a:ext cx="9601200" cy="365760"/>
          </a:xfrm>
          <a:prstGeom prst="rect">
            <a:avLst/>
          </a:prstGeom>
          <a:noFill/>
        </p:spPr>
        <p:txBody>
          <a:bodyPr wrap="square" anchor="t" lIns="0" rIns="0" tIns="0" bIns="0">
            <a:spAutoFit/>
          </a:bodyPr>
          <a:lstStyle/>
          <a:p>
            <a:pPr algn="l">
              <a:lnSpc>
                <a:spcPct val="115000"/>
              </a:lnSpc>
            </a:pPr>
            <a:r>
              <a:rPr sz="1500" b="1">
                <a:solidFill>
                  <a:srgbClr val="0F2A4F"/>
                </a:solidFill>
                <a:latin typeface="Hiragino Sans"/>
                <a:ea typeface="Hiragino Sans"/>
                <a:cs typeface="Hiragino Sans"/>
              </a:rPr>
              <a:t>クリエイティブ生成が標準装備</a:t>
            </a:r>
          </a:p>
        </p:txBody>
      </p:sp>
      <p:sp>
        <p:nvSpPr>
          <p:cNvPr id="22" name="TextBox 21"/>
          <p:cNvSpPr txBox="1"/>
          <p:nvPr/>
        </p:nvSpPr>
        <p:spPr>
          <a:xfrm>
            <a:off x="1737360" y="3803904"/>
            <a:ext cx="9692640" cy="457200"/>
          </a:xfrm>
          <a:prstGeom prst="rect">
            <a:avLst/>
          </a:prstGeom>
          <a:noFill/>
        </p:spPr>
        <p:txBody>
          <a:bodyPr wrap="square" anchor="t" lIns="0" rIns="0" tIns="0" bIns="0">
            <a:spAutoFit/>
          </a:bodyPr>
          <a:lstStyle/>
          <a:p>
            <a:pPr algn="l">
              <a:lnSpc>
                <a:spcPct val="150000"/>
              </a:lnSpc>
            </a:pPr>
            <a:r>
              <a:rPr sz="1000" b="0">
                <a:solidFill>
                  <a:srgbClr val="1A1A1A"/>
                </a:solidFill>
                <a:latin typeface="Hiragino Sans"/>
                <a:ea typeface="Hiragino Sans"/>
                <a:cs typeface="Hiragino Sans"/>
              </a:rPr>
              <a:t>Advantage+ Creative : 画像バリエーション/音楽追加/トリミング/テキスト変換。</a:t>
            </a:r>
          </a:p>
          <a:p>
            <a:pPr algn="l">
              <a:lnSpc>
                <a:spcPct val="150000"/>
              </a:lnSpc>
            </a:pPr>
            <a:r>
              <a:rPr sz="1000" b="0">
                <a:solidFill>
                  <a:srgbClr val="1A1A1A"/>
                </a:solidFill>
                <a:latin typeface="Hiragino Sans"/>
                <a:ea typeface="Hiragino Sans"/>
                <a:cs typeface="Hiragino Sans"/>
              </a:rPr>
              <a:t>Imagine / Emu モデルが背後で動く。広告セット上で AI が選別</a:t>
            </a:r>
          </a:p>
        </p:txBody>
      </p:sp>
      <p:sp>
        <p:nvSpPr>
          <p:cNvPr id="23" name="Rounded Rectangle 22"/>
          <p:cNvSpPr/>
          <p:nvPr/>
        </p:nvSpPr>
        <p:spPr>
          <a:xfrm>
            <a:off x="548640" y="4288536"/>
            <a:ext cx="11109960" cy="9601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4288536"/>
            <a:ext cx="109728" cy="9601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 y="4471416"/>
            <a:ext cx="731520" cy="640080"/>
          </a:xfrm>
          <a:prstGeom prst="rect">
            <a:avLst/>
          </a:prstGeom>
          <a:noFill/>
        </p:spPr>
        <p:txBody>
          <a:bodyPr wrap="square" anchor="t" lIns="0" rIns="0" tIns="0" bIns="0">
            <a:spAutoFit/>
          </a:bodyPr>
          <a:lstStyle/>
          <a:p>
            <a:pPr algn="l">
              <a:lnSpc>
                <a:spcPct val="115000"/>
              </a:lnSpc>
            </a:pPr>
            <a:r>
              <a:rPr sz="3200" b="1">
                <a:solidFill>
                  <a:srgbClr val="E87722"/>
                </a:solidFill>
                <a:latin typeface="Helvetica Neue"/>
                <a:ea typeface="Helvetica Neue"/>
                <a:cs typeface="Helvetica Neue"/>
              </a:rPr>
              <a:t>04</a:t>
            </a:r>
          </a:p>
        </p:txBody>
      </p:sp>
      <p:sp>
        <p:nvSpPr>
          <p:cNvPr id="26" name="TextBox 25"/>
          <p:cNvSpPr txBox="1"/>
          <p:nvPr/>
        </p:nvSpPr>
        <p:spPr>
          <a:xfrm>
            <a:off x="1737360" y="4453128"/>
            <a:ext cx="9601200" cy="365760"/>
          </a:xfrm>
          <a:prstGeom prst="rect">
            <a:avLst/>
          </a:prstGeom>
          <a:noFill/>
        </p:spPr>
        <p:txBody>
          <a:bodyPr wrap="square" anchor="t" lIns="0" rIns="0" tIns="0" bIns="0">
            <a:spAutoFit/>
          </a:bodyPr>
          <a:lstStyle/>
          <a:p>
            <a:pPr algn="l">
              <a:lnSpc>
                <a:spcPct val="115000"/>
              </a:lnSpc>
            </a:pPr>
            <a:r>
              <a:rPr sz="1500" b="1">
                <a:solidFill>
                  <a:srgbClr val="0F2A4F"/>
                </a:solidFill>
                <a:latin typeface="Hiragino Sans"/>
                <a:ea typeface="Hiragino Sans"/>
                <a:cs typeface="Hiragino Sans"/>
              </a:rPr>
              <a:t>計測は CAPI + AEM が前提</a:t>
            </a:r>
          </a:p>
        </p:txBody>
      </p:sp>
      <p:sp>
        <p:nvSpPr>
          <p:cNvPr id="27" name="TextBox 26"/>
          <p:cNvSpPr txBox="1"/>
          <p:nvPr/>
        </p:nvSpPr>
        <p:spPr>
          <a:xfrm>
            <a:off x="1737360" y="4791456"/>
            <a:ext cx="9692640" cy="457200"/>
          </a:xfrm>
          <a:prstGeom prst="rect">
            <a:avLst/>
          </a:prstGeom>
          <a:noFill/>
        </p:spPr>
        <p:txBody>
          <a:bodyPr wrap="square" anchor="t" lIns="0" rIns="0" tIns="0" bIns="0">
            <a:spAutoFit/>
          </a:bodyPr>
          <a:lstStyle/>
          <a:p>
            <a:pPr algn="l">
              <a:lnSpc>
                <a:spcPct val="150000"/>
              </a:lnSpc>
            </a:pPr>
            <a:r>
              <a:rPr sz="1000" b="0">
                <a:solidFill>
                  <a:srgbClr val="1A1A1A"/>
                </a:solidFill>
                <a:latin typeface="Hiragino Sans"/>
                <a:ea typeface="Hiragino Sans"/>
                <a:cs typeface="Hiragino Sans"/>
              </a:rPr>
              <a:t>iOS/ATTシグナル減への対応として CAPI Gateway 導入が普及。</a:t>
            </a:r>
          </a:p>
          <a:p>
            <a:pPr algn="l">
              <a:lnSpc>
                <a:spcPct val="150000"/>
              </a:lnSpc>
            </a:pPr>
            <a:r>
              <a:rPr sz="1000" b="0">
                <a:solidFill>
                  <a:srgbClr val="1A1A1A"/>
                </a:solidFill>
                <a:latin typeface="Hiragino Sans"/>
                <a:ea typeface="Hiragino Sans"/>
                <a:cs typeface="Hiragino Sans"/>
              </a:rPr>
              <a:t>Conversion Lift Test が民主化、Incrementality 設計が標準スキルに</a:t>
            </a:r>
          </a:p>
        </p:txBody>
      </p:sp>
      <p:sp>
        <p:nvSpPr>
          <p:cNvPr id="28" name="Rounded Rectangle 27"/>
          <p:cNvSpPr/>
          <p:nvPr/>
        </p:nvSpPr>
        <p:spPr>
          <a:xfrm>
            <a:off x="548640" y="5276088"/>
            <a:ext cx="11109960" cy="9601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5276088"/>
            <a:ext cx="109728" cy="9601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5458968"/>
            <a:ext cx="731520" cy="640080"/>
          </a:xfrm>
          <a:prstGeom prst="rect">
            <a:avLst/>
          </a:prstGeom>
          <a:noFill/>
        </p:spPr>
        <p:txBody>
          <a:bodyPr wrap="square" anchor="t" lIns="0" rIns="0" tIns="0" bIns="0">
            <a:spAutoFit/>
          </a:bodyPr>
          <a:lstStyle/>
          <a:p>
            <a:pPr algn="l">
              <a:lnSpc>
                <a:spcPct val="115000"/>
              </a:lnSpc>
            </a:pPr>
            <a:r>
              <a:rPr sz="3200" b="1">
                <a:solidFill>
                  <a:srgbClr val="E87722"/>
                </a:solidFill>
                <a:latin typeface="Helvetica Neue"/>
                <a:ea typeface="Helvetica Neue"/>
                <a:cs typeface="Helvetica Neue"/>
              </a:rPr>
              <a:t>05</a:t>
            </a:r>
          </a:p>
        </p:txBody>
      </p:sp>
      <p:sp>
        <p:nvSpPr>
          <p:cNvPr id="31" name="TextBox 30"/>
          <p:cNvSpPr txBox="1"/>
          <p:nvPr/>
        </p:nvSpPr>
        <p:spPr>
          <a:xfrm>
            <a:off x="1737360" y="5440680"/>
            <a:ext cx="9601200" cy="365760"/>
          </a:xfrm>
          <a:prstGeom prst="rect">
            <a:avLst/>
          </a:prstGeom>
          <a:noFill/>
        </p:spPr>
        <p:txBody>
          <a:bodyPr wrap="square" anchor="t" lIns="0" rIns="0" tIns="0" bIns="0">
            <a:spAutoFit/>
          </a:bodyPr>
          <a:lstStyle/>
          <a:p>
            <a:pPr algn="l">
              <a:lnSpc>
                <a:spcPct val="115000"/>
              </a:lnSpc>
            </a:pPr>
            <a:r>
              <a:rPr sz="1500" b="1">
                <a:solidFill>
                  <a:srgbClr val="0F2A4F"/>
                </a:solidFill>
                <a:latin typeface="Hiragino Sans"/>
                <a:ea typeface="Hiragino Sans"/>
                <a:cs typeface="Hiragino Sans"/>
              </a:rPr>
              <a:t>Threads が新しい配信面に追加 (2025/04)</a:t>
            </a:r>
          </a:p>
        </p:txBody>
      </p:sp>
      <p:sp>
        <p:nvSpPr>
          <p:cNvPr id="32" name="TextBox 31"/>
          <p:cNvSpPr txBox="1"/>
          <p:nvPr/>
        </p:nvSpPr>
        <p:spPr>
          <a:xfrm>
            <a:off x="1737360" y="5779008"/>
            <a:ext cx="9692640" cy="457200"/>
          </a:xfrm>
          <a:prstGeom prst="rect">
            <a:avLst/>
          </a:prstGeom>
          <a:noFill/>
        </p:spPr>
        <p:txBody>
          <a:bodyPr wrap="square" anchor="t" lIns="0" rIns="0" tIns="0" bIns="0">
            <a:spAutoFit/>
          </a:bodyPr>
          <a:lstStyle/>
          <a:p>
            <a:pPr algn="l">
              <a:lnSpc>
                <a:spcPct val="150000"/>
              </a:lnSpc>
            </a:pPr>
            <a:r>
              <a:rPr sz="1000" b="0">
                <a:solidFill>
                  <a:srgbClr val="1A1A1A"/>
                </a:solidFill>
                <a:latin typeface="Hiragino Sans"/>
                <a:ea typeface="Hiragino Sans"/>
                <a:cs typeface="Hiragino Sans"/>
              </a:rPr>
              <a:t>2025/04 全エリギブル広告主にグローバル開放。</a:t>
            </a:r>
          </a:p>
          <a:p>
            <a:pPr algn="l">
              <a:lnSpc>
                <a:spcPct val="150000"/>
              </a:lnSpc>
            </a:pPr>
            <a:r>
              <a:rPr sz="1000" b="0">
                <a:solidFill>
                  <a:srgbClr val="1A1A1A"/>
                </a:solidFill>
                <a:latin typeface="Hiragino Sans"/>
                <a:ea typeface="Hiragino Sans"/>
                <a:cs typeface="Hiragino Sans"/>
              </a:rPr>
              <a:t>段階的ロールアウト、当面は補助配信面の位置づけ</a:t>
            </a:r>
          </a:p>
        </p:txBody>
      </p:sp>
      <p:sp>
        <p:nvSpPr>
          <p:cNvPr id="33" name="TextBox 32"/>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キャンペーン目標と Advantage+ ランドスケープ</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2026年現在: 6目標 × Advantage+ オプション</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P58 / 250</a:t>
            </a:r>
          </a:p>
        </p:txBody>
      </p:sp>
      <p:sp>
        <p:nvSpPr>
          <p:cNvPr id="8" name="Rounded Rectangle 7"/>
          <p:cNvSpPr/>
          <p:nvPr/>
        </p:nvSpPr>
        <p:spPr>
          <a:xfrm>
            <a:off x="548640" y="1371600"/>
            <a:ext cx="11109960" cy="77724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463040"/>
            <a:ext cx="10972800" cy="640080"/>
          </a:xfrm>
          <a:prstGeom prst="rect">
            <a:avLst/>
          </a:prstGeom>
          <a:noFill/>
        </p:spPr>
        <p:txBody>
          <a:bodyPr wrap="square" anchor="t" lIns="0" rIns="0" tIns="0" bIns="0">
            <a:spAutoFit/>
          </a:bodyPr>
          <a:lstStyle/>
          <a:p>
            <a:pPr algn="l">
              <a:lnSpc>
                <a:spcPct val="145000"/>
              </a:lnSpc>
            </a:pPr>
            <a:r>
              <a:rPr sz="1100" b="0">
                <a:solidFill>
                  <a:srgbClr val="FFFFFF"/>
                </a:solidFill>
                <a:latin typeface="Hiragino Sans"/>
                <a:ea typeface="Hiragino Sans"/>
                <a:cs typeface="Hiragino Sans"/>
              </a:rPr>
              <a:t>Sales / App / Leads / Awareness / Traffic / Engagement の 6 目標は ODAX (Outcome-Driven Ad Experiences) として 2022 から定着。</a:t>
            </a:r>
          </a:p>
          <a:p>
            <a:pPr algn="l">
              <a:lnSpc>
                <a:spcPct val="145000"/>
              </a:lnSpc>
            </a:pPr>
            <a:r>
              <a:rPr sz="1100" b="0">
                <a:solidFill>
                  <a:srgbClr val="FFFFFF"/>
                </a:solidFill>
                <a:latin typeface="Hiragino Sans"/>
                <a:ea typeface="Hiragino Sans"/>
                <a:cs typeface="Hiragino Sans"/>
              </a:rPr>
              <a:t>Sales / App / Leads には『Advantage+』オプション、CV系3目標がメインの戦場</a:t>
            </a:r>
          </a:p>
        </p:txBody>
      </p:sp>
      <p:sp>
        <p:nvSpPr>
          <p:cNvPr id="10" name="Rounded Rectangle 9"/>
          <p:cNvSpPr/>
          <p:nvPr/>
        </p:nvSpPr>
        <p:spPr>
          <a:xfrm>
            <a:off x="548640" y="2331720"/>
            <a:ext cx="3611880" cy="1920240"/>
          </a:xfrm>
          <a:prstGeom prst="roundRect">
            <a:avLst>
              <a:gd name="adj" fmla="val 6000"/>
            </a:avLst>
          </a:prstGeom>
          <a:solidFill>
            <a:srgbClr val="FFF3E6"/>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331720"/>
            <a:ext cx="91440" cy="1920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468880"/>
            <a:ext cx="3246120" cy="365760"/>
          </a:xfrm>
          <a:prstGeom prst="rect">
            <a:avLst/>
          </a:prstGeom>
          <a:noFill/>
        </p:spPr>
        <p:txBody>
          <a:bodyPr wrap="square" anchor="t" lIns="0" rIns="0" tIns="0" bIns="0">
            <a:spAutoFit/>
          </a:bodyPr>
          <a:lstStyle/>
          <a:p>
            <a:pPr algn="l">
              <a:lnSpc>
                <a:spcPct val="115000"/>
              </a:lnSpc>
            </a:pPr>
            <a:r>
              <a:rPr sz="1800" b="1">
                <a:solidFill>
                  <a:srgbClr val="0F2A4F"/>
                </a:solidFill>
                <a:latin typeface="Helvetica Neue"/>
                <a:ea typeface="Helvetica Neue"/>
                <a:cs typeface="Helvetica Neue"/>
              </a:rPr>
              <a:t>Sales</a:t>
            </a:r>
          </a:p>
        </p:txBody>
      </p:sp>
      <p:sp>
        <p:nvSpPr>
          <p:cNvPr id="13" name="TextBox 12"/>
          <p:cNvSpPr txBox="1"/>
          <p:nvPr/>
        </p:nvSpPr>
        <p:spPr>
          <a:xfrm>
            <a:off x="777240" y="2834640"/>
            <a:ext cx="3246120" cy="274320"/>
          </a:xfrm>
          <a:prstGeom prst="rect">
            <a:avLst/>
          </a:prstGeom>
          <a:noFill/>
        </p:spPr>
        <p:txBody>
          <a:bodyPr wrap="square" anchor="t" lIns="0" rIns="0" tIns="0" bIns="0">
            <a:spAutoFit/>
          </a:bodyPr>
          <a:lstStyle/>
          <a:p>
            <a:pPr algn="l">
              <a:lnSpc>
                <a:spcPct val="115000"/>
              </a:lnSpc>
            </a:pPr>
            <a:r>
              <a:rPr sz="1100" b="1">
                <a:solidFill>
                  <a:srgbClr val="B85E1A"/>
                </a:solidFill>
                <a:latin typeface="Hiragino Sans"/>
                <a:ea typeface="Hiragino Sans"/>
                <a:cs typeface="Hiragino Sans"/>
              </a:rPr>
              <a:t>売上獲得</a:t>
            </a:r>
          </a:p>
        </p:txBody>
      </p:sp>
      <p:sp>
        <p:nvSpPr>
          <p:cNvPr id="14" name="TextBox 13"/>
          <p:cNvSpPr txBox="1"/>
          <p:nvPr/>
        </p:nvSpPr>
        <p:spPr>
          <a:xfrm>
            <a:off x="777240" y="3108960"/>
            <a:ext cx="3246120" cy="36576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EC / D2C / 高単価商材</a:t>
            </a:r>
          </a:p>
        </p:txBody>
      </p:sp>
      <p:sp>
        <p:nvSpPr>
          <p:cNvPr id="15" name="Rectangle 14"/>
          <p:cNvSpPr/>
          <p:nvPr/>
        </p:nvSpPr>
        <p:spPr>
          <a:xfrm>
            <a:off x="777240" y="3520440"/>
            <a:ext cx="315468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3657600"/>
            <a:ext cx="1371600" cy="274320"/>
          </a:xfrm>
          <a:prstGeom prst="rect">
            <a:avLst/>
          </a:prstGeom>
          <a:noFill/>
        </p:spPr>
        <p:txBody>
          <a:bodyPr wrap="square" anchor="t" lIns="0" rIns="0" tIns="0" bIns="0">
            <a:spAutoFit/>
          </a:bodyPr>
          <a:lstStyle/>
          <a:p>
            <a:pPr algn="l">
              <a:lnSpc>
                <a:spcPct val="115000"/>
              </a:lnSpc>
            </a:pPr>
            <a:r>
              <a:rPr sz="900" b="1">
                <a:solidFill>
                  <a:srgbClr val="5A6A80"/>
                </a:solidFill>
                <a:latin typeface="Hiragino Sans"/>
                <a:ea typeface="Hiragino Sans"/>
                <a:cs typeface="Hiragino Sans"/>
              </a:rPr>
              <a:t>AI/Auto:</a:t>
            </a:r>
          </a:p>
        </p:txBody>
      </p:sp>
      <p:sp>
        <p:nvSpPr>
          <p:cNvPr id="17" name="TextBox 16"/>
          <p:cNvSpPr txBox="1"/>
          <p:nvPr/>
        </p:nvSpPr>
        <p:spPr>
          <a:xfrm>
            <a:off x="1828800" y="3657600"/>
            <a:ext cx="2240280" cy="457200"/>
          </a:xfrm>
          <a:prstGeom prst="rect">
            <a:avLst/>
          </a:prstGeom>
          <a:noFill/>
        </p:spPr>
        <p:txBody>
          <a:bodyPr wrap="square" anchor="t" lIns="0" rIns="0" tIns="0" bIns="0">
            <a:spAutoFit/>
          </a:bodyPr>
          <a:lstStyle/>
          <a:p>
            <a:pPr algn="l">
              <a:lnSpc>
                <a:spcPct val="140000"/>
              </a:lnSpc>
            </a:pPr>
            <a:r>
              <a:rPr sz="1000" b="1">
                <a:solidFill>
                  <a:srgbClr val="B85E1A"/>
                </a:solidFill>
                <a:latin typeface="Hiragino Sans"/>
                <a:ea typeface="Hiragino Sans"/>
                <a:cs typeface="Hiragino Sans"/>
              </a:rPr>
              <a:t>Advantage+ Sales (旧ASC)</a:t>
            </a:r>
          </a:p>
        </p:txBody>
      </p:sp>
      <p:sp>
        <p:nvSpPr>
          <p:cNvPr id="18" name="Rounded Rectangle 17"/>
          <p:cNvSpPr/>
          <p:nvPr/>
        </p:nvSpPr>
        <p:spPr>
          <a:xfrm>
            <a:off x="4297680" y="2331720"/>
            <a:ext cx="3611880" cy="1920240"/>
          </a:xfrm>
          <a:prstGeom prst="roundRect">
            <a:avLst>
              <a:gd name="adj" fmla="val 6000"/>
            </a:avLst>
          </a:prstGeom>
          <a:solidFill>
            <a:srgbClr val="FFF3E6"/>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297680" y="2331720"/>
            <a:ext cx="91440" cy="1920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26280" y="2468880"/>
            <a:ext cx="3246120" cy="365760"/>
          </a:xfrm>
          <a:prstGeom prst="rect">
            <a:avLst/>
          </a:prstGeom>
          <a:noFill/>
        </p:spPr>
        <p:txBody>
          <a:bodyPr wrap="square" anchor="t" lIns="0" rIns="0" tIns="0" bIns="0">
            <a:spAutoFit/>
          </a:bodyPr>
          <a:lstStyle/>
          <a:p>
            <a:pPr algn="l">
              <a:lnSpc>
                <a:spcPct val="115000"/>
              </a:lnSpc>
            </a:pPr>
            <a:r>
              <a:rPr sz="1800" b="1">
                <a:solidFill>
                  <a:srgbClr val="0F2A4F"/>
                </a:solidFill>
                <a:latin typeface="Helvetica Neue"/>
                <a:ea typeface="Helvetica Neue"/>
                <a:cs typeface="Helvetica Neue"/>
              </a:rPr>
              <a:t>App</a:t>
            </a:r>
          </a:p>
        </p:txBody>
      </p:sp>
      <p:sp>
        <p:nvSpPr>
          <p:cNvPr id="21" name="TextBox 20"/>
          <p:cNvSpPr txBox="1"/>
          <p:nvPr/>
        </p:nvSpPr>
        <p:spPr>
          <a:xfrm>
            <a:off x="4526280" y="2834640"/>
            <a:ext cx="3246120" cy="274320"/>
          </a:xfrm>
          <a:prstGeom prst="rect">
            <a:avLst/>
          </a:prstGeom>
          <a:noFill/>
        </p:spPr>
        <p:txBody>
          <a:bodyPr wrap="square" anchor="t" lIns="0" rIns="0" tIns="0" bIns="0">
            <a:spAutoFit/>
          </a:bodyPr>
          <a:lstStyle/>
          <a:p>
            <a:pPr algn="l">
              <a:lnSpc>
                <a:spcPct val="115000"/>
              </a:lnSpc>
            </a:pPr>
            <a:r>
              <a:rPr sz="1100" b="1">
                <a:solidFill>
                  <a:srgbClr val="B85E1A"/>
                </a:solidFill>
                <a:latin typeface="Hiragino Sans"/>
                <a:ea typeface="Hiragino Sans"/>
                <a:cs typeface="Hiragino Sans"/>
              </a:rPr>
              <a:t>アプリインストール</a:t>
            </a:r>
          </a:p>
        </p:txBody>
      </p:sp>
      <p:sp>
        <p:nvSpPr>
          <p:cNvPr id="22" name="TextBox 21"/>
          <p:cNvSpPr txBox="1"/>
          <p:nvPr/>
        </p:nvSpPr>
        <p:spPr>
          <a:xfrm>
            <a:off x="4526280" y="3108960"/>
            <a:ext cx="3246120" cy="36576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モバイルアプリ</a:t>
            </a:r>
          </a:p>
        </p:txBody>
      </p:sp>
      <p:sp>
        <p:nvSpPr>
          <p:cNvPr id="23" name="Rectangle 22"/>
          <p:cNvSpPr/>
          <p:nvPr/>
        </p:nvSpPr>
        <p:spPr>
          <a:xfrm>
            <a:off x="4526280" y="3520440"/>
            <a:ext cx="315468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26280" y="3657600"/>
            <a:ext cx="1371600" cy="274320"/>
          </a:xfrm>
          <a:prstGeom prst="rect">
            <a:avLst/>
          </a:prstGeom>
          <a:noFill/>
        </p:spPr>
        <p:txBody>
          <a:bodyPr wrap="square" anchor="t" lIns="0" rIns="0" tIns="0" bIns="0">
            <a:spAutoFit/>
          </a:bodyPr>
          <a:lstStyle/>
          <a:p>
            <a:pPr algn="l">
              <a:lnSpc>
                <a:spcPct val="115000"/>
              </a:lnSpc>
            </a:pPr>
            <a:r>
              <a:rPr sz="900" b="1">
                <a:solidFill>
                  <a:srgbClr val="5A6A80"/>
                </a:solidFill>
                <a:latin typeface="Hiragino Sans"/>
                <a:ea typeface="Hiragino Sans"/>
                <a:cs typeface="Hiragino Sans"/>
              </a:rPr>
              <a:t>AI/Auto:</a:t>
            </a:r>
          </a:p>
        </p:txBody>
      </p:sp>
      <p:sp>
        <p:nvSpPr>
          <p:cNvPr id="25" name="TextBox 24"/>
          <p:cNvSpPr txBox="1"/>
          <p:nvPr/>
        </p:nvSpPr>
        <p:spPr>
          <a:xfrm>
            <a:off x="5577840" y="3657600"/>
            <a:ext cx="2240280" cy="457200"/>
          </a:xfrm>
          <a:prstGeom prst="rect">
            <a:avLst/>
          </a:prstGeom>
          <a:noFill/>
        </p:spPr>
        <p:txBody>
          <a:bodyPr wrap="square" anchor="t" lIns="0" rIns="0" tIns="0" bIns="0">
            <a:spAutoFit/>
          </a:bodyPr>
          <a:lstStyle/>
          <a:p>
            <a:pPr algn="l">
              <a:lnSpc>
                <a:spcPct val="140000"/>
              </a:lnSpc>
            </a:pPr>
            <a:r>
              <a:rPr sz="1000" b="1">
                <a:solidFill>
                  <a:srgbClr val="B85E1A"/>
                </a:solidFill>
                <a:latin typeface="Hiragino Sans"/>
                <a:ea typeface="Hiragino Sans"/>
                <a:cs typeface="Hiragino Sans"/>
              </a:rPr>
              <a:t>Advantage+ App</a:t>
            </a:r>
          </a:p>
        </p:txBody>
      </p:sp>
      <p:sp>
        <p:nvSpPr>
          <p:cNvPr id="26" name="Rounded Rectangle 25"/>
          <p:cNvSpPr/>
          <p:nvPr/>
        </p:nvSpPr>
        <p:spPr>
          <a:xfrm>
            <a:off x="8046720" y="2331720"/>
            <a:ext cx="3611880" cy="1920240"/>
          </a:xfrm>
          <a:prstGeom prst="roundRect">
            <a:avLst>
              <a:gd name="adj" fmla="val 6000"/>
            </a:avLst>
          </a:prstGeom>
          <a:solidFill>
            <a:srgbClr val="FFF3E6"/>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46720" y="2331720"/>
            <a:ext cx="91440" cy="1920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75320" y="2468880"/>
            <a:ext cx="3246120" cy="365760"/>
          </a:xfrm>
          <a:prstGeom prst="rect">
            <a:avLst/>
          </a:prstGeom>
          <a:noFill/>
        </p:spPr>
        <p:txBody>
          <a:bodyPr wrap="square" anchor="t" lIns="0" rIns="0" tIns="0" bIns="0">
            <a:spAutoFit/>
          </a:bodyPr>
          <a:lstStyle/>
          <a:p>
            <a:pPr algn="l">
              <a:lnSpc>
                <a:spcPct val="115000"/>
              </a:lnSpc>
            </a:pPr>
            <a:r>
              <a:rPr sz="1800" b="1">
                <a:solidFill>
                  <a:srgbClr val="0F2A4F"/>
                </a:solidFill>
                <a:latin typeface="Helvetica Neue"/>
                <a:ea typeface="Helvetica Neue"/>
                <a:cs typeface="Helvetica Neue"/>
              </a:rPr>
              <a:t>Leads</a:t>
            </a:r>
          </a:p>
        </p:txBody>
      </p:sp>
      <p:sp>
        <p:nvSpPr>
          <p:cNvPr id="29" name="TextBox 28"/>
          <p:cNvSpPr txBox="1"/>
          <p:nvPr/>
        </p:nvSpPr>
        <p:spPr>
          <a:xfrm>
            <a:off x="8275320" y="2834640"/>
            <a:ext cx="3246120" cy="274320"/>
          </a:xfrm>
          <a:prstGeom prst="rect">
            <a:avLst/>
          </a:prstGeom>
          <a:noFill/>
        </p:spPr>
        <p:txBody>
          <a:bodyPr wrap="square" anchor="t" lIns="0" rIns="0" tIns="0" bIns="0">
            <a:spAutoFit/>
          </a:bodyPr>
          <a:lstStyle/>
          <a:p>
            <a:pPr algn="l">
              <a:lnSpc>
                <a:spcPct val="115000"/>
              </a:lnSpc>
            </a:pPr>
            <a:r>
              <a:rPr sz="1100" b="1">
                <a:solidFill>
                  <a:srgbClr val="B85E1A"/>
                </a:solidFill>
                <a:latin typeface="Hiragino Sans"/>
                <a:ea typeface="Hiragino Sans"/>
                <a:cs typeface="Hiragino Sans"/>
              </a:rPr>
              <a:t>リード獲得</a:t>
            </a:r>
          </a:p>
        </p:txBody>
      </p:sp>
      <p:sp>
        <p:nvSpPr>
          <p:cNvPr id="30" name="TextBox 29"/>
          <p:cNvSpPr txBox="1"/>
          <p:nvPr/>
        </p:nvSpPr>
        <p:spPr>
          <a:xfrm>
            <a:off x="8275320" y="3108960"/>
            <a:ext cx="3246120" cy="36576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B2B / 不動産 / 教育</a:t>
            </a:r>
          </a:p>
        </p:txBody>
      </p:sp>
      <p:sp>
        <p:nvSpPr>
          <p:cNvPr id="31" name="Rectangle 30"/>
          <p:cNvSpPr/>
          <p:nvPr/>
        </p:nvSpPr>
        <p:spPr>
          <a:xfrm>
            <a:off x="8275320" y="3520440"/>
            <a:ext cx="315468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75320" y="3657600"/>
            <a:ext cx="1371600" cy="274320"/>
          </a:xfrm>
          <a:prstGeom prst="rect">
            <a:avLst/>
          </a:prstGeom>
          <a:noFill/>
        </p:spPr>
        <p:txBody>
          <a:bodyPr wrap="square" anchor="t" lIns="0" rIns="0" tIns="0" bIns="0">
            <a:spAutoFit/>
          </a:bodyPr>
          <a:lstStyle/>
          <a:p>
            <a:pPr algn="l">
              <a:lnSpc>
                <a:spcPct val="115000"/>
              </a:lnSpc>
            </a:pPr>
            <a:r>
              <a:rPr sz="900" b="1">
                <a:solidFill>
                  <a:srgbClr val="5A6A80"/>
                </a:solidFill>
                <a:latin typeface="Hiragino Sans"/>
                <a:ea typeface="Hiragino Sans"/>
                <a:cs typeface="Hiragino Sans"/>
              </a:rPr>
              <a:t>AI/Auto:</a:t>
            </a:r>
          </a:p>
        </p:txBody>
      </p:sp>
      <p:sp>
        <p:nvSpPr>
          <p:cNvPr id="33" name="TextBox 32"/>
          <p:cNvSpPr txBox="1"/>
          <p:nvPr/>
        </p:nvSpPr>
        <p:spPr>
          <a:xfrm>
            <a:off x="9326880" y="3657600"/>
            <a:ext cx="2240280" cy="457200"/>
          </a:xfrm>
          <a:prstGeom prst="rect">
            <a:avLst/>
          </a:prstGeom>
          <a:noFill/>
        </p:spPr>
        <p:txBody>
          <a:bodyPr wrap="square" anchor="t" lIns="0" rIns="0" tIns="0" bIns="0">
            <a:spAutoFit/>
          </a:bodyPr>
          <a:lstStyle/>
          <a:p>
            <a:pPr algn="l">
              <a:lnSpc>
                <a:spcPct val="140000"/>
              </a:lnSpc>
            </a:pPr>
            <a:r>
              <a:rPr sz="1000" b="1">
                <a:solidFill>
                  <a:srgbClr val="B85E1A"/>
                </a:solidFill>
                <a:latin typeface="Hiragino Sans"/>
                <a:ea typeface="Hiragino Sans"/>
                <a:cs typeface="Hiragino Sans"/>
              </a:rPr>
              <a:t>Advantage+ Leads</a:t>
            </a:r>
          </a:p>
        </p:txBody>
      </p:sp>
      <p:sp>
        <p:nvSpPr>
          <p:cNvPr id="34" name="Rounded Rectangle 33"/>
          <p:cNvSpPr/>
          <p:nvPr/>
        </p:nvSpPr>
        <p:spPr>
          <a:xfrm>
            <a:off x="548640" y="4389120"/>
            <a:ext cx="3611880" cy="192024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389120"/>
            <a:ext cx="91440" cy="1920240"/>
          </a:xfrm>
          <a:prstGeom prst="rect">
            <a:avLst/>
          </a:prstGeom>
          <a:solidFill>
            <a:srgbClr val="5A6A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77240" y="4526280"/>
            <a:ext cx="3246120" cy="365760"/>
          </a:xfrm>
          <a:prstGeom prst="rect">
            <a:avLst/>
          </a:prstGeom>
          <a:noFill/>
        </p:spPr>
        <p:txBody>
          <a:bodyPr wrap="square" anchor="t" lIns="0" rIns="0" tIns="0" bIns="0">
            <a:spAutoFit/>
          </a:bodyPr>
          <a:lstStyle/>
          <a:p>
            <a:pPr algn="l">
              <a:lnSpc>
                <a:spcPct val="115000"/>
              </a:lnSpc>
            </a:pPr>
            <a:r>
              <a:rPr sz="1800" b="1">
                <a:solidFill>
                  <a:srgbClr val="0F2A4F"/>
                </a:solidFill>
                <a:latin typeface="Helvetica Neue"/>
                <a:ea typeface="Helvetica Neue"/>
                <a:cs typeface="Helvetica Neue"/>
              </a:rPr>
              <a:t>Awareness</a:t>
            </a:r>
          </a:p>
        </p:txBody>
      </p:sp>
      <p:sp>
        <p:nvSpPr>
          <p:cNvPr id="37" name="TextBox 36"/>
          <p:cNvSpPr txBox="1"/>
          <p:nvPr/>
        </p:nvSpPr>
        <p:spPr>
          <a:xfrm>
            <a:off x="777240" y="4892040"/>
            <a:ext cx="3246120" cy="274320"/>
          </a:xfrm>
          <a:prstGeom prst="rect">
            <a:avLst/>
          </a:prstGeom>
          <a:noFill/>
        </p:spPr>
        <p:txBody>
          <a:bodyPr wrap="square" anchor="t" lIns="0" rIns="0" tIns="0" bIns="0">
            <a:spAutoFit/>
          </a:bodyPr>
          <a:lstStyle/>
          <a:p>
            <a:pPr algn="l">
              <a:lnSpc>
                <a:spcPct val="115000"/>
              </a:lnSpc>
            </a:pPr>
            <a:r>
              <a:rPr sz="1100" b="1">
                <a:solidFill>
                  <a:srgbClr val="5A6A80"/>
                </a:solidFill>
                <a:latin typeface="Hiragino Sans"/>
                <a:ea typeface="Hiragino Sans"/>
                <a:cs typeface="Hiragino Sans"/>
              </a:rPr>
              <a:t>認知拡大</a:t>
            </a:r>
          </a:p>
        </p:txBody>
      </p:sp>
      <p:sp>
        <p:nvSpPr>
          <p:cNvPr id="38" name="TextBox 37"/>
          <p:cNvSpPr txBox="1"/>
          <p:nvPr/>
        </p:nvSpPr>
        <p:spPr>
          <a:xfrm>
            <a:off x="777240" y="5166360"/>
            <a:ext cx="3246120" cy="36576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新ブランド / 新商品</a:t>
            </a:r>
          </a:p>
        </p:txBody>
      </p:sp>
      <p:sp>
        <p:nvSpPr>
          <p:cNvPr id="39" name="Rectangle 38"/>
          <p:cNvSpPr/>
          <p:nvPr/>
        </p:nvSpPr>
        <p:spPr>
          <a:xfrm>
            <a:off x="777240" y="5577840"/>
            <a:ext cx="315468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77240" y="5715000"/>
            <a:ext cx="1371600" cy="274320"/>
          </a:xfrm>
          <a:prstGeom prst="rect">
            <a:avLst/>
          </a:prstGeom>
          <a:noFill/>
        </p:spPr>
        <p:txBody>
          <a:bodyPr wrap="square" anchor="t" lIns="0" rIns="0" tIns="0" bIns="0">
            <a:spAutoFit/>
          </a:bodyPr>
          <a:lstStyle/>
          <a:p>
            <a:pPr algn="l">
              <a:lnSpc>
                <a:spcPct val="115000"/>
              </a:lnSpc>
            </a:pPr>
            <a:r>
              <a:rPr sz="900" b="1">
                <a:solidFill>
                  <a:srgbClr val="5A6A80"/>
                </a:solidFill>
                <a:latin typeface="Hiragino Sans"/>
                <a:ea typeface="Hiragino Sans"/>
                <a:cs typeface="Hiragino Sans"/>
              </a:rPr>
              <a:t>AI/Auto:</a:t>
            </a:r>
          </a:p>
        </p:txBody>
      </p:sp>
      <p:sp>
        <p:nvSpPr>
          <p:cNvPr id="41" name="TextBox 40"/>
          <p:cNvSpPr txBox="1"/>
          <p:nvPr/>
        </p:nvSpPr>
        <p:spPr>
          <a:xfrm>
            <a:off x="1828800" y="5715000"/>
            <a:ext cx="2240280" cy="457200"/>
          </a:xfrm>
          <a:prstGeom prst="rect">
            <a:avLst/>
          </a:prstGeom>
          <a:noFill/>
        </p:spPr>
        <p:txBody>
          <a:bodyPr wrap="square" anchor="t" lIns="0" rIns="0" tIns="0" bIns="0">
            <a:spAutoFit/>
          </a:bodyPr>
          <a:lstStyle/>
          <a:p>
            <a:pPr algn="l">
              <a:lnSpc>
                <a:spcPct val="140000"/>
              </a:lnSpc>
            </a:pPr>
            <a:r>
              <a:rPr sz="1000" b="1">
                <a:solidFill>
                  <a:srgbClr val="5A6A80"/>
                </a:solidFill>
                <a:latin typeface="Hiragino Sans"/>
                <a:ea typeface="Hiragino Sans"/>
                <a:cs typeface="Hiragino Sans"/>
              </a:rPr>
              <a:t>Reach / Brand Awareness</a:t>
            </a:r>
          </a:p>
        </p:txBody>
      </p:sp>
      <p:sp>
        <p:nvSpPr>
          <p:cNvPr id="42" name="Rounded Rectangle 41"/>
          <p:cNvSpPr/>
          <p:nvPr/>
        </p:nvSpPr>
        <p:spPr>
          <a:xfrm>
            <a:off x="4297680" y="4389120"/>
            <a:ext cx="3611880" cy="192024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297680" y="4389120"/>
            <a:ext cx="91440" cy="1920240"/>
          </a:xfrm>
          <a:prstGeom prst="rect">
            <a:avLst/>
          </a:prstGeom>
          <a:solidFill>
            <a:srgbClr val="5A6A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526280" y="4526280"/>
            <a:ext cx="3246120" cy="365760"/>
          </a:xfrm>
          <a:prstGeom prst="rect">
            <a:avLst/>
          </a:prstGeom>
          <a:noFill/>
        </p:spPr>
        <p:txBody>
          <a:bodyPr wrap="square" anchor="t" lIns="0" rIns="0" tIns="0" bIns="0">
            <a:spAutoFit/>
          </a:bodyPr>
          <a:lstStyle/>
          <a:p>
            <a:pPr algn="l">
              <a:lnSpc>
                <a:spcPct val="115000"/>
              </a:lnSpc>
            </a:pPr>
            <a:r>
              <a:rPr sz="1800" b="1">
                <a:solidFill>
                  <a:srgbClr val="0F2A4F"/>
                </a:solidFill>
                <a:latin typeface="Helvetica Neue"/>
                <a:ea typeface="Helvetica Neue"/>
                <a:cs typeface="Helvetica Neue"/>
              </a:rPr>
              <a:t>Traffic</a:t>
            </a:r>
          </a:p>
        </p:txBody>
      </p:sp>
      <p:sp>
        <p:nvSpPr>
          <p:cNvPr id="45" name="TextBox 44"/>
          <p:cNvSpPr txBox="1"/>
          <p:nvPr/>
        </p:nvSpPr>
        <p:spPr>
          <a:xfrm>
            <a:off x="4526280" y="4892040"/>
            <a:ext cx="3246120" cy="274320"/>
          </a:xfrm>
          <a:prstGeom prst="rect">
            <a:avLst/>
          </a:prstGeom>
          <a:noFill/>
        </p:spPr>
        <p:txBody>
          <a:bodyPr wrap="square" anchor="t" lIns="0" rIns="0" tIns="0" bIns="0">
            <a:spAutoFit/>
          </a:bodyPr>
          <a:lstStyle/>
          <a:p>
            <a:pPr algn="l">
              <a:lnSpc>
                <a:spcPct val="115000"/>
              </a:lnSpc>
            </a:pPr>
            <a:r>
              <a:rPr sz="1100" b="1">
                <a:solidFill>
                  <a:srgbClr val="5A6A80"/>
                </a:solidFill>
                <a:latin typeface="Hiragino Sans"/>
                <a:ea typeface="Hiragino Sans"/>
                <a:cs typeface="Hiragino Sans"/>
              </a:rPr>
              <a:t>トラフィック</a:t>
            </a:r>
          </a:p>
        </p:txBody>
      </p:sp>
      <p:sp>
        <p:nvSpPr>
          <p:cNvPr id="46" name="TextBox 45"/>
          <p:cNvSpPr txBox="1"/>
          <p:nvPr/>
        </p:nvSpPr>
        <p:spPr>
          <a:xfrm>
            <a:off x="4526280" y="5166360"/>
            <a:ext cx="3246120" cy="36576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情報サイト / メディア</a:t>
            </a:r>
          </a:p>
        </p:txBody>
      </p:sp>
      <p:sp>
        <p:nvSpPr>
          <p:cNvPr id="47" name="Rectangle 46"/>
          <p:cNvSpPr/>
          <p:nvPr/>
        </p:nvSpPr>
        <p:spPr>
          <a:xfrm>
            <a:off x="4526280" y="5577840"/>
            <a:ext cx="315468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26280" y="5715000"/>
            <a:ext cx="1371600" cy="274320"/>
          </a:xfrm>
          <a:prstGeom prst="rect">
            <a:avLst/>
          </a:prstGeom>
          <a:noFill/>
        </p:spPr>
        <p:txBody>
          <a:bodyPr wrap="square" anchor="t" lIns="0" rIns="0" tIns="0" bIns="0">
            <a:spAutoFit/>
          </a:bodyPr>
          <a:lstStyle/>
          <a:p>
            <a:pPr algn="l">
              <a:lnSpc>
                <a:spcPct val="115000"/>
              </a:lnSpc>
            </a:pPr>
            <a:r>
              <a:rPr sz="900" b="1">
                <a:solidFill>
                  <a:srgbClr val="5A6A80"/>
                </a:solidFill>
                <a:latin typeface="Hiragino Sans"/>
                <a:ea typeface="Hiragino Sans"/>
                <a:cs typeface="Hiragino Sans"/>
              </a:rPr>
              <a:t>AI/Auto:</a:t>
            </a:r>
          </a:p>
        </p:txBody>
      </p:sp>
      <p:sp>
        <p:nvSpPr>
          <p:cNvPr id="49" name="TextBox 48"/>
          <p:cNvSpPr txBox="1"/>
          <p:nvPr/>
        </p:nvSpPr>
        <p:spPr>
          <a:xfrm>
            <a:off x="5577840" y="5715000"/>
            <a:ext cx="2240280" cy="457200"/>
          </a:xfrm>
          <a:prstGeom prst="rect">
            <a:avLst/>
          </a:prstGeom>
          <a:noFill/>
        </p:spPr>
        <p:txBody>
          <a:bodyPr wrap="square" anchor="t" lIns="0" rIns="0" tIns="0" bIns="0">
            <a:spAutoFit/>
          </a:bodyPr>
          <a:lstStyle/>
          <a:p>
            <a:pPr algn="l">
              <a:lnSpc>
                <a:spcPct val="140000"/>
              </a:lnSpc>
            </a:pPr>
            <a:r>
              <a:rPr sz="1000" b="1">
                <a:solidFill>
                  <a:srgbClr val="5A6A80"/>
                </a:solidFill>
                <a:latin typeface="Hiragino Sans"/>
                <a:ea typeface="Hiragino Sans"/>
                <a:cs typeface="Hiragino Sans"/>
              </a:rPr>
              <a:t>クリック数最適化</a:t>
            </a:r>
          </a:p>
        </p:txBody>
      </p:sp>
      <p:sp>
        <p:nvSpPr>
          <p:cNvPr id="50" name="Rounded Rectangle 49"/>
          <p:cNvSpPr/>
          <p:nvPr/>
        </p:nvSpPr>
        <p:spPr>
          <a:xfrm>
            <a:off x="8046720" y="4389120"/>
            <a:ext cx="3611880" cy="192024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8046720" y="4389120"/>
            <a:ext cx="91440" cy="1920240"/>
          </a:xfrm>
          <a:prstGeom prst="rect">
            <a:avLst/>
          </a:prstGeom>
          <a:solidFill>
            <a:srgbClr val="5A6A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275320" y="4526280"/>
            <a:ext cx="3246120" cy="365760"/>
          </a:xfrm>
          <a:prstGeom prst="rect">
            <a:avLst/>
          </a:prstGeom>
          <a:noFill/>
        </p:spPr>
        <p:txBody>
          <a:bodyPr wrap="square" anchor="t" lIns="0" rIns="0" tIns="0" bIns="0">
            <a:spAutoFit/>
          </a:bodyPr>
          <a:lstStyle/>
          <a:p>
            <a:pPr algn="l">
              <a:lnSpc>
                <a:spcPct val="115000"/>
              </a:lnSpc>
            </a:pPr>
            <a:r>
              <a:rPr sz="1800" b="1">
                <a:solidFill>
                  <a:srgbClr val="0F2A4F"/>
                </a:solidFill>
                <a:latin typeface="Helvetica Neue"/>
                <a:ea typeface="Helvetica Neue"/>
                <a:cs typeface="Helvetica Neue"/>
              </a:rPr>
              <a:t>Engagement</a:t>
            </a:r>
          </a:p>
        </p:txBody>
      </p:sp>
      <p:sp>
        <p:nvSpPr>
          <p:cNvPr id="53" name="TextBox 52"/>
          <p:cNvSpPr txBox="1"/>
          <p:nvPr/>
        </p:nvSpPr>
        <p:spPr>
          <a:xfrm>
            <a:off x="8275320" y="4892040"/>
            <a:ext cx="3246120" cy="274320"/>
          </a:xfrm>
          <a:prstGeom prst="rect">
            <a:avLst/>
          </a:prstGeom>
          <a:noFill/>
        </p:spPr>
        <p:txBody>
          <a:bodyPr wrap="square" anchor="t" lIns="0" rIns="0" tIns="0" bIns="0">
            <a:spAutoFit/>
          </a:bodyPr>
          <a:lstStyle/>
          <a:p>
            <a:pPr algn="l">
              <a:lnSpc>
                <a:spcPct val="115000"/>
              </a:lnSpc>
            </a:pPr>
            <a:r>
              <a:rPr sz="1100" b="1">
                <a:solidFill>
                  <a:srgbClr val="5A6A80"/>
                </a:solidFill>
                <a:latin typeface="Hiragino Sans"/>
                <a:ea typeface="Hiragino Sans"/>
                <a:cs typeface="Hiragino Sans"/>
              </a:rPr>
              <a:t>エンゲージメント</a:t>
            </a:r>
          </a:p>
        </p:txBody>
      </p:sp>
      <p:sp>
        <p:nvSpPr>
          <p:cNvPr id="54" name="TextBox 53"/>
          <p:cNvSpPr txBox="1"/>
          <p:nvPr/>
        </p:nvSpPr>
        <p:spPr>
          <a:xfrm>
            <a:off x="8275320" y="5166360"/>
            <a:ext cx="3246120" cy="36576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動画再生 / メッセージ / イベント</a:t>
            </a:r>
          </a:p>
        </p:txBody>
      </p:sp>
      <p:sp>
        <p:nvSpPr>
          <p:cNvPr id="55" name="Rectangle 54"/>
          <p:cNvSpPr/>
          <p:nvPr/>
        </p:nvSpPr>
        <p:spPr>
          <a:xfrm>
            <a:off x="8275320" y="5577840"/>
            <a:ext cx="315468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275320" y="5715000"/>
            <a:ext cx="1371600" cy="274320"/>
          </a:xfrm>
          <a:prstGeom prst="rect">
            <a:avLst/>
          </a:prstGeom>
          <a:noFill/>
        </p:spPr>
        <p:txBody>
          <a:bodyPr wrap="square" anchor="t" lIns="0" rIns="0" tIns="0" bIns="0">
            <a:spAutoFit/>
          </a:bodyPr>
          <a:lstStyle/>
          <a:p>
            <a:pPr algn="l">
              <a:lnSpc>
                <a:spcPct val="115000"/>
              </a:lnSpc>
            </a:pPr>
            <a:r>
              <a:rPr sz="900" b="1">
                <a:solidFill>
                  <a:srgbClr val="5A6A80"/>
                </a:solidFill>
                <a:latin typeface="Hiragino Sans"/>
                <a:ea typeface="Hiragino Sans"/>
                <a:cs typeface="Hiragino Sans"/>
              </a:rPr>
              <a:t>AI/Auto:</a:t>
            </a:r>
          </a:p>
        </p:txBody>
      </p:sp>
      <p:sp>
        <p:nvSpPr>
          <p:cNvPr id="57" name="TextBox 56"/>
          <p:cNvSpPr txBox="1"/>
          <p:nvPr/>
        </p:nvSpPr>
        <p:spPr>
          <a:xfrm>
            <a:off x="9326880" y="5715000"/>
            <a:ext cx="2240280" cy="457200"/>
          </a:xfrm>
          <a:prstGeom prst="rect">
            <a:avLst/>
          </a:prstGeom>
          <a:noFill/>
        </p:spPr>
        <p:txBody>
          <a:bodyPr wrap="square" anchor="t" lIns="0" rIns="0" tIns="0" bIns="0">
            <a:spAutoFit/>
          </a:bodyPr>
          <a:lstStyle/>
          <a:p>
            <a:pPr algn="l">
              <a:lnSpc>
                <a:spcPct val="140000"/>
              </a:lnSpc>
            </a:pPr>
            <a:r>
              <a:rPr sz="1000" b="1">
                <a:solidFill>
                  <a:srgbClr val="5A6A80"/>
                </a:solidFill>
                <a:latin typeface="Hiragino Sans"/>
                <a:ea typeface="Hiragino Sans"/>
                <a:cs typeface="Hiragino Sans"/>
              </a:rPr>
              <a:t>目的別細分</a:t>
            </a:r>
          </a:p>
        </p:txBody>
      </p:sp>
      <p:sp>
        <p:nvSpPr>
          <p:cNvPr id="58" name="TextBox 57"/>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 Advantage+ Sales (旧 ASC) — 2025/02 リブランド</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EC / D2C で Meta 配信の鉄板</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P59 / 250</a:t>
            </a:r>
          </a:p>
        </p:txBody>
      </p:sp>
      <p:sp>
        <p:nvSpPr>
          <p:cNvPr id="8" name="Rounded Rectangle 7"/>
          <p:cNvSpPr/>
          <p:nvPr/>
        </p:nvSpPr>
        <p:spPr>
          <a:xfrm>
            <a:off x="548640" y="1371600"/>
            <a:ext cx="11109960" cy="118872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600200"/>
            <a:ext cx="731520" cy="731520"/>
          </a:xfrm>
          <a:prstGeom prst="rect">
            <a:avLst/>
          </a:prstGeom>
          <a:noFill/>
        </p:spPr>
        <p:txBody>
          <a:bodyPr wrap="square" anchor="t" lIns="0" rIns="0" tIns="0" bIns="0">
            <a:spAutoFit/>
          </a:bodyPr>
          <a:lstStyle/>
          <a:p>
            <a:pPr algn="l">
              <a:lnSpc>
                <a:spcPct val="115000"/>
              </a:lnSpc>
            </a:pPr>
            <a:r>
              <a:rPr sz="3000" b="0">
                <a:solidFill>
                  <a:srgbClr val="1A1A1A"/>
                </a:solidFill>
                <a:latin typeface="Hiragino Sans"/>
                <a:ea typeface="Hiragino Sans"/>
                <a:cs typeface="Hiragino Sans"/>
              </a:rPr>
              <a:t>📢</a:t>
            </a:r>
          </a:p>
        </p:txBody>
      </p:sp>
      <p:sp>
        <p:nvSpPr>
          <p:cNvPr id="10" name="TextBox 9"/>
          <p:cNvSpPr txBox="1"/>
          <p:nvPr/>
        </p:nvSpPr>
        <p:spPr>
          <a:xfrm>
            <a:off x="1554480" y="1508760"/>
            <a:ext cx="10058400" cy="457200"/>
          </a:xfrm>
          <a:prstGeom prst="rect">
            <a:avLst/>
          </a:prstGeom>
          <a:noFill/>
        </p:spPr>
        <p:txBody>
          <a:bodyPr wrap="square" anchor="t" lIns="0" rIns="0" tIns="0" bIns="0">
            <a:spAutoFit/>
          </a:bodyPr>
          <a:lstStyle/>
          <a:p>
            <a:pPr algn="l">
              <a:lnSpc>
                <a:spcPct val="115000"/>
              </a:lnSpc>
            </a:pPr>
            <a:r>
              <a:rPr sz="1500" b="1">
                <a:solidFill>
                  <a:srgbClr val="E87722"/>
                </a:solidFill>
                <a:latin typeface="Hiragino Sans"/>
                <a:ea typeface="Hiragino Sans"/>
                <a:cs typeface="Hiragino Sans"/>
              </a:rPr>
              <a:t>Advantage+ Shopping Campaigns (ASC) → Advantage+ Sales</a:t>
            </a:r>
          </a:p>
        </p:txBody>
      </p:sp>
      <p:sp>
        <p:nvSpPr>
          <p:cNvPr id="11" name="TextBox 10"/>
          <p:cNvSpPr txBox="1"/>
          <p:nvPr/>
        </p:nvSpPr>
        <p:spPr>
          <a:xfrm>
            <a:off x="1554480" y="1828800"/>
            <a:ext cx="10058400" cy="685800"/>
          </a:xfrm>
          <a:prstGeom prst="rect">
            <a:avLst/>
          </a:prstGeom>
          <a:noFill/>
        </p:spPr>
        <p:txBody>
          <a:bodyPr wrap="square" anchor="t" lIns="0" rIns="0" tIns="0" bIns="0">
            <a:spAutoFit/>
          </a:bodyPr>
          <a:lstStyle/>
          <a:p>
            <a:pPr algn="l">
              <a:lnSpc>
                <a:spcPct val="145000"/>
              </a:lnSpc>
            </a:pPr>
            <a:r>
              <a:rPr sz="1100" b="0">
                <a:solidFill>
                  <a:srgbClr val="FFFFFF"/>
                </a:solidFill>
                <a:latin typeface="Hiragino Sans"/>
                <a:ea typeface="Hiragino Sans"/>
                <a:cs typeface="Hiragino Sans"/>
              </a:rPr>
              <a:t>2025/02/10 ベータ開始 → Q2/2025 全面ロールアウト。</a:t>
            </a:r>
          </a:p>
          <a:p>
            <a:pPr algn="l">
              <a:lnSpc>
                <a:spcPct val="145000"/>
              </a:lnSpc>
            </a:pPr>
            <a:r>
              <a:rPr sz="1100" b="0">
                <a:solidFill>
                  <a:srgbClr val="FFFFFF"/>
                </a:solidFill>
                <a:latin typeface="Hiragino Sans"/>
                <a:ea typeface="Hiragino Sans"/>
                <a:cs typeface="Hiragino Sans"/>
              </a:rPr>
              <a:t>EC専用→『販売目的すべて対応』へ拡張。</a:t>
            </a:r>
          </a:p>
          <a:p>
            <a:pPr algn="l">
              <a:lnSpc>
                <a:spcPct val="145000"/>
              </a:lnSpc>
            </a:pPr>
            <a:r>
              <a:rPr sz="1100" b="0">
                <a:solidFill>
                  <a:srgbClr val="FFFFFF"/>
                </a:solidFill>
                <a:latin typeface="Hiragino Sans"/>
                <a:ea typeface="Hiragino Sans"/>
                <a:cs typeface="Hiragino Sans"/>
              </a:rPr>
              <a:t>Sales/App/Leads では Advantage+ がデフォルトON、複数広告セット併存可能に</a:t>
            </a:r>
          </a:p>
        </p:txBody>
      </p:sp>
      <p:sp>
        <p:nvSpPr>
          <p:cNvPr id="12" name="TextBox 11"/>
          <p:cNvSpPr txBox="1"/>
          <p:nvPr/>
        </p:nvSpPr>
        <p:spPr>
          <a:xfrm>
            <a:off x="548640" y="2697480"/>
            <a:ext cx="5486400" cy="32004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ASC との差分</a:t>
            </a:r>
          </a:p>
        </p:txBody>
      </p:sp>
      <p:sp>
        <p:nvSpPr>
          <p:cNvPr id="13" name="Rectangle 12"/>
          <p:cNvSpPr/>
          <p:nvPr/>
        </p:nvSpPr>
        <p:spPr>
          <a:xfrm>
            <a:off x="548640" y="3017520"/>
            <a:ext cx="1110996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200400"/>
            <a:ext cx="11109960" cy="41148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291840"/>
            <a:ext cx="2560320" cy="274320"/>
          </a:xfrm>
          <a:prstGeom prst="rect">
            <a:avLst/>
          </a:prstGeom>
          <a:noFill/>
        </p:spPr>
        <p:txBody>
          <a:bodyPr wrap="square" anchor="t" lIns="0" rIns="0" tIns="0" bIns="0">
            <a:spAutoFit/>
          </a:bodyPr>
          <a:lstStyle/>
          <a:p>
            <a:pPr algn="l">
              <a:lnSpc>
                <a:spcPct val="115000"/>
              </a:lnSpc>
            </a:pPr>
            <a:r>
              <a:rPr sz="1100" b="1">
                <a:solidFill>
                  <a:srgbClr val="FFFFFF"/>
                </a:solidFill>
                <a:latin typeface="Hiragino Sans"/>
                <a:ea typeface="Hiragino Sans"/>
                <a:cs typeface="Hiragino Sans"/>
              </a:rPr>
              <a:t>観点</a:t>
            </a:r>
          </a:p>
        </p:txBody>
      </p:sp>
      <p:sp>
        <p:nvSpPr>
          <p:cNvPr id="16" name="TextBox 15"/>
          <p:cNvSpPr txBox="1"/>
          <p:nvPr/>
        </p:nvSpPr>
        <p:spPr>
          <a:xfrm>
            <a:off x="3429000" y="3291840"/>
            <a:ext cx="3840480" cy="274320"/>
          </a:xfrm>
          <a:prstGeom prst="rect">
            <a:avLst/>
          </a:prstGeom>
          <a:noFill/>
        </p:spPr>
        <p:txBody>
          <a:bodyPr wrap="square" anchor="t" lIns="0" rIns="0" tIns="0" bIns="0">
            <a:spAutoFit/>
          </a:bodyPr>
          <a:lstStyle/>
          <a:p>
            <a:pPr algn="l">
              <a:lnSpc>
                <a:spcPct val="115000"/>
              </a:lnSpc>
            </a:pPr>
            <a:r>
              <a:rPr sz="1100" b="1">
                <a:solidFill>
                  <a:srgbClr val="FFFFFF"/>
                </a:solidFill>
                <a:latin typeface="Hiragino Sans"/>
                <a:ea typeface="Hiragino Sans"/>
                <a:cs typeface="Hiragino Sans"/>
              </a:rPr>
              <a:t>ASC (旧)</a:t>
            </a:r>
          </a:p>
        </p:txBody>
      </p:sp>
      <p:sp>
        <p:nvSpPr>
          <p:cNvPr id="17" name="TextBox 16"/>
          <p:cNvSpPr txBox="1"/>
          <p:nvPr/>
        </p:nvSpPr>
        <p:spPr>
          <a:xfrm>
            <a:off x="7452360" y="3291840"/>
            <a:ext cx="4160520" cy="274320"/>
          </a:xfrm>
          <a:prstGeom prst="rect">
            <a:avLst/>
          </a:prstGeom>
          <a:noFill/>
        </p:spPr>
        <p:txBody>
          <a:bodyPr wrap="square" anchor="t" lIns="0" rIns="0" tIns="0" bIns="0">
            <a:spAutoFit/>
          </a:bodyPr>
          <a:lstStyle/>
          <a:p>
            <a:pPr algn="l">
              <a:lnSpc>
                <a:spcPct val="115000"/>
              </a:lnSpc>
            </a:pPr>
            <a:r>
              <a:rPr sz="1100" b="1">
                <a:solidFill>
                  <a:srgbClr val="FFFFFF"/>
                </a:solidFill>
                <a:latin typeface="Hiragino Sans"/>
                <a:ea typeface="Hiragino Sans"/>
                <a:cs typeface="Hiragino Sans"/>
              </a:rPr>
              <a:t>Advantage+ Sales (新)</a:t>
            </a:r>
          </a:p>
        </p:txBody>
      </p:sp>
      <p:sp>
        <p:nvSpPr>
          <p:cNvPr id="18" name="Rectangle 17"/>
          <p:cNvSpPr/>
          <p:nvPr/>
        </p:nvSpPr>
        <p:spPr>
          <a:xfrm>
            <a:off x="548640" y="3611880"/>
            <a:ext cx="11109960" cy="411480"/>
          </a:xfrm>
          <a:prstGeom prst="rect">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3721608"/>
            <a:ext cx="2560320" cy="274320"/>
          </a:xfrm>
          <a:prstGeom prst="rect">
            <a:avLst/>
          </a:prstGeom>
          <a:noFill/>
        </p:spPr>
        <p:txBody>
          <a:bodyPr wrap="square" anchor="t" lIns="0" rIns="0" tIns="0" bIns="0">
            <a:spAutoFit/>
          </a:bodyPr>
          <a:lstStyle/>
          <a:p>
            <a:pPr algn="l">
              <a:lnSpc>
                <a:spcPct val="115000"/>
              </a:lnSpc>
            </a:pPr>
            <a:r>
              <a:rPr sz="1000" b="1">
                <a:solidFill>
                  <a:srgbClr val="0F2A4F"/>
                </a:solidFill>
                <a:latin typeface="Hiragino Sans"/>
                <a:ea typeface="Hiragino Sans"/>
                <a:cs typeface="Hiragino Sans"/>
              </a:rPr>
              <a:t>配信目的</a:t>
            </a:r>
          </a:p>
        </p:txBody>
      </p:sp>
      <p:sp>
        <p:nvSpPr>
          <p:cNvPr id="20" name="TextBox 19"/>
          <p:cNvSpPr txBox="1"/>
          <p:nvPr/>
        </p:nvSpPr>
        <p:spPr>
          <a:xfrm>
            <a:off x="3429000" y="3721608"/>
            <a:ext cx="384048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EC/D2C 限定</a:t>
            </a:r>
          </a:p>
        </p:txBody>
      </p:sp>
      <p:sp>
        <p:nvSpPr>
          <p:cNvPr id="21" name="TextBox 20"/>
          <p:cNvSpPr txBox="1"/>
          <p:nvPr/>
        </p:nvSpPr>
        <p:spPr>
          <a:xfrm>
            <a:off x="7452360" y="3721608"/>
            <a:ext cx="416052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Sales目的 全般 (リード/アプリ含む)</a:t>
            </a:r>
          </a:p>
        </p:txBody>
      </p:sp>
      <p:sp>
        <p:nvSpPr>
          <p:cNvPr id="22" name="Rectangle 21"/>
          <p:cNvSpPr/>
          <p:nvPr/>
        </p:nvSpPr>
        <p:spPr>
          <a:xfrm>
            <a:off x="548640" y="4069080"/>
            <a:ext cx="11109960" cy="411480"/>
          </a:xfrm>
          <a:prstGeom prst="rect">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4178808"/>
            <a:ext cx="2560320" cy="274320"/>
          </a:xfrm>
          <a:prstGeom prst="rect">
            <a:avLst/>
          </a:prstGeom>
          <a:noFill/>
        </p:spPr>
        <p:txBody>
          <a:bodyPr wrap="square" anchor="t" lIns="0" rIns="0" tIns="0" bIns="0">
            <a:spAutoFit/>
          </a:bodyPr>
          <a:lstStyle/>
          <a:p>
            <a:pPr algn="l">
              <a:lnSpc>
                <a:spcPct val="115000"/>
              </a:lnSpc>
            </a:pPr>
            <a:r>
              <a:rPr sz="1000" b="1">
                <a:solidFill>
                  <a:srgbClr val="0F2A4F"/>
                </a:solidFill>
                <a:latin typeface="Hiragino Sans"/>
                <a:ea typeface="Hiragino Sans"/>
                <a:cs typeface="Hiragino Sans"/>
              </a:rPr>
              <a:t>広告セット</a:t>
            </a:r>
          </a:p>
        </p:txBody>
      </p:sp>
      <p:sp>
        <p:nvSpPr>
          <p:cNvPr id="24" name="TextBox 23"/>
          <p:cNvSpPr txBox="1"/>
          <p:nvPr/>
        </p:nvSpPr>
        <p:spPr>
          <a:xfrm>
            <a:off x="3429000" y="4178808"/>
            <a:ext cx="384048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1 ad set のみ</a:t>
            </a:r>
          </a:p>
        </p:txBody>
      </p:sp>
      <p:sp>
        <p:nvSpPr>
          <p:cNvPr id="25" name="TextBox 24"/>
          <p:cNvSpPr txBox="1"/>
          <p:nvPr/>
        </p:nvSpPr>
        <p:spPr>
          <a:xfrm>
            <a:off x="7452360" y="4178808"/>
            <a:ext cx="416052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複数 ad set 併存可 (Advantage+ Budget ON 必須)</a:t>
            </a:r>
          </a:p>
        </p:txBody>
      </p:sp>
      <p:sp>
        <p:nvSpPr>
          <p:cNvPr id="26" name="Rectangle 25"/>
          <p:cNvSpPr/>
          <p:nvPr/>
        </p:nvSpPr>
        <p:spPr>
          <a:xfrm>
            <a:off x="548640" y="4526280"/>
            <a:ext cx="11109960" cy="411480"/>
          </a:xfrm>
          <a:prstGeom prst="rect">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4636008"/>
            <a:ext cx="2560320" cy="274320"/>
          </a:xfrm>
          <a:prstGeom prst="rect">
            <a:avLst/>
          </a:prstGeom>
          <a:noFill/>
        </p:spPr>
        <p:txBody>
          <a:bodyPr wrap="square" anchor="t" lIns="0" rIns="0" tIns="0" bIns="0">
            <a:spAutoFit/>
          </a:bodyPr>
          <a:lstStyle/>
          <a:p>
            <a:pPr algn="l">
              <a:lnSpc>
                <a:spcPct val="115000"/>
              </a:lnSpc>
            </a:pPr>
            <a:r>
              <a:rPr sz="1000" b="1">
                <a:solidFill>
                  <a:srgbClr val="0F2A4F"/>
                </a:solidFill>
                <a:latin typeface="Hiragino Sans"/>
                <a:ea typeface="Hiragino Sans"/>
                <a:cs typeface="Hiragino Sans"/>
              </a:rPr>
              <a:t>オーディエンス</a:t>
            </a:r>
          </a:p>
        </p:txBody>
      </p:sp>
      <p:sp>
        <p:nvSpPr>
          <p:cNvPr id="28" name="TextBox 27"/>
          <p:cNvSpPr txBox="1"/>
          <p:nvPr/>
        </p:nvSpPr>
        <p:spPr>
          <a:xfrm>
            <a:off x="3429000" y="4636008"/>
            <a:ext cx="384048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新規寄り 70/30 強制</a:t>
            </a:r>
          </a:p>
        </p:txBody>
      </p:sp>
      <p:sp>
        <p:nvSpPr>
          <p:cNvPr id="29" name="TextBox 28"/>
          <p:cNvSpPr txBox="1"/>
          <p:nvPr/>
        </p:nvSpPr>
        <p:spPr>
          <a:xfrm>
            <a:off x="7452360" y="4636008"/>
            <a:ext cx="416052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Audience Suggestions + Custom Audience 除外</a:t>
            </a:r>
          </a:p>
        </p:txBody>
      </p:sp>
      <p:sp>
        <p:nvSpPr>
          <p:cNvPr id="30" name="Rectangle 29"/>
          <p:cNvSpPr/>
          <p:nvPr/>
        </p:nvSpPr>
        <p:spPr>
          <a:xfrm>
            <a:off x="548640" y="4983480"/>
            <a:ext cx="11109960" cy="411480"/>
          </a:xfrm>
          <a:prstGeom prst="rect">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5093208"/>
            <a:ext cx="2560320" cy="274320"/>
          </a:xfrm>
          <a:prstGeom prst="rect">
            <a:avLst/>
          </a:prstGeom>
          <a:noFill/>
        </p:spPr>
        <p:txBody>
          <a:bodyPr wrap="square" anchor="t" lIns="0" rIns="0" tIns="0" bIns="0">
            <a:spAutoFit/>
          </a:bodyPr>
          <a:lstStyle/>
          <a:p>
            <a:pPr algn="l">
              <a:lnSpc>
                <a:spcPct val="115000"/>
              </a:lnSpc>
            </a:pPr>
            <a:r>
              <a:rPr sz="1000" b="1">
                <a:solidFill>
                  <a:srgbClr val="0F2A4F"/>
                </a:solidFill>
                <a:latin typeface="Hiragino Sans"/>
                <a:ea typeface="Hiragino Sans"/>
                <a:cs typeface="Hiragino Sans"/>
              </a:rPr>
              <a:t>自動化レベル</a:t>
            </a:r>
          </a:p>
        </p:txBody>
      </p:sp>
      <p:sp>
        <p:nvSpPr>
          <p:cNvPr id="32" name="TextBox 31"/>
          <p:cNvSpPr txBox="1"/>
          <p:nvPr/>
        </p:nvSpPr>
        <p:spPr>
          <a:xfrm>
            <a:off x="3429000" y="5093208"/>
            <a:ext cx="384048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高 (制御少ない)</a:t>
            </a:r>
          </a:p>
        </p:txBody>
      </p:sp>
      <p:sp>
        <p:nvSpPr>
          <p:cNvPr id="33" name="TextBox 32"/>
          <p:cNvSpPr txBox="1"/>
          <p:nvPr/>
        </p:nvSpPr>
        <p:spPr>
          <a:xfrm>
            <a:off x="7452360" y="5093208"/>
            <a:ext cx="416052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高 + 制御レバー追加</a:t>
            </a:r>
          </a:p>
        </p:txBody>
      </p:sp>
      <p:sp>
        <p:nvSpPr>
          <p:cNvPr id="34" name="Rectangle 33"/>
          <p:cNvSpPr/>
          <p:nvPr/>
        </p:nvSpPr>
        <p:spPr>
          <a:xfrm>
            <a:off x="548640" y="5440680"/>
            <a:ext cx="11109960" cy="411480"/>
          </a:xfrm>
          <a:prstGeom prst="rect">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5800" y="5550408"/>
            <a:ext cx="2560320" cy="274320"/>
          </a:xfrm>
          <a:prstGeom prst="rect">
            <a:avLst/>
          </a:prstGeom>
          <a:noFill/>
        </p:spPr>
        <p:txBody>
          <a:bodyPr wrap="square" anchor="t" lIns="0" rIns="0" tIns="0" bIns="0">
            <a:spAutoFit/>
          </a:bodyPr>
          <a:lstStyle/>
          <a:p>
            <a:pPr algn="l">
              <a:lnSpc>
                <a:spcPct val="115000"/>
              </a:lnSpc>
            </a:pPr>
            <a:r>
              <a:rPr sz="1000" b="1">
                <a:solidFill>
                  <a:srgbClr val="0F2A4F"/>
                </a:solidFill>
                <a:latin typeface="Hiragino Sans"/>
                <a:ea typeface="Hiragino Sans"/>
                <a:cs typeface="Hiragino Sans"/>
              </a:rPr>
              <a:t>Default</a:t>
            </a:r>
          </a:p>
        </p:txBody>
      </p:sp>
      <p:sp>
        <p:nvSpPr>
          <p:cNvPr id="36" name="TextBox 35"/>
          <p:cNvSpPr txBox="1"/>
          <p:nvPr/>
        </p:nvSpPr>
        <p:spPr>
          <a:xfrm>
            <a:off x="3429000" y="5550408"/>
            <a:ext cx="384048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手動で選択</a:t>
            </a:r>
          </a:p>
        </p:txBody>
      </p:sp>
      <p:sp>
        <p:nvSpPr>
          <p:cNvPr id="37" name="TextBox 36"/>
          <p:cNvSpPr txBox="1"/>
          <p:nvPr/>
        </p:nvSpPr>
        <p:spPr>
          <a:xfrm>
            <a:off x="7452360" y="5550408"/>
            <a:ext cx="416052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Sales/App/Leads目的では Default ON</a:t>
            </a:r>
          </a:p>
        </p:txBody>
      </p:sp>
      <p:sp>
        <p:nvSpPr>
          <p:cNvPr id="38" name="Rounded Rectangle 37"/>
          <p:cNvSpPr/>
          <p:nvPr/>
        </p:nvSpPr>
        <p:spPr>
          <a:xfrm>
            <a:off x="548640" y="5897880"/>
            <a:ext cx="11109960" cy="45720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77240" y="5989320"/>
            <a:ext cx="10972800" cy="365760"/>
          </a:xfrm>
          <a:prstGeom prst="rect">
            <a:avLst/>
          </a:prstGeom>
          <a:noFill/>
        </p:spPr>
        <p:txBody>
          <a:bodyPr wrap="square" anchor="t" lIns="0" rIns="0" tIns="0" bIns="0">
            <a:spAutoFit/>
          </a:bodyPr>
          <a:lstStyle/>
          <a:p>
            <a:pPr algn="l">
              <a:lnSpc>
                <a:spcPct val="115000"/>
              </a:lnSpc>
            </a:pPr>
            <a:r>
              <a:rPr sz="1000" b="1">
                <a:solidFill>
                  <a:srgbClr val="B85E1A"/>
                </a:solidFill>
                <a:latin typeface="Hiragino Sans"/>
                <a:ea typeface="Hiragino Sans"/>
                <a:cs typeface="Hiragino Sans"/>
              </a:rPr>
              <a:t>💡 EC案件の鉄板 : 1キャンペーン + Advantage+ Sales + Audience Suggestions + 既存顧客除外 → New Customer Acquisition</a:t>
            </a:r>
          </a:p>
        </p:txBody>
      </p:sp>
      <p:sp>
        <p:nvSpPr>
          <p:cNvPr id="40" name="TextBox 39"/>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Advantage+ App / Leads / Catalog</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Sales 以外の Advantage+ プロダクト群</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P60 / 250</a:t>
            </a:r>
          </a:p>
        </p:txBody>
      </p:sp>
      <p:sp>
        <p:nvSpPr>
          <p:cNvPr id="8" name="Rounded Rectangle 7"/>
          <p:cNvSpPr/>
          <p:nvPr/>
        </p:nvSpPr>
        <p:spPr>
          <a:xfrm>
            <a:off x="548640" y="1371600"/>
            <a:ext cx="11109960" cy="15544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71600"/>
            <a:ext cx="137160" cy="155448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600200"/>
            <a:ext cx="5486400" cy="457200"/>
          </a:xfrm>
          <a:prstGeom prst="rect">
            <a:avLst/>
          </a:prstGeom>
          <a:noFill/>
        </p:spPr>
        <p:txBody>
          <a:bodyPr wrap="square" anchor="t" lIns="0" rIns="0" tIns="0" bIns="0">
            <a:spAutoFit/>
          </a:bodyPr>
          <a:lstStyle/>
          <a:p>
            <a:pPr algn="l">
              <a:lnSpc>
                <a:spcPct val="115000"/>
              </a:lnSpc>
            </a:pPr>
            <a:r>
              <a:rPr sz="2000" b="1">
                <a:solidFill>
                  <a:srgbClr val="0F2A4F"/>
                </a:solidFill>
                <a:latin typeface="Helvetica Neue"/>
                <a:ea typeface="Helvetica Neue"/>
                <a:cs typeface="Helvetica Neue"/>
              </a:rPr>
              <a:t>Advantage+ App</a:t>
            </a:r>
          </a:p>
        </p:txBody>
      </p:sp>
      <p:sp>
        <p:nvSpPr>
          <p:cNvPr id="11" name="TextBox 10"/>
          <p:cNvSpPr txBox="1"/>
          <p:nvPr/>
        </p:nvSpPr>
        <p:spPr>
          <a:xfrm>
            <a:off x="868680" y="2057400"/>
            <a:ext cx="54864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App Install / Re-engagement</a:t>
            </a:r>
          </a:p>
        </p:txBody>
      </p:sp>
      <p:sp>
        <p:nvSpPr>
          <p:cNvPr id="12" name="TextBox 11"/>
          <p:cNvSpPr txBox="1"/>
          <p:nvPr/>
        </p:nvSpPr>
        <p:spPr>
          <a:xfrm>
            <a:off x="6400800" y="1691640"/>
            <a:ext cx="5212080" cy="109728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iOSは SKAN 連携、AndroidはGoogle Play Install Referrer 連携。</a:t>
            </a:r>
          </a:p>
          <a:p>
            <a:pPr algn="l">
              <a:lnSpc>
                <a:spcPct val="150000"/>
              </a:lnSpc>
            </a:pPr>
            <a:r>
              <a:rPr sz="1100" b="0">
                <a:solidFill>
                  <a:srgbClr val="1A1A1A"/>
                </a:solidFill>
                <a:latin typeface="Hiragino Sans"/>
                <a:ea typeface="Hiragino Sans"/>
                <a:cs typeface="Hiragino Sans"/>
              </a:rPr>
              <a:t>Audience は Advantage+ Targeting でAI推定。Lookalike不要</a:t>
            </a:r>
          </a:p>
        </p:txBody>
      </p:sp>
      <p:sp>
        <p:nvSpPr>
          <p:cNvPr id="13" name="Rounded Rectangle 12"/>
          <p:cNvSpPr/>
          <p:nvPr/>
        </p:nvSpPr>
        <p:spPr>
          <a:xfrm>
            <a:off x="548640" y="3063240"/>
            <a:ext cx="11109960" cy="15544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063240"/>
            <a:ext cx="137160" cy="155448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291840"/>
            <a:ext cx="5486400" cy="457200"/>
          </a:xfrm>
          <a:prstGeom prst="rect">
            <a:avLst/>
          </a:prstGeom>
          <a:noFill/>
        </p:spPr>
        <p:txBody>
          <a:bodyPr wrap="square" anchor="t" lIns="0" rIns="0" tIns="0" bIns="0">
            <a:spAutoFit/>
          </a:bodyPr>
          <a:lstStyle/>
          <a:p>
            <a:pPr algn="l">
              <a:lnSpc>
                <a:spcPct val="115000"/>
              </a:lnSpc>
            </a:pPr>
            <a:r>
              <a:rPr sz="2000" b="1">
                <a:solidFill>
                  <a:srgbClr val="0F2A4F"/>
                </a:solidFill>
                <a:latin typeface="Helvetica Neue"/>
                <a:ea typeface="Helvetica Neue"/>
                <a:cs typeface="Helvetica Neue"/>
              </a:rPr>
              <a:t>Advantage+ Leads</a:t>
            </a:r>
          </a:p>
        </p:txBody>
      </p:sp>
      <p:sp>
        <p:nvSpPr>
          <p:cNvPr id="16" name="TextBox 15"/>
          <p:cNvSpPr txBox="1"/>
          <p:nvPr/>
        </p:nvSpPr>
        <p:spPr>
          <a:xfrm>
            <a:off x="868680" y="3749040"/>
            <a:ext cx="54864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リード獲得</a:t>
            </a:r>
          </a:p>
        </p:txBody>
      </p:sp>
      <p:sp>
        <p:nvSpPr>
          <p:cNvPr id="17" name="TextBox 16"/>
          <p:cNvSpPr txBox="1"/>
          <p:nvPr/>
        </p:nvSpPr>
        <p:spPr>
          <a:xfrm>
            <a:off x="6400800" y="3383280"/>
            <a:ext cx="5212080" cy="109728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Lead Ads + 即時フォーム + CAPI for Leads。</a:t>
            </a:r>
          </a:p>
          <a:p>
            <a:pPr algn="l">
              <a:lnSpc>
                <a:spcPct val="150000"/>
              </a:lnSpc>
            </a:pPr>
            <a:r>
              <a:rPr sz="1100" b="0">
                <a:solidFill>
                  <a:srgbClr val="1A1A1A"/>
                </a:solidFill>
                <a:latin typeface="Hiragino Sans"/>
                <a:ea typeface="Hiragino Sans"/>
                <a:cs typeface="Hiragino Sans"/>
              </a:rPr>
              <a:t>Conversion Lift Test との組合せで Incrementality も測れる</a:t>
            </a:r>
          </a:p>
        </p:txBody>
      </p:sp>
      <p:sp>
        <p:nvSpPr>
          <p:cNvPr id="18" name="Rounded Rectangle 17"/>
          <p:cNvSpPr/>
          <p:nvPr/>
        </p:nvSpPr>
        <p:spPr>
          <a:xfrm>
            <a:off x="548640" y="4754880"/>
            <a:ext cx="11109960" cy="15544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4754880"/>
            <a:ext cx="137160" cy="155448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4983480"/>
            <a:ext cx="5486400" cy="457200"/>
          </a:xfrm>
          <a:prstGeom prst="rect">
            <a:avLst/>
          </a:prstGeom>
          <a:noFill/>
        </p:spPr>
        <p:txBody>
          <a:bodyPr wrap="square" anchor="t" lIns="0" rIns="0" tIns="0" bIns="0">
            <a:spAutoFit/>
          </a:bodyPr>
          <a:lstStyle/>
          <a:p>
            <a:pPr algn="l">
              <a:lnSpc>
                <a:spcPct val="115000"/>
              </a:lnSpc>
            </a:pPr>
            <a:r>
              <a:rPr sz="2000" b="1">
                <a:solidFill>
                  <a:srgbClr val="0F2A4F"/>
                </a:solidFill>
                <a:latin typeface="Helvetica Neue"/>
                <a:ea typeface="Helvetica Neue"/>
                <a:cs typeface="Helvetica Neue"/>
              </a:rPr>
              <a:t>Advantage+ Catalog</a:t>
            </a:r>
          </a:p>
        </p:txBody>
      </p:sp>
      <p:sp>
        <p:nvSpPr>
          <p:cNvPr id="21" name="TextBox 20"/>
          <p:cNvSpPr txBox="1"/>
          <p:nvPr/>
        </p:nvSpPr>
        <p:spPr>
          <a:xfrm>
            <a:off x="868680" y="5440680"/>
            <a:ext cx="54864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EC商品データ連携配信</a:t>
            </a:r>
          </a:p>
        </p:txBody>
      </p:sp>
      <p:sp>
        <p:nvSpPr>
          <p:cNvPr id="22" name="TextBox 21"/>
          <p:cNvSpPr txBox="1"/>
          <p:nvPr/>
        </p:nvSpPr>
        <p:spPr>
          <a:xfrm>
            <a:off x="6400800" y="5074920"/>
            <a:ext cx="5212080" cy="109728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Commerce Manager + Product Catalog → Advantage+ Sales 内で</a:t>
            </a:r>
          </a:p>
          <a:p>
            <a:pPr algn="l">
              <a:lnSpc>
                <a:spcPct val="150000"/>
              </a:lnSpc>
            </a:pPr>
            <a:r>
              <a:rPr sz="1100" b="0">
                <a:solidFill>
                  <a:srgbClr val="1A1A1A"/>
                </a:solidFill>
                <a:latin typeface="Hiragino Sans"/>
                <a:ea typeface="Hiragino Sans"/>
                <a:cs typeface="Hiragino Sans"/>
              </a:rPr>
              <a:t>DPA (Dynamic Product Ads) として配信。Pixel/CAPI で購買行動連動</a:t>
            </a:r>
          </a:p>
        </p:txBody>
      </p:sp>
      <p:sp>
        <p:nvSpPr>
          <p:cNvPr id="23" name="Rectangle 22"/>
          <p:cNvSpPr/>
          <p:nvPr/>
        </p:nvSpPr>
        <p:spPr>
          <a:xfrm>
            <a:off x="548640" y="6400800"/>
            <a:ext cx="11109960" cy="0"/>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Advantage+ Creative の機能群</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AI が広告セット内でクリエイティブを自動最適化</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P61 / 250</a:t>
            </a:r>
          </a:p>
        </p:txBody>
      </p:sp>
      <p:sp>
        <p:nvSpPr>
          <p:cNvPr id="8" name="Rounded Rectangle 7"/>
          <p:cNvSpPr/>
          <p:nvPr/>
        </p:nvSpPr>
        <p:spPr>
          <a:xfrm>
            <a:off x="548640" y="1417320"/>
            <a:ext cx="3611880" cy="14173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36118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645920"/>
            <a:ext cx="3246120" cy="365760"/>
          </a:xfrm>
          <a:prstGeom prst="rect">
            <a:avLst/>
          </a:prstGeom>
          <a:noFill/>
        </p:spPr>
        <p:txBody>
          <a:bodyPr wrap="square" anchor="t" lIns="0" rIns="0" tIns="0" bIns="0">
            <a:spAutoFit/>
          </a:bodyPr>
          <a:lstStyle/>
          <a:p>
            <a:pPr algn="l">
              <a:lnSpc>
                <a:spcPct val="115000"/>
              </a:lnSpc>
            </a:pPr>
            <a:r>
              <a:rPr sz="1400" b="1">
                <a:solidFill>
                  <a:srgbClr val="0F2A4F"/>
                </a:solidFill>
                <a:latin typeface="Helvetica Neue"/>
                <a:ea typeface="Helvetica Neue"/>
                <a:cs typeface="Helvetica Neue"/>
              </a:rPr>
              <a:t>Image Variations</a:t>
            </a:r>
          </a:p>
        </p:txBody>
      </p:sp>
      <p:sp>
        <p:nvSpPr>
          <p:cNvPr id="11" name="TextBox 10"/>
          <p:cNvSpPr txBox="1"/>
          <p:nvPr/>
        </p:nvSpPr>
        <p:spPr>
          <a:xfrm>
            <a:off x="777240" y="2057400"/>
            <a:ext cx="3246120" cy="731520"/>
          </a:xfrm>
          <a:prstGeom prst="rect">
            <a:avLst/>
          </a:prstGeom>
          <a:noFill/>
        </p:spPr>
        <p:txBody>
          <a:bodyPr wrap="square" anchor="t" lIns="0" rIns="0" tIns="0" bIns="0">
            <a:spAutoFit/>
          </a:bodyPr>
          <a:lstStyle/>
          <a:p>
            <a:pPr algn="l">
              <a:lnSpc>
                <a:spcPct val="145000"/>
              </a:lnSpc>
            </a:pPr>
            <a:r>
              <a:rPr sz="1100" b="0">
                <a:solidFill>
                  <a:srgbClr val="1A1A1A"/>
                </a:solidFill>
                <a:latin typeface="Hiragino Sans"/>
                <a:ea typeface="Hiragino Sans"/>
                <a:cs typeface="Hiragino Sans"/>
              </a:rPr>
              <a:t>1枚の画像から複数バリエーションを</a:t>
            </a:r>
          </a:p>
          <a:p>
            <a:pPr algn="l">
              <a:lnSpc>
                <a:spcPct val="145000"/>
              </a:lnSpc>
            </a:pPr>
            <a:r>
              <a:rPr sz="1100" b="0">
                <a:solidFill>
                  <a:srgbClr val="1A1A1A"/>
                </a:solidFill>
                <a:latin typeface="Hiragino Sans"/>
                <a:ea typeface="Hiragino Sans"/>
                <a:cs typeface="Hiragino Sans"/>
              </a:rPr>
              <a:t>自動生成 (色・コントラスト調整)</a:t>
            </a:r>
          </a:p>
        </p:txBody>
      </p:sp>
      <p:sp>
        <p:nvSpPr>
          <p:cNvPr id="12" name="Rounded Rectangle 11"/>
          <p:cNvSpPr/>
          <p:nvPr/>
        </p:nvSpPr>
        <p:spPr>
          <a:xfrm>
            <a:off x="4297680" y="1417320"/>
            <a:ext cx="3611880" cy="14173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1417320"/>
            <a:ext cx="36118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6280" y="1645920"/>
            <a:ext cx="3246120" cy="365760"/>
          </a:xfrm>
          <a:prstGeom prst="rect">
            <a:avLst/>
          </a:prstGeom>
          <a:noFill/>
        </p:spPr>
        <p:txBody>
          <a:bodyPr wrap="square" anchor="t" lIns="0" rIns="0" tIns="0" bIns="0">
            <a:spAutoFit/>
          </a:bodyPr>
          <a:lstStyle/>
          <a:p>
            <a:pPr algn="l">
              <a:lnSpc>
                <a:spcPct val="115000"/>
              </a:lnSpc>
            </a:pPr>
            <a:r>
              <a:rPr sz="1400" b="1">
                <a:solidFill>
                  <a:srgbClr val="0F2A4F"/>
                </a:solidFill>
                <a:latin typeface="Helvetica Neue"/>
                <a:ea typeface="Helvetica Neue"/>
                <a:cs typeface="Helvetica Neue"/>
              </a:rPr>
              <a:t>Music</a:t>
            </a:r>
          </a:p>
        </p:txBody>
      </p:sp>
      <p:sp>
        <p:nvSpPr>
          <p:cNvPr id="15" name="TextBox 14"/>
          <p:cNvSpPr txBox="1"/>
          <p:nvPr/>
        </p:nvSpPr>
        <p:spPr>
          <a:xfrm>
            <a:off x="4526280" y="2057400"/>
            <a:ext cx="3246120" cy="731520"/>
          </a:xfrm>
          <a:prstGeom prst="rect">
            <a:avLst/>
          </a:prstGeom>
          <a:noFill/>
        </p:spPr>
        <p:txBody>
          <a:bodyPr wrap="square" anchor="t" lIns="0" rIns="0" tIns="0" bIns="0">
            <a:spAutoFit/>
          </a:bodyPr>
          <a:lstStyle/>
          <a:p>
            <a:pPr algn="l">
              <a:lnSpc>
                <a:spcPct val="145000"/>
              </a:lnSpc>
            </a:pPr>
            <a:r>
              <a:rPr sz="1100" b="0">
                <a:solidFill>
                  <a:srgbClr val="1A1A1A"/>
                </a:solidFill>
                <a:latin typeface="Hiragino Sans"/>
                <a:ea typeface="Hiragino Sans"/>
                <a:cs typeface="Hiragino Sans"/>
              </a:rPr>
              <a:t>Reels向けに音楽トラックを</a:t>
            </a:r>
          </a:p>
          <a:p>
            <a:pPr algn="l">
              <a:lnSpc>
                <a:spcPct val="145000"/>
              </a:lnSpc>
            </a:pPr>
            <a:r>
              <a:rPr sz="1100" b="0">
                <a:solidFill>
                  <a:srgbClr val="1A1A1A"/>
                </a:solidFill>
                <a:latin typeface="Hiragino Sans"/>
                <a:ea typeface="Hiragino Sans"/>
                <a:cs typeface="Hiragino Sans"/>
              </a:rPr>
              <a:t>自動付与 (ライブラリ内から AI選択)</a:t>
            </a:r>
          </a:p>
        </p:txBody>
      </p:sp>
      <p:sp>
        <p:nvSpPr>
          <p:cNvPr id="16" name="Rounded Rectangle 15"/>
          <p:cNvSpPr/>
          <p:nvPr/>
        </p:nvSpPr>
        <p:spPr>
          <a:xfrm>
            <a:off x="8046720" y="1417320"/>
            <a:ext cx="3611880" cy="14173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6720" y="1417320"/>
            <a:ext cx="36118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75320" y="1645920"/>
            <a:ext cx="3246120" cy="365760"/>
          </a:xfrm>
          <a:prstGeom prst="rect">
            <a:avLst/>
          </a:prstGeom>
          <a:noFill/>
        </p:spPr>
        <p:txBody>
          <a:bodyPr wrap="square" anchor="t" lIns="0" rIns="0" tIns="0" bIns="0">
            <a:spAutoFit/>
          </a:bodyPr>
          <a:lstStyle/>
          <a:p>
            <a:pPr algn="l">
              <a:lnSpc>
                <a:spcPct val="115000"/>
              </a:lnSpc>
            </a:pPr>
            <a:r>
              <a:rPr sz="1400" b="1">
                <a:solidFill>
                  <a:srgbClr val="0F2A4F"/>
                </a:solidFill>
                <a:latin typeface="Helvetica Neue"/>
                <a:ea typeface="Helvetica Neue"/>
                <a:cs typeface="Helvetica Neue"/>
              </a:rPr>
              <a:t>Cropping</a:t>
            </a:r>
          </a:p>
        </p:txBody>
      </p:sp>
      <p:sp>
        <p:nvSpPr>
          <p:cNvPr id="19" name="TextBox 18"/>
          <p:cNvSpPr txBox="1"/>
          <p:nvPr/>
        </p:nvSpPr>
        <p:spPr>
          <a:xfrm>
            <a:off x="8275320" y="2057400"/>
            <a:ext cx="3246120" cy="731520"/>
          </a:xfrm>
          <a:prstGeom prst="rect">
            <a:avLst/>
          </a:prstGeom>
          <a:noFill/>
        </p:spPr>
        <p:txBody>
          <a:bodyPr wrap="square" anchor="t" lIns="0" rIns="0" tIns="0" bIns="0">
            <a:spAutoFit/>
          </a:bodyPr>
          <a:lstStyle/>
          <a:p>
            <a:pPr algn="l">
              <a:lnSpc>
                <a:spcPct val="145000"/>
              </a:lnSpc>
            </a:pPr>
            <a:r>
              <a:rPr sz="1100" b="0">
                <a:solidFill>
                  <a:srgbClr val="1A1A1A"/>
                </a:solidFill>
                <a:latin typeface="Hiragino Sans"/>
                <a:ea typeface="Hiragino Sans"/>
                <a:cs typeface="Hiragino Sans"/>
              </a:rPr>
              <a:t>プレースメント別に自動トリミング</a:t>
            </a:r>
          </a:p>
          <a:p>
            <a:pPr algn="l">
              <a:lnSpc>
                <a:spcPct val="145000"/>
              </a:lnSpc>
            </a:pPr>
            <a:r>
              <a:rPr sz="1100" b="0">
                <a:solidFill>
                  <a:srgbClr val="1A1A1A"/>
                </a:solidFill>
                <a:latin typeface="Hiragino Sans"/>
                <a:ea typeface="Hiragino Sans"/>
                <a:cs typeface="Hiragino Sans"/>
              </a:rPr>
              <a:t>(縦9:16 / 横16:9 / 1:1)</a:t>
            </a:r>
          </a:p>
        </p:txBody>
      </p:sp>
      <p:sp>
        <p:nvSpPr>
          <p:cNvPr id="20" name="Rounded Rectangle 19"/>
          <p:cNvSpPr/>
          <p:nvPr/>
        </p:nvSpPr>
        <p:spPr>
          <a:xfrm>
            <a:off x="548640" y="2971800"/>
            <a:ext cx="3611880" cy="14173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2971800"/>
            <a:ext cx="36118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3200400"/>
            <a:ext cx="3246120" cy="365760"/>
          </a:xfrm>
          <a:prstGeom prst="rect">
            <a:avLst/>
          </a:prstGeom>
          <a:noFill/>
        </p:spPr>
        <p:txBody>
          <a:bodyPr wrap="square" anchor="t" lIns="0" rIns="0" tIns="0" bIns="0">
            <a:spAutoFit/>
          </a:bodyPr>
          <a:lstStyle/>
          <a:p>
            <a:pPr algn="l">
              <a:lnSpc>
                <a:spcPct val="115000"/>
              </a:lnSpc>
            </a:pPr>
            <a:r>
              <a:rPr sz="1400" b="1">
                <a:solidFill>
                  <a:srgbClr val="0F2A4F"/>
                </a:solidFill>
                <a:latin typeface="Helvetica Neue"/>
                <a:ea typeface="Helvetica Neue"/>
                <a:cs typeface="Helvetica Neue"/>
              </a:rPr>
              <a:t>Text Variations</a:t>
            </a:r>
          </a:p>
        </p:txBody>
      </p:sp>
      <p:sp>
        <p:nvSpPr>
          <p:cNvPr id="23" name="TextBox 22"/>
          <p:cNvSpPr txBox="1"/>
          <p:nvPr/>
        </p:nvSpPr>
        <p:spPr>
          <a:xfrm>
            <a:off x="777240" y="3611880"/>
            <a:ext cx="3246120" cy="731520"/>
          </a:xfrm>
          <a:prstGeom prst="rect">
            <a:avLst/>
          </a:prstGeom>
          <a:noFill/>
        </p:spPr>
        <p:txBody>
          <a:bodyPr wrap="square" anchor="t" lIns="0" rIns="0" tIns="0" bIns="0">
            <a:spAutoFit/>
          </a:bodyPr>
          <a:lstStyle/>
          <a:p>
            <a:pPr algn="l">
              <a:lnSpc>
                <a:spcPct val="145000"/>
              </a:lnSpc>
            </a:pPr>
            <a:r>
              <a:rPr sz="1100" b="0">
                <a:solidFill>
                  <a:srgbClr val="1A1A1A"/>
                </a:solidFill>
                <a:latin typeface="Hiragino Sans"/>
                <a:ea typeface="Hiragino Sans"/>
                <a:cs typeface="Hiragino Sans"/>
              </a:rPr>
              <a:t>Primary Text を AI が複数生成</a:t>
            </a:r>
          </a:p>
          <a:p>
            <a:pPr algn="l">
              <a:lnSpc>
                <a:spcPct val="145000"/>
              </a:lnSpc>
            </a:pPr>
            <a:r>
              <a:rPr sz="1100" b="0">
                <a:solidFill>
                  <a:srgbClr val="1A1A1A"/>
                </a:solidFill>
                <a:latin typeface="Hiragino Sans"/>
                <a:ea typeface="Hiragino Sans"/>
                <a:cs typeface="Hiragino Sans"/>
              </a:rPr>
              <a:t>(Llama / Imagine 系モデル)</a:t>
            </a:r>
          </a:p>
        </p:txBody>
      </p:sp>
      <p:sp>
        <p:nvSpPr>
          <p:cNvPr id="24" name="Rounded Rectangle 23"/>
          <p:cNvSpPr/>
          <p:nvPr/>
        </p:nvSpPr>
        <p:spPr>
          <a:xfrm>
            <a:off x="4297680" y="2971800"/>
            <a:ext cx="3611880" cy="14173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97680" y="2971800"/>
            <a:ext cx="36118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26280" y="3200400"/>
            <a:ext cx="3246120" cy="365760"/>
          </a:xfrm>
          <a:prstGeom prst="rect">
            <a:avLst/>
          </a:prstGeom>
          <a:noFill/>
        </p:spPr>
        <p:txBody>
          <a:bodyPr wrap="square" anchor="t" lIns="0" rIns="0" tIns="0" bIns="0">
            <a:spAutoFit/>
          </a:bodyPr>
          <a:lstStyle/>
          <a:p>
            <a:pPr algn="l">
              <a:lnSpc>
                <a:spcPct val="115000"/>
              </a:lnSpc>
            </a:pPr>
            <a:r>
              <a:rPr sz="1400" b="1">
                <a:solidFill>
                  <a:srgbClr val="0F2A4F"/>
                </a:solidFill>
                <a:latin typeface="Helvetica Neue"/>
                <a:ea typeface="Helvetica Neue"/>
                <a:cs typeface="Helvetica Neue"/>
              </a:rPr>
              <a:t>Image Expansion</a:t>
            </a:r>
          </a:p>
        </p:txBody>
      </p:sp>
      <p:sp>
        <p:nvSpPr>
          <p:cNvPr id="27" name="TextBox 26"/>
          <p:cNvSpPr txBox="1"/>
          <p:nvPr/>
        </p:nvSpPr>
        <p:spPr>
          <a:xfrm>
            <a:off x="4526280" y="3611880"/>
            <a:ext cx="3246120" cy="731520"/>
          </a:xfrm>
          <a:prstGeom prst="rect">
            <a:avLst/>
          </a:prstGeom>
          <a:noFill/>
        </p:spPr>
        <p:txBody>
          <a:bodyPr wrap="square" anchor="t" lIns="0" rIns="0" tIns="0" bIns="0">
            <a:spAutoFit/>
          </a:bodyPr>
          <a:lstStyle/>
          <a:p>
            <a:pPr algn="l">
              <a:lnSpc>
                <a:spcPct val="145000"/>
              </a:lnSpc>
            </a:pPr>
            <a:r>
              <a:rPr sz="1100" b="0">
                <a:solidFill>
                  <a:srgbClr val="1A1A1A"/>
                </a:solidFill>
                <a:latin typeface="Hiragino Sans"/>
                <a:ea typeface="Hiragino Sans"/>
                <a:cs typeface="Hiragino Sans"/>
              </a:rPr>
              <a:t>画像の余白を AI拡張</a:t>
            </a:r>
          </a:p>
          <a:p>
            <a:pPr algn="l">
              <a:lnSpc>
                <a:spcPct val="145000"/>
              </a:lnSpc>
            </a:pPr>
            <a:r>
              <a:rPr sz="1100" b="0">
                <a:solidFill>
                  <a:srgbClr val="1A1A1A"/>
                </a:solidFill>
                <a:latin typeface="Hiragino Sans"/>
                <a:ea typeface="Hiragino Sans"/>
                <a:cs typeface="Hiragino Sans"/>
              </a:rPr>
              <a:t>配置面のアスペクト比に合わせて拡張</a:t>
            </a:r>
          </a:p>
        </p:txBody>
      </p:sp>
      <p:sp>
        <p:nvSpPr>
          <p:cNvPr id="28" name="Rounded Rectangle 27"/>
          <p:cNvSpPr/>
          <p:nvPr/>
        </p:nvSpPr>
        <p:spPr>
          <a:xfrm>
            <a:off x="8046720" y="2971800"/>
            <a:ext cx="3611880" cy="14173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46720" y="2971800"/>
            <a:ext cx="36118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75320" y="3200400"/>
            <a:ext cx="3246120" cy="365760"/>
          </a:xfrm>
          <a:prstGeom prst="rect">
            <a:avLst/>
          </a:prstGeom>
          <a:noFill/>
        </p:spPr>
        <p:txBody>
          <a:bodyPr wrap="square" anchor="t" lIns="0" rIns="0" tIns="0" bIns="0">
            <a:spAutoFit/>
          </a:bodyPr>
          <a:lstStyle/>
          <a:p>
            <a:pPr algn="l">
              <a:lnSpc>
                <a:spcPct val="115000"/>
              </a:lnSpc>
            </a:pPr>
            <a:r>
              <a:rPr sz="1400" b="1">
                <a:solidFill>
                  <a:srgbClr val="0F2A4F"/>
                </a:solidFill>
                <a:latin typeface="Helvetica Neue"/>
                <a:ea typeface="Helvetica Neue"/>
                <a:cs typeface="Helvetica Neue"/>
              </a:rPr>
              <a:t>Image Touch-ups</a:t>
            </a:r>
          </a:p>
        </p:txBody>
      </p:sp>
      <p:sp>
        <p:nvSpPr>
          <p:cNvPr id="31" name="TextBox 30"/>
          <p:cNvSpPr txBox="1"/>
          <p:nvPr/>
        </p:nvSpPr>
        <p:spPr>
          <a:xfrm>
            <a:off x="8275320" y="3611880"/>
            <a:ext cx="3246120" cy="731520"/>
          </a:xfrm>
          <a:prstGeom prst="rect">
            <a:avLst/>
          </a:prstGeom>
          <a:noFill/>
        </p:spPr>
        <p:txBody>
          <a:bodyPr wrap="square" anchor="t" lIns="0" rIns="0" tIns="0" bIns="0">
            <a:spAutoFit/>
          </a:bodyPr>
          <a:lstStyle/>
          <a:p>
            <a:pPr algn="l">
              <a:lnSpc>
                <a:spcPct val="145000"/>
              </a:lnSpc>
            </a:pPr>
            <a:r>
              <a:rPr sz="1100" b="0">
                <a:solidFill>
                  <a:srgbClr val="1A1A1A"/>
                </a:solidFill>
                <a:latin typeface="Hiragino Sans"/>
                <a:ea typeface="Hiragino Sans"/>
                <a:cs typeface="Hiragino Sans"/>
              </a:rPr>
              <a:t>明るさ・色彩・ノイズ補正を自動適用</a:t>
            </a:r>
          </a:p>
          <a:p>
            <a:pPr algn="l">
              <a:lnSpc>
                <a:spcPct val="145000"/>
              </a:lnSpc>
            </a:pPr>
            <a:r>
              <a:rPr sz="1100" b="0">
                <a:solidFill>
                  <a:srgbClr val="1A1A1A"/>
                </a:solidFill>
                <a:latin typeface="Hiragino Sans"/>
                <a:ea typeface="Hiragino Sans"/>
                <a:cs typeface="Hiragino Sans"/>
              </a:rPr>
              <a:t>クリエイティブ品質均一化</a:t>
            </a:r>
          </a:p>
        </p:txBody>
      </p:sp>
      <p:sp>
        <p:nvSpPr>
          <p:cNvPr id="32" name="Rounded Rectangle 31"/>
          <p:cNvSpPr/>
          <p:nvPr/>
        </p:nvSpPr>
        <p:spPr>
          <a:xfrm>
            <a:off x="548640" y="4572000"/>
            <a:ext cx="11109960" cy="178308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7240" y="4709160"/>
            <a:ext cx="100584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 Advantage+ Creative の使いこなし</a:t>
            </a:r>
          </a:p>
        </p:txBody>
      </p:sp>
      <p:sp>
        <p:nvSpPr>
          <p:cNvPr id="34" name="TextBox 33"/>
          <p:cNvSpPr txBox="1"/>
          <p:nvPr/>
        </p:nvSpPr>
        <p:spPr>
          <a:xfrm>
            <a:off x="777240" y="5029200"/>
            <a:ext cx="10972800" cy="128016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 各機能は ad set レベルで個別ON/OFF可。ブランド毀損リスクのある機能 (色変更/テキスト変換) は慎重に</a:t>
            </a:r>
          </a:p>
          <a:p>
            <a:pPr algn="l">
              <a:lnSpc>
                <a:spcPct val="160000"/>
              </a:lnSpc>
            </a:pPr>
            <a:r>
              <a:rPr sz="1100" b="0">
                <a:solidFill>
                  <a:srgbClr val="1A1A1A"/>
                </a:solidFill>
                <a:latin typeface="Hiragino Sans"/>
                <a:ea typeface="Hiragino Sans"/>
                <a:cs typeface="Hiragino Sans"/>
              </a:rPr>
              <a:t>• Image Touch-ups と Cropping は基本ON、ブランド統制が必要な業界 (高級・医療) は OFF推奨</a:t>
            </a:r>
          </a:p>
          <a:p>
            <a:pPr algn="l">
              <a:lnSpc>
                <a:spcPct val="160000"/>
              </a:lnSpc>
            </a:pPr>
            <a:r>
              <a:rPr sz="1100" b="0">
                <a:solidFill>
                  <a:srgbClr val="1A1A1A"/>
                </a:solidFill>
                <a:latin typeface="Hiragino Sans"/>
                <a:ea typeface="Hiragino Sans"/>
                <a:cs typeface="Hiragino Sans"/>
              </a:rPr>
              <a:t>• Music は Reels で効果大、Stories/Feed は控えめが無難</a:t>
            </a:r>
          </a:p>
          <a:p>
            <a:pPr algn="l">
              <a:lnSpc>
                <a:spcPct val="160000"/>
              </a:lnSpc>
            </a:pPr>
            <a:r>
              <a:rPr sz="1100" b="0">
                <a:solidFill>
                  <a:srgbClr val="1A1A1A"/>
                </a:solidFill>
                <a:latin typeface="Hiragino Sans"/>
                <a:ea typeface="Hiragino Sans"/>
                <a:cs typeface="Hiragino Sans"/>
              </a:rPr>
              <a:t>• Text Variations は法令遵守業界 (薬機法対応など) では必ず審査フロー組み込み</a:t>
            </a:r>
          </a:p>
        </p:txBody>
      </p:sp>
      <p:sp>
        <p:nvSpPr>
          <p:cNvPr id="35" name="TextBox 34"/>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 Andromeda ─ 配信ML世代交代 (2024末)</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Meta Ads Ranking の根幹が刷新された</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P62 / 250</a:t>
            </a:r>
          </a:p>
        </p:txBody>
      </p:sp>
      <p:sp>
        <p:nvSpPr>
          <p:cNvPr id="8" name="Rounded Rectangle 7"/>
          <p:cNvSpPr/>
          <p:nvPr/>
        </p:nvSpPr>
        <p:spPr>
          <a:xfrm>
            <a:off x="548640" y="1371600"/>
            <a:ext cx="11109960" cy="118872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600200"/>
            <a:ext cx="731520" cy="731520"/>
          </a:xfrm>
          <a:prstGeom prst="rect">
            <a:avLst/>
          </a:prstGeom>
          <a:noFill/>
        </p:spPr>
        <p:txBody>
          <a:bodyPr wrap="square" anchor="t" lIns="0" rIns="0" tIns="0" bIns="0">
            <a:spAutoFit/>
          </a:bodyPr>
          <a:lstStyle/>
          <a:p>
            <a:pPr algn="l">
              <a:lnSpc>
                <a:spcPct val="115000"/>
              </a:lnSpc>
            </a:pPr>
            <a:r>
              <a:rPr sz="3000" b="0">
                <a:solidFill>
                  <a:srgbClr val="1A1A1A"/>
                </a:solidFill>
                <a:latin typeface="Hiragino Sans"/>
                <a:ea typeface="Hiragino Sans"/>
                <a:cs typeface="Hiragino Sans"/>
              </a:rPr>
              <a:t>🚀</a:t>
            </a:r>
          </a:p>
        </p:txBody>
      </p:sp>
      <p:sp>
        <p:nvSpPr>
          <p:cNvPr id="10" name="TextBox 9"/>
          <p:cNvSpPr txBox="1"/>
          <p:nvPr/>
        </p:nvSpPr>
        <p:spPr>
          <a:xfrm>
            <a:off x="1554480" y="1554480"/>
            <a:ext cx="10058400" cy="365760"/>
          </a:xfrm>
          <a:prstGeom prst="rect">
            <a:avLst/>
          </a:prstGeom>
          <a:noFill/>
        </p:spPr>
        <p:txBody>
          <a:bodyPr wrap="square" anchor="t" lIns="0" rIns="0" tIns="0" bIns="0">
            <a:spAutoFit/>
          </a:bodyPr>
          <a:lstStyle/>
          <a:p>
            <a:pPr algn="l">
              <a:lnSpc>
                <a:spcPct val="115000"/>
              </a:lnSpc>
            </a:pPr>
            <a:r>
              <a:rPr sz="1200" b="1">
                <a:solidFill>
                  <a:srgbClr val="E87722"/>
                </a:solidFill>
                <a:latin typeface="Hiragino Sans"/>
                <a:ea typeface="Hiragino Sans"/>
                <a:cs typeface="Hiragino Sans"/>
              </a:rPr>
              <a:t>Meta Engineering Blog (2024/12/02)</a:t>
            </a:r>
          </a:p>
        </p:txBody>
      </p:sp>
      <p:sp>
        <p:nvSpPr>
          <p:cNvPr id="11" name="TextBox 10"/>
          <p:cNvSpPr txBox="1"/>
          <p:nvPr/>
        </p:nvSpPr>
        <p:spPr>
          <a:xfrm>
            <a:off x="1554480" y="1874519"/>
            <a:ext cx="10058400" cy="640080"/>
          </a:xfrm>
          <a:prstGeom prst="rect">
            <a:avLst/>
          </a:prstGeom>
          <a:noFill/>
        </p:spPr>
        <p:txBody>
          <a:bodyPr wrap="square" anchor="t" lIns="0" rIns="0" tIns="0" bIns="0">
            <a:spAutoFit/>
          </a:bodyPr>
          <a:lstStyle/>
          <a:p>
            <a:pPr algn="l">
              <a:lnSpc>
                <a:spcPct val="145000"/>
              </a:lnSpc>
            </a:pPr>
            <a:r>
              <a:rPr sz="1200" b="1">
                <a:solidFill>
                  <a:srgbClr val="FFFFFF"/>
                </a:solidFill>
                <a:latin typeface="Hiragino Sans"/>
                <a:ea typeface="Hiragino Sans"/>
                <a:cs typeface="Hiragino Sans"/>
              </a:rPr>
              <a:t>MTIA (Meta Training &amp; Inference Accelerator) + NVIDIA Grace Hopper による</a:t>
            </a:r>
          </a:p>
          <a:p>
            <a:pPr algn="l">
              <a:lnSpc>
                <a:spcPct val="145000"/>
              </a:lnSpc>
            </a:pPr>
            <a:r>
              <a:rPr sz="1200" b="1">
                <a:solidFill>
                  <a:srgbClr val="FFFFFF"/>
                </a:solidFill>
                <a:latin typeface="Hiragino Sans"/>
                <a:ea typeface="Hiragino Sans"/>
                <a:cs typeface="Hiragino Sans"/>
              </a:rPr>
              <a:t>新ハードウェア + 共同設計ソフトウェア。Ads Retrieval (候補絞り込み) 段階を刷新</a:t>
            </a:r>
          </a:p>
        </p:txBody>
      </p:sp>
      <p:sp>
        <p:nvSpPr>
          <p:cNvPr id="12" name="TextBox 11"/>
          <p:cNvSpPr txBox="1"/>
          <p:nvPr/>
        </p:nvSpPr>
        <p:spPr>
          <a:xfrm>
            <a:off x="548640" y="2697480"/>
            <a:ext cx="731520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Andromeda が達成した数値</a:t>
            </a:r>
          </a:p>
        </p:txBody>
      </p:sp>
      <p:sp>
        <p:nvSpPr>
          <p:cNvPr id="13" name="Rounded Rectangle 12"/>
          <p:cNvSpPr/>
          <p:nvPr/>
        </p:nvSpPr>
        <p:spPr>
          <a:xfrm>
            <a:off x="548640" y="3200400"/>
            <a:ext cx="3611880" cy="169164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200400"/>
            <a:ext cx="91440" cy="16916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3429000"/>
            <a:ext cx="3246120" cy="685800"/>
          </a:xfrm>
          <a:prstGeom prst="rect">
            <a:avLst/>
          </a:prstGeom>
          <a:noFill/>
        </p:spPr>
        <p:txBody>
          <a:bodyPr wrap="square" anchor="t" lIns="0" rIns="0" tIns="0" bIns="0">
            <a:spAutoFit/>
          </a:bodyPr>
          <a:lstStyle/>
          <a:p>
            <a:pPr algn="ctr">
              <a:lnSpc>
                <a:spcPct val="100000"/>
              </a:lnSpc>
            </a:pPr>
            <a:r>
              <a:rPr sz="4200" b="1">
                <a:solidFill>
                  <a:srgbClr val="E87722"/>
                </a:solidFill>
                <a:latin typeface="Helvetica Neue"/>
                <a:ea typeface="Helvetica Neue"/>
                <a:cs typeface="Helvetica Neue"/>
              </a:rPr>
              <a:t>10,000x</a:t>
            </a:r>
          </a:p>
        </p:txBody>
      </p:sp>
      <p:sp>
        <p:nvSpPr>
          <p:cNvPr id="16" name="TextBox 15"/>
          <p:cNvSpPr txBox="1"/>
          <p:nvPr/>
        </p:nvSpPr>
        <p:spPr>
          <a:xfrm>
            <a:off x="777240" y="4251960"/>
            <a:ext cx="3246120" cy="594360"/>
          </a:xfrm>
          <a:prstGeom prst="rect">
            <a:avLst/>
          </a:prstGeom>
          <a:noFill/>
        </p:spPr>
        <p:txBody>
          <a:bodyPr wrap="square" anchor="t" lIns="0" rIns="0" tIns="0" bIns="0">
            <a:spAutoFit/>
          </a:bodyPr>
          <a:lstStyle/>
          <a:p>
            <a:pPr algn="ctr">
              <a:lnSpc>
                <a:spcPct val="145000"/>
              </a:lnSpc>
            </a:pPr>
            <a:r>
              <a:rPr sz="1100" b="0">
                <a:solidFill>
                  <a:srgbClr val="1A1A1A"/>
                </a:solidFill>
                <a:latin typeface="Hiragino Sans"/>
                <a:ea typeface="Hiragino Sans"/>
                <a:cs typeface="Hiragino Sans"/>
              </a:rPr>
              <a:t>Ads Retrieval モデルの複雑度向上</a:t>
            </a:r>
          </a:p>
        </p:txBody>
      </p:sp>
      <p:sp>
        <p:nvSpPr>
          <p:cNvPr id="17" name="Rounded Rectangle 16"/>
          <p:cNvSpPr/>
          <p:nvPr/>
        </p:nvSpPr>
        <p:spPr>
          <a:xfrm>
            <a:off x="4297680" y="3200400"/>
            <a:ext cx="3611880" cy="169164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297680" y="3200400"/>
            <a:ext cx="91440" cy="16916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26280" y="3429000"/>
            <a:ext cx="3246120" cy="685800"/>
          </a:xfrm>
          <a:prstGeom prst="rect">
            <a:avLst/>
          </a:prstGeom>
          <a:noFill/>
        </p:spPr>
        <p:txBody>
          <a:bodyPr wrap="square" anchor="t" lIns="0" rIns="0" tIns="0" bIns="0">
            <a:spAutoFit/>
          </a:bodyPr>
          <a:lstStyle/>
          <a:p>
            <a:pPr algn="ctr">
              <a:lnSpc>
                <a:spcPct val="100000"/>
              </a:lnSpc>
            </a:pPr>
            <a:r>
              <a:rPr sz="4200" b="1">
                <a:solidFill>
                  <a:srgbClr val="E87722"/>
                </a:solidFill>
                <a:latin typeface="Helvetica Neue"/>
                <a:ea typeface="Helvetica Neue"/>
                <a:cs typeface="Helvetica Neue"/>
              </a:rPr>
              <a:t>+8%</a:t>
            </a:r>
          </a:p>
        </p:txBody>
      </p:sp>
      <p:sp>
        <p:nvSpPr>
          <p:cNvPr id="20" name="TextBox 19"/>
          <p:cNvSpPr txBox="1"/>
          <p:nvPr/>
        </p:nvSpPr>
        <p:spPr>
          <a:xfrm>
            <a:off x="4526280" y="4251960"/>
            <a:ext cx="3246120" cy="594360"/>
          </a:xfrm>
          <a:prstGeom prst="rect">
            <a:avLst/>
          </a:prstGeom>
          <a:noFill/>
        </p:spPr>
        <p:txBody>
          <a:bodyPr wrap="square" anchor="t" lIns="0" rIns="0" tIns="0" bIns="0">
            <a:spAutoFit/>
          </a:bodyPr>
          <a:lstStyle/>
          <a:p>
            <a:pPr algn="ctr">
              <a:lnSpc>
                <a:spcPct val="145000"/>
              </a:lnSpc>
            </a:pPr>
            <a:r>
              <a:rPr sz="1100" b="0">
                <a:solidFill>
                  <a:srgbClr val="1A1A1A"/>
                </a:solidFill>
                <a:latin typeface="Hiragino Sans"/>
                <a:ea typeface="Hiragino Sans"/>
                <a:cs typeface="Hiragino Sans"/>
              </a:rPr>
              <a:t>Ads Quality 改善 (Meta公式測定)</a:t>
            </a:r>
          </a:p>
        </p:txBody>
      </p:sp>
      <p:sp>
        <p:nvSpPr>
          <p:cNvPr id="21" name="Rounded Rectangle 20"/>
          <p:cNvSpPr/>
          <p:nvPr/>
        </p:nvSpPr>
        <p:spPr>
          <a:xfrm>
            <a:off x="8046720" y="3200400"/>
            <a:ext cx="3611880" cy="169164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46720" y="3200400"/>
            <a:ext cx="91440" cy="16916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320" y="3429000"/>
            <a:ext cx="3246120" cy="685800"/>
          </a:xfrm>
          <a:prstGeom prst="rect">
            <a:avLst/>
          </a:prstGeom>
          <a:noFill/>
        </p:spPr>
        <p:txBody>
          <a:bodyPr wrap="square" anchor="t" lIns="0" rIns="0" tIns="0" bIns="0">
            <a:spAutoFit/>
          </a:bodyPr>
          <a:lstStyle/>
          <a:p>
            <a:pPr algn="ctr">
              <a:lnSpc>
                <a:spcPct val="100000"/>
              </a:lnSpc>
            </a:pPr>
            <a:r>
              <a:rPr sz="4200" b="1">
                <a:solidFill>
                  <a:srgbClr val="E87722"/>
                </a:solidFill>
                <a:latin typeface="Helvetica Neue"/>
                <a:ea typeface="Helvetica Neue"/>
                <a:cs typeface="Helvetica Neue"/>
              </a:rPr>
              <a:t>UP</a:t>
            </a:r>
          </a:p>
        </p:txBody>
      </p:sp>
      <p:sp>
        <p:nvSpPr>
          <p:cNvPr id="24" name="TextBox 23"/>
          <p:cNvSpPr txBox="1"/>
          <p:nvPr/>
        </p:nvSpPr>
        <p:spPr>
          <a:xfrm>
            <a:off x="8275320" y="4251960"/>
            <a:ext cx="3246120" cy="594360"/>
          </a:xfrm>
          <a:prstGeom prst="rect">
            <a:avLst/>
          </a:prstGeom>
          <a:noFill/>
        </p:spPr>
        <p:txBody>
          <a:bodyPr wrap="square" anchor="t" lIns="0" rIns="0" tIns="0" bIns="0">
            <a:spAutoFit/>
          </a:bodyPr>
          <a:lstStyle/>
          <a:p>
            <a:pPr algn="ctr">
              <a:lnSpc>
                <a:spcPct val="145000"/>
              </a:lnSpc>
            </a:pPr>
            <a:r>
              <a:rPr sz="1100" b="0">
                <a:solidFill>
                  <a:srgbClr val="1A1A1A"/>
                </a:solidFill>
                <a:latin typeface="Hiragino Sans"/>
                <a:ea typeface="Hiragino Sans"/>
                <a:cs typeface="Hiragino Sans"/>
              </a:rPr>
              <a:t>Advantage+ × GenAI クリエイティブ効果増幅</a:t>
            </a:r>
          </a:p>
        </p:txBody>
      </p:sp>
      <p:sp>
        <p:nvSpPr>
          <p:cNvPr id="25" name="Rounded Rectangle 24"/>
          <p:cNvSpPr/>
          <p:nvPr/>
        </p:nvSpPr>
        <p:spPr>
          <a:xfrm>
            <a:off x="548640" y="5074920"/>
            <a:ext cx="11109960" cy="128016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5212080"/>
            <a:ext cx="10058400" cy="320040"/>
          </a:xfrm>
          <a:prstGeom prst="rect">
            <a:avLst/>
          </a:prstGeom>
          <a:noFill/>
        </p:spPr>
        <p:txBody>
          <a:bodyPr wrap="square" anchor="t" lIns="0" rIns="0" tIns="0" bIns="0">
            <a:spAutoFit/>
          </a:bodyPr>
          <a:lstStyle/>
          <a:p>
            <a:pPr algn="l">
              <a:lnSpc>
                <a:spcPct val="115000"/>
              </a:lnSpc>
            </a:pPr>
            <a:r>
              <a:rPr sz="1200" b="1">
                <a:solidFill>
                  <a:srgbClr val="E87722"/>
                </a:solidFill>
                <a:latin typeface="Hiragino Sans"/>
                <a:ea typeface="Hiragino Sans"/>
                <a:cs typeface="Hiragino Sans"/>
              </a:rPr>
              <a:t>💡 運用者にとっての含意</a:t>
            </a:r>
          </a:p>
        </p:txBody>
      </p:sp>
      <p:sp>
        <p:nvSpPr>
          <p:cNvPr id="27" name="TextBox 26"/>
          <p:cNvSpPr txBox="1"/>
          <p:nvPr/>
        </p:nvSpPr>
        <p:spPr>
          <a:xfrm>
            <a:off x="777240" y="5532120"/>
            <a:ext cx="10972800" cy="777240"/>
          </a:xfrm>
          <a:prstGeom prst="rect">
            <a:avLst/>
          </a:prstGeom>
          <a:noFill/>
        </p:spPr>
        <p:txBody>
          <a:bodyPr wrap="square" anchor="t" lIns="0" rIns="0" tIns="0" bIns="0">
            <a:spAutoFit/>
          </a:bodyPr>
          <a:lstStyle/>
          <a:p>
            <a:pPr algn="l">
              <a:lnSpc>
                <a:spcPct val="155000"/>
              </a:lnSpc>
            </a:pPr>
            <a:r>
              <a:rPr sz="1100" b="0">
                <a:solidFill>
                  <a:srgbClr val="FFFFFF"/>
                </a:solidFill>
                <a:latin typeface="Hiragino Sans"/>
                <a:ea typeface="Hiragino Sans"/>
                <a:cs typeface="Hiragino Sans"/>
              </a:rPr>
              <a:t>• 運用者ができる工夫の余地は減少 — 配信ML自体が桁違いに賢くなった</a:t>
            </a:r>
          </a:p>
          <a:p>
            <a:pPr algn="l">
              <a:lnSpc>
                <a:spcPct val="155000"/>
              </a:lnSpc>
            </a:pPr>
            <a:r>
              <a:rPr sz="1100" b="0">
                <a:solidFill>
                  <a:srgbClr val="FFFFFF"/>
                </a:solidFill>
                <a:latin typeface="Hiragino Sans"/>
                <a:ea typeface="Hiragino Sans"/>
                <a:cs typeface="Hiragino Sans"/>
              </a:rPr>
              <a:t>• クリエイティブの多様性が一段と効く — AIがより細かくマッチングするため『多様な素材』が前提</a:t>
            </a:r>
          </a:p>
          <a:p>
            <a:pPr algn="l">
              <a:lnSpc>
                <a:spcPct val="155000"/>
              </a:lnSpc>
            </a:pPr>
            <a:r>
              <a:rPr sz="1100" b="0">
                <a:solidFill>
                  <a:srgbClr val="FFFFFF"/>
                </a:solidFill>
                <a:latin typeface="Hiragino Sans"/>
                <a:ea typeface="Hiragino Sans"/>
                <a:cs typeface="Hiragino Sans"/>
              </a:rPr>
              <a:t>• Audience Signal / Custom Audience の質が以前にも増して効く</a:t>
            </a:r>
          </a:p>
          <a:p>
            <a:pPr algn="l">
              <a:lnSpc>
                <a:spcPct val="155000"/>
              </a:lnSpc>
            </a:pPr>
            <a:r>
              <a:rPr sz="1100" b="0">
                <a:solidFill>
                  <a:srgbClr val="FFFFFF"/>
                </a:solidFill>
                <a:latin typeface="Hiragino Sans"/>
                <a:ea typeface="Hiragino Sans"/>
                <a:cs typeface="Hiragino Sans"/>
              </a:rPr>
              <a:t>• Andromeda は段階展開 — 全アカウントで完全適用は 2025-2026 にかけて段階</a:t>
            </a:r>
          </a:p>
        </p:txBody>
      </p:sp>
      <p:sp>
        <p:nvSpPr>
          <p:cNvPr id="28" name="TextBox 27"/>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GEM (Generative Engagement Model) と Andromeda</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クリエイティブ理解＋ユーザー意図予測の生成モデル</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P63 / 250</a:t>
            </a:r>
          </a:p>
        </p:txBody>
      </p:sp>
      <p:sp>
        <p:nvSpPr>
          <p:cNvPr id="8" name="TextBox 7"/>
          <p:cNvSpPr txBox="1"/>
          <p:nvPr/>
        </p:nvSpPr>
        <p:spPr>
          <a:xfrm>
            <a:off x="548640" y="1417320"/>
            <a:ext cx="1097280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Andromeda × GEM の2層構造</a:t>
            </a:r>
          </a:p>
        </p:txBody>
      </p:sp>
      <p:sp>
        <p:nvSpPr>
          <p:cNvPr id="9" name="Rounded Rectangle 8"/>
          <p:cNvSpPr/>
          <p:nvPr/>
        </p:nvSpPr>
        <p:spPr>
          <a:xfrm>
            <a:off x="548640" y="1874519"/>
            <a:ext cx="11109960" cy="146304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011680"/>
            <a:ext cx="10058400" cy="365760"/>
          </a:xfrm>
          <a:prstGeom prst="rect">
            <a:avLst/>
          </a:prstGeom>
          <a:noFill/>
        </p:spPr>
        <p:txBody>
          <a:bodyPr wrap="square" anchor="t" lIns="0" rIns="0" tIns="0" bIns="0">
            <a:spAutoFit/>
          </a:bodyPr>
          <a:lstStyle/>
          <a:p>
            <a:pPr algn="l">
              <a:lnSpc>
                <a:spcPct val="115000"/>
              </a:lnSpc>
            </a:pPr>
            <a:r>
              <a:rPr sz="1400" b="1">
                <a:solidFill>
                  <a:srgbClr val="E87722"/>
                </a:solidFill>
                <a:latin typeface="Helvetica Neue"/>
                <a:ea typeface="Helvetica Neue"/>
                <a:cs typeface="Helvetica Neue"/>
              </a:rPr>
              <a:t>LAYER 1 — Andromeda (Retrieval)</a:t>
            </a:r>
          </a:p>
        </p:txBody>
      </p:sp>
      <p:sp>
        <p:nvSpPr>
          <p:cNvPr id="11" name="TextBox 10"/>
          <p:cNvSpPr txBox="1"/>
          <p:nvPr/>
        </p:nvSpPr>
        <p:spPr>
          <a:xfrm>
            <a:off x="777240" y="2423160"/>
            <a:ext cx="10972800" cy="777240"/>
          </a:xfrm>
          <a:prstGeom prst="rect">
            <a:avLst/>
          </a:prstGeom>
          <a:noFill/>
        </p:spPr>
        <p:txBody>
          <a:bodyPr wrap="square" anchor="t" lIns="0" rIns="0" tIns="0" bIns="0">
            <a:spAutoFit/>
          </a:bodyPr>
          <a:lstStyle/>
          <a:p>
            <a:pPr algn="l">
              <a:lnSpc>
                <a:spcPct val="150000"/>
              </a:lnSpc>
            </a:pPr>
            <a:r>
              <a:rPr sz="1100" b="0">
                <a:solidFill>
                  <a:srgbClr val="FFFFFF"/>
                </a:solidFill>
                <a:latin typeface="Hiragino Sans"/>
                <a:ea typeface="Hiragino Sans"/>
                <a:cs typeface="Hiragino Sans"/>
              </a:rPr>
              <a:t>数千万件の広告候補プールから、ユーザーに見せる数千件の候補を絞り込む。</a:t>
            </a:r>
          </a:p>
          <a:p>
            <a:pPr algn="l">
              <a:lnSpc>
                <a:spcPct val="150000"/>
              </a:lnSpc>
            </a:pPr>
            <a:r>
              <a:rPr sz="1100" b="0">
                <a:solidFill>
                  <a:srgbClr val="FFFFFF"/>
                </a:solidFill>
                <a:latin typeface="Hiragino Sans"/>
                <a:ea typeface="Hiragino Sans"/>
                <a:cs typeface="Hiragino Sans"/>
              </a:rPr>
              <a:t>MTIA + Grace Hopper で 10,000x モデル複雑化。前段の効率化が後段の精度を上げる</a:t>
            </a:r>
          </a:p>
        </p:txBody>
      </p:sp>
      <p:sp>
        <p:nvSpPr>
          <p:cNvPr id="12" name="Down Arrow 11"/>
          <p:cNvSpPr/>
          <p:nvPr/>
        </p:nvSpPr>
        <p:spPr>
          <a:xfrm>
            <a:off x="5852160" y="3383280"/>
            <a:ext cx="457200" cy="365760"/>
          </a:xfrm>
          <a:prstGeom prst="downArrow">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48640" y="3794760"/>
            <a:ext cx="11109960" cy="1463040"/>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931920"/>
            <a:ext cx="10058400" cy="365760"/>
          </a:xfrm>
          <a:prstGeom prst="rect">
            <a:avLst/>
          </a:prstGeom>
          <a:noFill/>
        </p:spPr>
        <p:txBody>
          <a:bodyPr wrap="square" anchor="t" lIns="0" rIns="0" tIns="0" bIns="0">
            <a:spAutoFit/>
          </a:bodyPr>
          <a:lstStyle/>
          <a:p>
            <a:pPr algn="l">
              <a:lnSpc>
                <a:spcPct val="115000"/>
              </a:lnSpc>
            </a:pPr>
            <a:r>
              <a:rPr sz="1400" b="1">
                <a:solidFill>
                  <a:srgbClr val="FFFFFF"/>
                </a:solidFill>
                <a:latin typeface="Helvetica Neue"/>
                <a:ea typeface="Helvetica Neue"/>
                <a:cs typeface="Helvetica Neue"/>
              </a:rPr>
              <a:t>LAYER 2 — GEM (Generative Engagement Model)</a:t>
            </a:r>
          </a:p>
        </p:txBody>
      </p:sp>
      <p:sp>
        <p:nvSpPr>
          <p:cNvPr id="15" name="TextBox 14"/>
          <p:cNvSpPr txBox="1"/>
          <p:nvPr/>
        </p:nvSpPr>
        <p:spPr>
          <a:xfrm>
            <a:off x="777240" y="4343400"/>
            <a:ext cx="10972800" cy="777240"/>
          </a:xfrm>
          <a:prstGeom prst="rect">
            <a:avLst/>
          </a:prstGeom>
          <a:noFill/>
        </p:spPr>
        <p:txBody>
          <a:bodyPr wrap="square" anchor="t" lIns="0" rIns="0" tIns="0" bIns="0">
            <a:spAutoFit/>
          </a:bodyPr>
          <a:lstStyle/>
          <a:p>
            <a:pPr algn="l">
              <a:lnSpc>
                <a:spcPct val="150000"/>
              </a:lnSpc>
            </a:pPr>
            <a:r>
              <a:rPr sz="1100" b="0">
                <a:solidFill>
                  <a:srgbClr val="FFFFFF"/>
                </a:solidFill>
                <a:latin typeface="Hiragino Sans"/>
                <a:ea typeface="Hiragino Sans"/>
                <a:cs typeface="Hiragino Sans"/>
              </a:rPr>
              <a:t>クリエイティブの内容理解 + ユーザーの意図予測を統合。</a:t>
            </a:r>
          </a:p>
          <a:p>
            <a:pPr algn="l">
              <a:lnSpc>
                <a:spcPct val="150000"/>
              </a:lnSpc>
            </a:pPr>
            <a:r>
              <a:rPr sz="1100" b="0">
                <a:solidFill>
                  <a:srgbClr val="FFFFFF"/>
                </a:solidFill>
                <a:latin typeface="Hiragino Sans"/>
                <a:ea typeface="Hiragino Sans"/>
                <a:cs typeface="Hiragino Sans"/>
              </a:rPr>
              <a:t>『この画像 + このテキスト + このユーザー → 何%エンゲージするか』の予測精度が向上</a:t>
            </a:r>
          </a:p>
        </p:txBody>
      </p:sp>
      <p:sp>
        <p:nvSpPr>
          <p:cNvPr id="16" name="Rounded Rectangle 15"/>
          <p:cNvSpPr/>
          <p:nvPr/>
        </p:nvSpPr>
        <p:spPr>
          <a:xfrm>
            <a:off x="548640" y="5440680"/>
            <a:ext cx="11109960" cy="91440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5532120"/>
            <a:ext cx="100584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 副業代行で押さえるポイント</a:t>
            </a:r>
          </a:p>
        </p:txBody>
      </p:sp>
      <p:sp>
        <p:nvSpPr>
          <p:cNvPr id="18" name="TextBox 17"/>
          <p:cNvSpPr txBox="1"/>
          <p:nvPr/>
        </p:nvSpPr>
        <p:spPr>
          <a:xfrm>
            <a:off x="777240" y="5852160"/>
            <a:ext cx="10972800" cy="45720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 クリエイティブの本数 + 多様性が AI 学習を加速 — 同じ訴求を画像・動画で量産</a:t>
            </a:r>
          </a:p>
          <a:p>
            <a:pPr algn="l">
              <a:lnSpc>
                <a:spcPct val="150000"/>
              </a:lnSpc>
            </a:pPr>
            <a:r>
              <a:rPr sz="1100" b="0">
                <a:solidFill>
                  <a:srgbClr val="1A1A1A"/>
                </a:solidFill>
                <a:latin typeface="Hiragino Sans"/>
                <a:ea typeface="Hiragino Sans"/>
                <a:cs typeface="Hiragino Sans"/>
              </a:rPr>
              <a:t>• Audience Signal の質 + Custom Audience が予測精度向上に直結</a:t>
            </a:r>
          </a:p>
        </p:txBody>
      </p:sp>
      <p:sp>
        <p:nvSpPr>
          <p:cNvPr id="19" name="TextBox 18"/>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Lattice — ML スタック統合 (2024)</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ランキングモデルの統合で Quality +12%, CV +6%</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P64 / 250</a:t>
            </a:r>
          </a:p>
        </p:txBody>
      </p:sp>
      <p:sp>
        <p:nvSpPr>
          <p:cNvPr id="8" name="Rounded Rectangle 7"/>
          <p:cNvSpPr/>
          <p:nvPr/>
        </p:nvSpPr>
        <p:spPr>
          <a:xfrm>
            <a:off x="548640" y="1371600"/>
            <a:ext cx="11109960" cy="91440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08760"/>
            <a:ext cx="10972800" cy="731520"/>
          </a:xfrm>
          <a:prstGeom prst="rect">
            <a:avLst/>
          </a:prstGeom>
          <a:noFill/>
        </p:spPr>
        <p:txBody>
          <a:bodyPr wrap="square" anchor="t" lIns="0" rIns="0" tIns="0" bIns="0">
            <a:spAutoFit/>
          </a:bodyPr>
          <a:lstStyle/>
          <a:p>
            <a:pPr algn="l">
              <a:lnSpc>
                <a:spcPct val="150000"/>
              </a:lnSpc>
            </a:pPr>
            <a:r>
              <a:rPr sz="1200" b="0">
                <a:solidFill>
                  <a:srgbClr val="FFFFFF"/>
                </a:solidFill>
                <a:latin typeface="Hiragino Sans"/>
                <a:ea typeface="Hiragino Sans"/>
                <a:cs typeface="Hiragino Sans"/>
              </a:rPr>
              <a:t>Lattice : Meta内の複数のランキングモデルを統合した ML スタック。</a:t>
            </a:r>
          </a:p>
          <a:p>
            <a:pPr algn="l">
              <a:lnSpc>
                <a:spcPct val="150000"/>
              </a:lnSpc>
            </a:pPr>
            <a:r>
              <a:rPr sz="1200" b="0">
                <a:solidFill>
                  <a:srgbClr val="FFFFFF"/>
                </a:solidFill>
                <a:latin typeface="Hiragino Sans"/>
                <a:ea typeface="Hiragino Sans"/>
                <a:cs typeface="Hiragino Sans"/>
              </a:rPr>
              <a:t>従来は配信目的別に別モデルだったものを、共通基盤上で訓練・推論する設計に</a:t>
            </a:r>
          </a:p>
        </p:txBody>
      </p:sp>
      <p:sp>
        <p:nvSpPr>
          <p:cNvPr id="10" name="TextBox 9"/>
          <p:cNvSpPr txBox="1"/>
          <p:nvPr/>
        </p:nvSpPr>
        <p:spPr>
          <a:xfrm>
            <a:off x="548640" y="2423160"/>
            <a:ext cx="1097280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Lattice 導入前 vs 後</a:t>
            </a:r>
          </a:p>
        </p:txBody>
      </p:sp>
      <p:sp>
        <p:nvSpPr>
          <p:cNvPr id="11" name="Rounded Rectangle 10"/>
          <p:cNvSpPr/>
          <p:nvPr/>
        </p:nvSpPr>
        <p:spPr>
          <a:xfrm>
            <a:off x="548640" y="2834640"/>
            <a:ext cx="5440680" cy="228600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971800"/>
            <a:ext cx="5029200" cy="320040"/>
          </a:xfrm>
          <a:prstGeom prst="rect">
            <a:avLst/>
          </a:prstGeom>
          <a:noFill/>
        </p:spPr>
        <p:txBody>
          <a:bodyPr wrap="square" anchor="t" lIns="0" rIns="0" tIns="0" bIns="0">
            <a:spAutoFit/>
          </a:bodyPr>
          <a:lstStyle/>
          <a:p>
            <a:pPr algn="l">
              <a:lnSpc>
                <a:spcPct val="115000"/>
              </a:lnSpc>
            </a:pPr>
            <a:r>
              <a:rPr sz="1300" b="1">
                <a:solidFill>
                  <a:srgbClr val="5A6A80"/>
                </a:solidFill>
                <a:latin typeface="Hiragino Sans"/>
                <a:ea typeface="Hiragino Sans"/>
                <a:cs typeface="Hiragino Sans"/>
              </a:rPr>
              <a:t>Before (〜2023)</a:t>
            </a:r>
          </a:p>
        </p:txBody>
      </p:sp>
      <p:sp>
        <p:nvSpPr>
          <p:cNvPr id="13" name="TextBox 12"/>
          <p:cNvSpPr txBox="1"/>
          <p:nvPr/>
        </p:nvSpPr>
        <p:spPr>
          <a:xfrm>
            <a:off x="777240" y="3337560"/>
            <a:ext cx="5029200" cy="1691640"/>
          </a:xfrm>
          <a:prstGeom prst="rect">
            <a:avLst/>
          </a:prstGeom>
          <a:noFill/>
        </p:spPr>
        <p:txBody>
          <a:bodyPr wrap="square" anchor="t" lIns="0" rIns="0" tIns="0" bIns="0">
            <a:spAutoFit/>
          </a:bodyPr>
          <a:lstStyle/>
          <a:p>
            <a:pPr algn="l">
              <a:lnSpc>
                <a:spcPct val="165000"/>
              </a:lnSpc>
            </a:pPr>
            <a:r>
              <a:rPr sz="1100" b="0">
                <a:solidFill>
                  <a:srgbClr val="1A1A1A"/>
                </a:solidFill>
                <a:latin typeface="Hiragino Sans"/>
                <a:ea typeface="Hiragino Sans"/>
                <a:cs typeface="Hiragino Sans"/>
              </a:rPr>
              <a:t>• 配信目的ごとに個別MLモデル</a:t>
            </a:r>
          </a:p>
          <a:p>
            <a:pPr algn="l">
              <a:lnSpc>
                <a:spcPct val="165000"/>
              </a:lnSpc>
            </a:pPr>
            <a:r>
              <a:rPr sz="1100" b="0">
                <a:solidFill>
                  <a:srgbClr val="1A1A1A"/>
                </a:solidFill>
                <a:latin typeface="Hiragino Sans"/>
                <a:ea typeface="Hiragino Sans"/>
                <a:cs typeface="Hiragino Sans"/>
              </a:rPr>
              <a:t>• 学習データのサイロ化</a:t>
            </a:r>
          </a:p>
          <a:p>
            <a:pPr algn="l">
              <a:lnSpc>
                <a:spcPct val="165000"/>
              </a:lnSpc>
            </a:pPr>
            <a:r>
              <a:rPr sz="1100" b="0">
                <a:solidFill>
                  <a:srgbClr val="1A1A1A"/>
                </a:solidFill>
                <a:latin typeface="Hiragino Sans"/>
                <a:ea typeface="Hiragino Sans"/>
                <a:cs typeface="Hiragino Sans"/>
              </a:rPr>
              <a:t>• クロスチャネル学習が困難</a:t>
            </a:r>
          </a:p>
          <a:p>
            <a:pPr algn="l">
              <a:lnSpc>
                <a:spcPct val="165000"/>
              </a:lnSpc>
            </a:pPr>
            <a:r>
              <a:rPr sz="1100" b="0">
                <a:solidFill>
                  <a:srgbClr val="1A1A1A"/>
                </a:solidFill>
                <a:latin typeface="Hiragino Sans"/>
                <a:ea typeface="Hiragino Sans"/>
                <a:cs typeface="Hiragino Sans"/>
              </a:rPr>
              <a:t>• 新機能追加に時間がかかる</a:t>
            </a:r>
          </a:p>
        </p:txBody>
      </p:sp>
      <p:sp>
        <p:nvSpPr>
          <p:cNvPr id="14" name="Rounded Rectangle 13"/>
          <p:cNvSpPr/>
          <p:nvPr/>
        </p:nvSpPr>
        <p:spPr>
          <a:xfrm>
            <a:off x="6217920" y="2834640"/>
            <a:ext cx="5440680" cy="2286000"/>
          </a:xfrm>
          <a:prstGeom prst="roundRect">
            <a:avLst>
              <a:gd name="adj" fmla="val 6000"/>
            </a:avLst>
          </a:prstGeom>
          <a:solidFill>
            <a:srgbClr val="FFF3E6"/>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2971800"/>
            <a:ext cx="5029200" cy="320040"/>
          </a:xfrm>
          <a:prstGeom prst="rect">
            <a:avLst/>
          </a:prstGeom>
          <a:noFill/>
        </p:spPr>
        <p:txBody>
          <a:bodyPr wrap="square" anchor="t" lIns="0" rIns="0" tIns="0" bIns="0">
            <a:spAutoFit/>
          </a:bodyPr>
          <a:lstStyle/>
          <a:p>
            <a:pPr algn="l">
              <a:lnSpc>
                <a:spcPct val="115000"/>
              </a:lnSpc>
            </a:pPr>
            <a:r>
              <a:rPr sz="1300" b="1">
                <a:solidFill>
                  <a:srgbClr val="B85E1A"/>
                </a:solidFill>
                <a:latin typeface="Hiragino Sans"/>
                <a:ea typeface="Hiragino Sans"/>
                <a:cs typeface="Hiragino Sans"/>
              </a:rPr>
              <a:t>After (Lattice 2024〜)</a:t>
            </a:r>
          </a:p>
        </p:txBody>
      </p:sp>
      <p:sp>
        <p:nvSpPr>
          <p:cNvPr id="16" name="TextBox 15"/>
          <p:cNvSpPr txBox="1"/>
          <p:nvPr/>
        </p:nvSpPr>
        <p:spPr>
          <a:xfrm>
            <a:off x="6446520" y="3337560"/>
            <a:ext cx="5029200" cy="1691640"/>
          </a:xfrm>
          <a:prstGeom prst="rect">
            <a:avLst/>
          </a:prstGeom>
          <a:noFill/>
        </p:spPr>
        <p:txBody>
          <a:bodyPr wrap="square" anchor="t" lIns="0" rIns="0" tIns="0" bIns="0">
            <a:spAutoFit/>
          </a:bodyPr>
          <a:lstStyle/>
          <a:p>
            <a:pPr algn="l">
              <a:lnSpc>
                <a:spcPct val="165000"/>
              </a:lnSpc>
            </a:pPr>
            <a:r>
              <a:rPr sz="1100" b="0">
                <a:solidFill>
                  <a:srgbClr val="1A1A1A"/>
                </a:solidFill>
                <a:latin typeface="Hiragino Sans"/>
                <a:ea typeface="Hiragino Sans"/>
                <a:cs typeface="Hiragino Sans"/>
              </a:rPr>
              <a:t>• 統合MLスタックで全目的をカバー</a:t>
            </a:r>
          </a:p>
          <a:p>
            <a:pPr algn="l">
              <a:lnSpc>
                <a:spcPct val="165000"/>
              </a:lnSpc>
            </a:pPr>
            <a:r>
              <a:rPr sz="1100" b="0">
                <a:solidFill>
                  <a:srgbClr val="1A1A1A"/>
                </a:solidFill>
                <a:latin typeface="Hiragino Sans"/>
                <a:ea typeface="Hiragino Sans"/>
                <a:cs typeface="Hiragino Sans"/>
              </a:rPr>
              <a:t>• データ・特徴量の共有</a:t>
            </a:r>
          </a:p>
          <a:p>
            <a:pPr algn="l">
              <a:lnSpc>
                <a:spcPct val="165000"/>
              </a:lnSpc>
            </a:pPr>
            <a:r>
              <a:rPr sz="1100" b="0">
                <a:solidFill>
                  <a:srgbClr val="1A1A1A"/>
                </a:solidFill>
                <a:latin typeface="Hiragino Sans"/>
                <a:ea typeface="Hiragino Sans"/>
                <a:cs typeface="Hiragino Sans"/>
              </a:rPr>
              <a:t>• 配信全体の最適化が可能</a:t>
            </a:r>
          </a:p>
          <a:p>
            <a:pPr algn="l">
              <a:lnSpc>
                <a:spcPct val="165000"/>
              </a:lnSpc>
            </a:pPr>
            <a:r>
              <a:rPr sz="1100" b="0">
                <a:solidFill>
                  <a:srgbClr val="1A1A1A"/>
                </a:solidFill>
                <a:latin typeface="Hiragino Sans"/>
                <a:ea typeface="Hiragino Sans"/>
                <a:cs typeface="Hiragino Sans"/>
              </a:rPr>
              <a:t>• 新機能 (Advantage+/Andromeda) 即連携</a:t>
            </a:r>
          </a:p>
        </p:txBody>
      </p:sp>
      <p:sp>
        <p:nvSpPr>
          <p:cNvPr id="17" name="Rounded Rectangle 16"/>
          <p:cNvSpPr/>
          <p:nvPr/>
        </p:nvSpPr>
        <p:spPr>
          <a:xfrm>
            <a:off x="548640" y="5349240"/>
            <a:ext cx="11109960" cy="1005840"/>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5440680"/>
            <a:ext cx="7315200" cy="320040"/>
          </a:xfrm>
          <a:prstGeom prst="rect">
            <a:avLst/>
          </a:prstGeom>
          <a:noFill/>
        </p:spPr>
        <p:txBody>
          <a:bodyPr wrap="square" anchor="t" lIns="0" rIns="0" tIns="0" bIns="0">
            <a:spAutoFit/>
          </a:bodyPr>
          <a:lstStyle/>
          <a:p>
            <a:pPr algn="l">
              <a:lnSpc>
                <a:spcPct val="115000"/>
              </a:lnSpc>
            </a:pPr>
            <a:r>
              <a:rPr sz="1200" b="1">
                <a:solidFill>
                  <a:srgbClr val="FFFFFF"/>
                </a:solidFill>
                <a:latin typeface="Hiragino Sans"/>
                <a:ea typeface="Hiragino Sans"/>
                <a:cs typeface="Hiragino Sans"/>
              </a:rPr>
              <a:t>Meta 公式の Lattice 効果</a:t>
            </a:r>
          </a:p>
        </p:txBody>
      </p:sp>
      <p:sp>
        <p:nvSpPr>
          <p:cNvPr id="19" name="TextBox 18"/>
          <p:cNvSpPr txBox="1"/>
          <p:nvPr/>
        </p:nvSpPr>
        <p:spPr>
          <a:xfrm>
            <a:off x="777240" y="5760720"/>
            <a:ext cx="10972800" cy="502920"/>
          </a:xfrm>
          <a:prstGeom prst="rect">
            <a:avLst/>
          </a:prstGeom>
          <a:noFill/>
        </p:spPr>
        <p:txBody>
          <a:bodyPr wrap="square" anchor="t" lIns="0" rIns="0" tIns="0" bIns="0">
            <a:spAutoFit/>
          </a:bodyPr>
          <a:lstStyle/>
          <a:p>
            <a:pPr algn="l">
              <a:lnSpc>
                <a:spcPct val="115000"/>
              </a:lnSpc>
            </a:pPr>
            <a:r>
              <a:rPr sz="1500" b="1">
                <a:solidFill>
                  <a:srgbClr val="FFFFFF"/>
                </a:solidFill>
                <a:latin typeface="Helvetica Neue"/>
                <a:ea typeface="Helvetica Neue"/>
                <a:cs typeface="Helvetica Neue"/>
              </a:rPr>
              <a:t>Ad Quality : +12%   |   Conversions : +6%   (Meta 公式測定 / 平均値)</a:t>
            </a:r>
          </a:p>
        </p:txBody>
      </p:sp>
      <p:sp>
        <p:nvSpPr>
          <p:cNvPr id="20" name="TextBox 19"/>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CAPI と CAPI Gateway</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Conversion API は Meta 計測の業界標準</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P65 / 250</a:t>
            </a:r>
          </a:p>
        </p:txBody>
      </p:sp>
      <p:sp>
        <p:nvSpPr>
          <p:cNvPr id="8" name="Rounded Rectangle 7"/>
          <p:cNvSpPr/>
          <p:nvPr/>
        </p:nvSpPr>
        <p:spPr>
          <a:xfrm>
            <a:off x="548640" y="1371600"/>
            <a:ext cx="11109960" cy="91440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08760"/>
            <a:ext cx="10972800" cy="731520"/>
          </a:xfrm>
          <a:prstGeom prst="rect">
            <a:avLst/>
          </a:prstGeom>
          <a:noFill/>
        </p:spPr>
        <p:txBody>
          <a:bodyPr wrap="square" anchor="t" lIns="0" rIns="0" tIns="0" bIns="0">
            <a:spAutoFit/>
          </a:bodyPr>
          <a:lstStyle/>
          <a:p>
            <a:pPr algn="l">
              <a:lnSpc>
                <a:spcPct val="150000"/>
              </a:lnSpc>
            </a:pPr>
            <a:r>
              <a:rPr sz="1200" b="0">
                <a:solidFill>
                  <a:srgbClr val="FFFFFF"/>
                </a:solidFill>
                <a:latin typeface="Hiragino Sans"/>
                <a:ea typeface="Hiragino Sans"/>
                <a:cs typeface="Hiragino Sans"/>
              </a:rPr>
              <a:t>CAPI = Conversion API : ブラウザ依存の Meta Pixel をサーバーサイドで補強する仕組み。</a:t>
            </a:r>
          </a:p>
          <a:p>
            <a:pPr algn="l">
              <a:lnSpc>
                <a:spcPct val="150000"/>
              </a:lnSpc>
            </a:pPr>
            <a:r>
              <a:rPr sz="1200" b="0">
                <a:solidFill>
                  <a:srgbClr val="FFFFFF"/>
                </a:solidFill>
                <a:latin typeface="Hiragino Sans"/>
                <a:ea typeface="Hiragino Sans"/>
                <a:cs typeface="Hiragino Sans"/>
              </a:rPr>
              <a:t>iOS/ATTシグナル減対策 + 計測精度復元の業界標準</a:t>
            </a:r>
          </a:p>
        </p:txBody>
      </p:sp>
      <p:sp>
        <p:nvSpPr>
          <p:cNvPr id="10" name="TextBox 9"/>
          <p:cNvSpPr txBox="1"/>
          <p:nvPr/>
        </p:nvSpPr>
        <p:spPr>
          <a:xfrm>
            <a:off x="548640" y="2423160"/>
            <a:ext cx="731520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3 つの実装パス</a:t>
            </a:r>
          </a:p>
        </p:txBody>
      </p:sp>
      <p:sp>
        <p:nvSpPr>
          <p:cNvPr id="11" name="Rounded Rectangle 10"/>
          <p:cNvSpPr/>
          <p:nvPr/>
        </p:nvSpPr>
        <p:spPr>
          <a:xfrm>
            <a:off x="548640" y="2880360"/>
            <a:ext cx="3611880" cy="2286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880360"/>
            <a:ext cx="3611880" cy="5486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999232"/>
            <a:ext cx="3246120" cy="365760"/>
          </a:xfrm>
          <a:prstGeom prst="rect">
            <a:avLst/>
          </a:prstGeom>
          <a:noFill/>
        </p:spPr>
        <p:txBody>
          <a:bodyPr wrap="square" anchor="t" lIns="0" rIns="0" tIns="0" bIns="0">
            <a:spAutoFit/>
          </a:bodyPr>
          <a:lstStyle/>
          <a:p>
            <a:pPr algn="l">
              <a:lnSpc>
                <a:spcPct val="115000"/>
              </a:lnSpc>
            </a:pPr>
            <a:r>
              <a:rPr sz="1400" b="1">
                <a:solidFill>
                  <a:srgbClr val="FFFFFF"/>
                </a:solidFill>
                <a:latin typeface="Helvetica Neue"/>
                <a:ea typeface="Helvetica Neue"/>
                <a:cs typeface="Helvetica Neue"/>
              </a:rPr>
              <a:t>Direct Integration</a:t>
            </a:r>
          </a:p>
        </p:txBody>
      </p:sp>
      <p:sp>
        <p:nvSpPr>
          <p:cNvPr id="14" name="TextBox 13"/>
          <p:cNvSpPr txBox="1"/>
          <p:nvPr/>
        </p:nvSpPr>
        <p:spPr>
          <a:xfrm>
            <a:off x="777240" y="3566160"/>
            <a:ext cx="3246120" cy="640080"/>
          </a:xfrm>
          <a:prstGeom prst="rect">
            <a:avLst/>
          </a:prstGeom>
          <a:noFill/>
        </p:spPr>
        <p:txBody>
          <a:bodyPr wrap="square" anchor="t" lIns="0" rIns="0" tIns="0" bIns="0">
            <a:spAutoFit/>
          </a:bodyPr>
          <a:lstStyle/>
          <a:p>
            <a:pPr algn="l">
              <a:lnSpc>
                <a:spcPct val="140000"/>
              </a:lnSpc>
            </a:pPr>
            <a:r>
              <a:rPr sz="1100" b="1">
                <a:solidFill>
                  <a:srgbClr val="0F2A4F"/>
                </a:solidFill>
                <a:latin typeface="Hiragino Sans"/>
                <a:ea typeface="Hiragino Sans"/>
                <a:cs typeface="Hiragino Sans"/>
              </a:rPr>
              <a:t>サーバーから直接APIを呼ぶ</a:t>
            </a:r>
          </a:p>
        </p:txBody>
      </p:sp>
      <p:sp>
        <p:nvSpPr>
          <p:cNvPr id="15" name="TextBox 14"/>
          <p:cNvSpPr txBox="1"/>
          <p:nvPr/>
        </p:nvSpPr>
        <p:spPr>
          <a:xfrm>
            <a:off x="777240" y="4251960"/>
            <a:ext cx="3246120" cy="868680"/>
          </a:xfrm>
          <a:prstGeom prst="rect">
            <a:avLst/>
          </a:prstGeom>
          <a:noFill/>
        </p:spPr>
        <p:txBody>
          <a:bodyPr wrap="square" anchor="t" lIns="0" rIns="0" tIns="0" bIns="0">
            <a:spAutoFit/>
          </a:bodyPr>
          <a:lstStyle/>
          <a:p>
            <a:pPr algn="l">
              <a:lnSpc>
                <a:spcPct val="155000"/>
              </a:lnSpc>
            </a:pPr>
            <a:r>
              <a:rPr sz="1000" b="0">
                <a:solidFill>
                  <a:srgbClr val="1A1A1A"/>
                </a:solidFill>
                <a:latin typeface="Hiragino Sans"/>
                <a:ea typeface="Hiragino Sans"/>
                <a:cs typeface="Hiragino Sans"/>
              </a:rPr>
              <a:t>実装難度: 高</a:t>
            </a:r>
          </a:p>
          <a:p>
            <a:pPr algn="l">
              <a:lnSpc>
                <a:spcPct val="155000"/>
              </a:lnSpc>
            </a:pPr>
            <a:r>
              <a:rPr sz="1000" b="0">
                <a:solidFill>
                  <a:srgbClr val="1A1A1A"/>
                </a:solidFill>
                <a:latin typeface="Hiragino Sans"/>
                <a:ea typeface="Hiragino Sans"/>
                <a:cs typeface="Hiragino Sans"/>
              </a:rPr>
              <a:t>柔軟性: 最大</a:t>
            </a:r>
          </a:p>
          <a:p>
            <a:pPr algn="l">
              <a:lnSpc>
                <a:spcPct val="155000"/>
              </a:lnSpc>
            </a:pPr>
            <a:r>
              <a:rPr sz="1000" b="0">
                <a:solidFill>
                  <a:srgbClr val="1A1A1A"/>
                </a:solidFill>
                <a:latin typeface="Hiragino Sans"/>
                <a:ea typeface="Hiragino Sans"/>
                <a:cs typeface="Hiragino Sans"/>
              </a:rPr>
              <a:t>LP・CMS開発者必須</a:t>
            </a:r>
          </a:p>
        </p:txBody>
      </p:sp>
      <p:sp>
        <p:nvSpPr>
          <p:cNvPr id="16" name="Rounded Rectangle 15"/>
          <p:cNvSpPr/>
          <p:nvPr/>
        </p:nvSpPr>
        <p:spPr>
          <a:xfrm>
            <a:off x="4297680" y="2880360"/>
            <a:ext cx="3611880" cy="2286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297680" y="2880360"/>
            <a:ext cx="3611880" cy="5486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26280" y="2999232"/>
            <a:ext cx="3246120" cy="365760"/>
          </a:xfrm>
          <a:prstGeom prst="rect">
            <a:avLst/>
          </a:prstGeom>
          <a:noFill/>
        </p:spPr>
        <p:txBody>
          <a:bodyPr wrap="square" anchor="t" lIns="0" rIns="0" tIns="0" bIns="0">
            <a:spAutoFit/>
          </a:bodyPr>
          <a:lstStyle/>
          <a:p>
            <a:pPr algn="l">
              <a:lnSpc>
                <a:spcPct val="115000"/>
              </a:lnSpc>
            </a:pPr>
            <a:r>
              <a:rPr sz="1400" b="1">
                <a:solidFill>
                  <a:srgbClr val="FFFFFF"/>
                </a:solidFill>
                <a:latin typeface="Helvetica Neue"/>
                <a:ea typeface="Helvetica Neue"/>
                <a:cs typeface="Helvetica Neue"/>
              </a:rPr>
              <a:t>CAPI Gateway</a:t>
            </a:r>
          </a:p>
        </p:txBody>
      </p:sp>
      <p:sp>
        <p:nvSpPr>
          <p:cNvPr id="19" name="TextBox 18"/>
          <p:cNvSpPr txBox="1"/>
          <p:nvPr/>
        </p:nvSpPr>
        <p:spPr>
          <a:xfrm>
            <a:off x="4526280" y="3566160"/>
            <a:ext cx="3246120" cy="640080"/>
          </a:xfrm>
          <a:prstGeom prst="rect">
            <a:avLst/>
          </a:prstGeom>
          <a:noFill/>
        </p:spPr>
        <p:txBody>
          <a:bodyPr wrap="square" anchor="t" lIns="0" rIns="0" tIns="0" bIns="0">
            <a:spAutoFit/>
          </a:bodyPr>
          <a:lstStyle/>
          <a:p>
            <a:pPr algn="l">
              <a:lnSpc>
                <a:spcPct val="140000"/>
              </a:lnSpc>
            </a:pPr>
            <a:r>
              <a:rPr sz="1100" b="1">
                <a:solidFill>
                  <a:srgbClr val="0F2A4F"/>
                </a:solidFill>
                <a:latin typeface="Hiragino Sans"/>
                <a:ea typeface="Hiragino Sans"/>
                <a:cs typeface="Hiragino Sans"/>
              </a:rPr>
              <a:t>AWS / Cloudflare 経由でホスティング</a:t>
            </a:r>
          </a:p>
        </p:txBody>
      </p:sp>
      <p:sp>
        <p:nvSpPr>
          <p:cNvPr id="20" name="TextBox 19"/>
          <p:cNvSpPr txBox="1"/>
          <p:nvPr/>
        </p:nvSpPr>
        <p:spPr>
          <a:xfrm>
            <a:off x="4526280" y="4251960"/>
            <a:ext cx="3246120" cy="868680"/>
          </a:xfrm>
          <a:prstGeom prst="rect">
            <a:avLst/>
          </a:prstGeom>
          <a:noFill/>
        </p:spPr>
        <p:txBody>
          <a:bodyPr wrap="square" anchor="t" lIns="0" rIns="0" tIns="0" bIns="0">
            <a:spAutoFit/>
          </a:bodyPr>
          <a:lstStyle/>
          <a:p>
            <a:pPr algn="l">
              <a:lnSpc>
                <a:spcPct val="155000"/>
              </a:lnSpc>
            </a:pPr>
            <a:r>
              <a:rPr sz="1000" b="0">
                <a:solidFill>
                  <a:srgbClr val="1A1A1A"/>
                </a:solidFill>
                <a:latin typeface="Hiragino Sans"/>
                <a:ea typeface="Hiragino Sans"/>
                <a:cs typeface="Hiragino Sans"/>
              </a:rPr>
              <a:t>実装難度: 中</a:t>
            </a:r>
          </a:p>
          <a:p>
            <a:pPr algn="l">
              <a:lnSpc>
                <a:spcPct val="155000"/>
              </a:lnSpc>
            </a:pPr>
            <a:r>
              <a:rPr sz="1000" b="0">
                <a:solidFill>
                  <a:srgbClr val="1A1A1A"/>
                </a:solidFill>
                <a:latin typeface="Hiragino Sans"/>
                <a:ea typeface="Hiragino Sans"/>
                <a:cs typeface="Hiragino Sans"/>
              </a:rPr>
              <a:t>DevOps知識要</a:t>
            </a:r>
          </a:p>
          <a:p>
            <a:pPr algn="l">
              <a:lnSpc>
                <a:spcPct val="155000"/>
              </a:lnSpc>
            </a:pPr>
            <a:r>
              <a:rPr sz="1000" b="0">
                <a:solidFill>
                  <a:srgbClr val="1A1A1A"/>
                </a:solidFill>
                <a:latin typeface="Hiragino Sans"/>
                <a:ea typeface="Hiragino Sans"/>
                <a:cs typeface="Hiragino Sans"/>
              </a:rPr>
              <a:t>メンテナンス少</a:t>
            </a:r>
          </a:p>
        </p:txBody>
      </p:sp>
      <p:sp>
        <p:nvSpPr>
          <p:cNvPr id="21" name="Rounded Rectangle 20"/>
          <p:cNvSpPr/>
          <p:nvPr/>
        </p:nvSpPr>
        <p:spPr>
          <a:xfrm>
            <a:off x="8046720" y="2880360"/>
            <a:ext cx="3611880" cy="2286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46720" y="2880360"/>
            <a:ext cx="3611880" cy="548640"/>
          </a:xfrm>
          <a:prstGeom prst="rect">
            <a:avLst/>
          </a:prstGeom>
          <a:solidFill>
            <a:srgbClr val="2B44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320" y="2999232"/>
            <a:ext cx="3246120" cy="365760"/>
          </a:xfrm>
          <a:prstGeom prst="rect">
            <a:avLst/>
          </a:prstGeom>
          <a:noFill/>
        </p:spPr>
        <p:txBody>
          <a:bodyPr wrap="square" anchor="t" lIns="0" rIns="0" tIns="0" bIns="0">
            <a:spAutoFit/>
          </a:bodyPr>
          <a:lstStyle/>
          <a:p>
            <a:pPr algn="l">
              <a:lnSpc>
                <a:spcPct val="115000"/>
              </a:lnSpc>
            </a:pPr>
            <a:r>
              <a:rPr sz="1400" b="1">
                <a:solidFill>
                  <a:srgbClr val="FFFFFF"/>
                </a:solidFill>
                <a:latin typeface="Helvetica Neue"/>
                <a:ea typeface="Helvetica Neue"/>
                <a:cs typeface="Helvetica Neue"/>
              </a:rPr>
              <a:t>Partner Integration</a:t>
            </a:r>
          </a:p>
        </p:txBody>
      </p:sp>
      <p:sp>
        <p:nvSpPr>
          <p:cNvPr id="24" name="TextBox 23"/>
          <p:cNvSpPr txBox="1"/>
          <p:nvPr/>
        </p:nvSpPr>
        <p:spPr>
          <a:xfrm>
            <a:off x="8275320" y="3566160"/>
            <a:ext cx="3246120" cy="640080"/>
          </a:xfrm>
          <a:prstGeom prst="rect">
            <a:avLst/>
          </a:prstGeom>
          <a:noFill/>
        </p:spPr>
        <p:txBody>
          <a:bodyPr wrap="square" anchor="t" lIns="0" rIns="0" tIns="0" bIns="0">
            <a:spAutoFit/>
          </a:bodyPr>
          <a:lstStyle/>
          <a:p>
            <a:pPr algn="l">
              <a:lnSpc>
                <a:spcPct val="140000"/>
              </a:lnSpc>
            </a:pPr>
            <a:r>
              <a:rPr sz="1100" b="1">
                <a:solidFill>
                  <a:srgbClr val="0F2A4F"/>
                </a:solidFill>
                <a:latin typeface="Hiragino Sans"/>
                <a:ea typeface="Hiragino Sans"/>
                <a:cs typeface="Hiragino Sans"/>
              </a:rPr>
              <a:t>Shopify / WooCommerce / WordPress</a:t>
            </a:r>
          </a:p>
          <a:p>
            <a:pPr algn="l">
              <a:lnSpc>
                <a:spcPct val="140000"/>
              </a:lnSpc>
            </a:pPr>
            <a:r>
              <a:rPr sz="1100" b="1">
                <a:solidFill>
                  <a:srgbClr val="0F2A4F"/>
                </a:solidFill>
                <a:latin typeface="Hiragino Sans"/>
                <a:ea typeface="Hiragino Sans"/>
                <a:cs typeface="Hiragino Sans"/>
              </a:rPr>
              <a:t>等のプラグイン</a:t>
            </a:r>
          </a:p>
        </p:txBody>
      </p:sp>
      <p:sp>
        <p:nvSpPr>
          <p:cNvPr id="25" name="TextBox 24"/>
          <p:cNvSpPr txBox="1"/>
          <p:nvPr/>
        </p:nvSpPr>
        <p:spPr>
          <a:xfrm>
            <a:off x="8275320" y="4251960"/>
            <a:ext cx="3246120" cy="868680"/>
          </a:xfrm>
          <a:prstGeom prst="rect">
            <a:avLst/>
          </a:prstGeom>
          <a:noFill/>
        </p:spPr>
        <p:txBody>
          <a:bodyPr wrap="square" anchor="t" lIns="0" rIns="0" tIns="0" bIns="0">
            <a:spAutoFit/>
          </a:bodyPr>
          <a:lstStyle/>
          <a:p>
            <a:pPr algn="l">
              <a:lnSpc>
                <a:spcPct val="155000"/>
              </a:lnSpc>
            </a:pPr>
            <a:r>
              <a:rPr sz="1000" b="0">
                <a:solidFill>
                  <a:srgbClr val="1A1A1A"/>
                </a:solidFill>
                <a:latin typeface="Hiragino Sans"/>
                <a:ea typeface="Hiragino Sans"/>
                <a:cs typeface="Hiragino Sans"/>
              </a:rPr>
              <a:t>実装難度: 低</a:t>
            </a:r>
          </a:p>
          <a:p>
            <a:pPr algn="l">
              <a:lnSpc>
                <a:spcPct val="155000"/>
              </a:lnSpc>
            </a:pPr>
            <a:r>
              <a:rPr sz="1000" b="0">
                <a:solidFill>
                  <a:srgbClr val="1A1A1A"/>
                </a:solidFill>
                <a:latin typeface="Hiragino Sans"/>
                <a:ea typeface="Hiragino Sans"/>
                <a:cs typeface="Hiragino Sans"/>
              </a:rPr>
              <a:t>機能制限あり</a:t>
            </a:r>
          </a:p>
          <a:p>
            <a:pPr algn="l">
              <a:lnSpc>
                <a:spcPct val="155000"/>
              </a:lnSpc>
            </a:pPr>
            <a:r>
              <a:rPr sz="1000" b="0">
                <a:solidFill>
                  <a:srgbClr val="1A1A1A"/>
                </a:solidFill>
                <a:latin typeface="Hiragino Sans"/>
                <a:ea typeface="Hiragino Sans"/>
                <a:cs typeface="Hiragino Sans"/>
              </a:rPr>
              <a:t>中小ECで人気</a:t>
            </a:r>
          </a:p>
        </p:txBody>
      </p:sp>
      <p:sp>
        <p:nvSpPr>
          <p:cNvPr id="26" name="Rounded Rectangle 25"/>
          <p:cNvSpPr/>
          <p:nvPr/>
        </p:nvSpPr>
        <p:spPr>
          <a:xfrm>
            <a:off x="548640" y="5349240"/>
            <a:ext cx="11109960" cy="100584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5440680"/>
            <a:ext cx="100584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 副業代行のおすすめ</a:t>
            </a:r>
          </a:p>
        </p:txBody>
      </p:sp>
      <p:sp>
        <p:nvSpPr>
          <p:cNvPr id="28" name="TextBox 27"/>
          <p:cNvSpPr txBox="1"/>
          <p:nvPr/>
        </p:nvSpPr>
        <p:spPr>
          <a:xfrm>
            <a:off x="777240" y="5760720"/>
            <a:ext cx="10972800" cy="54864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 中小EC : Partner Integration (Shopify/WooCommerce プラグイン) で十分</a:t>
            </a:r>
          </a:p>
          <a:p>
            <a:pPr algn="l">
              <a:lnSpc>
                <a:spcPct val="150000"/>
              </a:lnSpc>
            </a:pPr>
            <a:r>
              <a:rPr sz="1100" b="0">
                <a:solidFill>
                  <a:srgbClr val="1A1A1A"/>
                </a:solidFill>
                <a:latin typeface="Hiragino Sans"/>
                <a:ea typeface="Hiragino Sans"/>
                <a:cs typeface="Hiragino Sans"/>
              </a:rPr>
              <a:t>• 中規模以上 / カスタムLP : CAPI Gateway がコスパ最強。Cloudflare Workers で月100円〜</a:t>
            </a:r>
          </a:p>
        </p:txBody>
      </p:sp>
      <p:sp>
        <p:nvSpPr>
          <p:cNvPr id="29" name="TextBox 28"/>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AEM (Aggregated Event Measurement) と SKAN</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iOS環境での計測フレームワーク</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P66 / 250</a:t>
            </a:r>
          </a:p>
        </p:txBody>
      </p:sp>
      <p:sp>
        <p:nvSpPr>
          <p:cNvPr id="8" name="Rounded Rectangle 7"/>
          <p:cNvSpPr/>
          <p:nvPr/>
        </p:nvSpPr>
        <p:spPr>
          <a:xfrm>
            <a:off x="548640" y="1417320"/>
            <a:ext cx="5486400" cy="402336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5486400" cy="86868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554480"/>
            <a:ext cx="4937760" cy="457200"/>
          </a:xfrm>
          <a:prstGeom prst="rect">
            <a:avLst/>
          </a:prstGeom>
          <a:noFill/>
        </p:spPr>
        <p:txBody>
          <a:bodyPr wrap="square" anchor="t" lIns="0" rIns="0" tIns="0" bIns="0">
            <a:spAutoFit/>
          </a:bodyPr>
          <a:lstStyle/>
          <a:p>
            <a:pPr algn="l">
              <a:lnSpc>
                <a:spcPct val="115000"/>
              </a:lnSpc>
            </a:pPr>
            <a:r>
              <a:rPr sz="2400" b="1">
                <a:solidFill>
                  <a:srgbClr val="E87722"/>
                </a:solidFill>
                <a:latin typeface="Helvetica Neue"/>
                <a:ea typeface="Helvetica Neue"/>
                <a:cs typeface="Helvetica Neue"/>
              </a:rPr>
              <a:t>AEM</a:t>
            </a:r>
          </a:p>
        </p:txBody>
      </p:sp>
      <p:sp>
        <p:nvSpPr>
          <p:cNvPr id="11" name="TextBox 10"/>
          <p:cNvSpPr txBox="1"/>
          <p:nvPr/>
        </p:nvSpPr>
        <p:spPr>
          <a:xfrm>
            <a:off x="822960" y="1984248"/>
            <a:ext cx="4937760" cy="274320"/>
          </a:xfrm>
          <a:prstGeom prst="rect">
            <a:avLst/>
          </a:prstGeom>
          <a:noFill/>
        </p:spPr>
        <p:txBody>
          <a:bodyPr wrap="square" anchor="t" lIns="0" rIns="0" tIns="0" bIns="0">
            <a:spAutoFit/>
          </a:bodyPr>
          <a:lstStyle/>
          <a:p>
            <a:pPr algn="l">
              <a:lnSpc>
                <a:spcPct val="115000"/>
              </a:lnSpc>
            </a:pPr>
            <a:r>
              <a:rPr sz="1000" b="0">
                <a:solidFill>
                  <a:srgbClr val="FFFFFF"/>
                </a:solidFill>
                <a:latin typeface="Helvetica Neue"/>
                <a:ea typeface="Helvetica Neue"/>
                <a:cs typeface="Helvetica Neue"/>
              </a:rPr>
              <a:t>Aggregated Event Measurement (Meta独自)</a:t>
            </a:r>
          </a:p>
        </p:txBody>
      </p:sp>
      <p:sp>
        <p:nvSpPr>
          <p:cNvPr id="12" name="TextBox 11"/>
          <p:cNvSpPr txBox="1"/>
          <p:nvPr/>
        </p:nvSpPr>
        <p:spPr>
          <a:xfrm>
            <a:off x="822960" y="2468880"/>
            <a:ext cx="4937760" cy="2834640"/>
          </a:xfrm>
          <a:prstGeom prst="rect">
            <a:avLst/>
          </a:prstGeom>
          <a:noFill/>
        </p:spPr>
        <p:txBody>
          <a:bodyPr wrap="square" anchor="t" lIns="0" rIns="0" tIns="0" bIns="0">
            <a:spAutoFit/>
          </a:bodyPr>
          <a:lstStyle/>
          <a:p>
            <a:pPr algn="l">
              <a:lnSpc>
                <a:spcPct val="155000"/>
              </a:lnSpc>
            </a:pPr>
            <a:r>
              <a:rPr sz="1100" b="0">
                <a:solidFill>
                  <a:srgbClr val="1A1A1A"/>
                </a:solidFill>
                <a:latin typeface="Hiragino Sans"/>
                <a:ea typeface="Hiragino Sans"/>
                <a:cs typeface="Hiragino Sans"/>
              </a:rPr>
              <a:t>iOS 14.5以降のATTオプトアウトユーザーに対して</a:t>
            </a:r>
          </a:p>
          <a:p>
            <a:pPr algn="l">
              <a:lnSpc>
                <a:spcPct val="155000"/>
              </a:lnSpc>
            </a:pPr>
            <a:r>
              <a:rPr sz="1100" b="0">
                <a:solidFill>
                  <a:srgbClr val="1A1A1A"/>
                </a:solidFill>
                <a:latin typeface="Hiragino Sans"/>
                <a:ea typeface="Hiragino Sans"/>
                <a:cs typeface="Hiragino Sans"/>
              </a:rPr>
              <a:t>差分プライバシー計測でCV情報を集約。</a:t>
            </a:r>
          </a:p>
          <a:p>
            <a:pPr algn="l">
              <a:lnSpc>
                <a:spcPct val="155000"/>
              </a:lnSpc>
            </a:pPr>
            <a:r>
              <a:rPr sz="1100" b="0">
                <a:solidFill>
                  <a:srgbClr val="1A1A1A"/>
                </a:solidFill>
                <a:latin typeface="Hiragino Sans"/>
                <a:ea typeface="Hiragino Sans"/>
                <a:cs typeface="Hiragino Sans"/>
              </a:rPr>
              <a:t/>
            </a:r>
          </a:p>
          <a:p>
            <a:pPr algn="l">
              <a:lnSpc>
                <a:spcPct val="155000"/>
              </a:lnSpc>
            </a:pPr>
            <a:r>
              <a:rPr sz="1100" b="0">
                <a:solidFill>
                  <a:srgbClr val="1A1A1A"/>
                </a:solidFill>
                <a:latin typeface="Hiragino Sans"/>
                <a:ea typeface="Hiragino Sans"/>
                <a:cs typeface="Hiragino Sans"/>
              </a:rPr>
              <a:t>8つの優先イベントを設定し、上位優先度のCVのみが計測される。</a:t>
            </a:r>
          </a:p>
          <a:p>
            <a:pPr algn="l">
              <a:lnSpc>
                <a:spcPct val="155000"/>
              </a:lnSpc>
            </a:pPr>
            <a:r>
              <a:rPr sz="1100" b="0">
                <a:solidFill>
                  <a:srgbClr val="1A1A1A"/>
                </a:solidFill>
                <a:latin typeface="Hiragino Sans"/>
                <a:ea typeface="Hiragino Sans"/>
                <a:cs typeface="Hiragino Sans"/>
              </a:rPr>
              <a:t>EC: Purchase / Add To Cart / View Content の優先順位設計が肝</a:t>
            </a:r>
          </a:p>
        </p:txBody>
      </p:sp>
      <p:sp>
        <p:nvSpPr>
          <p:cNvPr id="13" name="Rounded Rectangle 12"/>
          <p:cNvSpPr/>
          <p:nvPr/>
        </p:nvSpPr>
        <p:spPr>
          <a:xfrm>
            <a:off x="6172200" y="1417320"/>
            <a:ext cx="5486400" cy="402336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1417320"/>
            <a:ext cx="5486400" cy="86868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1554480"/>
            <a:ext cx="4937760" cy="457200"/>
          </a:xfrm>
          <a:prstGeom prst="rect">
            <a:avLst/>
          </a:prstGeom>
          <a:noFill/>
        </p:spPr>
        <p:txBody>
          <a:bodyPr wrap="square" anchor="t" lIns="0" rIns="0" tIns="0" bIns="0">
            <a:spAutoFit/>
          </a:bodyPr>
          <a:lstStyle/>
          <a:p>
            <a:pPr algn="l">
              <a:lnSpc>
                <a:spcPct val="115000"/>
              </a:lnSpc>
            </a:pPr>
            <a:r>
              <a:rPr sz="2400" b="1">
                <a:solidFill>
                  <a:srgbClr val="E87722"/>
                </a:solidFill>
                <a:latin typeface="Helvetica Neue"/>
                <a:ea typeface="Helvetica Neue"/>
                <a:cs typeface="Helvetica Neue"/>
              </a:rPr>
              <a:t>SKAN</a:t>
            </a:r>
          </a:p>
        </p:txBody>
      </p:sp>
      <p:sp>
        <p:nvSpPr>
          <p:cNvPr id="16" name="TextBox 15"/>
          <p:cNvSpPr txBox="1"/>
          <p:nvPr/>
        </p:nvSpPr>
        <p:spPr>
          <a:xfrm>
            <a:off x="6446520" y="1984248"/>
            <a:ext cx="4937760" cy="274320"/>
          </a:xfrm>
          <a:prstGeom prst="rect">
            <a:avLst/>
          </a:prstGeom>
          <a:noFill/>
        </p:spPr>
        <p:txBody>
          <a:bodyPr wrap="square" anchor="t" lIns="0" rIns="0" tIns="0" bIns="0">
            <a:spAutoFit/>
          </a:bodyPr>
          <a:lstStyle/>
          <a:p>
            <a:pPr algn="l">
              <a:lnSpc>
                <a:spcPct val="115000"/>
              </a:lnSpc>
            </a:pPr>
            <a:r>
              <a:rPr sz="1000" b="0">
                <a:solidFill>
                  <a:srgbClr val="FFFFFF"/>
                </a:solidFill>
                <a:latin typeface="Helvetica Neue"/>
                <a:ea typeface="Helvetica Neue"/>
                <a:cs typeface="Helvetica Neue"/>
              </a:rPr>
              <a:t>SKAdNetwork (Apple公式)</a:t>
            </a:r>
          </a:p>
        </p:txBody>
      </p:sp>
      <p:sp>
        <p:nvSpPr>
          <p:cNvPr id="17" name="TextBox 16"/>
          <p:cNvSpPr txBox="1"/>
          <p:nvPr/>
        </p:nvSpPr>
        <p:spPr>
          <a:xfrm>
            <a:off x="6446520" y="2468880"/>
            <a:ext cx="4937760" cy="2834640"/>
          </a:xfrm>
          <a:prstGeom prst="rect">
            <a:avLst/>
          </a:prstGeom>
          <a:noFill/>
        </p:spPr>
        <p:txBody>
          <a:bodyPr wrap="square" anchor="t" lIns="0" rIns="0" tIns="0" bIns="0">
            <a:spAutoFit/>
          </a:bodyPr>
          <a:lstStyle/>
          <a:p>
            <a:pPr algn="l">
              <a:lnSpc>
                <a:spcPct val="155000"/>
              </a:lnSpc>
            </a:pPr>
            <a:r>
              <a:rPr sz="1100" b="0">
                <a:solidFill>
                  <a:srgbClr val="1A1A1A"/>
                </a:solidFill>
                <a:latin typeface="Hiragino Sans"/>
                <a:ea typeface="Hiragino Sans"/>
                <a:cs typeface="Hiragino Sans"/>
              </a:rPr>
              <a:t>Apple が提供するiOSアプリ計測API。</a:t>
            </a:r>
          </a:p>
          <a:p>
            <a:pPr algn="l">
              <a:lnSpc>
                <a:spcPct val="155000"/>
              </a:lnSpc>
            </a:pPr>
            <a:r>
              <a:rPr sz="1100" b="0">
                <a:solidFill>
                  <a:srgbClr val="1A1A1A"/>
                </a:solidFill>
                <a:latin typeface="Hiragino Sans"/>
                <a:ea typeface="Hiragino Sans"/>
                <a:cs typeface="Hiragino Sans"/>
              </a:rPr>
              <a:t>ポストバック (3つのウィンドウ : 0-2/3-7/8-35日) で</a:t>
            </a:r>
          </a:p>
          <a:p>
            <a:pPr algn="l">
              <a:lnSpc>
                <a:spcPct val="155000"/>
              </a:lnSpc>
            </a:pPr>
            <a:r>
              <a:rPr sz="1100" b="0">
                <a:solidFill>
                  <a:srgbClr val="1A1A1A"/>
                </a:solidFill>
                <a:latin typeface="Hiragino Sans"/>
                <a:ea typeface="Hiragino Sans"/>
                <a:cs typeface="Hiragino Sans"/>
              </a:rPr>
              <a:t>アプリ内CVがプライバシー保護下で集約。</a:t>
            </a:r>
          </a:p>
          <a:p>
            <a:pPr algn="l">
              <a:lnSpc>
                <a:spcPct val="155000"/>
              </a:lnSpc>
            </a:pPr>
            <a:r>
              <a:rPr sz="1100" b="0">
                <a:solidFill>
                  <a:srgbClr val="1A1A1A"/>
                </a:solidFill>
                <a:latin typeface="Hiragino Sans"/>
                <a:ea typeface="Hiragino Sans"/>
                <a:cs typeface="Hiragino Sans"/>
              </a:rPr>
              <a:t/>
            </a:r>
          </a:p>
          <a:p>
            <a:pPr algn="l">
              <a:lnSpc>
                <a:spcPct val="155000"/>
              </a:lnSpc>
            </a:pPr>
            <a:r>
              <a:rPr sz="1100" b="0">
                <a:solidFill>
                  <a:srgbClr val="1A1A1A"/>
                </a:solidFill>
                <a:latin typeface="Hiragino Sans"/>
                <a:ea typeface="Hiragino Sans"/>
                <a:cs typeface="Hiragino Sans"/>
              </a:rPr>
              <a:t>App Campaign で必須。SKAN 4.0 (2023~) でクラッシュ・離脱予測</a:t>
            </a:r>
          </a:p>
        </p:txBody>
      </p:sp>
      <p:sp>
        <p:nvSpPr>
          <p:cNvPr id="18" name="Rounded Rectangle 17"/>
          <p:cNvSpPr/>
          <p:nvPr/>
        </p:nvSpPr>
        <p:spPr>
          <a:xfrm>
            <a:off x="548640" y="5532120"/>
            <a:ext cx="11109960" cy="82296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5623560"/>
            <a:ext cx="100584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 副業代行で覚えること</a:t>
            </a:r>
          </a:p>
        </p:txBody>
      </p:sp>
      <p:sp>
        <p:nvSpPr>
          <p:cNvPr id="20" name="TextBox 19"/>
          <p:cNvSpPr txBox="1"/>
          <p:nvPr/>
        </p:nvSpPr>
        <p:spPr>
          <a:xfrm>
            <a:off x="777240" y="5943600"/>
            <a:ext cx="10972800" cy="36576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 Web案件: AEM の優先イベント (8つ) を業種別に最適化。Purchase 最優先が基本</a:t>
            </a:r>
          </a:p>
          <a:p>
            <a:pPr algn="l">
              <a:lnSpc>
                <a:spcPct val="140000"/>
              </a:lnSpc>
            </a:pPr>
            <a:r>
              <a:rPr sz="1000" b="0">
                <a:solidFill>
                  <a:srgbClr val="1A1A1A"/>
                </a:solidFill>
                <a:latin typeface="Hiragino Sans"/>
                <a:ea typeface="Hiragino Sans"/>
                <a:cs typeface="Hiragino Sans"/>
              </a:rPr>
              <a:t>• アプリ案件: SKAN 4.0 のクラッシュ予測を活用、Conversion Value Schema を業種別に設計</a:t>
            </a:r>
          </a:p>
        </p:txBody>
      </p:sp>
      <p:sp>
        <p:nvSpPr>
          <p:cNvPr id="21" name="TextBox 20"/>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Audience Manager : 3つの基本オーディエンス</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Custom / Lookalike / Saved の使い分け</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P67 / 250</a:t>
            </a:r>
          </a:p>
        </p:txBody>
      </p:sp>
      <p:sp>
        <p:nvSpPr>
          <p:cNvPr id="8" name="Rounded Rectangle 7"/>
          <p:cNvSpPr/>
          <p:nvPr/>
        </p:nvSpPr>
        <p:spPr>
          <a:xfrm>
            <a:off x="548640" y="1417320"/>
            <a:ext cx="3611880" cy="43891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361188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581912"/>
            <a:ext cx="3246120" cy="365760"/>
          </a:xfrm>
          <a:prstGeom prst="rect">
            <a:avLst/>
          </a:prstGeom>
          <a:noFill/>
        </p:spPr>
        <p:txBody>
          <a:bodyPr wrap="square" anchor="t" lIns="0" rIns="0" tIns="0" bIns="0">
            <a:spAutoFit/>
          </a:bodyPr>
          <a:lstStyle/>
          <a:p>
            <a:pPr algn="l">
              <a:lnSpc>
                <a:spcPct val="115000"/>
              </a:lnSpc>
            </a:pPr>
            <a:r>
              <a:rPr sz="1500" b="1">
                <a:solidFill>
                  <a:srgbClr val="FFFFFF"/>
                </a:solidFill>
                <a:latin typeface="Hiragino Sans"/>
                <a:ea typeface="Hiragino Sans"/>
                <a:cs typeface="Hiragino Sans"/>
              </a:rPr>
              <a:t>Custom Audience</a:t>
            </a:r>
          </a:p>
        </p:txBody>
      </p:sp>
      <p:sp>
        <p:nvSpPr>
          <p:cNvPr id="11" name="TextBox 10"/>
          <p:cNvSpPr txBox="1"/>
          <p:nvPr/>
        </p:nvSpPr>
        <p:spPr>
          <a:xfrm>
            <a:off x="777240" y="1965960"/>
            <a:ext cx="3246120" cy="274320"/>
          </a:xfrm>
          <a:prstGeom prst="rect">
            <a:avLst/>
          </a:prstGeom>
          <a:noFill/>
        </p:spPr>
        <p:txBody>
          <a:bodyPr wrap="square" anchor="t" lIns="0" rIns="0" tIns="0" bIns="0">
            <a:spAutoFit/>
          </a:bodyPr>
          <a:lstStyle/>
          <a:p>
            <a:pPr algn="l">
              <a:lnSpc>
                <a:spcPct val="115000"/>
              </a:lnSpc>
            </a:pPr>
            <a:r>
              <a:rPr sz="1000" b="0">
                <a:solidFill>
                  <a:srgbClr val="FFFFFF"/>
                </a:solidFill>
                <a:latin typeface="Hiragino Sans"/>
                <a:ea typeface="Hiragino Sans"/>
                <a:cs typeface="Hiragino Sans"/>
              </a:rPr>
              <a:t>1PD / 行動データから生成</a:t>
            </a:r>
          </a:p>
        </p:txBody>
      </p:sp>
      <p:sp>
        <p:nvSpPr>
          <p:cNvPr id="12" name="Rectangle 11"/>
          <p:cNvSpPr/>
          <p:nvPr/>
        </p:nvSpPr>
        <p:spPr>
          <a:xfrm>
            <a:off x="777240" y="2423160"/>
            <a:ext cx="315468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587752"/>
            <a:ext cx="27432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a:t>
            </a:r>
          </a:p>
        </p:txBody>
      </p:sp>
      <p:sp>
        <p:nvSpPr>
          <p:cNvPr id="14" name="TextBox 13"/>
          <p:cNvSpPr txBox="1"/>
          <p:nvPr/>
        </p:nvSpPr>
        <p:spPr>
          <a:xfrm>
            <a:off x="1051560" y="2606040"/>
            <a:ext cx="2971800" cy="365760"/>
          </a:xfrm>
          <a:prstGeom prst="rect">
            <a:avLst/>
          </a:prstGeom>
          <a:noFill/>
        </p:spPr>
        <p:txBody>
          <a:bodyPr wrap="square" anchor="t" lIns="0" rIns="0" tIns="0" bIns="0">
            <a:spAutoFit/>
          </a:bodyPr>
          <a:lstStyle/>
          <a:p>
            <a:pPr algn="l">
              <a:lnSpc>
                <a:spcPct val="140000"/>
              </a:lnSpc>
            </a:pPr>
            <a:r>
              <a:rPr sz="1100" b="0">
                <a:solidFill>
                  <a:srgbClr val="1A1A1A"/>
                </a:solidFill>
                <a:latin typeface="Hiragino Sans"/>
                <a:ea typeface="Hiragino Sans"/>
                <a:cs typeface="Hiragino Sans"/>
              </a:rPr>
              <a:t>Customer List (CRM)</a:t>
            </a:r>
          </a:p>
        </p:txBody>
      </p:sp>
      <p:sp>
        <p:nvSpPr>
          <p:cNvPr id="15" name="Rectangle 14"/>
          <p:cNvSpPr/>
          <p:nvPr/>
        </p:nvSpPr>
        <p:spPr>
          <a:xfrm>
            <a:off x="777240" y="3063240"/>
            <a:ext cx="315468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3227832"/>
            <a:ext cx="27432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a:t>
            </a:r>
          </a:p>
        </p:txBody>
      </p:sp>
      <p:sp>
        <p:nvSpPr>
          <p:cNvPr id="17" name="TextBox 16"/>
          <p:cNvSpPr txBox="1"/>
          <p:nvPr/>
        </p:nvSpPr>
        <p:spPr>
          <a:xfrm>
            <a:off x="1051560" y="3246120"/>
            <a:ext cx="2971800" cy="365760"/>
          </a:xfrm>
          <a:prstGeom prst="rect">
            <a:avLst/>
          </a:prstGeom>
          <a:noFill/>
        </p:spPr>
        <p:txBody>
          <a:bodyPr wrap="square" anchor="t" lIns="0" rIns="0" tIns="0" bIns="0">
            <a:spAutoFit/>
          </a:bodyPr>
          <a:lstStyle/>
          <a:p>
            <a:pPr algn="l">
              <a:lnSpc>
                <a:spcPct val="140000"/>
              </a:lnSpc>
            </a:pPr>
            <a:r>
              <a:rPr sz="1100" b="0">
                <a:solidFill>
                  <a:srgbClr val="1A1A1A"/>
                </a:solidFill>
                <a:latin typeface="Hiragino Sans"/>
                <a:ea typeface="Hiragino Sans"/>
                <a:cs typeface="Hiragino Sans"/>
              </a:rPr>
              <a:t>Website Visitors (Pixel)</a:t>
            </a:r>
          </a:p>
        </p:txBody>
      </p:sp>
      <p:sp>
        <p:nvSpPr>
          <p:cNvPr id="18" name="Rectangle 17"/>
          <p:cNvSpPr/>
          <p:nvPr/>
        </p:nvSpPr>
        <p:spPr>
          <a:xfrm>
            <a:off x="777240" y="3703320"/>
            <a:ext cx="315468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867912"/>
            <a:ext cx="27432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a:t>
            </a:r>
          </a:p>
        </p:txBody>
      </p:sp>
      <p:sp>
        <p:nvSpPr>
          <p:cNvPr id="20" name="TextBox 19"/>
          <p:cNvSpPr txBox="1"/>
          <p:nvPr/>
        </p:nvSpPr>
        <p:spPr>
          <a:xfrm>
            <a:off x="1051560" y="3886200"/>
            <a:ext cx="2971800" cy="365760"/>
          </a:xfrm>
          <a:prstGeom prst="rect">
            <a:avLst/>
          </a:prstGeom>
          <a:noFill/>
        </p:spPr>
        <p:txBody>
          <a:bodyPr wrap="square" anchor="t" lIns="0" rIns="0" tIns="0" bIns="0">
            <a:spAutoFit/>
          </a:bodyPr>
          <a:lstStyle/>
          <a:p>
            <a:pPr algn="l">
              <a:lnSpc>
                <a:spcPct val="140000"/>
              </a:lnSpc>
            </a:pPr>
            <a:r>
              <a:rPr sz="1100" b="0">
                <a:solidFill>
                  <a:srgbClr val="1A1A1A"/>
                </a:solidFill>
                <a:latin typeface="Hiragino Sans"/>
                <a:ea typeface="Hiragino Sans"/>
                <a:cs typeface="Hiragino Sans"/>
              </a:rPr>
              <a:t>App Activity</a:t>
            </a:r>
          </a:p>
        </p:txBody>
      </p:sp>
      <p:sp>
        <p:nvSpPr>
          <p:cNvPr id="21" name="Rectangle 20"/>
          <p:cNvSpPr/>
          <p:nvPr/>
        </p:nvSpPr>
        <p:spPr>
          <a:xfrm>
            <a:off x="777240" y="4343400"/>
            <a:ext cx="315468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507992"/>
            <a:ext cx="27432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a:t>
            </a:r>
          </a:p>
        </p:txBody>
      </p:sp>
      <p:sp>
        <p:nvSpPr>
          <p:cNvPr id="23" name="TextBox 22"/>
          <p:cNvSpPr txBox="1"/>
          <p:nvPr/>
        </p:nvSpPr>
        <p:spPr>
          <a:xfrm>
            <a:off x="1051560" y="4526280"/>
            <a:ext cx="2971800" cy="365760"/>
          </a:xfrm>
          <a:prstGeom prst="rect">
            <a:avLst/>
          </a:prstGeom>
          <a:noFill/>
        </p:spPr>
        <p:txBody>
          <a:bodyPr wrap="square" anchor="t" lIns="0" rIns="0" tIns="0" bIns="0">
            <a:spAutoFit/>
          </a:bodyPr>
          <a:lstStyle/>
          <a:p>
            <a:pPr algn="l">
              <a:lnSpc>
                <a:spcPct val="140000"/>
              </a:lnSpc>
            </a:pPr>
            <a:r>
              <a:rPr sz="1100" b="0">
                <a:solidFill>
                  <a:srgbClr val="1A1A1A"/>
                </a:solidFill>
                <a:latin typeface="Hiragino Sans"/>
                <a:ea typeface="Hiragino Sans"/>
                <a:cs typeface="Hiragino Sans"/>
              </a:rPr>
              <a:t>Engagement (Reels/Page/Video)</a:t>
            </a:r>
          </a:p>
        </p:txBody>
      </p:sp>
      <p:sp>
        <p:nvSpPr>
          <p:cNvPr id="24" name="Rectangle 23"/>
          <p:cNvSpPr/>
          <p:nvPr/>
        </p:nvSpPr>
        <p:spPr>
          <a:xfrm>
            <a:off x="777240" y="4983480"/>
            <a:ext cx="315468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5148072"/>
            <a:ext cx="27432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a:t>
            </a:r>
          </a:p>
        </p:txBody>
      </p:sp>
      <p:sp>
        <p:nvSpPr>
          <p:cNvPr id="26" name="TextBox 25"/>
          <p:cNvSpPr txBox="1"/>
          <p:nvPr/>
        </p:nvSpPr>
        <p:spPr>
          <a:xfrm>
            <a:off x="1051560" y="5166360"/>
            <a:ext cx="2971800" cy="365760"/>
          </a:xfrm>
          <a:prstGeom prst="rect">
            <a:avLst/>
          </a:prstGeom>
          <a:noFill/>
        </p:spPr>
        <p:txBody>
          <a:bodyPr wrap="square" anchor="t" lIns="0" rIns="0" tIns="0" bIns="0">
            <a:spAutoFit/>
          </a:bodyPr>
          <a:lstStyle/>
          <a:p>
            <a:pPr algn="l">
              <a:lnSpc>
                <a:spcPct val="140000"/>
              </a:lnSpc>
            </a:pPr>
            <a:r>
              <a:rPr sz="1100" b="0">
                <a:solidFill>
                  <a:srgbClr val="1A1A1A"/>
                </a:solidFill>
                <a:latin typeface="Hiragino Sans"/>
                <a:ea typeface="Hiragino Sans"/>
                <a:cs typeface="Hiragino Sans"/>
              </a:rPr>
              <a:t>Lead Form 提出済</a:t>
            </a:r>
          </a:p>
        </p:txBody>
      </p:sp>
      <p:sp>
        <p:nvSpPr>
          <p:cNvPr id="27" name="Rounded Rectangle 26"/>
          <p:cNvSpPr/>
          <p:nvPr/>
        </p:nvSpPr>
        <p:spPr>
          <a:xfrm>
            <a:off x="4297680" y="1417320"/>
            <a:ext cx="3611880" cy="43891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297680" y="1417320"/>
            <a:ext cx="361188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26280" y="1581912"/>
            <a:ext cx="3246120" cy="365760"/>
          </a:xfrm>
          <a:prstGeom prst="rect">
            <a:avLst/>
          </a:prstGeom>
          <a:noFill/>
        </p:spPr>
        <p:txBody>
          <a:bodyPr wrap="square" anchor="t" lIns="0" rIns="0" tIns="0" bIns="0">
            <a:spAutoFit/>
          </a:bodyPr>
          <a:lstStyle/>
          <a:p>
            <a:pPr algn="l">
              <a:lnSpc>
                <a:spcPct val="115000"/>
              </a:lnSpc>
            </a:pPr>
            <a:r>
              <a:rPr sz="1500" b="1">
                <a:solidFill>
                  <a:srgbClr val="FFFFFF"/>
                </a:solidFill>
                <a:latin typeface="Hiragino Sans"/>
                <a:ea typeface="Hiragino Sans"/>
                <a:cs typeface="Hiragino Sans"/>
              </a:rPr>
              <a:t>Lookalike Audience</a:t>
            </a:r>
          </a:p>
        </p:txBody>
      </p:sp>
      <p:sp>
        <p:nvSpPr>
          <p:cNvPr id="30" name="TextBox 29"/>
          <p:cNvSpPr txBox="1"/>
          <p:nvPr/>
        </p:nvSpPr>
        <p:spPr>
          <a:xfrm>
            <a:off x="4526280" y="1965960"/>
            <a:ext cx="3246120" cy="274320"/>
          </a:xfrm>
          <a:prstGeom prst="rect">
            <a:avLst/>
          </a:prstGeom>
          <a:noFill/>
        </p:spPr>
        <p:txBody>
          <a:bodyPr wrap="square" anchor="t" lIns="0" rIns="0" tIns="0" bIns="0">
            <a:spAutoFit/>
          </a:bodyPr>
          <a:lstStyle/>
          <a:p>
            <a:pPr algn="l">
              <a:lnSpc>
                <a:spcPct val="115000"/>
              </a:lnSpc>
            </a:pPr>
            <a:r>
              <a:rPr sz="1000" b="0">
                <a:solidFill>
                  <a:srgbClr val="FFFFFF"/>
                </a:solidFill>
                <a:latin typeface="Hiragino Sans"/>
                <a:ea typeface="Hiragino Sans"/>
                <a:cs typeface="Hiragino Sans"/>
              </a:rPr>
              <a:t>シード集合に類似したユーザー</a:t>
            </a:r>
          </a:p>
        </p:txBody>
      </p:sp>
      <p:sp>
        <p:nvSpPr>
          <p:cNvPr id="31" name="Rectangle 30"/>
          <p:cNvSpPr/>
          <p:nvPr/>
        </p:nvSpPr>
        <p:spPr>
          <a:xfrm>
            <a:off x="4526280" y="2423160"/>
            <a:ext cx="315468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26280" y="2587752"/>
            <a:ext cx="27432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a:t>
            </a:r>
          </a:p>
        </p:txBody>
      </p:sp>
      <p:sp>
        <p:nvSpPr>
          <p:cNvPr id="33" name="TextBox 32"/>
          <p:cNvSpPr txBox="1"/>
          <p:nvPr/>
        </p:nvSpPr>
        <p:spPr>
          <a:xfrm>
            <a:off x="4800600" y="2606040"/>
            <a:ext cx="2971800" cy="365760"/>
          </a:xfrm>
          <a:prstGeom prst="rect">
            <a:avLst/>
          </a:prstGeom>
          <a:noFill/>
        </p:spPr>
        <p:txBody>
          <a:bodyPr wrap="square" anchor="t" lIns="0" rIns="0" tIns="0" bIns="0">
            <a:spAutoFit/>
          </a:bodyPr>
          <a:lstStyle/>
          <a:p>
            <a:pPr algn="l">
              <a:lnSpc>
                <a:spcPct val="140000"/>
              </a:lnSpc>
            </a:pPr>
            <a:r>
              <a:rPr sz="1100" b="0">
                <a:solidFill>
                  <a:srgbClr val="1A1A1A"/>
                </a:solidFill>
                <a:latin typeface="Hiragino Sans"/>
                <a:ea typeface="Hiragino Sans"/>
                <a:cs typeface="Hiragino Sans"/>
              </a:rPr>
              <a:t>1%-10% で類似度を制御</a:t>
            </a:r>
          </a:p>
        </p:txBody>
      </p:sp>
      <p:sp>
        <p:nvSpPr>
          <p:cNvPr id="34" name="Rectangle 33"/>
          <p:cNvSpPr/>
          <p:nvPr/>
        </p:nvSpPr>
        <p:spPr>
          <a:xfrm>
            <a:off x="4526280" y="3063240"/>
            <a:ext cx="315468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26280" y="3227832"/>
            <a:ext cx="27432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a:t>
            </a:r>
          </a:p>
        </p:txBody>
      </p:sp>
      <p:sp>
        <p:nvSpPr>
          <p:cNvPr id="36" name="TextBox 35"/>
          <p:cNvSpPr txBox="1"/>
          <p:nvPr/>
        </p:nvSpPr>
        <p:spPr>
          <a:xfrm>
            <a:off x="4800600" y="3246120"/>
            <a:ext cx="2971800" cy="365760"/>
          </a:xfrm>
          <a:prstGeom prst="rect">
            <a:avLst/>
          </a:prstGeom>
          <a:noFill/>
        </p:spPr>
        <p:txBody>
          <a:bodyPr wrap="square" anchor="t" lIns="0" rIns="0" tIns="0" bIns="0">
            <a:spAutoFit/>
          </a:bodyPr>
          <a:lstStyle/>
          <a:p>
            <a:pPr algn="l">
              <a:lnSpc>
                <a:spcPct val="140000"/>
              </a:lnSpc>
            </a:pPr>
            <a:r>
              <a:rPr sz="1100" b="0">
                <a:solidFill>
                  <a:srgbClr val="1A1A1A"/>
                </a:solidFill>
                <a:latin typeface="Hiragino Sans"/>
                <a:ea typeface="Hiragino Sans"/>
                <a:cs typeface="Hiragino Sans"/>
              </a:rPr>
              <a:t>Value-based LAL (LTV重み付け)</a:t>
            </a:r>
          </a:p>
        </p:txBody>
      </p:sp>
      <p:sp>
        <p:nvSpPr>
          <p:cNvPr id="37" name="Rectangle 36"/>
          <p:cNvSpPr/>
          <p:nvPr/>
        </p:nvSpPr>
        <p:spPr>
          <a:xfrm>
            <a:off x="4526280" y="3703320"/>
            <a:ext cx="315468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526280" y="3867912"/>
            <a:ext cx="27432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a:t>
            </a:r>
          </a:p>
        </p:txBody>
      </p:sp>
      <p:sp>
        <p:nvSpPr>
          <p:cNvPr id="39" name="TextBox 38"/>
          <p:cNvSpPr txBox="1"/>
          <p:nvPr/>
        </p:nvSpPr>
        <p:spPr>
          <a:xfrm>
            <a:off x="4800600" y="3886200"/>
            <a:ext cx="2971800" cy="365760"/>
          </a:xfrm>
          <a:prstGeom prst="rect">
            <a:avLst/>
          </a:prstGeom>
          <a:noFill/>
        </p:spPr>
        <p:txBody>
          <a:bodyPr wrap="square" anchor="t" lIns="0" rIns="0" tIns="0" bIns="0">
            <a:spAutoFit/>
          </a:bodyPr>
          <a:lstStyle/>
          <a:p>
            <a:pPr algn="l">
              <a:lnSpc>
                <a:spcPct val="140000"/>
              </a:lnSpc>
            </a:pPr>
            <a:r>
              <a:rPr sz="1100" b="0">
                <a:solidFill>
                  <a:srgbClr val="1A1A1A"/>
                </a:solidFill>
                <a:latin typeface="Hiragino Sans"/>
                <a:ea typeface="Hiragino Sans"/>
                <a:cs typeface="Hiragino Sans"/>
              </a:rPr>
              <a:t>Multi-country LAL (国跨ぎ)</a:t>
            </a:r>
          </a:p>
        </p:txBody>
      </p:sp>
      <p:sp>
        <p:nvSpPr>
          <p:cNvPr id="40" name="Rectangle 39"/>
          <p:cNvSpPr/>
          <p:nvPr/>
        </p:nvSpPr>
        <p:spPr>
          <a:xfrm>
            <a:off x="4526280" y="4343400"/>
            <a:ext cx="315468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26280" y="4507992"/>
            <a:ext cx="27432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a:t>
            </a:r>
          </a:p>
        </p:txBody>
      </p:sp>
      <p:sp>
        <p:nvSpPr>
          <p:cNvPr id="42" name="TextBox 41"/>
          <p:cNvSpPr txBox="1"/>
          <p:nvPr/>
        </p:nvSpPr>
        <p:spPr>
          <a:xfrm>
            <a:off x="4800600" y="4526280"/>
            <a:ext cx="2971800" cy="365760"/>
          </a:xfrm>
          <a:prstGeom prst="rect">
            <a:avLst/>
          </a:prstGeom>
          <a:noFill/>
        </p:spPr>
        <p:txBody>
          <a:bodyPr wrap="square" anchor="t" lIns="0" rIns="0" tIns="0" bIns="0">
            <a:spAutoFit/>
          </a:bodyPr>
          <a:lstStyle/>
          <a:p>
            <a:pPr algn="l">
              <a:lnSpc>
                <a:spcPct val="140000"/>
              </a:lnSpc>
            </a:pPr>
            <a:r>
              <a:rPr sz="1100" b="0">
                <a:solidFill>
                  <a:srgbClr val="1A1A1A"/>
                </a:solidFill>
                <a:latin typeface="Hiragino Sans"/>
                <a:ea typeface="Hiragino Sans"/>
                <a:cs typeface="Hiragino Sans"/>
              </a:rPr>
              <a:t>Customer Match base が最強</a:t>
            </a:r>
          </a:p>
        </p:txBody>
      </p:sp>
      <p:sp>
        <p:nvSpPr>
          <p:cNvPr id="43" name="Rectangle 42"/>
          <p:cNvSpPr/>
          <p:nvPr/>
        </p:nvSpPr>
        <p:spPr>
          <a:xfrm>
            <a:off x="4526280" y="4983480"/>
            <a:ext cx="315468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526280" y="5148072"/>
            <a:ext cx="27432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a:t>
            </a:r>
          </a:p>
        </p:txBody>
      </p:sp>
      <p:sp>
        <p:nvSpPr>
          <p:cNvPr id="45" name="TextBox 44"/>
          <p:cNvSpPr txBox="1"/>
          <p:nvPr/>
        </p:nvSpPr>
        <p:spPr>
          <a:xfrm>
            <a:off x="4800600" y="5166360"/>
            <a:ext cx="2971800" cy="365760"/>
          </a:xfrm>
          <a:prstGeom prst="rect">
            <a:avLst/>
          </a:prstGeom>
          <a:noFill/>
        </p:spPr>
        <p:txBody>
          <a:bodyPr wrap="square" anchor="t" lIns="0" rIns="0" tIns="0" bIns="0">
            <a:spAutoFit/>
          </a:bodyPr>
          <a:lstStyle/>
          <a:p>
            <a:pPr algn="l">
              <a:lnSpc>
                <a:spcPct val="140000"/>
              </a:lnSpc>
            </a:pPr>
            <a:r>
              <a:rPr sz="1100" b="0">
                <a:solidFill>
                  <a:srgbClr val="1A1A1A"/>
                </a:solidFill>
                <a:latin typeface="Hiragino Sans"/>
                <a:ea typeface="Hiragino Sans"/>
                <a:cs typeface="Hiragino Sans"/>
              </a:rPr>
              <a:t>ソースサイズ 1,000人〜</a:t>
            </a:r>
          </a:p>
        </p:txBody>
      </p:sp>
      <p:sp>
        <p:nvSpPr>
          <p:cNvPr id="46" name="Rounded Rectangle 45"/>
          <p:cNvSpPr/>
          <p:nvPr/>
        </p:nvSpPr>
        <p:spPr>
          <a:xfrm>
            <a:off x="8046720" y="1417320"/>
            <a:ext cx="3611880" cy="43891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046720" y="1417320"/>
            <a:ext cx="361188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275320" y="1581912"/>
            <a:ext cx="3246120" cy="365760"/>
          </a:xfrm>
          <a:prstGeom prst="rect">
            <a:avLst/>
          </a:prstGeom>
          <a:noFill/>
        </p:spPr>
        <p:txBody>
          <a:bodyPr wrap="square" anchor="t" lIns="0" rIns="0" tIns="0" bIns="0">
            <a:spAutoFit/>
          </a:bodyPr>
          <a:lstStyle/>
          <a:p>
            <a:pPr algn="l">
              <a:lnSpc>
                <a:spcPct val="115000"/>
              </a:lnSpc>
            </a:pPr>
            <a:r>
              <a:rPr sz="1500" b="1">
                <a:solidFill>
                  <a:srgbClr val="FFFFFF"/>
                </a:solidFill>
                <a:latin typeface="Hiragino Sans"/>
                <a:ea typeface="Hiragino Sans"/>
                <a:cs typeface="Hiragino Sans"/>
              </a:rPr>
              <a:t>Saved Audience</a:t>
            </a:r>
          </a:p>
        </p:txBody>
      </p:sp>
      <p:sp>
        <p:nvSpPr>
          <p:cNvPr id="49" name="TextBox 48"/>
          <p:cNvSpPr txBox="1"/>
          <p:nvPr/>
        </p:nvSpPr>
        <p:spPr>
          <a:xfrm>
            <a:off x="8275320" y="1965960"/>
            <a:ext cx="3246120" cy="274320"/>
          </a:xfrm>
          <a:prstGeom prst="rect">
            <a:avLst/>
          </a:prstGeom>
          <a:noFill/>
        </p:spPr>
        <p:txBody>
          <a:bodyPr wrap="square" anchor="t" lIns="0" rIns="0" tIns="0" bIns="0">
            <a:spAutoFit/>
          </a:bodyPr>
          <a:lstStyle/>
          <a:p>
            <a:pPr algn="l">
              <a:lnSpc>
                <a:spcPct val="115000"/>
              </a:lnSpc>
            </a:pPr>
            <a:r>
              <a:rPr sz="1000" b="0">
                <a:solidFill>
                  <a:srgbClr val="FFFFFF"/>
                </a:solidFill>
                <a:latin typeface="Hiragino Sans"/>
                <a:ea typeface="Hiragino Sans"/>
                <a:cs typeface="Hiragino Sans"/>
              </a:rPr>
              <a:t>属性 + 興味関心ベース</a:t>
            </a:r>
          </a:p>
        </p:txBody>
      </p:sp>
      <p:sp>
        <p:nvSpPr>
          <p:cNvPr id="50" name="Rectangle 49"/>
          <p:cNvSpPr/>
          <p:nvPr/>
        </p:nvSpPr>
        <p:spPr>
          <a:xfrm>
            <a:off x="8275320" y="2423160"/>
            <a:ext cx="315468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275320" y="2587752"/>
            <a:ext cx="27432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a:t>
            </a:r>
          </a:p>
        </p:txBody>
      </p:sp>
      <p:sp>
        <p:nvSpPr>
          <p:cNvPr id="52" name="TextBox 51"/>
          <p:cNvSpPr txBox="1"/>
          <p:nvPr/>
        </p:nvSpPr>
        <p:spPr>
          <a:xfrm>
            <a:off x="8549640" y="2606040"/>
            <a:ext cx="2971800" cy="365760"/>
          </a:xfrm>
          <a:prstGeom prst="rect">
            <a:avLst/>
          </a:prstGeom>
          <a:noFill/>
        </p:spPr>
        <p:txBody>
          <a:bodyPr wrap="square" anchor="t" lIns="0" rIns="0" tIns="0" bIns="0">
            <a:spAutoFit/>
          </a:bodyPr>
          <a:lstStyle/>
          <a:p>
            <a:pPr algn="l">
              <a:lnSpc>
                <a:spcPct val="140000"/>
              </a:lnSpc>
            </a:pPr>
            <a:r>
              <a:rPr sz="1100" b="0">
                <a:solidFill>
                  <a:srgbClr val="1A1A1A"/>
                </a:solidFill>
                <a:latin typeface="Hiragino Sans"/>
                <a:ea typeface="Hiragino Sans"/>
                <a:cs typeface="Hiragino Sans"/>
              </a:rPr>
              <a:t>年齢・性別・地域・言語</a:t>
            </a:r>
          </a:p>
        </p:txBody>
      </p:sp>
      <p:sp>
        <p:nvSpPr>
          <p:cNvPr id="53" name="Rectangle 52"/>
          <p:cNvSpPr/>
          <p:nvPr/>
        </p:nvSpPr>
        <p:spPr>
          <a:xfrm>
            <a:off x="8275320" y="3063240"/>
            <a:ext cx="315468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275320" y="3227832"/>
            <a:ext cx="27432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a:t>
            </a:r>
          </a:p>
        </p:txBody>
      </p:sp>
      <p:sp>
        <p:nvSpPr>
          <p:cNvPr id="55" name="TextBox 54"/>
          <p:cNvSpPr txBox="1"/>
          <p:nvPr/>
        </p:nvSpPr>
        <p:spPr>
          <a:xfrm>
            <a:off x="8549640" y="3246120"/>
            <a:ext cx="2971800" cy="365760"/>
          </a:xfrm>
          <a:prstGeom prst="rect">
            <a:avLst/>
          </a:prstGeom>
          <a:noFill/>
        </p:spPr>
        <p:txBody>
          <a:bodyPr wrap="square" anchor="t" lIns="0" rIns="0" tIns="0" bIns="0">
            <a:spAutoFit/>
          </a:bodyPr>
          <a:lstStyle/>
          <a:p>
            <a:pPr algn="l">
              <a:lnSpc>
                <a:spcPct val="140000"/>
              </a:lnSpc>
            </a:pPr>
            <a:r>
              <a:rPr sz="1100" b="0">
                <a:solidFill>
                  <a:srgbClr val="1A1A1A"/>
                </a:solidFill>
                <a:latin typeface="Hiragino Sans"/>
                <a:ea typeface="Hiragino Sans"/>
                <a:cs typeface="Hiragino Sans"/>
              </a:rPr>
              <a:t>興味関心カテゴリ</a:t>
            </a:r>
          </a:p>
        </p:txBody>
      </p:sp>
      <p:sp>
        <p:nvSpPr>
          <p:cNvPr id="56" name="Rectangle 55"/>
          <p:cNvSpPr/>
          <p:nvPr/>
        </p:nvSpPr>
        <p:spPr>
          <a:xfrm>
            <a:off x="8275320" y="3703320"/>
            <a:ext cx="315468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275320" y="3867912"/>
            <a:ext cx="27432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a:t>
            </a:r>
          </a:p>
        </p:txBody>
      </p:sp>
      <p:sp>
        <p:nvSpPr>
          <p:cNvPr id="58" name="TextBox 57"/>
          <p:cNvSpPr txBox="1"/>
          <p:nvPr/>
        </p:nvSpPr>
        <p:spPr>
          <a:xfrm>
            <a:off x="8549640" y="3886200"/>
            <a:ext cx="2971800" cy="365760"/>
          </a:xfrm>
          <a:prstGeom prst="rect">
            <a:avLst/>
          </a:prstGeom>
          <a:noFill/>
        </p:spPr>
        <p:txBody>
          <a:bodyPr wrap="square" anchor="t" lIns="0" rIns="0" tIns="0" bIns="0">
            <a:spAutoFit/>
          </a:bodyPr>
          <a:lstStyle/>
          <a:p>
            <a:pPr algn="l">
              <a:lnSpc>
                <a:spcPct val="140000"/>
              </a:lnSpc>
            </a:pPr>
            <a:r>
              <a:rPr sz="1100" b="0">
                <a:solidFill>
                  <a:srgbClr val="1A1A1A"/>
                </a:solidFill>
                <a:latin typeface="Hiragino Sans"/>
                <a:ea typeface="Hiragino Sans"/>
                <a:cs typeface="Hiragino Sans"/>
              </a:rPr>
              <a:t>行動履歴 (購買/旅行)</a:t>
            </a:r>
          </a:p>
        </p:txBody>
      </p:sp>
      <p:sp>
        <p:nvSpPr>
          <p:cNvPr id="59" name="Rectangle 58"/>
          <p:cNvSpPr/>
          <p:nvPr/>
        </p:nvSpPr>
        <p:spPr>
          <a:xfrm>
            <a:off x="8275320" y="4343400"/>
            <a:ext cx="315468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275320" y="4507992"/>
            <a:ext cx="27432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a:t>
            </a:r>
          </a:p>
        </p:txBody>
      </p:sp>
      <p:sp>
        <p:nvSpPr>
          <p:cNvPr id="61" name="TextBox 60"/>
          <p:cNvSpPr txBox="1"/>
          <p:nvPr/>
        </p:nvSpPr>
        <p:spPr>
          <a:xfrm>
            <a:off x="8549640" y="4526280"/>
            <a:ext cx="2971800" cy="365760"/>
          </a:xfrm>
          <a:prstGeom prst="rect">
            <a:avLst/>
          </a:prstGeom>
          <a:noFill/>
        </p:spPr>
        <p:txBody>
          <a:bodyPr wrap="square" anchor="t" lIns="0" rIns="0" tIns="0" bIns="0">
            <a:spAutoFit/>
          </a:bodyPr>
          <a:lstStyle/>
          <a:p>
            <a:pPr algn="l">
              <a:lnSpc>
                <a:spcPct val="140000"/>
              </a:lnSpc>
            </a:pPr>
            <a:r>
              <a:rPr sz="1100" b="0">
                <a:solidFill>
                  <a:srgbClr val="1A1A1A"/>
                </a:solidFill>
                <a:latin typeface="Hiragino Sans"/>
                <a:ea typeface="Hiragino Sans"/>
                <a:cs typeface="Hiragino Sans"/>
              </a:rPr>
              <a:t>教育・職業 (※減少傾向)</a:t>
            </a:r>
          </a:p>
        </p:txBody>
      </p:sp>
      <p:sp>
        <p:nvSpPr>
          <p:cNvPr id="62" name="Rectangle 61"/>
          <p:cNvSpPr/>
          <p:nvPr/>
        </p:nvSpPr>
        <p:spPr>
          <a:xfrm>
            <a:off x="8275320" y="4983480"/>
            <a:ext cx="315468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275320" y="5148072"/>
            <a:ext cx="27432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a:t>
            </a:r>
          </a:p>
        </p:txBody>
      </p:sp>
      <p:sp>
        <p:nvSpPr>
          <p:cNvPr id="64" name="TextBox 63"/>
          <p:cNvSpPr txBox="1"/>
          <p:nvPr/>
        </p:nvSpPr>
        <p:spPr>
          <a:xfrm>
            <a:off x="8549640" y="5166360"/>
            <a:ext cx="2971800" cy="365760"/>
          </a:xfrm>
          <a:prstGeom prst="rect">
            <a:avLst/>
          </a:prstGeom>
          <a:noFill/>
        </p:spPr>
        <p:txBody>
          <a:bodyPr wrap="square" anchor="t" lIns="0" rIns="0" tIns="0" bIns="0">
            <a:spAutoFit/>
          </a:bodyPr>
          <a:lstStyle/>
          <a:p>
            <a:pPr algn="l">
              <a:lnSpc>
                <a:spcPct val="140000"/>
              </a:lnSpc>
            </a:pPr>
            <a:r>
              <a:rPr sz="1100" b="0">
                <a:solidFill>
                  <a:srgbClr val="1A1A1A"/>
                </a:solidFill>
                <a:latin typeface="Hiragino Sans"/>
                <a:ea typeface="Hiragino Sans"/>
                <a:cs typeface="Hiragino Sans"/>
              </a:rPr>
              <a:t>Advantage+ Audience が代替に</a:t>
            </a:r>
          </a:p>
        </p:txBody>
      </p:sp>
      <p:sp>
        <p:nvSpPr>
          <p:cNvPr id="65" name="TextBox 64"/>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Reels / Stories / Feed — 配置面の現在</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縦型優位、Reels が最大の伸び</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P68 / 250</a:t>
            </a:r>
          </a:p>
        </p:txBody>
      </p:sp>
      <p:sp>
        <p:nvSpPr>
          <p:cNvPr id="8" name="Rounded Rectangle 7"/>
          <p:cNvSpPr/>
          <p:nvPr/>
        </p:nvSpPr>
        <p:spPr>
          <a:xfrm>
            <a:off x="548640" y="1417320"/>
            <a:ext cx="2697480" cy="41148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269748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581912"/>
            <a:ext cx="2331720" cy="365760"/>
          </a:xfrm>
          <a:prstGeom prst="rect">
            <a:avLst/>
          </a:prstGeom>
          <a:noFill/>
        </p:spPr>
        <p:txBody>
          <a:bodyPr wrap="square" anchor="t" lIns="0" rIns="0" tIns="0" bIns="0">
            <a:spAutoFit/>
          </a:bodyPr>
          <a:lstStyle/>
          <a:p>
            <a:pPr algn="ctr">
              <a:lnSpc>
                <a:spcPct val="115000"/>
              </a:lnSpc>
            </a:pPr>
            <a:r>
              <a:rPr sz="1800" b="1">
                <a:solidFill>
                  <a:srgbClr val="FFFFFF"/>
                </a:solidFill>
                <a:latin typeface="Hiragino Sans"/>
                <a:ea typeface="Hiragino Sans"/>
                <a:cs typeface="Hiragino Sans"/>
              </a:rPr>
              <a:t>Reels</a:t>
            </a:r>
          </a:p>
        </p:txBody>
      </p:sp>
      <p:sp>
        <p:nvSpPr>
          <p:cNvPr id="11" name="TextBox 10"/>
          <p:cNvSpPr txBox="1"/>
          <p:nvPr/>
        </p:nvSpPr>
        <p:spPr>
          <a:xfrm>
            <a:off x="731520" y="1947672"/>
            <a:ext cx="233172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縦型 9:16 動画</a:t>
            </a:r>
          </a:p>
        </p:txBody>
      </p:sp>
      <p:sp>
        <p:nvSpPr>
          <p:cNvPr id="12" name="Rounded Rectangle 11"/>
          <p:cNvSpPr/>
          <p:nvPr/>
        </p:nvSpPr>
        <p:spPr>
          <a:xfrm>
            <a:off x="1005840" y="2377440"/>
            <a:ext cx="1783080" cy="36576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2450591"/>
            <a:ext cx="1783080" cy="274320"/>
          </a:xfrm>
          <a:prstGeom prst="rect">
            <a:avLst/>
          </a:prstGeom>
          <a:noFill/>
        </p:spPr>
        <p:txBody>
          <a:bodyPr wrap="square" anchor="t" lIns="0" rIns="0" tIns="0" bIns="0">
            <a:spAutoFit/>
          </a:bodyPr>
          <a:lstStyle/>
          <a:p>
            <a:pPr algn="ctr">
              <a:lnSpc>
                <a:spcPct val="115000"/>
              </a:lnSpc>
            </a:pPr>
            <a:r>
              <a:rPr sz="1000" b="1">
                <a:solidFill>
                  <a:srgbClr val="B85E1A"/>
                </a:solidFill>
                <a:latin typeface="Hiragino Sans"/>
                <a:ea typeface="Hiragino Sans"/>
                <a:cs typeface="Hiragino Sans"/>
              </a:rPr>
              <a:t>急成長中、最重要面</a:t>
            </a:r>
          </a:p>
        </p:txBody>
      </p:sp>
      <p:sp>
        <p:nvSpPr>
          <p:cNvPr id="14" name="TextBox 13"/>
          <p:cNvSpPr txBox="1"/>
          <p:nvPr/>
        </p:nvSpPr>
        <p:spPr>
          <a:xfrm>
            <a:off x="777240" y="2926080"/>
            <a:ext cx="2331720" cy="2468880"/>
          </a:xfrm>
          <a:prstGeom prst="rect">
            <a:avLst/>
          </a:prstGeom>
          <a:noFill/>
        </p:spPr>
        <p:txBody>
          <a:bodyPr wrap="square" anchor="t" lIns="0" rIns="0" tIns="0" bIns="0">
            <a:spAutoFit/>
          </a:bodyPr>
          <a:lstStyle/>
          <a:p>
            <a:pPr algn="l">
              <a:lnSpc>
                <a:spcPct val="150000"/>
              </a:lnSpc>
            </a:pPr>
            <a:r>
              <a:rPr sz="1000" b="0">
                <a:solidFill>
                  <a:srgbClr val="1A1A1A"/>
                </a:solidFill>
                <a:latin typeface="Hiragino Sans"/>
                <a:ea typeface="Hiragino Sans"/>
                <a:cs typeface="Hiragino Sans"/>
              </a:rPr>
              <a:t>Reels Ads / Music / Branded Content</a:t>
            </a:r>
          </a:p>
          <a:p>
            <a:pPr algn="l">
              <a:lnSpc>
                <a:spcPct val="150000"/>
              </a:lnSpc>
            </a:pPr>
            <a:r>
              <a:rPr sz="1000" b="0">
                <a:solidFill>
                  <a:srgbClr val="1A1A1A"/>
                </a:solidFill>
                <a:latin typeface="Hiragino Sans"/>
                <a:ea typeface="Hiragino Sans"/>
                <a:cs typeface="Hiragino Sans"/>
              </a:rPr>
              <a:t>Advantage+ Creative の縦型最適化前提</a:t>
            </a:r>
          </a:p>
        </p:txBody>
      </p:sp>
      <p:sp>
        <p:nvSpPr>
          <p:cNvPr id="15" name="Rounded Rectangle 14"/>
          <p:cNvSpPr/>
          <p:nvPr/>
        </p:nvSpPr>
        <p:spPr>
          <a:xfrm>
            <a:off x="3337560" y="1417320"/>
            <a:ext cx="2697480" cy="41148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37560" y="1417320"/>
            <a:ext cx="269748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20440" y="1581912"/>
            <a:ext cx="2331720" cy="365760"/>
          </a:xfrm>
          <a:prstGeom prst="rect">
            <a:avLst/>
          </a:prstGeom>
          <a:noFill/>
        </p:spPr>
        <p:txBody>
          <a:bodyPr wrap="square" anchor="t" lIns="0" rIns="0" tIns="0" bIns="0">
            <a:spAutoFit/>
          </a:bodyPr>
          <a:lstStyle/>
          <a:p>
            <a:pPr algn="ctr">
              <a:lnSpc>
                <a:spcPct val="115000"/>
              </a:lnSpc>
            </a:pPr>
            <a:r>
              <a:rPr sz="1800" b="1">
                <a:solidFill>
                  <a:srgbClr val="FFFFFF"/>
                </a:solidFill>
                <a:latin typeface="Hiragino Sans"/>
                <a:ea typeface="Hiragino Sans"/>
                <a:cs typeface="Hiragino Sans"/>
              </a:rPr>
              <a:t>Stories</a:t>
            </a:r>
          </a:p>
        </p:txBody>
      </p:sp>
      <p:sp>
        <p:nvSpPr>
          <p:cNvPr id="18" name="TextBox 17"/>
          <p:cNvSpPr txBox="1"/>
          <p:nvPr/>
        </p:nvSpPr>
        <p:spPr>
          <a:xfrm>
            <a:off x="3520440" y="1947672"/>
            <a:ext cx="233172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縦型 9:16 短尺</a:t>
            </a:r>
          </a:p>
        </p:txBody>
      </p:sp>
      <p:sp>
        <p:nvSpPr>
          <p:cNvPr id="19" name="Rounded Rectangle 18"/>
          <p:cNvSpPr/>
          <p:nvPr/>
        </p:nvSpPr>
        <p:spPr>
          <a:xfrm>
            <a:off x="3794760" y="2377440"/>
            <a:ext cx="1783080" cy="36576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94760" y="2450591"/>
            <a:ext cx="1783080" cy="274320"/>
          </a:xfrm>
          <a:prstGeom prst="rect">
            <a:avLst/>
          </a:prstGeom>
          <a:noFill/>
        </p:spPr>
        <p:txBody>
          <a:bodyPr wrap="square" anchor="t" lIns="0" rIns="0" tIns="0" bIns="0">
            <a:spAutoFit/>
          </a:bodyPr>
          <a:lstStyle/>
          <a:p>
            <a:pPr algn="ctr">
              <a:lnSpc>
                <a:spcPct val="115000"/>
              </a:lnSpc>
            </a:pPr>
            <a:r>
              <a:rPr sz="1000" b="1">
                <a:solidFill>
                  <a:srgbClr val="B85E1A"/>
                </a:solidFill>
                <a:latin typeface="Hiragino Sans"/>
                <a:ea typeface="Hiragino Sans"/>
                <a:cs typeface="Hiragino Sans"/>
              </a:rPr>
              <a:t>Reels への流出傾向</a:t>
            </a:r>
          </a:p>
        </p:txBody>
      </p:sp>
      <p:sp>
        <p:nvSpPr>
          <p:cNvPr id="21" name="TextBox 20"/>
          <p:cNvSpPr txBox="1"/>
          <p:nvPr/>
        </p:nvSpPr>
        <p:spPr>
          <a:xfrm>
            <a:off x="3566160" y="2926080"/>
            <a:ext cx="2331720" cy="2468880"/>
          </a:xfrm>
          <a:prstGeom prst="rect">
            <a:avLst/>
          </a:prstGeom>
          <a:noFill/>
        </p:spPr>
        <p:txBody>
          <a:bodyPr wrap="square" anchor="t" lIns="0" rIns="0" tIns="0" bIns="0">
            <a:spAutoFit/>
          </a:bodyPr>
          <a:lstStyle/>
          <a:p>
            <a:pPr algn="l">
              <a:lnSpc>
                <a:spcPct val="150000"/>
              </a:lnSpc>
            </a:pPr>
            <a:r>
              <a:rPr sz="1000" b="0">
                <a:solidFill>
                  <a:srgbClr val="1A1A1A"/>
                </a:solidFill>
                <a:latin typeface="Hiragino Sans"/>
                <a:ea typeface="Hiragino Sans"/>
                <a:cs typeface="Hiragino Sans"/>
              </a:rPr>
              <a:t>Stories Ads / Interactive Stickers</a:t>
            </a:r>
          </a:p>
          <a:p>
            <a:pPr algn="l">
              <a:lnSpc>
                <a:spcPct val="150000"/>
              </a:lnSpc>
            </a:pPr>
            <a:r>
              <a:rPr sz="1000" b="0">
                <a:solidFill>
                  <a:srgbClr val="1A1A1A"/>
                </a:solidFill>
                <a:latin typeface="Hiragino Sans"/>
                <a:ea typeface="Hiragino Sans"/>
                <a:cs typeface="Hiragino Sans"/>
              </a:rPr>
              <a:t>ブランド認知 + 即時CTAに有効</a:t>
            </a:r>
          </a:p>
        </p:txBody>
      </p:sp>
      <p:sp>
        <p:nvSpPr>
          <p:cNvPr id="22" name="Rounded Rectangle 21"/>
          <p:cNvSpPr/>
          <p:nvPr/>
        </p:nvSpPr>
        <p:spPr>
          <a:xfrm>
            <a:off x="6126480" y="1417320"/>
            <a:ext cx="2697480" cy="41148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26480" y="1417320"/>
            <a:ext cx="2697480" cy="777240"/>
          </a:xfrm>
          <a:prstGeom prst="rect">
            <a:avLst/>
          </a:prstGeom>
          <a:solidFill>
            <a:srgbClr val="2B44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09360" y="1581912"/>
            <a:ext cx="2331720" cy="365760"/>
          </a:xfrm>
          <a:prstGeom prst="rect">
            <a:avLst/>
          </a:prstGeom>
          <a:noFill/>
        </p:spPr>
        <p:txBody>
          <a:bodyPr wrap="square" anchor="t" lIns="0" rIns="0" tIns="0" bIns="0">
            <a:spAutoFit/>
          </a:bodyPr>
          <a:lstStyle/>
          <a:p>
            <a:pPr algn="ctr">
              <a:lnSpc>
                <a:spcPct val="115000"/>
              </a:lnSpc>
            </a:pPr>
            <a:r>
              <a:rPr sz="1800" b="1">
                <a:solidFill>
                  <a:srgbClr val="FFFFFF"/>
                </a:solidFill>
                <a:latin typeface="Hiragino Sans"/>
                <a:ea typeface="Hiragino Sans"/>
                <a:cs typeface="Hiragino Sans"/>
              </a:rPr>
              <a:t>Feed</a:t>
            </a:r>
          </a:p>
        </p:txBody>
      </p:sp>
      <p:sp>
        <p:nvSpPr>
          <p:cNvPr id="25" name="TextBox 24"/>
          <p:cNvSpPr txBox="1"/>
          <p:nvPr/>
        </p:nvSpPr>
        <p:spPr>
          <a:xfrm>
            <a:off x="6309360" y="1947672"/>
            <a:ext cx="233172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正方形 1:1 / 4:5</a:t>
            </a:r>
          </a:p>
        </p:txBody>
      </p:sp>
      <p:sp>
        <p:nvSpPr>
          <p:cNvPr id="26" name="Rounded Rectangle 25"/>
          <p:cNvSpPr/>
          <p:nvPr/>
        </p:nvSpPr>
        <p:spPr>
          <a:xfrm>
            <a:off x="6583680" y="2377440"/>
            <a:ext cx="1783080" cy="36576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83680" y="2450591"/>
            <a:ext cx="1783080" cy="274320"/>
          </a:xfrm>
          <a:prstGeom prst="rect">
            <a:avLst/>
          </a:prstGeom>
          <a:noFill/>
        </p:spPr>
        <p:txBody>
          <a:bodyPr wrap="square" anchor="t" lIns="0" rIns="0" tIns="0" bIns="0">
            <a:spAutoFit/>
          </a:bodyPr>
          <a:lstStyle/>
          <a:p>
            <a:pPr algn="ctr">
              <a:lnSpc>
                <a:spcPct val="115000"/>
              </a:lnSpc>
            </a:pPr>
            <a:r>
              <a:rPr sz="1000" b="1">
                <a:solidFill>
                  <a:srgbClr val="B85E1A"/>
                </a:solidFill>
                <a:latin typeface="Hiragino Sans"/>
                <a:ea typeface="Hiragino Sans"/>
                <a:cs typeface="Hiragino Sans"/>
              </a:rPr>
              <a:t>依然主力、CV系で強い</a:t>
            </a:r>
          </a:p>
        </p:txBody>
      </p:sp>
      <p:sp>
        <p:nvSpPr>
          <p:cNvPr id="28" name="TextBox 27"/>
          <p:cNvSpPr txBox="1"/>
          <p:nvPr/>
        </p:nvSpPr>
        <p:spPr>
          <a:xfrm>
            <a:off x="6355080" y="2926080"/>
            <a:ext cx="2331720" cy="2468880"/>
          </a:xfrm>
          <a:prstGeom prst="rect">
            <a:avLst/>
          </a:prstGeom>
          <a:noFill/>
        </p:spPr>
        <p:txBody>
          <a:bodyPr wrap="square" anchor="t" lIns="0" rIns="0" tIns="0" bIns="0">
            <a:spAutoFit/>
          </a:bodyPr>
          <a:lstStyle/>
          <a:p>
            <a:pPr algn="l">
              <a:lnSpc>
                <a:spcPct val="150000"/>
              </a:lnSpc>
            </a:pPr>
            <a:r>
              <a:rPr sz="1000" b="0">
                <a:solidFill>
                  <a:srgbClr val="1A1A1A"/>
                </a:solidFill>
                <a:latin typeface="Hiragino Sans"/>
                <a:ea typeface="Hiragino Sans"/>
                <a:cs typeface="Hiragino Sans"/>
              </a:rPr>
              <a:t>Single Image / Carousel / Video</a:t>
            </a:r>
          </a:p>
          <a:p>
            <a:pPr algn="l">
              <a:lnSpc>
                <a:spcPct val="150000"/>
              </a:lnSpc>
            </a:pPr>
            <a:r>
              <a:rPr sz="1000" b="0">
                <a:solidFill>
                  <a:srgbClr val="1A1A1A"/>
                </a:solidFill>
                <a:latin typeface="Hiragino Sans"/>
                <a:ea typeface="Hiragino Sans"/>
                <a:cs typeface="Hiragino Sans"/>
              </a:rPr>
              <a:t>Sales / Lead Gen の主戦場</a:t>
            </a:r>
          </a:p>
        </p:txBody>
      </p:sp>
      <p:sp>
        <p:nvSpPr>
          <p:cNvPr id="29" name="Rounded Rectangle 28"/>
          <p:cNvSpPr/>
          <p:nvPr/>
        </p:nvSpPr>
        <p:spPr>
          <a:xfrm>
            <a:off x="8915400" y="1417320"/>
            <a:ext cx="2697480" cy="41148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915400" y="1417320"/>
            <a:ext cx="2697480" cy="777240"/>
          </a:xfrm>
          <a:prstGeom prst="rect">
            <a:avLst/>
          </a:prstGeom>
          <a:solidFill>
            <a:srgbClr val="2B44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280" y="1581912"/>
            <a:ext cx="2331720" cy="365760"/>
          </a:xfrm>
          <a:prstGeom prst="rect">
            <a:avLst/>
          </a:prstGeom>
          <a:noFill/>
        </p:spPr>
        <p:txBody>
          <a:bodyPr wrap="square" anchor="t" lIns="0" rIns="0" tIns="0" bIns="0">
            <a:spAutoFit/>
          </a:bodyPr>
          <a:lstStyle/>
          <a:p>
            <a:pPr algn="ctr">
              <a:lnSpc>
                <a:spcPct val="115000"/>
              </a:lnSpc>
            </a:pPr>
            <a:r>
              <a:rPr sz="1800" b="1">
                <a:solidFill>
                  <a:srgbClr val="FFFFFF"/>
                </a:solidFill>
                <a:latin typeface="Hiragino Sans"/>
                <a:ea typeface="Hiragino Sans"/>
                <a:cs typeface="Hiragino Sans"/>
              </a:rPr>
              <a:t>Search Results</a:t>
            </a:r>
          </a:p>
        </p:txBody>
      </p:sp>
      <p:sp>
        <p:nvSpPr>
          <p:cNvPr id="32" name="TextBox 31"/>
          <p:cNvSpPr txBox="1"/>
          <p:nvPr/>
        </p:nvSpPr>
        <p:spPr>
          <a:xfrm>
            <a:off x="9098280" y="1947672"/>
            <a:ext cx="233172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検索結果面</a:t>
            </a:r>
          </a:p>
        </p:txBody>
      </p:sp>
      <p:sp>
        <p:nvSpPr>
          <p:cNvPr id="33" name="Rounded Rectangle 32"/>
          <p:cNvSpPr/>
          <p:nvPr/>
        </p:nvSpPr>
        <p:spPr>
          <a:xfrm>
            <a:off x="9372600" y="2377440"/>
            <a:ext cx="1783080" cy="36576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372600" y="2450591"/>
            <a:ext cx="1783080" cy="274320"/>
          </a:xfrm>
          <a:prstGeom prst="rect">
            <a:avLst/>
          </a:prstGeom>
          <a:noFill/>
        </p:spPr>
        <p:txBody>
          <a:bodyPr wrap="square" anchor="t" lIns="0" rIns="0" tIns="0" bIns="0">
            <a:spAutoFit/>
          </a:bodyPr>
          <a:lstStyle/>
          <a:p>
            <a:pPr algn="ctr">
              <a:lnSpc>
                <a:spcPct val="115000"/>
              </a:lnSpc>
            </a:pPr>
            <a:r>
              <a:rPr sz="1000" b="1">
                <a:solidFill>
                  <a:srgbClr val="B85E1A"/>
                </a:solidFill>
                <a:latin typeface="Hiragino Sans"/>
                <a:ea typeface="Hiragino Sans"/>
                <a:cs typeface="Hiragino Sans"/>
              </a:rPr>
              <a:t>新興 (2024-)</a:t>
            </a:r>
          </a:p>
        </p:txBody>
      </p:sp>
      <p:sp>
        <p:nvSpPr>
          <p:cNvPr id="35" name="TextBox 34"/>
          <p:cNvSpPr txBox="1"/>
          <p:nvPr/>
        </p:nvSpPr>
        <p:spPr>
          <a:xfrm>
            <a:off x="9144000" y="2926080"/>
            <a:ext cx="2331720" cy="2468880"/>
          </a:xfrm>
          <a:prstGeom prst="rect">
            <a:avLst/>
          </a:prstGeom>
          <a:noFill/>
        </p:spPr>
        <p:txBody>
          <a:bodyPr wrap="square" anchor="t" lIns="0" rIns="0" tIns="0" bIns="0">
            <a:spAutoFit/>
          </a:bodyPr>
          <a:lstStyle/>
          <a:p>
            <a:pPr algn="l">
              <a:lnSpc>
                <a:spcPct val="150000"/>
              </a:lnSpc>
            </a:pPr>
            <a:r>
              <a:rPr sz="1000" b="0">
                <a:solidFill>
                  <a:srgbClr val="1A1A1A"/>
                </a:solidFill>
                <a:latin typeface="Hiragino Sans"/>
                <a:ea typeface="Hiragino Sans"/>
                <a:cs typeface="Hiragino Sans"/>
              </a:rPr>
              <a:t>Instagram検索結果に広告枠</a:t>
            </a:r>
          </a:p>
          <a:p>
            <a:pPr algn="l">
              <a:lnSpc>
                <a:spcPct val="150000"/>
              </a:lnSpc>
            </a:pPr>
            <a:r>
              <a:rPr sz="1000" b="0">
                <a:solidFill>
                  <a:srgbClr val="1A1A1A"/>
                </a:solidFill>
                <a:latin typeface="Hiragino Sans"/>
                <a:ea typeface="Hiragino Sans"/>
                <a:cs typeface="Hiragino Sans"/>
              </a:rPr>
              <a:t>意図顕在ユーザーへの接触</a:t>
            </a:r>
          </a:p>
        </p:txBody>
      </p:sp>
      <p:sp>
        <p:nvSpPr>
          <p:cNvPr id="36" name="TextBox 35"/>
          <p:cNvSpPr txBox="1"/>
          <p:nvPr/>
        </p:nvSpPr>
        <p:spPr>
          <a:xfrm>
            <a:off x="548640" y="6126480"/>
            <a:ext cx="10972800" cy="274320"/>
          </a:xfrm>
          <a:prstGeom prst="rect">
            <a:avLst/>
          </a:prstGeom>
          <a:noFill/>
        </p:spPr>
        <p:txBody>
          <a:bodyPr wrap="square" anchor="t" lIns="0" rIns="0" tIns="0" bIns="0">
            <a:spAutoFit/>
          </a:bodyPr>
          <a:lstStyle/>
          <a:p>
            <a:pPr algn="l">
              <a:lnSpc>
                <a:spcPct val="115000"/>
              </a:lnSpc>
            </a:pPr>
            <a:r>
              <a:rPr sz="1000" b="1">
                <a:solidFill>
                  <a:srgbClr val="0F2A4F"/>
                </a:solidFill>
                <a:latin typeface="Hiragino Sans"/>
                <a:ea typeface="Hiragino Sans"/>
                <a:cs typeface="Hiragino Sans"/>
              </a:rPr>
              <a:t>💡 Advantage+ Placements を使えば AI が自動で配信面を最適化。手動指定は特殊用途のみ</a:t>
            </a:r>
          </a:p>
        </p:txBody>
      </p:sp>
      <p:sp>
        <p:nvSpPr>
          <p:cNvPr id="37" name="TextBox 36"/>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 Threads Ads — 2025/04 グローバル展開</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新しい配信面、当面は補助配信</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P69 / 250</a:t>
            </a:r>
          </a:p>
        </p:txBody>
      </p:sp>
      <p:sp>
        <p:nvSpPr>
          <p:cNvPr id="8" name="TextBox 7"/>
          <p:cNvSpPr txBox="1"/>
          <p:nvPr/>
        </p:nvSpPr>
        <p:spPr>
          <a:xfrm>
            <a:off x="548640" y="1417320"/>
            <a:ext cx="1097280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Threads Ads ローンチタイムライン</a:t>
            </a:r>
          </a:p>
        </p:txBody>
      </p:sp>
      <p:sp>
        <p:nvSpPr>
          <p:cNvPr id="9" name="Rounded Rectangle 8"/>
          <p:cNvSpPr/>
          <p:nvPr/>
        </p:nvSpPr>
        <p:spPr>
          <a:xfrm>
            <a:off x="548640" y="1874519"/>
            <a:ext cx="11109960" cy="54864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874519"/>
            <a:ext cx="1645920" cy="5486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039111"/>
            <a:ext cx="1645920" cy="274320"/>
          </a:xfrm>
          <a:prstGeom prst="rect">
            <a:avLst/>
          </a:prstGeom>
          <a:noFill/>
        </p:spPr>
        <p:txBody>
          <a:bodyPr wrap="square" anchor="t" lIns="0" rIns="0" tIns="0" bIns="0">
            <a:spAutoFit/>
          </a:bodyPr>
          <a:lstStyle/>
          <a:p>
            <a:pPr algn="ctr">
              <a:lnSpc>
                <a:spcPct val="115000"/>
              </a:lnSpc>
            </a:pPr>
            <a:r>
              <a:rPr sz="1100" b="1">
                <a:solidFill>
                  <a:srgbClr val="FFFFFF"/>
                </a:solidFill>
                <a:latin typeface="Helvetica Neue"/>
                <a:ea typeface="Helvetica Neue"/>
                <a:cs typeface="Helvetica Neue"/>
              </a:rPr>
              <a:t>2023/07/06</a:t>
            </a:r>
          </a:p>
        </p:txBody>
      </p:sp>
      <p:sp>
        <p:nvSpPr>
          <p:cNvPr id="12" name="TextBox 11"/>
          <p:cNvSpPr txBox="1"/>
          <p:nvPr/>
        </p:nvSpPr>
        <p:spPr>
          <a:xfrm>
            <a:off x="2286000" y="1965959"/>
            <a:ext cx="5029200" cy="27432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Threads ローンチ (米国)</a:t>
            </a:r>
          </a:p>
        </p:txBody>
      </p:sp>
      <p:sp>
        <p:nvSpPr>
          <p:cNvPr id="13" name="TextBox 12"/>
          <p:cNvSpPr txBox="1"/>
          <p:nvPr/>
        </p:nvSpPr>
        <p:spPr>
          <a:xfrm>
            <a:off x="2286000" y="2194559"/>
            <a:ext cx="914400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Instagram連携でユーザー獲得</a:t>
            </a:r>
          </a:p>
        </p:txBody>
      </p:sp>
      <p:sp>
        <p:nvSpPr>
          <p:cNvPr id="14" name="Rounded Rectangle 13"/>
          <p:cNvSpPr/>
          <p:nvPr/>
        </p:nvSpPr>
        <p:spPr>
          <a:xfrm>
            <a:off x="548640" y="2514599"/>
            <a:ext cx="11109960" cy="5486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514599"/>
            <a:ext cx="1645920" cy="5486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2679191"/>
            <a:ext cx="1645920" cy="274320"/>
          </a:xfrm>
          <a:prstGeom prst="rect">
            <a:avLst/>
          </a:prstGeom>
          <a:noFill/>
        </p:spPr>
        <p:txBody>
          <a:bodyPr wrap="square" anchor="t" lIns="0" rIns="0" tIns="0" bIns="0">
            <a:spAutoFit/>
          </a:bodyPr>
          <a:lstStyle/>
          <a:p>
            <a:pPr algn="ctr">
              <a:lnSpc>
                <a:spcPct val="115000"/>
              </a:lnSpc>
            </a:pPr>
            <a:r>
              <a:rPr sz="1100" b="1">
                <a:solidFill>
                  <a:srgbClr val="FFFFFF"/>
                </a:solidFill>
                <a:latin typeface="Helvetica Neue"/>
                <a:ea typeface="Helvetica Neue"/>
                <a:cs typeface="Helvetica Neue"/>
              </a:rPr>
              <a:t>2025/01</a:t>
            </a:r>
          </a:p>
        </p:txBody>
      </p:sp>
      <p:sp>
        <p:nvSpPr>
          <p:cNvPr id="17" name="TextBox 16"/>
          <p:cNvSpPr txBox="1"/>
          <p:nvPr/>
        </p:nvSpPr>
        <p:spPr>
          <a:xfrm>
            <a:off x="2286000" y="2606039"/>
            <a:ext cx="5029200" cy="27432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Ads テスト開始</a:t>
            </a:r>
          </a:p>
        </p:txBody>
      </p:sp>
      <p:sp>
        <p:nvSpPr>
          <p:cNvPr id="18" name="TextBox 17"/>
          <p:cNvSpPr txBox="1"/>
          <p:nvPr/>
        </p:nvSpPr>
        <p:spPr>
          <a:xfrm>
            <a:off x="2286000" y="2834639"/>
            <a:ext cx="914400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米国・日本の選定ブランドのみ</a:t>
            </a:r>
          </a:p>
        </p:txBody>
      </p:sp>
      <p:sp>
        <p:nvSpPr>
          <p:cNvPr id="19" name="Rounded Rectangle 18"/>
          <p:cNvSpPr/>
          <p:nvPr/>
        </p:nvSpPr>
        <p:spPr>
          <a:xfrm>
            <a:off x="548640" y="3154679"/>
            <a:ext cx="11109960" cy="548640"/>
          </a:xfrm>
          <a:prstGeom prst="roundRect">
            <a:avLst>
              <a:gd name="adj" fmla="val 6000"/>
            </a:avLst>
          </a:prstGeom>
          <a:solidFill>
            <a:srgbClr val="FFF3E6"/>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54679"/>
            <a:ext cx="1645920" cy="5486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3319271"/>
            <a:ext cx="1645920" cy="274320"/>
          </a:xfrm>
          <a:prstGeom prst="rect">
            <a:avLst/>
          </a:prstGeom>
          <a:noFill/>
        </p:spPr>
        <p:txBody>
          <a:bodyPr wrap="square" anchor="t" lIns="0" rIns="0" tIns="0" bIns="0">
            <a:spAutoFit/>
          </a:bodyPr>
          <a:lstStyle/>
          <a:p>
            <a:pPr algn="ctr">
              <a:lnSpc>
                <a:spcPct val="115000"/>
              </a:lnSpc>
            </a:pPr>
            <a:r>
              <a:rPr sz="1100" b="1">
                <a:solidFill>
                  <a:srgbClr val="FFFFFF"/>
                </a:solidFill>
                <a:latin typeface="Helvetica Neue"/>
                <a:ea typeface="Helvetica Neue"/>
                <a:cs typeface="Helvetica Neue"/>
              </a:rPr>
              <a:t>2025/04/23</a:t>
            </a:r>
          </a:p>
        </p:txBody>
      </p:sp>
      <p:sp>
        <p:nvSpPr>
          <p:cNvPr id="22" name="TextBox 21"/>
          <p:cNvSpPr txBox="1"/>
          <p:nvPr/>
        </p:nvSpPr>
        <p:spPr>
          <a:xfrm>
            <a:off x="2286000" y="3246119"/>
            <a:ext cx="5029200" cy="27432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 グローバル展開</a:t>
            </a:r>
          </a:p>
        </p:txBody>
      </p:sp>
      <p:sp>
        <p:nvSpPr>
          <p:cNvPr id="23" name="TextBox 22"/>
          <p:cNvSpPr txBox="1"/>
          <p:nvPr/>
        </p:nvSpPr>
        <p:spPr>
          <a:xfrm>
            <a:off x="2286000" y="3474719"/>
            <a:ext cx="914400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全世界の eligible 広告主に開放</a:t>
            </a:r>
          </a:p>
        </p:txBody>
      </p:sp>
      <p:sp>
        <p:nvSpPr>
          <p:cNvPr id="24" name="Rounded Rectangle 23"/>
          <p:cNvSpPr/>
          <p:nvPr/>
        </p:nvSpPr>
        <p:spPr>
          <a:xfrm>
            <a:off x="548640" y="3794759"/>
            <a:ext cx="11109960" cy="5486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794759"/>
            <a:ext cx="1645920" cy="5486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3959351"/>
            <a:ext cx="1645920" cy="274320"/>
          </a:xfrm>
          <a:prstGeom prst="rect">
            <a:avLst/>
          </a:prstGeom>
          <a:noFill/>
        </p:spPr>
        <p:txBody>
          <a:bodyPr wrap="square" anchor="t" lIns="0" rIns="0" tIns="0" bIns="0">
            <a:spAutoFit/>
          </a:bodyPr>
          <a:lstStyle/>
          <a:p>
            <a:pPr algn="ctr">
              <a:lnSpc>
                <a:spcPct val="115000"/>
              </a:lnSpc>
            </a:pPr>
            <a:r>
              <a:rPr sz="1100" b="1">
                <a:solidFill>
                  <a:srgbClr val="FFFFFF"/>
                </a:solidFill>
                <a:latin typeface="Helvetica Neue"/>
                <a:ea typeface="Helvetica Neue"/>
                <a:cs typeface="Helvetica Neue"/>
              </a:rPr>
              <a:t>2026</a:t>
            </a:r>
          </a:p>
        </p:txBody>
      </p:sp>
      <p:sp>
        <p:nvSpPr>
          <p:cNvPr id="27" name="TextBox 26"/>
          <p:cNvSpPr txBox="1"/>
          <p:nvPr/>
        </p:nvSpPr>
        <p:spPr>
          <a:xfrm>
            <a:off x="2286000" y="3886199"/>
            <a:ext cx="5029200" cy="27432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段階的拡大</a:t>
            </a:r>
          </a:p>
        </p:txBody>
      </p:sp>
      <p:sp>
        <p:nvSpPr>
          <p:cNvPr id="28" name="TextBox 27"/>
          <p:cNvSpPr txBox="1"/>
          <p:nvPr/>
        </p:nvSpPr>
        <p:spPr>
          <a:xfrm>
            <a:off x="2286000" y="4114799"/>
            <a:ext cx="914400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対応国・配信オプション拡張中</a:t>
            </a:r>
          </a:p>
        </p:txBody>
      </p:sp>
      <p:sp>
        <p:nvSpPr>
          <p:cNvPr id="29" name="Rounded Rectangle 28"/>
          <p:cNvSpPr/>
          <p:nvPr/>
        </p:nvSpPr>
        <p:spPr>
          <a:xfrm>
            <a:off x="548640" y="4617720"/>
            <a:ext cx="11109960" cy="173736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4754880"/>
            <a:ext cx="10058400" cy="320040"/>
          </a:xfrm>
          <a:prstGeom prst="rect">
            <a:avLst/>
          </a:prstGeom>
          <a:noFill/>
        </p:spPr>
        <p:txBody>
          <a:bodyPr wrap="square" anchor="t" lIns="0" rIns="0" tIns="0" bIns="0">
            <a:spAutoFit/>
          </a:bodyPr>
          <a:lstStyle/>
          <a:p>
            <a:pPr algn="l">
              <a:lnSpc>
                <a:spcPct val="115000"/>
              </a:lnSpc>
            </a:pPr>
            <a:r>
              <a:rPr sz="1200" b="1">
                <a:solidFill>
                  <a:srgbClr val="E87722"/>
                </a:solidFill>
                <a:latin typeface="Hiragino Sans"/>
                <a:ea typeface="Hiragino Sans"/>
                <a:cs typeface="Hiragino Sans"/>
              </a:rPr>
              <a:t>💡 副業代行で押さえるポイント</a:t>
            </a:r>
          </a:p>
        </p:txBody>
      </p:sp>
      <p:sp>
        <p:nvSpPr>
          <p:cNvPr id="31" name="TextBox 30"/>
          <p:cNvSpPr txBox="1"/>
          <p:nvPr/>
        </p:nvSpPr>
        <p:spPr>
          <a:xfrm>
            <a:off x="777240" y="5074920"/>
            <a:ext cx="10972800" cy="1280160"/>
          </a:xfrm>
          <a:prstGeom prst="rect">
            <a:avLst/>
          </a:prstGeom>
          <a:noFill/>
        </p:spPr>
        <p:txBody>
          <a:bodyPr wrap="square" anchor="t" lIns="0" rIns="0" tIns="0" bIns="0">
            <a:spAutoFit/>
          </a:bodyPr>
          <a:lstStyle/>
          <a:p>
            <a:pPr algn="l">
              <a:lnSpc>
                <a:spcPct val="155000"/>
              </a:lnSpc>
            </a:pPr>
            <a:r>
              <a:rPr sz="1100" b="0">
                <a:solidFill>
                  <a:srgbClr val="FFFFFF"/>
                </a:solidFill>
                <a:latin typeface="Hiragino Sans"/>
                <a:ea typeface="Hiragino Sans"/>
                <a:cs typeface="Hiragino Sans"/>
              </a:rPr>
              <a:t>• Meta CFO 公式 : 『2025年中の収益貢献は限定的』 — 主力は Reels / Feed のまま</a:t>
            </a:r>
          </a:p>
          <a:p>
            <a:pPr algn="l">
              <a:lnSpc>
                <a:spcPct val="155000"/>
              </a:lnSpc>
            </a:pPr>
            <a:r>
              <a:rPr sz="1100" b="0">
                <a:solidFill>
                  <a:srgbClr val="FFFFFF"/>
                </a:solidFill>
                <a:latin typeface="Hiragino Sans"/>
                <a:ea typeface="Hiragino Sans"/>
                <a:cs typeface="Hiragino Sans"/>
              </a:rPr>
              <a:t>• Threads は『オーディエンス層が異なる』 — テキスト中心、知的好奇心強めの層が多い</a:t>
            </a:r>
          </a:p>
          <a:p>
            <a:pPr algn="l">
              <a:lnSpc>
                <a:spcPct val="155000"/>
              </a:lnSpc>
            </a:pPr>
            <a:r>
              <a:rPr sz="1100" b="0">
                <a:solidFill>
                  <a:srgbClr val="FFFFFF"/>
                </a:solidFill>
                <a:latin typeface="Hiragino Sans"/>
                <a:ea typeface="Hiragino Sans"/>
                <a:cs typeface="Hiragino Sans"/>
              </a:rPr>
              <a:t>• Sales キャンペーンに自動的に追加配信される (Advantage+ Placements ON時)</a:t>
            </a:r>
          </a:p>
          <a:p>
            <a:pPr algn="l">
              <a:lnSpc>
                <a:spcPct val="155000"/>
              </a:lnSpc>
            </a:pPr>
            <a:r>
              <a:rPr sz="1100" b="0">
                <a:solidFill>
                  <a:srgbClr val="FFFFFF"/>
                </a:solidFill>
                <a:latin typeface="Hiragino Sans"/>
                <a:ea typeface="Hiragino Sans"/>
                <a:cs typeface="Hiragino Sans"/>
              </a:rPr>
              <a:t>• 単独最適化したい場合: 手動 Placement で Threads のみ選択 + 専用クリエイティブ</a:t>
            </a:r>
          </a:p>
          <a:p>
            <a:pPr algn="l">
              <a:lnSpc>
                <a:spcPct val="155000"/>
              </a:lnSpc>
            </a:pPr>
            <a:r>
              <a:rPr sz="1100" b="0">
                <a:solidFill>
                  <a:srgbClr val="FFFFFF"/>
                </a:solidFill>
                <a:latin typeface="Hiragino Sans"/>
                <a:ea typeface="Hiragino Sans"/>
                <a:cs typeface="Hiragino Sans"/>
              </a:rPr>
              <a:t>• 当面は『追加配信面 + データ蓄積期間』として位置づけ、本格運用は2026後半以降の判断</a:t>
            </a:r>
          </a:p>
        </p:txBody>
      </p:sp>
      <p:sp>
        <p:nvSpPr>
          <p:cNvPr id="32" name="TextBox 31"/>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Click-to-Message / Click-to-WhatsApp</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チャット起点の獲得、日本ではLINE文化と差</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P70 / 250</a:t>
            </a:r>
          </a:p>
        </p:txBody>
      </p:sp>
      <p:sp>
        <p:nvSpPr>
          <p:cNvPr id="8" name="Rounded Rectangle 7"/>
          <p:cNvSpPr/>
          <p:nvPr/>
        </p:nvSpPr>
        <p:spPr>
          <a:xfrm>
            <a:off x="548640" y="1417320"/>
            <a:ext cx="3611880" cy="2286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3611880" cy="13716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691640"/>
            <a:ext cx="3246120" cy="548640"/>
          </a:xfrm>
          <a:prstGeom prst="rect">
            <a:avLst/>
          </a:prstGeom>
          <a:noFill/>
        </p:spPr>
        <p:txBody>
          <a:bodyPr wrap="square" anchor="t" lIns="0" rIns="0" tIns="0" bIns="0">
            <a:spAutoFit/>
          </a:bodyPr>
          <a:lstStyle/>
          <a:p>
            <a:pPr algn="l">
              <a:lnSpc>
                <a:spcPct val="120000"/>
              </a:lnSpc>
            </a:pPr>
            <a:r>
              <a:rPr sz="1400" b="1">
                <a:solidFill>
                  <a:srgbClr val="0F2A4F"/>
                </a:solidFill>
                <a:latin typeface="Hiragino Sans"/>
                <a:ea typeface="Hiragino Sans"/>
                <a:cs typeface="Hiragino Sans"/>
              </a:rPr>
              <a:t>Click-to-Messenger</a:t>
            </a:r>
          </a:p>
        </p:txBody>
      </p:sp>
      <p:sp>
        <p:nvSpPr>
          <p:cNvPr id="11" name="TextBox 10"/>
          <p:cNvSpPr txBox="1"/>
          <p:nvPr/>
        </p:nvSpPr>
        <p:spPr>
          <a:xfrm>
            <a:off x="777240" y="2286000"/>
            <a:ext cx="3246120" cy="274320"/>
          </a:xfrm>
          <a:prstGeom prst="rect">
            <a:avLst/>
          </a:prstGeom>
          <a:noFill/>
        </p:spPr>
        <p:txBody>
          <a:bodyPr wrap="square" anchor="t" lIns="0" rIns="0" tIns="0" bIns="0">
            <a:spAutoFit/>
          </a:bodyPr>
          <a:lstStyle/>
          <a:p>
            <a:pPr algn="l">
              <a:lnSpc>
                <a:spcPct val="115000"/>
              </a:lnSpc>
            </a:pPr>
            <a:r>
              <a:rPr sz="1000" b="1">
                <a:solidFill>
                  <a:srgbClr val="B85E1A"/>
                </a:solidFill>
                <a:latin typeface="Hiragino Sans"/>
                <a:ea typeface="Hiragino Sans"/>
                <a:cs typeface="Hiragino Sans"/>
              </a:rPr>
              <a:t>Facebook Messenger 起動</a:t>
            </a:r>
          </a:p>
        </p:txBody>
      </p:sp>
      <p:sp>
        <p:nvSpPr>
          <p:cNvPr id="12" name="TextBox 11"/>
          <p:cNvSpPr txBox="1"/>
          <p:nvPr/>
        </p:nvSpPr>
        <p:spPr>
          <a:xfrm>
            <a:off x="777240" y="2651760"/>
            <a:ext cx="3246120" cy="96012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B2C 問い合わせ・予約</a:t>
            </a:r>
          </a:p>
          <a:p>
            <a:pPr algn="l">
              <a:lnSpc>
                <a:spcPct val="150000"/>
              </a:lnSpc>
            </a:pPr>
            <a:r>
              <a:rPr sz="1100" b="0">
                <a:solidFill>
                  <a:srgbClr val="1A1A1A"/>
                </a:solidFill>
                <a:latin typeface="Hiragino Sans"/>
                <a:ea typeface="Hiragino Sans"/>
                <a:cs typeface="Hiragino Sans"/>
              </a:rPr>
              <a:t>ボット連携で 24/7 対応</a:t>
            </a:r>
          </a:p>
        </p:txBody>
      </p:sp>
      <p:sp>
        <p:nvSpPr>
          <p:cNvPr id="13" name="Rounded Rectangle 12"/>
          <p:cNvSpPr/>
          <p:nvPr/>
        </p:nvSpPr>
        <p:spPr>
          <a:xfrm>
            <a:off x="4297680" y="1417320"/>
            <a:ext cx="3611880" cy="2286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7680" y="1417320"/>
            <a:ext cx="3611880" cy="13716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26280" y="1691640"/>
            <a:ext cx="3246120" cy="548640"/>
          </a:xfrm>
          <a:prstGeom prst="rect">
            <a:avLst/>
          </a:prstGeom>
          <a:noFill/>
        </p:spPr>
        <p:txBody>
          <a:bodyPr wrap="square" anchor="t" lIns="0" rIns="0" tIns="0" bIns="0">
            <a:spAutoFit/>
          </a:bodyPr>
          <a:lstStyle/>
          <a:p>
            <a:pPr algn="l">
              <a:lnSpc>
                <a:spcPct val="120000"/>
              </a:lnSpc>
            </a:pPr>
            <a:r>
              <a:rPr sz="1400" b="1">
                <a:solidFill>
                  <a:srgbClr val="0F2A4F"/>
                </a:solidFill>
                <a:latin typeface="Hiragino Sans"/>
                <a:ea typeface="Hiragino Sans"/>
                <a:cs typeface="Hiragino Sans"/>
              </a:rPr>
              <a:t>Click-to-WhatsApp</a:t>
            </a:r>
          </a:p>
        </p:txBody>
      </p:sp>
      <p:sp>
        <p:nvSpPr>
          <p:cNvPr id="16" name="TextBox 15"/>
          <p:cNvSpPr txBox="1"/>
          <p:nvPr/>
        </p:nvSpPr>
        <p:spPr>
          <a:xfrm>
            <a:off x="4526280" y="2286000"/>
            <a:ext cx="3246120" cy="274320"/>
          </a:xfrm>
          <a:prstGeom prst="rect">
            <a:avLst/>
          </a:prstGeom>
          <a:noFill/>
        </p:spPr>
        <p:txBody>
          <a:bodyPr wrap="square" anchor="t" lIns="0" rIns="0" tIns="0" bIns="0">
            <a:spAutoFit/>
          </a:bodyPr>
          <a:lstStyle/>
          <a:p>
            <a:pPr algn="l">
              <a:lnSpc>
                <a:spcPct val="115000"/>
              </a:lnSpc>
            </a:pPr>
            <a:r>
              <a:rPr sz="1000" b="1">
                <a:solidFill>
                  <a:srgbClr val="B85E1A"/>
                </a:solidFill>
                <a:latin typeface="Hiragino Sans"/>
                <a:ea typeface="Hiragino Sans"/>
                <a:cs typeface="Hiragino Sans"/>
              </a:rPr>
              <a:t>WhatsApp チャット起動</a:t>
            </a:r>
          </a:p>
        </p:txBody>
      </p:sp>
      <p:sp>
        <p:nvSpPr>
          <p:cNvPr id="17" name="TextBox 16"/>
          <p:cNvSpPr txBox="1"/>
          <p:nvPr/>
        </p:nvSpPr>
        <p:spPr>
          <a:xfrm>
            <a:off x="4526280" y="2651760"/>
            <a:ext cx="3246120" cy="96012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海外 EC / B2B 主流</a:t>
            </a:r>
          </a:p>
          <a:p>
            <a:pPr algn="l">
              <a:lnSpc>
                <a:spcPct val="150000"/>
              </a:lnSpc>
            </a:pPr>
            <a:r>
              <a:rPr sz="1100" b="0">
                <a:solidFill>
                  <a:srgbClr val="1A1A1A"/>
                </a:solidFill>
                <a:latin typeface="Hiragino Sans"/>
                <a:ea typeface="Hiragino Sans"/>
                <a:cs typeface="Hiragino Sans"/>
              </a:rPr>
              <a:t>日本では限定的、越境ECで活用</a:t>
            </a:r>
          </a:p>
        </p:txBody>
      </p:sp>
      <p:sp>
        <p:nvSpPr>
          <p:cNvPr id="18" name="Rounded Rectangle 17"/>
          <p:cNvSpPr/>
          <p:nvPr/>
        </p:nvSpPr>
        <p:spPr>
          <a:xfrm>
            <a:off x="8046720" y="1417320"/>
            <a:ext cx="3611880" cy="2286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6720" y="1417320"/>
            <a:ext cx="3611880" cy="13716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1691640"/>
            <a:ext cx="3246120" cy="548640"/>
          </a:xfrm>
          <a:prstGeom prst="rect">
            <a:avLst/>
          </a:prstGeom>
          <a:noFill/>
        </p:spPr>
        <p:txBody>
          <a:bodyPr wrap="square" anchor="t" lIns="0" rIns="0" tIns="0" bIns="0">
            <a:spAutoFit/>
          </a:bodyPr>
          <a:lstStyle/>
          <a:p>
            <a:pPr algn="l">
              <a:lnSpc>
                <a:spcPct val="120000"/>
              </a:lnSpc>
            </a:pPr>
            <a:r>
              <a:rPr sz="1400" b="1">
                <a:solidFill>
                  <a:srgbClr val="0F2A4F"/>
                </a:solidFill>
                <a:latin typeface="Hiragino Sans"/>
                <a:ea typeface="Hiragino Sans"/>
                <a:cs typeface="Hiragino Sans"/>
              </a:rPr>
              <a:t>Click-to-Instagram DM</a:t>
            </a:r>
          </a:p>
        </p:txBody>
      </p:sp>
      <p:sp>
        <p:nvSpPr>
          <p:cNvPr id="21" name="TextBox 20"/>
          <p:cNvSpPr txBox="1"/>
          <p:nvPr/>
        </p:nvSpPr>
        <p:spPr>
          <a:xfrm>
            <a:off x="8275320" y="2286000"/>
            <a:ext cx="3246120" cy="274320"/>
          </a:xfrm>
          <a:prstGeom prst="rect">
            <a:avLst/>
          </a:prstGeom>
          <a:noFill/>
        </p:spPr>
        <p:txBody>
          <a:bodyPr wrap="square" anchor="t" lIns="0" rIns="0" tIns="0" bIns="0">
            <a:spAutoFit/>
          </a:bodyPr>
          <a:lstStyle/>
          <a:p>
            <a:pPr algn="l">
              <a:lnSpc>
                <a:spcPct val="115000"/>
              </a:lnSpc>
            </a:pPr>
            <a:r>
              <a:rPr sz="1000" b="1">
                <a:solidFill>
                  <a:srgbClr val="B85E1A"/>
                </a:solidFill>
                <a:latin typeface="Hiragino Sans"/>
                <a:ea typeface="Hiragino Sans"/>
                <a:cs typeface="Hiragino Sans"/>
              </a:rPr>
              <a:t>Instagram DM 起動</a:t>
            </a:r>
          </a:p>
        </p:txBody>
      </p:sp>
      <p:sp>
        <p:nvSpPr>
          <p:cNvPr id="22" name="TextBox 21"/>
          <p:cNvSpPr txBox="1"/>
          <p:nvPr/>
        </p:nvSpPr>
        <p:spPr>
          <a:xfrm>
            <a:off x="8275320" y="2651760"/>
            <a:ext cx="3246120" cy="96012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DXロでの問い合わせ</a:t>
            </a:r>
          </a:p>
          <a:p>
            <a:pPr algn="l">
              <a:lnSpc>
                <a:spcPct val="150000"/>
              </a:lnSpc>
            </a:pPr>
            <a:r>
              <a:rPr sz="1100" b="0">
                <a:solidFill>
                  <a:srgbClr val="1A1A1A"/>
                </a:solidFill>
                <a:latin typeface="Hiragino Sans"/>
                <a:ea typeface="Hiragino Sans"/>
                <a:cs typeface="Hiragino Sans"/>
              </a:rPr>
              <a:t>若年層 D2C で増加</a:t>
            </a:r>
          </a:p>
        </p:txBody>
      </p:sp>
      <p:sp>
        <p:nvSpPr>
          <p:cNvPr id="23" name="TextBox 22"/>
          <p:cNvSpPr txBox="1"/>
          <p:nvPr/>
        </p:nvSpPr>
        <p:spPr>
          <a:xfrm>
            <a:off x="548640" y="3931920"/>
            <a:ext cx="1097280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業種別ユースケース</a:t>
            </a:r>
          </a:p>
        </p:txBody>
      </p:sp>
      <p:sp>
        <p:nvSpPr>
          <p:cNvPr id="24" name="Rectangle 23"/>
          <p:cNvSpPr/>
          <p:nvPr/>
        </p:nvSpPr>
        <p:spPr>
          <a:xfrm>
            <a:off x="548640" y="4297680"/>
            <a:ext cx="1110996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4480560"/>
            <a:ext cx="3200400" cy="32004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BtoC EC</a:t>
            </a:r>
          </a:p>
        </p:txBody>
      </p:sp>
      <p:sp>
        <p:nvSpPr>
          <p:cNvPr id="26" name="TextBox 25"/>
          <p:cNvSpPr txBox="1"/>
          <p:nvPr/>
        </p:nvSpPr>
        <p:spPr>
          <a:xfrm>
            <a:off x="3931920" y="4498848"/>
            <a:ext cx="7589520" cy="365760"/>
          </a:xfrm>
          <a:prstGeom prst="rect">
            <a:avLst/>
          </a:prstGeom>
          <a:noFill/>
        </p:spPr>
        <p:txBody>
          <a:bodyPr wrap="square" anchor="t" lIns="0" rIns="0" tIns="0" bIns="0">
            <a:spAutoFit/>
          </a:bodyPr>
          <a:lstStyle/>
          <a:p>
            <a:pPr algn="l">
              <a:lnSpc>
                <a:spcPct val="140000"/>
              </a:lnSpc>
            </a:pPr>
            <a:r>
              <a:rPr sz="1100" b="0">
                <a:solidFill>
                  <a:srgbClr val="1A1A1A"/>
                </a:solidFill>
                <a:latin typeface="Hiragino Sans"/>
                <a:ea typeface="Hiragino Sans"/>
                <a:cs typeface="Hiragino Sans"/>
              </a:rPr>
              <a:t>Click-to-IG DM が新規。LINE併用で日本適応</a:t>
            </a:r>
          </a:p>
        </p:txBody>
      </p:sp>
      <p:sp>
        <p:nvSpPr>
          <p:cNvPr id="27" name="TextBox 26"/>
          <p:cNvSpPr txBox="1"/>
          <p:nvPr/>
        </p:nvSpPr>
        <p:spPr>
          <a:xfrm>
            <a:off x="640080" y="4892040"/>
            <a:ext cx="3200400" cy="32004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不動産 / 金融</a:t>
            </a:r>
          </a:p>
        </p:txBody>
      </p:sp>
      <p:sp>
        <p:nvSpPr>
          <p:cNvPr id="28" name="TextBox 27"/>
          <p:cNvSpPr txBox="1"/>
          <p:nvPr/>
        </p:nvSpPr>
        <p:spPr>
          <a:xfrm>
            <a:off x="3931920" y="4910328"/>
            <a:ext cx="7589520" cy="365760"/>
          </a:xfrm>
          <a:prstGeom prst="rect">
            <a:avLst/>
          </a:prstGeom>
          <a:noFill/>
        </p:spPr>
        <p:txBody>
          <a:bodyPr wrap="square" anchor="t" lIns="0" rIns="0" tIns="0" bIns="0">
            <a:spAutoFit/>
          </a:bodyPr>
          <a:lstStyle/>
          <a:p>
            <a:pPr algn="l">
              <a:lnSpc>
                <a:spcPct val="140000"/>
              </a:lnSpc>
            </a:pPr>
            <a:r>
              <a:rPr sz="1100" b="0">
                <a:solidFill>
                  <a:srgbClr val="1A1A1A"/>
                </a:solidFill>
                <a:latin typeface="Hiragino Sans"/>
                <a:ea typeface="Hiragino Sans"/>
                <a:cs typeface="Hiragino Sans"/>
              </a:rPr>
              <a:t>Click-to-Messenger でリード獲得 + AIチャットボット連携</a:t>
            </a:r>
          </a:p>
        </p:txBody>
      </p:sp>
      <p:sp>
        <p:nvSpPr>
          <p:cNvPr id="29" name="TextBox 28"/>
          <p:cNvSpPr txBox="1"/>
          <p:nvPr/>
        </p:nvSpPr>
        <p:spPr>
          <a:xfrm>
            <a:off x="640080" y="5303520"/>
            <a:ext cx="3200400" cy="32004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飲食 / 美容</a:t>
            </a:r>
          </a:p>
        </p:txBody>
      </p:sp>
      <p:sp>
        <p:nvSpPr>
          <p:cNvPr id="30" name="TextBox 29"/>
          <p:cNvSpPr txBox="1"/>
          <p:nvPr/>
        </p:nvSpPr>
        <p:spPr>
          <a:xfrm>
            <a:off x="3931920" y="5321808"/>
            <a:ext cx="7589520" cy="365760"/>
          </a:xfrm>
          <a:prstGeom prst="rect">
            <a:avLst/>
          </a:prstGeom>
          <a:noFill/>
        </p:spPr>
        <p:txBody>
          <a:bodyPr wrap="square" anchor="t" lIns="0" rIns="0" tIns="0" bIns="0">
            <a:spAutoFit/>
          </a:bodyPr>
          <a:lstStyle/>
          <a:p>
            <a:pPr algn="l">
              <a:lnSpc>
                <a:spcPct val="140000"/>
              </a:lnSpc>
            </a:pPr>
            <a:r>
              <a:rPr sz="1100" b="0">
                <a:solidFill>
                  <a:srgbClr val="1A1A1A"/>
                </a:solidFill>
                <a:latin typeface="Hiragino Sans"/>
                <a:ea typeface="Hiragino Sans"/>
                <a:cs typeface="Hiragino Sans"/>
              </a:rPr>
              <a:t>DM予約フロー。クーポン配布 → 予約完了で計測</a:t>
            </a:r>
          </a:p>
        </p:txBody>
      </p:sp>
      <p:sp>
        <p:nvSpPr>
          <p:cNvPr id="31" name="TextBox 30"/>
          <p:cNvSpPr txBox="1"/>
          <p:nvPr/>
        </p:nvSpPr>
        <p:spPr>
          <a:xfrm>
            <a:off x="640080" y="5715000"/>
            <a:ext cx="3200400" cy="32004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B2B SaaS</a:t>
            </a:r>
          </a:p>
        </p:txBody>
      </p:sp>
      <p:sp>
        <p:nvSpPr>
          <p:cNvPr id="32" name="TextBox 31"/>
          <p:cNvSpPr txBox="1"/>
          <p:nvPr/>
        </p:nvSpPr>
        <p:spPr>
          <a:xfrm>
            <a:off x="3931920" y="5733288"/>
            <a:ext cx="7589520" cy="365760"/>
          </a:xfrm>
          <a:prstGeom prst="rect">
            <a:avLst/>
          </a:prstGeom>
          <a:noFill/>
        </p:spPr>
        <p:txBody>
          <a:bodyPr wrap="square" anchor="t" lIns="0" rIns="0" tIns="0" bIns="0">
            <a:spAutoFit/>
          </a:bodyPr>
          <a:lstStyle/>
          <a:p>
            <a:pPr algn="l">
              <a:lnSpc>
                <a:spcPct val="140000"/>
              </a:lnSpc>
            </a:pPr>
            <a:r>
              <a:rPr sz="1100" b="0">
                <a:solidFill>
                  <a:srgbClr val="1A1A1A"/>
                </a:solidFill>
                <a:latin typeface="Hiragino Sans"/>
                <a:ea typeface="Hiragino Sans"/>
                <a:cs typeface="Hiragino Sans"/>
              </a:rPr>
              <a:t>Click-to-WhatsApp は海外、日本はLINE併用が現実解</a:t>
            </a:r>
          </a:p>
        </p:txBody>
      </p:sp>
      <p:sp>
        <p:nvSpPr>
          <p:cNvPr id="33" name="TextBox 32"/>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Conversion Lift Test ─ Incrementality</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『広告がなければ起きなかった CV』を測る</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P71 / 250</a:t>
            </a:r>
          </a:p>
        </p:txBody>
      </p:sp>
      <p:sp>
        <p:nvSpPr>
          <p:cNvPr id="8" name="Rounded Rectangle 7"/>
          <p:cNvSpPr/>
          <p:nvPr/>
        </p:nvSpPr>
        <p:spPr>
          <a:xfrm>
            <a:off x="548640" y="1371600"/>
            <a:ext cx="11109960" cy="91440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08760"/>
            <a:ext cx="10972800" cy="731520"/>
          </a:xfrm>
          <a:prstGeom prst="rect">
            <a:avLst/>
          </a:prstGeom>
          <a:noFill/>
        </p:spPr>
        <p:txBody>
          <a:bodyPr wrap="square" anchor="t" lIns="0" rIns="0" tIns="0" bIns="0">
            <a:spAutoFit/>
          </a:bodyPr>
          <a:lstStyle/>
          <a:p>
            <a:pPr algn="l">
              <a:lnSpc>
                <a:spcPct val="150000"/>
              </a:lnSpc>
            </a:pPr>
            <a:r>
              <a:rPr sz="1200" b="0">
                <a:solidFill>
                  <a:srgbClr val="FFFFFF"/>
                </a:solidFill>
                <a:latin typeface="Hiragino Sans"/>
                <a:ea typeface="Hiragino Sans"/>
                <a:cs typeface="Hiragino Sans"/>
              </a:rPr>
              <a:t>ユーザーをランダムに Test (広告配信) と Control (配信なし) に分け、CV発生率の差を計測。</a:t>
            </a:r>
          </a:p>
          <a:p>
            <a:pPr algn="l">
              <a:lnSpc>
                <a:spcPct val="150000"/>
              </a:lnSpc>
            </a:pPr>
            <a:r>
              <a:rPr sz="1200" b="0">
                <a:solidFill>
                  <a:srgbClr val="FFFFFF"/>
                </a:solidFill>
                <a:latin typeface="Hiragino Sans"/>
                <a:ea typeface="Hiragino Sans"/>
                <a:cs typeface="Hiragino Sans"/>
              </a:rPr>
              <a:t>ラストクリック計測の限界 (Display経由のCVが過小評価) を補正する手法</a:t>
            </a:r>
          </a:p>
        </p:txBody>
      </p:sp>
      <p:sp>
        <p:nvSpPr>
          <p:cNvPr id="10" name="TextBox 9"/>
          <p:cNvSpPr txBox="1"/>
          <p:nvPr/>
        </p:nvSpPr>
        <p:spPr>
          <a:xfrm>
            <a:off x="548640" y="2423160"/>
            <a:ext cx="731520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実施手順 (3ステップ)</a:t>
            </a:r>
          </a:p>
        </p:txBody>
      </p:sp>
      <p:sp>
        <p:nvSpPr>
          <p:cNvPr id="11" name="Rounded Rectangle 10"/>
          <p:cNvSpPr/>
          <p:nvPr/>
        </p:nvSpPr>
        <p:spPr>
          <a:xfrm>
            <a:off x="548640" y="2880360"/>
            <a:ext cx="3611880" cy="18288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880360"/>
            <a:ext cx="3611880" cy="5029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999232"/>
            <a:ext cx="3246120" cy="274320"/>
          </a:xfrm>
          <a:prstGeom prst="rect">
            <a:avLst/>
          </a:prstGeom>
          <a:noFill/>
        </p:spPr>
        <p:txBody>
          <a:bodyPr wrap="square" anchor="t" lIns="0" rIns="0" tIns="0" bIns="0">
            <a:spAutoFit/>
          </a:bodyPr>
          <a:lstStyle/>
          <a:p>
            <a:pPr algn="ctr">
              <a:lnSpc>
                <a:spcPct val="115000"/>
              </a:lnSpc>
            </a:pPr>
            <a:r>
              <a:rPr sz="1200" b="1">
                <a:solidFill>
                  <a:srgbClr val="FFFFFF"/>
                </a:solidFill>
                <a:latin typeface="Helvetica Neue"/>
                <a:ea typeface="Helvetica Neue"/>
                <a:cs typeface="Helvetica Neue"/>
              </a:rPr>
              <a:t>STEP 1</a:t>
            </a:r>
          </a:p>
        </p:txBody>
      </p:sp>
      <p:sp>
        <p:nvSpPr>
          <p:cNvPr id="14" name="TextBox 13"/>
          <p:cNvSpPr txBox="1"/>
          <p:nvPr/>
        </p:nvSpPr>
        <p:spPr>
          <a:xfrm>
            <a:off x="777240" y="3520440"/>
            <a:ext cx="3246120" cy="365760"/>
          </a:xfrm>
          <a:prstGeom prst="rect">
            <a:avLst/>
          </a:prstGeom>
          <a:noFill/>
        </p:spPr>
        <p:txBody>
          <a:bodyPr wrap="square" anchor="t" lIns="0" rIns="0" tIns="0" bIns="0">
            <a:spAutoFit/>
          </a:bodyPr>
          <a:lstStyle/>
          <a:p>
            <a:pPr algn="ctr">
              <a:lnSpc>
                <a:spcPct val="115000"/>
              </a:lnSpc>
            </a:pPr>
            <a:r>
              <a:rPr sz="1400" b="1">
                <a:solidFill>
                  <a:srgbClr val="0F2A4F"/>
                </a:solidFill>
                <a:latin typeface="Hiragino Sans"/>
                <a:ea typeface="Hiragino Sans"/>
                <a:cs typeface="Hiragino Sans"/>
              </a:rPr>
              <a:t>Test/Control 分割</a:t>
            </a:r>
          </a:p>
        </p:txBody>
      </p:sp>
      <p:sp>
        <p:nvSpPr>
          <p:cNvPr id="15" name="TextBox 14"/>
          <p:cNvSpPr txBox="1"/>
          <p:nvPr/>
        </p:nvSpPr>
        <p:spPr>
          <a:xfrm>
            <a:off x="777240" y="3977640"/>
            <a:ext cx="3246120" cy="685800"/>
          </a:xfrm>
          <a:prstGeom prst="rect">
            <a:avLst/>
          </a:prstGeom>
          <a:noFill/>
        </p:spPr>
        <p:txBody>
          <a:bodyPr wrap="square" anchor="t" lIns="0" rIns="0" tIns="0" bIns="0">
            <a:spAutoFit/>
          </a:bodyPr>
          <a:lstStyle/>
          <a:p>
            <a:pPr algn="ctr">
              <a:lnSpc>
                <a:spcPct val="150000"/>
              </a:lnSpc>
            </a:pPr>
            <a:r>
              <a:rPr sz="1100" b="0">
                <a:solidFill>
                  <a:srgbClr val="1A1A1A"/>
                </a:solidFill>
                <a:latin typeface="Hiragino Sans"/>
                <a:ea typeface="Hiragino Sans"/>
                <a:cs typeface="Hiragino Sans"/>
              </a:rPr>
              <a:t>Meta が自動で</a:t>
            </a:r>
          </a:p>
          <a:p>
            <a:pPr algn="ctr">
              <a:lnSpc>
                <a:spcPct val="150000"/>
              </a:lnSpc>
            </a:pPr>
            <a:r>
              <a:rPr sz="1100" b="0">
                <a:solidFill>
                  <a:srgbClr val="1A1A1A"/>
                </a:solidFill>
                <a:latin typeface="Hiragino Sans"/>
                <a:ea typeface="Hiragino Sans"/>
                <a:cs typeface="Hiragino Sans"/>
              </a:rPr>
              <a:t>ランダム化</a:t>
            </a:r>
          </a:p>
          <a:p>
            <a:pPr algn="ctr">
              <a:lnSpc>
                <a:spcPct val="150000"/>
              </a:lnSpc>
            </a:pPr>
            <a:r>
              <a:rPr sz="1100" b="0">
                <a:solidFill>
                  <a:srgbClr val="1A1A1A"/>
                </a:solidFill>
                <a:latin typeface="Hiragino Sans"/>
                <a:ea typeface="Hiragino Sans"/>
                <a:cs typeface="Hiragino Sans"/>
              </a:rPr>
              <a:t>通常は90/10</a:t>
            </a:r>
          </a:p>
        </p:txBody>
      </p:sp>
      <p:sp>
        <p:nvSpPr>
          <p:cNvPr id="16" name="Rounded Rectangle 15"/>
          <p:cNvSpPr/>
          <p:nvPr/>
        </p:nvSpPr>
        <p:spPr>
          <a:xfrm>
            <a:off x="4297680" y="2880360"/>
            <a:ext cx="3611880" cy="18288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297680" y="2880360"/>
            <a:ext cx="3611880" cy="5029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80560" y="2999232"/>
            <a:ext cx="3246120" cy="274320"/>
          </a:xfrm>
          <a:prstGeom prst="rect">
            <a:avLst/>
          </a:prstGeom>
          <a:noFill/>
        </p:spPr>
        <p:txBody>
          <a:bodyPr wrap="square" anchor="t" lIns="0" rIns="0" tIns="0" bIns="0">
            <a:spAutoFit/>
          </a:bodyPr>
          <a:lstStyle/>
          <a:p>
            <a:pPr algn="ctr">
              <a:lnSpc>
                <a:spcPct val="115000"/>
              </a:lnSpc>
            </a:pPr>
            <a:r>
              <a:rPr sz="1200" b="1">
                <a:solidFill>
                  <a:srgbClr val="FFFFFF"/>
                </a:solidFill>
                <a:latin typeface="Helvetica Neue"/>
                <a:ea typeface="Helvetica Neue"/>
                <a:cs typeface="Helvetica Neue"/>
              </a:rPr>
              <a:t>STEP 2</a:t>
            </a:r>
          </a:p>
        </p:txBody>
      </p:sp>
      <p:sp>
        <p:nvSpPr>
          <p:cNvPr id="19" name="TextBox 18"/>
          <p:cNvSpPr txBox="1"/>
          <p:nvPr/>
        </p:nvSpPr>
        <p:spPr>
          <a:xfrm>
            <a:off x="4526280" y="3520440"/>
            <a:ext cx="3246120" cy="365760"/>
          </a:xfrm>
          <a:prstGeom prst="rect">
            <a:avLst/>
          </a:prstGeom>
          <a:noFill/>
        </p:spPr>
        <p:txBody>
          <a:bodyPr wrap="square" anchor="t" lIns="0" rIns="0" tIns="0" bIns="0">
            <a:spAutoFit/>
          </a:bodyPr>
          <a:lstStyle/>
          <a:p>
            <a:pPr algn="ctr">
              <a:lnSpc>
                <a:spcPct val="115000"/>
              </a:lnSpc>
            </a:pPr>
            <a:r>
              <a:rPr sz="1400" b="1">
                <a:solidFill>
                  <a:srgbClr val="0F2A4F"/>
                </a:solidFill>
                <a:latin typeface="Hiragino Sans"/>
                <a:ea typeface="Hiragino Sans"/>
                <a:cs typeface="Hiragino Sans"/>
              </a:rPr>
              <a:t>配信期間設定</a:t>
            </a:r>
          </a:p>
        </p:txBody>
      </p:sp>
      <p:sp>
        <p:nvSpPr>
          <p:cNvPr id="20" name="TextBox 19"/>
          <p:cNvSpPr txBox="1"/>
          <p:nvPr/>
        </p:nvSpPr>
        <p:spPr>
          <a:xfrm>
            <a:off x="4526280" y="3977640"/>
            <a:ext cx="3246120" cy="685800"/>
          </a:xfrm>
          <a:prstGeom prst="rect">
            <a:avLst/>
          </a:prstGeom>
          <a:noFill/>
        </p:spPr>
        <p:txBody>
          <a:bodyPr wrap="square" anchor="t" lIns="0" rIns="0" tIns="0" bIns="0">
            <a:spAutoFit/>
          </a:bodyPr>
          <a:lstStyle/>
          <a:p>
            <a:pPr algn="ctr">
              <a:lnSpc>
                <a:spcPct val="150000"/>
              </a:lnSpc>
            </a:pPr>
            <a:r>
              <a:rPr sz="1100" b="0">
                <a:solidFill>
                  <a:srgbClr val="1A1A1A"/>
                </a:solidFill>
                <a:latin typeface="Hiragino Sans"/>
                <a:ea typeface="Hiragino Sans"/>
                <a:cs typeface="Hiragino Sans"/>
              </a:rPr>
              <a:t>最低2週間、</a:t>
            </a:r>
          </a:p>
          <a:p>
            <a:pPr algn="ctr">
              <a:lnSpc>
                <a:spcPct val="150000"/>
              </a:lnSpc>
            </a:pPr>
            <a:r>
              <a:rPr sz="1100" b="0">
                <a:solidFill>
                  <a:srgbClr val="1A1A1A"/>
                </a:solidFill>
                <a:latin typeface="Hiragino Sans"/>
                <a:ea typeface="Hiragino Sans"/>
                <a:cs typeface="Hiragino Sans"/>
              </a:rPr>
              <a:t>推奨4-6週間</a:t>
            </a:r>
          </a:p>
          <a:p>
            <a:pPr algn="ctr">
              <a:lnSpc>
                <a:spcPct val="150000"/>
              </a:lnSpc>
            </a:pPr>
            <a:r>
              <a:rPr sz="1100" b="0">
                <a:solidFill>
                  <a:srgbClr val="1A1A1A"/>
                </a:solidFill>
                <a:latin typeface="Hiragino Sans"/>
                <a:ea typeface="Hiragino Sans"/>
                <a:cs typeface="Hiragino Sans"/>
              </a:rPr>
              <a:t>CV数100件以上目標</a:t>
            </a:r>
          </a:p>
        </p:txBody>
      </p:sp>
      <p:sp>
        <p:nvSpPr>
          <p:cNvPr id="21" name="Rounded Rectangle 20"/>
          <p:cNvSpPr/>
          <p:nvPr/>
        </p:nvSpPr>
        <p:spPr>
          <a:xfrm>
            <a:off x="8046720" y="2880360"/>
            <a:ext cx="3611880" cy="18288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46720" y="2880360"/>
            <a:ext cx="3611880" cy="5029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0" y="2999232"/>
            <a:ext cx="3246120" cy="274320"/>
          </a:xfrm>
          <a:prstGeom prst="rect">
            <a:avLst/>
          </a:prstGeom>
          <a:noFill/>
        </p:spPr>
        <p:txBody>
          <a:bodyPr wrap="square" anchor="t" lIns="0" rIns="0" tIns="0" bIns="0">
            <a:spAutoFit/>
          </a:bodyPr>
          <a:lstStyle/>
          <a:p>
            <a:pPr algn="ctr">
              <a:lnSpc>
                <a:spcPct val="115000"/>
              </a:lnSpc>
            </a:pPr>
            <a:r>
              <a:rPr sz="1200" b="1">
                <a:solidFill>
                  <a:srgbClr val="FFFFFF"/>
                </a:solidFill>
                <a:latin typeface="Helvetica Neue"/>
                <a:ea typeface="Helvetica Neue"/>
                <a:cs typeface="Helvetica Neue"/>
              </a:rPr>
              <a:t>STEP 3</a:t>
            </a:r>
          </a:p>
        </p:txBody>
      </p:sp>
      <p:sp>
        <p:nvSpPr>
          <p:cNvPr id="24" name="TextBox 23"/>
          <p:cNvSpPr txBox="1"/>
          <p:nvPr/>
        </p:nvSpPr>
        <p:spPr>
          <a:xfrm>
            <a:off x="8275320" y="3520440"/>
            <a:ext cx="3246120" cy="365760"/>
          </a:xfrm>
          <a:prstGeom prst="rect">
            <a:avLst/>
          </a:prstGeom>
          <a:noFill/>
        </p:spPr>
        <p:txBody>
          <a:bodyPr wrap="square" anchor="t" lIns="0" rIns="0" tIns="0" bIns="0">
            <a:spAutoFit/>
          </a:bodyPr>
          <a:lstStyle/>
          <a:p>
            <a:pPr algn="ctr">
              <a:lnSpc>
                <a:spcPct val="115000"/>
              </a:lnSpc>
            </a:pPr>
            <a:r>
              <a:rPr sz="1400" b="1">
                <a:solidFill>
                  <a:srgbClr val="0F2A4F"/>
                </a:solidFill>
                <a:latin typeface="Hiragino Sans"/>
                <a:ea typeface="Hiragino Sans"/>
                <a:cs typeface="Hiragino Sans"/>
              </a:rPr>
              <a:t>Lift分析</a:t>
            </a:r>
          </a:p>
        </p:txBody>
      </p:sp>
      <p:sp>
        <p:nvSpPr>
          <p:cNvPr id="25" name="TextBox 24"/>
          <p:cNvSpPr txBox="1"/>
          <p:nvPr/>
        </p:nvSpPr>
        <p:spPr>
          <a:xfrm>
            <a:off x="8275320" y="3977640"/>
            <a:ext cx="3246120" cy="685800"/>
          </a:xfrm>
          <a:prstGeom prst="rect">
            <a:avLst/>
          </a:prstGeom>
          <a:noFill/>
        </p:spPr>
        <p:txBody>
          <a:bodyPr wrap="square" anchor="t" lIns="0" rIns="0" tIns="0" bIns="0">
            <a:spAutoFit/>
          </a:bodyPr>
          <a:lstStyle/>
          <a:p>
            <a:pPr algn="ctr">
              <a:lnSpc>
                <a:spcPct val="150000"/>
              </a:lnSpc>
            </a:pPr>
            <a:r>
              <a:rPr sz="1100" b="0">
                <a:solidFill>
                  <a:srgbClr val="1A1A1A"/>
                </a:solidFill>
                <a:latin typeface="Hiragino Sans"/>
                <a:ea typeface="Hiragino Sans"/>
                <a:cs typeface="Hiragino Sans"/>
              </a:rPr>
              <a:t>Test群とControl群の</a:t>
            </a:r>
          </a:p>
          <a:p>
            <a:pPr algn="ctr">
              <a:lnSpc>
                <a:spcPct val="150000"/>
              </a:lnSpc>
            </a:pPr>
            <a:r>
              <a:rPr sz="1100" b="0">
                <a:solidFill>
                  <a:srgbClr val="1A1A1A"/>
                </a:solidFill>
                <a:latin typeface="Hiragino Sans"/>
                <a:ea typeface="Hiragino Sans"/>
                <a:cs typeface="Hiragino Sans"/>
              </a:rPr>
              <a:t>CV発生率を比較</a:t>
            </a:r>
          </a:p>
          <a:p>
            <a:pPr algn="ctr">
              <a:lnSpc>
                <a:spcPct val="150000"/>
              </a:lnSpc>
            </a:pPr>
            <a:r>
              <a:rPr sz="1100" b="0">
                <a:solidFill>
                  <a:srgbClr val="1A1A1A"/>
                </a:solidFill>
                <a:latin typeface="Hiragino Sans"/>
                <a:ea typeface="Hiragino Sans"/>
                <a:cs typeface="Hiragino Sans"/>
              </a:rPr>
              <a:t>統計的有意性を確認</a:t>
            </a:r>
          </a:p>
        </p:txBody>
      </p:sp>
      <p:sp>
        <p:nvSpPr>
          <p:cNvPr id="26" name="Rounded Rectangle 25"/>
          <p:cNvSpPr/>
          <p:nvPr/>
        </p:nvSpPr>
        <p:spPr>
          <a:xfrm>
            <a:off x="548640" y="4983480"/>
            <a:ext cx="11109960" cy="137160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5120640"/>
            <a:ext cx="100584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 副業代行での価値</a:t>
            </a:r>
          </a:p>
        </p:txBody>
      </p:sp>
      <p:sp>
        <p:nvSpPr>
          <p:cNvPr id="28" name="TextBox 27"/>
          <p:cNvSpPr txBox="1"/>
          <p:nvPr/>
        </p:nvSpPr>
        <p:spPr>
          <a:xfrm>
            <a:off x="777240" y="5440680"/>
            <a:ext cx="10972800" cy="868680"/>
          </a:xfrm>
          <a:prstGeom prst="rect">
            <a:avLst/>
          </a:prstGeom>
          <a:noFill/>
        </p:spPr>
        <p:txBody>
          <a:bodyPr wrap="square" anchor="t" lIns="0" rIns="0" tIns="0" bIns="0">
            <a:spAutoFit/>
          </a:bodyPr>
          <a:lstStyle/>
          <a:p>
            <a:pPr algn="l">
              <a:lnSpc>
                <a:spcPct val="155000"/>
              </a:lnSpc>
            </a:pPr>
            <a:r>
              <a:rPr sz="1100" b="0">
                <a:solidFill>
                  <a:srgbClr val="1A1A1A"/>
                </a:solidFill>
                <a:latin typeface="Hiragino Sans"/>
                <a:ea typeface="Hiragino Sans"/>
                <a:cs typeface="Hiragino Sans"/>
              </a:rPr>
              <a:t>• 中規模以上クライアント (月100万円以上の予算) では Lift Test の月次実施が標準</a:t>
            </a:r>
          </a:p>
          <a:p>
            <a:pPr algn="l">
              <a:lnSpc>
                <a:spcPct val="155000"/>
              </a:lnSpc>
            </a:pPr>
            <a:r>
              <a:rPr sz="1100" b="0">
                <a:solidFill>
                  <a:srgbClr val="1A1A1A"/>
                </a:solidFill>
                <a:latin typeface="Hiragino Sans"/>
                <a:ea typeface="Hiragino Sans"/>
                <a:cs typeface="Hiragino Sans"/>
              </a:rPr>
              <a:t>• クライアントへの提案資料に『Incremental ROAS = X%』を載せると差別化</a:t>
            </a:r>
          </a:p>
          <a:p>
            <a:pPr algn="l">
              <a:lnSpc>
                <a:spcPct val="155000"/>
              </a:lnSpc>
            </a:pPr>
            <a:r>
              <a:rPr sz="1100" b="0">
                <a:solidFill>
                  <a:srgbClr val="1A1A1A"/>
                </a:solidFill>
                <a:latin typeface="Hiragino Sans"/>
                <a:ea typeface="Hiragino Sans"/>
                <a:cs typeface="Hiragino Sans"/>
              </a:rPr>
              <a:t>• Meta内の Conversion Lift は無料、Robyn等での MMM と組合せて運用全体の最適化</a:t>
            </a:r>
          </a:p>
        </p:txBody>
      </p:sp>
      <p:sp>
        <p:nvSpPr>
          <p:cNvPr id="29" name="TextBox 28"/>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Brand Lift Studies</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認知・好意・購入意向の変化を計測</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P72 / 250</a:t>
            </a:r>
          </a:p>
        </p:txBody>
      </p:sp>
      <p:sp>
        <p:nvSpPr>
          <p:cNvPr id="8" name="Rounded Rectangle 7"/>
          <p:cNvSpPr/>
          <p:nvPr/>
        </p:nvSpPr>
        <p:spPr>
          <a:xfrm>
            <a:off x="548640" y="1371600"/>
            <a:ext cx="11109960" cy="914400"/>
          </a:xfrm>
          <a:prstGeom prst="roundRect">
            <a:avLst>
              <a:gd name="adj" fmla="val 6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08760"/>
            <a:ext cx="10972800" cy="731520"/>
          </a:xfrm>
          <a:prstGeom prst="rect">
            <a:avLst/>
          </a:prstGeom>
          <a:noFill/>
        </p:spPr>
        <p:txBody>
          <a:bodyPr wrap="square" anchor="t" lIns="0" rIns="0" tIns="0" bIns="0">
            <a:spAutoFit/>
          </a:bodyPr>
          <a:lstStyle/>
          <a:p>
            <a:pPr algn="l">
              <a:lnSpc>
                <a:spcPct val="150000"/>
              </a:lnSpc>
            </a:pPr>
            <a:r>
              <a:rPr sz="1200" b="0">
                <a:solidFill>
                  <a:srgbClr val="1A1A1A"/>
                </a:solidFill>
                <a:latin typeface="Hiragino Sans"/>
                <a:ea typeface="Hiragino Sans"/>
                <a:cs typeface="Hiragino Sans"/>
              </a:rPr>
              <a:t>Test/Control 群にアンケート (Meta内ポーリング) を配信、ブランド指標の差を計測。</a:t>
            </a:r>
          </a:p>
          <a:p>
            <a:pPr algn="l">
              <a:lnSpc>
                <a:spcPct val="150000"/>
              </a:lnSpc>
            </a:pPr>
            <a:r>
              <a:rPr sz="1200" b="0">
                <a:solidFill>
                  <a:srgbClr val="1A1A1A"/>
                </a:solidFill>
                <a:latin typeface="Hiragino Sans"/>
                <a:ea typeface="Hiragino Sans"/>
                <a:cs typeface="Hiragino Sans"/>
              </a:rPr>
              <a:t>ブランド認知系キャンペーンの真の効果測定 — CTR/CV だけでは見えない領域</a:t>
            </a:r>
          </a:p>
        </p:txBody>
      </p:sp>
      <p:sp>
        <p:nvSpPr>
          <p:cNvPr id="10" name="TextBox 9"/>
          <p:cNvSpPr txBox="1"/>
          <p:nvPr/>
        </p:nvSpPr>
        <p:spPr>
          <a:xfrm>
            <a:off x="548640" y="2423160"/>
            <a:ext cx="1097280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計測される 4 つのブランド指標</a:t>
            </a:r>
          </a:p>
        </p:txBody>
      </p:sp>
      <p:sp>
        <p:nvSpPr>
          <p:cNvPr id="11" name="Rounded Rectangle 10"/>
          <p:cNvSpPr/>
          <p:nvPr/>
        </p:nvSpPr>
        <p:spPr>
          <a:xfrm>
            <a:off x="548640" y="2880360"/>
            <a:ext cx="2697480" cy="2286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880360"/>
            <a:ext cx="2697480" cy="13716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154680"/>
            <a:ext cx="2331720" cy="457200"/>
          </a:xfrm>
          <a:prstGeom prst="rect">
            <a:avLst/>
          </a:prstGeom>
          <a:noFill/>
        </p:spPr>
        <p:txBody>
          <a:bodyPr wrap="square" anchor="t" lIns="0" rIns="0" tIns="0" bIns="0">
            <a:spAutoFit/>
          </a:bodyPr>
          <a:lstStyle/>
          <a:p>
            <a:pPr algn="ctr">
              <a:lnSpc>
                <a:spcPct val="120000"/>
              </a:lnSpc>
            </a:pPr>
            <a:r>
              <a:rPr sz="1400" b="1">
                <a:solidFill>
                  <a:srgbClr val="0F2A4F"/>
                </a:solidFill>
                <a:latin typeface="Hiragino Sans"/>
                <a:ea typeface="Hiragino Sans"/>
                <a:cs typeface="Hiragino Sans"/>
              </a:rPr>
              <a:t>Ad Recall</a:t>
            </a:r>
          </a:p>
        </p:txBody>
      </p:sp>
      <p:sp>
        <p:nvSpPr>
          <p:cNvPr id="14" name="TextBox 13"/>
          <p:cNvSpPr txBox="1"/>
          <p:nvPr/>
        </p:nvSpPr>
        <p:spPr>
          <a:xfrm>
            <a:off x="731520" y="3657600"/>
            <a:ext cx="2331720" cy="274320"/>
          </a:xfrm>
          <a:prstGeom prst="rect">
            <a:avLst/>
          </a:prstGeom>
          <a:noFill/>
        </p:spPr>
        <p:txBody>
          <a:bodyPr wrap="square" anchor="t" lIns="0" rIns="0" tIns="0" bIns="0">
            <a:spAutoFit/>
          </a:bodyPr>
          <a:lstStyle/>
          <a:p>
            <a:pPr algn="ctr">
              <a:lnSpc>
                <a:spcPct val="115000"/>
              </a:lnSpc>
            </a:pPr>
            <a:r>
              <a:rPr sz="1100" b="1">
                <a:solidFill>
                  <a:srgbClr val="B85E1A"/>
                </a:solidFill>
                <a:latin typeface="Hiragino Sans"/>
                <a:ea typeface="Hiragino Sans"/>
                <a:cs typeface="Hiragino Sans"/>
              </a:rPr>
              <a:t>広告想起</a:t>
            </a:r>
          </a:p>
        </p:txBody>
      </p:sp>
      <p:sp>
        <p:nvSpPr>
          <p:cNvPr id="15" name="TextBox 14"/>
          <p:cNvSpPr txBox="1"/>
          <p:nvPr/>
        </p:nvSpPr>
        <p:spPr>
          <a:xfrm>
            <a:off x="731520" y="4069080"/>
            <a:ext cx="2331720" cy="1005840"/>
          </a:xfrm>
          <a:prstGeom prst="rect">
            <a:avLst/>
          </a:prstGeom>
          <a:noFill/>
        </p:spPr>
        <p:txBody>
          <a:bodyPr wrap="square" anchor="t" lIns="0" rIns="0" tIns="0" bIns="0">
            <a:spAutoFit/>
          </a:bodyPr>
          <a:lstStyle/>
          <a:p>
            <a:pPr algn="ctr">
              <a:lnSpc>
                <a:spcPct val="150000"/>
              </a:lnSpc>
            </a:pPr>
            <a:r>
              <a:rPr sz="1000" b="0">
                <a:solidFill>
                  <a:srgbClr val="1A1A1A"/>
                </a:solidFill>
                <a:latin typeface="Hiragino Sans"/>
                <a:ea typeface="Hiragino Sans"/>
                <a:cs typeface="Hiragino Sans"/>
              </a:rPr>
              <a:t>『最近この広告を</a:t>
            </a:r>
          </a:p>
          <a:p>
            <a:pPr algn="ctr">
              <a:lnSpc>
                <a:spcPct val="150000"/>
              </a:lnSpc>
            </a:pPr>
            <a:r>
              <a:rPr sz="1000" b="0">
                <a:solidFill>
                  <a:srgbClr val="1A1A1A"/>
                </a:solidFill>
                <a:latin typeface="Hiragino Sans"/>
                <a:ea typeface="Hiragino Sans"/>
                <a:cs typeface="Hiragino Sans"/>
              </a:rPr>
              <a:t>見ましたか？』</a:t>
            </a:r>
          </a:p>
        </p:txBody>
      </p:sp>
      <p:sp>
        <p:nvSpPr>
          <p:cNvPr id="16" name="Rounded Rectangle 15"/>
          <p:cNvSpPr/>
          <p:nvPr/>
        </p:nvSpPr>
        <p:spPr>
          <a:xfrm>
            <a:off x="3337560" y="2880360"/>
            <a:ext cx="2697480" cy="2286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37560" y="2880360"/>
            <a:ext cx="2697480" cy="13716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20440" y="3154680"/>
            <a:ext cx="2331720" cy="457200"/>
          </a:xfrm>
          <a:prstGeom prst="rect">
            <a:avLst/>
          </a:prstGeom>
          <a:noFill/>
        </p:spPr>
        <p:txBody>
          <a:bodyPr wrap="square" anchor="t" lIns="0" rIns="0" tIns="0" bIns="0">
            <a:spAutoFit/>
          </a:bodyPr>
          <a:lstStyle/>
          <a:p>
            <a:pPr algn="ctr">
              <a:lnSpc>
                <a:spcPct val="120000"/>
              </a:lnSpc>
            </a:pPr>
            <a:r>
              <a:rPr sz="1400" b="1">
                <a:solidFill>
                  <a:srgbClr val="0F2A4F"/>
                </a:solidFill>
                <a:latin typeface="Hiragino Sans"/>
                <a:ea typeface="Hiragino Sans"/>
                <a:cs typeface="Hiragino Sans"/>
              </a:rPr>
              <a:t>Brand Awareness</a:t>
            </a:r>
          </a:p>
        </p:txBody>
      </p:sp>
      <p:sp>
        <p:nvSpPr>
          <p:cNvPr id="19" name="TextBox 18"/>
          <p:cNvSpPr txBox="1"/>
          <p:nvPr/>
        </p:nvSpPr>
        <p:spPr>
          <a:xfrm>
            <a:off x="3520440" y="3657600"/>
            <a:ext cx="2331720" cy="274320"/>
          </a:xfrm>
          <a:prstGeom prst="rect">
            <a:avLst/>
          </a:prstGeom>
          <a:noFill/>
        </p:spPr>
        <p:txBody>
          <a:bodyPr wrap="square" anchor="t" lIns="0" rIns="0" tIns="0" bIns="0">
            <a:spAutoFit/>
          </a:bodyPr>
          <a:lstStyle/>
          <a:p>
            <a:pPr algn="ctr">
              <a:lnSpc>
                <a:spcPct val="115000"/>
              </a:lnSpc>
            </a:pPr>
            <a:r>
              <a:rPr sz="1100" b="1">
                <a:solidFill>
                  <a:srgbClr val="B85E1A"/>
                </a:solidFill>
                <a:latin typeface="Hiragino Sans"/>
                <a:ea typeface="Hiragino Sans"/>
                <a:cs typeface="Hiragino Sans"/>
              </a:rPr>
              <a:t>ブランド認知</a:t>
            </a:r>
          </a:p>
        </p:txBody>
      </p:sp>
      <p:sp>
        <p:nvSpPr>
          <p:cNvPr id="20" name="TextBox 19"/>
          <p:cNvSpPr txBox="1"/>
          <p:nvPr/>
        </p:nvSpPr>
        <p:spPr>
          <a:xfrm>
            <a:off x="3520440" y="4069080"/>
            <a:ext cx="2331720" cy="1005840"/>
          </a:xfrm>
          <a:prstGeom prst="rect">
            <a:avLst/>
          </a:prstGeom>
          <a:noFill/>
        </p:spPr>
        <p:txBody>
          <a:bodyPr wrap="square" anchor="t" lIns="0" rIns="0" tIns="0" bIns="0">
            <a:spAutoFit/>
          </a:bodyPr>
          <a:lstStyle/>
          <a:p>
            <a:pPr algn="ctr">
              <a:lnSpc>
                <a:spcPct val="150000"/>
              </a:lnSpc>
            </a:pPr>
            <a:r>
              <a:rPr sz="1000" b="0">
                <a:solidFill>
                  <a:srgbClr val="1A1A1A"/>
                </a:solidFill>
                <a:latin typeface="Hiragino Sans"/>
                <a:ea typeface="Hiragino Sans"/>
                <a:cs typeface="Hiragino Sans"/>
              </a:rPr>
              <a:t>『〇〇というブランドを</a:t>
            </a:r>
          </a:p>
          <a:p>
            <a:pPr algn="ctr">
              <a:lnSpc>
                <a:spcPct val="150000"/>
              </a:lnSpc>
            </a:pPr>
            <a:r>
              <a:rPr sz="1000" b="0">
                <a:solidFill>
                  <a:srgbClr val="1A1A1A"/>
                </a:solidFill>
                <a:latin typeface="Hiragino Sans"/>
                <a:ea typeface="Hiragino Sans"/>
                <a:cs typeface="Hiragino Sans"/>
              </a:rPr>
              <a:t>知っていますか？』</a:t>
            </a:r>
          </a:p>
        </p:txBody>
      </p:sp>
      <p:sp>
        <p:nvSpPr>
          <p:cNvPr id="21" name="Rounded Rectangle 20"/>
          <p:cNvSpPr/>
          <p:nvPr/>
        </p:nvSpPr>
        <p:spPr>
          <a:xfrm>
            <a:off x="6126480" y="2880360"/>
            <a:ext cx="2697480" cy="2286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26480" y="2880360"/>
            <a:ext cx="2697480" cy="13716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9360" y="3154680"/>
            <a:ext cx="2331720" cy="457200"/>
          </a:xfrm>
          <a:prstGeom prst="rect">
            <a:avLst/>
          </a:prstGeom>
          <a:noFill/>
        </p:spPr>
        <p:txBody>
          <a:bodyPr wrap="square" anchor="t" lIns="0" rIns="0" tIns="0" bIns="0">
            <a:spAutoFit/>
          </a:bodyPr>
          <a:lstStyle/>
          <a:p>
            <a:pPr algn="ctr">
              <a:lnSpc>
                <a:spcPct val="120000"/>
              </a:lnSpc>
            </a:pPr>
            <a:r>
              <a:rPr sz="1400" b="1">
                <a:solidFill>
                  <a:srgbClr val="0F2A4F"/>
                </a:solidFill>
                <a:latin typeface="Hiragino Sans"/>
                <a:ea typeface="Hiragino Sans"/>
                <a:cs typeface="Hiragino Sans"/>
              </a:rPr>
              <a:t>Message Association</a:t>
            </a:r>
          </a:p>
        </p:txBody>
      </p:sp>
      <p:sp>
        <p:nvSpPr>
          <p:cNvPr id="24" name="TextBox 23"/>
          <p:cNvSpPr txBox="1"/>
          <p:nvPr/>
        </p:nvSpPr>
        <p:spPr>
          <a:xfrm>
            <a:off x="6309360" y="3657600"/>
            <a:ext cx="2331720" cy="274320"/>
          </a:xfrm>
          <a:prstGeom prst="rect">
            <a:avLst/>
          </a:prstGeom>
          <a:noFill/>
        </p:spPr>
        <p:txBody>
          <a:bodyPr wrap="square" anchor="t" lIns="0" rIns="0" tIns="0" bIns="0">
            <a:spAutoFit/>
          </a:bodyPr>
          <a:lstStyle/>
          <a:p>
            <a:pPr algn="ctr">
              <a:lnSpc>
                <a:spcPct val="115000"/>
              </a:lnSpc>
            </a:pPr>
            <a:r>
              <a:rPr sz="1100" b="1">
                <a:solidFill>
                  <a:srgbClr val="B85E1A"/>
                </a:solidFill>
                <a:latin typeface="Hiragino Sans"/>
                <a:ea typeface="Hiragino Sans"/>
                <a:cs typeface="Hiragino Sans"/>
              </a:rPr>
              <a:t>メッセージ連想</a:t>
            </a:r>
          </a:p>
        </p:txBody>
      </p:sp>
      <p:sp>
        <p:nvSpPr>
          <p:cNvPr id="25" name="TextBox 24"/>
          <p:cNvSpPr txBox="1"/>
          <p:nvPr/>
        </p:nvSpPr>
        <p:spPr>
          <a:xfrm>
            <a:off x="6309360" y="4069080"/>
            <a:ext cx="2331720" cy="1005840"/>
          </a:xfrm>
          <a:prstGeom prst="rect">
            <a:avLst/>
          </a:prstGeom>
          <a:noFill/>
        </p:spPr>
        <p:txBody>
          <a:bodyPr wrap="square" anchor="t" lIns="0" rIns="0" tIns="0" bIns="0">
            <a:spAutoFit/>
          </a:bodyPr>
          <a:lstStyle/>
          <a:p>
            <a:pPr algn="ctr">
              <a:lnSpc>
                <a:spcPct val="150000"/>
              </a:lnSpc>
            </a:pPr>
            <a:r>
              <a:rPr sz="1000" b="0">
                <a:solidFill>
                  <a:srgbClr val="1A1A1A"/>
                </a:solidFill>
                <a:latin typeface="Hiragino Sans"/>
                <a:ea typeface="Hiragino Sans"/>
                <a:cs typeface="Hiragino Sans"/>
              </a:rPr>
              <a:t>『〇〇は××の特徴を</a:t>
            </a:r>
          </a:p>
          <a:p>
            <a:pPr algn="ctr">
              <a:lnSpc>
                <a:spcPct val="150000"/>
              </a:lnSpc>
            </a:pPr>
            <a:r>
              <a:rPr sz="1000" b="0">
                <a:solidFill>
                  <a:srgbClr val="1A1A1A"/>
                </a:solidFill>
                <a:latin typeface="Hiragino Sans"/>
                <a:ea typeface="Hiragino Sans"/>
                <a:cs typeface="Hiragino Sans"/>
              </a:rPr>
              <a:t>持っていますか？』</a:t>
            </a:r>
          </a:p>
        </p:txBody>
      </p:sp>
      <p:sp>
        <p:nvSpPr>
          <p:cNvPr id="26" name="Rounded Rectangle 25"/>
          <p:cNvSpPr/>
          <p:nvPr/>
        </p:nvSpPr>
        <p:spPr>
          <a:xfrm>
            <a:off x="8915400" y="2880360"/>
            <a:ext cx="2697480" cy="2286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915400" y="2880360"/>
            <a:ext cx="2697480" cy="13716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98280" y="3154680"/>
            <a:ext cx="2331720" cy="457200"/>
          </a:xfrm>
          <a:prstGeom prst="rect">
            <a:avLst/>
          </a:prstGeom>
          <a:noFill/>
        </p:spPr>
        <p:txBody>
          <a:bodyPr wrap="square" anchor="t" lIns="0" rIns="0" tIns="0" bIns="0">
            <a:spAutoFit/>
          </a:bodyPr>
          <a:lstStyle/>
          <a:p>
            <a:pPr algn="ctr">
              <a:lnSpc>
                <a:spcPct val="120000"/>
              </a:lnSpc>
            </a:pPr>
            <a:r>
              <a:rPr sz="1400" b="1">
                <a:solidFill>
                  <a:srgbClr val="0F2A4F"/>
                </a:solidFill>
                <a:latin typeface="Hiragino Sans"/>
                <a:ea typeface="Hiragino Sans"/>
                <a:cs typeface="Hiragino Sans"/>
              </a:rPr>
              <a:t>Purchase Intent</a:t>
            </a:r>
          </a:p>
        </p:txBody>
      </p:sp>
      <p:sp>
        <p:nvSpPr>
          <p:cNvPr id="29" name="TextBox 28"/>
          <p:cNvSpPr txBox="1"/>
          <p:nvPr/>
        </p:nvSpPr>
        <p:spPr>
          <a:xfrm>
            <a:off x="9098280" y="3657600"/>
            <a:ext cx="2331720" cy="274320"/>
          </a:xfrm>
          <a:prstGeom prst="rect">
            <a:avLst/>
          </a:prstGeom>
          <a:noFill/>
        </p:spPr>
        <p:txBody>
          <a:bodyPr wrap="square" anchor="t" lIns="0" rIns="0" tIns="0" bIns="0">
            <a:spAutoFit/>
          </a:bodyPr>
          <a:lstStyle/>
          <a:p>
            <a:pPr algn="ctr">
              <a:lnSpc>
                <a:spcPct val="115000"/>
              </a:lnSpc>
            </a:pPr>
            <a:r>
              <a:rPr sz="1100" b="1">
                <a:solidFill>
                  <a:srgbClr val="B85E1A"/>
                </a:solidFill>
                <a:latin typeface="Hiragino Sans"/>
                <a:ea typeface="Hiragino Sans"/>
                <a:cs typeface="Hiragino Sans"/>
              </a:rPr>
              <a:t>購入意向</a:t>
            </a:r>
          </a:p>
        </p:txBody>
      </p:sp>
      <p:sp>
        <p:nvSpPr>
          <p:cNvPr id="30" name="TextBox 29"/>
          <p:cNvSpPr txBox="1"/>
          <p:nvPr/>
        </p:nvSpPr>
        <p:spPr>
          <a:xfrm>
            <a:off x="9098280" y="4069080"/>
            <a:ext cx="2331720" cy="1005840"/>
          </a:xfrm>
          <a:prstGeom prst="rect">
            <a:avLst/>
          </a:prstGeom>
          <a:noFill/>
        </p:spPr>
        <p:txBody>
          <a:bodyPr wrap="square" anchor="t" lIns="0" rIns="0" tIns="0" bIns="0">
            <a:spAutoFit/>
          </a:bodyPr>
          <a:lstStyle/>
          <a:p>
            <a:pPr algn="ctr">
              <a:lnSpc>
                <a:spcPct val="150000"/>
              </a:lnSpc>
            </a:pPr>
            <a:r>
              <a:rPr sz="1000" b="0">
                <a:solidFill>
                  <a:srgbClr val="1A1A1A"/>
                </a:solidFill>
                <a:latin typeface="Hiragino Sans"/>
                <a:ea typeface="Hiragino Sans"/>
                <a:cs typeface="Hiragino Sans"/>
              </a:rPr>
              <a:t>『次回購入時、〇〇を</a:t>
            </a:r>
          </a:p>
          <a:p>
            <a:pPr algn="ctr">
              <a:lnSpc>
                <a:spcPct val="150000"/>
              </a:lnSpc>
            </a:pPr>
            <a:r>
              <a:rPr sz="1000" b="0">
                <a:solidFill>
                  <a:srgbClr val="1A1A1A"/>
                </a:solidFill>
                <a:latin typeface="Hiragino Sans"/>
                <a:ea typeface="Hiragino Sans"/>
                <a:cs typeface="Hiragino Sans"/>
              </a:rPr>
              <a:t>選びますか？』</a:t>
            </a:r>
          </a:p>
        </p:txBody>
      </p:sp>
      <p:sp>
        <p:nvSpPr>
          <p:cNvPr id="31" name="Rounded Rectangle 30"/>
          <p:cNvSpPr/>
          <p:nvPr/>
        </p:nvSpPr>
        <p:spPr>
          <a:xfrm>
            <a:off x="548640" y="5349240"/>
            <a:ext cx="11109960" cy="100584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7240" y="5440680"/>
            <a:ext cx="10058400" cy="320040"/>
          </a:xfrm>
          <a:prstGeom prst="rect">
            <a:avLst/>
          </a:prstGeom>
          <a:noFill/>
        </p:spPr>
        <p:txBody>
          <a:bodyPr wrap="square" anchor="t" lIns="0" rIns="0" tIns="0" bIns="0">
            <a:spAutoFit/>
          </a:bodyPr>
          <a:lstStyle/>
          <a:p>
            <a:pPr algn="l">
              <a:lnSpc>
                <a:spcPct val="115000"/>
              </a:lnSpc>
            </a:pPr>
            <a:r>
              <a:rPr sz="1200" b="1">
                <a:solidFill>
                  <a:srgbClr val="E87722"/>
                </a:solidFill>
                <a:latin typeface="Hiragino Sans"/>
                <a:ea typeface="Hiragino Sans"/>
                <a:cs typeface="Hiragino Sans"/>
              </a:rPr>
              <a:t>💡 副業代行での実用性</a:t>
            </a:r>
          </a:p>
        </p:txBody>
      </p:sp>
      <p:sp>
        <p:nvSpPr>
          <p:cNvPr id="33" name="TextBox 32"/>
          <p:cNvSpPr txBox="1"/>
          <p:nvPr/>
        </p:nvSpPr>
        <p:spPr>
          <a:xfrm>
            <a:off x="777240" y="5760720"/>
            <a:ext cx="10972800" cy="548640"/>
          </a:xfrm>
          <a:prstGeom prst="rect">
            <a:avLst/>
          </a:prstGeom>
          <a:noFill/>
        </p:spPr>
        <p:txBody>
          <a:bodyPr wrap="square" anchor="t" lIns="0" rIns="0" tIns="0" bIns="0">
            <a:spAutoFit/>
          </a:bodyPr>
          <a:lstStyle/>
          <a:p>
            <a:pPr algn="l">
              <a:lnSpc>
                <a:spcPct val="150000"/>
              </a:lnSpc>
            </a:pPr>
            <a:r>
              <a:rPr sz="1100" b="0">
                <a:solidFill>
                  <a:srgbClr val="FFFFFF"/>
                </a:solidFill>
                <a:latin typeface="Hiragino Sans"/>
                <a:ea typeface="Hiragino Sans"/>
                <a:cs typeface="Hiragino Sans"/>
              </a:rPr>
              <a:t>• 月額 100万円以上の Awareness / Reach キャンペーンで活用が現実的</a:t>
            </a:r>
          </a:p>
          <a:p>
            <a:pPr algn="l">
              <a:lnSpc>
                <a:spcPct val="150000"/>
              </a:lnSpc>
            </a:pPr>
            <a:r>
              <a:rPr sz="1100" b="0">
                <a:solidFill>
                  <a:srgbClr val="FFFFFF"/>
                </a:solidFill>
                <a:latin typeface="Hiragino Sans"/>
                <a:ea typeface="Hiragino Sans"/>
                <a:cs typeface="Hiragino Sans"/>
              </a:rPr>
              <a:t>• 中小予算の場合: GA4 の指名検索数や直接流入の動きを代替指標に</a:t>
            </a:r>
          </a:p>
        </p:txBody>
      </p:sp>
      <p:sp>
        <p:nvSpPr>
          <p:cNvPr id="34" name="TextBox 33"/>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Meta Verified for Business</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事業者向けの本人確認 + 認証マーク (2024~)</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P73 / 250</a:t>
            </a:r>
          </a:p>
        </p:txBody>
      </p:sp>
      <p:sp>
        <p:nvSpPr>
          <p:cNvPr id="8" name="Rounded Rectangle 7"/>
          <p:cNvSpPr/>
          <p:nvPr/>
        </p:nvSpPr>
        <p:spPr>
          <a:xfrm>
            <a:off x="548640" y="1371600"/>
            <a:ext cx="11109960" cy="91440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08760"/>
            <a:ext cx="10972800" cy="731520"/>
          </a:xfrm>
          <a:prstGeom prst="rect">
            <a:avLst/>
          </a:prstGeom>
          <a:noFill/>
        </p:spPr>
        <p:txBody>
          <a:bodyPr wrap="square" anchor="t" lIns="0" rIns="0" tIns="0" bIns="0">
            <a:spAutoFit/>
          </a:bodyPr>
          <a:lstStyle/>
          <a:p>
            <a:pPr algn="l">
              <a:lnSpc>
                <a:spcPct val="150000"/>
              </a:lnSpc>
            </a:pPr>
            <a:r>
              <a:rPr sz="1200" b="0">
                <a:solidFill>
                  <a:srgbClr val="FFFFFF"/>
                </a:solidFill>
                <a:latin typeface="Hiragino Sans"/>
                <a:ea typeface="Hiragino Sans"/>
                <a:cs typeface="Hiragino Sans"/>
              </a:rPr>
              <a:t>Facebook Page / Instagram Business Account に対する公式認証バッジ。</a:t>
            </a:r>
          </a:p>
          <a:p>
            <a:pPr algn="l">
              <a:lnSpc>
                <a:spcPct val="150000"/>
              </a:lnSpc>
            </a:pPr>
            <a:r>
              <a:rPr sz="1200" b="0">
                <a:solidFill>
                  <a:srgbClr val="FFFFFF"/>
                </a:solidFill>
                <a:latin typeface="Hiragino Sans"/>
                <a:ea typeface="Hiragino Sans"/>
                <a:cs typeface="Hiragino Sans"/>
              </a:rPr>
              <a:t>本人確認書類提出 + 月額サブスク (USD 14.99/月、ビジネスは USD 21.99/月程度) ※要確認</a:t>
            </a:r>
          </a:p>
        </p:txBody>
      </p:sp>
      <p:sp>
        <p:nvSpPr>
          <p:cNvPr id="10" name="TextBox 9"/>
          <p:cNvSpPr txBox="1"/>
          <p:nvPr/>
        </p:nvSpPr>
        <p:spPr>
          <a:xfrm>
            <a:off x="548640" y="2423160"/>
            <a:ext cx="731520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Verified の主なメリット</a:t>
            </a:r>
          </a:p>
        </p:txBody>
      </p:sp>
      <p:sp>
        <p:nvSpPr>
          <p:cNvPr id="11" name="Rounded Rectangle 10"/>
          <p:cNvSpPr/>
          <p:nvPr/>
        </p:nvSpPr>
        <p:spPr>
          <a:xfrm>
            <a:off x="548640" y="2880360"/>
            <a:ext cx="5440680" cy="150876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880360"/>
            <a:ext cx="91440" cy="150876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3044952"/>
            <a:ext cx="5074920" cy="36576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公式バッジ表示</a:t>
            </a:r>
          </a:p>
        </p:txBody>
      </p:sp>
      <p:sp>
        <p:nvSpPr>
          <p:cNvPr id="14" name="TextBox 13"/>
          <p:cNvSpPr txBox="1"/>
          <p:nvPr/>
        </p:nvSpPr>
        <p:spPr>
          <a:xfrm>
            <a:off x="777240" y="3429000"/>
            <a:ext cx="5074920" cy="365760"/>
          </a:xfrm>
          <a:prstGeom prst="rect">
            <a:avLst/>
          </a:prstGeom>
          <a:noFill/>
        </p:spPr>
        <p:txBody>
          <a:bodyPr wrap="square" anchor="t" lIns="0" rIns="0" tIns="0" bIns="0">
            <a:spAutoFit/>
          </a:bodyPr>
          <a:lstStyle/>
          <a:p>
            <a:pPr algn="l">
              <a:lnSpc>
                <a:spcPct val="115000"/>
              </a:lnSpc>
            </a:pPr>
            <a:r>
              <a:rPr sz="1100" b="1">
                <a:solidFill>
                  <a:srgbClr val="B85E1A"/>
                </a:solidFill>
                <a:latin typeface="Hiragino Sans"/>
                <a:ea typeface="Hiragino Sans"/>
                <a:cs typeface="Hiragino Sans"/>
              </a:rPr>
              <a:t>✓マーク表示で信頼性アップ</a:t>
            </a:r>
          </a:p>
        </p:txBody>
      </p:sp>
      <p:sp>
        <p:nvSpPr>
          <p:cNvPr id="15" name="TextBox 14"/>
          <p:cNvSpPr txBox="1"/>
          <p:nvPr/>
        </p:nvSpPr>
        <p:spPr>
          <a:xfrm>
            <a:off x="777240" y="3840480"/>
            <a:ext cx="5074920" cy="45720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なりすまし対策、ブランド保護</a:t>
            </a:r>
          </a:p>
        </p:txBody>
      </p:sp>
      <p:sp>
        <p:nvSpPr>
          <p:cNvPr id="16" name="Rounded Rectangle 15"/>
          <p:cNvSpPr/>
          <p:nvPr/>
        </p:nvSpPr>
        <p:spPr>
          <a:xfrm>
            <a:off x="6172200" y="2880360"/>
            <a:ext cx="5440680" cy="150876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72200" y="2880360"/>
            <a:ext cx="91440" cy="150876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3044952"/>
            <a:ext cx="5074920" cy="36576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優先サポート</a:t>
            </a:r>
          </a:p>
        </p:txBody>
      </p:sp>
      <p:sp>
        <p:nvSpPr>
          <p:cNvPr id="19" name="TextBox 18"/>
          <p:cNvSpPr txBox="1"/>
          <p:nvPr/>
        </p:nvSpPr>
        <p:spPr>
          <a:xfrm>
            <a:off x="6400800" y="3429000"/>
            <a:ext cx="5074920" cy="365760"/>
          </a:xfrm>
          <a:prstGeom prst="rect">
            <a:avLst/>
          </a:prstGeom>
          <a:noFill/>
        </p:spPr>
        <p:txBody>
          <a:bodyPr wrap="square" anchor="t" lIns="0" rIns="0" tIns="0" bIns="0">
            <a:spAutoFit/>
          </a:bodyPr>
          <a:lstStyle/>
          <a:p>
            <a:pPr algn="l">
              <a:lnSpc>
                <a:spcPct val="115000"/>
              </a:lnSpc>
            </a:pPr>
            <a:r>
              <a:rPr sz="1100" b="1">
                <a:solidFill>
                  <a:srgbClr val="B85E1A"/>
                </a:solidFill>
                <a:latin typeface="Hiragino Sans"/>
                <a:ea typeface="Hiragino Sans"/>
                <a:cs typeface="Hiragino Sans"/>
              </a:rPr>
              <a:t>サポート問い合わせの優先窓口</a:t>
            </a:r>
          </a:p>
        </p:txBody>
      </p:sp>
      <p:sp>
        <p:nvSpPr>
          <p:cNvPr id="20" name="TextBox 19"/>
          <p:cNvSpPr txBox="1"/>
          <p:nvPr/>
        </p:nvSpPr>
        <p:spPr>
          <a:xfrm>
            <a:off x="6400800" y="3840480"/>
            <a:ext cx="5074920" cy="45720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アカウント停止対応も早い</a:t>
            </a:r>
          </a:p>
        </p:txBody>
      </p:sp>
      <p:sp>
        <p:nvSpPr>
          <p:cNvPr id="21" name="Rounded Rectangle 20"/>
          <p:cNvSpPr/>
          <p:nvPr/>
        </p:nvSpPr>
        <p:spPr>
          <a:xfrm>
            <a:off x="548640" y="4526280"/>
            <a:ext cx="5440680" cy="150876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4526280"/>
            <a:ext cx="91440" cy="150876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690872"/>
            <a:ext cx="5074920" cy="36576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リーチ強化</a:t>
            </a:r>
          </a:p>
        </p:txBody>
      </p:sp>
      <p:sp>
        <p:nvSpPr>
          <p:cNvPr id="24" name="TextBox 23"/>
          <p:cNvSpPr txBox="1"/>
          <p:nvPr/>
        </p:nvSpPr>
        <p:spPr>
          <a:xfrm>
            <a:off x="777240" y="5074920"/>
            <a:ext cx="5074920" cy="365760"/>
          </a:xfrm>
          <a:prstGeom prst="rect">
            <a:avLst/>
          </a:prstGeom>
          <a:noFill/>
        </p:spPr>
        <p:txBody>
          <a:bodyPr wrap="square" anchor="t" lIns="0" rIns="0" tIns="0" bIns="0">
            <a:spAutoFit/>
          </a:bodyPr>
          <a:lstStyle/>
          <a:p>
            <a:pPr algn="l">
              <a:lnSpc>
                <a:spcPct val="115000"/>
              </a:lnSpc>
            </a:pPr>
            <a:r>
              <a:rPr sz="1100" b="1">
                <a:solidFill>
                  <a:srgbClr val="B85E1A"/>
                </a:solidFill>
                <a:latin typeface="Hiragino Sans"/>
                <a:ea typeface="Hiragino Sans"/>
                <a:cs typeface="Hiragino Sans"/>
              </a:rPr>
              <a:t>公式アカウント露出増加</a:t>
            </a:r>
          </a:p>
        </p:txBody>
      </p:sp>
      <p:sp>
        <p:nvSpPr>
          <p:cNvPr id="25" name="TextBox 24"/>
          <p:cNvSpPr txBox="1"/>
          <p:nvPr/>
        </p:nvSpPr>
        <p:spPr>
          <a:xfrm>
            <a:off x="777240" y="5486400"/>
            <a:ext cx="5074920" cy="45720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オーガニック投稿の到達増 ※要確認</a:t>
            </a:r>
          </a:p>
        </p:txBody>
      </p:sp>
      <p:sp>
        <p:nvSpPr>
          <p:cNvPr id="26" name="Rounded Rectangle 25"/>
          <p:cNvSpPr/>
          <p:nvPr/>
        </p:nvSpPr>
        <p:spPr>
          <a:xfrm>
            <a:off x="6172200" y="4526280"/>
            <a:ext cx="5440680" cy="150876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72200" y="4526280"/>
            <a:ext cx="91440" cy="150876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0" y="4690872"/>
            <a:ext cx="5074920" cy="36576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AI機能優先アクセス</a:t>
            </a:r>
          </a:p>
        </p:txBody>
      </p:sp>
      <p:sp>
        <p:nvSpPr>
          <p:cNvPr id="29" name="TextBox 28"/>
          <p:cNvSpPr txBox="1"/>
          <p:nvPr/>
        </p:nvSpPr>
        <p:spPr>
          <a:xfrm>
            <a:off x="6400800" y="5074920"/>
            <a:ext cx="5074920" cy="365760"/>
          </a:xfrm>
          <a:prstGeom prst="rect">
            <a:avLst/>
          </a:prstGeom>
          <a:noFill/>
        </p:spPr>
        <p:txBody>
          <a:bodyPr wrap="square" anchor="t" lIns="0" rIns="0" tIns="0" bIns="0">
            <a:spAutoFit/>
          </a:bodyPr>
          <a:lstStyle/>
          <a:p>
            <a:pPr algn="l">
              <a:lnSpc>
                <a:spcPct val="115000"/>
              </a:lnSpc>
            </a:pPr>
            <a:r>
              <a:rPr sz="1100" b="1">
                <a:solidFill>
                  <a:srgbClr val="B85E1A"/>
                </a:solidFill>
                <a:latin typeface="Hiragino Sans"/>
                <a:ea typeface="Hiragino Sans"/>
                <a:cs typeface="Hiragino Sans"/>
              </a:rPr>
              <a:t>新機能の早期試用</a:t>
            </a:r>
          </a:p>
        </p:txBody>
      </p:sp>
      <p:sp>
        <p:nvSpPr>
          <p:cNvPr id="30" name="TextBox 29"/>
          <p:cNvSpPr txBox="1"/>
          <p:nvPr/>
        </p:nvSpPr>
        <p:spPr>
          <a:xfrm>
            <a:off x="6400800" y="5486400"/>
            <a:ext cx="5074920" cy="45720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Verified 限定の Beta機能</a:t>
            </a:r>
          </a:p>
        </p:txBody>
      </p:sp>
      <p:sp>
        <p:nvSpPr>
          <p:cNvPr id="31" name="TextBox 30"/>
          <p:cNvSpPr txBox="1"/>
          <p:nvPr/>
        </p:nvSpPr>
        <p:spPr>
          <a:xfrm>
            <a:off x="548640" y="6080760"/>
            <a:ext cx="1097280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 副業代行 : クライアントへの『信頼度上げる』提案として基本パッケージに組み込み可</a:t>
            </a:r>
          </a:p>
        </p:txBody>
      </p:sp>
      <p:sp>
        <p:nvSpPr>
          <p:cNvPr id="32" name="TextBox 31"/>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Brand Safety / Inventory Filter</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配信面の安全性をコントロールする</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P74 / 250</a:t>
            </a:r>
          </a:p>
        </p:txBody>
      </p:sp>
      <p:sp>
        <p:nvSpPr>
          <p:cNvPr id="8" name="Rounded Rectangle 7"/>
          <p:cNvSpPr/>
          <p:nvPr/>
        </p:nvSpPr>
        <p:spPr>
          <a:xfrm>
            <a:off x="548640" y="1417320"/>
            <a:ext cx="3611880" cy="33832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3611880" cy="777240"/>
          </a:xfrm>
          <a:prstGeom prst="rect">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536192"/>
            <a:ext cx="3246120" cy="365760"/>
          </a:xfrm>
          <a:prstGeom prst="rect">
            <a:avLst/>
          </a:prstGeom>
          <a:noFill/>
        </p:spPr>
        <p:txBody>
          <a:bodyPr wrap="square" anchor="t" lIns="0" rIns="0" tIns="0" bIns="0">
            <a:spAutoFit/>
          </a:bodyPr>
          <a:lstStyle/>
          <a:p>
            <a:pPr algn="l">
              <a:lnSpc>
                <a:spcPct val="115000"/>
              </a:lnSpc>
            </a:pPr>
            <a:r>
              <a:rPr sz="1400" b="1">
                <a:solidFill>
                  <a:srgbClr val="FFFFFF"/>
                </a:solidFill>
                <a:latin typeface="Hiragino Sans"/>
                <a:ea typeface="Hiragino Sans"/>
                <a:cs typeface="Hiragino Sans"/>
              </a:rPr>
              <a:t>Expanded Inventory</a:t>
            </a:r>
          </a:p>
        </p:txBody>
      </p:sp>
      <p:sp>
        <p:nvSpPr>
          <p:cNvPr id="11" name="TextBox 10"/>
          <p:cNvSpPr txBox="1"/>
          <p:nvPr/>
        </p:nvSpPr>
        <p:spPr>
          <a:xfrm>
            <a:off x="777240" y="1920240"/>
            <a:ext cx="3246120" cy="27432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最大配信</a:t>
            </a:r>
          </a:p>
        </p:txBody>
      </p:sp>
      <p:sp>
        <p:nvSpPr>
          <p:cNvPr id="12" name="TextBox 11"/>
          <p:cNvSpPr txBox="1"/>
          <p:nvPr/>
        </p:nvSpPr>
        <p:spPr>
          <a:xfrm>
            <a:off x="777240" y="2423160"/>
            <a:ext cx="3246120" cy="1280160"/>
          </a:xfrm>
          <a:prstGeom prst="rect">
            <a:avLst/>
          </a:prstGeom>
          <a:noFill/>
        </p:spPr>
        <p:txBody>
          <a:bodyPr wrap="square" anchor="t" lIns="0" rIns="0" tIns="0" bIns="0">
            <a:spAutoFit/>
          </a:bodyPr>
          <a:lstStyle/>
          <a:p>
            <a:pPr algn="l">
              <a:lnSpc>
                <a:spcPct val="155000"/>
              </a:lnSpc>
            </a:pPr>
            <a:r>
              <a:rPr sz="1100" b="0">
                <a:solidFill>
                  <a:srgbClr val="1A1A1A"/>
                </a:solidFill>
                <a:latin typeface="Hiragino Sans"/>
                <a:ea typeface="Hiragino Sans"/>
                <a:cs typeface="Hiragino Sans"/>
              </a:rPr>
              <a:t>成熟度問わず全コンテンツ</a:t>
            </a:r>
          </a:p>
          <a:p>
            <a:pPr algn="l">
              <a:lnSpc>
                <a:spcPct val="155000"/>
              </a:lnSpc>
            </a:pPr>
            <a:r>
              <a:rPr sz="1100" b="0">
                <a:solidFill>
                  <a:srgbClr val="1A1A1A"/>
                </a:solidFill>
                <a:latin typeface="Hiragino Sans"/>
                <a:ea typeface="Hiragino Sans"/>
                <a:cs typeface="Hiragino Sans"/>
              </a:rPr>
              <a:t>(暴力・成人向けは除く)</a:t>
            </a:r>
          </a:p>
        </p:txBody>
      </p:sp>
      <p:sp>
        <p:nvSpPr>
          <p:cNvPr id="13" name="Rectangle 12"/>
          <p:cNvSpPr/>
          <p:nvPr/>
        </p:nvSpPr>
        <p:spPr>
          <a:xfrm>
            <a:off x="777240" y="3703320"/>
            <a:ext cx="315468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886200"/>
            <a:ext cx="3246120" cy="274320"/>
          </a:xfrm>
          <a:prstGeom prst="rect">
            <a:avLst/>
          </a:prstGeom>
          <a:noFill/>
        </p:spPr>
        <p:txBody>
          <a:bodyPr wrap="square" anchor="t" lIns="0" rIns="0" tIns="0" bIns="0">
            <a:spAutoFit/>
          </a:bodyPr>
          <a:lstStyle/>
          <a:p>
            <a:pPr algn="l">
              <a:lnSpc>
                <a:spcPct val="115000"/>
              </a:lnSpc>
            </a:pPr>
            <a:r>
              <a:rPr sz="1000" b="1">
                <a:solidFill>
                  <a:srgbClr val="B85E1A"/>
                </a:solidFill>
                <a:latin typeface="Hiragino Sans"/>
                <a:ea typeface="Hiragino Sans"/>
                <a:cs typeface="Hiragino Sans"/>
              </a:rPr>
              <a:t>適合する用途</a:t>
            </a:r>
          </a:p>
        </p:txBody>
      </p:sp>
      <p:sp>
        <p:nvSpPr>
          <p:cNvPr id="15" name="TextBox 14"/>
          <p:cNvSpPr txBox="1"/>
          <p:nvPr/>
        </p:nvSpPr>
        <p:spPr>
          <a:xfrm>
            <a:off x="777240" y="4160520"/>
            <a:ext cx="3246120" cy="54864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リーチ最大化、CPM最安</a:t>
            </a:r>
          </a:p>
        </p:txBody>
      </p:sp>
      <p:sp>
        <p:nvSpPr>
          <p:cNvPr id="16" name="Rounded Rectangle 15"/>
          <p:cNvSpPr/>
          <p:nvPr/>
        </p:nvSpPr>
        <p:spPr>
          <a:xfrm>
            <a:off x="4297680" y="1417320"/>
            <a:ext cx="3611880" cy="33832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297680" y="1417320"/>
            <a:ext cx="361188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26280" y="1536192"/>
            <a:ext cx="3246120" cy="365760"/>
          </a:xfrm>
          <a:prstGeom prst="rect">
            <a:avLst/>
          </a:prstGeom>
          <a:noFill/>
        </p:spPr>
        <p:txBody>
          <a:bodyPr wrap="square" anchor="t" lIns="0" rIns="0" tIns="0" bIns="0">
            <a:spAutoFit/>
          </a:bodyPr>
          <a:lstStyle/>
          <a:p>
            <a:pPr algn="l">
              <a:lnSpc>
                <a:spcPct val="115000"/>
              </a:lnSpc>
            </a:pPr>
            <a:r>
              <a:rPr sz="1400" b="1">
                <a:solidFill>
                  <a:srgbClr val="FFFFFF"/>
                </a:solidFill>
                <a:latin typeface="Hiragino Sans"/>
                <a:ea typeface="Hiragino Sans"/>
                <a:cs typeface="Hiragino Sans"/>
              </a:rPr>
              <a:t>Moderate Inventory</a:t>
            </a:r>
          </a:p>
        </p:txBody>
      </p:sp>
      <p:sp>
        <p:nvSpPr>
          <p:cNvPr id="19" name="TextBox 18"/>
          <p:cNvSpPr txBox="1"/>
          <p:nvPr/>
        </p:nvSpPr>
        <p:spPr>
          <a:xfrm>
            <a:off x="4526280" y="1920240"/>
            <a:ext cx="3246120" cy="27432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標準 (デフォルト)</a:t>
            </a:r>
          </a:p>
        </p:txBody>
      </p:sp>
      <p:sp>
        <p:nvSpPr>
          <p:cNvPr id="20" name="TextBox 19"/>
          <p:cNvSpPr txBox="1"/>
          <p:nvPr/>
        </p:nvSpPr>
        <p:spPr>
          <a:xfrm>
            <a:off x="4526280" y="2423160"/>
            <a:ext cx="3246120" cy="1280160"/>
          </a:xfrm>
          <a:prstGeom prst="rect">
            <a:avLst/>
          </a:prstGeom>
          <a:noFill/>
        </p:spPr>
        <p:txBody>
          <a:bodyPr wrap="square" anchor="t" lIns="0" rIns="0" tIns="0" bIns="0">
            <a:spAutoFit/>
          </a:bodyPr>
          <a:lstStyle/>
          <a:p>
            <a:pPr algn="l">
              <a:lnSpc>
                <a:spcPct val="155000"/>
              </a:lnSpc>
            </a:pPr>
            <a:r>
              <a:rPr sz="1100" b="0">
                <a:solidFill>
                  <a:srgbClr val="1A1A1A"/>
                </a:solidFill>
                <a:latin typeface="Hiragino Sans"/>
                <a:ea typeface="Hiragino Sans"/>
                <a:cs typeface="Hiragino Sans"/>
              </a:rPr>
              <a:t>敏感な内容を一部除外</a:t>
            </a:r>
          </a:p>
          <a:p>
            <a:pPr algn="l">
              <a:lnSpc>
                <a:spcPct val="155000"/>
              </a:lnSpc>
            </a:pPr>
            <a:r>
              <a:rPr sz="1100" b="0">
                <a:solidFill>
                  <a:srgbClr val="1A1A1A"/>
                </a:solidFill>
                <a:latin typeface="Hiragino Sans"/>
                <a:ea typeface="Hiragino Sans"/>
                <a:cs typeface="Hiragino Sans"/>
              </a:rPr>
              <a:t>業界標準のフィルタ</a:t>
            </a:r>
          </a:p>
        </p:txBody>
      </p:sp>
      <p:sp>
        <p:nvSpPr>
          <p:cNvPr id="21" name="Rectangle 20"/>
          <p:cNvSpPr/>
          <p:nvPr/>
        </p:nvSpPr>
        <p:spPr>
          <a:xfrm>
            <a:off x="4526280" y="3703320"/>
            <a:ext cx="315468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26280" y="3886200"/>
            <a:ext cx="3246120" cy="274320"/>
          </a:xfrm>
          <a:prstGeom prst="rect">
            <a:avLst/>
          </a:prstGeom>
          <a:noFill/>
        </p:spPr>
        <p:txBody>
          <a:bodyPr wrap="square" anchor="t" lIns="0" rIns="0" tIns="0" bIns="0">
            <a:spAutoFit/>
          </a:bodyPr>
          <a:lstStyle/>
          <a:p>
            <a:pPr algn="l">
              <a:lnSpc>
                <a:spcPct val="115000"/>
              </a:lnSpc>
            </a:pPr>
            <a:r>
              <a:rPr sz="1000" b="1">
                <a:solidFill>
                  <a:srgbClr val="B85E1A"/>
                </a:solidFill>
                <a:latin typeface="Hiragino Sans"/>
                <a:ea typeface="Hiragino Sans"/>
                <a:cs typeface="Hiragino Sans"/>
              </a:rPr>
              <a:t>適合する用途</a:t>
            </a:r>
          </a:p>
        </p:txBody>
      </p:sp>
      <p:sp>
        <p:nvSpPr>
          <p:cNvPr id="23" name="TextBox 22"/>
          <p:cNvSpPr txBox="1"/>
          <p:nvPr/>
        </p:nvSpPr>
        <p:spPr>
          <a:xfrm>
            <a:off x="4526280" y="4160520"/>
            <a:ext cx="3246120" cy="54864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バランス型、汎用的</a:t>
            </a:r>
          </a:p>
        </p:txBody>
      </p:sp>
      <p:sp>
        <p:nvSpPr>
          <p:cNvPr id="24" name="Rounded Rectangle 23"/>
          <p:cNvSpPr/>
          <p:nvPr/>
        </p:nvSpPr>
        <p:spPr>
          <a:xfrm>
            <a:off x="8046720" y="1417320"/>
            <a:ext cx="3611880" cy="33832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046720" y="1417320"/>
            <a:ext cx="361188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75320" y="1536192"/>
            <a:ext cx="3246120" cy="365760"/>
          </a:xfrm>
          <a:prstGeom prst="rect">
            <a:avLst/>
          </a:prstGeom>
          <a:noFill/>
        </p:spPr>
        <p:txBody>
          <a:bodyPr wrap="square" anchor="t" lIns="0" rIns="0" tIns="0" bIns="0">
            <a:spAutoFit/>
          </a:bodyPr>
          <a:lstStyle/>
          <a:p>
            <a:pPr algn="l">
              <a:lnSpc>
                <a:spcPct val="115000"/>
              </a:lnSpc>
            </a:pPr>
            <a:r>
              <a:rPr sz="1400" b="1">
                <a:solidFill>
                  <a:srgbClr val="FFFFFF"/>
                </a:solidFill>
                <a:latin typeface="Hiragino Sans"/>
                <a:ea typeface="Hiragino Sans"/>
                <a:cs typeface="Hiragino Sans"/>
              </a:rPr>
              <a:t>Limited Inventory</a:t>
            </a:r>
          </a:p>
        </p:txBody>
      </p:sp>
      <p:sp>
        <p:nvSpPr>
          <p:cNvPr id="27" name="TextBox 26"/>
          <p:cNvSpPr txBox="1"/>
          <p:nvPr/>
        </p:nvSpPr>
        <p:spPr>
          <a:xfrm>
            <a:off x="8275320" y="1920240"/>
            <a:ext cx="3246120" cy="27432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厳しい</a:t>
            </a:r>
          </a:p>
        </p:txBody>
      </p:sp>
      <p:sp>
        <p:nvSpPr>
          <p:cNvPr id="28" name="TextBox 27"/>
          <p:cNvSpPr txBox="1"/>
          <p:nvPr/>
        </p:nvSpPr>
        <p:spPr>
          <a:xfrm>
            <a:off x="8275320" y="2423160"/>
            <a:ext cx="3246120" cy="1280160"/>
          </a:xfrm>
          <a:prstGeom prst="rect">
            <a:avLst/>
          </a:prstGeom>
          <a:noFill/>
        </p:spPr>
        <p:txBody>
          <a:bodyPr wrap="square" anchor="t" lIns="0" rIns="0" tIns="0" bIns="0">
            <a:spAutoFit/>
          </a:bodyPr>
          <a:lstStyle/>
          <a:p>
            <a:pPr algn="l">
              <a:lnSpc>
                <a:spcPct val="155000"/>
              </a:lnSpc>
            </a:pPr>
            <a:r>
              <a:rPr sz="1100" b="0">
                <a:solidFill>
                  <a:srgbClr val="1A1A1A"/>
                </a:solidFill>
                <a:latin typeface="Hiragino Sans"/>
                <a:ea typeface="Hiragino Sans"/>
                <a:cs typeface="Hiragino Sans"/>
              </a:rPr>
              <a:t>敏感な内容を厳格に除外</a:t>
            </a:r>
          </a:p>
          <a:p>
            <a:pPr algn="l">
              <a:lnSpc>
                <a:spcPct val="155000"/>
              </a:lnSpc>
            </a:pPr>
            <a:r>
              <a:rPr sz="1100" b="0">
                <a:solidFill>
                  <a:srgbClr val="1A1A1A"/>
                </a:solidFill>
                <a:latin typeface="Hiragino Sans"/>
                <a:ea typeface="Hiragino Sans"/>
                <a:cs typeface="Hiragino Sans"/>
              </a:rPr>
              <a:t>金融・医療・教育向け</a:t>
            </a:r>
          </a:p>
        </p:txBody>
      </p:sp>
      <p:sp>
        <p:nvSpPr>
          <p:cNvPr id="29" name="Rectangle 28"/>
          <p:cNvSpPr/>
          <p:nvPr/>
        </p:nvSpPr>
        <p:spPr>
          <a:xfrm>
            <a:off x="8275320" y="3703320"/>
            <a:ext cx="315468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75320" y="3886200"/>
            <a:ext cx="3246120" cy="274320"/>
          </a:xfrm>
          <a:prstGeom prst="rect">
            <a:avLst/>
          </a:prstGeom>
          <a:noFill/>
        </p:spPr>
        <p:txBody>
          <a:bodyPr wrap="square" anchor="t" lIns="0" rIns="0" tIns="0" bIns="0">
            <a:spAutoFit/>
          </a:bodyPr>
          <a:lstStyle/>
          <a:p>
            <a:pPr algn="l">
              <a:lnSpc>
                <a:spcPct val="115000"/>
              </a:lnSpc>
            </a:pPr>
            <a:r>
              <a:rPr sz="1000" b="1">
                <a:solidFill>
                  <a:srgbClr val="B85E1A"/>
                </a:solidFill>
                <a:latin typeface="Hiragino Sans"/>
                <a:ea typeface="Hiragino Sans"/>
                <a:cs typeface="Hiragino Sans"/>
              </a:rPr>
              <a:t>適合する用途</a:t>
            </a:r>
          </a:p>
        </p:txBody>
      </p:sp>
      <p:sp>
        <p:nvSpPr>
          <p:cNvPr id="31" name="TextBox 30"/>
          <p:cNvSpPr txBox="1"/>
          <p:nvPr/>
        </p:nvSpPr>
        <p:spPr>
          <a:xfrm>
            <a:off x="8275320" y="4160520"/>
            <a:ext cx="3246120" cy="54864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高単価ブランド、規制厳しい業界</a:t>
            </a:r>
          </a:p>
        </p:txBody>
      </p:sp>
      <p:sp>
        <p:nvSpPr>
          <p:cNvPr id="32" name="Rounded Rectangle 31"/>
          <p:cNvSpPr/>
          <p:nvPr/>
        </p:nvSpPr>
        <p:spPr>
          <a:xfrm>
            <a:off x="548640" y="4983480"/>
            <a:ext cx="11109960" cy="137160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7240" y="5120640"/>
            <a:ext cx="100584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 副業代行での選び方</a:t>
            </a:r>
          </a:p>
        </p:txBody>
      </p:sp>
      <p:sp>
        <p:nvSpPr>
          <p:cNvPr id="34" name="TextBox 33"/>
          <p:cNvSpPr txBox="1"/>
          <p:nvPr/>
        </p:nvSpPr>
        <p:spPr>
          <a:xfrm>
            <a:off x="777240" y="5440680"/>
            <a:ext cx="10972800" cy="91440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 EC / D2C : Moderate (デフォルト) で問題なし</a:t>
            </a:r>
          </a:p>
          <a:p>
            <a:pPr algn="l">
              <a:lnSpc>
                <a:spcPct val="150000"/>
              </a:lnSpc>
            </a:pPr>
            <a:r>
              <a:rPr sz="1100" b="0">
                <a:solidFill>
                  <a:srgbClr val="1A1A1A"/>
                </a:solidFill>
                <a:latin typeface="Hiragino Sans"/>
                <a:ea typeface="Hiragino Sans"/>
                <a:cs typeface="Hiragino Sans"/>
              </a:rPr>
              <a:t>• 金融 / 医療 / 教育 / 子ども関連 : Limited を選択 (CPM上昇するが安全)</a:t>
            </a:r>
          </a:p>
          <a:p>
            <a:pPr algn="l">
              <a:lnSpc>
                <a:spcPct val="150000"/>
              </a:lnSpc>
            </a:pPr>
            <a:r>
              <a:rPr sz="1100" b="0">
                <a:solidFill>
                  <a:srgbClr val="1A1A1A"/>
                </a:solidFill>
                <a:latin typeface="Hiragino Sans"/>
                <a:ea typeface="Hiragino Sans"/>
                <a:cs typeface="Hiragino Sans"/>
              </a:rPr>
              <a:t>• ニュース系 / 大型ブランド : Limited が無難 (炎上リスク回避)</a:t>
            </a:r>
          </a:p>
          <a:p>
            <a:pPr algn="l">
              <a:lnSpc>
                <a:spcPct val="150000"/>
              </a:lnSpc>
            </a:pPr>
            <a:r>
              <a:rPr sz="1100" b="0">
                <a:solidFill>
                  <a:srgbClr val="1A1A1A"/>
                </a:solidFill>
                <a:latin typeface="Hiragino Sans"/>
                <a:ea typeface="Hiragino Sans"/>
                <a:cs typeface="Hiragino Sans"/>
              </a:rPr>
              <a:t>• Block List / Allow List : URL単位の細かい制御も可、必要時のみ追加</a:t>
            </a:r>
          </a:p>
        </p:txBody>
      </p:sp>
      <p:sp>
        <p:nvSpPr>
          <p:cNvPr id="35" name="TextBox 34"/>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Meta Pixel + CAPI のハイブリッド構成</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Web計測の現代的ベストプラクティス</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P75 / 250</a:t>
            </a:r>
          </a:p>
        </p:txBody>
      </p:sp>
      <p:sp>
        <p:nvSpPr>
          <p:cNvPr id="8" name="TextBox 7"/>
          <p:cNvSpPr txBox="1"/>
          <p:nvPr/>
        </p:nvSpPr>
        <p:spPr>
          <a:xfrm>
            <a:off x="548640" y="1417320"/>
            <a:ext cx="1097280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標準アーキテクチャ (2026)</a:t>
            </a:r>
          </a:p>
        </p:txBody>
      </p:sp>
      <p:sp>
        <p:nvSpPr>
          <p:cNvPr id="9" name="Rounded Rectangle 8"/>
          <p:cNvSpPr/>
          <p:nvPr/>
        </p:nvSpPr>
        <p:spPr>
          <a:xfrm>
            <a:off x="548640" y="1874519"/>
            <a:ext cx="5440680" cy="219456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011680"/>
            <a:ext cx="502920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elvetica Neue"/>
                <a:ea typeface="Helvetica Neue"/>
                <a:cs typeface="Helvetica Neue"/>
              </a:rPr>
              <a:t>BROWSER SIDE</a:t>
            </a:r>
          </a:p>
        </p:txBody>
      </p:sp>
      <p:sp>
        <p:nvSpPr>
          <p:cNvPr id="11" name="TextBox 10"/>
          <p:cNvSpPr txBox="1"/>
          <p:nvPr/>
        </p:nvSpPr>
        <p:spPr>
          <a:xfrm>
            <a:off x="777240" y="2286000"/>
            <a:ext cx="5029200" cy="365760"/>
          </a:xfrm>
          <a:prstGeom prst="rect">
            <a:avLst/>
          </a:prstGeom>
          <a:noFill/>
        </p:spPr>
        <p:txBody>
          <a:bodyPr wrap="square" anchor="t" lIns="0" rIns="0" tIns="0" bIns="0">
            <a:spAutoFit/>
          </a:bodyPr>
          <a:lstStyle/>
          <a:p>
            <a:pPr algn="l">
              <a:lnSpc>
                <a:spcPct val="115000"/>
              </a:lnSpc>
            </a:pPr>
            <a:r>
              <a:rPr sz="1800" b="1">
                <a:solidFill>
                  <a:srgbClr val="FFFFFF"/>
                </a:solidFill>
                <a:latin typeface="Helvetica Neue"/>
                <a:ea typeface="Helvetica Neue"/>
                <a:cs typeface="Helvetica Neue"/>
              </a:rPr>
              <a:t>Meta Pixel</a:t>
            </a:r>
          </a:p>
        </p:txBody>
      </p:sp>
      <p:sp>
        <p:nvSpPr>
          <p:cNvPr id="12" name="TextBox 11"/>
          <p:cNvSpPr txBox="1"/>
          <p:nvPr/>
        </p:nvSpPr>
        <p:spPr>
          <a:xfrm>
            <a:off x="777240" y="2743200"/>
            <a:ext cx="5029200" cy="1188720"/>
          </a:xfrm>
          <a:prstGeom prst="rect">
            <a:avLst/>
          </a:prstGeom>
          <a:noFill/>
        </p:spPr>
        <p:txBody>
          <a:bodyPr wrap="square" anchor="t" lIns="0" rIns="0" tIns="0" bIns="0">
            <a:spAutoFit/>
          </a:bodyPr>
          <a:lstStyle/>
          <a:p>
            <a:pPr algn="l">
              <a:lnSpc>
                <a:spcPct val="150000"/>
              </a:lnSpc>
            </a:pPr>
            <a:r>
              <a:rPr sz="1100" b="0">
                <a:solidFill>
                  <a:srgbClr val="FFFFFF"/>
                </a:solidFill>
                <a:latin typeface="Hiragino Sans"/>
                <a:ea typeface="Hiragino Sans"/>
                <a:cs typeface="Hiragino Sans"/>
              </a:rPr>
              <a:t>JavaScript で発火</a:t>
            </a:r>
          </a:p>
          <a:p>
            <a:pPr algn="l">
              <a:lnSpc>
                <a:spcPct val="150000"/>
              </a:lnSpc>
            </a:pPr>
            <a:r>
              <a:rPr sz="1100" b="0">
                <a:solidFill>
                  <a:srgbClr val="FFFFFF"/>
                </a:solidFill>
                <a:latin typeface="Hiragino Sans"/>
                <a:ea typeface="Hiragino Sans"/>
                <a:cs typeface="Hiragino Sans"/>
              </a:rPr>
              <a:t>ブラウザイベントを送信</a:t>
            </a:r>
          </a:p>
          <a:p>
            <a:pPr algn="l">
              <a:lnSpc>
                <a:spcPct val="150000"/>
              </a:lnSpc>
            </a:pPr>
            <a:r>
              <a:rPr sz="1100" b="0">
                <a:solidFill>
                  <a:srgbClr val="FFFFFF"/>
                </a:solidFill>
                <a:latin typeface="Hiragino Sans"/>
                <a:ea typeface="Hiragino Sans"/>
                <a:cs typeface="Hiragino Sans"/>
              </a:rPr>
              <a:t>(PageView, AddToCart, Purchase等)</a:t>
            </a:r>
          </a:p>
        </p:txBody>
      </p:sp>
      <p:sp>
        <p:nvSpPr>
          <p:cNvPr id="13" name="TextBox 12"/>
          <p:cNvSpPr txBox="1"/>
          <p:nvPr/>
        </p:nvSpPr>
        <p:spPr>
          <a:xfrm>
            <a:off x="5852160" y="2697480"/>
            <a:ext cx="457200" cy="548640"/>
          </a:xfrm>
          <a:prstGeom prst="rect">
            <a:avLst/>
          </a:prstGeom>
          <a:noFill/>
        </p:spPr>
        <p:txBody>
          <a:bodyPr wrap="square" anchor="t" lIns="0" rIns="0" tIns="0" bIns="0">
            <a:spAutoFit/>
          </a:bodyPr>
          <a:lstStyle/>
          <a:p>
            <a:pPr algn="ctr">
              <a:lnSpc>
                <a:spcPct val="115000"/>
              </a:lnSpc>
            </a:pPr>
            <a:r>
              <a:rPr sz="3600" b="1">
                <a:solidFill>
                  <a:srgbClr val="E87722"/>
                </a:solidFill>
                <a:latin typeface="Helvetica Neue"/>
                <a:ea typeface="Helvetica Neue"/>
                <a:cs typeface="Helvetica Neue"/>
              </a:rPr>
              <a:t>+</a:t>
            </a:r>
          </a:p>
        </p:txBody>
      </p:sp>
      <p:sp>
        <p:nvSpPr>
          <p:cNvPr id="14" name="Rounded Rectangle 13"/>
          <p:cNvSpPr/>
          <p:nvPr/>
        </p:nvSpPr>
        <p:spPr>
          <a:xfrm>
            <a:off x="6217920" y="1874519"/>
            <a:ext cx="5440680" cy="2194560"/>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2011680"/>
            <a:ext cx="502920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elvetica Neue"/>
                <a:ea typeface="Helvetica Neue"/>
                <a:cs typeface="Helvetica Neue"/>
              </a:rPr>
              <a:t>SERVER SIDE</a:t>
            </a:r>
          </a:p>
        </p:txBody>
      </p:sp>
      <p:sp>
        <p:nvSpPr>
          <p:cNvPr id="16" name="TextBox 15"/>
          <p:cNvSpPr txBox="1"/>
          <p:nvPr/>
        </p:nvSpPr>
        <p:spPr>
          <a:xfrm>
            <a:off x="6446520" y="2286000"/>
            <a:ext cx="5029200" cy="365760"/>
          </a:xfrm>
          <a:prstGeom prst="rect">
            <a:avLst/>
          </a:prstGeom>
          <a:noFill/>
        </p:spPr>
        <p:txBody>
          <a:bodyPr wrap="square" anchor="t" lIns="0" rIns="0" tIns="0" bIns="0">
            <a:spAutoFit/>
          </a:bodyPr>
          <a:lstStyle/>
          <a:p>
            <a:pPr algn="l">
              <a:lnSpc>
                <a:spcPct val="115000"/>
              </a:lnSpc>
            </a:pPr>
            <a:r>
              <a:rPr sz="1800" b="1">
                <a:solidFill>
                  <a:srgbClr val="FFFFFF"/>
                </a:solidFill>
                <a:latin typeface="Helvetica Neue"/>
                <a:ea typeface="Helvetica Neue"/>
                <a:cs typeface="Helvetica Neue"/>
              </a:rPr>
              <a:t>Conversion API (CAPI)</a:t>
            </a:r>
          </a:p>
        </p:txBody>
      </p:sp>
      <p:sp>
        <p:nvSpPr>
          <p:cNvPr id="17" name="TextBox 16"/>
          <p:cNvSpPr txBox="1"/>
          <p:nvPr/>
        </p:nvSpPr>
        <p:spPr>
          <a:xfrm>
            <a:off x="6446520" y="2743200"/>
            <a:ext cx="5029200" cy="1188720"/>
          </a:xfrm>
          <a:prstGeom prst="rect">
            <a:avLst/>
          </a:prstGeom>
          <a:noFill/>
        </p:spPr>
        <p:txBody>
          <a:bodyPr wrap="square" anchor="t" lIns="0" rIns="0" tIns="0" bIns="0">
            <a:spAutoFit/>
          </a:bodyPr>
          <a:lstStyle/>
          <a:p>
            <a:pPr algn="l">
              <a:lnSpc>
                <a:spcPct val="150000"/>
              </a:lnSpc>
            </a:pPr>
            <a:r>
              <a:rPr sz="1100" b="0">
                <a:solidFill>
                  <a:srgbClr val="FFFFFF"/>
                </a:solidFill>
                <a:latin typeface="Hiragino Sans"/>
                <a:ea typeface="Hiragino Sans"/>
                <a:cs typeface="Hiragino Sans"/>
              </a:rPr>
              <a:t>サーバーから直接送信</a:t>
            </a:r>
          </a:p>
          <a:p>
            <a:pPr algn="l">
              <a:lnSpc>
                <a:spcPct val="150000"/>
              </a:lnSpc>
            </a:pPr>
            <a:r>
              <a:rPr sz="1100" b="0">
                <a:solidFill>
                  <a:srgbClr val="FFFFFF"/>
                </a:solidFill>
                <a:latin typeface="Hiragino Sans"/>
                <a:ea typeface="Hiragino Sans"/>
                <a:cs typeface="Hiragino Sans"/>
              </a:rPr>
              <a:t>ブラウザブロックの影響を受けない</a:t>
            </a:r>
          </a:p>
          <a:p>
            <a:pPr algn="l">
              <a:lnSpc>
                <a:spcPct val="150000"/>
              </a:lnSpc>
            </a:pPr>
            <a:r>
              <a:rPr sz="1100" b="0">
                <a:solidFill>
                  <a:srgbClr val="FFFFFF"/>
                </a:solidFill>
                <a:latin typeface="Hiragino Sans"/>
                <a:ea typeface="Hiragino Sans"/>
                <a:cs typeface="Hiragino Sans"/>
              </a:rPr>
              <a:t>計測精度が大幅向上</a:t>
            </a:r>
          </a:p>
        </p:txBody>
      </p:sp>
      <p:sp>
        <p:nvSpPr>
          <p:cNvPr id="18" name="Rounded Rectangle 17"/>
          <p:cNvSpPr/>
          <p:nvPr/>
        </p:nvSpPr>
        <p:spPr>
          <a:xfrm>
            <a:off x="548640" y="4297680"/>
            <a:ext cx="11109960" cy="91440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434840"/>
            <a:ext cx="100584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 重複排除 (Deduplication)</a:t>
            </a:r>
          </a:p>
        </p:txBody>
      </p:sp>
      <p:sp>
        <p:nvSpPr>
          <p:cNvPr id="20" name="TextBox 19"/>
          <p:cNvSpPr txBox="1"/>
          <p:nvPr/>
        </p:nvSpPr>
        <p:spPr>
          <a:xfrm>
            <a:off x="777240" y="4736592"/>
            <a:ext cx="10972800" cy="502920"/>
          </a:xfrm>
          <a:prstGeom prst="rect">
            <a:avLst/>
          </a:prstGeom>
          <a:noFill/>
        </p:spPr>
        <p:txBody>
          <a:bodyPr wrap="square" anchor="t" lIns="0" rIns="0" tIns="0" bIns="0">
            <a:spAutoFit/>
          </a:bodyPr>
          <a:lstStyle/>
          <a:p>
            <a:pPr algn="l">
              <a:lnSpc>
                <a:spcPct val="145000"/>
              </a:lnSpc>
            </a:pPr>
            <a:r>
              <a:rPr sz="1100" b="0">
                <a:solidFill>
                  <a:srgbClr val="1A1A1A"/>
                </a:solidFill>
                <a:latin typeface="Hiragino Sans"/>
                <a:ea typeface="Hiragino Sans"/>
                <a:cs typeface="Hiragino Sans"/>
              </a:rPr>
              <a:t>Pixel + CAPI 両方で同じイベントを送るため、event_id を一致させる必要あり</a:t>
            </a:r>
          </a:p>
          <a:p>
            <a:pPr algn="l">
              <a:lnSpc>
                <a:spcPct val="145000"/>
              </a:lnSpc>
            </a:pPr>
            <a:r>
              <a:rPr sz="1100" b="0">
                <a:solidFill>
                  <a:srgbClr val="1A1A1A"/>
                </a:solidFill>
                <a:latin typeface="Hiragino Sans"/>
                <a:ea typeface="Hiragino Sans"/>
                <a:cs typeface="Hiragino Sans"/>
              </a:rPr>
              <a:t>GTM テンプレートや CAPI Gateway は標準で event_id を生成 → Meta側で自動重複排除</a:t>
            </a:r>
          </a:p>
        </p:txBody>
      </p:sp>
      <p:sp>
        <p:nvSpPr>
          <p:cNvPr id="21" name="Rounded Rectangle 20"/>
          <p:cNvSpPr/>
          <p:nvPr/>
        </p:nvSpPr>
        <p:spPr>
          <a:xfrm>
            <a:off x="548640" y="5440680"/>
            <a:ext cx="11109960" cy="91440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5532120"/>
            <a:ext cx="10058400" cy="320040"/>
          </a:xfrm>
          <a:prstGeom prst="rect">
            <a:avLst/>
          </a:prstGeom>
          <a:noFill/>
        </p:spPr>
        <p:txBody>
          <a:bodyPr wrap="square" anchor="t" lIns="0" rIns="0" tIns="0" bIns="0">
            <a:spAutoFit/>
          </a:bodyPr>
          <a:lstStyle/>
          <a:p>
            <a:pPr algn="l">
              <a:lnSpc>
                <a:spcPct val="115000"/>
              </a:lnSpc>
            </a:pPr>
            <a:r>
              <a:rPr sz="1200" b="1">
                <a:solidFill>
                  <a:srgbClr val="E87722"/>
                </a:solidFill>
                <a:latin typeface="Hiragino Sans"/>
                <a:ea typeface="Hiragino Sans"/>
                <a:cs typeface="Hiragino Sans"/>
              </a:rPr>
              <a:t>💡 副業代行の進め方</a:t>
            </a:r>
          </a:p>
        </p:txBody>
      </p:sp>
      <p:sp>
        <p:nvSpPr>
          <p:cNvPr id="23" name="TextBox 22"/>
          <p:cNvSpPr txBox="1"/>
          <p:nvPr/>
        </p:nvSpPr>
        <p:spPr>
          <a:xfrm>
            <a:off x="777240" y="5852160"/>
            <a:ext cx="10972800" cy="502920"/>
          </a:xfrm>
          <a:prstGeom prst="rect">
            <a:avLst/>
          </a:prstGeom>
          <a:noFill/>
        </p:spPr>
        <p:txBody>
          <a:bodyPr wrap="square" anchor="t" lIns="0" rIns="0" tIns="0" bIns="0">
            <a:spAutoFit/>
          </a:bodyPr>
          <a:lstStyle/>
          <a:p>
            <a:pPr algn="l">
              <a:lnSpc>
                <a:spcPct val="155000"/>
              </a:lnSpc>
            </a:pPr>
            <a:r>
              <a:rPr sz="1100" b="0">
                <a:solidFill>
                  <a:srgbClr val="FFFFFF"/>
                </a:solidFill>
                <a:latin typeface="Hiragino Sans"/>
                <a:ea typeface="Hiragino Sans"/>
                <a:cs typeface="Hiragino Sans"/>
              </a:rPr>
              <a:t>1. Pixel が正しく動作しているか Tag Assistant で確認</a:t>
            </a:r>
          </a:p>
          <a:p>
            <a:pPr algn="l">
              <a:lnSpc>
                <a:spcPct val="155000"/>
              </a:lnSpc>
            </a:pPr>
            <a:r>
              <a:rPr sz="1100" b="0">
                <a:solidFill>
                  <a:srgbClr val="FFFFFF"/>
                </a:solidFill>
                <a:latin typeface="Hiragino Sans"/>
                <a:ea typeface="Hiragino Sans"/>
                <a:cs typeface="Hiragino Sans"/>
              </a:rPr>
              <a:t>2. CAPI を Partner Integration / Gateway で追加</a:t>
            </a:r>
          </a:p>
          <a:p>
            <a:pPr algn="l">
              <a:lnSpc>
                <a:spcPct val="155000"/>
              </a:lnSpc>
            </a:pPr>
            <a:r>
              <a:rPr sz="1100" b="0">
                <a:solidFill>
                  <a:srgbClr val="FFFFFF"/>
                </a:solidFill>
                <a:latin typeface="Hiragino Sans"/>
                <a:ea typeface="Hiragino Sans"/>
                <a:cs typeface="Hiragino Sans"/>
              </a:rPr>
              <a:t>3. Event Match Quality (EMQ) スコアを Events Manager で確認 (8/10以上目標)</a:t>
            </a:r>
          </a:p>
        </p:txBody>
      </p:sp>
      <p:sp>
        <p:nvSpPr>
          <p:cNvPr id="24" name="TextBox 23"/>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Meta : 鉄板運用メソッド 2026年版</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新規Meta案件で最初の30日にやること</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P76 / 250</a:t>
            </a:r>
          </a:p>
        </p:txBody>
      </p:sp>
      <p:sp>
        <p:nvSpPr>
          <p:cNvPr id="8" name="Rounded Rectangle 7"/>
          <p:cNvSpPr/>
          <p:nvPr/>
        </p:nvSpPr>
        <p:spPr>
          <a:xfrm>
            <a:off x="548640" y="1371600"/>
            <a:ext cx="11109960" cy="11887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71600"/>
            <a:ext cx="137160" cy="11887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508760"/>
            <a:ext cx="10515600" cy="32004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Day 0-2 : 計測基盤の整備</a:t>
            </a:r>
          </a:p>
        </p:txBody>
      </p:sp>
      <p:sp>
        <p:nvSpPr>
          <p:cNvPr id="11" name="TextBox 10"/>
          <p:cNvSpPr txBox="1"/>
          <p:nvPr/>
        </p:nvSpPr>
        <p:spPr>
          <a:xfrm>
            <a:off x="868680" y="182880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12" name="TextBox 11"/>
          <p:cNvSpPr txBox="1"/>
          <p:nvPr/>
        </p:nvSpPr>
        <p:spPr>
          <a:xfrm>
            <a:off x="1097280" y="185623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Pixel 動作確認 (Tag Assistant)</a:t>
            </a:r>
          </a:p>
        </p:txBody>
      </p:sp>
      <p:sp>
        <p:nvSpPr>
          <p:cNvPr id="13" name="TextBox 12"/>
          <p:cNvSpPr txBox="1"/>
          <p:nvPr/>
        </p:nvSpPr>
        <p:spPr>
          <a:xfrm>
            <a:off x="6309360" y="182880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14" name="TextBox 13"/>
          <p:cNvSpPr txBox="1"/>
          <p:nvPr/>
        </p:nvSpPr>
        <p:spPr>
          <a:xfrm>
            <a:off x="6537960" y="185623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CAPI 実装 (Partner / Gateway / Direct)</a:t>
            </a:r>
          </a:p>
        </p:txBody>
      </p:sp>
      <p:sp>
        <p:nvSpPr>
          <p:cNvPr id="15" name="TextBox 14"/>
          <p:cNvSpPr txBox="1"/>
          <p:nvPr/>
        </p:nvSpPr>
        <p:spPr>
          <a:xfrm>
            <a:off x="868680" y="214884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16" name="TextBox 15"/>
          <p:cNvSpPr txBox="1"/>
          <p:nvPr/>
        </p:nvSpPr>
        <p:spPr>
          <a:xfrm>
            <a:off x="1097280" y="217627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Event Match Quality 8/10 以上</a:t>
            </a:r>
          </a:p>
        </p:txBody>
      </p:sp>
      <p:sp>
        <p:nvSpPr>
          <p:cNvPr id="17" name="TextBox 16"/>
          <p:cNvSpPr txBox="1"/>
          <p:nvPr/>
        </p:nvSpPr>
        <p:spPr>
          <a:xfrm>
            <a:off x="6309360" y="214884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18" name="TextBox 17"/>
          <p:cNvSpPr txBox="1"/>
          <p:nvPr/>
        </p:nvSpPr>
        <p:spPr>
          <a:xfrm>
            <a:off x="6537960" y="217627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AEM の優先イベント設定</a:t>
            </a:r>
          </a:p>
        </p:txBody>
      </p:sp>
      <p:sp>
        <p:nvSpPr>
          <p:cNvPr id="19" name="Rounded Rectangle 18"/>
          <p:cNvSpPr/>
          <p:nvPr/>
        </p:nvSpPr>
        <p:spPr>
          <a:xfrm>
            <a:off x="548640" y="2651760"/>
            <a:ext cx="11109960" cy="11887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651760"/>
            <a:ext cx="137160" cy="11887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2788920"/>
            <a:ext cx="10515600" cy="32004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Day 3-7 : キャンペーン構造の設計</a:t>
            </a:r>
          </a:p>
        </p:txBody>
      </p:sp>
      <p:sp>
        <p:nvSpPr>
          <p:cNvPr id="22" name="TextBox 21"/>
          <p:cNvSpPr txBox="1"/>
          <p:nvPr/>
        </p:nvSpPr>
        <p:spPr>
          <a:xfrm>
            <a:off x="868680" y="310896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23" name="TextBox 22"/>
          <p:cNvSpPr txBox="1"/>
          <p:nvPr/>
        </p:nvSpPr>
        <p:spPr>
          <a:xfrm>
            <a:off x="1097280" y="313639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Sales目的 + Advantage+ Sales (旧ASC)</a:t>
            </a:r>
          </a:p>
        </p:txBody>
      </p:sp>
      <p:sp>
        <p:nvSpPr>
          <p:cNvPr id="24" name="TextBox 23"/>
          <p:cNvSpPr txBox="1"/>
          <p:nvPr/>
        </p:nvSpPr>
        <p:spPr>
          <a:xfrm>
            <a:off x="6309360" y="310896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25" name="TextBox 24"/>
          <p:cNvSpPr txBox="1"/>
          <p:nvPr/>
        </p:nvSpPr>
        <p:spPr>
          <a:xfrm>
            <a:off x="6537960" y="313639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Custom Audience アップロード (CRM)</a:t>
            </a:r>
          </a:p>
        </p:txBody>
      </p:sp>
      <p:sp>
        <p:nvSpPr>
          <p:cNvPr id="26" name="TextBox 25"/>
          <p:cNvSpPr txBox="1"/>
          <p:nvPr/>
        </p:nvSpPr>
        <p:spPr>
          <a:xfrm>
            <a:off x="868680" y="342900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27" name="TextBox 26"/>
          <p:cNvSpPr txBox="1"/>
          <p:nvPr/>
        </p:nvSpPr>
        <p:spPr>
          <a:xfrm>
            <a:off x="1097280" y="345643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Lookalike 1-3% を新規獲得用に</a:t>
            </a:r>
          </a:p>
        </p:txBody>
      </p:sp>
      <p:sp>
        <p:nvSpPr>
          <p:cNvPr id="28" name="TextBox 27"/>
          <p:cNvSpPr txBox="1"/>
          <p:nvPr/>
        </p:nvSpPr>
        <p:spPr>
          <a:xfrm>
            <a:off x="6309360" y="342900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29" name="TextBox 28"/>
          <p:cNvSpPr txBox="1"/>
          <p:nvPr/>
        </p:nvSpPr>
        <p:spPr>
          <a:xfrm>
            <a:off x="6537960" y="345643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Creative 5-10種を Asset Group に</a:t>
            </a:r>
          </a:p>
        </p:txBody>
      </p:sp>
      <p:sp>
        <p:nvSpPr>
          <p:cNvPr id="30" name="Rounded Rectangle 29"/>
          <p:cNvSpPr/>
          <p:nvPr/>
        </p:nvSpPr>
        <p:spPr>
          <a:xfrm>
            <a:off x="548640" y="3931920"/>
            <a:ext cx="11109960" cy="11887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8640" y="3931920"/>
            <a:ext cx="137160" cy="11887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68680" y="4069080"/>
            <a:ext cx="10515600" cy="32004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Day 8-21 : 学習期間</a:t>
            </a:r>
          </a:p>
        </p:txBody>
      </p:sp>
      <p:sp>
        <p:nvSpPr>
          <p:cNvPr id="33" name="TextBox 32"/>
          <p:cNvSpPr txBox="1"/>
          <p:nvPr/>
        </p:nvSpPr>
        <p:spPr>
          <a:xfrm>
            <a:off x="868680" y="438912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34" name="TextBox 33"/>
          <p:cNvSpPr txBox="1"/>
          <p:nvPr/>
        </p:nvSpPr>
        <p:spPr>
          <a:xfrm>
            <a:off x="1097280" y="441655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予算 ±20% 以内で安定運用</a:t>
            </a:r>
          </a:p>
        </p:txBody>
      </p:sp>
      <p:sp>
        <p:nvSpPr>
          <p:cNvPr id="35" name="TextBox 34"/>
          <p:cNvSpPr txBox="1"/>
          <p:nvPr/>
        </p:nvSpPr>
        <p:spPr>
          <a:xfrm>
            <a:off x="6309360" y="438912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36" name="TextBox 35"/>
          <p:cNvSpPr txBox="1"/>
          <p:nvPr/>
        </p:nvSpPr>
        <p:spPr>
          <a:xfrm>
            <a:off x="6537960" y="441655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Advantage+ Creative ON (Touch-ups, Cropping)</a:t>
            </a:r>
          </a:p>
        </p:txBody>
      </p:sp>
      <p:sp>
        <p:nvSpPr>
          <p:cNvPr id="37" name="TextBox 36"/>
          <p:cNvSpPr txBox="1"/>
          <p:nvPr/>
        </p:nvSpPr>
        <p:spPr>
          <a:xfrm>
            <a:off x="868680" y="470916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38" name="TextBox 37"/>
          <p:cNvSpPr txBox="1"/>
          <p:nvPr/>
        </p:nvSpPr>
        <p:spPr>
          <a:xfrm>
            <a:off x="1097280" y="473659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アセット追加は週1回程度に抑える</a:t>
            </a:r>
          </a:p>
        </p:txBody>
      </p:sp>
      <p:sp>
        <p:nvSpPr>
          <p:cNvPr id="39" name="TextBox 38"/>
          <p:cNvSpPr txBox="1"/>
          <p:nvPr/>
        </p:nvSpPr>
        <p:spPr>
          <a:xfrm>
            <a:off x="6309360" y="470916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40" name="TextBox 39"/>
          <p:cNvSpPr txBox="1"/>
          <p:nvPr/>
        </p:nvSpPr>
        <p:spPr>
          <a:xfrm>
            <a:off x="6537960" y="473659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Andromeda 適用は段階的、効果確認</a:t>
            </a:r>
          </a:p>
        </p:txBody>
      </p:sp>
      <p:sp>
        <p:nvSpPr>
          <p:cNvPr id="41" name="Rounded Rectangle 40"/>
          <p:cNvSpPr/>
          <p:nvPr/>
        </p:nvSpPr>
        <p:spPr>
          <a:xfrm>
            <a:off x="548640" y="5212080"/>
            <a:ext cx="11109960" cy="11887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48640" y="5212080"/>
            <a:ext cx="137160" cy="11887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68680" y="5349240"/>
            <a:ext cx="10515600" cy="32004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Day 22-30 : 最適化+レポート</a:t>
            </a:r>
          </a:p>
        </p:txBody>
      </p:sp>
      <p:sp>
        <p:nvSpPr>
          <p:cNvPr id="44" name="TextBox 43"/>
          <p:cNvSpPr txBox="1"/>
          <p:nvPr/>
        </p:nvSpPr>
        <p:spPr>
          <a:xfrm>
            <a:off x="868680" y="566928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45" name="TextBox 44"/>
          <p:cNvSpPr txBox="1"/>
          <p:nvPr/>
        </p:nvSpPr>
        <p:spPr>
          <a:xfrm>
            <a:off x="1097280" y="569671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Conversion Lift Test の設計検討</a:t>
            </a:r>
          </a:p>
        </p:txBody>
      </p:sp>
      <p:sp>
        <p:nvSpPr>
          <p:cNvPr id="46" name="TextBox 45"/>
          <p:cNvSpPr txBox="1"/>
          <p:nvPr/>
        </p:nvSpPr>
        <p:spPr>
          <a:xfrm>
            <a:off x="6309360" y="566928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47" name="TextBox 46"/>
          <p:cNvSpPr txBox="1"/>
          <p:nvPr/>
        </p:nvSpPr>
        <p:spPr>
          <a:xfrm>
            <a:off x="6537960" y="569671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アセット Best/Low の入替</a:t>
            </a:r>
          </a:p>
        </p:txBody>
      </p:sp>
      <p:sp>
        <p:nvSpPr>
          <p:cNvPr id="48" name="TextBox 47"/>
          <p:cNvSpPr txBox="1"/>
          <p:nvPr/>
        </p:nvSpPr>
        <p:spPr>
          <a:xfrm>
            <a:off x="868680" y="598932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49" name="TextBox 48"/>
          <p:cNvSpPr txBox="1"/>
          <p:nvPr/>
        </p:nvSpPr>
        <p:spPr>
          <a:xfrm>
            <a:off x="1097280" y="601675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EMQ / Pixel/CAPI 重複率の監査</a:t>
            </a:r>
          </a:p>
        </p:txBody>
      </p:sp>
      <p:sp>
        <p:nvSpPr>
          <p:cNvPr id="50" name="TextBox 49"/>
          <p:cNvSpPr txBox="1"/>
          <p:nvPr/>
        </p:nvSpPr>
        <p:spPr>
          <a:xfrm>
            <a:off x="6309360" y="598932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51" name="TextBox 50"/>
          <p:cNvSpPr txBox="1"/>
          <p:nvPr/>
        </p:nvSpPr>
        <p:spPr>
          <a:xfrm>
            <a:off x="6537960" y="601675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月次レポート + 次月提案</a:t>
            </a:r>
          </a:p>
        </p:txBody>
      </p:sp>
      <p:sp>
        <p:nvSpPr>
          <p:cNvPr id="52" name="TextBox 51"/>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Meta : よくある失敗と回避策</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副業代行で『Meta あるある』を防ぐ</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P77 / 250</a:t>
            </a:r>
          </a:p>
        </p:txBody>
      </p:sp>
      <p:sp>
        <p:nvSpPr>
          <p:cNvPr id="8" name="Rounded Rectangle 7"/>
          <p:cNvSpPr/>
          <p:nvPr/>
        </p:nvSpPr>
        <p:spPr>
          <a:xfrm>
            <a:off x="548640" y="1325880"/>
            <a:ext cx="5440680" cy="15544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25880"/>
            <a:ext cx="91440" cy="1554480"/>
          </a:xfrm>
          <a:prstGeom prst="rect">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63040"/>
            <a:ext cx="457200" cy="320040"/>
          </a:xfrm>
          <a:prstGeom prst="rect">
            <a:avLst/>
          </a:prstGeom>
          <a:noFill/>
        </p:spPr>
        <p:txBody>
          <a:bodyPr wrap="square" anchor="t" lIns="0" rIns="0" tIns="0" bIns="0">
            <a:spAutoFit/>
          </a:bodyPr>
          <a:lstStyle/>
          <a:p>
            <a:pPr algn="l">
              <a:lnSpc>
                <a:spcPct val="115000"/>
              </a:lnSpc>
            </a:pPr>
            <a:r>
              <a:rPr sz="1800" b="1">
                <a:solidFill>
                  <a:srgbClr val="C6452D"/>
                </a:solidFill>
                <a:latin typeface="Hiragino Sans"/>
                <a:ea typeface="Hiragino Sans"/>
                <a:cs typeface="Hiragino Sans"/>
              </a:rPr>
              <a:t>✗</a:t>
            </a:r>
          </a:p>
        </p:txBody>
      </p:sp>
      <p:sp>
        <p:nvSpPr>
          <p:cNvPr id="11" name="TextBox 10"/>
          <p:cNvSpPr txBox="1"/>
          <p:nvPr/>
        </p:nvSpPr>
        <p:spPr>
          <a:xfrm>
            <a:off x="1188720" y="1463040"/>
            <a:ext cx="4663440" cy="365760"/>
          </a:xfrm>
          <a:prstGeom prst="rect">
            <a:avLst/>
          </a:prstGeom>
          <a:noFill/>
        </p:spPr>
        <p:txBody>
          <a:bodyPr wrap="square" anchor="t" lIns="0" rIns="0" tIns="0" bIns="0">
            <a:spAutoFit/>
          </a:bodyPr>
          <a:lstStyle/>
          <a:p>
            <a:pPr algn="l">
              <a:lnSpc>
                <a:spcPct val="130000"/>
              </a:lnSpc>
            </a:pPr>
            <a:r>
              <a:rPr sz="1200" b="1">
                <a:solidFill>
                  <a:srgbClr val="0F2A4F"/>
                </a:solidFill>
                <a:latin typeface="Hiragino Sans"/>
                <a:ea typeface="Hiragino Sans"/>
                <a:cs typeface="Hiragino Sans"/>
              </a:rPr>
              <a:t>広告セットを細かく分けすぎる</a:t>
            </a:r>
          </a:p>
        </p:txBody>
      </p:sp>
      <p:sp>
        <p:nvSpPr>
          <p:cNvPr id="12" name="TextBox 11"/>
          <p:cNvSpPr txBox="1"/>
          <p:nvPr/>
        </p:nvSpPr>
        <p:spPr>
          <a:xfrm>
            <a:off x="777240" y="1920240"/>
            <a:ext cx="5074920" cy="411480"/>
          </a:xfrm>
          <a:prstGeom prst="rect">
            <a:avLst/>
          </a:prstGeom>
          <a:noFill/>
        </p:spPr>
        <p:txBody>
          <a:bodyPr wrap="square" anchor="t" lIns="0" rIns="0" tIns="0" bIns="0">
            <a:spAutoFit/>
          </a:bodyPr>
          <a:lstStyle/>
          <a:p>
            <a:pPr algn="l">
              <a:lnSpc>
                <a:spcPct val="140000"/>
              </a:lnSpc>
            </a:pPr>
            <a:r>
              <a:rPr sz="1000" b="0">
                <a:solidFill>
                  <a:srgbClr val="5A6A80"/>
                </a:solidFill>
                <a:latin typeface="Hiragino Sans"/>
                <a:ea typeface="Hiragino Sans"/>
                <a:cs typeface="Hiragino Sans"/>
              </a:rPr>
              <a:t>Andromeda 学習が分散 → CPA高騰</a:t>
            </a:r>
          </a:p>
        </p:txBody>
      </p:sp>
      <p:sp>
        <p:nvSpPr>
          <p:cNvPr id="13" name="Rectangle 12"/>
          <p:cNvSpPr/>
          <p:nvPr/>
        </p:nvSpPr>
        <p:spPr>
          <a:xfrm>
            <a:off x="777240" y="2331720"/>
            <a:ext cx="507492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423160"/>
            <a:ext cx="5074920" cy="411480"/>
          </a:xfrm>
          <a:prstGeom prst="rect">
            <a:avLst/>
          </a:prstGeom>
          <a:noFill/>
        </p:spPr>
        <p:txBody>
          <a:bodyPr wrap="square" anchor="t" lIns="0" rIns="0" tIns="0" bIns="0">
            <a:spAutoFit/>
          </a:bodyPr>
          <a:lstStyle/>
          <a:p>
            <a:pPr algn="l">
              <a:lnSpc>
                <a:spcPct val="140000"/>
              </a:lnSpc>
            </a:pPr>
            <a:r>
              <a:rPr sz="1000" b="1">
                <a:solidFill>
                  <a:srgbClr val="B85E1A"/>
                </a:solidFill>
                <a:latin typeface="Hiragino Sans"/>
                <a:ea typeface="Hiragino Sans"/>
                <a:cs typeface="Hiragino Sans"/>
              </a:rPr>
              <a:t>→  Sales目的なら 2-3 ad set + Advantage+ で十分</a:t>
            </a:r>
          </a:p>
        </p:txBody>
      </p:sp>
      <p:sp>
        <p:nvSpPr>
          <p:cNvPr id="15" name="Rounded Rectangle 14"/>
          <p:cNvSpPr/>
          <p:nvPr/>
        </p:nvSpPr>
        <p:spPr>
          <a:xfrm>
            <a:off x="6172200" y="1325880"/>
            <a:ext cx="5440680" cy="15544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1325880"/>
            <a:ext cx="91440" cy="1554480"/>
          </a:xfrm>
          <a:prstGeom prst="rect">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1463040"/>
            <a:ext cx="457200" cy="320040"/>
          </a:xfrm>
          <a:prstGeom prst="rect">
            <a:avLst/>
          </a:prstGeom>
          <a:noFill/>
        </p:spPr>
        <p:txBody>
          <a:bodyPr wrap="square" anchor="t" lIns="0" rIns="0" tIns="0" bIns="0">
            <a:spAutoFit/>
          </a:bodyPr>
          <a:lstStyle/>
          <a:p>
            <a:pPr algn="l">
              <a:lnSpc>
                <a:spcPct val="115000"/>
              </a:lnSpc>
            </a:pPr>
            <a:r>
              <a:rPr sz="1800" b="1">
                <a:solidFill>
                  <a:srgbClr val="C6452D"/>
                </a:solidFill>
                <a:latin typeface="Hiragino Sans"/>
                <a:ea typeface="Hiragino Sans"/>
                <a:cs typeface="Hiragino Sans"/>
              </a:rPr>
              <a:t>✗</a:t>
            </a:r>
          </a:p>
        </p:txBody>
      </p:sp>
      <p:sp>
        <p:nvSpPr>
          <p:cNvPr id="18" name="TextBox 17"/>
          <p:cNvSpPr txBox="1"/>
          <p:nvPr/>
        </p:nvSpPr>
        <p:spPr>
          <a:xfrm>
            <a:off x="6812280" y="1463040"/>
            <a:ext cx="4663440" cy="365760"/>
          </a:xfrm>
          <a:prstGeom prst="rect">
            <a:avLst/>
          </a:prstGeom>
          <a:noFill/>
        </p:spPr>
        <p:txBody>
          <a:bodyPr wrap="square" anchor="t" lIns="0" rIns="0" tIns="0" bIns="0">
            <a:spAutoFit/>
          </a:bodyPr>
          <a:lstStyle/>
          <a:p>
            <a:pPr algn="l">
              <a:lnSpc>
                <a:spcPct val="130000"/>
              </a:lnSpc>
            </a:pPr>
            <a:r>
              <a:rPr sz="1200" b="1">
                <a:solidFill>
                  <a:srgbClr val="0F2A4F"/>
                </a:solidFill>
                <a:latin typeface="Hiragino Sans"/>
                <a:ea typeface="Hiragino Sans"/>
                <a:cs typeface="Hiragino Sans"/>
              </a:rPr>
              <a:t>Pixel のみで CAPI 未実装</a:t>
            </a:r>
          </a:p>
        </p:txBody>
      </p:sp>
      <p:sp>
        <p:nvSpPr>
          <p:cNvPr id="19" name="TextBox 18"/>
          <p:cNvSpPr txBox="1"/>
          <p:nvPr/>
        </p:nvSpPr>
        <p:spPr>
          <a:xfrm>
            <a:off x="6400800" y="1920240"/>
            <a:ext cx="5074920" cy="411480"/>
          </a:xfrm>
          <a:prstGeom prst="rect">
            <a:avLst/>
          </a:prstGeom>
          <a:noFill/>
        </p:spPr>
        <p:txBody>
          <a:bodyPr wrap="square" anchor="t" lIns="0" rIns="0" tIns="0" bIns="0">
            <a:spAutoFit/>
          </a:bodyPr>
          <a:lstStyle/>
          <a:p>
            <a:pPr algn="l">
              <a:lnSpc>
                <a:spcPct val="140000"/>
              </a:lnSpc>
            </a:pPr>
            <a:r>
              <a:rPr sz="1000" b="0">
                <a:solidFill>
                  <a:srgbClr val="5A6A80"/>
                </a:solidFill>
                <a:latin typeface="Hiragino Sans"/>
                <a:ea typeface="Hiragino Sans"/>
                <a:cs typeface="Hiragino Sans"/>
              </a:rPr>
              <a:t>iOS計測ロス + Andromeda の精度低下</a:t>
            </a:r>
          </a:p>
        </p:txBody>
      </p:sp>
      <p:sp>
        <p:nvSpPr>
          <p:cNvPr id="20" name="Rectangle 19"/>
          <p:cNvSpPr/>
          <p:nvPr/>
        </p:nvSpPr>
        <p:spPr>
          <a:xfrm>
            <a:off x="6400800" y="2331720"/>
            <a:ext cx="507492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0" y="2423160"/>
            <a:ext cx="5074920" cy="411480"/>
          </a:xfrm>
          <a:prstGeom prst="rect">
            <a:avLst/>
          </a:prstGeom>
          <a:noFill/>
        </p:spPr>
        <p:txBody>
          <a:bodyPr wrap="square" anchor="t" lIns="0" rIns="0" tIns="0" bIns="0">
            <a:spAutoFit/>
          </a:bodyPr>
          <a:lstStyle/>
          <a:p>
            <a:pPr algn="l">
              <a:lnSpc>
                <a:spcPct val="140000"/>
              </a:lnSpc>
            </a:pPr>
            <a:r>
              <a:rPr sz="1000" b="1">
                <a:solidFill>
                  <a:srgbClr val="B85E1A"/>
                </a:solidFill>
                <a:latin typeface="Hiragino Sans"/>
                <a:ea typeface="Hiragino Sans"/>
                <a:cs typeface="Hiragino Sans"/>
              </a:rPr>
              <a:t>→  初回ヒアリングで CAPI 状況確認、未実装なら Gateway 提案</a:t>
            </a:r>
          </a:p>
        </p:txBody>
      </p:sp>
      <p:sp>
        <p:nvSpPr>
          <p:cNvPr id="22" name="Rounded Rectangle 21"/>
          <p:cNvSpPr/>
          <p:nvPr/>
        </p:nvSpPr>
        <p:spPr>
          <a:xfrm>
            <a:off x="548640" y="3017520"/>
            <a:ext cx="5440680" cy="15544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48640" y="3017520"/>
            <a:ext cx="91440" cy="1554480"/>
          </a:xfrm>
          <a:prstGeom prst="rect">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3154680"/>
            <a:ext cx="457200" cy="320040"/>
          </a:xfrm>
          <a:prstGeom prst="rect">
            <a:avLst/>
          </a:prstGeom>
          <a:noFill/>
        </p:spPr>
        <p:txBody>
          <a:bodyPr wrap="square" anchor="t" lIns="0" rIns="0" tIns="0" bIns="0">
            <a:spAutoFit/>
          </a:bodyPr>
          <a:lstStyle/>
          <a:p>
            <a:pPr algn="l">
              <a:lnSpc>
                <a:spcPct val="115000"/>
              </a:lnSpc>
            </a:pPr>
            <a:r>
              <a:rPr sz="1800" b="1">
                <a:solidFill>
                  <a:srgbClr val="C6452D"/>
                </a:solidFill>
                <a:latin typeface="Hiragino Sans"/>
                <a:ea typeface="Hiragino Sans"/>
                <a:cs typeface="Hiragino Sans"/>
              </a:rPr>
              <a:t>✗</a:t>
            </a:r>
          </a:p>
        </p:txBody>
      </p:sp>
      <p:sp>
        <p:nvSpPr>
          <p:cNvPr id="25" name="TextBox 24"/>
          <p:cNvSpPr txBox="1"/>
          <p:nvPr/>
        </p:nvSpPr>
        <p:spPr>
          <a:xfrm>
            <a:off x="1188720" y="3154680"/>
            <a:ext cx="4663440" cy="365760"/>
          </a:xfrm>
          <a:prstGeom prst="rect">
            <a:avLst/>
          </a:prstGeom>
          <a:noFill/>
        </p:spPr>
        <p:txBody>
          <a:bodyPr wrap="square" anchor="t" lIns="0" rIns="0" tIns="0" bIns="0">
            <a:spAutoFit/>
          </a:bodyPr>
          <a:lstStyle/>
          <a:p>
            <a:pPr algn="l">
              <a:lnSpc>
                <a:spcPct val="130000"/>
              </a:lnSpc>
            </a:pPr>
            <a:r>
              <a:rPr sz="1200" b="1">
                <a:solidFill>
                  <a:srgbClr val="0F2A4F"/>
                </a:solidFill>
                <a:latin typeface="Hiragino Sans"/>
                <a:ea typeface="Hiragino Sans"/>
                <a:cs typeface="Hiragino Sans"/>
              </a:rPr>
              <a:t>Custom Audience サイズ不足</a:t>
            </a:r>
          </a:p>
        </p:txBody>
      </p:sp>
      <p:sp>
        <p:nvSpPr>
          <p:cNvPr id="26" name="TextBox 25"/>
          <p:cNvSpPr txBox="1"/>
          <p:nvPr/>
        </p:nvSpPr>
        <p:spPr>
          <a:xfrm>
            <a:off x="777240" y="3611880"/>
            <a:ext cx="5074920" cy="411480"/>
          </a:xfrm>
          <a:prstGeom prst="rect">
            <a:avLst/>
          </a:prstGeom>
          <a:noFill/>
        </p:spPr>
        <p:txBody>
          <a:bodyPr wrap="square" anchor="t" lIns="0" rIns="0" tIns="0" bIns="0">
            <a:spAutoFit/>
          </a:bodyPr>
          <a:lstStyle/>
          <a:p>
            <a:pPr algn="l">
              <a:lnSpc>
                <a:spcPct val="140000"/>
              </a:lnSpc>
            </a:pPr>
            <a:r>
              <a:rPr sz="1000" b="0">
                <a:solidFill>
                  <a:srgbClr val="5A6A80"/>
                </a:solidFill>
                <a:latin typeface="Hiragino Sans"/>
                <a:ea typeface="Hiragino Sans"/>
                <a:cs typeface="Hiragino Sans"/>
              </a:rPr>
              <a:t>Lookalike が機能しない、配信開始もできない</a:t>
            </a:r>
          </a:p>
        </p:txBody>
      </p:sp>
      <p:sp>
        <p:nvSpPr>
          <p:cNvPr id="27" name="Rectangle 26"/>
          <p:cNvSpPr/>
          <p:nvPr/>
        </p:nvSpPr>
        <p:spPr>
          <a:xfrm>
            <a:off x="777240" y="4023360"/>
            <a:ext cx="507492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4114800"/>
            <a:ext cx="5074920" cy="411480"/>
          </a:xfrm>
          <a:prstGeom prst="rect">
            <a:avLst/>
          </a:prstGeom>
          <a:noFill/>
        </p:spPr>
        <p:txBody>
          <a:bodyPr wrap="square" anchor="t" lIns="0" rIns="0" tIns="0" bIns="0">
            <a:spAutoFit/>
          </a:bodyPr>
          <a:lstStyle/>
          <a:p>
            <a:pPr algn="l">
              <a:lnSpc>
                <a:spcPct val="140000"/>
              </a:lnSpc>
            </a:pPr>
            <a:r>
              <a:rPr sz="1000" b="1">
                <a:solidFill>
                  <a:srgbClr val="B85E1A"/>
                </a:solidFill>
                <a:latin typeface="Hiragino Sans"/>
                <a:ea typeface="Hiragino Sans"/>
                <a:cs typeface="Hiragino Sans"/>
              </a:rPr>
              <a:t>→  最低 1,000人 (推奨 10,000人) のソースを準備</a:t>
            </a:r>
          </a:p>
        </p:txBody>
      </p:sp>
      <p:sp>
        <p:nvSpPr>
          <p:cNvPr id="29" name="Rounded Rectangle 28"/>
          <p:cNvSpPr/>
          <p:nvPr/>
        </p:nvSpPr>
        <p:spPr>
          <a:xfrm>
            <a:off x="6172200" y="3017520"/>
            <a:ext cx="5440680" cy="15544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72200" y="3017520"/>
            <a:ext cx="91440" cy="1554480"/>
          </a:xfrm>
          <a:prstGeom prst="rect">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0" y="3154680"/>
            <a:ext cx="457200" cy="320040"/>
          </a:xfrm>
          <a:prstGeom prst="rect">
            <a:avLst/>
          </a:prstGeom>
          <a:noFill/>
        </p:spPr>
        <p:txBody>
          <a:bodyPr wrap="square" anchor="t" lIns="0" rIns="0" tIns="0" bIns="0">
            <a:spAutoFit/>
          </a:bodyPr>
          <a:lstStyle/>
          <a:p>
            <a:pPr algn="l">
              <a:lnSpc>
                <a:spcPct val="115000"/>
              </a:lnSpc>
            </a:pPr>
            <a:r>
              <a:rPr sz="1800" b="1">
                <a:solidFill>
                  <a:srgbClr val="C6452D"/>
                </a:solidFill>
                <a:latin typeface="Hiragino Sans"/>
                <a:ea typeface="Hiragino Sans"/>
                <a:cs typeface="Hiragino Sans"/>
              </a:rPr>
              <a:t>✗</a:t>
            </a:r>
          </a:p>
        </p:txBody>
      </p:sp>
      <p:sp>
        <p:nvSpPr>
          <p:cNvPr id="32" name="TextBox 31"/>
          <p:cNvSpPr txBox="1"/>
          <p:nvPr/>
        </p:nvSpPr>
        <p:spPr>
          <a:xfrm>
            <a:off x="6812280" y="3154680"/>
            <a:ext cx="4663440" cy="365760"/>
          </a:xfrm>
          <a:prstGeom prst="rect">
            <a:avLst/>
          </a:prstGeom>
          <a:noFill/>
        </p:spPr>
        <p:txBody>
          <a:bodyPr wrap="square" anchor="t" lIns="0" rIns="0" tIns="0" bIns="0">
            <a:spAutoFit/>
          </a:bodyPr>
          <a:lstStyle/>
          <a:p>
            <a:pPr algn="l">
              <a:lnSpc>
                <a:spcPct val="130000"/>
              </a:lnSpc>
            </a:pPr>
            <a:r>
              <a:rPr sz="1200" b="1">
                <a:solidFill>
                  <a:srgbClr val="0F2A4F"/>
                </a:solidFill>
                <a:latin typeface="Hiragino Sans"/>
                <a:ea typeface="Hiragino Sans"/>
                <a:cs typeface="Hiragino Sans"/>
              </a:rPr>
              <a:t>Advantage+ Creative を全機能ON</a:t>
            </a:r>
          </a:p>
        </p:txBody>
      </p:sp>
      <p:sp>
        <p:nvSpPr>
          <p:cNvPr id="33" name="TextBox 32"/>
          <p:cNvSpPr txBox="1"/>
          <p:nvPr/>
        </p:nvSpPr>
        <p:spPr>
          <a:xfrm>
            <a:off x="6400800" y="3611880"/>
            <a:ext cx="5074920" cy="411480"/>
          </a:xfrm>
          <a:prstGeom prst="rect">
            <a:avLst/>
          </a:prstGeom>
          <a:noFill/>
        </p:spPr>
        <p:txBody>
          <a:bodyPr wrap="square" anchor="t" lIns="0" rIns="0" tIns="0" bIns="0">
            <a:spAutoFit/>
          </a:bodyPr>
          <a:lstStyle/>
          <a:p>
            <a:pPr algn="l">
              <a:lnSpc>
                <a:spcPct val="140000"/>
              </a:lnSpc>
            </a:pPr>
            <a:r>
              <a:rPr sz="1000" b="0">
                <a:solidFill>
                  <a:srgbClr val="5A6A80"/>
                </a:solidFill>
                <a:latin typeface="Hiragino Sans"/>
                <a:ea typeface="Hiragino Sans"/>
                <a:cs typeface="Hiragino Sans"/>
              </a:rPr>
              <a:t>ブランド毀損リスク (色変更/テキスト変換)</a:t>
            </a:r>
          </a:p>
        </p:txBody>
      </p:sp>
      <p:sp>
        <p:nvSpPr>
          <p:cNvPr id="34" name="Rectangle 33"/>
          <p:cNvSpPr/>
          <p:nvPr/>
        </p:nvSpPr>
        <p:spPr>
          <a:xfrm>
            <a:off x="6400800" y="4023360"/>
            <a:ext cx="507492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0" y="4114800"/>
            <a:ext cx="5074920" cy="411480"/>
          </a:xfrm>
          <a:prstGeom prst="rect">
            <a:avLst/>
          </a:prstGeom>
          <a:noFill/>
        </p:spPr>
        <p:txBody>
          <a:bodyPr wrap="square" anchor="t" lIns="0" rIns="0" tIns="0" bIns="0">
            <a:spAutoFit/>
          </a:bodyPr>
          <a:lstStyle/>
          <a:p>
            <a:pPr algn="l">
              <a:lnSpc>
                <a:spcPct val="140000"/>
              </a:lnSpc>
            </a:pPr>
            <a:r>
              <a:rPr sz="1000" b="1">
                <a:solidFill>
                  <a:srgbClr val="B85E1A"/>
                </a:solidFill>
                <a:latin typeface="Hiragino Sans"/>
                <a:ea typeface="Hiragino Sans"/>
                <a:cs typeface="Hiragino Sans"/>
              </a:rPr>
              <a:t>→  Touch-ups + Cropping は基本ON、それ以外は業種で判断</a:t>
            </a:r>
          </a:p>
        </p:txBody>
      </p:sp>
      <p:sp>
        <p:nvSpPr>
          <p:cNvPr id="36" name="Rounded Rectangle 35"/>
          <p:cNvSpPr/>
          <p:nvPr/>
        </p:nvSpPr>
        <p:spPr>
          <a:xfrm>
            <a:off x="548640" y="4709160"/>
            <a:ext cx="5440680" cy="15544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 y="4709160"/>
            <a:ext cx="91440" cy="1554480"/>
          </a:xfrm>
          <a:prstGeom prst="rect">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77240" y="4846320"/>
            <a:ext cx="457200" cy="320040"/>
          </a:xfrm>
          <a:prstGeom prst="rect">
            <a:avLst/>
          </a:prstGeom>
          <a:noFill/>
        </p:spPr>
        <p:txBody>
          <a:bodyPr wrap="square" anchor="t" lIns="0" rIns="0" tIns="0" bIns="0">
            <a:spAutoFit/>
          </a:bodyPr>
          <a:lstStyle/>
          <a:p>
            <a:pPr algn="l">
              <a:lnSpc>
                <a:spcPct val="115000"/>
              </a:lnSpc>
            </a:pPr>
            <a:r>
              <a:rPr sz="1800" b="1">
                <a:solidFill>
                  <a:srgbClr val="C6452D"/>
                </a:solidFill>
                <a:latin typeface="Hiragino Sans"/>
                <a:ea typeface="Hiragino Sans"/>
                <a:cs typeface="Hiragino Sans"/>
              </a:rPr>
              <a:t>✗</a:t>
            </a:r>
          </a:p>
        </p:txBody>
      </p:sp>
      <p:sp>
        <p:nvSpPr>
          <p:cNvPr id="39" name="TextBox 38"/>
          <p:cNvSpPr txBox="1"/>
          <p:nvPr/>
        </p:nvSpPr>
        <p:spPr>
          <a:xfrm>
            <a:off x="1188720" y="4846320"/>
            <a:ext cx="4663440" cy="365760"/>
          </a:xfrm>
          <a:prstGeom prst="rect">
            <a:avLst/>
          </a:prstGeom>
          <a:noFill/>
        </p:spPr>
        <p:txBody>
          <a:bodyPr wrap="square" anchor="t" lIns="0" rIns="0" tIns="0" bIns="0">
            <a:spAutoFit/>
          </a:bodyPr>
          <a:lstStyle/>
          <a:p>
            <a:pPr algn="l">
              <a:lnSpc>
                <a:spcPct val="130000"/>
              </a:lnSpc>
            </a:pPr>
            <a:r>
              <a:rPr sz="1200" b="1">
                <a:solidFill>
                  <a:srgbClr val="0F2A4F"/>
                </a:solidFill>
                <a:latin typeface="Hiragino Sans"/>
                <a:ea typeface="Hiragino Sans"/>
                <a:cs typeface="Hiragino Sans"/>
              </a:rPr>
              <a:t>Lift Test 抜きでROAS報告</a:t>
            </a:r>
          </a:p>
        </p:txBody>
      </p:sp>
      <p:sp>
        <p:nvSpPr>
          <p:cNvPr id="40" name="TextBox 39"/>
          <p:cNvSpPr txBox="1"/>
          <p:nvPr/>
        </p:nvSpPr>
        <p:spPr>
          <a:xfrm>
            <a:off x="777240" y="5303520"/>
            <a:ext cx="5074920" cy="411480"/>
          </a:xfrm>
          <a:prstGeom prst="rect">
            <a:avLst/>
          </a:prstGeom>
          <a:noFill/>
        </p:spPr>
        <p:txBody>
          <a:bodyPr wrap="square" anchor="t" lIns="0" rIns="0" tIns="0" bIns="0">
            <a:spAutoFit/>
          </a:bodyPr>
          <a:lstStyle/>
          <a:p>
            <a:pPr algn="l">
              <a:lnSpc>
                <a:spcPct val="140000"/>
              </a:lnSpc>
            </a:pPr>
            <a:r>
              <a:rPr sz="1000" b="0">
                <a:solidFill>
                  <a:srgbClr val="5A6A80"/>
                </a:solidFill>
                <a:latin typeface="Hiragino Sans"/>
                <a:ea typeface="Hiragino Sans"/>
                <a:cs typeface="Hiragino Sans"/>
              </a:rPr>
              <a:t>ラストクリック過大評価 → クライアント期待ズレ</a:t>
            </a:r>
          </a:p>
        </p:txBody>
      </p:sp>
      <p:sp>
        <p:nvSpPr>
          <p:cNvPr id="41" name="Rectangle 40"/>
          <p:cNvSpPr/>
          <p:nvPr/>
        </p:nvSpPr>
        <p:spPr>
          <a:xfrm>
            <a:off x="777240" y="5715000"/>
            <a:ext cx="507492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77240" y="5806440"/>
            <a:ext cx="5074920" cy="411480"/>
          </a:xfrm>
          <a:prstGeom prst="rect">
            <a:avLst/>
          </a:prstGeom>
          <a:noFill/>
        </p:spPr>
        <p:txBody>
          <a:bodyPr wrap="square" anchor="t" lIns="0" rIns="0" tIns="0" bIns="0">
            <a:spAutoFit/>
          </a:bodyPr>
          <a:lstStyle/>
          <a:p>
            <a:pPr algn="l">
              <a:lnSpc>
                <a:spcPct val="140000"/>
              </a:lnSpc>
            </a:pPr>
            <a:r>
              <a:rPr sz="1000" b="1">
                <a:solidFill>
                  <a:srgbClr val="B85E1A"/>
                </a:solidFill>
                <a:latin typeface="Hiragino Sans"/>
                <a:ea typeface="Hiragino Sans"/>
                <a:cs typeface="Hiragino Sans"/>
              </a:rPr>
              <a:t>→  中規模以上は Conversion Lift で Incremental ROAS を提示</a:t>
            </a:r>
          </a:p>
        </p:txBody>
      </p:sp>
      <p:sp>
        <p:nvSpPr>
          <p:cNvPr id="43" name="Rounded Rectangle 42"/>
          <p:cNvSpPr/>
          <p:nvPr/>
        </p:nvSpPr>
        <p:spPr>
          <a:xfrm>
            <a:off x="6172200" y="4709160"/>
            <a:ext cx="5440680" cy="15544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172200" y="4709160"/>
            <a:ext cx="91440" cy="1554480"/>
          </a:xfrm>
          <a:prstGeom prst="rect">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00800" y="4846320"/>
            <a:ext cx="457200" cy="320040"/>
          </a:xfrm>
          <a:prstGeom prst="rect">
            <a:avLst/>
          </a:prstGeom>
          <a:noFill/>
        </p:spPr>
        <p:txBody>
          <a:bodyPr wrap="square" anchor="t" lIns="0" rIns="0" tIns="0" bIns="0">
            <a:spAutoFit/>
          </a:bodyPr>
          <a:lstStyle/>
          <a:p>
            <a:pPr algn="l">
              <a:lnSpc>
                <a:spcPct val="115000"/>
              </a:lnSpc>
            </a:pPr>
            <a:r>
              <a:rPr sz="1800" b="1">
                <a:solidFill>
                  <a:srgbClr val="C6452D"/>
                </a:solidFill>
                <a:latin typeface="Hiragino Sans"/>
                <a:ea typeface="Hiragino Sans"/>
                <a:cs typeface="Hiragino Sans"/>
              </a:rPr>
              <a:t>✗</a:t>
            </a:r>
          </a:p>
        </p:txBody>
      </p:sp>
      <p:sp>
        <p:nvSpPr>
          <p:cNvPr id="46" name="TextBox 45"/>
          <p:cNvSpPr txBox="1"/>
          <p:nvPr/>
        </p:nvSpPr>
        <p:spPr>
          <a:xfrm>
            <a:off x="6812280" y="4846320"/>
            <a:ext cx="4663440" cy="365760"/>
          </a:xfrm>
          <a:prstGeom prst="rect">
            <a:avLst/>
          </a:prstGeom>
          <a:noFill/>
        </p:spPr>
        <p:txBody>
          <a:bodyPr wrap="square" anchor="t" lIns="0" rIns="0" tIns="0" bIns="0">
            <a:spAutoFit/>
          </a:bodyPr>
          <a:lstStyle/>
          <a:p>
            <a:pPr algn="l">
              <a:lnSpc>
                <a:spcPct val="130000"/>
              </a:lnSpc>
            </a:pPr>
            <a:r>
              <a:rPr sz="1200" b="1">
                <a:solidFill>
                  <a:srgbClr val="0F2A4F"/>
                </a:solidFill>
                <a:latin typeface="Hiragino Sans"/>
                <a:ea typeface="Hiragino Sans"/>
                <a:cs typeface="Hiragino Sans"/>
              </a:rPr>
              <a:t>AEM の優先順位設定が雑</a:t>
            </a:r>
          </a:p>
        </p:txBody>
      </p:sp>
      <p:sp>
        <p:nvSpPr>
          <p:cNvPr id="47" name="TextBox 46"/>
          <p:cNvSpPr txBox="1"/>
          <p:nvPr/>
        </p:nvSpPr>
        <p:spPr>
          <a:xfrm>
            <a:off x="6400800" y="5303520"/>
            <a:ext cx="5074920" cy="411480"/>
          </a:xfrm>
          <a:prstGeom prst="rect">
            <a:avLst/>
          </a:prstGeom>
          <a:noFill/>
        </p:spPr>
        <p:txBody>
          <a:bodyPr wrap="square" anchor="t" lIns="0" rIns="0" tIns="0" bIns="0">
            <a:spAutoFit/>
          </a:bodyPr>
          <a:lstStyle/>
          <a:p>
            <a:pPr algn="l">
              <a:lnSpc>
                <a:spcPct val="140000"/>
              </a:lnSpc>
            </a:pPr>
            <a:r>
              <a:rPr sz="1000" b="0">
                <a:solidFill>
                  <a:srgbClr val="5A6A80"/>
                </a:solidFill>
                <a:latin typeface="Hiragino Sans"/>
                <a:ea typeface="Hiragino Sans"/>
                <a:cs typeface="Hiragino Sans"/>
              </a:rPr>
              <a:t>重要なCVが計測されない (8つ枠の使い方)</a:t>
            </a:r>
          </a:p>
        </p:txBody>
      </p:sp>
      <p:sp>
        <p:nvSpPr>
          <p:cNvPr id="48" name="Rectangle 47"/>
          <p:cNvSpPr/>
          <p:nvPr/>
        </p:nvSpPr>
        <p:spPr>
          <a:xfrm>
            <a:off x="6400800" y="5715000"/>
            <a:ext cx="507492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400800" y="5806440"/>
            <a:ext cx="5074920" cy="411480"/>
          </a:xfrm>
          <a:prstGeom prst="rect">
            <a:avLst/>
          </a:prstGeom>
          <a:noFill/>
        </p:spPr>
        <p:txBody>
          <a:bodyPr wrap="square" anchor="t" lIns="0" rIns="0" tIns="0" bIns="0">
            <a:spAutoFit/>
          </a:bodyPr>
          <a:lstStyle/>
          <a:p>
            <a:pPr algn="l">
              <a:lnSpc>
                <a:spcPct val="140000"/>
              </a:lnSpc>
            </a:pPr>
            <a:r>
              <a:rPr sz="1000" b="1">
                <a:solidFill>
                  <a:srgbClr val="B85E1A"/>
                </a:solidFill>
                <a:latin typeface="Hiragino Sans"/>
                <a:ea typeface="Hiragino Sans"/>
                <a:cs typeface="Hiragino Sans"/>
              </a:rPr>
              <a:t>→  Purchase 最優先、業種別に上位 4-5 を設計</a:t>
            </a:r>
          </a:p>
        </p:txBody>
      </p:sp>
      <p:sp>
        <p:nvSpPr>
          <p:cNvPr id="50" name="TextBox 49"/>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914400"/>
            <a:ext cx="137160" cy="493776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914400"/>
            <a:ext cx="7315200" cy="365760"/>
          </a:xfrm>
          <a:prstGeom prst="rect">
            <a:avLst/>
          </a:prstGeom>
          <a:noFill/>
        </p:spPr>
        <p:txBody>
          <a:bodyPr wrap="square" anchor="t" lIns="0" rIns="0" tIns="0" bIns="0">
            <a:spAutoFit/>
          </a:bodyPr>
          <a:lstStyle/>
          <a:p>
            <a:pPr algn="l">
              <a:lnSpc>
                <a:spcPct val="115000"/>
              </a:lnSpc>
            </a:pPr>
            <a:r>
              <a:rPr sz="1200" b="1">
                <a:solidFill>
                  <a:srgbClr val="E87722"/>
                </a:solidFill>
                <a:latin typeface="Helvetica Neue"/>
                <a:ea typeface="Helvetica Neue"/>
                <a:cs typeface="Helvetica Neue"/>
              </a:rPr>
              <a:t>PART 3 / 媒体別キャッチアップ</a:t>
            </a:r>
          </a:p>
        </p:txBody>
      </p:sp>
      <p:sp>
        <p:nvSpPr>
          <p:cNvPr id="5" name="TextBox 4"/>
          <p:cNvSpPr txBox="1"/>
          <p:nvPr/>
        </p:nvSpPr>
        <p:spPr>
          <a:xfrm>
            <a:off x="1097280" y="1280160"/>
            <a:ext cx="7315200" cy="365760"/>
          </a:xfrm>
          <a:prstGeom prst="rect">
            <a:avLst/>
          </a:prstGeom>
          <a:noFill/>
        </p:spPr>
        <p:txBody>
          <a:bodyPr wrap="square" anchor="t" lIns="0" rIns="0" tIns="0" bIns="0">
            <a:spAutoFit/>
          </a:bodyPr>
          <a:lstStyle/>
          <a:p>
            <a:pPr algn="l">
              <a:lnSpc>
                <a:spcPct val="115000"/>
              </a:lnSpc>
            </a:pPr>
            <a:r>
              <a:rPr sz="1400" b="1">
                <a:solidFill>
                  <a:srgbClr val="D7DDE8"/>
                </a:solidFill>
                <a:latin typeface="Hiragino Sans"/>
                <a:ea typeface="Hiragino Sans"/>
                <a:cs typeface="Hiragino Sans"/>
              </a:rPr>
              <a:t>3-C   |   動画 + 日本ポータル</a:t>
            </a:r>
          </a:p>
        </p:txBody>
      </p:sp>
      <p:sp>
        <p:nvSpPr>
          <p:cNvPr id="6" name="TextBox 5"/>
          <p:cNvSpPr txBox="1"/>
          <p:nvPr/>
        </p:nvSpPr>
        <p:spPr>
          <a:xfrm>
            <a:off x="1097280" y="1691640"/>
            <a:ext cx="10058400" cy="1188720"/>
          </a:xfrm>
          <a:prstGeom prst="rect">
            <a:avLst/>
          </a:prstGeom>
          <a:noFill/>
        </p:spPr>
        <p:txBody>
          <a:bodyPr wrap="square" anchor="t" lIns="0" rIns="0" tIns="0" bIns="0">
            <a:spAutoFit/>
          </a:bodyPr>
          <a:lstStyle/>
          <a:p>
            <a:pPr algn="l">
              <a:lnSpc>
                <a:spcPct val="110000"/>
              </a:lnSpc>
            </a:pPr>
            <a:r>
              <a:rPr sz="5400" b="1">
                <a:solidFill>
                  <a:srgbClr val="FFFFFF"/>
                </a:solidFill>
                <a:latin typeface="Hiragino Sans"/>
                <a:ea typeface="Hiragino Sans"/>
                <a:cs typeface="Hiragino Sans"/>
              </a:rPr>
              <a:t>YouTube + Yahoo!</a:t>
            </a:r>
          </a:p>
        </p:txBody>
      </p:sp>
      <p:sp>
        <p:nvSpPr>
          <p:cNvPr id="7" name="TextBox 6"/>
          <p:cNvSpPr txBox="1"/>
          <p:nvPr/>
        </p:nvSpPr>
        <p:spPr>
          <a:xfrm>
            <a:off x="1097280" y="3017520"/>
            <a:ext cx="10058400" cy="365760"/>
          </a:xfrm>
          <a:prstGeom prst="rect">
            <a:avLst/>
          </a:prstGeom>
          <a:noFill/>
        </p:spPr>
        <p:txBody>
          <a:bodyPr wrap="square" anchor="t" lIns="0" rIns="0" tIns="0" bIns="0">
            <a:spAutoFit/>
          </a:bodyPr>
          <a:lstStyle/>
          <a:p>
            <a:pPr algn="l">
              <a:lnSpc>
                <a:spcPct val="115000"/>
              </a:lnSpc>
            </a:pPr>
            <a:r>
              <a:rPr sz="1600" b="0">
                <a:solidFill>
                  <a:srgbClr val="D7DDE8"/>
                </a:solidFill>
                <a:latin typeface="Hiragino Sans"/>
                <a:ea typeface="Hiragino Sans"/>
                <a:cs typeface="Hiragino Sans"/>
              </a:rPr>
              <a:t>Connected TV へ拡張する YouTube + LINEヤフー広告 統合直前の Yahoo!</a:t>
            </a:r>
          </a:p>
        </p:txBody>
      </p:sp>
      <p:sp>
        <p:nvSpPr>
          <p:cNvPr id="8" name="Rounded Rectangle 7"/>
          <p:cNvSpPr/>
          <p:nvPr/>
        </p:nvSpPr>
        <p:spPr>
          <a:xfrm>
            <a:off x="9875520" y="914400"/>
            <a:ext cx="1828800" cy="640080"/>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1078992"/>
            <a:ext cx="1828800" cy="457200"/>
          </a:xfrm>
          <a:prstGeom prst="rect">
            <a:avLst/>
          </a:prstGeom>
          <a:noFill/>
        </p:spPr>
        <p:txBody>
          <a:bodyPr wrap="square" anchor="t" lIns="0" rIns="0" tIns="0" bIns="0">
            <a:spAutoFit/>
          </a:bodyPr>
          <a:lstStyle/>
          <a:p>
            <a:pPr algn="ctr">
              <a:lnSpc>
                <a:spcPct val="115000"/>
              </a:lnSpc>
            </a:pPr>
            <a:r>
              <a:rPr sz="1800" b="1">
                <a:solidFill>
                  <a:srgbClr val="FFFFFF"/>
                </a:solidFill>
                <a:latin typeface="Helvetica Neue"/>
                <a:ea typeface="Helvetica Neue"/>
                <a:cs typeface="Helvetica Neue"/>
              </a:rPr>
              <a:t>22p</a:t>
            </a:r>
          </a:p>
        </p:txBody>
      </p:sp>
      <p:sp>
        <p:nvSpPr>
          <p:cNvPr id="10" name="Rectangle 9"/>
          <p:cNvSpPr/>
          <p:nvPr/>
        </p:nvSpPr>
        <p:spPr>
          <a:xfrm>
            <a:off x="1097280" y="3657600"/>
            <a:ext cx="914400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840480"/>
            <a:ext cx="10058400" cy="914400"/>
          </a:xfrm>
          <a:prstGeom prst="rect">
            <a:avLst/>
          </a:prstGeom>
          <a:noFill/>
        </p:spPr>
        <p:txBody>
          <a:bodyPr wrap="square" anchor="t" lIns="0" rIns="0" tIns="0" bIns="0">
            <a:spAutoFit/>
          </a:bodyPr>
          <a:lstStyle/>
          <a:p>
            <a:pPr algn="l">
              <a:lnSpc>
                <a:spcPct val="150000"/>
              </a:lnSpc>
            </a:pPr>
            <a:r>
              <a:rPr sz="1300" b="0">
                <a:solidFill>
                  <a:srgbClr val="D7DDE8"/>
                </a:solidFill>
                <a:latin typeface="Hiragino Sans"/>
                <a:ea typeface="Hiragino Sans"/>
                <a:cs typeface="Hiragino Sans"/>
              </a:rPr>
              <a:t>YouTube は CTV (Connected TV) 軸で再定義される時期。Shoppable CTV (2026/01) と</a:t>
            </a:r>
          </a:p>
          <a:p>
            <a:pPr algn="l">
              <a:lnSpc>
                <a:spcPct val="150000"/>
              </a:lnSpc>
            </a:pPr>
            <a:r>
              <a:rPr sz="1300" b="0">
                <a:solidFill>
                  <a:srgbClr val="D7DDE8"/>
                </a:solidFill>
                <a:latin typeface="Hiragino Sans"/>
                <a:ea typeface="Hiragino Sans"/>
                <a:cs typeface="Hiragino Sans"/>
              </a:rPr>
              <a:t>VRC Non-Skip (2026/03) が global ロールアウト。Yahoo!は LINEヤフー広告統合 (2026春) の直前</a:t>
            </a:r>
          </a:p>
        </p:txBody>
      </p:sp>
      <p:sp>
        <p:nvSpPr>
          <p:cNvPr id="12" name="Rounded Rectangle 11"/>
          <p:cNvSpPr/>
          <p:nvPr/>
        </p:nvSpPr>
        <p:spPr>
          <a:xfrm>
            <a:off x="1097280" y="5029200"/>
            <a:ext cx="5029200" cy="1371600"/>
          </a:xfrm>
          <a:prstGeom prst="roundRect">
            <a:avLst>
              <a:gd name="adj" fmla="val 6000"/>
            </a:avLst>
          </a:prstGeom>
          <a:solidFill>
            <a:srgbClr val="0A16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097280" y="5029200"/>
            <a:ext cx="91440" cy="137160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5120640"/>
            <a:ext cx="4663440" cy="365760"/>
          </a:xfrm>
          <a:prstGeom prst="rect">
            <a:avLst/>
          </a:prstGeom>
          <a:noFill/>
        </p:spPr>
        <p:txBody>
          <a:bodyPr wrap="square" anchor="t" lIns="0" rIns="0" tIns="0" bIns="0">
            <a:spAutoFit/>
          </a:bodyPr>
          <a:lstStyle/>
          <a:p>
            <a:pPr algn="l">
              <a:lnSpc>
                <a:spcPct val="115000"/>
              </a:lnSpc>
            </a:pPr>
            <a:r>
              <a:rPr sz="1800" b="1">
                <a:solidFill>
                  <a:srgbClr val="E87722"/>
                </a:solidFill>
                <a:latin typeface="Hiragino Sans"/>
                <a:ea typeface="Hiragino Sans"/>
                <a:cs typeface="Hiragino Sans"/>
              </a:rPr>
              <a:t>YouTube</a:t>
            </a:r>
          </a:p>
        </p:txBody>
      </p:sp>
      <p:sp>
        <p:nvSpPr>
          <p:cNvPr id="15" name="TextBox 14"/>
          <p:cNvSpPr txBox="1"/>
          <p:nvPr/>
        </p:nvSpPr>
        <p:spPr>
          <a:xfrm>
            <a:off x="1325880" y="5486400"/>
            <a:ext cx="4663440" cy="274320"/>
          </a:xfrm>
          <a:prstGeom prst="rect">
            <a:avLst/>
          </a:prstGeom>
          <a:noFill/>
        </p:spPr>
        <p:txBody>
          <a:bodyPr wrap="square" anchor="t" lIns="0" rIns="0" tIns="0" bIns="0">
            <a:spAutoFit/>
          </a:bodyPr>
          <a:lstStyle/>
          <a:p>
            <a:pPr algn="l">
              <a:lnSpc>
                <a:spcPct val="115000"/>
              </a:lnSpc>
            </a:pPr>
            <a:r>
              <a:rPr sz="1100" b="0">
                <a:solidFill>
                  <a:srgbClr val="D7DDE8"/>
                </a:solidFill>
                <a:latin typeface="Hiragino Sans"/>
                <a:ea typeface="Hiragino Sans"/>
                <a:cs typeface="Hiragino Sans"/>
              </a:rPr>
              <a:t>12p (P78-P89)</a:t>
            </a:r>
          </a:p>
        </p:txBody>
      </p:sp>
      <p:sp>
        <p:nvSpPr>
          <p:cNvPr id="16" name="TextBox 15"/>
          <p:cNvSpPr txBox="1"/>
          <p:nvPr/>
        </p:nvSpPr>
        <p:spPr>
          <a:xfrm>
            <a:off x="1325880" y="5806440"/>
            <a:ext cx="4663440" cy="594360"/>
          </a:xfrm>
          <a:prstGeom prst="rect">
            <a:avLst/>
          </a:prstGeom>
          <a:noFill/>
        </p:spPr>
        <p:txBody>
          <a:bodyPr wrap="square" anchor="t" lIns="0" rIns="0" tIns="0" bIns="0">
            <a:spAutoFit/>
          </a:bodyPr>
          <a:lstStyle/>
          <a:p>
            <a:pPr algn="l">
              <a:lnSpc>
                <a:spcPct val="140000"/>
              </a:lnSpc>
            </a:pPr>
            <a:r>
              <a:rPr sz="1000" b="0">
                <a:solidFill>
                  <a:srgbClr val="FFFFFF"/>
                </a:solidFill>
                <a:latin typeface="Hiragino Sans"/>
                <a:ea typeface="Hiragino Sans"/>
                <a:cs typeface="Hiragino Sans"/>
              </a:rPr>
              <a:t>Demand Gen / VRC / Shorts /</a:t>
            </a:r>
          </a:p>
          <a:p>
            <a:pPr algn="l">
              <a:lnSpc>
                <a:spcPct val="140000"/>
              </a:lnSpc>
            </a:pPr>
            <a:r>
              <a:rPr sz="1000" b="0">
                <a:solidFill>
                  <a:srgbClr val="FFFFFF"/>
                </a:solidFill>
                <a:latin typeface="Hiragino Sans"/>
                <a:ea typeface="Hiragino Sans"/>
                <a:cs typeface="Hiragino Sans"/>
              </a:rPr>
              <a:t>CTV / Shoppable / Brand Lift /</a:t>
            </a:r>
          </a:p>
          <a:p>
            <a:pPr algn="l">
              <a:lnSpc>
                <a:spcPct val="140000"/>
              </a:lnSpc>
            </a:pPr>
            <a:r>
              <a:rPr sz="1000" b="0">
                <a:solidFill>
                  <a:srgbClr val="FFFFFF"/>
                </a:solidFill>
                <a:latin typeface="Hiragino Sans"/>
                <a:ea typeface="Hiragino Sans"/>
                <a:cs typeface="Hiragino Sans"/>
              </a:rPr>
              <a:t>ABCD クリエイティブ</a:t>
            </a:r>
          </a:p>
        </p:txBody>
      </p:sp>
      <p:sp>
        <p:nvSpPr>
          <p:cNvPr id="17" name="Rounded Rectangle 16"/>
          <p:cNvSpPr/>
          <p:nvPr/>
        </p:nvSpPr>
        <p:spPr>
          <a:xfrm>
            <a:off x="6400800" y="5029200"/>
            <a:ext cx="5029200" cy="1371600"/>
          </a:xfrm>
          <a:prstGeom prst="roundRect">
            <a:avLst>
              <a:gd name="adj" fmla="val 6000"/>
            </a:avLst>
          </a:prstGeom>
          <a:solidFill>
            <a:srgbClr val="0A16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0" y="5029200"/>
            <a:ext cx="91440" cy="137160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29400" y="5120640"/>
            <a:ext cx="4663440" cy="365760"/>
          </a:xfrm>
          <a:prstGeom prst="rect">
            <a:avLst/>
          </a:prstGeom>
          <a:noFill/>
        </p:spPr>
        <p:txBody>
          <a:bodyPr wrap="square" anchor="t" lIns="0" rIns="0" tIns="0" bIns="0">
            <a:spAutoFit/>
          </a:bodyPr>
          <a:lstStyle/>
          <a:p>
            <a:pPr algn="l">
              <a:lnSpc>
                <a:spcPct val="115000"/>
              </a:lnSpc>
            </a:pPr>
            <a:r>
              <a:rPr sz="1800" b="1">
                <a:solidFill>
                  <a:srgbClr val="E87722"/>
                </a:solidFill>
                <a:latin typeface="Hiragino Sans"/>
                <a:ea typeface="Hiragino Sans"/>
                <a:cs typeface="Hiragino Sans"/>
              </a:rPr>
              <a:t>Yahoo!</a:t>
            </a:r>
          </a:p>
        </p:txBody>
      </p:sp>
      <p:sp>
        <p:nvSpPr>
          <p:cNvPr id="20" name="TextBox 19"/>
          <p:cNvSpPr txBox="1"/>
          <p:nvPr/>
        </p:nvSpPr>
        <p:spPr>
          <a:xfrm>
            <a:off x="6629400" y="5486400"/>
            <a:ext cx="4663440" cy="274320"/>
          </a:xfrm>
          <a:prstGeom prst="rect">
            <a:avLst/>
          </a:prstGeom>
          <a:noFill/>
        </p:spPr>
        <p:txBody>
          <a:bodyPr wrap="square" anchor="t" lIns="0" rIns="0" tIns="0" bIns="0">
            <a:spAutoFit/>
          </a:bodyPr>
          <a:lstStyle/>
          <a:p>
            <a:pPr algn="l">
              <a:lnSpc>
                <a:spcPct val="115000"/>
              </a:lnSpc>
            </a:pPr>
            <a:r>
              <a:rPr sz="1100" b="0">
                <a:solidFill>
                  <a:srgbClr val="D7DDE8"/>
                </a:solidFill>
                <a:latin typeface="Hiragino Sans"/>
                <a:ea typeface="Hiragino Sans"/>
                <a:cs typeface="Hiragino Sans"/>
              </a:rPr>
              <a:t>10p (P90-P99)</a:t>
            </a:r>
          </a:p>
        </p:txBody>
      </p:sp>
      <p:sp>
        <p:nvSpPr>
          <p:cNvPr id="21" name="TextBox 20"/>
          <p:cNvSpPr txBox="1"/>
          <p:nvPr/>
        </p:nvSpPr>
        <p:spPr>
          <a:xfrm>
            <a:off x="6629400" y="5806440"/>
            <a:ext cx="4663440" cy="594360"/>
          </a:xfrm>
          <a:prstGeom prst="rect">
            <a:avLst/>
          </a:prstGeom>
          <a:noFill/>
        </p:spPr>
        <p:txBody>
          <a:bodyPr wrap="square" anchor="t" lIns="0" rIns="0" tIns="0" bIns="0">
            <a:spAutoFit/>
          </a:bodyPr>
          <a:lstStyle/>
          <a:p>
            <a:pPr algn="l">
              <a:lnSpc>
                <a:spcPct val="140000"/>
              </a:lnSpc>
            </a:pPr>
            <a:r>
              <a:rPr sz="1000" b="0">
                <a:solidFill>
                  <a:srgbClr val="FFFFFF"/>
                </a:solidFill>
                <a:latin typeface="Hiragino Sans"/>
                <a:ea typeface="Hiragino Sans"/>
                <a:cs typeface="Hiragino Sans"/>
              </a:rPr>
              <a:t>LINEヤフー広告統合 2026春 /</a:t>
            </a:r>
          </a:p>
          <a:p>
            <a:pPr algn="l">
              <a:lnSpc>
                <a:spcPct val="140000"/>
              </a:lnSpc>
            </a:pPr>
            <a:r>
              <a:rPr sz="1000" b="0">
                <a:solidFill>
                  <a:srgbClr val="FFFFFF"/>
                </a:solidFill>
                <a:latin typeface="Hiragino Sans"/>
                <a:ea typeface="Hiragino Sans"/>
                <a:cs typeface="Hiragino Sans"/>
              </a:rPr>
              <a:t>Yahoo!検索広告 / YDA /</a:t>
            </a:r>
          </a:p>
          <a:p>
            <a:pPr algn="l">
              <a:lnSpc>
                <a:spcPct val="140000"/>
              </a:lnSpc>
            </a:pPr>
            <a:r>
              <a:rPr sz="1000" b="0">
                <a:solidFill>
                  <a:srgbClr val="FFFFFF"/>
                </a:solidFill>
                <a:latin typeface="Hiragino Sans"/>
                <a:ea typeface="Hiragino Sans"/>
                <a:cs typeface="Hiragino Sans"/>
              </a:rPr>
              <a:t>LINE連携の現在地</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YouTube Ads ランドスケープ 2026</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再生面 + 配信面 + 課金軸の3層で整理</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P79 / 250</a:t>
            </a:r>
          </a:p>
        </p:txBody>
      </p:sp>
      <p:sp>
        <p:nvSpPr>
          <p:cNvPr id="8" name="Rounded Rectangle 7"/>
          <p:cNvSpPr/>
          <p:nvPr/>
        </p:nvSpPr>
        <p:spPr>
          <a:xfrm>
            <a:off x="548640" y="1417320"/>
            <a:ext cx="11109960" cy="14173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137160" cy="14173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581912"/>
            <a:ext cx="2286000" cy="457200"/>
          </a:xfrm>
          <a:prstGeom prst="rect">
            <a:avLst/>
          </a:prstGeom>
          <a:noFill/>
        </p:spPr>
        <p:txBody>
          <a:bodyPr wrap="square" anchor="t" lIns="0" rIns="0" tIns="0" bIns="0">
            <a:spAutoFit/>
          </a:bodyPr>
          <a:lstStyle/>
          <a:p>
            <a:pPr algn="l">
              <a:lnSpc>
                <a:spcPct val="115000"/>
              </a:lnSpc>
            </a:pPr>
            <a:r>
              <a:rPr sz="1800" b="1">
                <a:solidFill>
                  <a:srgbClr val="0F2A4F"/>
                </a:solidFill>
                <a:latin typeface="Hiragino Sans"/>
                <a:ea typeface="Hiragino Sans"/>
                <a:cs typeface="Hiragino Sans"/>
              </a:rPr>
              <a:t>再生面</a:t>
            </a:r>
          </a:p>
        </p:txBody>
      </p:sp>
      <p:sp>
        <p:nvSpPr>
          <p:cNvPr id="11" name="TextBox 10"/>
          <p:cNvSpPr txBox="1"/>
          <p:nvPr/>
        </p:nvSpPr>
        <p:spPr>
          <a:xfrm>
            <a:off x="868680" y="2057400"/>
            <a:ext cx="100584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elvetica Neue"/>
                <a:ea typeface="Helvetica Neue"/>
                <a:cs typeface="Helvetica Neue"/>
              </a:rPr>
              <a:t>Mobile / Desktop / TV Screen (CTV)</a:t>
            </a:r>
          </a:p>
        </p:txBody>
      </p:sp>
      <p:sp>
        <p:nvSpPr>
          <p:cNvPr id="12" name="TextBox 11"/>
          <p:cNvSpPr txBox="1"/>
          <p:nvPr/>
        </p:nvSpPr>
        <p:spPr>
          <a:xfrm>
            <a:off x="868680" y="2377440"/>
            <a:ext cx="10058400" cy="41148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CTV比率が急増 (2025 US$33B市場)。</a:t>
            </a:r>
          </a:p>
          <a:p>
            <a:pPr algn="l">
              <a:lnSpc>
                <a:spcPct val="150000"/>
              </a:lnSpc>
            </a:pPr>
            <a:r>
              <a:rPr sz="1100" b="0">
                <a:solidFill>
                  <a:srgbClr val="1A1A1A"/>
                </a:solidFill>
                <a:latin typeface="Hiragino Sans"/>
                <a:ea typeface="Hiragino Sans"/>
                <a:cs typeface="Hiragino Sans"/>
              </a:rPr>
              <a:t>80% の PMax 広告主が CTV配信中</a:t>
            </a:r>
          </a:p>
        </p:txBody>
      </p:sp>
      <p:sp>
        <p:nvSpPr>
          <p:cNvPr id="13" name="Rounded Rectangle 12"/>
          <p:cNvSpPr/>
          <p:nvPr/>
        </p:nvSpPr>
        <p:spPr>
          <a:xfrm>
            <a:off x="548640" y="2971800"/>
            <a:ext cx="11109960" cy="14173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2971800"/>
            <a:ext cx="137160" cy="14173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136392"/>
            <a:ext cx="2286000" cy="457200"/>
          </a:xfrm>
          <a:prstGeom prst="rect">
            <a:avLst/>
          </a:prstGeom>
          <a:noFill/>
        </p:spPr>
        <p:txBody>
          <a:bodyPr wrap="square" anchor="t" lIns="0" rIns="0" tIns="0" bIns="0">
            <a:spAutoFit/>
          </a:bodyPr>
          <a:lstStyle/>
          <a:p>
            <a:pPr algn="l">
              <a:lnSpc>
                <a:spcPct val="115000"/>
              </a:lnSpc>
            </a:pPr>
            <a:r>
              <a:rPr sz="1800" b="1">
                <a:solidFill>
                  <a:srgbClr val="0F2A4F"/>
                </a:solidFill>
                <a:latin typeface="Hiragino Sans"/>
                <a:ea typeface="Hiragino Sans"/>
                <a:cs typeface="Hiragino Sans"/>
              </a:rPr>
              <a:t>配信面</a:t>
            </a:r>
          </a:p>
        </p:txBody>
      </p:sp>
      <p:sp>
        <p:nvSpPr>
          <p:cNvPr id="16" name="TextBox 15"/>
          <p:cNvSpPr txBox="1"/>
          <p:nvPr/>
        </p:nvSpPr>
        <p:spPr>
          <a:xfrm>
            <a:off x="868680" y="3611880"/>
            <a:ext cx="100584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elvetica Neue"/>
                <a:ea typeface="Helvetica Neue"/>
                <a:cs typeface="Helvetica Neue"/>
              </a:rPr>
              <a:t>InStream / InFeed / Shorts</a:t>
            </a:r>
          </a:p>
        </p:txBody>
      </p:sp>
      <p:sp>
        <p:nvSpPr>
          <p:cNvPr id="17" name="TextBox 16"/>
          <p:cNvSpPr txBox="1"/>
          <p:nvPr/>
        </p:nvSpPr>
        <p:spPr>
          <a:xfrm>
            <a:off x="868680" y="3931920"/>
            <a:ext cx="10058400" cy="41148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縦型Shortsの伸びが最大。</a:t>
            </a:r>
          </a:p>
          <a:p>
            <a:pPr algn="l">
              <a:lnSpc>
                <a:spcPct val="150000"/>
              </a:lnSpc>
            </a:pPr>
            <a:r>
              <a:rPr sz="1100" b="0">
                <a:solidFill>
                  <a:srgbClr val="1A1A1A"/>
                </a:solidFill>
                <a:latin typeface="Hiragino Sans"/>
                <a:ea typeface="Hiragino Sans"/>
                <a:cs typeface="Hiragino Sans"/>
              </a:rPr>
              <a:t>InStream は Skippable と Non-Skippable に分岐</a:t>
            </a:r>
          </a:p>
        </p:txBody>
      </p:sp>
      <p:sp>
        <p:nvSpPr>
          <p:cNvPr id="18" name="Rounded Rectangle 17"/>
          <p:cNvSpPr/>
          <p:nvPr/>
        </p:nvSpPr>
        <p:spPr>
          <a:xfrm>
            <a:off x="548640" y="4526280"/>
            <a:ext cx="11109960" cy="14173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4526280"/>
            <a:ext cx="137160" cy="14173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4690872"/>
            <a:ext cx="2286000" cy="457200"/>
          </a:xfrm>
          <a:prstGeom prst="rect">
            <a:avLst/>
          </a:prstGeom>
          <a:noFill/>
        </p:spPr>
        <p:txBody>
          <a:bodyPr wrap="square" anchor="t" lIns="0" rIns="0" tIns="0" bIns="0">
            <a:spAutoFit/>
          </a:bodyPr>
          <a:lstStyle/>
          <a:p>
            <a:pPr algn="l">
              <a:lnSpc>
                <a:spcPct val="115000"/>
              </a:lnSpc>
            </a:pPr>
            <a:r>
              <a:rPr sz="1800" b="1">
                <a:solidFill>
                  <a:srgbClr val="0F2A4F"/>
                </a:solidFill>
                <a:latin typeface="Hiragino Sans"/>
                <a:ea typeface="Hiragino Sans"/>
                <a:cs typeface="Hiragino Sans"/>
              </a:rPr>
              <a:t>課金軸</a:t>
            </a:r>
          </a:p>
        </p:txBody>
      </p:sp>
      <p:sp>
        <p:nvSpPr>
          <p:cNvPr id="21" name="TextBox 20"/>
          <p:cNvSpPr txBox="1"/>
          <p:nvPr/>
        </p:nvSpPr>
        <p:spPr>
          <a:xfrm>
            <a:off x="868680" y="5166360"/>
            <a:ext cx="100584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elvetica Neue"/>
                <a:ea typeface="Helvetica Neue"/>
                <a:cs typeface="Helvetica Neue"/>
              </a:rPr>
              <a:t>CPV / CPM / CPA</a:t>
            </a:r>
          </a:p>
        </p:txBody>
      </p:sp>
      <p:sp>
        <p:nvSpPr>
          <p:cNvPr id="22" name="TextBox 21"/>
          <p:cNvSpPr txBox="1"/>
          <p:nvPr/>
        </p:nvSpPr>
        <p:spPr>
          <a:xfrm>
            <a:off x="868680" y="5486400"/>
            <a:ext cx="10058400" cy="41148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Awareness=CPM, Demand Gen=CPA/tROAS,</a:t>
            </a:r>
          </a:p>
          <a:p>
            <a:pPr algn="l">
              <a:lnSpc>
                <a:spcPct val="150000"/>
              </a:lnSpc>
            </a:pPr>
            <a:r>
              <a:rPr sz="1100" b="0">
                <a:solidFill>
                  <a:srgbClr val="1A1A1A"/>
                </a:solidFill>
                <a:latin typeface="Hiragino Sans"/>
                <a:ea typeface="Hiragino Sans"/>
                <a:cs typeface="Hiragino Sans"/>
              </a:rPr>
              <a:t>Video Reach=CPM, Conversion=CPA</a:t>
            </a:r>
          </a:p>
        </p:txBody>
      </p:sp>
      <p:sp>
        <p:nvSpPr>
          <p:cNvPr id="23" name="Rounded Rectangle 22"/>
          <p:cNvSpPr/>
          <p:nvPr/>
        </p:nvSpPr>
        <p:spPr>
          <a:xfrm>
            <a:off x="548640" y="5897880"/>
            <a:ext cx="11109960" cy="45720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989320"/>
            <a:ext cx="10972800" cy="32004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 2026年最大の変化 : YouTube 配信は『動画広告』から『TV広告』へ。CTV最適化が必須</a:t>
            </a:r>
          </a:p>
        </p:txBody>
      </p:sp>
      <p:sp>
        <p:nvSpPr>
          <p:cNvPr id="25" name="TextBox 24"/>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YouTube キャンペーンタイプ 2026 整理</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目的別に5タイプ</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P80 / 250</a:t>
            </a:r>
          </a:p>
        </p:txBody>
      </p:sp>
      <p:sp>
        <p:nvSpPr>
          <p:cNvPr id="8" name="Rounded Rectangle 7"/>
          <p:cNvSpPr/>
          <p:nvPr/>
        </p:nvSpPr>
        <p:spPr>
          <a:xfrm>
            <a:off x="548640" y="1417320"/>
            <a:ext cx="2221992" cy="23774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2221992" cy="64008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54480"/>
            <a:ext cx="1947672" cy="411480"/>
          </a:xfrm>
          <a:prstGeom prst="rect">
            <a:avLst/>
          </a:prstGeom>
          <a:noFill/>
        </p:spPr>
        <p:txBody>
          <a:bodyPr wrap="square" anchor="t" lIns="0" rIns="0" tIns="0" bIns="0">
            <a:spAutoFit/>
          </a:bodyPr>
          <a:lstStyle/>
          <a:p>
            <a:pPr algn="ctr">
              <a:lnSpc>
                <a:spcPct val="120000"/>
              </a:lnSpc>
            </a:pPr>
            <a:r>
              <a:rPr sz="1200" b="1">
                <a:solidFill>
                  <a:srgbClr val="FFFFFF"/>
                </a:solidFill>
                <a:latin typeface="Hiragino Sans"/>
                <a:ea typeface="Hiragino Sans"/>
                <a:cs typeface="Hiragino Sans"/>
              </a:rPr>
              <a:t>Demand Gen</a:t>
            </a:r>
          </a:p>
        </p:txBody>
      </p:sp>
      <p:sp>
        <p:nvSpPr>
          <p:cNvPr id="11" name="TextBox 10"/>
          <p:cNvSpPr txBox="1"/>
          <p:nvPr/>
        </p:nvSpPr>
        <p:spPr>
          <a:xfrm>
            <a:off x="685800" y="2194560"/>
            <a:ext cx="1947672" cy="320040"/>
          </a:xfrm>
          <a:prstGeom prst="rect">
            <a:avLst/>
          </a:prstGeom>
          <a:noFill/>
        </p:spPr>
        <p:txBody>
          <a:bodyPr wrap="square" anchor="t" lIns="0" rIns="0" tIns="0" bIns="0">
            <a:spAutoFit/>
          </a:bodyPr>
          <a:lstStyle/>
          <a:p>
            <a:pPr algn="ctr">
              <a:lnSpc>
                <a:spcPct val="115000"/>
              </a:lnSpc>
            </a:pPr>
            <a:r>
              <a:rPr sz="1000" b="1">
                <a:solidFill>
                  <a:srgbClr val="B85E1A"/>
                </a:solidFill>
                <a:latin typeface="Hiragino Sans"/>
                <a:ea typeface="Hiragino Sans"/>
                <a:cs typeface="Hiragino Sans"/>
              </a:rPr>
              <a:t>需要喚起+CV</a:t>
            </a:r>
          </a:p>
        </p:txBody>
      </p:sp>
      <p:sp>
        <p:nvSpPr>
          <p:cNvPr id="12" name="TextBox 11"/>
          <p:cNvSpPr txBox="1"/>
          <p:nvPr/>
        </p:nvSpPr>
        <p:spPr>
          <a:xfrm>
            <a:off x="685800" y="2560320"/>
            <a:ext cx="1947672" cy="1188720"/>
          </a:xfrm>
          <a:prstGeom prst="rect">
            <a:avLst/>
          </a:prstGeom>
          <a:noFill/>
        </p:spPr>
        <p:txBody>
          <a:bodyPr wrap="square" anchor="t" lIns="0" rIns="0" tIns="0" bIns="0">
            <a:spAutoFit/>
          </a:bodyPr>
          <a:lstStyle/>
          <a:p>
            <a:pPr algn="ctr">
              <a:lnSpc>
                <a:spcPct val="150000"/>
              </a:lnSpc>
            </a:pPr>
            <a:r>
              <a:rPr sz="1000" b="0">
                <a:solidFill>
                  <a:srgbClr val="1A1A1A"/>
                </a:solidFill>
                <a:latin typeface="Hiragino Sans"/>
                <a:ea typeface="Hiragino Sans"/>
                <a:cs typeface="Hiragino Sans"/>
              </a:rPr>
              <a:t>InStream/InFeed/Shorts +</a:t>
            </a:r>
          </a:p>
          <a:p>
            <a:pPr algn="ctr">
              <a:lnSpc>
                <a:spcPct val="150000"/>
              </a:lnSpc>
            </a:pPr>
            <a:r>
              <a:rPr sz="1000" b="0">
                <a:solidFill>
                  <a:srgbClr val="1A1A1A"/>
                </a:solidFill>
                <a:latin typeface="Hiragino Sans"/>
                <a:ea typeface="Hiragino Sans"/>
                <a:cs typeface="Hiragino Sans"/>
              </a:rPr>
              <a:t>Discover+Gmail。</a:t>
            </a:r>
          </a:p>
          <a:p>
            <a:pPr algn="ctr">
              <a:lnSpc>
                <a:spcPct val="150000"/>
              </a:lnSpc>
            </a:pPr>
            <a:r>
              <a:rPr sz="1000" b="0">
                <a:solidFill>
                  <a:srgbClr val="1A1A1A"/>
                </a:solidFill>
                <a:latin typeface="Hiragino Sans"/>
                <a:ea typeface="Hiragino Sans"/>
                <a:cs typeface="Hiragino Sans"/>
              </a:rPr>
              <a:t>2024-2025でVAC統合</a:t>
            </a:r>
          </a:p>
        </p:txBody>
      </p:sp>
      <p:sp>
        <p:nvSpPr>
          <p:cNvPr id="13" name="Rounded Rectangle 12"/>
          <p:cNvSpPr/>
          <p:nvPr/>
        </p:nvSpPr>
        <p:spPr>
          <a:xfrm>
            <a:off x="2816352" y="1417320"/>
            <a:ext cx="2221992" cy="23774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816352" y="1417320"/>
            <a:ext cx="2221992" cy="64008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53512" y="1554480"/>
            <a:ext cx="1947672" cy="411480"/>
          </a:xfrm>
          <a:prstGeom prst="rect">
            <a:avLst/>
          </a:prstGeom>
          <a:noFill/>
        </p:spPr>
        <p:txBody>
          <a:bodyPr wrap="square" anchor="t" lIns="0" rIns="0" tIns="0" bIns="0">
            <a:spAutoFit/>
          </a:bodyPr>
          <a:lstStyle/>
          <a:p>
            <a:pPr algn="ctr">
              <a:lnSpc>
                <a:spcPct val="120000"/>
              </a:lnSpc>
            </a:pPr>
            <a:r>
              <a:rPr sz="1200" b="1">
                <a:solidFill>
                  <a:srgbClr val="FFFFFF"/>
                </a:solidFill>
                <a:latin typeface="Hiragino Sans"/>
                <a:ea typeface="Hiragino Sans"/>
                <a:cs typeface="Hiragino Sans"/>
              </a:rPr>
              <a:t>Video Reach Campaign</a:t>
            </a:r>
          </a:p>
        </p:txBody>
      </p:sp>
      <p:sp>
        <p:nvSpPr>
          <p:cNvPr id="16" name="TextBox 15"/>
          <p:cNvSpPr txBox="1"/>
          <p:nvPr/>
        </p:nvSpPr>
        <p:spPr>
          <a:xfrm>
            <a:off x="2953512" y="2194560"/>
            <a:ext cx="1947672" cy="320040"/>
          </a:xfrm>
          <a:prstGeom prst="rect">
            <a:avLst/>
          </a:prstGeom>
          <a:noFill/>
        </p:spPr>
        <p:txBody>
          <a:bodyPr wrap="square" anchor="t" lIns="0" rIns="0" tIns="0" bIns="0">
            <a:spAutoFit/>
          </a:bodyPr>
          <a:lstStyle/>
          <a:p>
            <a:pPr algn="ctr">
              <a:lnSpc>
                <a:spcPct val="115000"/>
              </a:lnSpc>
            </a:pPr>
            <a:r>
              <a:rPr sz="1000" b="1">
                <a:solidFill>
                  <a:srgbClr val="B85E1A"/>
                </a:solidFill>
                <a:latin typeface="Hiragino Sans"/>
                <a:ea typeface="Hiragino Sans"/>
                <a:cs typeface="Hiragino Sans"/>
              </a:rPr>
              <a:t>リーチ最大化</a:t>
            </a:r>
          </a:p>
        </p:txBody>
      </p:sp>
      <p:sp>
        <p:nvSpPr>
          <p:cNvPr id="17" name="TextBox 16"/>
          <p:cNvSpPr txBox="1"/>
          <p:nvPr/>
        </p:nvSpPr>
        <p:spPr>
          <a:xfrm>
            <a:off x="2953512" y="2560320"/>
            <a:ext cx="1947672" cy="1188720"/>
          </a:xfrm>
          <a:prstGeom prst="rect">
            <a:avLst/>
          </a:prstGeom>
          <a:noFill/>
        </p:spPr>
        <p:txBody>
          <a:bodyPr wrap="square" anchor="t" lIns="0" rIns="0" tIns="0" bIns="0">
            <a:spAutoFit/>
          </a:bodyPr>
          <a:lstStyle/>
          <a:p>
            <a:pPr algn="ctr">
              <a:lnSpc>
                <a:spcPct val="150000"/>
              </a:lnSpc>
            </a:pPr>
            <a:r>
              <a:rPr sz="1000" b="0">
                <a:solidFill>
                  <a:srgbClr val="1A1A1A"/>
                </a:solidFill>
                <a:latin typeface="Hiragino Sans"/>
                <a:ea typeface="Hiragino Sans"/>
                <a:cs typeface="Hiragino Sans"/>
              </a:rPr>
              <a:t>TrueView/Bumper/Skippable統合。</a:t>
            </a:r>
          </a:p>
          <a:p>
            <a:pPr algn="ctr">
              <a:lnSpc>
                <a:spcPct val="150000"/>
              </a:lnSpc>
            </a:pPr>
            <a:r>
              <a:rPr sz="1000" b="0">
                <a:solidFill>
                  <a:srgbClr val="1A1A1A"/>
                </a:solidFill>
                <a:latin typeface="Hiragino Sans"/>
                <a:ea typeface="Hiragino Sans"/>
                <a:cs typeface="Hiragino Sans"/>
              </a:rPr>
              <a:t>2026~ Non-Skip 6/15/30秒</a:t>
            </a:r>
          </a:p>
          <a:p>
            <a:pPr algn="ctr">
              <a:lnSpc>
                <a:spcPct val="150000"/>
              </a:lnSpc>
            </a:pPr>
            <a:r>
              <a:rPr sz="1000" b="0">
                <a:solidFill>
                  <a:srgbClr val="1A1A1A"/>
                </a:solidFill>
                <a:latin typeface="Hiragino Sans"/>
                <a:ea typeface="Hiragino Sans"/>
                <a:cs typeface="Hiragino Sans"/>
              </a:rPr>
              <a:t>全世界ロールアウト</a:t>
            </a:r>
          </a:p>
        </p:txBody>
      </p:sp>
      <p:sp>
        <p:nvSpPr>
          <p:cNvPr id="18" name="Rounded Rectangle 17"/>
          <p:cNvSpPr/>
          <p:nvPr/>
        </p:nvSpPr>
        <p:spPr>
          <a:xfrm>
            <a:off x="5084064" y="1417320"/>
            <a:ext cx="2221992" cy="23774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84064" y="1417320"/>
            <a:ext cx="2221992" cy="640080"/>
          </a:xfrm>
          <a:prstGeom prst="rect">
            <a:avLst/>
          </a:prstGeom>
          <a:solidFill>
            <a:srgbClr val="5A6A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221224" y="1554480"/>
            <a:ext cx="1947672" cy="411480"/>
          </a:xfrm>
          <a:prstGeom prst="rect">
            <a:avLst/>
          </a:prstGeom>
          <a:noFill/>
        </p:spPr>
        <p:txBody>
          <a:bodyPr wrap="square" anchor="t" lIns="0" rIns="0" tIns="0" bIns="0">
            <a:spAutoFit/>
          </a:bodyPr>
          <a:lstStyle/>
          <a:p>
            <a:pPr algn="ctr">
              <a:lnSpc>
                <a:spcPct val="120000"/>
              </a:lnSpc>
            </a:pPr>
            <a:r>
              <a:rPr sz="1200" b="1">
                <a:solidFill>
                  <a:srgbClr val="FFFFFF"/>
                </a:solidFill>
                <a:latin typeface="Hiragino Sans"/>
                <a:ea typeface="Hiragino Sans"/>
                <a:cs typeface="Hiragino Sans"/>
              </a:rPr>
              <a:t>Video Action Campaign</a:t>
            </a:r>
          </a:p>
        </p:txBody>
      </p:sp>
      <p:sp>
        <p:nvSpPr>
          <p:cNvPr id="21" name="TextBox 20"/>
          <p:cNvSpPr txBox="1"/>
          <p:nvPr/>
        </p:nvSpPr>
        <p:spPr>
          <a:xfrm>
            <a:off x="5221224" y="2194560"/>
            <a:ext cx="1947672" cy="320040"/>
          </a:xfrm>
          <a:prstGeom prst="rect">
            <a:avLst/>
          </a:prstGeom>
          <a:noFill/>
        </p:spPr>
        <p:txBody>
          <a:bodyPr wrap="square" anchor="t" lIns="0" rIns="0" tIns="0" bIns="0">
            <a:spAutoFit/>
          </a:bodyPr>
          <a:lstStyle/>
          <a:p>
            <a:pPr algn="ctr">
              <a:lnSpc>
                <a:spcPct val="115000"/>
              </a:lnSpc>
            </a:pPr>
            <a:r>
              <a:rPr sz="1000" b="1">
                <a:solidFill>
                  <a:srgbClr val="B85E1A"/>
                </a:solidFill>
                <a:latin typeface="Hiragino Sans"/>
                <a:ea typeface="Hiragino Sans"/>
                <a:cs typeface="Hiragino Sans"/>
              </a:rPr>
              <a:t>(Demand Gen に統合済)</a:t>
            </a:r>
          </a:p>
        </p:txBody>
      </p:sp>
      <p:sp>
        <p:nvSpPr>
          <p:cNvPr id="22" name="TextBox 21"/>
          <p:cNvSpPr txBox="1"/>
          <p:nvPr/>
        </p:nvSpPr>
        <p:spPr>
          <a:xfrm>
            <a:off x="5221224" y="2560320"/>
            <a:ext cx="1947672" cy="1188720"/>
          </a:xfrm>
          <a:prstGeom prst="rect">
            <a:avLst/>
          </a:prstGeom>
          <a:noFill/>
        </p:spPr>
        <p:txBody>
          <a:bodyPr wrap="square" anchor="t" lIns="0" rIns="0" tIns="0" bIns="0">
            <a:spAutoFit/>
          </a:bodyPr>
          <a:lstStyle/>
          <a:p>
            <a:pPr algn="ctr">
              <a:lnSpc>
                <a:spcPct val="150000"/>
              </a:lnSpc>
            </a:pPr>
            <a:r>
              <a:rPr sz="1000" b="0">
                <a:solidFill>
                  <a:srgbClr val="1A1A1A"/>
                </a:solidFill>
                <a:latin typeface="Hiragino Sans"/>
                <a:ea typeface="Hiragino Sans"/>
                <a:cs typeface="Hiragino Sans"/>
              </a:rPr>
              <a:t>2024-2025 で段階的に</a:t>
            </a:r>
          </a:p>
          <a:p>
            <a:pPr algn="ctr">
              <a:lnSpc>
                <a:spcPct val="150000"/>
              </a:lnSpc>
            </a:pPr>
            <a:r>
              <a:rPr sz="1000" b="0">
                <a:solidFill>
                  <a:srgbClr val="1A1A1A"/>
                </a:solidFill>
                <a:latin typeface="Hiragino Sans"/>
                <a:ea typeface="Hiragino Sans"/>
                <a:cs typeface="Hiragino Sans"/>
              </a:rPr>
              <a:t>Demand Gen にアップグレード。</a:t>
            </a:r>
          </a:p>
          <a:p>
            <a:pPr algn="ctr">
              <a:lnSpc>
                <a:spcPct val="150000"/>
              </a:lnSpc>
            </a:pPr>
            <a:r>
              <a:rPr sz="1000" b="0">
                <a:solidFill>
                  <a:srgbClr val="1A1A1A"/>
                </a:solidFill>
                <a:latin typeface="Hiragino Sans"/>
                <a:ea typeface="Hiragino Sans"/>
                <a:cs typeface="Hiragino Sans"/>
              </a:rPr>
              <a:t>新規作成不可</a:t>
            </a:r>
          </a:p>
        </p:txBody>
      </p:sp>
      <p:sp>
        <p:nvSpPr>
          <p:cNvPr id="23" name="Rounded Rectangle 22"/>
          <p:cNvSpPr/>
          <p:nvPr/>
        </p:nvSpPr>
        <p:spPr>
          <a:xfrm>
            <a:off x="7351776" y="1417320"/>
            <a:ext cx="2221992" cy="23774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51776" y="1417320"/>
            <a:ext cx="2221992" cy="640080"/>
          </a:xfrm>
          <a:prstGeom prst="rect">
            <a:avLst/>
          </a:prstGeom>
          <a:solidFill>
            <a:srgbClr val="2B44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88936" y="1554480"/>
            <a:ext cx="1947672" cy="411480"/>
          </a:xfrm>
          <a:prstGeom prst="rect">
            <a:avLst/>
          </a:prstGeom>
          <a:noFill/>
        </p:spPr>
        <p:txBody>
          <a:bodyPr wrap="square" anchor="t" lIns="0" rIns="0" tIns="0" bIns="0">
            <a:spAutoFit/>
          </a:bodyPr>
          <a:lstStyle/>
          <a:p>
            <a:pPr algn="ctr">
              <a:lnSpc>
                <a:spcPct val="120000"/>
              </a:lnSpc>
            </a:pPr>
            <a:r>
              <a:rPr sz="1200" b="1">
                <a:solidFill>
                  <a:srgbClr val="FFFFFF"/>
                </a:solidFill>
                <a:latin typeface="Hiragino Sans"/>
                <a:ea typeface="Hiragino Sans"/>
                <a:cs typeface="Hiragino Sans"/>
              </a:rPr>
              <a:t>Performance Max</a:t>
            </a:r>
          </a:p>
        </p:txBody>
      </p:sp>
      <p:sp>
        <p:nvSpPr>
          <p:cNvPr id="26" name="TextBox 25"/>
          <p:cNvSpPr txBox="1"/>
          <p:nvPr/>
        </p:nvSpPr>
        <p:spPr>
          <a:xfrm>
            <a:off x="7488936" y="2194560"/>
            <a:ext cx="1947672" cy="320040"/>
          </a:xfrm>
          <a:prstGeom prst="rect">
            <a:avLst/>
          </a:prstGeom>
          <a:noFill/>
        </p:spPr>
        <p:txBody>
          <a:bodyPr wrap="square" anchor="t" lIns="0" rIns="0" tIns="0" bIns="0">
            <a:spAutoFit/>
          </a:bodyPr>
          <a:lstStyle/>
          <a:p>
            <a:pPr algn="ctr">
              <a:lnSpc>
                <a:spcPct val="115000"/>
              </a:lnSpc>
            </a:pPr>
            <a:r>
              <a:rPr sz="1000" b="1">
                <a:solidFill>
                  <a:srgbClr val="B85E1A"/>
                </a:solidFill>
                <a:latin typeface="Hiragino Sans"/>
                <a:ea typeface="Hiragino Sans"/>
                <a:cs typeface="Hiragino Sans"/>
              </a:rPr>
              <a:t>全在庫CV最適化</a:t>
            </a:r>
          </a:p>
        </p:txBody>
      </p:sp>
      <p:sp>
        <p:nvSpPr>
          <p:cNvPr id="27" name="TextBox 26"/>
          <p:cNvSpPr txBox="1"/>
          <p:nvPr/>
        </p:nvSpPr>
        <p:spPr>
          <a:xfrm>
            <a:off x="7488936" y="2560320"/>
            <a:ext cx="1947672" cy="1188720"/>
          </a:xfrm>
          <a:prstGeom prst="rect">
            <a:avLst/>
          </a:prstGeom>
          <a:noFill/>
        </p:spPr>
        <p:txBody>
          <a:bodyPr wrap="square" anchor="t" lIns="0" rIns="0" tIns="0" bIns="0">
            <a:spAutoFit/>
          </a:bodyPr>
          <a:lstStyle/>
          <a:p>
            <a:pPr algn="ctr">
              <a:lnSpc>
                <a:spcPct val="150000"/>
              </a:lnSpc>
            </a:pPr>
            <a:r>
              <a:rPr sz="1000" b="0">
                <a:solidFill>
                  <a:srgbClr val="1A1A1A"/>
                </a:solidFill>
                <a:latin typeface="Hiragino Sans"/>
                <a:ea typeface="Hiragino Sans"/>
                <a:cs typeface="Hiragino Sans"/>
              </a:rPr>
              <a:t>YT在庫を含む全配信。</a:t>
            </a:r>
          </a:p>
          <a:p>
            <a:pPr algn="ctr">
              <a:lnSpc>
                <a:spcPct val="150000"/>
              </a:lnSpc>
            </a:pPr>
            <a:r>
              <a:rPr sz="1000" b="0">
                <a:solidFill>
                  <a:srgbClr val="1A1A1A"/>
                </a:solidFill>
                <a:latin typeface="Hiragino Sans"/>
                <a:ea typeface="Hiragino Sans"/>
                <a:cs typeface="Hiragino Sans"/>
              </a:rPr>
              <a:t>Shoppable CTV 統合 (2026/01)</a:t>
            </a:r>
          </a:p>
        </p:txBody>
      </p:sp>
      <p:sp>
        <p:nvSpPr>
          <p:cNvPr id="28" name="Rounded Rectangle 27"/>
          <p:cNvSpPr/>
          <p:nvPr/>
        </p:nvSpPr>
        <p:spPr>
          <a:xfrm>
            <a:off x="9619488" y="1417320"/>
            <a:ext cx="2221992" cy="23774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619488" y="1417320"/>
            <a:ext cx="2221992" cy="640080"/>
          </a:xfrm>
          <a:prstGeom prst="rect">
            <a:avLst/>
          </a:prstGeom>
          <a:solidFill>
            <a:srgbClr val="2B44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56648" y="1554480"/>
            <a:ext cx="1947672" cy="411480"/>
          </a:xfrm>
          <a:prstGeom prst="rect">
            <a:avLst/>
          </a:prstGeom>
          <a:noFill/>
        </p:spPr>
        <p:txBody>
          <a:bodyPr wrap="square" anchor="t" lIns="0" rIns="0" tIns="0" bIns="0">
            <a:spAutoFit/>
          </a:bodyPr>
          <a:lstStyle/>
          <a:p>
            <a:pPr algn="ctr">
              <a:lnSpc>
                <a:spcPct val="120000"/>
              </a:lnSpc>
            </a:pPr>
            <a:r>
              <a:rPr sz="1200" b="1">
                <a:solidFill>
                  <a:srgbClr val="FFFFFF"/>
                </a:solidFill>
                <a:latin typeface="Hiragino Sans"/>
                <a:ea typeface="Hiragino Sans"/>
                <a:cs typeface="Hiragino Sans"/>
              </a:rPr>
              <a:t>App Campaign</a:t>
            </a:r>
          </a:p>
        </p:txBody>
      </p:sp>
      <p:sp>
        <p:nvSpPr>
          <p:cNvPr id="31" name="TextBox 30"/>
          <p:cNvSpPr txBox="1"/>
          <p:nvPr/>
        </p:nvSpPr>
        <p:spPr>
          <a:xfrm>
            <a:off x="9756648" y="2194560"/>
            <a:ext cx="1947672" cy="320040"/>
          </a:xfrm>
          <a:prstGeom prst="rect">
            <a:avLst/>
          </a:prstGeom>
          <a:noFill/>
        </p:spPr>
        <p:txBody>
          <a:bodyPr wrap="square" anchor="t" lIns="0" rIns="0" tIns="0" bIns="0">
            <a:spAutoFit/>
          </a:bodyPr>
          <a:lstStyle/>
          <a:p>
            <a:pPr algn="ctr">
              <a:lnSpc>
                <a:spcPct val="115000"/>
              </a:lnSpc>
            </a:pPr>
            <a:r>
              <a:rPr sz="1000" b="1">
                <a:solidFill>
                  <a:srgbClr val="B85E1A"/>
                </a:solidFill>
                <a:latin typeface="Hiragino Sans"/>
                <a:ea typeface="Hiragino Sans"/>
                <a:cs typeface="Hiragino Sans"/>
              </a:rPr>
              <a:t>アプリインストール</a:t>
            </a:r>
          </a:p>
        </p:txBody>
      </p:sp>
      <p:sp>
        <p:nvSpPr>
          <p:cNvPr id="32" name="TextBox 31"/>
          <p:cNvSpPr txBox="1"/>
          <p:nvPr/>
        </p:nvSpPr>
        <p:spPr>
          <a:xfrm>
            <a:off x="9756648" y="2560320"/>
            <a:ext cx="1947672" cy="1188720"/>
          </a:xfrm>
          <a:prstGeom prst="rect">
            <a:avLst/>
          </a:prstGeom>
          <a:noFill/>
        </p:spPr>
        <p:txBody>
          <a:bodyPr wrap="square" anchor="t" lIns="0" rIns="0" tIns="0" bIns="0">
            <a:spAutoFit/>
          </a:bodyPr>
          <a:lstStyle/>
          <a:p>
            <a:pPr algn="ctr">
              <a:lnSpc>
                <a:spcPct val="150000"/>
              </a:lnSpc>
            </a:pPr>
            <a:r>
              <a:rPr sz="1000" b="0">
                <a:solidFill>
                  <a:srgbClr val="1A1A1A"/>
                </a:solidFill>
                <a:latin typeface="Hiragino Sans"/>
                <a:ea typeface="Hiragino Sans"/>
                <a:cs typeface="Hiragino Sans"/>
              </a:rPr>
              <a:t>YouTube動画含む全在庫。</a:t>
            </a:r>
          </a:p>
          <a:p>
            <a:pPr algn="ctr">
              <a:lnSpc>
                <a:spcPct val="150000"/>
              </a:lnSpc>
            </a:pPr>
            <a:r>
              <a:rPr sz="1000" b="0">
                <a:solidFill>
                  <a:srgbClr val="1A1A1A"/>
                </a:solidFill>
                <a:latin typeface="Hiragino Sans"/>
                <a:ea typeface="Hiragino Sans"/>
                <a:cs typeface="Hiragino Sans"/>
              </a:rPr>
              <a:t>UAC = Universal App Campaign</a:t>
            </a:r>
          </a:p>
        </p:txBody>
      </p:sp>
      <p:sp>
        <p:nvSpPr>
          <p:cNvPr id="33" name="Rounded Rectangle 32"/>
          <p:cNvSpPr/>
          <p:nvPr/>
        </p:nvSpPr>
        <p:spPr>
          <a:xfrm>
            <a:off x="548640" y="4114800"/>
            <a:ext cx="11109960" cy="224028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77240" y="4251960"/>
            <a:ext cx="109728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 副業代行で押さえるポイント</a:t>
            </a:r>
          </a:p>
        </p:txBody>
      </p:sp>
      <p:sp>
        <p:nvSpPr>
          <p:cNvPr id="35" name="TextBox 34"/>
          <p:cNvSpPr txBox="1"/>
          <p:nvPr/>
        </p:nvSpPr>
        <p:spPr>
          <a:xfrm>
            <a:off x="777240" y="4617720"/>
            <a:ext cx="10972800" cy="169164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 ブランディング案件 = Video Reach Campaign (2026 Non-Skip 6/15/30秒)</a:t>
            </a:r>
          </a:p>
          <a:p>
            <a:pPr algn="l">
              <a:lnSpc>
                <a:spcPct val="160000"/>
              </a:lnSpc>
            </a:pPr>
            <a:r>
              <a:rPr sz="1100" b="0">
                <a:solidFill>
                  <a:srgbClr val="1A1A1A"/>
                </a:solidFill>
                <a:latin typeface="Hiragino Sans"/>
                <a:ea typeface="Hiragino Sans"/>
                <a:cs typeface="Hiragino Sans"/>
              </a:rPr>
              <a:t>• CV系/D2C案件 = Demand Gen (Shorts縦型 + InStream + Gmail)</a:t>
            </a:r>
          </a:p>
          <a:p>
            <a:pPr algn="l">
              <a:lnSpc>
                <a:spcPct val="160000"/>
              </a:lnSpc>
            </a:pPr>
            <a:r>
              <a:rPr sz="1100" b="0">
                <a:solidFill>
                  <a:srgbClr val="1A1A1A"/>
                </a:solidFill>
                <a:latin typeface="Hiragino Sans"/>
                <a:ea typeface="Hiragino Sans"/>
                <a:cs typeface="Hiragino Sans"/>
              </a:rPr>
              <a:t>• ECで全在庫狙う = Performance Max (Shoppable CTV含む)</a:t>
            </a:r>
          </a:p>
          <a:p>
            <a:pPr algn="l">
              <a:lnSpc>
                <a:spcPct val="160000"/>
              </a:lnSpc>
            </a:pPr>
            <a:r>
              <a:rPr sz="1100" b="0">
                <a:solidFill>
                  <a:srgbClr val="1A1A1A"/>
                </a:solidFill>
                <a:latin typeface="Hiragino Sans"/>
                <a:ea typeface="Hiragino Sans"/>
                <a:cs typeface="Hiragino Sans"/>
              </a:rPr>
              <a:t>• Video Action Campaign は新規作成不可、既存はDemand Genへ移行</a:t>
            </a:r>
          </a:p>
          <a:p>
            <a:pPr algn="l">
              <a:lnSpc>
                <a:spcPct val="160000"/>
              </a:lnSpc>
            </a:pPr>
            <a:r>
              <a:rPr sz="1100" b="0">
                <a:solidFill>
                  <a:srgbClr val="1A1A1A"/>
                </a:solidFill>
                <a:latin typeface="Hiragino Sans"/>
                <a:ea typeface="Hiragino Sans"/>
                <a:cs typeface="Hiragino Sans"/>
              </a:rPr>
              <a:t>• ブランド + CV のミックス = Video Reach + Demand Gen 並行運用が定番</a:t>
            </a:r>
          </a:p>
        </p:txBody>
      </p:sp>
      <p:sp>
        <p:nvSpPr>
          <p:cNvPr id="36" name="TextBox 35"/>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Demand Gen + YouTube Shorts 縦型</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2024/10〜の縦型シフトに対応</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P81 / 250</a:t>
            </a:r>
          </a:p>
        </p:txBody>
      </p:sp>
      <p:sp>
        <p:nvSpPr>
          <p:cNvPr id="8" name="Rounded Rectangle 7"/>
          <p:cNvSpPr/>
          <p:nvPr/>
        </p:nvSpPr>
        <p:spPr>
          <a:xfrm>
            <a:off x="548640" y="1371600"/>
            <a:ext cx="11109960" cy="109728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08760"/>
            <a:ext cx="10972800" cy="914400"/>
          </a:xfrm>
          <a:prstGeom prst="rect">
            <a:avLst/>
          </a:prstGeom>
          <a:noFill/>
        </p:spPr>
        <p:txBody>
          <a:bodyPr wrap="square" anchor="t" lIns="0" rIns="0" tIns="0" bIns="0">
            <a:spAutoFit/>
          </a:bodyPr>
          <a:lstStyle/>
          <a:p>
            <a:pPr algn="l">
              <a:lnSpc>
                <a:spcPct val="155000"/>
              </a:lnSpc>
            </a:pPr>
            <a:r>
              <a:rPr sz="1200" b="0">
                <a:solidFill>
                  <a:srgbClr val="FFFFFF"/>
                </a:solidFill>
                <a:latin typeface="Hiragino Sans"/>
                <a:ea typeface="Hiragino Sans"/>
                <a:cs typeface="Hiragino Sans"/>
              </a:rPr>
              <a:t>YouTube Shorts は 2025年時点で月間 700億回再生 / 月間20億ユーザー (Google公式) ※要確認</a:t>
            </a:r>
          </a:p>
          <a:p>
            <a:pPr algn="l">
              <a:lnSpc>
                <a:spcPct val="155000"/>
              </a:lnSpc>
            </a:pPr>
            <a:r>
              <a:rPr sz="1200" b="0">
                <a:solidFill>
                  <a:srgbClr val="FFFFFF"/>
                </a:solidFill>
                <a:latin typeface="Hiragino Sans"/>
                <a:ea typeface="Hiragino Sans"/>
                <a:cs typeface="Hiragino Sans"/>
              </a:rPr>
              <a:t>Demand Gen は YouTube Shorts 単独配信指定が可能 (2025〜 Channel Controls)</a:t>
            </a:r>
          </a:p>
        </p:txBody>
      </p:sp>
      <p:sp>
        <p:nvSpPr>
          <p:cNvPr id="10" name="TextBox 9"/>
          <p:cNvSpPr txBox="1"/>
          <p:nvPr/>
        </p:nvSpPr>
        <p:spPr>
          <a:xfrm>
            <a:off x="548640" y="2606040"/>
            <a:ext cx="1097280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2025年 Demand Gen の Shorts関連アップデート</a:t>
            </a:r>
          </a:p>
        </p:txBody>
      </p:sp>
      <p:sp>
        <p:nvSpPr>
          <p:cNvPr id="11" name="Rounded Rectangle 10"/>
          <p:cNvSpPr/>
          <p:nvPr/>
        </p:nvSpPr>
        <p:spPr>
          <a:xfrm>
            <a:off x="548640" y="3017520"/>
            <a:ext cx="5440680" cy="8686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3017520"/>
            <a:ext cx="91440" cy="86868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3127248"/>
            <a:ext cx="5074920" cy="36576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9:16 縦型画像アセット対応</a:t>
            </a:r>
          </a:p>
        </p:txBody>
      </p:sp>
      <p:sp>
        <p:nvSpPr>
          <p:cNvPr id="14" name="TextBox 13"/>
          <p:cNvSpPr txBox="1"/>
          <p:nvPr/>
        </p:nvSpPr>
        <p:spPr>
          <a:xfrm>
            <a:off x="777240" y="3474720"/>
            <a:ext cx="5074920" cy="36576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Shorts用に縦型静止画も配信可能</a:t>
            </a:r>
          </a:p>
        </p:txBody>
      </p:sp>
      <p:sp>
        <p:nvSpPr>
          <p:cNvPr id="15" name="Rounded Rectangle 14"/>
          <p:cNvSpPr/>
          <p:nvPr/>
        </p:nvSpPr>
        <p:spPr>
          <a:xfrm>
            <a:off x="6172200" y="3017520"/>
            <a:ext cx="5440680" cy="8686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017520"/>
            <a:ext cx="91440" cy="86868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3127248"/>
            <a:ext cx="5074920" cy="36576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Channel Controls (Shortsのみ指定)</a:t>
            </a:r>
          </a:p>
        </p:txBody>
      </p:sp>
      <p:sp>
        <p:nvSpPr>
          <p:cNvPr id="18" name="TextBox 17"/>
          <p:cNvSpPr txBox="1"/>
          <p:nvPr/>
        </p:nvSpPr>
        <p:spPr>
          <a:xfrm>
            <a:off x="6400800" y="3474720"/>
            <a:ext cx="5074920" cy="36576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InStream / InFeed / Shorts を個別ON/OFF</a:t>
            </a:r>
          </a:p>
        </p:txBody>
      </p:sp>
      <p:sp>
        <p:nvSpPr>
          <p:cNvPr id="19" name="Rounded Rectangle 18"/>
          <p:cNvSpPr/>
          <p:nvPr/>
        </p:nvSpPr>
        <p:spPr>
          <a:xfrm>
            <a:off x="548640" y="4023360"/>
            <a:ext cx="5440680" cy="8686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4023360"/>
            <a:ext cx="91440" cy="86868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4133088"/>
            <a:ext cx="5074920" cy="36576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動画拡張 (1動画→複数アスペクト比)</a:t>
            </a:r>
          </a:p>
        </p:txBody>
      </p:sp>
      <p:sp>
        <p:nvSpPr>
          <p:cNvPr id="22" name="TextBox 21"/>
          <p:cNvSpPr txBox="1"/>
          <p:nvPr/>
        </p:nvSpPr>
        <p:spPr>
          <a:xfrm>
            <a:off x="777240" y="4480560"/>
            <a:ext cx="5074920" cy="36576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横型動画から縦型を自動生成</a:t>
            </a:r>
          </a:p>
        </p:txBody>
      </p:sp>
      <p:sp>
        <p:nvSpPr>
          <p:cNvPr id="23" name="Rounded Rectangle 22"/>
          <p:cNvSpPr/>
          <p:nvPr/>
        </p:nvSpPr>
        <p:spPr>
          <a:xfrm>
            <a:off x="6172200" y="4023360"/>
            <a:ext cx="5440680" cy="8686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72200" y="4023360"/>
            <a:ext cx="91440" cy="86868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0" y="4133088"/>
            <a:ext cx="5074920" cy="36576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Shorts単独パフォーマンス指標</a:t>
            </a:r>
          </a:p>
        </p:txBody>
      </p:sp>
      <p:sp>
        <p:nvSpPr>
          <p:cNvPr id="26" name="TextBox 25"/>
          <p:cNvSpPr txBox="1"/>
          <p:nvPr/>
        </p:nvSpPr>
        <p:spPr>
          <a:xfrm>
            <a:off x="6400800" y="4480560"/>
            <a:ext cx="5074920" cy="36576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InStream / InFeed と分離してレポート化</a:t>
            </a:r>
          </a:p>
        </p:txBody>
      </p:sp>
      <p:sp>
        <p:nvSpPr>
          <p:cNvPr id="27" name="Rounded Rectangle 26"/>
          <p:cNvSpPr/>
          <p:nvPr/>
        </p:nvSpPr>
        <p:spPr>
          <a:xfrm>
            <a:off x="548640" y="5212080"/>
            <a:ext cx="11109960" cy="118872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5349240"/>
            <a:ext cx="109728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 Shorts クリエイティブ鉄則 (2026)</a:t>
            </a:r>
          </a:p>
        </p:txBody>
      </p:sp>
      <p:sp>
        <p:nvSpPr>
          <p:cNvPr id="29" name="TextBox 28"/>
          <p:cNvSpPr txBox="1"/>
          <p:nvPr/>
        </p:nvSpPr>
        <p:spPr>
          <a:xfrm>
            <a:off x="777240" y="5669280"/>
            <a:ext cx="10972800" cy="640080"/>
          </a:xfrm>
          <a:prstGeom prst="rect">
            <a:avLst/>
          </a:prstGeom>
          <a:noFill/>
        </p:spPr>
        <p:txBody>
          <a:bodyPr wrap="square" anchor="t" lIns="0" rIns="0" tIns="0" bIns="0">
            <a:spAutoFit/>
          </a:bodyPr>
          <a:lstStyle/>
          <a:p>
            <a:pPr algn="l">
              <a:lnSpc>
                <a:spcPct val="155000"/>
              </a:lnSpc>
            </a:pPr>
            <a:r>
              <a:rPr sz="1100" b="0">
                <a:solidFill>
                  <a:srgbClr val="1A1A1A"/>
                </a:solidFill>
                <a:latin typeface="Hiragino Sans"/>
                <a:ea typeface="Hiragino Sans"/>
                <a:cs typeface="Hiragino Sans"/>
              </a:rPr>
              <a:t>• 1秒以内に視覚インパクト (テキスト/人物動き)</a:t>
            </a:r>
          </a:p>
          <a:p>
            <a:pPr algn="l">
              <a:lnSpc>
                <a:spcPct val="155000"/>
              </a:lnSpc>
            </a:pPr>
            <a:r>
              <a:rPr sz="1100" b="0">
                <a:solidFill>
                  <a:srgbClr val="1A1A1A"/>
                </a:solidFill>
                <a:latin typeface="Hiragino Sans"/>
                <a:ea typeface="Hiragino Sans"/>
                <a:cs typeface="Hiragino Sans"/>
              </a:rPr>
              <a:t>• 9:16 縦型必須、上下に余白を残してUIで隠れる対策</a:t>
            </a:r>
          </a:p>
          <a:p>
            <a:pPr algn="l">
              <a:lnSpc>
                <a:spcPct val="155000"/>
              </a:lnSpc>
            </a:pPr>
            <a:r>
              <a:rPr sz="1100" b="0">
                <a:solidFill>
                  <a:srgbClr val="1A1A1A"/>
                </a:solidFill>
                <a:latin typeface="Hiragino Sans"/>
                <a:ea typeface="Hiragino Sans"/>
                <a:cs typeface="Hiragino Sans"/>
              </a:rPr>
              <a:t>• 字幕/テロップ常時表示 (音声OFFユーザー対応)</a:t>
            </a:r>
          </a:p>
          <a:p>
            <a:pPr algn="l">
              <a:lnSpc>
                <a:spcPct val="155000"/>
              </a:lnSpc>
            </a:pPr>
            <a:r>
              <a:rPr sz="1100" b="0">
                <a:solidFill>
                  <a:srgbClr val="1A1A1A"/>
                </a:solidFill>
                <a:latin typeface="Hiragino Sans"/>
                <a:ea typeface="Hiragino Sans"/>
                <a:cs typeface="Hiragino Sans"/>
              </a:rPr>
              <a:t>• 15秒以下推奨 (TikTok Smart+ 同様の鉄則)</a:t>
            </a:r>
          </a:p>
        </p:txBody>
      </p:sp>
      <p:sp>
        <p:nvSpPr>
          <p:cNvPr id="30" name="TextBox 29"/>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 Video Reach Campaign + Non-Skip (2026/03 グローバル)</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TrueView/Bumper/Skippable + Non-Skip 6/15/30秒</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P82 / 250</a:t>
            </a:r>
          </a:p>
        </p:txBody>
      </p:sp>
      <p:sp>
        <p:nvSpPr>
          <p:cNvPr id="8" name="Rounded Rectangle 7"/>
          <p:cNvSpPr/>
          <p:nvPr/>
        </p:nvSpPr>
        <p:spPr>
          <a:xfrm>
            <a:off x="548640" y="1371600"/>
            <a:ext cx="11109960" cy="109728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600200"/>
            <a:ext cx="731520" cy="731520"/>
          </a:xfrm>
          <a:prstGeom prst="rect">
            <a:avLst/>
          </a:prstGeom>
          <a:noFill/>
        </p:spPr>
        <p:txBody>
          <a:bodyPr wrap="square" anchor="t" lIns="0" rIns="0" tIns="0" bIns="0">
            <a:spAutoFit/>
          </a:bodyPr>
          <a:lstStyle/>
          <a:p>
            <a:pPr algn="l">
              <a:lnSpc>
                <a:spcPct val="115000"/>
              </a:lnSpc>
            </a:pPr>
            <a:r>
              <a:rPr sz="3000" b="0">
                <a:solidFill>
                  <a:srgbClr val="1A1A1A"/>
                </a:solidFill>
                <a:latin typeface="Hiragino Sans"/>
                <a:ea typeface="Hiragino Sans"/>
                <a:cs typeface="Hiragino Sans"/>
              </a:rPr>
              <a:t>📢</a:t>
            </a:r>
          </a:p>
        </p:txBody>
      </p:sp>
      <p:sp>
        <p:nvSpPr>
          <p:cNvPr id="10" name="TextBox 9"/>
          <p:cNvSpPr txBox="1"/>
          <p:nvPr/>
        </p:nvSpPr>
        <p:spPr>
          <a:xfrm>
            <a:off x="1554480" y="1554480"/>
            <a:ext cx="10058400" cy="365760"/>
          </a:xfrm>
          <a:prstGeom prst="rect">
            <a:avLst/>
          </a:prstGeom>
          <a:noFill/>
        </p:spPr>
        <p:txBody>
          <a:bodyPr wrap="square" anchor="t" lIns="0" rIns="0" tIns="0" bIns="0">
            <a:spAutoFit/>
          </a:bodyPr>
          <a:lstStyle/>
          <a:p>
            <a:pPr algn="l">
              <a:lnSpc>
                <a:spcPct val="115000"/>
              </a:lnSpc>
            </a:pPr>
            <a:r>
              <a:rPr sz="1200" b="1">
                <a:solidFill>
                  <a:srgbClr val="E87722"/>
                </a:solidFill>
                <a:latin typeface="Hiragino Sans"/>
                <a:ea typeface="Hiragino Sans"/>
                <a:cs typeface="Hiragino Sans"/>
              </a:rPr>
              <a:t>Google 公式 (2026年3月 グローバルロールアウト)</a:t>
            </a:r>
          </a:p>
        </p:txBody>
      </p:sp>
      <p:sp>
        <p:nvSpPr>
          <p:cNvPr id="11" name="TextBox 10"/>
          <p:cNvSpPr txBox="1"/>
          <p:nvPr/>
        </p:nvSpPr>
        <p:spPr>
          <a:xfrm>
            <a:off x="1554480" y="1874519"/>
            <a:ext cx="10058400" cy="594360"/>
          </a:xfrm>
          <a:prstGeom prst="rect">
            <a:avLst/>
          </a:prstGeom>
          <a:noFill/>
        </p:spPr>
        <p:txBody>
          <a:bodyPr wrap="square" anchor="t" lIns="0" rIns="0" tIns="0" bIns="0">
            <a:spAutoFit/>
          </a:bodyPr>
          <a:lstStyle/>
          <a:p>
            <a:pPr algn="l">
              <a:lnSpc>
                <a:spcPct val="145000"/>
              </a:lnSpc>
            </a:pPr>
            <a:r>
              <a:rPr sz="1200" b="1">
                <a:solidFill>
                  <a:srgbClr val="FFFFFF"/>
                </a:solidFill>
                <a:latin typeface="Hiragino Sans"/>
                <a:ea typeface="Hiragino Sans"/>
                <a:cs typeface="Hiragino Sans"/>
              </a:rPr>
              <a:t>Non-Skippable 動画広告 (6秒/15秒/30秒) が VRC で運用可。</a:t>
            </a:r>
          </a:p>
          <a:p>
            <a:pPr algn="l">
              <a:lnSpc>
                <a:spcPct val="145000"/>
              </a:lnSpc>
            </a:pPr>
            <a:r>
              <a:rPr sz="1200" b="1">
                <a:solidFill>
                  <a:srgbClr val="FFFFFF"/>
                </a:solidFill>
                <a:latin typeface="Hiragino Sans"/>
                <a:ea typeface="Hiragino Sans"/>
                <a:cs typeface="Hiragino Sans"/>
              </a:rPr>
              <a:t>Smart TV / Roku / Fire TV / Apple TV / Chromecast 全対応</a:t>
            </a:r>
          </a:p>
        </p:txBody>
      </p:sp>
      <p:sp>
        <p:nvSpPr>
          <p:cNvPr id="12" name="TextBox 11"/>
          <p:cNvSpPr txBox="1"/>
          <p:nvPr/>
        </p:nvSpPr>
        <p:spPr>
          <a:xfrm>
            <a:off x="548640" y="2606040"/>
            <a:ext cx="1097280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VRC で配信可能なフォーマット</a:t>
            </a:r>
          </a:p>
        </p:txBody>
      </p:sp>
      <p:sp>
        <p:nvSpPr>
          <p:cNvPr id="13" name="Rounded Rectangle 12"/>
          <p:cNvSpPr/>
          <p:nvPr/>
        </p:nvSpPr>
        <p:spPr>
          <a:xfrm>
            <a:off x="548640" y="3017520"/>
            <a:ext cx="2221992" cy="18288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017520"/>
            <a:ext cx="2221992" cy="109728"/>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246120"/>
            <a:ext cx="1947672" cy="594360"/>
          </a:xfrm>
          <a:prstGeom prst="rect">
            <a:avLst/>
          </a:prstGeom>
          <a:noFill/>
        </p:spPr>
        <p:txBody>
          <a:bodyPr wrap="square" anchor="t" lIns="0" rIns="0" tIns="0" bIns="0">
            <a:spAutoFit/>
          </a:bodyPr>
          <a:lstStyle/>
          <a:p>
            <a:pPr algn="ctr">
              <a:lnSpc>
                <a:spcPct val="125000"/>
              </a:lnSpc>
            </a:pPr>
            <a:r>
              <a:rPr sz="1200" b="1">
                <a:solidFill>
                  <a:srgbClr val="0F2A4F"/>
                </a:solidFill>
                <a:latin typeface="Hiragino Sans"/>
                <a:ea typeface="Hiragino Sans"/>
                <a:cs typeface="Hiragino Sans"/>
              </a:rPr>
              <a:t>Bumper</a:t>
            </a:r>
          </a:p>
        </p:txBody>
      </p:sp>
      <p:sp>
        <p:nvSpPr>
          <p:cNvPr id="16" name="TextBox 15"/>
          <p:cNvSpPr txBox="1"/>
          <p:nvPr/>
        </p:nvSpPr>
        <p:spPr>
          <a:xfrm>
            <a:off x="685800" y="3886200"/>
            <a:ext cx="1947672" cy="411480"/>
          </a:xfrm>
          <a:prstGeom prst="rect">
            <a:avLst/>
          </a:prstGeom>
          <a:noFill/>
        </p:spPr>
        <p:txBody>
          <a:bodyPr wrap="square" anchor="t" lIns="0" rIns="0" tIns="0" bIns="0">
            <a:spAutoFit/>
          </a:bodyPr>
          <a:lstStyle/>
          <a:p>
            <a:pPr algn="ctr">
              <a:lnSpc>
                <a:spcPct val="130000"/>
              </a:lnSpc>
            </a:pPr>
            <a:r>
              <a:rPr sz="1000" b="1">
                <a:solidFill>
                  <a:srgbClr val="B85E1A"/>
                </a:solidFill>
                <a:latin typeface="Hiragino Sans"/>
                <a:ea typeface="Hiragino Sans"/>
                <a:cs typeface="Hiragino Sans"/>
              </a:rPr>
              <a:t>6秒</a:t>
            </a:r>
          </a:p>
          <a:p>
            <a:pPr algn="ctr">
              <a:lnSpc>
                <a:spcPct val="130000"/>
              </a:lnSpc>
            </a:pPr>
            <a:r>
              <a:rPr sz="1000" b="1">
                <a:solidFill>
                  <a:srgbClr val="B85E1A"/>
                </a:solidFill>
                <a:latin typeface="Hiragino Sans"/>
                <a:ea typeface="Hiragino Sans"/>
                <a:cs typeface="Hiragino Sans"/>
              </a:rPr>
              <a:t>Non-Skippable</a:t>
            </a:r>
          </a:p>
        </p:txBody>
      </p:sp>
      <p:sp>
        <p:nvSpPr>
          <p:cNvPr id="17" name="TextBox 16"/>
          <p:cNvSpPr txBox="1"/>
          <p:nvPr/>
        </p:nvSpPr>
        <p:spPr>
          <a:xfrm>
            <a:off x="685800" y="4343400"/>
            <a:ext cx="1947672" cy="457200"/>
          </a:xfrm>
          <a:prstGeom prst="rect">
            <a:avLst/>
          </a:prstGeom>
          <a:noFill/>
        </p:spPr>
        <p:txBody>
          <a:bodyPr wrap="square" anchor="t" lIns="0" rIns="0" tIns="0" bIns="0">
            <a:spAutoFit/>
          </a:bodyPr>
          <a:lstStyle/>
          <a:p>
            <a:pPr algn="ctr">
              <a:lnSpc>
                <a:spcPct val="140000"/>
              </a:lnSpc>
            </a:pPr>
            <a:r>
              <a:rPr sz="1000" b="0">
                <a:solidFill>
                  <a:srgbClr val="1A1A1A"/>
                </a:solidFill>
                <a:latin typeface="Hiragino Sans"/>
                <a:ea typeface="Hiragino Sans"/>
                <a:cs typeface="Hiragino Sans"/>
              </a:rPr>
              <a:t>認知最大化、CPM最適</a:t>
            </a:r>
          </a:p>
        </p:txBody>
      </p:sp>
      <p:sp>
        <p:nvSpPr>
          <p:cNvPr id="18" name="Rounded Rectangle 17"/>
          <p:cNvSpPr/>
          <p:nvPr/>
        </p:nvSpPr>
        <p:spPr>
          <a:xfrm>
            <a:off x="2816352" y="3017520"/>
            <a:ext cx="2221992" cy="18288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816352" y="3017520"/>
            <a:ext cx="2221992" cy="109728"/>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953512" y="3246120"/>
            <a:ext cx="1947672" cy="594360"/>
          </a:xfrm>
          <a:prstGeom prst="rect">
            <a:avLst/>
          </a:prstGeom>
          <a:noFill/>
        </p:spPr>
        <p:txBody>
          <a:bodyPr wrap="square" anchor="t" lIns="0" rIns="0" tIns="0" bIns="0">
            <a:spAutoFit/>
          </a:bodyPr>
          <a:lstStyle/>
          <a:p>
            <a:pPr algn="ctr">
              <a:lnSpc>
                <a:spcPct val="125000"/>
              </a:lnSpc>
            </a:pPr>
            <a:r>
              <a:rPr sz="1200" b="1">
                <a:solidFill>
                  <a:srgbClr val="0F2A4F"/>
                </a:solidFill>
                <a:latin typeface="Hiragino Sans"/>
                <a:ea typeface="Hiragino Sans"/>
                <a:cs typeface="Hiragino Sans"/>
              </a:rPr>
              <a:t>Skippable</a:t>
            </a:r>
          </a:p>
          <a:p>
            <a:pPr algn="ctr">
              <a:lnSpc>
                <a:spcPct val="125000"/>
              </a:lnSpc>
            </a:pPr>
            <a:r>
              <a:rPr sz="1200" b="1">
                <a:solidFill>
                  <a:srgbClr val="0F2A4F"/>
                </a:solidFill>
                <a:latin typeface="Hiragino Sans"/>
                <a:ea typeface="Hiragino Sans"/>
                <a:cs typeface="Hiragino Sans"/>
              </a:rPr>
              <a:t>In-Stream</a:t>
            </a:r>
          </a:p>
        </p:txBody>
      </p:sp>
      <p:sp>
        <p:nvSpPr>
          <p:cNvPr id="21" name="TextBox 20"/>
          <p:cNvSpPr txBox="1"/>
          <p:nvPr/>
        </p:nvSpPr>
        <p:spPr>
          <a:xfrm>
            <a:off x="2953512" y="3886200"/>
            <a:ext cx="1947672" cy="411480"/>
          </a:xfrm>
          <a:prstGeom prst="rect">
            <a:avLst/>
          </a:prstGeom>
          <a:noFill/>
        </p:spPr>
        <p:txBody>
          <a:bodyPr wrap="square" anchor="t" lIns="0" rIns="0" tIns="0" bIns="0">
            <a:spAutoFit/>
          </a:bodyPr>
          <a:lstStyle/>
          <a:p>
            <a:pPr algn="ctr">
              <a:lnSpc>
                <a:spcPct val="130000"/>
              </a:lnSpc>
            </a:pPr>
            <a:r>
              <a:rPr sz="1000" b="1">
                <a:solidFill>
                  <a:srgbClr val="B85E1A"/>
                </a:solidFill>
                <a:latin typeface="Hiragino Sans"/>
                <a:ea typeface="Hiragino Sans"/>
                <a:cs typeface="Hiragino Sans"/>
              </a:rPr>
              <a:t>5秒以降スキップ可</a:t>
            </a:r>
          </a:p>
          <a:p>
            <a:pPr algn="ctr">
              <a:lnSpc>
                <a:spcPct val="130000"/>
              </a:lnSpc>
            </a:pPr>
            <a:r>
              <a:rPr sz="1000" b="1">
                <a:solidFill>
                  <a:srgbClr val="B85E1A"/>
                </a:solidFill>
                <a:latin typeface="Hiragino Sans"/>
                <a:ea typeface="Hiragino Sans"/>
                <a:cs typeface="Hiragino Sans"/>
              </a:rPr>
              <a:t>15秒〜</a:t>
            </a:r>
          </a:p>
        </p:txBody>
      </p:sp>
      <p:sp>
        <p:nvSpPr>
          <p:cNvPr id="22" name="TextBox 21"/>
          <p:cNvSpPr txBox="1"/>
          <p:nvPr/>
        </p:nvSpPr>
        <p:spPr>
          <a:xfrm>
            <a:off x="2953512" y="4343400"/>
            <a:ext cx="1947672" cy="457200"/>
          </a:xfrm>
          <a:prstGeom prst="rect">
            <a:avLst/>
          </a:prstGeom>
          <a:noFill/>
        </p:spPr>
        <p:txBody>
          <a:bodyPr wrap="square" anchor="t" lIns="0" rIns="0" tIns="0" bIns="0">
            <a:spAutoFit/>
          </a:bodyPr>
          <a:lstStyle/>
          <a:p>
            <a:pPr algn="ctr">
              <a:lnSpc>
                <a:spcPct val="140000"/>
              </a:lnSpc>
            </a:pPr>
            <a:r>
              <a:rPr sz="1000" b="0">
                <a:solidFill>
                  <a:srgbClr val="1A1A1A"/>
                </a:solidFill>
                <a:latin typeface="Hiragino Sans"/>
                <a:ea typeface="Hiragino Sans"/>
                <a:cs typeface="Hiragino Sans"/>
              </a:rPr>
              <a:t>視聴完了で課金、CPV</a:t>
            </a:r>
          </a:p>
        </p:txBody>
      </p:sp>
      <p:sp>
        <p:nvSpPr>
          <p:cNvPr id="23" name="Rounded Rectangle 22"/>
          <p:cNvSpPr/>
          <p:nvPr/>
        </p:nvSpPr>
        <p:spPr>
          <a:xfrm>
            <a:off x="5084064" y="3017520"/>
            <a:ext cx="2221992" cy="18288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084064" y="3017520"/>
            <a:ext cx="2221992"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21224" y="3246120"/>
            <a:ext cx="1947672" cy="594360"/>
          </a:xfrm>
          <a:prstGeom prst="rect">
            <a:avLst/>
          </a:prstGeom>
          <a:noFill/>
        </p:spPr>
        <p:txBody>
          <a:bodyPr wrap="square" anchor="t" lIns="0" rIns="0" tIns="0" bIns="0">
            <a:spAutoFit/>
          </a:bodyPr>
          <a:lstStyle/>
          <a:p>
            <a:pPr algn="ctr">
              <a:lnSpc>
                <a:spcPct val="125000"/>
              </a:lnSpc>
            </a:pPr>
            <a:r>
              <a:rPr sz="1200" b="1">
                <a:solidFill>
                  <a:srgbClr val="0F2A4F"/>
                </a:solidFill>
                <a:latin typeface="Hiragino Sans"/>
                <a:ea typeface="Hiragino Sans"/>
                <a:cs typeface="Hiragino Sans"/>
              </a:rPr>
              <a:t>🔥 Non-Skip</a:t>
            </a:r>
          </a:p>
          <a:p>
            <a:pPr algn="ctr">
              <a:lnSpc>
                <a:spcPct val="125000"/>
              </a:lnSpc>
            </a:pPr>
            <a:r>
              <a:rPr sz="1200" b="1">
                <a:solidFill>
                  <a:srgbClr val="0F2A4F"/>
                </a:solidFill>
                <a:latin typeface="Hiragino Sans"/>
                <a:ea typeface="Hiragino Sans"/>
                <a:cs typeface="Hiragino Sans"/>
              </a:rPr>
              <a:t>6秒</a:t>
            </a:r>
          </a:p>
        </p:txBody>
      </p:sp>
      <p:sp>
        <p:nvSpPr>
          <p:cNvPr id="26" name="TextBox 25"/>
          <p:cNvSpPr txBox="1"/>
          <p:nvPr/>
        </p:nvSpPr>
        <p:spPr>
          <a:xfrm>
            <a:off x="5221224" y="3886200"/>
            <a:ext cx="1947672" cy="411480"/>
          </a:xfrm>
          <a:prstGeom prst="rect">
            <a:avLst/>
          </a:prstGeom>
          <a:noFill/>
        </p:spPr>
        <p:txBody>
          <a:bodyPr wrap="square" anchor="t" lIns="0" rIns="0" tIns="0" bIns="0">
            <a:spAutoFit/>
          </a:bodyPr>
          <a:lstStyle/>
          <a:p>
            <a:pPr algn="ctr">
              <a:lnSpc>
                <a:spcPct val="130000"/>
              </a:lnSpc>
            </a:pPr>
            <a:r>
              <a:rPr sz="1000" b="1">
                <a:solidFill>
                  <a:srgbClr val="B85E1A"/>
                </a:solidFill>
                <a:latin typeface="Hiragino Sans"/>
                <a:ea typeface="Hiragino Sans"/>
                <a:cs typeface="Hiragino Sans"/>
              </a:rPr>
              <a:t>新規 (2026~)</a:t>
            </a:r>
          </a:p>
        </p:txBody>
      </p:sp>
      <p:sp>
        <p:nvSpPr>
          <p:cNvPr id="27" name="TextBox 26"/>
          <p:cNvSpPr txBox="1"/>
          <p:nvPr/>
        </p:nvSpPr>
        <p:spPr>
          <a:xfrm>
            <a:off x="5221224" y="4343400"/>
            <a:ext cx="1947672" cy="457200"/>
          </a:xfrm>
          <a:prstGeom prst="rect">
            <a:avLst/>
          </a:prstGeom>
          <a:noFill/>
        </p:spPr>
        <p:txBody>
          <a:bodyPr wrap="square" anchor="t" lIns="0" rIns="0" tIns="0" bIns="0">
            <a:spAutoFit/>
          </a:bodyPr>
          <a:lstStyle/>
          <a:p>
            <a:pPr algn="ctr">
              <a:lnSpc>
                <a:spcPct val="140000"/>
              </a:lnSpc>
            </a:pPr>
            <a:r>
              <a:rPr sz="1000" b="0">
                <a:solidFill>
                  <a:srgbClr val="1A1A1A"/>
                </a:solidFill>
                <a:latin typeface="Hiragino Sans"/>
                <a:ea typeface="Hiragino Sans"/>
                <a:cs typeface="Hiragino Sans"/>
              </a:rPr>
              <a:t>短時間ブランディング</a:t>
            </a:r>
          </a:p>
        </p:txBody>
      </p:sp>
      <p:sp>
        <p:nvSpPr>
          <p:cNvPr id="28" name="Rounded Rectangle 27"/>
          <p:cNvSpPr/>
          <p:nvPr/>
        </p:nvSpPr>
        <p:spPr>
          <a:xfrm>
            <a:off x="7351776" y="3017520"/>
            <a:ext cx="2221992" cy="18288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51776" y="3017520"/>
            <a:ext cx="2221992"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88936" y="3246120"/>
            <a:ext cx="1947672" cy="594360"/>
          </a:xfrm>
          <a:prstGeom prst="rect">
            <a:avLst/>
          </a:prstGeom>
          <a:noFill/>
        </p:spPr>
        <p:txBody>
          <a:bodyPr wrap="square" anchor="t" lIns="0" rIns="0" tIns="0" bIns="0">
            <a:spAutoFit/>
          </a:bodyPr>
          <a:lstStyle/>
          <a:p>
            <a:pPr algn="ctr">
              <a:lnSpc>
                <a:spcPct val="125000"/>
              </a:lnSpc>
            </a:pPr>
            <a:r>
              <a:rPr sz="1200" b="1">
                <a:solidFill>
                  <a:srgbClr val="0F2A4F"/>
                </a:solidFill>
                <a:latin typeface="Hiragino Sans"/>
                <a:ea typeface="Hiragino Sans"/>
                <a:cs typeface="Hiragino Sans"/>
              </a:rPr>
              <a:t>🔥 Non-Skip</a:t>
            </a:r>
          </a:p>
          <a:p>
            <a:pPr algn="ctr">
              <a:lnSpc>
                <a:spcPct val="125000"/>
              </a:lnSpc>
            </a:pPr>
            <a:r>
              <a:rPr sz="1200" b="1">
                <a:solidFill>
                  <a:srgbClr val="0F2A4F"/>
                </a:solidFill>
                <a:latin typeface="Hiragino Sans"/>
                <a:ea typeface="Hiragino Sans"/>
                <a:cs typeface="Hiragino Sans"/>
              </a:rPr>
              <a:t>15秒</a:t>
            </a:r>
          </a:p>
        </p:txBody>
      </p:sp>
      <p:sp>
        <p:nvSpPr>
          <p:cNvPr id="31" name="TextBox 30"/>
          <p:cNvSpPr txBox="1"/>
          <p:nvPr/>
        </p:nvSpPr>
        <p:spPr>
          <a:xfrm>
            <a:off x="7488936" y="3886200"/>
            <a:ext cx="1947672" cy="411480"/>
          </a:xfrm>
          <a:prstGeom prst="rect">
            <a:avLst/>
          </a:prstGeom>
          <a:noFill/>
        </p:spPr>
        <p:txBody>
          <a:bodyPr wrap="square" anchor="t" lIns="0" rIns="0" tIns="0" bIns="0">
            <a:spAutoFit/>
          </a:bodyPr>
          <a:lstStyle/>
          <a:p>
            <a:pPr algn="ctr">
              <a:lnSpc>
                <a:spcPct val="130000"/>
              </a:lnSpc>
            </a:pPr>
            <a:r>
              <a:rPr sz="1000" b="1">
                <a:solidFill>
                  <a:srgbClr val="B85E1A"/>
                </a:solidFill>
                <a:latin typeface="Hiragino Sans"/>
                <a:ea typeface="Hiragino Sans"/>
                <a:cs typeface="Hiragino Sans"/>
              </a:rPr>
              <a:t>新規 (2026~)</a:t>
            </a:r>
          </a:p>
        </p:txBody>
      </p:sp>
      <p:sp>
        <p:nvSpPr>
          <p:cNvPr id="32" name="TextBox 31"/>
          <p:cNvSpPr txBox="1"/>
          <p:nvPr/>
        </p:nvSpPr>
        <p:spPr>
          <a:xfrm>
            <a:off x="7488936" y="4343400"/>
            <a:ext cx="1947672" cy="457200"/>
          </a:xfrm>
          <a:prstGeom prst="rect">
            <a:avLst/>
          </a:prstGeom>
          <a:noFill/>
        </p:spPr>
        <p:txBody>
          <a:bodyPr wrap="square" anchor="t" lIns="0" rIns="0" tIns="0" bIns="0">
            <a:spAutoFit/>
          </a:bodyPr>
          <a:lstStyle/>
          <a:p>
            <a:pPr algn="ctr">
              <a:lnSpc>
                <a:spcPct val="140000"/>
              </a:lnSpc>
            </a:pPr>
            <a:r>
              <a:rPr sz="1000" b="0">
                <a:solidFill>
                  <a:srgbClr val="1A1A1A"/>
                </a:solidFill>
                <a:latin typeface="Hiragino Sans"/>
                <a:ea typeface="Hiragino Sans"/>
                <a:cs typeface="Hiragino Sans"/>
              </a:rPr>
              <a:t>標準的ブランディング</a:t>
            </a:r>
          </a:p>
        </p:txBody>
      </p:sp>
      <p:sp>
        <p:nvSpPr>
          <p:cNvPr id="33" name="Rounded Rectangle 32"/>
          <p:cNvSpPr/>
          <p:nvPr/>
        </p:nvSpPr>
        <p:spPr>
          <a:xfrm>
            <a:off x="9619488" y="3017520"/>
            <a:ext cx="2221992" cy="18288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619488" y="3017520"/>
            <a:ext cx="2221992"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756648" y="3246120"/>
            <a:ext cx="1947672" cy="594360"/>
          </a:xfrm>
          <a:prstGeom prst="rect">
            <a:avLst/>
          </a:prstGeom>
          <a:noFill/>
        </p:spPr>
        <p:txBody>
          <a:bodyPr wrap="square" anchor="t" lIns="0" rIns="0" tIns="0" bIns="0">
            <a:spAutoFit/>
          </a:bodyPr>
          <a:lstStyle/>
          <a:p>
            <a:pPr algn="ctr">
              <a:lnSpc>
                <a:spcPct val="125000"/>
              </a:lnSpc>
            </a:pPr>
            <a:r>
              <a:rPr sz="1200" b="1">
                <a:solidFill>
                  <a:srgbClr val="0F2A4F"/>
                </a:solidFill>
                <a:latin typeface="Hiragino Sans"/>
                <a:ea typeface="Hiragino Sans"/>
                <a:cs typeface="Hiragino Sans"/>
              </a:rPr>
              <a:t>🔥 Non-Skip</a:t>
            </a:r>
          </a:p>
          <a:p>
            <a:pPr algn="ctr">
              <a:lnSpc>
                <a:spcPct val="125000"/>
              </a:lnSpc>
            </a:pPr>
            <a:r>
              <a:rPr sz="1200" b="1">
                <a:solidFill>
                  <a:srgbClr val="0F2A4F"/>
                </a:solidFill>
                <a:latin typeface="Hiragino Sans"/>
                <a:ea typeface="Hiragino Sans"/>
                <a:cs typeface="Hiragino Sans"/>
              </a:rPr>
              <a:t>30秒</a:t>
            </a:r>
          </a:p>
        </p:txBody>
      </p:sp>
      <p:sp>
        <p:nvSpPr>
          <p:cNvPr id="36" name="TextBox 35"/>
          <p:cNvSpPr txBox="1"/>
          <p:nvPr/>
        </p:nvSpPr>
        <p:spPr>
          <a:xfrm>
            <a:off x="9756648" y="3886200"/>
            <a:ext cx="1947672" cy="411480"/>
          </a:xfrm>
          <a:prstGeom prst="rect">
            <a:avLst/>
          </a:prstGeom>
          <a:noFill/>
        </p:spPr>
        <p:txBody>
          <a:bodyPr wrap="square" anchor="t" lIns="0" rIns="0" tIns="0" bIns="0">
            <a:spAutoFit/>
          </a:bodyPr>
          <a:lstStyle/>
          <a:p>
            <a:pPr algn="ctr">
              <a:lnSpc>
                <a:spcPct val="130000"/>
              </a:lnSpc>
            </a:pPr>
            <a:r>
              <a:rPr sz="1000" b="1">
                <a:solidFill>
                  <a:srgbClr val="B85E1A"/>
                </a:solidFill>
                <a:latin typeface="Hiragino Sans"/>
                <a:ea typeface="Hiragino Sans"/>
                <a:cs typeface="Hiragino Sans"/>
              </a:rPr>
              <a:t>新規 (2026~)</a:t>
            </a:r>
          </a:p>
        </p:txBody>
      </p:sp>
      <p:sp>
        <p:nvSpPr>
          <p:cNvPr id="37" name="TextBox 36"/>
          <p:cNvSpPr txBox="1"/>
          <p:nvPr/>
        </p:nvSpPr>
        <p:spPr>
          <a:xfrm>
            <a:off x="9756648" y="4343400"/>
            <a:ext cx="1947672" cy="457200"/>
          </a:xfrm>
          <a:prstGeom prst="rect">
            <a:avLst/>
          </a:prstGeom>
          <a:noFill/>
        </p:spPr>
        <p:txBody>
          <a:bodyPr wrap="square" anchor="t" lIns="0" rIns="0" tIns="0" bIns="0">
            <a:spAutoFit/>
          </a:bodyPr>
          <a:lstStyle/>
          <a:p>
            <a:pPr algn="ctr">
              <a:lnSpc>
                <a:spcPct val="140000"/>
              </a:lnSpc>
            </a:pPr>
            <a:r>
              <a:rPr sz="1000" b="0">
                <a:solidFill>
                  <a:srgbClr val="1A1A1A"/>
                </a:solidFill>
                <a:latin typeface="Hiragino Sans"/>
                <a:ea typeface="Hiragino Sans"/>
                <a:cs typeface="Hiragino Sans"/>
              </a:rPr>
              <a:t>長尺ストーリー</a:t>
            </a:r>
          </a:p>
        </p:txBody>
      </p:sp>
      <p:sp>
        <p:nvSpPr>
          <p:cNvPr id="38" name="Rounded Rectangle 37"/>
          <p:cNvSpPr/>
          <p:nvPr/>
        </p:nvSpPr>
        <p:spPr>
          <a:xfrm>
            <a:off x="548640" y="5120640"/>
            <a:ext cx="11109960" cy="128016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77240" y="5257800"/>
            <a:ext cx="109728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 Non-Skip 30秒の意味</a:t>
            </a:r>
          </a:p>
        </p:txBody>
      </p:sp>
      <p:sp>
        <p:nvSpPr>
          <p:cNvPr id="40" name="TextBox 39"/>
          <p:cNvSpPr txBox="1"/>
          <p:nvPr/>
        </p:nvSpPr>
        <p:spPr>
          <a:xfrm>
            <a:off x="777240" y="5577840"/>
            <a:ext cx="10972800" cy="777240"/>
          </a:xfrm>
          <a:prstGeom prst="rect">
            <a:avLst/>
          </a:prstGeom>
          <a:noFill/>
        </p:spPr>
        <p:txBody>
          <a:bodyPr wrap="square" anchor="t" lIns="0" rIns="0" tIns="0" bIns="0">
            <a:spAutoFit/>
          </a:bodyPr>
          <a:lstStyle/>
          <a:p>
            <a:pPr algn="l">
              <a:lnSpc>
                <a:spcPct val="155000"/>
              </a:lnSpc>
            </a:pPr>
            <a:r>
              <a:rPr sz="1100" b="0">
                <a:solidFill>
                  <a:srgbClr val="1A1A1A"/>
                </a:solidFill>
                <a:latin typeface="Hiragino Sans"/>
                <a:ea typeface="Hiragino Sans"/>
                <a:cs typeface="Hiragino Sans"/>
              </a:rPr>
              <a:t>従来の『2連続15秒』を置換。CTV/TVスクリーンでの視聴体験が『TV CMライク』に。</a:t>
            </a:r>
          </a:p>
          <a:p>
            <a:pPr algn="l">
              <a:lnSpc>
                <a:spcPct val="155000"/>
              </a:lnSpc>
            </a:pPr>
            <a:r>
              <a:rPr sz="1100" b="0">
                <a:solidFill>
                  <a:srgbClr val="1A1A1A"/>
                </a:solidFill>
                <a:latin typeface="Hiragino Sans"/>
                <a:ea typeface="Hiragino Sans"/>
                <a:cs typeface="Hiragino Sans"/>
              </a:rPr>
              <a:t>ブランド広告主にとっては動画素材の長尺化が必須に。</a:t>
            </a:r>
          </a:p>
          <a:p>
            <a:pPr algn="l">
              <a:lnSpc>
                <a:spcPct val="155000"/>
              </a:lnSpc>
            </a:pPr>
            <a:r>
              <a:rPr sz="1100" b="0">
                <a:solidFill>
                  <a:srgbClr val="1A1A1A"/>
                </a:solidFill>
                <a:latin typeface="Hiragino Sans"/>
                <a:ea typeface="Hiragino Sans"/>
                <a:cs typeface="Hiragino Sans"/>
              </a:rPr>
              <a:t>副業代行は『6/15/30秒の素材セット』をクライアントから入手 → AIが配信面別に最適化</a:t>
            </a:r>
          </a:p>
        </p:txBody>
      </p:sp>
      <p:sp>
        <p:nvSpPr>
          <p:cNvPr id="41" name="TextBox 40"/>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ABCD原則 + クリエイティブ鉄則</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YouTube動画広告のグローバル鉄板</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P83 / 250</a:t>
            </a:r>
          </a:p>
        </p:txBody>
      </p:sp>
      <p:sp>
        <p:nvSpPr>
          <p:cNvPr id="8" name="Rounded Rectangle 7"/>
          <p:cNvSpPr/>
          <p:nvPr/>
        </p:nvSpPr>
        <p:spPr>
          <a:xfrm>
            <a:off x="548640" y="1371600"/>
            <a:ext cx="2697480" cy="23317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508760"/>
            <a:ext cx="914400" cy="1097280"/>
          </a:xfrm>
          <a:prstGeom prst="rect">
            <a:avLst/>
          </a:prstGeom>
          <a:noFill/>
        </p:spPr>
        <p:txBody>
          <a:bodyPr wrap="square" anchor="t" lIns="0" rIns="0" tIns="0" bIns="0">
            <a:spAutoFit/>
          </a:bodyPr>
          <a:lstStyle/>
          <a:p>
            <a:pPr algn="l">
              <a:lnSpc>
                <a:spcPct val="115000"/>
              </a:lnSpc>
            </a:pPr>
            <a:r>
              <a:rPr sz="7200" b="1">
                <a:solidFill>
                  <a:srgbClr val="E87722"/>
                </a:solidFill>
                <a:latin typeface="Helvetica Neue"/>
                <a:ea typeface="Helvetica Neue"/>
                <a:cs typeface="Helvetica Neue"/>
              </a:rPr>
              <a:t>A</a:t>
            </a:r>
          </a:p>
        </p:txBody>
      </p:sp>
      <p:sp>
        <p:nvSpPr>
          <p:cNvPr id="10" name="TextBox 9"/>
          <p:cNvSpPr txBox="1"/>
          <p:nvPr/>
        </p:nvSpPr>
        <p:spPr>
          <a:xfrm>
            <a:off x="1828800" y="1645920"/>
            <a:ext cx="1325880" cy="365760"/>
          </a:xfrm>
          <a:prstGeom prst="rect">
            <a:avLst/>
          </a:prstGeom>
          <a:noFill/>
        </p:spPr>
        <p:txBody>
          <a:bodyPr wrap="square" anchor="t" lIns="0" rIns="0" tIns="0" bIns="0">
            <a:spAutoFit/>
          </a:bodyPr>
          <a:lstStyle/>
          <a:p>
            <a:pPr algn="l">
              <a:lnSpc>
                <a:spcPct val="115000"/>
              </a:lnSpc>
            </a:pPr>
            <a:r>
              <a:rPr sz="1800" b="1">
                <a:solidFill>
                  <a:srgbClr val="0F2A4F"/>
                </a:solidFill>
                <a:latin typeface="Helvetica Neue"/>
                <a:ea typeface="Helvetica Neue"/>
                <a:cs typeface="Helvetica Neue"/>
              </a:rPr>
              <a:t>Attract</a:t>
            </a:r>
          </a:p>
        </p:txBody>
      </p:sp>
      <p:sp>
        <p:nvSpPr>
          <p:cNvPr id="11" name="TextBox 10"/>
          <p:cNvSpPr txBox="1"/>
          <p:nvPr/>
        </p:nvSpPr>
        <p:spPr>
          <a:xfrm>
            <a:off x="1828800" y="2057400"/>
            <a:ext cx="1325880" cy="320040"/>
          </a:xfrm>
          <a:prstGeom prst="rect">
            <a:avLst/>
          </a:prstGeom>
          <a:noFill/>
        </p:spPr>
        <p:txBody>
          <a:bodyPr wrap="square" anchor="t" lIns="0" rIns="0" tIns="0" bIns="0">
            <a:spAutoFit/>
          </a:bodyPr>
          <a:lstStyle/>
          <a:p>
            <a:pPr algn="l">
              <a:lnSpc>
                <a:spcPct val="115000"/>
              </a:lnSpc>
            </a:pPr>
            <a:r>
              <a:rPr sz="1100" b="1">
                <a:solidFill>
                  <a:srgbClr val="B85E1A"/>
                </a:solidFill>
                <a:latin typeface="Hiragino Sans"/>
                <a:ea typeface="Hiragino Sans"/>
                <a:cs typeface="Hiragino Sans"/>
              </a:rPr>
              <a:t>最初の3秒で掴む</a:t>
            </a:r>
          </a:p>
        </p:txBody>
      </p:sp>
      <p:sp>
        <p:nvSpPr>
          <p:cNvPr id="12" name="TextBox 11"/>
          <p:cNvSpPr txBox="1"/>
          <p:nvPr/>
        </p:nvSpPr>
        <p:spPr>
          <a:xfrm>
            <a:off x="731520" y="2743200"/>
            <a:ext cx="2331720" cy="868680"/>
          </a:xfrm>
          <a:prstGeom prst="rect">
            <a:avLst/>
          </a:prstGeom>
          <a:noFill/>
        </p:spPr>
        <p:txBody>
          <a:bodyPr wrap="square" anchor="t" lIns="0" rIns="0" tIns="0" bIns="0">
            <a:spAutoFit/>
          </a:bodyPr>
          <a:lstStyle/>
          <a:p>
            <a:pPr algn="l">
              <a:lnSpc>
                <a:spcPct val="150000"/>
              </a:lnSpc>
            </a:pPr>
            <a:r>
              <a:rPr sz="1000" b="0">
                <a:solidFill>
                  <a:srgbClr val="1A1A1A"/>
                </a:solidFill>
                <a:latin typeface="Hiragino Sans"/>
                <a:ea typeface="Hiragino Sans"/>
                <a:cs typeface="Hiragino Sans"/>
              </a:rPr>
              <a:t>・人物登場/音響/テロップで意表</a:t>
            </a:r>
          </a:p>
          <a:p>
            <a:pPr algn="l">
              <a:lnSpc>
                <a:spcPct val="150000"/>
              </a:lnSpc>
            </a:pPr>
            <a:r>
              <a:rPr sz="1000" b="0">
                <a:solidFill>
                  <a:srgbClr val="1A1A1A"/>
                </a:solidFill>
                <a:latin typeface="Hiragino Sans"/>
                <a:ea typeface="Hiragino Sans"/>
                <a:cs typeface="Hiragino Sans"/>
              </a:rPr>
              <a:t>・ブランドカラーを早期露出</a:t>
            </a:r>
          </a:p>
        </p:txBody>
      </p:sp>
      <p:sp>
        <p:nvSpPr>
          <p:cNvPr id="13" name="Rounded Rectangle 12"/>
          <p:cNvSpPr/>
          <p:nvPr/>
        </p:nvSpPr>
        <p:spPr>
          <a:xfrm>
            <a:off x="3337560" y="1371600"/>
            <a:ext cx="2697480" cy="23317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20440" y="1508760"/>
            <a:ext cx="914400" cy="1097280"/>
          </a:xfrm>
          <a:prstGeom prst="rect">
            <a:avLst/>
          </a:prstGeom>
          <a:noFill/>
        </p:spPr>
        <p:txBody>
          <a:bodyPr wrap="square" anchor="t" lIns="0" rIns="0" tIns="0" bIns="0">
            <a:spAutoFit/>
          </a:bodyPr>
          <a:lstStyle/>
          <a:p>
            <a:pPr algn="l">
              <a:lnSpc>
                <a:spcPct val="115000"/>
              </a:lnSpc>
            </a:pPr>
            <a:r>
              <a:rPr sz="7200" b="1">
                <a:solidFill>
                  <a:srgbClr val="E87722"/>
                </a:solidFill>
                <a:latin typeface="Helvetica Neue"/>
                <a:ea typeface="Helvetica Neue"/>
                <a:cs typeface="Helvetica Neue"/>
              </a:rPr>
              <a:t>B</a:t>
            </a:r>
          </a:p>
        </p:txBody>
      </p:sp>
      <p:sp>
        <p:nvSpPr>
          <p:cNvPr id="15" name="TextBox 14"/>
          <p:cNvSpPr txBox="1"/>
          <p:nvPr/>
        </p:nvSpPr>
        <p:spPr>
          <a:xfrm>
            <a:off x="4617720" y="1645920"/>
            <a:ext cx="1325880" cy="365760"/>
          </a:xfrm>
          <a:prstGeom prst="rect">
            <a:avLst/>
          </a:prstGeom>
          <a:noFill/>
        </p:spPr>
        <p:txBody>
          <a:bodyPr wrap="square" anchor="t" lIns="0" rIns="0" tIns="0" bIns="0">
            <a:spAutoFit/>
          </a:bodyPr>
          <a:lstStyle/>
          <a:p>
            <a:pPr algn="l">
              <a:lnSpc>
                <a:spcPct val="115000"/>
              </a:lnSpc>
            </a:pPr>
            <a:r>
              <a:rPr sz="1800" b="1">
                <a:solidFill>
                  <a:srgbClr val="0F2A4F"/>
                </a:solidFill>
                <a:latin typeface="Helvetica Neue"/>
                <a:ea typeface="Helvetica Neue"/>
                <a:cs typeface="Helvetica Neue"/>
              </a:rPr>
              <a:t>Brand</a:t>
            </a:r>
          </a:p>
        </p:txBody>
      </p:sp>
      <p:sp>
        <p:nvSpPr>
          <p:cNvPr id="16" name="TextBox 15"/>
          <p:cNvSpPr txBox="1"/>
          <p:nvPr/>
        </p:nvSpPr>
        <p:spPr>
          <a:xfrm>
            <a:off x="4617720" y="2057400"/>
            <a:ext cx="1325880" cy="320040"/>
          </a:xfrm>
          <a:prstGeom prst="rect">
            <a:avLst/>
          </a:prstGeom>
          <a:noFill/>
        </p:spPr>
        <p:txBody>
          <a:bodyPr wrap="square" anchor="t" lIns="0" rIns="0" tIns="0" bIns="0">
            <a:spAutoFit/>
          </a:bodyPr>
          <a:lstStyle/>
          <a:p>
            <a:pPr algn="l">
              <a:lnSpc>
                <a:spcPct val="115000"/>
              </a:lnSpc>
            </a:pPr>
            <a:r>
              <a:rPr sz="1100" b="1">
                <a:solidFill>
                  <a:srgbClr val="B85E1A"/>
                </a:solidFill>
                <a:latin typeface="Hiragino Sans"/>
                <a:ea typeface="Hiragino Sans"/>
                <a:cs typeface="Hiragino Sans"/>
              </a:rPr>
              <a:t>5秒以内にブランド明示</a:t>
            </a:r>
          </a:p>
        </p:txBody>
      </p:sp>
      <p:sp>
        <p:nvSpPr>
          <p:cNvPr id="17" name="TextBox 16"/>
          <p:cNvSpPr txBox="1"/>
          <p:nvPr/>
        </p:nvSpPr>
        <p:spPr>
          <a:xfrm>
            <a:off x="3520440" y="2743200"/>
            <a:ext cx="2331720" cy="868680"/>
          </a:xfrm>
          <a:prstGeom prst="rect">
            <a:avLst/>
          </a:prstGeom>
          <a:noFill/>
        </p:spPr>
        <p:txBody>
          <a:bodyPr wrap="square" anchor="t" lIns="0" rIns="0" tIns="0" bIns="0">
            <a:spAutoFit/>
          </a:bodyPr>
          <a:lstStyle/>
          <a:p>
            <a:pPr algn="l">
              <a:lnSpc>
                <a:spcPct val="150000"/>
              </a:lnSpc>
            </a:pPr>
            <a:r>
              <a:rPr sz="1000" b="0">
                <a:solidFill>
                  <a:srgbClr val="1A1A1A"/>
                </a:solidFill>
                <a:latin typeface="Hiragino Sans"/>
                <a:ea typeface="Hiragino Sans"/>
                <a:cs typeface="Hiragino Sans"/>
              </a:rPr>
              <a:t>・ロゴ/商品/色のいずれかを表示</a:t>
            </a:r>
          </a:p>
          <a:p>
            <a:pPr algn="l">
              <a:lnSpc>
                <a:spcPct val="150000"/>
              </a:lnSpc>
            </a:pPr>
            <a:r>
              <a:rPr sz="1000" b="0">
                <a:solidFill>
                  <a:srgbClr val="1A1A1A"/>
                </a:solidFill>
                <a:latin typeface="Hiragino Sans"/>
                <a:ea typeface="Hiragino Sans"/>
                <a:cs typeface="Hiragino Sans"/>
              </a:rPr>
              <a:t>・Bumper では1秒以内</a:t>
            </a:r>
          </a:p>
        </p:txBody>
      </p:sp>
      <p:sp>
        <p:nvSpPr>
          <p:cNvPr id="18" name="Rounded Rectangle 17"/>
          <p:cNvSpPr/>
          <p:nvPr/>
        </p:nvSpPr>
        <p:spPr>
          <a:xfrm>
            <a:off x="6126480" y="1371600"/>
            <a:ext cx="2697480" cy="23317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9360" y="1508760"/>
            <a:ext cx="914400" cy="1097280"/>
          </a:xfrm>
          <a:prstGeom prst="rect">
            <a:avLst/>
          </a:prstGeom>
          <a:noFill/>
        </p:spPr>
        <p:txBody>
          <a:bodyPr wrap="square" anchor="t" lIns="0" rIns="0" tIns="0" bIns="0">
            <a:spAutoFit/>
          </a:bodyPr>
          <a:lstStyle/>
          <a:p>
            <a:pPr algn="l">
              <a:lnSpc>
                <a:spcPct val="115000"/>
              </a:lnSpc>
            </a:pPr>
            <a:r>
              <a:rPr sz="7200" b="1">
                <a:solidFill>
                  <a:srgbClr val="E87722"/>
                </a:solidFill>
                <a:latin typeface="Helvetica Neue"/>
                <a:ea typeface="Helvetica Neue"/>
                <a:cs typeface="Helvetica Neue"/>
              </a:rPr>
              <a:t>C</a:t>
            </a:r>
          </a:p>
        </p:txBody>
      </p:sp>
      <p:sp>
        <p:nvSpPr>
          <p:cNvPr id="20" name="TextBox 19"/>
          <p:cNvSpPr txBox="1"/>
          <p:nvPr/>
        </p:nvSpPr>
        <p:spPr>
          <a:xfrm>
            <a:off x="7406640" y="1645920"/>
            <a:ext cx="1325880" cy="365760"/>
          </a:xfrm>
          <a:prstGeom prst="rect">
            <a:avLst/>
          </a:prstGeom>
          <a:noFill/>
        </p:spPr>
        <p:txBody>
          <a:bodyPr wrap="square" anchor="t" lIns="0" rIns="0" tIns="0" bIns="0">
            <a:spAutoFit/>
          </a:bodyPr>
          <a:lstStyle/>
          <a:p>
            <a:pPr algn="l">
              <a:lnSpc>
                <a:spcPct val="115000"/>
              </a:lnSpc>
            </a:pPr>
            <a:r>
              <a:rPr sz="1800" b="1">
                <a:solidFill>
                  <a:srgbClr val="0F2A4F"/>
                </a:solidFill>
                <a:latin typeface="Helvetica Neue"/>
                <a:ea typeface="Helvetica Neue"/>
                <a:cs typeface="Helvetica Neue"/>
              </a:rPr>
              <a:t>Connect</a:t>
            </a:r>
          </a:p>
        </p:txBody>
      </p:sp>
      <p:sp>
        <p:nvSpPr>
          <p:cNvPr id="21" name="TextBox 20"/>
          <p:cNvSpPr txBox="1"/>
          <p:nvPr/>
        </p:nvSpPr>
        <p:spPr>
          <a:xfrm>
            <a:off x="7406640" y="2057400"/>
            <a:ext cx="1325880" cy="320040"/>
          </a:xfrm>
          <a:prstGeom prst="rect">
            <a:avLst/>
          </a:prstGeom>
          <a:noFill/>
        </p:spPr>
        <p:txBody>
          <a:bodyPr wrap="square" anchor="t" lIns="0" rIns="0" tIns="0" bIns="0">
            <a:spAutoFit/>
          </a:bodyPr>
          <a:lstStyle/>
          <a:p>
            <a:pPr algn="l">
              <a:lnSpc>
                <a:spcPct val="115000"/>
              </a:lnSpc>
            </a:pPr>
            <a:r>
              <a:rPr sz="1100" b="1">
                <a:solidFill>
                  <a:srgbClr val="B85E1A"/>
                </a:solidFill>
                <a:latin typeface="Hiragino Sans"/>
                <a:ea typeface="Hiragino Sans"/>
                <a:cs typeface="Hiragino Sans"/>
              </a:rPr>
              <a:t>ベネフィットを具体的に</a:t>
            </a:r>
          </a:p>
        </p:txBody>
      </p:sp>
      <p:sp>
        <p:nvSpPr>
          <p:cNvPr id="22" name="TextBox 21"/>
          <p:cNvSpPr txBox="1"/>
          <p:nvPr/>
        </p:nvSpPr>
        <p:spPr>
          <a:xfrm>
            <a:off x="6309360" y="2743200"/>
            <a:ext cx="2331720" cy="868680"/>
          </a:xfrm>
          <a:prstGeom prst="rect">
            <a:avLst/>
          </a:prstGeom>
          <a:noFill/>
        </p:spPr>
        <p:txBody>
          <a:bodyPr wrap="square" anchor="t" lIns="0" rIns="0" tIns="0" bIns="0">
            <a:spAutoFit/>
          </a:bodyPr>
          <a:lstStyle/>
          <a:p>
            <a:pPr algn="l">
              <a:lnSpc>
                <a:spcPct val="150000"/>
              </a:lnSpc>
            </a:pPr>
            <a:r>
              <a:rPr sz="1000" b="0">
                <a:solidFill>
                  <a:srgbClr val="1A1A1A"/>
                </a:solidFill>
                <a:latin typeface="Hiragino Sans"/>
                <a:ea typeface="Hiragino Sans"/>
                <a:cs typeface="Hiragino Sans"/>
              </a:rPr>
              <a:t>・数字/事例/Before-After</a:t>
            </a:r>
          </a:p>
          <a:p>
            <a:pPr algn="l">
              <a:lnSpc>
                <a:spcPct val="150000"/>
              </a:lnSpc>
            </a:pPr>
            <a:r>
              <a:rPr sz="1000" b="0">
                <a:solidFill>
                  <a:srgbClr val="1A1A1A"/>
                </a:solidFill>
                <a:latin typeface="Hiragino Sans"/>
                <a:ea typeface="Hiragino Sans"/>
                <a:cs typeface="Hiragino Sans"/>
              </a:rPr>
              <a:t>・ターゲット視聴者像を意識</a:t>
            </a:r>
          </a:p>
        </p:txBody>
      </p:sp>
      <p:sp>
        <p:nvSpPr>
          <p:cNvPr id="23" name="Rounded Rectangle 22"/>
          <p:cNvSpPr/>
          <p:nvPr/>
        </p:nvSpPr>
        <p:spPr>
          <a:xfrm>
            <a:off x="8915400" y="1371600"/>
            <a:ext cx="2697480" cy="23317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98280" y="1508760"/>
            <a:ext cx="914400" cy="1097280"/>
          </a:xfrm>
          <a:prstGeom prst="rect">
            <a:avLst/>
          </a:prstGeom>
          <a:noFill/>
        </p:spPr>
        <p:txBody>
          <a:bodyPr wrap="square" anchor="t" lIns="0" rIns="0" tIns="0" bIns="0">
            <a:spAutoFit/>
          </a:bodyPr>
          <a:lstStyle/>
          <a:p>
            <a:pPr algn="l">
              <a:lnSpc>
                <a:spcPct val="115000"/>
              </a:lnSpc>
            </a:pPr>
            <a:r>
              <a:rPr sz="7200" b="1">
                <a:solidFill>
                  <a:srgbClr val="E87722"/>
                </a:solidFill>
                <a:latin typeface="Helvetica Neue"/>
                <a:ea typeface="Helvetica Neue"/>
                <a:cs typeface="Helvetica Neue"/>
              </a:rPr>
              <a:t>D</a:t>
            </a:r>
          </a:p>
        </p:txBody>
      </p:sp>
      <p:sp>
        <p:nvSpPr>
          <p:cNvPr id="25" name="TextBox 24"/>
          <p:cNvSpPr txBox="1"/>
          <p:nvPr/>
        </p:nvSpPr>
        <p:spPr>
          <a:xfrm>
            <a:off x="10195560" y="1645920"/>
            <a:ext cx="1325880" cy="365760"/>
          </a:xfrm>
          <a:prstGeom prst="rect">
            <a:avLst/>
          </a:prstGeom>
          <a:noFill/>
        </p:spPr>
        <p:txBody>
          <a:bodyPr wrap="square" anchor="t" lIns="0" rIns="0" tIns="0" bIns="0">
            <a:spAutoFit/>
          </a:bodyPr>
          <a:lstStyle/>
          <a:p>
            <a:pPr algn="l">
              <a:lnSpc>
                <a:spcPct val="115000"/>
              </a:lnSpc>
            </a:pPr>
            <a:r>
              <a:rPr sz="1800" b="1">
                <a:solidFill>
                  <a:srgbClr val="0F2A4F"/>
                </a:solidFill>
                <a:latin typeface="Helvetica Neue"/>
                <a:ea typeface="Helvetica Neue"/>
                <a:cs typeface="Helvetica Neue"/>
              </a:rPr>
              <a:t>Direct</a:t>
            </a:r>
          </a:p>
        </p:txBody>
      </p:sp>
      <p:sp>
        <p:nvSpPr>
          <p:cNvPr id="26" name="TextBox 25"/>
          <p:cNvSpPr txBox="1"/>
          <p:nvPr/>
        </p:nvSpPr>
        <p:spPr>
          <a:xfrm>
            <a:off x="10195560" y="2057400"/>
            <a:ext cx="1325880" cy="320040"/>
          </a:xfrm>
          <a:prstGeom prst="rect">
            <a:avLst/>
          </a:prstGeom>
          <a:noFill/>
        </p:spPr>
        <p:txBody>
          <a:bodyPr wrap="square" anchor="t" lIns="0" rIns="0" tIns="0" bIns="0">
            <a:spAutoFit/>
          </a:bodyPr>
          <a:lstStyle/>
          <a:p>
            <a:pPr algn="l">
              <a:lnSpc>
                <a:spcPct val="115000"/>
              </a:lnSpc>
            </a:pPr>
            <a:r>
              <a:rPr sz="1100" b="1">
                <a:solidFill>
                  <a:srgbClr val="B85E1A"/>
                </a:solidFill>
                <a:latin typeface="Hiragino Sans"/>
                <a:ea typeface="Hiragino Sans"/>
                <a:cs typeface="Hiragino Sans"/>
              </a:rPr>
              <a:t>CTAを明確化</a:t>
            </a:r>
          </a:p>
        </p:txBody>
      </p:sp>
      <p:sp>
        <p:nvSpPr>
          <p:cNvPr id="27" name="TextBox 26"/>
          <p:cNvSpPr txBox="1"/>
          <p:nvPr/>
        </p:nvSpPr>
        <p:spPr>
          <a:xfrm>
            <a:off x="9098280" y="2743200"/>
            <a:ext cx="2331720" cy="868680"/>
          </a:xfrm>
          <a:prstGeom prst="rect">
            <a:avLst/>
          </a:prstGeom>
          <a:noFill/>
        </p:spPr>
        <p:txBody>
          <a:bodyPr wrap="square" anchor="t" lIns="0" rIns="0" tIns="0" bIns="0">
            <a:spAutoFit/>
          </a:bodyPr>
          <a:lstStyle/>
          <a:p>
            <a:pPr algn="l">
              <a:lnSpc>
                <a:spcPct val="150000"/>
              </a:lnSpc>
            </a:pPr>
            <a:r>
              <a:rPr sz="1000" b="0">
                <a:solidFill>
                  <a:srgbClr val="1A1A1A"/>
                </a:solidFill>
                <a:latin typeface="Hiragino Sans"/>
                <a:ea typeface="Hiragino Sans"/>
                <a:cs typeface="Hiragino Sans"/>
              </a:rPr>
              <a:t>・『今すぐ』『LINE友達追加』</a:t>
            </a:r>
          </a:p>
          <a:p>
            <a:pPr algn="l">
              <a:lnSpc>
                <a:spcPct val="150000"/>
              </a:lnSpc>
            </a:pPr>
            <a:r>
              <a:rPr sz="1000" b="0">
                <a:solidFill>
                  <a:srgbClr val="1A1A1A"/>
                </a:solidFill>
                <a:latin typeface="Hiragino Sans"/>
                <a:ea typeface="Hiragino Sans"/>
                <a:cs typeface="Hiragino Sans"/>
              </a:rPr>
              <a:t>・URL / QR / 末尾オーバーレイ</a:t>
            </a:r>
          </a:p>
        </p:txBody>
      </p:sp>
      <p:sp>
        <p:nvSpPr>
          <p:cNvPr id="28" name="TextBox 27"/>
          <p:cNvSpPr txBox="1"/>
          <p:nvPr/>
        </p:nvSpPr>
        <p:spPr>
          <a:xfrm>
            <a:off x="548640" y="3886200"/>
            <a:ext cx="1097280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2026年版・追加鉄則</a:t>
            </a:r>
          </a:p>
        </p:txBody>
      </p:sp>
      <p:sp>
        <p:nvSpPr>
          <p:cNvPr id="29" name="Rectangle 28"/>
          <p:cNvSpPr/>
          <p:nvPr/>
        </p:nvSpPr>
        <p:spPr>
          <a:xfrm>
            <a:off x="548640" y="4251960"/>
            <a:ext cx="1110996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 y="4434840"/>
            <a:ext cx="27432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a:t>
            </a:r>
          </a:p>
        </p:txBody>
      </p:sp>
      <p:sp>
        <p:nvSpPr>
          <p:cNvPr id="31" name="TextBox 30"/>
          <p:cNvSpPr txBox="1"/>
          <p:nvPr/>
        </p:nvSpPr>
        <p:spPr>
          <a:xfrm>
            <a:off x="914400" y="4462272"/>
            <a:ext cx="10058400" cy="365760"/>
          </a:xfrm>
          <a:prstGeom prst="rect">
            <a:avLst/>
          </a:prstGeom>
          <a:noFill/>
        </p:spPr>
        <p:txBody>
          <a:bodyPr wrap="square" anchor="t" lIns="0" rIns="0" tIns="0" bIns="0">
            <a:spAutoFit/>
          </a:bodyPr>
          <a:lstStyle/>
          <a:p>
            <a:pPr algn="l">
              <a:lnSpc>
                <a:spcPct val="140000"/>
              </a:lnSpc>
            </a:pPr>
            <a:r>
              <a:rPr sz="1100" b="0">
                <a:solidFill>
                  <a:srgbClr val="1A1A1A"/>
                </a:solidFill>
                <a:latin typeface="Hiragino Sans"/>
                <a:ea typeface="Hiragino Sans"/>
                <a:cs typeface="Hiragino Sans"/>
              </a:rPr>
              <a:t>音声OFF前提のキャプション/テロップ常時表示</a:t>
            </a:r>
          </a:p>
        </p:txBody>
      </p:sp>
      <p:sp>
        <p:nvSpPr>
          <p:cNvPr id="32" name="TextBox 31"/>
          <p:cNvSpPr txBox="1"/>
          <p:nvPr/>
        </p:nvSpPr>
        <p:spPr>
          <a:xfrm>
            <a:off x="640080" y="4818888"/>
            <a:ext cx="27432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a:t>
            </a:r>
          </a:p>
        </p:txBody>
      </p:sp>
      <p:sp>
        <p:nvSpPr>
          <p:cNvPr id="33" name="TextBox 32"/>
          <p:cNvSpPr txBox="1"/>
          <p:nvPr/>
        </p:nvSpPr>
        <p:spPr>
          <a:xfrm>
            <a:off x="914400" y="4846320"/>
            <a:ext cx="10058400" cy="365760"/>
          </a:xfrm>
          <a:prstGeom prst="rect">
            <a:avLst/>
          </a:prstGeom>
          <a:noFill/>
        </p:spPr>
        <p:txBody>
          <a:bodyPr wrap="square" anchor="t" lIns="0" rIns="0" tIns="0" bIns="0">
            <a:spAutoFit/>
          </a:bodyPr>
          <a:lstStyle/>
          <a:p>
            <a:pPr algn="l">
              <a:lnSpc>
                <a:spcPct val="140000"/>
              </a:lnSpc>
            </a:pPr>
            <a:r>
              <a:rPr sz="1100" b="0">
                <a:solidFill>
                  <a:srgbClr val="1A1A1A"/>
                </a:solidFill>
                <a:latin typeface="Hiragino Sans"/>
                <a:ea typeface="Hiragino Sans"/>
                <a:cs typeface="Hiragino Sans"/>
              </a:rPr>
              <a:t>9:16 縦型 + 16:9 横型 + 1:1 正方形 の3パターン用意</a:t>
            </a:r>
          </a:p>
        </p:txBody>
      </p:sp>
      <p:sp>
        <p:nvSpPr>
          <p:cNvPr id="34" name="TextBox 33"/>
          <p:cNvSpPr txBox="1"/>
          <p:nvPr/>
        </p:nvSpPr>
        <p:spPr>
          <a:xfrm>
            <a:off x="640080" y="5202936"/>
            <a:ext cx="27432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a:t>
            </a:r>
          </a:p>
        </p:txBody>
      </p:sp>
      <p:sp>
        <p:nvSpPr>
          <p:cNvPr id="35" name="TextBox 34"/>
          <p:cNvSpPr txBox="1"/>
          <p:nvPr/>
        </p:nvSpPr>
        <p:spPr>
          <a:xfrm>
            <a:off x="914400" y="5230368"/>
            <a:ext cx="10058400" cy="365760"/>
          </a:xfrm>
          <a:prstGeom prst="rect">
            <a:avLst/>
          </a:prstGeom>
          <a:noFill/>
        </p:spPr>
        <p:txBody>
          <a:bodyPr wrap="square" anchor="t" lIns="0" rIns="0" tIns="0" bIns="0">
            <a:spAutoFit/>
          </a:bodyPr>
          <a:lstStyle/>
          <a:p>
            <a:pPr algn="l">
              <a:lnSpc>
                <a:spcPct val="140000"/>
              </a:lnSpc>
            </a:pPr>
            <a:r>
              <a:rPr sz="1100" b="0">
                <a:solidFill>
                  <a:srgbClr val="1A1A1A"/>
                </a:solidFill>
                <a:latin typeface="Hiragino Sans"/>
                <a:ea typeface="Hiragino Sans"/>
                <a:cs typeface="Hiragino Sans"/>
              </a:rPr>
              <a:t>AI生成クリエイティブの活用 (Veo/Sora/Runway)</a:t>
            </a:r>
          </a:p>
        </p:txBody>
      </p:sp>
      <p:sp>
        <p:nvSpPr>
          <p:cNvPr id="36" name="TextBox 35"/>
          <p:cNvSpPr txBox="1"/>
          <p:nvPr/>
        </p:nvSpPr>
        <p:spPr>
          <a:xfrm>
            <a:off x="640080" y="5586984"/>
            <a:ext cx="27432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a:t>
            </a:r>
          </a:p>
        </p:txBody>
      </p:sp>
      <p:sp>
        <p:nvSpPr>
          <p:cNvPr id="37" name="TextBox 36"/>
          <p:cNvSpPr txBox="1"/>
          <p:nvPr/>
        </p:nvSpPr>
        <p:spPr>
          <a:xfrm>
            <a:off x="914400" y="5614416"/>
            <a:ext cx="10058400" cy="365760"/>
          </a:xfrm>
          <a:prstGeom prst="rect">
            <a:avLst/>
          </a:prstGeom>
          <a:noFill/>
        </p:spPr>
        <p:txBody>
          <a:bodyPr wrap="square" anchor="t" lIns="0" rIns="0" tIns="0" bIns="0">
            <a:spAutoFit/>
          </a:bodyPr>
          <a:lstStyle/>
          <a:p>
            <a:pPr algn="l">
              <a:lnSpc>
                <a:spcPct val="140000"/>
              </a:lnSpc>
            </a:pPr>
            <a:r>
              <a:rPr sz="1100" b="0">
                <a:solidFill>
                  <a:srgbClr val="1A1A1A"/>
                </a:solidFill>
                <a:latin typeface="Hiragino Sans"/>
                <a:ea typeface="Hiragino Sans"/>
                <a:cs typeface="Hiragino Sans"/>
              </a:rPr>
              <a:t>CTV向けは TVスクリーンで読める文字サイズで設計</a:t>
            </a:r>
          </a:p>
        </p:txBody>
      </p:sp>
      <p:sp>
        <p:nvSpPr>
          <p:cNvPr id="38" name="TextBox 37"/>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 Connected TV (CTV) — 2026年市場</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YouTube on TV Screen が広告の主戦場へ</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P84 / 250</a:t>
            </a:r>
          </a:p>
        </p:txBody>
      </p:sp>
      <p:sp>
        <p:nvSpPr>
          <p:cNvPr id="8" name="Rounded Rectangle 7"/>
          <p:cNvSpPr/>
          <p:nvPr/>
        </p:nvSpPr>
        <p:spPr>
          <a:xfrm>
            <a:off x="548640" y="1371600"/>
            <a:ext cx="5029200" cy="493776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54480"/>
            <a:ext cx="4572000" cy="320040"/>
          </a:xfrm>
          <a:prstGeom prst="rect">
            <a:avLst/>
          </a:prstGeom>
          <a:noFill/>
        </p:spPr>
        <p:txBody>
          <a:bodyPr wrap="square" anchor="t" lIns="0" rIns="0" tIns="0" bIns="0">
            <a:spAutoFit/>
          </a:bodyPr>
          <a:lstStyle/>
          <a:p>
            <a:pPr algn="l">
              <a:lnSpc>
                <a:spcPct val="115000"/>
              </a:lnSpc>
            </a:pPr>
            <a:r>
              <a:rPr sz="1200" b="1">
                <a:solidFill>
                  <a:srgbClr val="E87722"/>
                </a:solidFill>
                <a:latin typeface="Hiragino Sans"/>
                <a:ea typeface="Hiragino Sans"/>
                <a:cs typeface="Hiragino Sans"/>
              </a:rPr>
              <a:t>US CTV広告市場規模</a:t>
            </a:r>
          </a:p>
        </p:txBody>
      </p:sp>
      <p:sp>
        <p:nvSpPr>
          <p:cNvPr id="10" name="TextBox 9"/>
          <p:cNvSpPr txBox="1"/>
          <p:nvPr/>
        </p:nvSpPr>
        <p:spPr>
          <a:xfrm>
            <a:off x="777240" y="1920240"/>
            <a:ext cx="4572000" cy="1280160"/>
          </a:xfrm>
          <a:prstGeom prst="rect">
            <a:avLst/>
          </a:prstGeom>
          <a:noFill/>
        </p:spPr>
        <p:txBody>
          <a:bodyPr wrap="square" anchor="t" lIns="0" rIns="0" tIns="0" bIns="0">
            <a:spAutoFit/>
          </a:bodyPr>
          <a:lstStyle/>
          <a:p>
            <a:pPr algn="l">
              <a:lnSpc>
                <a:spcPct val="115000"/>
              </a:lnSpc>
            </a:pPr>
            <a:r>
              <a:rPr sz="6800" b="1">
                <a:solidFill>
                  <a:srgbClr val="FFFFFF"/>
                </a:solidFill>
                <a:latin typeface="Helvetica Neue"/>
                <a:ea typeface="Helvetica Neue"/>
                <a:cs typeface="Helvetica Neue"/>
              </a:rPr>
              <a:t>$33.35B</a:t>
            </a:r>
          </a:p>
        </p:txBody>
      </p:sp>
      <p:sp>
        <p:nvSpPr>
          <p:cNvPr id="11" name="TextBox 10"/>
          <p:cNvSpPr txBox="1"/>
          <p:nvPr/>
        </p:nvSpPr>
        <p:spPr>
          <a:xfrm>
            <a:off x="777240" y="3200400"/>
            <a:ext cx="4572000" cy="365760"/>
          </a:xfrm>
          <a:prstGeom prst="rect">
            <a:avLst/>
          </a:prstGeom>
          <a:noFill/>
        </p:spPr>
        <p:txBody>
          <a:bodyPr wrap="square" anchor="t" lIns="0" rIns="0" tIns="0" bIns="0">
            <a:spAutoFit/>
          </a:bodyPr>
          <a:lstStyle/>
          <a:p>
            <a:pPr algn="l">
              <a:lnSpc>
                <a:spcPct val="115000"/>
              </a:lnSpc>
            </a:pPr>
            <a:r>
              <a:rPr sz="1200" b="0">
                <a:solidFill>
                  <a:srgbClr val="D7DDE8"/>
                </a:solidFill>
                <a:latin typeface="Hiragino Sans"/>
                <a:ea typeface="Hiragino Sans"/>
                <a:cs typeface="Hiragino Sans"/>
              </a:rPr>
              <a:t>2025年 (デジタル広告全体の 9.6%)</a:t>
            </a:r>
          </a:p>
        </p:txBody>
      </p:sp>
      <p:sp>
        <p:nvSpPr>
          <p:cNvPr id="12" name="Rectangle 11"/>
          <p:cNvSpPr/>
          <p:nvPr/>
        </p:nvSpPr>
        <p:spPr>
          <a:xfrm>
            <a:off x="777240" y="3657600"/>
            <a:ext cx="457200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3794760"/>
            <a:ext cx="4572000" cy="320040"/>
          </a:xfrm>
          <a:prstGeom prst="rect">
            <a:avLst/>
          </a:prstGeom>
          <a:noFill/>
        </p:spPr>
        <p:txBody>
          <a:bodyPr wrap="square" anchor="t" lIns="0" rIns="0" tIns="0" bIns="0">
            <a:spAutoFit/>
          </a:bodyPr>
          <a:lstStyle/>
          <a:p>
            <a:pPr algn="l">
              <a:lnSpc>
                <a:spcPct val="115000"/>
              </a:lnSpc>
            </a:pPr>
            <a:r>
              <a:rPr sz="1200" b="1">
                <a:solidFill>
                  <a:srgbClr val="E87722"/>
                </a:solidFill>
                <a:latin typeface="Hiragino Sans"/>
                <a:ea typeface="Hiragino Sans"/>
                <a:cs typeface="Hiragino Sans"/>
              </a:rPr>
              <a:t>2026年予測</a:t>
            </a:r>
          </a:p>
        </p:txBody>
      </p:sp>
      <p:sp>
        <p:nvSpPr>
          <p:cNvPr id="14" name="TextBox 13"/>
          <p:cNvSpPr txBox="1"/>
          <p:nvPr/>
        </p:nvSpPr>
        <p:spPr>
          <a:xfrm>
            <a:off x="777240" y="4069080"/>
            <a:ext cx="4572000" cy="914400"/>
          </a:xfrm>
          <a:prstGeom prst="rect">
            <a:avLst/>
          </a:prstGeom>
          <a:noFill/>
        </p:spPr>
        <p:txBody>
          <a:bodyPr wrap="square" anchor="t" lIns="0" rIns="0" tIns="0" bIns="0">
            <a:spAutoFit/>
          </a:bodyPr>
          <a:lstStyle/>
          <a:p>
            <a:pPr algn="l">
              <a:lnSpc>
                <a:spcPct val="115000"/>
              </a:lnSpc>
            </a:pPr>
            <a:r>
              <a:rPr sz="4800" b="1">
                <a:solidFill>
                  <a:srgbClr val="FFFFFF"/>
                </a:solidFill>
                <a:latin typeface="Helvetica Neue"/>
                <a:ea typeface="Helvetica Neue"/>
                <a:cs typeface="Helvetica Neue"/>
              </a:rPr>
              <a:t>$38B</a:t>
            </a:r>
          </a:p>
        </p:txBody>
      </p:sp>
      <p:sp>
        <p:nvSpPr>
          <p:cNvPr id="15" name="TextBox 14"/>
          <p:cNvSpPr txBox="1"/>
          <p:nvPr/>
        </p:nvSpPr>
        <p:spPr>
          <a:xfrm>
            <a:off x="777240" y="5029200"/>
            <a:ext cx="4572000" cy="320040"/>
          </a:xfrm>
          <a:prstGeom prst="rect">
            <a:avLst/>
          </a:prstGeom>
          <a:noFill/>
        </p:spPr>
        <p:txBody>
          <a:bodyPr wrap="square" anchor="t" lIns="0" rIns="0" tIns="0" bIns="0">
            <a:spAutoFit/>
          </a:bodyPr>
          <a:lstStyle/>
          <a:p>
            <a:pPr algn="l">
              <a:lnSpc>
                <a:spcPct val="115000"/>
              </a:lnSpc>
            </a:pPr>
            <a:r>
              <a:rPr sz="1200" b="0">
                <a:solidFill>
                  <a:srgbClr val="D7DDE8"/>
                </a:solidFill>
                <a:latin typeface="Hiragino Sans"/>
                <a:ea typeface="Hiragino Sans"/>
                <a:cs typeface="Hiragino Sans"/>
              </a:rPr>
              <a:t>前年比 +14% YoY</a:t>
            </a:r>
          </a:p>
        </p:txBody>
      </p:sp>
      <p:sp>
        <p:nvSpPr>
          <p:cNvPr id="16" name="TextBox 15"/>
          <p:cNvSpPr txBox="1"/>
          <p:nvPr/>
        </p:nvSpPr>
        <p:spPr>
          <a:xfrm>
            <a:off x="777240" y="5943600"/>
            <a:ext cx="4572000" cy="32004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出典: ALM Corp / eMarketer 集計 ※要確認</a:t>
            </a:r>
          </a:p>
        </p:txBody>
      </p:sp>
      <p:sp>
        <p:nvSpPr>
          <p:cNvPr id="17" name="TextBox 16"/>
          <p:cNvSpPr txBox="1"/>
          <p:nvPr/>
        </p:nvSpPr>
        <p:spPr>
          <a:xfrm>
            <a:off x="5760720" y="1417320"/>
            <a:ext cx="640080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Performance Max での CTV 利用</a:t>
            </a:r>
          </a:p>
        </p:txBody>
      </p:sp>
      <p:sp>
        <p:nvSpPr>
          <p:cNvPr id="18" name="Rounded Rectangle 17"/>
          <p:cNvSpPr/>
          <p:nvPr/>
        </p:nvSpPr>
        <p:spPr>
          <a:xfrm>
            <a:off x="5760720" y="1874519"/>
            <a:ext cx="5897880" cy="201168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852160" y="2194560"/>
            <a:ext cx="2468880" cy="1371600"/>
          </a:xfrm>
          <a:prstGeom prst="rect">
            <a:avLst/>
          </a:prstGeom>
          <a:noFill/>
        </p:spPr>
        <p:txBody>
          <a:bodyPr wrap="square" anchor="t" lIns="0" rIns="0" tIns="0" bIns="0">
            <a:spAutoFit/>
          </a:bodyPr>
          <a:lstStyle/>
          <a:p>
            <a:pPr algn="ctr">
              <a:lnSpc>
                <a:spcPct val="115000"/>
              </a:lnSpc>
            </a:pPr>
            <a:r>
              <a:rPr sz="5800" b="1">
                <a:solidFill>
                  <a:srgbClr val="E87722"/>
                </a:solidFill>
                <a:latin typeface="Helvetica Neue"/>
                <a:ea typeface="Helvetica Neue"/>
                <a:cs typeface="Helvetica Neue"/>
              </a:rPr>
              <a:t>80%</a:t>
            </a:r>
          </a:p>
        </p:txBody>
      </p:sp>
      <p:sp>
        <p:nvSpPr>
          <p:cNvPr id="20" name="TextBox 19"/>
          <p:cNvSpPr txBox="1"/>
          <p:nvPr/>
        </p:nvSpPr>
        <p:spPr>
          <a:xfrm>
            <a:off x="8321040" y="2468880"/>
            <a:ext cx="3200400" cy="914400"/>
          </a:xfrm>
          <a:prstGeom prst="rect">
            <a:avLst/>
          </a:prstGeom>
          <a:noFill/>
        </p:spPr>
        <p:txBody>
          <a:bodyPr wrap="square" anchor="t" lIns="0" rIns="0" tIns="0" bIns="0">
            <a:spAutoFit/>
          </a:bodyPr>
          <a:lstStyle/>
          <a:p>
            <a:pPr algn="l">
              <a:lnSpc>
                <a:spcPct val="140000"/>
              </a:lnSpc>
            </a:pPr>
            <a:r>
              <a:rPr sz="1300" b="1">
                <a:solidFill>
                  <a:srgbClr val="0F2A4F"/>
                </a:solidFill>
                <a:latin typeface="Hiragino Sans"/>
                <a:ea typeface="Hiragino Sans"/>
                <a:cs typeface="Hiragino Sans"/>
              </a:rPr>
              <a:t>of PMax 広告主が</a:t>
            </a:r>
          </a:p>
          <a:p>
            <a:pPr algn="l">
              <a:lnSpc>
                <a:spcPct val="140000"/>
              </a:lnSpc>
            </a:pPr>
            <a:r>
              <a:rPr sz="1300" b="1">
                <a:solidFill>
                  <a:srgbClr val="0F2A4F"/>
                </a:solidFill>
                <a:latin typeface="Hiragino Sans"/>
                <a:ea typeface="Hiragino Sans"/>
                <a:cs typeface="Hiragino Sans"/>
              </a:rPr>
              <a:t>既に CTV配信中 (2025-2026)</a:t>
            </a:r>
          </a:p>
        </p:txBody>
      </p:sp>
      <p:sp>
        <p:nvSpPr>
          <p:cNvPr id="21" name="TextBox 20"/>
          <p:cNvSpPr txBox="1"/>
          <p:nvPr/>
        </p:nvSpPr>
        <p:spPr>
          <a:xfrm>
            <a:off x="5760720" y="4023360"/>
            <a:ext cx="6400800" cy="32004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対応デバイス</a:t>
            </a:r>
          </a:p>
        </p:txBody>
      </p:sp>
      <p:sp>
        <p:nvSpPr>
          <p:cNvPr id="22" name="Rounded Rectangle 21"/>
          <p:cNvSpPr/>
          <p:nvPr/>
        </p:nvSpPr>
        <p:spPr>
          <a:xfrm>
            <a:off x="5760720" y="4434840"/>
            <a:ext cx="1828800" cy="45720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60720" y="4553712"/>
            <a:ext cx="1828800" cy="274320"/>
          </a:xfrm>
          <a:prstGeom prst="rect">
            <a:avLst/>
          </a:prstGeom>
          <a:noFill/>
        </p:spPr>
        <p:txBody>
          <a:bodyPr wrap="square" anchor="t" lIns="0" rIns="0" tIns="0" bIns="0">
            <a:spAutoFit/>
          </a:bodyPr>
          <a:lstStyle/>
          <a:p>
            <a:pPr algn="ctr">
              <a:lnSpc>
                <a:spcPct val="115000"/>
              </a:lnSpc>
            </a:pPr>
            <a:r>
              <a:rPr sz="1100" b="1">
                <a:solidFill>
                  <a:srgbClr val="FFFFFF"/>
                </a:solidFill>
                <a:latin typeface="Helvetica Neue"/>
                <a:ea typeface="Helvetica Neue"/>
                <a:cs typeface="Helvetica Neue"/>
              </a:rPr>
              <a:t>Smart TV</a:t>
            </a:r>
          </a:p>
        </p:txBody>
      </p:sp>
      <p:sp>
        <p:nvSpPr>
          <p:cNvPr id="24" name="Rounded Rectangle 23"/>
          <p:cNvSpPr/>
          <p:nvPr/>
        </p:nvSpPr>
        <p:spPr>
          <a:xfrm>
            <a:off x="7726680" y="4434840"/>
            <a:ext cx="1828800" cy="45720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26680" y="4553712"/>
            <a:ext cx="1828800" cy="274320"/>
          </a:xfrm>
          <a:prstGeom prst="rect">
            <a:avLst/>
          </a:prstGeom>
          <a:noFill/>
        </p:spPr>
        <p:txBody>
          <a:bodyPr wrap="square" anchor="t" lIns="0" rIns="0" tIns="0" bIns="0">
            <a:spAutoFit/>
          </a:bodyPr>
          <a:lstStyle/>
          <a:p>
            <a:pPr algn="ctr">
              <a:lnSpc>
                <a:spcPct val="115000"/>
              </a:lnSpc>
            </a:pPr>
            <a:r>
              <a:rPr sz="1100" b="1">
                <a:solidFill>
                  <a:srgbClr val="FFFFFF"/>
                </a:solidFill>
                <a:latin typeface="Helvetica Neue"/>
                <a:ea typeface="Helvetica Neue"/>
                <a:cs typeface="Helvetica Neue"/>
              </a:rPr>
              <a:t>Roku</a:t>
            </a:r>
          </a:p>
        </p:txBody>
      </p:sp>
      <p:sp>
        <p:nvSpPr>
          <p:cNvPr id="26" name="Rounded Rectangle 25"/>
          <p:cNvSpPr/>
          <p:nvPr/>
        </p:nvSpPr>
        <p:spPr>
          <a:xfrm>
            <a:off x="9692640" y="4434840"/>
            <a:ext cx="1828800" cy="45720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92640" y="4553712"/>
            <a:ext cx="1828800" cy="274320"/>
          </a:xfrm>
          <a:prstGeom prst="rect">
            <a:avLst/>
          </a:prstGeom>
          <a:noFill/>
        </p:spPr>
        <p:txBody>
          <a:bodyPr wrap="square" anchor="t" lIns="0" rIns="0" tIns="0" bIns="0">
            <a:spAutoFit/>
          </a:bodyPr>
          <a:lstStyle/>
          <a:p>
            <a:pPr algn="ctr">
              <a:lnSpc>
                <a:spcPct val="115000"/>
              </a:lnSpc>
            </a:pPr>
            <a:r>
              <a:rPr sz="1100" b="1">
                <a:solidFill>
                  <a:srgbClr val="FFFFFF"/>
                </a:solidFill>
                <a:latin typeface="Helvetica Neue"/>
                <a:ea typeface="Helvetica Neue"/>
                <a:cs typeface="Helvetica Neue"/>
              </a:rPr>
              <a:t>Fire TV</a:t>
            </a:r>
          </a:p>
        </p:txBody>
      </p:sp>
      <p:sp>
        <p:nvSpPr>
          <p:cNvPr id="28" name="Rounded Rectangle 27"/>
          <p:cNvSpPr/>
          <p:nvPr/>
        </p:nvSpPr>
        <p:spPr>
          <a:xfrm>
            <a:off x="5760720" y="5029200"/>
            <a:ext cx="1828800" cy="45720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760720" y="5148072"/>
            <a:ext cx="1828800" cy="274320"/>
          </a:xfrm>
          <a:prstGeom prst="rect">
            <a:avLst/>
          </a:prstGeom>
          <a:noFill/>
        </p:spPr>
        <p:txBody>
          <a:bodyPr wrap="square" anchor="t" lIns="0" rIns="0" tIns="0" bIns="0">
            <a:spAutoFit/>
          </a:bodyPr>
          <a:lstStyle/>
          <a:p>
            <a:pPr algn="ctr">
              <a:lnSpc>
                <a:spcPct val="115000"/>
              </a:lnSpc>
            </a:pPr>
            <a:r>
              <a:rPr sz="1100" b="1">
                <a:solidFill>
                  <a:srgbClr val="FFFFFF"/>
                </a:solidFill>
                <a:latin typeface="Helvetica Neue"/>
                <a:ea typeface="Helvetica Neue"/>
                <a:cs typeface="Helvetica Neue"/>
              </a:rPr>
              <a:t>Apple TV</a:t>
            </a:r>
          </a:p>
        </p:txBody>
      </p:sp>
      <p:sp>
        <p:nvSpPr>
          <p:cNvPr id="30" name="Rounded Rectangle 29"/>
          <p:cNvSpPr/>
          <p:nvPr/>
        </p:nvSpPr>
        <p:spPr>
          <a:xfrm>
            <a:off x="7726680" y="5029200"/>
            <a:ext cx="1828800" cy="45720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26680" y="5148072"/>
            <a:ext cx="1828800" cy="274320"/>
          </a:xfrm>
          <a:prstGeom prst="rect">
            <a:avLst/>
          </a:prstGeom>
          <a:noFill/>
        </p:spPr>
        <p:txBody>
          <a:bodyPr wrap="square" anchor="t" lIns="0" rIns="0" tIns="0" bIns="0">
            <a:spAutoFit/>
          </a:bodyPr>
          <a:lstStyle/>
          <a:p>
            <a:pPr algn="ctr">
              <a:lnSpc>
                <a:spcPct val="115000"/>
              </a:lnSpc>
            </a:pPr>
            <a:r>
              <a:rPr sz="1100" b="1">
                <a:solidFill>
                  <a:srgbClr val="FFFFFF"/>
                </a:solidFill>
                <a:latin typeface="Helvetica Neue"/>
                <a:ea typeface="Helvetica Neue"/>
                <a:cs typeface="Helvetica Neue"/>
              </a:rPr>
              <a:t>Chromecast</a:t>
            </a:r>
          </a:p>
        </p:txBody>
      </p:sp>
      <p:sp>
        <p:nvSpPr>
          <p:cNvPr id="32" name="Rounded Rectangle 31"/>
          <p:cNvSpPr/>
          <p:nvPr/>
        </p:nvSpPr>
        <p:spPr>
          <a:xfrm>
            <a:off x="9692640" y="5029200"/>
            <a:ext cx="1828800" cy="45720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692640" y="5148072"/>
            <a:ext cx="1828800" cy="274320"/>
          </a:xfrm>
          <a:prstGeom prst="rect">
            <a:avLst/>
          </a:prstGeom>
          <a:noFill/>
        </p:spPr>
        <p:txBody>
          <a:bodyPr wrap="square" anchor="t" lIns="0" rIns="0" tIns="0" bIns="0">
            <a:spAutoFit/>
          </a:bodyPr>
          <a:lstStyle/>
          <a:p>
            <a:pPr algn="ctr">
              <a:lnSpc>
                <a:spcPct val="115000"/>
              </a:lnSpc>
            </a:pPr>
            <a:r>
              <a:rPr sz="1100" b="1">
                <a:solidFill>
                  <a:srgbClr val="FFFFFF"/>
                </a:solidFill>
                <a:latin typeface="Helvetica Neue"/>
                <a:ea typeface="Helvetica Neue"/>
                <a:cs typeface="Helvetica Neue"/>
              </a:rPr>
              <a:t>Google TV</a:t>
            </a:r>
          </a:p>
        </p:txBody>
      </p:sp>
      <p:sp>
        <p:nvSpPr>
          <p:cNvPr id="34" name="TextBox 33"/>
          <p:cNvSpPr txBox="1"/>
          <p:nvPr/>
        </p:nvSpPr>
        <p:spPr>
          <a:xfrm>
            <a:off x="5760720" y="5943600"/>
            <a:ext cx="6400800" cy="320040"/>
          </a:xfrm>
          <a:prstGeom prst="rect">
            <a:avLst/>
          </a:prstGeom>
          <a:noFill/>
        </p:spPr>
        <p:txBody>
          <a:bodyPr wrap="square" anchor="t" lIns="0" rIns="0" tIns="0" bIns="0">
            <a:spAutoFit/>
          </a:bodyPr>
          <a:lstStyle/>
          <a:p>
            <a:pPr algn="l">
              <a:lnSpc>
                <a:spcPct val="115000"/>
              </a:lnSpc>
            </a:pPr>
            <a:r>
              <a:rPr sz="1100" b="1">
                <a:solidFill>
                  <a:srgbClr val="B85E1A"/>
                </a:solidFill>
                <a:latin typeface="Hiragino Sans"/>
                <a:ea typeface="Hiragino Sans"/>
                <a:cs typeface="Hiragino Sans"/>
              </a:rPr>
              <a:t>💡 副業代行 : Awareness/Branding 案件は CTV配信を提案に組み込み (2026年標準)</a:t>
            </a:r>
          </a:p>
        </p:txBody>
      </p:sp>
      <p:sp>
        <p:nvSpPr>
          <p:cNvPr id="35" name="TextBox 34"/>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 Shoppable CTV Ads (2026/01)</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TVを見ながら商品をブラウズ・購入できる</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P85 / 250</a:t>
            </a:r>
          </a:p>
        </p:txBody>
      </p:sp>
      <p:sp>
        <p:nvSpPr>
          <p:cNvPr id="8" name="Rounded Rectangle 7"/>
          <p:cNvSpPr/>
          <p:nvPr/>
        </p:nvSpPr>
        <p:spPr>
          <a:xfrm>
            <a:off x="548640" y="1371600"/>
            <a:ext cx="11109960" cy="91440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08760"/>
            <a:ext cx="10972800" cy="731520"/>
          </a:xfrm>
          <a:prstGeom prst="rect">
            <a:avLst/>
          </a:prstGeom>
          <a:noFill/>
        </p:spPr>
        <p:txBody>
          <a:bodyPr wrap="square" anchor="t" lIns="0" rIns="0" tIns="0" bIns="0">
            <a:spAutoFit/>
          </a:bodyPr>
          <a:lstStyle/>
          <a:p>
            <a:pPr algn="l">
              <a:lnSpc>
                <a:spcPct val="150000"/>
              </a:lnSpc>
            </a:pPr>
            <a:r>
              <a:rPr sz="1200" b="0">
                <a:solidFill>
                  <a:srgbClr val="FFFFFF"/>
                </a:solidFill>
                <a:latin typeface="Hiragino Sans"/>
                <a:ea typeface="Hiragino Sans"/>
                <a:cs typeface="Hiragino Sans"/>
              </a:rPr>
              <a:t>Demand Gen でTV画面に表示される動画広告に商品カルーセル + QRコードを組み合わせ。</a:t>
            </a:r>
          </a:p>
          <a:p>
            <a:pPr algn="l">
              <a:lnSpc>
                <a:spcPct val="150000"/>
              </a:lnSpc>
            </a:pPr>
            <a:r>
              <a:rPr sz="1200" b="0">
                <a:solidFill>
                  <a:srgbClr val="FFFFFF"/>
                </a:solidFill>
                <a:latin typeface="Hiragino Sans"/>
                <a:ea typeface="Hiragino Sans"/>
                <a:cs typeface="Hiragino Sans"/>
              </a:rPr>
              <a:t>Google Merchant Center の商品データから自動生成、QRで個別商品ページに遷移</a:t>
            </a:r>
          </a:p>
        </p:txBody>
      </p:sp>
      <p:sp>
        <p:nvSpPr>
          <p:cNvPr id="10" name="TextBox 9"/>
          <p:cNvSpPr txBox="1"/>
          <p:nvPr/>
        </p:nvSpPr>
        <p:spPr>
          <a:xfrm>
            <a:off x="548640" y="2423160"/>
            <a:ext cx="1097280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ユーザー体験フロー</a:t>
            </a:r>
          </a:p>
        </p:txBody>
      </p:sp>
      <p:sp>
        <p:nvSpPr>
          <p:cNvPr id="11" name="Rounded Rectangle 10"/>
          <p:cNvSpPr/>
          <p:nvPr/>
        </p:nvSpPr>
        <p:spPr>
          <a:xfrm>
            <a:off x="548640" y="2880360"/>
            <a:ext cx="3611880" cy="219456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880360"/>
            <a:ext cx="3611880" cy="5029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999232"/>
            <a:ext cx="3246120" cy="274320"/>
          </a:xfrm>
          <a:prstGeom prst="rect">
            <a:avLst/>
          </a:prstGeom>
          <a:noFill/>
        </p:spPr>
        <p:txBody>
          <a:bodyPr wrap="square" anchor="t" lIns="0" rIns="0" tIns="0" bIns="0">
            <a:spAutoFit/>
          </a:bodyPr>
          <a:lstStyle/>
          <a:p>
            <a:pPr algn="ctr">
              <a:lnSpc>
                <a:spcPct val="115000"/>
              </a:lnSpc>
            </a:pPr>
            <a:r>
              <a:rPr sz="1200" b="1">
                <a:solidFill>
                  <a:srgbClr val="FFFFFF"/>
                </a:solidFill>
                <a:latin typeface="Helvetica Neue"/>
                <a:ea typeface="Helvetica Neue"/>
                <a:cs typeface="Helvetica Neue"/>
              </a:rPr>
              <a:t>STEP 1</a:t>
            </a:r>
          </a:p>
        </p:txBody>
      </p:sp>
      <p:sp>
        <p:nvSpPr>
          <p:cNvPr id="14" name="TextBox 13"/>
          <p:cNvSpPr txBox="1"/>
          <p:nvPr/>
        </p:nvSpPr>
        <p:spPr>
          <a:xfrm>
            <a:off x="731520" y="3520440"/>
            <a:ext cx="3246120" cy="457200"/>
          </a:xfrm>
          <a:prstGeom prst="rect">
            <a:avLst/>
          </a:prstGeom>
          <a:noFill/>
        </p:spPr>
        <p:txBody>
          <a:bodyPr wrap="square" anchor="t" lIns="0" rIns="0" tIns="0" bIns="0">
            <a:spAutoFit/>
          </a:bodyPr>
          <a:lstStyle/>
          <a:p>
            <a:pPr algn="ctr">
              <a:lnSpc>
                <a:spcPct val="130000"/>
              </a:lnSpc>
            </a:pPr>
            <a:r>
              <a:rPr sz="1400" b="1">
                <a:solidFill>
                  <a:srgbClr val="0F2A4F"/>
                </a:solidFill>
                <a:latin typeface="Hiragino Sans"/>
                <a:ea typeface="Hiragino Sans"/>
                <a:cs typeface="Hiragino Sans"/>
              </a:rPr>
              <a:t>TVで動画広告視聴</a:t>
            </a:r>
          </a:p>
        </p:txBody>
      </p:sp>
      <p:sp>
        <p:nvSpPr>
          <p:cNvPr id="15" name="TextBox 14"/>
          <p:cNvSpPr txBox="1"/>
          <p:nvPr/>
        </p:nvSpPr>
        <p:spPr>
          <a:xfrm>
            <a:off x="731520" y="4069080"/>
            <a:ext cx="3246120" cy="914400"/>
          </a:xfrm>
          <a:prstGeom prst="rect">
            <a:avLst/>
          </a:prstGeom>
          <a:noFill/>
        </p:spPr>
        <p:txBody>
          <a:bodyPr wrap="square" anchor="t" lIns="0" rIns="0" tIns="0" bIns="0">
            <a:spAutoFit/>
          </a:bodyPr>
          <a:lstStyle/>
          <a:p>
            <a:pPr algn="ctr">
              <a:lnSpc>
                <a:spcPct val="150000"/>
              </a:lnSpc>
            </a:pPr>
            <a:r>
              <a:rPr sz="1100" b="0">
                <a:solidFill>
                  <a:srgbClr val="1A1A1A"/>
                </a:solidFill>
                <a:latin typeface="Hiragino Sans"/>
                <a:ea typeface="Hiragino Sans"/>
                <a:cs typeface="Hiragino Sans"/>
              </a:rPr>
              <a:t>YouTube on TVで</a:t>
            </a:r>
          </a:p>
          <a:p>
            <a:pPr algn="ctr">
              <a:lnSpc>
                <a:spcPct val="150000"/>
              </a:lnSpc>
            </a:pPr>
            <a:r>
              <a:rPr sz="1100" b="0">
                <a:solidFill>
                  <a:srgbClr val="1A1A1A"/>
                </a:solidFill>
                <a:latin typeface="Hiragino Sans"/>
                <a:ea typeface="Hiragino Sans"/>
                <a:cs typeface="Hiragino Sans"/>
              </a:rPr>
              <a:t>通常の動画広告が再生</a:t>
            </a:r>
          </a:p>
        </p:txBody>
      </p:sp>
      <p:sp>
        <p:nvSpPr>
          <p:cNvPr id="16" name="Rounded Rectangle 15"/>
          <p:cNvSpPr/>
          <p:nvPr/>
        </p:nvSpPr>
        <p:spPr>
          <a:xfrm>
            <a:off x="4297680" y="2880360"/>
            <a:ext cx="3611880" cy="219456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297680" y="2880360"/>
            <a:ext cx="3611880" cy="5029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80560" y="2999232"/>
            <a:ext cx="3246120" cy="274320"/>
          </a:xfrm>
          <a:prstGeom prst="rect">
            <a:avLst/>
          </a:prstGeom>
          <a:noFill/>
        </p:spPr>
        <p:txBody>
          <a:bodyPr wrap="square" anchor="t" lIns="0" rIns="0" tIns="0" bIns="0">
            <a:spAutoFit/>
          </a:bodyPr>
          <a:lstStyle/>
          <a:p>
            <a:pPr algn="ctr">
              <a:lnSpc>
                <a:spcPct val="115000"/>
              </a:lnSpc>
            </a:pPr>
            <a:r>
              <a:rPr sz="1200" b="1">
                <a:solidFill>
                  <a:srgbClr val="FFFFFF"/>
                </a:solidFill>
                <a:latin typeface="Helvetica Neue"/>
                <a:ea typeface="Helvetica Neue"/>
                <a:cs typeface="Helvetica Neue"/>
              </a:rPr>
              <a:t>STEP 2</a:t>
            </a:r>
          </a:p>
        </p:txBody>
      </p:sp>
      <p:sp>
        <p:nvSpPr>
          <p:cNvPr id="19" name="TextBox 18"/>
          <p:cNvSpPr txBox="1"/>
          <p:nvPr/>
        </p:nvSpPr>
        <p:spPr>
          <a:xfrm>
            <a:off x="4480560" y="3520440"/>
            <a:ext cx="3246120" cy="457200"/>
          </a:xfrm>
          <a:prstGeom prst="rect">
            <a:avLst/>
          </a:prstGeom>
          <a:noFill/>
        </p:spPr>
        <p:txBody>
          <a:bodyPr wrap="square" anchor="t" lIns="0" rIns="0" tIns="0" bIns="0">
            <a:spAutoFit/>
          </a:bodyPr>
          <a:lstStyle/>
          <a:p>
            <a:pPr algn="ctr">
              <a:lnSpc>
                <a:spcPct val="130000"/>
              </a:lnSpc>
            </a:pPr>
            <a:r>
              <a:rPr sz="1400" b="1">
                <a:solidFill>
                  <a:srgbClr val="0F2A4F"/>
                </a:solidFill>
                <a:latin typeface="Hiragino Sans"/>
                <a:ea typeface="Hiragino Sans"/>
                <a:cs typeface="Hiragino Sans"/>
              </a:rPr>
              <a:t>商品カルーセル表示</a:t>
            </a:r>
          </a:p>
        </p:txBody>
      </p:sp>
      <p:sp>
        <p:nvSpPr>
          <p:cNvPr id="20" name="TextBox 19"/>
          <p:cNvSpPr txBox="1"/>
          <p:nvPr/>
        </p:nvSpPr>
        <p:spPr>
          <a:xfrm>
            <a:off x="4480560" y="4069080"/>
            <a:ext cx="3246120" cy="914400"/>
          </a:xfrm>
          <a:prstGeom prst="rect">
            <a:avLst/>
          </a:prstGeom>
          <a:noFill/>
        </p:spPr>
        <p:txBody>
          <a:bodyPr wrap="square" anchor="t" lIns="0" rIns="0" tIns="0" bIns="0">
            <a:spAutoFit/>
          </a:bodyPr>
          <a:lstStyle/>
          <a:p>
            <a:pPr algn="ctr">
              <a:lnSpc>
                <a:spcPct val="150000"/>
              </a:lnSpc>
            </a:pPr>
            <a:r>
              <a:rPr sz="1100" b="0">
                <a:solidFill>
                  <a:srgbClr val="1A1A1A"/>
                </a:solidFill>
                <a:latin typeface="Hiragino Sans"/>
                <a:ea typeface="Hiragino Sans"/>
                <a:cs typeface="Hiragino Sans"/>
              </a:rPr>
              <a:t>動画下部に商品画像 + 価格</a:t>
            </a:r>
          </a:p>
          <a:p>
            <a:pPr algn="ctr">
              <a:lnSpc>
                <a:spcPct val="150000"/>
              </a:lnSpc>
            </a:pPr>
            <a:r>
              <a:rPr sz="1100" b="0">
                <a:solidFill>
                  <a:srgbClr val="1A1A1A"/>
                </a:solidFill>
                <a:latin typeface="Hiragino Sans"/>
                <a:ea typeface="Hiragino Sans"/>
                <a:cs typeface="Hiragino Sans"/>
              </a:rPr>
              <a:t>が横スクロールで表示</a:t>
            </a:r>
          </a:p>
        </p:txBody>
      </p:sp>
      <p:sp>
        <p:nvSpPr>
          <p:cNvPr id="21" name="Rounded Rectangle 20"/>
          <p:cNvSpPr/>
          <p:nvPr/>
        </p:nvSpPr>
        <p:spPr>
          <a:xfrm>
            <a:off x="8046720" y="2880360"/>
            <a:ext cx="3611880" cy="219456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46720" y="2880360"/>
            <a:ext cx="3611880" cy="5029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0" y="2999232"/>
            <a:ext cx="3246120" cy="274320"/>
          </a:xfrm>
          <a:prstGeom prst="rect">
            <a:avLst/>
          </a:prstGeom>
          <a:noFill/>
        </p:spPr>
        <p:txBody>
          <a:bodyPr wrap="square" anchor="t" lIns="0" rIns="0" tIns="0" bIns="0">
            <a:spAutoFit/>
          </a:bodyPr>
          <a:lstStyle/>
          <a:p>
            <a:pPr algn="ctr">
              <a:lnSpc>
                <a:spcPct val="115000"/>
              </a:lnSpc>
            </a:pPr>
            <a:r>
              <a:rPr sz="1200" b="1">
                <a:solidFill>
                  <a:srgbClr val="FFFFFF"/>
                </a:solidFill>
                <a:latin typeface="Helvetica Neue"/>
                <a:ea typeface="Helvetica Neue"/>
                <a:cs typeface="Helvetica Neue"/>
              </a:rPr>
              <a:t>STEP 3</a:t>
            </a:r>
          </a:p>
        </p:txBody>
      </p:sp>
      <p:sp>
        <p:nvSpPr>
          <p:cNvPr id="24" name="TextBox 23"/>
          <p:cNvSpPr txBox="1"/>
          <p:nvPr/>
        </p:nvSpPr>
        <p:spPr>
          <a:xfrm>
            <a:off x="8229600" y="3520440"/>
            <a:ext cx="3246120" cy="457200"/>
          </a:xfrm>
          <a:prstGeom prst="rect">
            <a:avLst/>
          </a:prstGeom>
          <a:noFill/>
        </p:spPr>
        <p:txBody>
          <a:bodyPr wrap="square" anchor="t" lIns="0" rIns="0" tIns="0" bIns="0">
            <a:spAutoFit/>
          </a:bodyPr>
          <a:lstStyle/>
          <a:p>
            <a:pPr algn="ctr">
              <a:lnSpc>
                <a:spcPct val="130000"/>
              </a:lnSpc>
            </a:pPr>
            <a:r>
              <a:rPr sz="1400" b="1">
                <a:solidFill>
                  <a:srgbClr val="0F2A4F"/>
                </a:solidFill>
                <a:latin typeface="Hiragino Sans"/>
                <a:ea typeface="Hiragino Sans"/>
                <a:cs typeface="Hiragino Sans"/>
              </a:rPr>
              <a:t>QRスキャン → 購入</a:t>
            </a:r>
          </a:p>
        </p:txBody>
      </p:sp>
      <p:sp>
        <p:nvSpPr>
          <p:cNvPr id="25" name="TextBox 24"/>
          <p:cNvSpPr txBox="1"/>
          <p:nvPr/>
        </p:nvSpPr>
        <p:spPr>
          <a:xfrm>
            <a:off x="8229600" y="4069080"/>
            <a:ext cx="3246120" cy="914400"/>
          </a:xfrm>
          <a:prstGeom prst="rect">
            <a:avLst/>
          </a:prstGeom>
          <a:noFill/>
        </p:spPr>
        <p:txBody>
          <a:bodyPr wrap="square" anchor="t" lIns="0" rIns="0" tIns="0" bIns="0">
            <a:spAutoFit/>
          </a:bodyPr>
          <a:lstStyle/>
          <a:p>
            <a:pPr algn="ctr">
              <a:lnSpc>
                <a:spcPct val="150000"/>
              </a:lnSpc>
            </a:pPr>
            <a:r>
              <a:rPr sz="1100" b="0">
                <a:solidFill>
                  <a:srgbClr val="1A1A1A"/>
                </a:solidFill>
                <a:latin typeface="Hiragino Sans"/>
                <a:ea typeface="Hiragino Sans"/>
                <a:cs typeface="Hiragino Sans"/>
              </a:rPr>
              <a:t>スマホでQR読取 →</a:t>
            </a:r>
          </a:p>
          <a:p>
            <a:pPr algn="ctr">
              <a:lnSpc>
                <a:spcPct val="150000"/>
              </a:lnSpc>
            </a:pPr>
            <a:r>
              <a:rPr sz="1100" b="0">
                <a:solidFill>
                  <a:srgbClr val="1A1A1A"/>
                </a:solidFill>
                <a:latin typeface="Hiragino Sans"/>
                <a:ea typeface="Hiragino Sans"/>
                <a:cs typeface="Hiragino Sans"/>
              </a:rPr>
              <a:t>商品ページへ直遷移</a:t>
            </a:r>
          </a:p>
        </p:txBody>
      </p:sp>
      <p:sp>
        <p:nvSpPr>
          <p:cNvPr id="26" name="Rounded Rectangle 25"/>
          <p:cNvSpPr/>
          <p:nvPr/>
        </p:nvSpPr>
        <p:spPr>
          <a:xfrm>
            <a:off x="548640" y="5257800"/>
            <a:ext cx="11109960" cy="109728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5349240"/>
            <a:ext cx="100584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 副業代行で実装するために必要なもの</a:t>
            </a:r>
          </a:p>
        </p:txBody>
      </p:sp>
      <p:sp>
        <p:nvSpPr>
          <p:cNvPr id="28" name="TextBox 27"/>
          <p:cNvSpPr txBox="1"/>
          <p:nvPr/>
        </p:nvSpPr>
        <p:spPr>
          <a:xfrm>
            <a:off x="777240" y="5669280"/>
            <a:ext cx="10972800" cy="640080"/>
          </a:xfrm>
          <a:prstGeom prst="rect">
            <a:avLst/>
          </a:prstGeom>
          <a:noFill/>
        </p:spPr>
        <p:txBody>
          <a:bodyPr wrap="square" anchor="t" lIns="0" rIns="0" tIns="0" bIns="0">
            <a:spAutoFit/>
          </a:bodyPr>
          <a:lstStyle/>
          <a:p>
            <a:pPr algn="l">
              <a:lnSpc>
                <a:spcPct val="155000"/>
              </a:lnSpc>
            </a:pPr>
            <a:r>
              <a:rPr sz="1100" b="0">
                <a:solidFill>
                  <a:srgbClr val="1A1A1A"/>
                </a:solidFill>
                <a:latin typeface="Hiragino Sans"/>
                <a:ea typeface="Hiragino Sans"/>
                <a:cs typeface="Hiragino Sans"/>
              </a:rPr>
              <a:t>• Google Merchant Center 商品データフィード (Shopify/WooCommerce/EC-CUBE 連携可)</a:t>
            </a:r>
          </a:p>
          <a:p>
            <a:pPr algn="l">
              <a:lnSpc>
                <a:spcPct val="155000"/>
              </a:lnSpc>
            </a:pPr>
            <a:r>
              <a:rPr sz="1100" b="0">
                <a:solidFill>
                  <a:srgbClr val="1A1A1A"/>
                </a:solidFill>
                <a:latin typeface="Hiragino Sans"/>
                <a:ea typeface="Hiragino Sans"/>
                <a:cs typeface="Hiragino Sans"/>
              </a:rPr>
              <a:t>• Demand Gen キャンペーン (CTV配信ON)</a:t>
            </a:r>
          </a:p>
          <a:p>
            <a:pPr algn="l">
              <a:lnSpc>
                <a:spcPct val="155000"/>
              </a:lnSpc>
            </a:pPr>
            <a:r>
              <a:rPr sz="1100" b="0">
                <a:solidFill>
                  <a:srgbClr val="1A1A1A"/>
                </a:solidFill>
                <a:latin typeface="Hiragino Sans"/>
                <a:ea typeface="Hiragino Sans"/>
                <a:cs typeface="Hiragino Sans"/>
              </a:rPr>
              <a:t>• 動画クリエイティブ + 商品リンクURL</a:t>
            </a:r>
          </a:p>
        </p:txBody>
      </p:sp>
      <p:sp>
        <p:nvSpPr>
          <p:cNvPr id="29" name="TextBox 28"/>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BrandConnect / Creator Partnerships</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クリエイター連携で広告を発信する仕組み</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P86 / 250</a:t>
            </a:r>
          </a:p>
        </p:txBody>
      </p:sp>
      <p:sp>
        <p:nvSpPr>
          <p:cNvPr id="8" name="Rounded Rectangle 7"/>
          <p:cNvSpPr/>
          <p:nvPr/>
        </p:nvSpPr>
        <p:spPr>
          <a:xfrm>
            <a:off x="548640" y="1371600"/>
            <a:ext cx="11109960" cy="914400"/>
          </a:xfrm>
          <a:prstGeom prst="roundRect">
            <a:avLst>
              <a:gd name="adj" fmla="val 6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08760"/>
            <a:ext cx="10972800" cy="731520"/>
          </a:xfrm>
          <a:prstGeom prst="rect">
            <a:avLst/>
          </a:prstGeom>
          <a:noFill/>
        </p:spPr>
        <p:txBody>
          <a:bodyPr wrap="square" anchor="t" lIns="0" rIns="0" tIns="0" bIns="0">
            <a:spAutoFit/>
          </a:bodyPr>
          <a:lstStyle/>
          <a:p>
            <a:pPr algn="l">
              <a:lnSpc>
                <a:spcPct val="150000"/>
              </a:lnSpc>
            </a:pPr>
            <a:r>
              <a:rPr sz="1200" b="0">
                <a:solidFill>
                  <a:srgbClr val="1A1A1A"/>
                </a:solidFill>
                <a:latin typeface="Hiragino Sans"/>
                <a:ea typeface="Hiragino Sans"/>
                <a:cs typeface="Hiragino Sans"/>
              </a:rPr>
              <a:t>YouTube BrandConnect : 広告主とクリエイターをマッチングし、ブランド統合動画を制作・配信。</a:t>
            </a:r>
          </a:p>
          <a:p>
            <a:pPr algn="l">
              <a:lnSpc>
                <a:spcPct val="150000"/>
              </a:lnSpc>
            </a:pPr>
            <a:r>
              <a:rPr sz="1200" b="0">
                <a:solidFill>
                  <a:srgbClr val="1A1A1A"/>
                </a:solidFill>
                <a:latin typeface="Hiragino Sans"/>
                <a:ea typeface="Hiragino Sans"/>
                <a:cs typeface="Hiragino Sans"/>
              </a:rPr>
              <a:t>Creator Partnerships : 既存のクリエイター動画を広告フォーマット (Sponsored Video) に活用</a:t>
            </a:r>
          </a:p>
        </p:txBody>
      </p:sp>
      <p:sp>
        <p:nvSpPr>
          <p:cNvPr id="10" name="Rounded Rectangle 9"/>
          <p:cNvSpPr/>
          <p:nvPr/>
        </p:nvSpPr>
        <p:spPr>
          <a:xfrm>
            <a:off x="548640" y="2423160"/>
            <a:ext cx="5486400" cy="29260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423160"/>
            <a:ext cx="548640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2587752"/>
            <a:ext cx="4937760" cy="411480"/>
          </a:xfrm>
          <a:prstGeom prst="rect">
            <a:avLst/>
          </a:prstGeom>
          <a:noFill/>
        </p:spPr>
        <p:txBody>
          <a:bodyPr wrap="square" anchor="t" lIns="0" rIns="0" tIns="0" bIns="0">
            <a:spAutoFit/>
          </a:bodyPr>
          <a:lstStyle/>
          <a:p>
            <a:pPr algn="l">
              <a:lnSpc>
                <a:spcPct val="115000"/>
              </a:lnSpc>
            </a:pPr>
            <a:r>
              <a:rPr sz="1800" b="1">
                <a:solidFill>
                  <a:srgbClr val="FFFFFF"/>
                </a:solidFill>
                <a:latin typeface="Hiragino Sans"/>
                <a:ea typeface="Hiragino Sans"/>
                <a:cs typeface="Hiragino Sans"/>
              </a:rPr>
              <a:t>BrandConnect</a:t>
            </a:r>
          </a:p>
        </p:txBody>
      </p:sp>
      <p:sp>
        <p:nvSpPr>
          <p:cNvPr id="13" name="TextBox 12"/>
          <p:cNvSpPr txBox="1"/>
          <p:nvPr/>
        </p:nvSpPr>
        <p:spPr>
          <a:xfrm>
            <a:off x="822960" y="2971800"/>
            <a:ext cx="4937760" cy="27432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ブランド統合動画</a:t>
            </a:r>
          </a:p>
        </p:txBody>
      </p:sp>
      <p:sp>
        <p:nvSpPr>
          <p:cNvPr id="14" name="TextBox 13"/>
          <p:cNvSpPr txBox="1"/>
          <p:nvPr/>
        </p:nvSpPr>
        <p:spPr>
          <a:xfrm>
            <a:off x="822960" y="3429000"/>
            <a:ext cx="4937760" cy="137160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Google公式マッチングプログラム</a:t>
            </a:r>
          </a:p>
          <a:p>
            <a:pPr algn="l">
              <a:lnSpc>
                <a:spcPct val="150000"/>
              </a:lnSpc>
            </a:pPr>
            <a:r>
              <a:rPr sz="1100" b="0">
                <a:solidFill>
                  <a:srgbClr val="1A1A1A"/>
                </a:solidFill>
                <a:latin typeface="Hiragino Sans"/>
                <a:ea typeface="Hiragino Sans"/>
                <a:cs typeface="Hiragino Sans"/>
              </a:rPr>
              <a:t>ブリーフ提出 → クリエイター提案</a:t>
            </a:r>
          </a:p>
          <a:p>
            <a:pPr algn="l">
              <a:lnSpc>
                <a:spcPct val="150000"/>
              </a:lnSpc>
            </a:pPr>
            <a:r>
              <a:rPr sz="1100" b="0">
                <a:solidFill>
                  <a:srgbClr val="1A1A1A"/>
                </a:solidFill>
                <a:latin typeface="Hiragino Sans"/>
                <a:ea typeface="Hiragino Sans"/>
                <a:cs typeface="Hiragino Sans"/>
              </a:rPr>
              <a:t>広告主が選定 → 動画制作 → 配信</a:t>
            </a:r>
          </a:p>
        </p:txBody>
      </p:sp>
      <p:sp>
        <p:nvSpPr>
          <p:cNvPr id="15" name="Rectangle 14"/>
          <p:cNvSpPr/>
          <p:nvPr/>
        </p:nvSpPr>
        <p:spPr>
          <a:xfrm>
            <a:off x="822960" y="4754880"/>
            <a:ext cx="493776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892040"/>
            <a:ext cx="4937760" cy="457200"/>
          </a:xfrm>
          <a:prstGeom prst="rect">
            <a:avLst/>
          </a:prstGeom>
          <a:noFill/>
        </p:spPr>
        <p:txBody>
          <a:bodyPr wrap="square" anchor="t" lIns="0" rIns="0" tIns="0" bIns="0">
            <a:spAutoFit/>
          </a:bodyPr>
          <a:lstStyle/>
          <a:p>
            <a:pPr algn="l">
              <a:lnSpc>
                <a:spcPct val="140000"/>
              </a:lnSpc>
            </a:pPr>
            <a:r>
              <a:rPr sz="1000" b="0">
                <a:solidFill>
                  <a:srgbClr val="B85E1A"/>
                </a:solidFill>
                <a:latin typeface="Hiragino Sans"/>
                <a:ea typeface="Hiragino Sans"/>
                <a:cs typeface="Hiragino Sans"/>
              </a:rPr>
              <a:t>事例: 大手ブランド・マーケットリーダー</a:t>
            </a:r>
          </a:p>
        </p:txBody>
      </p:sp>
      <p:sp>
        <p:nvSpPr>
          <p:cNvPr id="17" name="Rounded Rectangle 16"/>
          <p:cNvSpPr/>
          <p:nvPr/>
        </p:nvSpPr>
        <p:spPr>
          <a:xfrm>
            <a:off x="6172200" y="2423160"/>
            <a:ext cx="5486400" cy="29260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72200" y="2423160"/>
            <a:ext cx="548640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6520" y="2587752"/>
            <a:ext cx="4937760" cy="411480"/>
          </a:xfrm>
          <a:prstGeom prst="rect">
            <a:avLst/>
          </a:prstGeom>
          <a:noFill/>
        </p:spPr>
        <p:txBody>
          <a:bodyPr wrap="square" anchor="t" lIns="0" rIns="0" tIns="0" bIns="0">
            <a:spAutoFit/>
          </a:bodyPr>
          <a:lstStyle/>
          <a:p>
            <a:pPr algn="l">
              <a:lnSpc>
                <a:spcPct val="115000"/>
              </a:lnSpc>
            </a:pPr>
            <a:r>
              <a:rPr sz="1800" b="1">
                <a:solidFill>
                  <a:srgbClr val="FFFFFF"/>
                </a:solidFill>
                <a:latin typeface="Hiragino Sans"/>
                <a:ea typeface="Hiragino Sans"/>
                <a:cs typeface="Hiragino Sans"/>
              </a:rPr>
              <a:t>Creator Partnerships</a:t>
            </a:r>
          </a:p>
        </p:txBody>
      </p:sp>
      <p:sp>
        <p:nvSpPr>
          <p:cNvPr id="20" name="TextBox 19"/>
          <p:cNvSpPr txBox="1"/>
          <p:nvPr/>
        </p:nvSpPr>
        <p:spPr>
          <a:xfrm>
            <a:off x="6446520" y="2971800"/>
            <a:ext cx="4937760" cy="27432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既存動画の広告活用</a:t>
            </a:r>
          </a:p>
        </p:txBody>
      </p:sp>
      <p:sp>
        <p:nvSpPr>
          <p:cNvPr id="21" name="TextBox 20"/>
          <p:cNvSpPr txBox="1"/>
          <p:nvPr/>
        </p:nvSpPr>
        <p:spPr>
          <a:xfrm>
            <a:off x="6446520" y="3429000"/>
            <a:ext cx="4937760" cy="137160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クリエイターが投稿済の動画を</a:t>
            </a:r>
          </a:p>
          <a:p>
            <a:pPr algn="l">
              <a:lnSpc>
                <a:spcPct val="150000"/>
              </a:lnSpc>
            </a:pPr>
            <a:r>
              <a:rPr sz="1100" b="0">
                <a:solidFill>
                  <a:srgbClr val="1A1A1A"/>
                </a:solidFill>
                <a:latin typeface="Hiragino Sans"/>
                <a:ea typeface="Hiragino Sans"/>
                <a:cs typeface="Hiragino Sans"/>
              </a:rPr>
              <a:t>広告として配信 (Sponsored Video)</a:t>
            </a:r>
          </a:p>
          <a:p>
            <a:pPr algn="l">
              <a:lnSpc>
                <a:spcPct val="150000"/>
              </a:lnSpc>
            </a:pPr>
            <a:r>
              <a:rPr sz="1100" b="0">
                <a:solidFill>
                  <a:srgbClr val="1A1A1A"/>
                </a:solidFill>
                <a:latin typeface="Hiragino Sans"/>
                <a:ea typeface="Hiragino Sans"/>
                <a:cs typeface="Hiragino Sans"/>
              </a:rPr>
              <a:t>広告主とクリエイターの直接契約</a:t>
            </a:r>
          </a:p>
        </p:txBody>
      </p:sp>
      <p:sp>
        <p:nvSpPr>
          <p:cNvPr id="22" name="Rectangle 21"/>
          <p:cNvSpPr/>
          <p:nvPr/>
        </p:nvSpPr>
        <p:spPr>
          <a:xfrm>
            <a:off x="6446520" y="4754880"/>
            <a:ext cx="493776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46520" y="4892040"/>
            <a:ext cx="4937760" cy="457200"/>
          </a:xfrm>
          <a:prstGeom prst="rect">
            <a:avLst/>
          </a:prstGeom>
          <a:noFill/>
        </p:spPr>
        <p:txBody>
          <a:bodyPr wrap="square" anchor="t" lIns="0" rIns="0" tIns="0" bIns="0">
            <a:spAutoFit/>
          </a:bodyPr>
          <a:lstStyle/>
          <a:p>
            <a:pPr algn="l">
              <a:lnSpc>
                <a:spcPct val="140000"/>
              </a:lnSpc>
            </a:pPr>
            <a:r>
              <a:rPr sz="1000" b="0">
                <a:solidFill>
                  <a:srgbClr val="B85E1A"/>
                </a:solidFill>
                <a:latin typeface="Hiragino Sans"/>
                <a:ea typeface="Hiragino Sans"/>
                <a:cs typeface="Hiragino Sans"/>
              </a:rPr>
              <a:t>事例: D2Cブランド・アパレル・コスメ</a:t>
            </a:r>
          </a:p>
        </p:txBody>
      </p:sp>
      <p:sp>
        <p:nvSpPr>
          <p:cNvPr id="24" name="TextBox 23"/>
          <p:cNvSpPr txBox="1"/>
          <p:nvPr/>
        </p:nvSpPr>
        <p:spPr>
          <a:xfrm>
            <a:off x="548640" y="5532120"/>
            <a:ext cx="10972800" cy="274320"/>
          </a:xfrm>
          <a:prstGeom prst="rect">
            <a:avLst/>
          </a:prstGeom>
          <a:noFill/>
        </p:spPr>
        <p:txBody>
          <a:bodyPr wrap="square" anchor="t" lIns="0" rIns="0" tIns="0" bIns="0">
            <a:spAutoFit/>
          </a:bodyPr>
          <a:lstStyle/>
          <a:p>
            <a:pPr algn="l">
              <a:lnSpc>
                <a:spcPct val="115000"/>
              </a:lnSpc>
            </a:pPr>
            <a:r>
              <a:rPr sz="1000" b="0">
                <a:solidFill>
                  <a:srgbClr val="5A6A80"/>
                </a:solidFill>
                <a:latin typeface="Hiragino Sans"/>
                <a:ea typeface="Hiragino Sans"/>
                <a:cs typeface="Hiragino Sans"/>
              </a:rPr>
              <a:t>💡 中小予算 (月50万円以下) には Creator Partnerships が現実的。Google公式 BrandConnect は大型予算向き</a:t>
            </a:r>
          </a:p>
        </p:txBody>
      </p:sp>
      <p:sp>
        <p:nvSpPr>
          <p:cNvPr id="25" name="TextBox 24"/>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YouTube 計測 : Brand Lift / Search Lift / Conversion</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認知系も含めて効果を可視化する</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P87 / 250</a:t>
            </a:r>
          </a:p>
        </p:txBody>
      </p:sp>
      <p:sp>
        <p:nvSpPr>
          <p:cNvPr id="8" name="Rounded Rectangle 7"/>
          <p:cNvSpPr/>
          <p:nvPr/>
        </p:nvSpPr>
        <p:spPr>
          <a:xfrm>
            <a:off x="548640" y="1417320"/>
            <a:ext cx="2697480" cy="2286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2697480" cy="13716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691640"/>
            <a:ext cx="2331720" cy="640080"/>
          </a:xfrm>
          <a:prstGeom prst="rect">
            <a:avLst/>
          </a:prstGeom>
          <a:noFill/>
        </p:spPr>
        <p:txBody>
          <a:bodyPr wrap="square" anchor="t" lIns="0" rIns="0" tIns="0" bIns="0">
            <a:spAutoFit/>
          </a:bodyPr>
          <a:lstStyle/>
          <a:p>
            <a:pPr algn="ctr">
              <a:lnSpc>
                <a:spcPct val="125000"/>
              </a:lnSpc>
            </a:pPr>
            <a:r>
              <a:rPr sz="1400" b="1">
                <a:solidFill>
                  <a:srgbClr val="0F2A4F"/>
                </a:solidFill>
                <a:latin typeface="Hiragino Sans"/>
                <a:ea typeface="Hiragino Sans"/>
                <a:cs typeface="Hiragino Sans"/>
              </a:rPr>
              <a:t>Brand Lift Study</a:t>
            </a:r>
          </a:p>
        </p:txBody>
      </p:sp>
      <p:sp>
        <p:nvSpPr>
          <p:cNvPr id="11" name="TextBox 10"/>
          <p:cNvSpPr txBox="1"/>
          <p:nvPr/>
        </p:nvSpPr>
        <p:spPr>
          <a:xfrm>
            <a:off x="731520" y="2377440"/>
            <a:ext cx="2331720" cy="365760"/>
          </a:xfrm>
          <a:prstGeom prst="rect">
            <a:avLst/>
          </a:prstGeom>
          <a:noFill/>
        </p:spPr>
        <p:txBody>
          <a:bodyPr wrap="square" anchor="t" lIns="0" rIns="0" tIns="0" bIns="0">
            <a:spAutoFit/>
          </a:bodyPr>
          <a:lstStyle/>
          <a:p>
            <a:pPr algn="ctr">
              <a:lnSpc>
                <a:spcPct val="130000"/>
              </a:lnSpc>
            </a:pPr>
            <a:r>
              <a:rPr sz="1100" b="1">
                <a:solidFill>
                  <a:srgbClr val="B85E1A"/>
                </a:solidFill>
                <a:latin typeface="Hiragino Sans"/>
                <a:ea typeface="Hiragino Sans"/>
                <a:cs typeface="Hiragino Sans"/>
              </a:rPr>
              <a:t>認知・想起・購入意向</a:t>
            </a:r>
          </a:p>
        </p:txBody>
      </p:sp>
      <p:sp>
        <p:nvSpPr>
          <p:cNvPr id="12" name="TextBox 11"/>
          <p:cNvSpPr txBox="1"/>
          <p:nvPr/>
        </p:nvSpPr>
        <p:spPr>
          <a:xfrm>
            <a:off x="731520" y="2834640"/>
            <a:ext cx="2331720" cy="777240"/>
          </a:xfrm>
          <a:prstGeom prst="rect">
            <a:avLst/>
          </a:prstGeom>
          <a:noFill/>
        </p:spPr>
        <p:txBody>
          <a:bodyPr wrap="square" anchor="t" lIns="0" rIns="0" tIns="0" bIns="0">
            <a:spAutoFit/>
          </a:bodyPr>
          <a:lstStyle/>
          <a:p>
            <a:pPr algn="ctr">
              <a:lnSpc>
                <a:spcPct val="150000"/>
              </a:lnSpc>
            </a:pPr>
            <a:r>
              <a:rPr sz="1000" b="0">
                <a:solidFill>
                  <a:srgbClr val="1A1A1A"/>
                </a:solidFill>
                <a:latin typeface="Hiragino Sans"/>
                <a:ea typeface="Hiragino Sans"/>
                <a:cs typeface="Hiragino Sans"/>
              </a:rPr>
              <a:t>TestとControl群へポーリング配信。</a:t>
            </a:r>
          </a:p>
          <a:p>
            <a:pPr algn="ctr">
              <a:lnSpc>
                <a:spcPct val="150000"/>
              </a:lnSpc>
            </a:pPr>
            <a:r>
              <a:rPr sz="1000" b="0">
                <a:solidFill>
                  <a:srgbClr val="1A1A1A"/>
                </a:solidFill>
                <a:latin typeface="Hiragino Sans"/>
                <a:ea typeface="Hiragino Sans"/>
                <a:cs typeface="Hiragino Sans"/>
              </a:rPr>
              <a:t>4指標で定量化</a:t>
            </a:r>
          </a:p>
        </p:txBody>
      </p:sp>
      <p:sp>
        <p:nvSpPr>
          <p:cNvPr id="13" name="Rounded Rectangle 12"/>
          <p:cNvSpPr/>
          <p:nvPr/>
        </p:nvSpPr>
        <p:spPr>
          <a:xfrm>
            <a:off x="3337560" y="1417320"/>
            <a:ext cx="2697480" cy="2286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37560" y="1417320"/>
            <a:ext cx="2697480" cy="13716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20440" y="1691640"/>
            <a:ext cx="2331720" cy="640080"/>
          </a:xfrm>
          <a:prstGeom prst="rect">
            <a:avLst/>
          </a:prstGeom>
          <a:noFill/>
        </p:spPr>
        <p:txBody>
          <a:bodyPr wrap="square" anchor="t" lIns="0" rIns="0" tIns="0" bIns="0">
            <a:spAutoFit/>
          </a:bodyPr>
          <a:lstStyle/>
          <a:p>
            <a:pPr algn="ctr">
              <a:lnSpc>
                <a:spcPct val="125000"/>
              </a:lnSpc>
            </a:pPr>
            <a:r>
              <a:rPr sz="1400" b="1">
                <a:solidFill>
                  <a:srgbClr val="0F2A4F"/>
                </a:solidFill>
                <a:latin typeface="Hiragino Sans"/>
                <a:ea typeface="Hiragino Sans"/>
                <a:cs typeface="Hiragino Sans"/>
              </a:rPr>
              <a:t>Search Lift</a:t>
            </a:r>
          </a:p>
        </p:txBody>
      </p:sp>
      <p:sp>
        <p:nvSpPr>
          <p:cNvPr id="16" name="TextBox 15"/>
          <p:cNvSpPr txBox="1"/>
          <p:nvPr/>
        </p:nvSpPr>
        <p:spPr>
          <a:xfrm>
            <a:off x="3520440" y="2377440"/>
            <a:ext cx="2331720" cy="365760"/>
          </a:xfrm>
          <a:prstGeom prst="rect">
            <a:avLst/>
          </a:prstGeom>
          <a:noFill/>
        </p:spPr>
        <p:txBody>
          <a:bodyPr wrap="square" anchor="t" lIns="0" rIns="0" tIns="0" bIns="0">
            <a:spAutoFit/>
          </a:bodyPr>
          <a:lstStyle/>
          <a:p>
            <a:pPr algn="ctr">
              <a:lnSpc>
                <a:spcPct val="130000"/>
              </a:lnSpc>
            </a:pPr>
            <a:r>
              <a:rPr sz="1100" b="1">
                <a:solidFill>
                  <a:srgbClr val="B85E1A"/>
                </a:solidFill>
                <a:latin typeface="Hiragino Sans"/>
                <a:ea typeface="Hiragino Sans"/>
                <a:cs typeface="Hiragino Sans"/>
              </a:rPr>
              <a:t>ブランド検索数の上昇</a:t>
            </a:r>
          </a:p>
        </p:txBody>
      </p:sp>
      <p:sp>
        <p:nvSpPr>
          <p:cNvPr id="17" name="TextBox 16"/>
          <p:cNvSpPr txBox="1"/>
          <p:nvPr/>
        </p:nvSpPr>
        <p:spPr>
          <a:xfrm>
            <a:off x="3520440" y="2834640"/>
            <a:ext cx="2331720" cy="777240"/>
          </a:xfrm>
          <a:prstGeom prst="rect">
            <a:avLst/>
          </a:prstGeom>
          <a:noFill/>
        </p:spPr>
        <p:txBody>
          <a:bodyPr wrap="square" anchor="t" lIns="0" rIns="0" tIns="0" bIns="0">
            <a:spAutoFit/>
          </a:bodyPr>
          <a:lstStyle/>
          <a:p>
            <a:pPr algn="ctr">
              <a:lnSpc>
                <a:spcPct val="150000"/>
              </a:lnSpc>
            </a:pPr>
            <a:r>
              <a:rPr sz="1000" b="0">
                <a:solidFill>
                  <a:srgbClr val="1A1A1A"/>
                </a:solidFill>
                <a:latin typeface="Hiragino Sans"/>
                <a:ea typeface="Hiragino Sans"/>
                <a:cs typeface="Hiragino Sans"/>
              </a:rPr>
              <a:t>広告接触群と非接触群で</a:t>
            </a:r>
          </a:p>
          <a:p>
            <a:pPr algn="ctr">
              <a:lnSpc>
                <a:spcPct val="150000"/>
              </a:lnSpc>
            </a:pPr>
            <a:r>
              <a:rPr sz="1000" b="0">
                <a:solidFill>
                  <a:srgbClr val="1A1A1A"/>
                </a:solidFill>
                <a:latin typeface="Hiragino Sans"/>
                <a:ea typeface="Hiragino Sans"/>
                <a:cs typeface="Hiragino Sans"/>
              </a:rPr>
              <a:t>ブランド名検索数を比較</a:t>
            </a:r>
          </a:p>
        </p:txBody>
      </p:sp>
      <p:sp>
        <p:nvSpPr>
          <p:cNvPr id="18" name="Rounded Rectangle 17"/>
          <p:cNvSpPr/>
          <p:nvPr/>
        </p:nvSpPr>
        <p:spPr>
          <a:xfrm>
            <a:off x="6126480" y="1417320"/>
            <a:ext cx="2697480" cy="2286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0" y="1417320"/>
            <a:ext cx="2697480" cy="13716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1691640"/>
            <a:ext cx="2331720" cy="640080"/>
          </a:xfrm>
          <a:prstGeom prst="rect">
            <a:avLst/>
          </a:prstGeom>
          <a:noFill/>
        </p:spPr>
        <p:txBody>
          <a:bodyPr wrap="square" anchor="t" lIns="0" rIns="0" tIns="0" bIns="0">
            <a:spAutoFit/>
          </a:bodyPr>
          <a:lstStyle/>
          <a:p>
            <a:pPr algn="ctr">
              <a:lnSpc>
                <a:spcPct val="125000"/>
              </a:lnSpc>
            </a:pPr>
            <a:r>
              <a:rPr sz="1400" b="1">
                <a:solidFill>
                  <a:srgbClr val="0F2A4F"/>
                </a:solidFill>
                <a:latin typeface="Hiragino Sans"/>
                <a:ea typeface="Hiragino Sans"/>
                <a:cs typeface="Hiragino Sans"/>
              </a:rPr>
              <a:t>Conversion (DDA)</a:t>
            </a:r>
          </a:p>
        </p:txBody>
      </p:sp>
      <p:sp>
        <p:nvSpPr>
          <p:cNvPr id="21" name="TextBox 20"/>
          <p:cNvSpPr txBox="1"/>
          <p:nvPr/>
        </p:nvSpPr>
        <p:spPr>
          <a:xfrm>
            <a:off x="6309360" y="2377440"/>
            <a:ext cx="2331720" cy="365760"/>
          </a:xfrm>
          <a:prstGeom prst="rect">
            <a:avLst/>
          </a:prstGeom>
          <a:noFill/>
        </p:spPr>
        <p:txBody>
          <a:bodyPr wrap="square" anchor="t" lIns="0" rIns="0" tIns="0" bIns="0">
            <a:spAutoFit/>
          </a:bodyPr>
          <a:lstStyle/>
          <a:p>
            <a:pPr algn="ctr">
              <a:lnSpc>
                <a:spcPct val="130000"/>
              </a:lnSpc>
            </a:pPr>
            <a:r>
              <a:rPr sz="1100" b="1">
                <a:solidFill>
                  <a:srgbClr val="B85E1A"/>
                </a:solidFill>
                <a:latin typeface="Hiragino Sans"/>
                <a:ea typeface="Hiragino Sans"/>
                <a:cs typeface="Hiragino Sans"/>
              </a:rPr>
              <a:t>Demand Gen / VRC のCV</a:t>
            </a:r>
          </a:p>
        </p:txBody>
      </p:sp>
      <p:sp>
        <p:nvSpPr>
          <p:cNvPr id="22" name="TextBox 21"/>
          <p:cNvSpPr txBox="1"/>
          <p:nvPr/>
        </p:nvSpPr>
        <p:spPr>
          <a:xfrm>
            <a:off x="6309360" y="2834640"/>
            <a:ext cx="2331720" cy="777240"/>
          </a:xfrm>
          <a:prstGeom prst="rect">
            <a:avLst/>
          </a:prstGeom>
          <a:noFill/>
        </p:spPr>
        <p:txBody>
          <a:bodyPr wrap="square" anchor="t" lIns="0" rIns="0" tIns="0" bIns="0">
            <a:spAutoFit/>
          </a:bodyPr>
          <a:lstStyle/>
          <a:p>
            <a:pPr algn="ctr">
              <a:lnSpc>
                <a:spcPct val="150000"/>
              </a:lnSpc>
            </a:pPr>
            <a:r>
              <a:rPr sz="1000" b="0">
                <a:solidFill>
                  <a:srgbClr val="1A1A1A"/>
                </a:solidFill>
                <a:latin typeface="Hiragino Sans"/>
                <a:ea typeface="Hiragino Sans"/>
                <a:cs typeface="Hiragino Sans"/>
              </a:rPr>
              <a:t>Cross-channel DDAで配信寄与を算出。</a:t>
            </a:r>
          </a:p>
          <a:p>
            <a:pPr algn="ctr">
              <a:lnSpc>
                <a:spcPct val="150000"/>
              </a:lnSpc>
            </a:pPr>
            <a:r>
              <a:rPr sz="1000" b="0">
                <a:solidFill>
                  <a:srgbClr val="1A1A1A"/>
                </a:solidFill>
                <a:latin typeface="Hiragino Sans"/>
                <a:ea typeface="Hiragino Sans"/>
                <a:cs typeface="Hiragino Sans"/>
              </a:rPr>
              <a:t>ラストクリック過小評価を補正</a:t>
            </a:r>
          </a:p>
        </p:txBody>
      </p:sp>
      <p:sp>
        <p:nvSpPr>
          <p:cNvPr id="23" name="Rounded Rectangle 22"/>
          <p:cNvSpPr/>
          <p:nvPr/>
        </p:nvSpPr>
        <p:spPr>
          <a:xfrm>
            <a:off x="8915400" y="1417320"/>
            <a:ext cx="2697480" cy="2286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15400" y="1417320"/>
            <a:ext cx="2697480" cy="13716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98280" y="1691640"/>
            <a:ext cx="2331720" cy="640080"/>
          </a:xfrm>
          <a:prstGeom prst="rect">
            <a:avLst/>
          </a:prstGeom>
          <a:noFill/>
        </p:spPr>
        <p:txBody>
          <a:bodyPr wrap="square" anchor="t" lIns="0" rIns="0" tIns="0" bIns="0">
            <a:spAutoFit/>
          </a:bodyPr>
          <a:lstStyle/>
          <a:p>
            <a:pPr algn="ctr">
              <a:lnSpc>
                <a:spcPct val="125000"/>
              </a:lnSpc>
            </a:pPr>
            <a:r>
              <a:rPr sz="1400" b="1">
                <a:solidFill>
                  <a:srgbClr val="0F2A4F"/>
                </a:solidFill>
                <a:latin typeface="Hiragino Sans"/>
                <a:ea typeface="Hiragino Sans"/>
                <a:cs typeface="Hiragino Sans"/>
              </a:rPr>
              <a:t>View-Through CV</a:t>
            </a:r>
          </a:p>
        </p:txBody>
      </p:sp>
      <p:sp>
        <p:nvSpPr>
          <p:cNvPr id="26" name="TextBox 25"/>
          <p:cNvSpPr txBox="1"/>
          <p:nvPr/>
        </p:nvSpPr>
        <p:spPr>
          <a:xfrm>
            <a:off x="9098280" y="2377440"/>
            <a:ext cx="2331720" cy="365760"/>
          </a:xfrm>
          <a:prstGeom prst="rect">
            <a:avLst/>
          </a:prstGeom>
          <a:noFill/>
        </p:spPr>
        <p:txBody>
          <a:bodyPr wrap="square" anchor="t" lIns="0" rIns="0" tIns="0" bIns="0">
            <a:spAutoFit/>
          </a:bodyPr>
          <a:lstStyle/>
          <a:p>
            <a:pPr algn="ctr">
              <a:lnSpc>
                <a:spcPct val="130000"/>
              </a:lnSpc>
            </a:pPr>
            <a:r>
              <a:rPr sz="1100" b="1">
                <a:solidFill>
                  <a:srgbClr val="B85E1A"/>
                </a:solidFill>
                <a:latin typeface="Hiragino Sans"/>
                <a:ea typeface="Hiragino Sans"/>
                <a:cs typeface="Hiragino Sans"/>
              </a:rPr>
              <a:t>視聴後の遅延CV</a:t>
            </a:r>
          </a:p>
        </p:txBody>
      </p:sp>
      <p:sp>
        <p:nvSpPr>
          <p:cNvPr id="27" name="TextBox 26"/>
          <p:cNvSpPr txBox="1"/>
          <p:nvPr/>
        </p:nvSpPr>
        <p:spPr>
          <a:xfrm>
            <a:off x="9098280" y="2834640"/>
            <a:ext cx="2331720" cy="777240"/>
          </a:xfrm>
          <a:prstGeom prst="rect">
            <a:avLst/>
          </a:prstGeom>
          <a:noFill/>
        </p:spPr>
        <p:txBody>
          <a:bodyPr wrap="square" anchor="t" lIns="0" rIns="0" tIns="0" bIns="0">
            <a:spAutoFit/>
          </a:bodyPr>
          <a:lstStyle/>
          <a:p>
            <a:pPr algn="ctr">
              <a:lnSpc>
                <a:spcPct val="150000"/>
              </a:lnSpc>
            </a:pPr>
            <a:r>
              <a:rPr sz="1000" b="0">
                <a:solidFill>
                  <a:srgbClr val="1A1A1A"/>
                </a:solidFill>
                <a:latin typeface="Hiragino Sans"/>
                <a:ea typeface="Hiragino Sans"/>
                <a:cs typeface="Hiragino Sans"/>
              </a:rPr>
              <a:t>動画視聴 → 24/72時間以内のCV。</a:t>
            </a:r>
          </a:p>
          <a:p>
            <a:pPr algn="ctr">
              <a:lnSpc>
                <a:spcPct val="150000"/>
              </a:lnSpc>
            </a:pPr>
            <a:r>
              <a:rPr sz="1000" b="0">
                <a:solidFill>
                  <a:srgbClr val="1A1A1A"/>
                </a:solidFill>
                <a:latin typeface="Hiragino Sans"/>
                <a:ea typeface="Hiragino Sans"/>
                <a:cs typeface="Hiragino Sans"/>
              </a:rPr>
              <a:t>ブランド系で重要</a:t>
            </a:r>
          </a:p>
        </p:txBody>
      </p:sp>
      <p:sp>
        <p:nvSpPr>
          <p:cNvPr id="28" name="Rounded Rectangle 27"/>
          <p:cNvSpPr/>
          <p:nvPr/>
        </p:nvSpPr>
        <p:spPr>
          <a:xfrm>
            <a:off x="548640" y="3977639"/>
            <a:ext cx="11109960" cy="237744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4114800"/>
            <a:ext cx="10058400" cy="320040"/>
          </a:xfrm>
          <a:prstGeom prst="rect">
            <a:avLst/>
          </a:prstGeom>
          <a:noFill/>
        </p:spPr>
        <p:txBody>
          <a:bodyPr wrap="square" anchor="t" lIns="0" rIns="0" tIns="0" bIns="0">
            <a:spAutoFit/>
          </a:bodyPr>
          <a:lstStyle/>
          <a:p>
            <a:pPr algn="l">
              <a:lnSpc>
                <a:spcPct val="115000"/>
              </a:lnSpc>
            </a:pPr>
            <a:r>
              <a:rPr sz="1200" b="1">
                <a:solidFill>
                  <a:srgbClr val="E87722"/>
                </a:solidFill>
                <a:latin typeface="Hiragino Sans"/>
                <a:ea typeface="Hiragino Sans"/>
                <a:cs typeface="Hiragino Sans"/>
              </a:rPr>
              <a:t>💡 副業代行で押さえるレポート方針</a:t>
            </a:r>
          </a:p>
        </p:txBody>
      </p:sp>
      <p:sp>
        <p:nvSpPr>
          <p:cNvPr id="30" name="TextBox 29"/>
          <p:cNvSpPr txBox="1"/>
          <p:nvPr/>
        </p:nvSpPr>
        <p:spPr>
          <a:xfrm>
            <a:off x="777240" y="4434840"/>
            <a:ext cx="10972800" cy="1828800"/>
          </a:xfrm>
          <a:prstGeom prst="rect">
            <a:avLst/>
          </a:prstGeom>
          <a:noFill/>
        </p:spPr>
        <p:txBody>
          <a:bodyPr wrap="square" anchor="t" lIns="0" rIns="0" tIns="0" bIns="0">
            <a:spAutoFit/>
          </a:bodyPr>
          <a:lstStyle/>
          <a:p>
            <a:pPr algn="l">
              <a:lnSpc>
                <a:spcPct val="160000"/>
              </a:lnSpc>
            </a:pPr>
            <a:r>
              <a:rPr sz="1100" b="0">
                <a:solidFill>
                  <a:srgbClr val="FFFFFF"/>
                </a:solidFill>
                <a:latin typeface="Hiragino Sans"/>
                <a:ea typeface="Hiragino Sans"/>
                <a:cs typeface="Hiragino Sans"/>
              </a:rPr>
              <a:t>• ブランディング案件 = Brand Lift + Search Lift で効果証明</a:t>
            </a:r>
          </a:p>
          <a:p>
            <a:pPr algn="l">
              <a:lnSpc>
                <a:spcPct val="160000"/>
              </a:lnSpc>
            </a:pPr>
            <a:r>
              <a:rPr sz="1100" b="0">
                <a:solidFill>
                  <a:srgbClr val="FFFFFF"/>
                </a:solidFill>
                <a:latin typeface="Hiragino Sans"/>
                <a:ea typeface="Hiragino Sans"/>
                <a:cs typeface="Hiragino Sans"/>
              </a:rPr>
              <a:t>• CV案件 = DDA + View-Through で『動画は見るだけ』のCV寄与を可視化</a:t>
            </a:r>
          </a:p>
          <a:p>
            <a:pPr algn="l">
              <a:lnSpc>
                <a:spcPct val="160000"/>
              </a:lnSpc>
            </a:pPr>
            <a:r>
              <a:rPr sz="1100" b="0">
                <a:solidFill>
                  <a:srgbClr val="FFFFFF"/>
                </a:solidFill>
                <a:latin typeface="Hiragino Sans"/>
                <a:ea typeface="Hiragino Sans"/>
                <a:cs typeface="Hiragino Sans"/>
              </a:rPr>
              <a:t>• Brand Lift Study は Meta と同様、月100万円以上の予算で標準利用</a:t>
            </a:r>
          </a:p>
          <a:p>
            <a:pPr algn="l">
              <a:lnSpc>
                <a:spcPct val="160000"/>
              </a:lnSpc>
            </a:pPr>
            <a:r>
              <a:rPr sz="1100" b="0">
                <a:solidFill>
                  <a:srgbClr val="FFFFFF"/>
                </a:solidFill>
                <a:latin typeface="Hiragino Sans"/>
                <a:ea typeface="Hiragino Sans"/>
                <a:cs typeface="Hiragino Sans"/>
              </a:rPr>
              <a:t>• Search Lift はオフラインCVも見える化 — 来店・電話など Google Ads に直接戻らないCVも追える</a:t>
            </a:r>
          </a:p>
          <a:p>
            <a:pPr algn="l">
              <a:lnSpc>
                <a:spcPct val="160000"/>
              </a:lnSpc>
            </a:pPr>
            <a:r>
              <a:rPr sz="1100" b="0">
                <a:solidFill>
                  <a:srgbClr val="FFFFFF"/>
                </a:solidFill>
                <a:latin typeface="Hiragino Sans"/>
                <a:ea typeface="Hiragino Sans"/>
                <a:cs typeface="Hiragino Sans"/>
              </a:rPr>
              <a:t>• YouTube単独 ROI ではなく『Cross-channel 寄与』として説明する</a:t>
            </a:r>
          </a:p>
        </p:txBody>
      </p:sp>
      <p:sp>
        <p:nvSpPr>
          <p:cNvPr id="31" name="TextBox 30"/>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YouTube : 鉄板運用メソッド 2026年版</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新規YouTube案件で最初の30日にやること</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P88 / 250</a:t>
            </a:r>
          </a:p>
        </p:txBody>
      </p:sp>
      <p:sp>
        <p:nvSpPr>
          <p:cNvPr id="8" name="Rounded Rectangle 7"/>
          <p:cNvSpPr/>
          <p:nvPr/>
        </p:nvSpPr>
        <p:spPr>
          <a:xfrm>
            <a:off x="548640" y="1371600"/>
            <a:ext cx="11109960" cy="11887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71600"/>
            <a:ext cx="137160" cy="11887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508760"/>
            <a:ext cx="10515600" cy="32004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Day 0-2 : 計測 + クリエイティブ設計</a:t>
            </a:r>
          </a:p>
        </p:txBody>
      </p:sp>
      <p:sp>
        <p:nvSpPr>
          <p:cNvPr id="11" name="TextBox 10"/>
          <p:cNvSpPr txBox="1"/>
          <p:nvPr/>
        </p:nvSpPr>
        <p:spPr>
          <a:xfrm>
            <a:off x="868680" y="182880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12" name="TextBox 11"/>
          <p:cNvSpPr txBox="1"/>
          <p:nvPr/>
        </p:nvSpPr>
        <p:spPr>
          <a:xfrm>
            <a:off x="1097280" y="185623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Google Ads × YouTube連携</a:t>
            </a:r>
          </a:p>
        </p:txBody>
      </p:sp>
      <p:sp>
        <p:nvSpPr>
          <p:cNvPr id="13" name="TextBox 12"/>
          <p:cNvSpPr txBox="1"/>
          <p:nvPr/>
        </p:nvSpPr>
        <p:spPr>
          <a:xfrm>
            <a:off x="6309360" y="182880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14" name="TextBox 13"/>
          <p:cNvSpPr txBox="1"/>
          <p:nvPr/>
        </p:nvSpPr>
        <p:spPr>
          <a:xfrm>
            <a:off x="6537960" y="185623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DDA を Conversion設定で有効化</a:t>
            </a:r>
          </a:p>
        </p:txBody>
      </p:sp>
      <p:sp>
        <p:nvSpPr>
          <p:cNvPr id="15" name="TextBox 14"/>
          <p:cNvSpPr txBox="1"/>
          <p:nvPr/>
        </p:nvSpPr>
        <p:spPr>
          <a:xfrm>
            <a:off x="868680" y="214884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16" name="TextBox 15"/>
          <p:cNvSpPr txBox="1"/>
          <p:nvPr/>
        </p:nvSpPr>
        <p:spPr>
          <a:xfrm>
            <a:off x="1097280" y="217627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クリエイティブ尺別に分類 (6/15/30秒)</a:t>
            </a:r>
          </a:p>
        </p:txBody>
      </p:sp>
      <p:sp>
        <p:nvSpPr>
          <p:cNvPr id="17" name="TextBox 16"/>
          <p:cNvSpPr txBox="1"/>
          <p:nvPr/>
        </p:nvSpPr>
        <p:spPr>
          <a:xfrm>
            <a:off x="6309360" y="214884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18" name="TextBox 17"/>
          <p:cNvSpPr txBox="1"/>
          <p:nvPr/>
        </p:nvSpPr>
        <p:spPr>
          <a:xfrm>
            <a:off x="6537960" y="217627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Merchant Center 連携 (EC案件のみ)</a:t>
            </a:r>
          </a:p>
        </p:txBody>
      </p:sp>
      <p:sp>
        <p:nvSpPr>
          <p:cNvPr id="19" name="Rounded Rectangle 18"/>
          <p:cNvSpPr/>
          <p:nvPr/>
        </p:nvSpPr>
        <p:spPr>
          <a:xfrm>
            <a:off x="548640" y="2651760"/>
            <a:ext cx="11109960" cy="11887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651760"/>
            <a:ext cx="137160" cy="11887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2788920"/>
            <a:ext cx="10515600" cy="32004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Day 3-7 : キャンペーン構造</a:t>
            </a:r>
          </a:p>
        </p:txBody>
      </p:sp>
      <p:sp>
        <p:nvSpPr>
          <p:cNvPr id="22" name="TextBox 21"/>
          <p:cNvSpPr txBox="1"/>
          <p:nvPr/>
        </p:nvSpPr>
        <p:spPr>
          <a:xfrm>
            <a:off x="868680" y="310896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23" name="TextBox 22"/>
          <p:cNvSpPr txBox="1"/>
          <p:nvPr/>
        </p:nvSpPr>
        <p:spPr>
          <a:xfrm>
            <a:off x="1097280" y="313639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Awareness系 = VRC + Bumper/Skippable</a:t>
            </a:r>
          </a:p>
        </p:txBody>
      </p:sp>
      <p:sp>
        <p:nvSpPr>
          <p:cNvPr id="24" name="TextBox 23"/>
          <p:cNvSpPr txBox="1"/>
          <p:nvPr/>
        </p:nvSpPr>
        <p:spPr>
          <a:xfrm>
            <a:off x="6309360" y="310896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25" name="TextBox 24"/>
          <p:cNvSpPr txBox="1"/>
          <p:nvPr/>
        </p:nvSpPr>
        <p:spPr>
          <a:xfrm>
            <a:off x="6537960" y="313639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CV系 = Demand Gen (Shorts含む)</a:t>
            </a:r>
          </a:p>
        </p:txBody>
      </p:sp>
      <p:sp>
        <p:nvSpPr>
          <p:cNvPr id="26" name="TextBox 25"/>
          <p:cNvSpPr txBox="1"/>
          <p:nvPr/>
        </p:nvSpPr>
        <p:spPr>
          <a:xfrm>
            <a:off x="868680" y="342900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27" name="TextBox 26"/>
          <p:cNvSpPr txBox="1"/>
          <p:nvPr/>
        </p:nvSpPr>
        <p:spPr>
          <a:xfrm>
            <a:off x="1097280" y="345643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EC = Performance Max (CTV含む)</a:t>
            </a:r>
          </a:p>
        </p:txBody>
      </p:sp>
      <p:sp>
        <p:nvSpPr>
          <p:cNvPr id="28" name="TextBox 27"/>
          <p:cNvSpPr txBox="1"/>
          <p:nvPr/>
        </p:nvSpPr>
        <p:spPr>
          <a:xfrm>
            <a:off x="6309360" y="342900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29" name="TextBox 28"/>
          <p:cNvSpPr txBox="1"/>
          <p:nvPr/>
        </p:nvSpPr>
        <p:spPr>
          <a:xfrm>
            <a:off x="6537960" y="345643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Channel Controls で配信面を分離</a:t>
            </a:r>
          </a:p>
        </p:txBody>
      </p:sp>
      <p:sp>
        <p:nvSpPr>
          <p:cNvPr id="30" name="Rounded Rectangle 29"/>
          <p:cNvSpPr/>
          <p:nvPr/>
        </p:nvSpPr>
        <p:spPr>
          <a:xfrm>
            <a:off x="548640" y="3931920"/>
            <a:ext cx="11109960" cy="11887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8640" y="3931920"/>
            <a:ext cx="137160" cy="11887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68680" y="4069080"/>
            <a:ext cx="10515600" cy="32004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Day 8-21 : 学習期間</a:t>
            </a:r>
          </a:p>
        </p:txBody>
      </p:sp>
      <p:sp>
        <p:nvSpPr>
          <p:cNvPr id="33" name="TextBox 32"/>
          <p:cNvSpPr txBox="1"/>
          <p:nvPr/>
        </p:nvSpPr>
        <p:spPr>
          <a:xfrm>
            <a:off x="868680" y="438912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34" name="TextBox 33"/>
          <p:cNvSpPr txBox="1"/>
          <p:nvPr/>
        </p:nvSpPr>
        <p:spPr>
          <a:xfrm>
            <a:off x="1097280" y="441655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Brand Lift Study 申請 (該当時)</a:t>
            </a:r>
          </a:p>
        </p:txBody>
      </p:sp>
      <p:sp>
        <p:nvSpPr>
          <p:cNvPr id="35" name="TextBox 34"/>
          <p:cNvSpPr txBox="1"/>
          <p:nvPr/>
        </p:nvSpPr>
        <p:spPr>
          <a:xfrm>
            <a:off x="6309360" y="438912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36" name="TextBox 35"/>
          <p:cNvSpPr txBox="1"/>
          <p:nvPr/>
        </p:nvSpPr>
        <p:spPr>
          <a:xfrm>
            <a:off x="6537960" y="441655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Audience Signal に1PD投入</a:t>
            </a:r>
          </a:p>
        </p:txBody>
      </p:sp>
      <p:sp>
        <p:nvSpPr>
          <p:cNvPr id="37" name="TextBox 36"/>
          <p:cNvSpPr txBox="1"/>
          <p:nvPr/>
        </p:nvSpPr>
        <p:spPr>
          <a:xfrm>
            <a:off x="868680" y="470916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38" name="TextBox 37"/>
          <p:cNvSpPr txBox="1"/>
          <p:nvPr/>
        </p:nvSpPr>
        <p:spPr>
          <a:xfrm>
            <a:off x="1097280" y="473659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アセット追加は週1回程度</a:t>
            </a:r>
          </a:p>
        </p:txBody>
      </p:sp>
      <p:sp>
        <p:nvSpPr>
          <p:cNvPr id="39" name="TextBox 38"/>
          <p:cNvSpPr txBox="1"/>
          <p:nvPr/>
        </p:nvSpPr>
        <p:spPr>
          <a:xfrm>
            <a:off x="6309360" y="470916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40" name="TextBox 39"/>
          <p:cNvSpPr txBox="1"/>
          <p:nvPr/>
        </p:nvSpPr>
        <p:spPr>
          <a:xfrm>
            <a:off x="6537960" y="473659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View-Through Window を確認</a:t>
            </a:r>
          </a:p>
        </p:txBody>
      </p:sp>
      <p:sp>
        <p:nvSpPr>
          <p:cNvPr id="41" name="Rounded Rectangle 40"/>
          <p:cNvSpPr/>
          <p:nvPr/>
        </p:nvSpPr>
        <p:spPr>
          <a:xfrm>
            <a:off x="548640" y="5212080"/>
            <a:ext cx="11109960" cy="11887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48640" y="5212080"/>
            <a:ext cx="137160" cy="11887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68680" y="5349240"/>
            <a:ext cx="10515600" cy="32004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Day 22-30 : 最適化</a:t>
            </a:r>
          </a:p>
        </p:txBody>
      </p:sp>
      <p:sp>
        <p:nvSpPr>
          <p:cNvPr id="44" name="TextBox 43"/>
          <p:cNvSpPr txBox="1"/>
          <p:nvPr/>
        </p:nvSpPr>
        <p:spPr>
          <a:xfrm>
            <a:off x="868680" y="566928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45" name="TextBox 44"/>
          <p:cNvSpPr txBox="1"/>
          <p:nvPr/>
        </p:nvSpPr>
        <p:spPr>
          <a:xfrm>
            <a:off x="1097280" y="569671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Brand Lift / Search Lift の結果確認</a:t>
            </a:r>
          </a:p>
        </p:txBody>
      </p:sp>
      <p:sp>
        <p:nvSpPr>
          <p:cNvPr id="46" name="TextBox 45"/>
          <p:cNvSpPr txBox="1"/>
          <p:nvPr/>
        </p:nvSpPr>
        <p:spPr>
          <a:xfrm>
            <a:off x="6309360" y="566928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47" name="TextBox 46"/>
          <p:cNvSpPr txBox="1"/>
          <p:nvPr/>
        </p:nvSpPr>
        <p:spPr>
          <a:xfrm>
            <a:off x="6537960" y="569671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アセット Best/Low の入替</a:t>
            </a:r>
          </a:p>
        </p:txBody>
      </p:sp>
      <p:sp>
        <p:nvSpPr>
          <p:cNvPr id="48" name="TextBox 47"/>
          <p:cNvSpPr txBox="1"/>
          <p:nvPr/>
        </p:nvSpPr>
        <p:spPr>
          <a:xfrm>
            <a:off x="868680" y="598932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49" name="TextBox 48"/>
          <p:cNvSpPr txBox="1"/>
          <p:nvPr/>
        </p:nvSpPr>
        <p:spPr>
          <a:xfrm>
            <a:off x="1097280" y="601675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CTV配信比率を最適化</a:t>
            </a:r>
          </a:p>
        </p:txBody>
      </p:sp>
      <p:sp>
        <p:nvSpPr>
          <p:cNvPr id="50" name="TextBox 49"/>
          <p:cNvSpPr txBox="1"/>
          <p:nvPr/>
        </p:nvSpPr>
        <p:spPr>
          <a:xfrm>
            <a:off x="6309360" y="598932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51" name="TextBox 50"/>
          <p:cNvSpPr txBox="1"/>
          <p:nvPr/>
        </p:nvSpPr>
        <p:spPr>
          <a:xfrm>
            <a:off x="6537960" y="601675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月次レポート + 次月提案</a:t>
            </a:r>
          </a:p>
        </p:txBody>
      </p:sp>
      <p:sp>
        <p:nvSpPr>
          <p:cNvPr id="52" name="TextBox 51"/>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YouTube : よくある失敗と回避策</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副業代行で『YouTube あるある』を防ぐ</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P89 / 250</a:t>
            </a:r>
          </a:p>
        </p:txBody>
      </p:sp>
      <p:sp>
        <p:nvSpPr>
          <p:cNvPr id="8" name="Rounded Rectangle 7"/>
          <p:cNvSpPr/>
          <p:nvPr/>
        </p:nvSpPr>
        <p:spPr>
          <a:xfrm>
            <a:off x="548640" y="1325880"/>
            <a:ext cx="5440680" cy="15544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25880"/>
            <a:ext cx="91440" cy="1554480"/>
          </a:xfrm>
          <a:prstGeom prst="rect">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63040"/>
            <a:ext cx="457200" cy="320040"/>
          </a:xfrm>
          <a:prstGeom prst="rect">
            <a:avLst/>
          </a:prstGeom>
          <a:noFill/>
        </p:spPr>
        <p:txBody>
          <a:bodyPr wrap="square" anchor="t" lIns="0" rIns="0" tIns="0" bIns="0">
            <a:spAutoFit/>
          </a:bodyPr>
          <a:lstStyle/>
          <a:p>
            <a:pPr algn="l">
              <a:lnSpc>
                <a:spcPct val="115000"/>
              </a:lnSpc>
            </a:pPr>
            <a:r>
              <a:rPr sz="1800" b="1">
                <a:solidFill>
                  <a:srgbClr val="C6452D"/>
                </a:solidFill>
                <a:latin typeface="Hiragino Sans"/>
                <a:ea typeface="Hiragino Sans"/>
                <a:cs typeface="Hiragino Sans"/>
              </a:rPr>
              <a:t>✗</a:t>
            </a:r>
          </a:p>
        </p:txBody>
      </p:sp>
      <p:sp>
        <p:nvSpPr>
          <p:cNvPr id="11" name="TextBox 10"/>
          <p:cNvSpPr txBox="1"/>
          <p:nvPr/>
        </p:nvSpPr>
        <p:spPr>
          <a:xfrm>
            <a:off x="1188720" y="1463040"/>
            <a:ext cx="4663440" cy="365760"/>
          </a:xfrm>
          <a:prstGeom prst="rect">
            <a:avLst/>
          </a:prstGeom>
          <a:noFill/>
        </p:spPr>
        <p:txBody>
          <a:bodyPr wrap="square" anchor="t" lIns="0" rIns="0" tIns="0" bIns="0">
            <a:spAutoFit/>
          </a:bodyPr>
          <a:lstStyle/>
          <a:p>
            <a:pPr algn="l">
              <a:lnSpc>
                <a:spcPct val="130000"/>
              </a:lnSpc>
            </a:pPr>
            <a:r>
              <a:rPr sz="1200" b="1">
                <a:solidFill>
                  <a:srgbClr val="0F2A4F"/>
                </a:solidFill>
                <a:latin typeface="Hiragino Sans"/>
                <a:ea typeface="Hiragino Sans"/>
                <a:cs typeface="Hiragino Sans"/>
              </a:rPr>
              <a:t>16:9 横型のみで配信</a:t>
            </a:r>
          </a:p>
        </p:txBody>
      </p:sp>
      <p:sp>
        <p:nvSpPr>
          <p:cNvPr id="12" name="TextBox 11"/>
          <p:cNvSpPr txBox="1"/>
          <p:nvPr/>
        </p:nvSpPr>
        <p:spPr>
          <a:xfrm>
            <a:off x="777240" y="1920240"/>
            <a:ext cx="5074920" cy="411480"/>
          </a:xfrm>
          <a:prstGeom prst="rect">
            <a:avLst/>
          </a:prstGeom>
          <a:noFill/>
        </p:spPr>
        <p:txBody>
          <a:bodyPr wrap="square" anchor="t" lIns="0" rIns="0" tIns="0" bIns="0">
            <a:spAutoFit/>
          </a:bodyPr>
          <a:lstStyle/>
          <a:p>
            <a:pPr algn="l">
              <a:lnSpc>
                <a:spcPct val="140000"/>
              </a:lnSpc>
            </a:pPr>
            <a:r>
              <a:rPr sz="1000" b="0">
                <a:solidFill>
                  <a:srgbClr val="5A6A80"/>
                </a:solidFill>
                <a:latin typeface="Hiragino Sans"/>
                <a:ea typeface="Hiragino Sans"/>
                <a:cs typeface="Hiragino Sans"/>
              </a:rPr>
              <a:t>Shorts (9:16) で機会損失</a:t>
            </a:r>
          </a:p>
        </p:txBody>
      </p:sp>
      <p:sp>
        <p:nvSpPr>
          <p:cNvPr id="13" name="Rectangle 12"/>
          <p:cNvSpPr/>
          <p:nvPr/>
        </p:nvSpPr>
        <p:spPr>
          <a:xfrm>
            <a:off x="777240" y="2331720"/>
            <a:ext cx="507492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423160"/>
            <a:ext cx="5074920" cy="411480"/>
          </a:xfrm>
          <a:prstGeom prst="rect">
            <a:avLst/>
          </a:prstGeom>
          <a:noFill/>
        </p:spPr>
        <p:txBody>
          <a:bodyPr wrap="square" anchor="t" lIns="0" rIns="0" tIns="0" bIns="0">
            <a:spAutoFit/>
          </a:bodyPr>
          <a:lstStyle/>
          <a:p>
            <a:pPr algn="l">
              <a:lnSpc>
                <a:spcPct val="140000"/>
              </a:lnSpc>
            </a:pPr>
            <a:r>
              <a:rPr sz="1000" b="1">
                <a:solidFill>
                  <a:srgbClr val="B85E1A"/>
                </a:solidFill>
                <a:latin typeface="Hiragino Sans"/>
                <a:ea typeface="Hiragino Sans"/>
                <a:cs typeface="Hiragino Sans"/>
              </a:rPr>
              <a:t>→  9:16 / 16:9 / 1:1 の3パターン用意</a:t>
            </a:r>
          </a:p>
        </p:txBody>
      </p:sp>
      <p:sp>
        <p:nvSpPr>
          <p:cNvPr id="15" name="Rounded Rectangle 14"/>
          <p:cNvSpPr/>
          <p:nvPr/>
        </p:nvSpPr>
        <p:spPr>
          <a:xfrm>
            <a:off x="6172200" y="1325880"/>
            <a:ext cx="5440680" cy="15544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1325880"/>
            <a:ext cx="91440" cy="1554480"/>
          </a:xfrm>
          <a:prstGeom prst="rect">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1463040"/>
            <a:ext cx="457200" cy="320040"/>
          </a:xfrm>
          <a:prstGeom prst="rect">
            <a:avLst/>
          </a:prstGeom>
          <a:noFill/>
        </p:spPr>
        <p:txBody>
          <a:bodyPr wrap="square" anchor="t" lIns="0" rIns="0" tIns="0" bIns="0">
            <a:spAutoFit/>
          </a:bodyPr>
          <a:lstStyle/>
          <a:p>
            <a:pPr algn="l">
              <a:lnSpc>
                <a:spcPct val="115000"/>
              </a:lnSpc>
            </a:pPr>
            <a:r>
              <a:rPr sz="1800" b="1">
                <a:solidFill>
                  <a:srgbClr val="C6452D"/>
                </a:solidFill>
                <a:latin typeface="Hiragino Sans"/>
                <a:ea typeface="Hiragino Sans"/>
                <a:cs typeface="Hiragino Sans"/>
              </a:rPr>
              <a:t>✗</a:t>
            </a:r>
          </a:p>
        </p:txBody>
      </p:sp>
      <p:sp>
        <p:nvSpPr>
          <p:cNvPr id="18" name="TextBox 17"/>
          <p:cNvSpPr txBox="1"/>
          <p:nvPr/>
        </p:nvSpPr>
        <p:spPr>
          <a:xfrm>
            <a:off x="6812280" y="1463040"/>
            <a:ext cx="4663440" cy="365760"/>
          </a:xfrm>
          <a:prstGeom prst="rect">
            <a:avLst/>
          </a:prstGeom>
          <a:noFill/>
        </p:spPr>
        <p:txBody>
          <a:bodyPr wrap="square" anchor="t" lIns="0" rIns="0" tIns="0" bIns="0">
            <a:spAutoFit/>
          </a:bodyPr>
          <a:lstStyle/>
          <a:p>
            <a:pPr algn="l">
              <a:lnSpc>
                <a:spcPct val="130000"/>
              </a:lnSpc>
            </a:pPr>
            <a:r>
              <a:rPr sz="1200" b="1">
                <a:solidFill>
                  <a:srgbClr val="0F2A4F"/>
                </a:solidFill>
                <a:latin typeface="Hiragino Sans"/>
                <a:ea typeface="Hiragino Sans"/>
                <a:cs typeface="Hiragino Sans"/>
              </a:rPr>
              <a:t>ラストクリックでCV評価</a:t>
            </a:r>
          </a:p>
        </p:txBody>
      </p:sp>
      <p:sp>
        <p:nvSpPr>
          <p:cNvPr id="19" name="TextBox 18"/>
          <p:cNvSpPr txBox="1"/>
          <p:nvPr/>
        </p:nvSpPr>
        <p:spPr>
          <a:xfrm>
            <a:off x="6400800" y="1920240"/>
            <a:ext cx="5074920" cy="411480"/>
          </a:xfrm>
          <a:prstGeom prst="rect">
            <a:avLst/>
          </a:prstGeom>
          <a:noFill/>
        </p:spPr>
        <p:txBody>
          <a:bodyPr wrap="square" anchor="t" lIns="0" rIns="0" tIns="0" bIns="0">
            <a:spAutoFit/>
          </a:bodyPr>
          <a:lstStyle/>
          <a:p>
            <a:pPr algn="l">
              <a:lnSpc>
                <a:spcPct val="140000"/>
              </a:lnSpc>
            </a:pPr>
            <a:r>
              <a:rPr sz="1000" b="0">
                <a:solidFill>
                  <a:srgbClr val="5A6A80"/>
                </a:solidFill>
                <a:latin typeface="Hiragino Sans"/>
                <a:ea typeface="Hiragino Sans"/>
                <a:cs typeface="Hiragino Sans"/>
              </a:rPr>
              <a:t>View-Through CV見えず、過小評価</a:t>
            </a:r>
          </a:p>
        </p:txBody>
      </p:sp>
      <p:sp>
        <p:nvSpPr>
          <p:cNvPr id="20" name="Rectangle 19"/>
          <p:cNvSpPr/>
          <p:nvPr/>
        </p:nvSpPr>
        <p:spPr>
          <a:xfrm>
            <a:off x="6400800" y="2331720"/>
            <a:ext cx="507492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0" y="2423160"/>
            <a:ext cx="5074920" cy="411480"/>
          </a:xfrm>
          <a:prstGeom prst="rect">
            <a:avLst/>
          </a:prstGeom>
          <a:noFill/>
        </p:spPr>
        <p:txBody>
          <a:bodyPr wrap="square" anchor="t" lIns="0" rIns="0" tIns="0" bIns="0">
            <a:spAutoFit/>
          </a:bodyPr>
          <a:lstStyle/>
          <a:p>
            <a:pPr algn="l">
              <a:lnSpc>
                <a:spcPct val="140000"/>
              </a:lnSpc>
            </a:pPr>
            <a:r>
              <a:rPr sz="1000" b="1">
                <a:solidFill>
                  <a:srgbClr val="B85E1A"/>
                </a:solidFill>
                <a:latin typeface="Hiragino Sans"/>
                <a:ea typeface="Hiragino Sans"/>
                <a:cs typeface="Hiragino Sans"/>
              </a:rPr>
              <a:t>→  DDA + View-Through Window 7-14日で評価</a:t>
            </a:r>
          </a:p>
        </p:txBody>
      </p:sp>
      <p:sp>
        <p:nvSpPr>
          <p:cNvPr id="22" name="Rounded Rectangle 21"/>
          <p:cNvSpPr/>
          <p:nvPr/>
        </p:nvSpPr>
        <p:spPr>
          <a:xfrm>
            <a:off x="548640" y="3017520"/>
            <a:ext cx="5440680" cy="15544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48640" y="3017520"/>
            <a:ext cx="91440" cy="1554480"/>
          </a:xfrm>
          <a:prstGeom prst="rect">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3154680"/>
            <a:ext cx="457200" cy="320040"/>
          </a:xfrm>
          <a:prstGeom prst="rect">
            <a:avLst/>
          </a:prstGeom>
          <a:noFill/>
        </p:spPr>
        <p:txBody>
          <a:bodyPr wrap="square" anchor="t" lIns="0" rIns="0" tIns="0" bIns="0">
            <a:spAutoFit/>
          </a:bodyPr>
          <a:lstStyle/>
          <a:p>
            <a:pPr algn="l">
              <a:lnSpc>
                <a:spcPct val="115000"/>
              </a:lnSpc>
            </a:pPr>
            <a:r>
              <a:rPr sz="1800" b="1">
                <a:solidFill>
                  <a:srgbClr val="C6452D"/>
                </a:solidFill>
                <a:latin typeface="Hiragino Sans"/>
                <a:ea typeface="Hiragino Sans"/>
                <a:cs typeface="Hiragino Sans"/>
              </a:rPr>
              <a:t>✗</a:t>
            </a:r>
          </a:p>
        </p:txBody>
      </p:sp>
      <p:sp>
        <p:nvSpPr>
          <p:cNvPr id="25" name="TextBox 24"/>
          <p:cNvSpPr txBox="1"/>
          <p:nvPr/>
        </p:nvSpPr>
        <p:spPr>
          <a:xfrm>
            <a:off x="1188720" y="3154680"/>
            <a:ext cx="4663440" cy="365760"/>
          </a:xfrm>
          <a:prstGeom prst="rect">
            <a:avLst/>
          </a:prstGeom>
          <a:noFill/>
        </p:spPr>
        <p:txBody>
          <a:bodyPr wrap="square" anchor="t" lIns="0" rIns="0" tIns="0" bIns="0">
            <a:spAutoFit/>
          </a:bodyPr>
          <a:lstStyle/>
          <a:p>
            <a:pPr algn="l">
              <a:lnSpc>
                <a:spcPct val="130000"/>
              </a:lnSpc>
            </a:pPr>
            <a:r>
              <a:rPr sz="1200" b="1">
                <a:solidFill>
                  <a:srgbClr val="0F2A4F"/>
                </a:solidFill>
                <a:latin typeface="Hiragino Sans"/>
                <a:ea typeface="Hiragino Sans"/>
                <a:cs typeface="Hiragino Sans"/>
              </a:rPr>
              <a:t>音声前提のクリエイティブ</a:t>
            </a:r>
          </a:p>
        </p:txBody>
      </p:sp>
      <p:sp>
        <p:nvSpPr>
          <p:cNvPr id="26" name="TextBox 25"/>
          <p:cNvSpPr txBox="1"/>
          <p:nvPr/>
        </p:nvSpPr>
        <p:spPr>
          <a:xfrm>
            <a:off x="777240" y="3611880"/>
            <a:ext cx="5074920" cy="411480"/>
          </a:xfrm>
          <a:prstGeom prst="rect">
            <a:avLst/>
          </a:prstGeom>
          <a:noFill/>
        </p:spPr>
        <p:txBody>
          <a:bodyPr wrap="square" anchor="t" lIns="0" rIns="0" tIns="0" bIns="0">
            <a:spAutoFit/>
          </a:bodyPr>
          <a:lstStyle/>
          <a:p>
            <a:pPr algn="l">
              <a:lnSpc>
                <a:spcPct val="140000"/>
              </a:lnSpc>
            </a:pPr>
            <a:r>
              <a:rPr sz="1000" b="0">
                <a:solidFill>
                  <a:srgbClr val="5A6A80"/>
                </a:solidFill>
                <a:latin typeface="Hiragino Sans"/>
                <a:ea typeface="Hiragino Sans"/>
                <a:cs typeface="Hiragino Sans"/>
              </a:rPr>
              <a:t>ミュート視聴で訴求が伝わらない</a:t>
            </a:r>
          </a:p>
        </p:txBody>
      </p:sp>
      <p:sp>
        <p:nvSpPr>
          <p:cNvPr id="27" name="Rectangle 26"/>
          <p:cNvSpPr/>
          <p:nvPr/>
        </p:nvSpPr>
        <p:spPr>
          <a:xfrm>
            <a:off x="777240" y="4023360"/>
            <a:ext cx="507492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4114800"/>
            <a:ext cx="5074920" cy="411480"/>
          </a:xfrm>
          <a:prstGeom prst="rect">
            <a:avLst/>
          </a:prstGeom>
          <a:noFill/>
        </p:spPr>
        <p:txBody>
          <a:bodyPr wrap="square" anchor="t" lIns="0" rIns="0" tIns="0" bIns="0">
            <a:spAutoFit/>
          </a:bodyPr>
          <a:lstStyle/>
          <a:p>
            <a:pPr algn="l">
              <a:lnSpc>
                <a:spcPct val="140000"/>
              </a:lnSpc>
            </a:pPr>
            <a:r>
              <a:rPr sz="1000" b="1">
                <a:solidFill>
                  <a:srgbClr val="B85E1A"/>
                </a:solidFill>
                <a:latin typeface="Hiragino Sans"/>
                <a:ea typeface="Hiragino Sans"/>
                <a:cs typeface="Hiragino Sans"/>
              </a:rPr>
              <a:t>→  テロップ常時表示、字幕焼き付け</a:t>
            </a:r>
          </a:p>
        </p:txBody>
      </p:sp>
      <p:sp>
        <p:nvSpPr>
          <p:cNvPr id="29" name="Rounded Rectangle 28"/>
          <p:cNvSpPr/>
          <p:nvPr/>
        </p:nvSpPr>
        <p:spPr>
          <a:xfrm>
            <a:off x="6172200" y="3017520"/>
            <a:ext cx="5440680" cy="15544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72200" y="3017520"/>
            <a:ext cx="91440" cy="1554480"/>
          </a:xfrm>
          <a:prstGeom prst="rect">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0" y="3154680"/>
            <a:ext cx="457200" cy="320040"/>
          </a:xfrm>
          <a:prstGeom prst="rect">
            <a:avLst/>
          </a:prstGeom>
          <a:noFill/>
        </p:spPr>
        <p:txBody>
          <a:bodyPr wrap="square" anchor="t" lIns="0" rIns="0" tIns="0" bIns="0">
            <a:spAutoFit/>
          </a:bodyPr>
          <a:lstStyle/>
          <a:p>
            <a:pPr algn="l">
              <a:lnSpc>
                <a:spcPct val="115000"/>
              </a:lnSpc>
            </a:pPr>
            <a:r>
              <a:rPr sz="1800" b="1">
                <a:solidFill>
                  <a:srgbClr val="C6452D"/>
                </a:solidFill>
                <a:latin typeface="Hiragino Sans"/>
                <a:ea typeface="Hiragino Sans"/>
                <a:cs typeface="Hiragino Sans"/>
              </a:rPr>
              <a:t>✗</a:t>
            </a:r>
          </a:p>
        </p:txBody>
      </p:sp>
      <p:sp>
        <p:nvSpPr>
          <p:cNvPr id="32" name="TextBox 31"/>
          <p:cNvSpPr txBox="1"/>
          <p:nvPr/>
        </p:nvSpPr>
        <p:spPr>
          <a:xfrm>
            <a:off x="6812280" y="3154680"/>
            <a:ext cx="4663440" cy="365760"/>
          </a:xfrm>
          <a:prstGeom prst="rect">
            <a:avLst/>
          </a:prstGeom>
          <a:noFill/>
        </p:spPr>
        <p:txBody>
          <a:bodyPr wrap="square" anchor="t" lIns="0" rIns="0" tIns="0" bIns="0">
            <a:spAutoFit/>
          </a:bodyPr>
          <a:lstStyle/>
          <a:p>
            <a:pPr algn="l">
              <a:lnSpc>
                <a:spcPct val="130000"/>
              </a:lnSpc>
            </a:pPr>
            <a:r>
              <a:rPr sz="1200" b="1">
                <a:solidFill>
                  <a:srgbClr val="0F2A4F"/>
                </a:solidFill>
                <a:latin typeface="Hiragino Sans"/>
                <a:ea typeface="Hiragino Sans"/>
                <a:cs typeface="Hiragino Sans"/>
              </a:rPr>
              <a:t>CTV配信の無視</a:t>
            </a:r>
          </a:p>
        </p:txBody>
      </p:sp>
      <p:sp>
        <p:nvSpPr>
          <p:cNvPr id="33" name="TextBox 32"/>
          <p:cNvSpPr txBox="1"/>
          <p:nvPr/>
        </p:nvSpPr>
        <p:spPr>
          <a:xfrm>
            <a:off x="6400800" y="3611880"/>
            <a:ext cx="5074920" cy="411480"/>
          </a:xfrm>
          <a:prstGeom prst="rect">
            <a:avLst/>
          </a:prstGeom>
          <a:noFill/>
        </p:spPr>
        <p:txBody>
          <a:bodyPr wrap="square" anchor="t" lIns="0" rIns="0" tIns="0" bIns="0">
            <a:spAutoFit/>
          </a:bodyPr>
          <a:lstStyle/>
          <a:p>
            <a:pPr algn="l">
              <a:lnSpc>
                <a:spcPct val="140000"/>
              </a:lnSpc>
            </a:pPr>
            <a:r>
              <a:rPr sz="1000" b="0">
                <a:solidFill>
                  <a:srgbClr val="5A6A80"/>
                </a:solidFill>
                <a:latin typeface="Hiragino Sans"/>
                <a:ea typeface="Hiragino Sans"/>
                <a:cs typeface="Hiragino Sans"/>
              </a:rPr>
              <a:t>2026年で機会損失大、市場 +14%/年</a:t>
            </a:r>
          </a:p>
        </p:txBody>
      </p:sp>
      <p:sp>
        <p:nvSpPr>
          <p:cNvPr id="34" name="Rectangle 33"/>
          <p:cNvSpPr/>
          <p:nvPr/>
        </p:nvSpPr>
        <p:spPr>
          <a:xfrm>
            <a:off x="6400800" y="4023360"/>
            <a:ext cx="507492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0" y="4114800"/>
            <a:ext cx="5074920" cy="411480"/>
          </a:xfrm>
          <a:prstGeom prst="rect">
            <a:avLst/>
          </a:prstGeom>
          <a:noFill/>
        </p:spPr>
        <p:txBody>
          <a:bodyPr wrap="square" anchor="t" lIns="0" rIns="0" tIns="0" bIns="0">
            <a:spAutoFit/>
          </a:bodyPr>
          <a:lstStyle/>
          <a:p>
            <a:pPr algn="l">
              <a:lnSpc>
                <a:spcPct val="140000"/>
              </a:lnSpc>
            </a:pPr>
            <a:r>
              <a:rPr sz="1000" b="1">
                <a:solidFill>
                  <a:srgbClr val="B85E1A"/>
                </a:solidFill>
                <a:latin typeface="Hiragino Sans"/>
                <a:ea typeface="Hiragino Sans"/>
                <a:cs typeface="Hiragino Sans"/>
              </a:rPr>
              <a:t>→  Awareness / VRC / PMax で CTV ON</a:t>
            </a:r>
          </a:p>
        </p:txBody>
      </p:sp>
      <p:sp>
        <p:nvSpPr>
          <p:cNvPr id="36" name="Rounded Rectangle 35"/>
          <p:cNvSpPr/>
          <p:nvPr/>
        </p:nvSpPr>
        <p:spPr>
          <a:xfrm>
            <a:off x="548640" y="4709160"/>
            <a:ext cx="5440680" cy="15544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 y="4709160"/>
            <a:ext cx="91440" cy="1554480"/>
          </a:xfrm>
          <a:prstGeom prst="rect">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77240" y="4846320"/>
            <a:ext cx="457200" cy="320040"/>
          </a:xfrm>
          <a:prstGeom prst="rect">
            <a:avLst/>
          </a:prstGeom>
          <a:noFill/>
        </p:spPr>
        <p:txBody>
          <a:bodyPr wrap="square" anchor="t" lIns="0" rIns="0" tIns="0" bIns="0">
            <a:spAutoFit/>
          </a:bodyPr>
          <a:lstStyle/>
          <a:p>
            <a:pPr algn="l">
              <a:lnSpc>
                <a:spcPct val="115000"/>
              </a:lnSpc>
            </a:pPr>
            <a:r>
              <a:rPr sz="1800" b="1">
                <a:solidFill>
                  <a:srgbClr val="C6452D"/>
                </a:solidFill>
                <a:latin typeface="Hiragino Sans"/>
                <a:ea typeface="Hiragino Sans"/>
                <a:cs typeface="Hiragino Sans"/>
              </a:rPr>
              <a:t>✗</a:t>
            </a:r>
          </a:p>
        </p:txBody>
      </p:sp>
      <p:sp>
        <p:nvSpPr>
          <p:cNvPr id="39" name="TextBox 38"/>
          <p:cNvSpPr txBox="1"/>
          <p:nvPr/>
        </p:nvSpPr>
        <p:spPr>
          <a:xfrm>
            <a:off x="1188720" y="4846320"/>
            <a:ext cx="4663440" cy="365760"/>
          </a:xfrm>
          <a:prstGeom prst="rect">
            <a:avLst/>
          </a:prstGeom>
          <a:noFill/>
        </p:spPr>
        <p:txBody>
          <a:bodyPr wrap="square" anchor="t" lIns="0" rIns="0" tIns="0" bIns="0">
            <a:spAutoFit/>
          </a:bodyPr>
          <a:lstStyle/>
          <a:p>
            <a:pPr algn="l">
              <a:lnSpc>
                <a:spcPct val="130000"/>
              </a:lnSpc>
            </a:pPr>
            <a:r>
              <a:rPr sz="1200" b="1">
                <a:solidFill>
                  <a:srgbClr val="0F2A4F"/>
                </a:solidFill>
                <a:latin typeface="Hiragino Sans"/>
                <a:ea typeface="Hiragino Sans"/>
                <a:cs typeface="Hiragino Sans"/>
              </a:rPr>
              <a:t>Brand Lift Study 未活用</a:t>
            </a:r>
          </a:p>
        </p:txBody>
      </p:sp>
      <p:sp>
        <p:nvSpPr>
          <p:cNvPr id="40" name="TextBox 39"/>
          <p:cNvSpPr txBox="1"/>
          <p:nvPr/>
        </p:nvSpPr>
        <p:spPr>
          <a:xfrm>
            <a:off x="777240" y="5303520"/>
            <a:ext cx="5074920" cy="411480"/>
          </a:xfrm>
          <a:prstGeom prst="rect">
            <a:avLst/>
          </a:prstGeom>
          <a:noFill/>
        </p:spPr>
        <p:txBody>
          <a:bodyPr wrap="square" anchor="t" lIns="0" rIns="0" tIns="0" bIns="0">
            <a:spAutoFit/>
          </a:bodyPr>
          <a:lstStyle/>
          <a:p>
            <a:pPr algn="l">
              <a:lnSpc>
                <a:spcPct val="140000"/>
              </a:lnSpc>
            </a:pPr>
            <a:r>
              <a:rPr sz="1000" b="0">
                <a:solidFill>
                  <a:srgbClr val="5A6A80"/>
                </a:solidFill>
                <a:latin typeface="Hiragino Sans"/>
                <a:ea typeface="Hiragino Sans"/>
                <a:cs typeface="Hiragino Sans"/>
              </a:rPr>
              <a:t>ブランド広告のROIが説明できない</a:t>
            </a:r>
          </a:p>
        </p:txBody>
      </p:sp>
      <p:sp>
        <p:nvSpPr>
          <p:cNvPr id="41" name="Rectangle 40"/>
          <p:cNvSpPr/>
          <p:nvPr/>
        </p:nvSpPr>
        <p:spPr>
          <a:xfrm>
            <a:off x="777240" y="5715000"/>
            <a:ext cx="507492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77240" y="5806440"/>
            <a:ext cx="5074920" cy="411480"/>
          </a:xfrm>
          <a:prstGeom prst="rect">
            <a:avLst/>
          </a:prstGeom>
          <a:noFill/>
        </p:spPr>
        <p:txBody>
          <a:bodyPr wrap="square" anchor="t" lIns="0" rIns="0" tIns="0" bIns="0">
            <a:spAutoFit/>
          </a:bodyPr>
          <a:lstStyle/>
          <a:p>
            <a:pPr algn="l">
              <a:lnSpc>
                <a:spcPct val="140000"/>
              </a:lnSpc>
            </a:pPr>
            <a:r>
              <a:rPr sz="1000" b="1">
                <a:solidFill>
                  <a:srgbClr val="B85E1A"/>
                </a:solidFill>
                <a:latin typeface="Hiragino Sans"/>
                <a:ea typeface="Hiragino Sans"/>
                <a:cs typeface="Hiragino Sans"/>
              </a:rPr>
              <a:t>→  月100万円以上は Brand Lift で効果証明</a:t>
            </a:r>
          </a:p>
        </p:txBody>
      </p:sp>
      <p:sp>
        <p:nvSpPr>
          <p:cNvPr id="43" name="Rounded Rectangle 42"/>
          <p:cNvSpPr/>
          <p:nvPr/>
        </p:nvSpPr>
        <p:spPr>
          <a:xfrm>
            <a:off x="6172200" y="4709160"/>
            <a:ext cx="5440680" cy="15544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172200" y="4709160"/>
            <a:ext cx="91440" cy="1554480"/>
          </a:xfrm>
          <a:prstGeom prst="rect">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00800" y="4846320"/>
            <a:ext cx="457200" cy="320040"/>
          </a:xfrm>
          <a:prstGeom prst="rect">
            <a:avLst/>
          </a:prstGeom>
          <a:noFill/>
        </p:spPr>
        <p:txBody>
          <a:bodyPr wrap="square" anchor="t" lIns="0" rIns="0" tIns="0" bIns="0">
            <a:spAutoFit/>
          </a:bodyPr>
          <a:lstStyle/>
          <a:p>
            <a:pPr algn="l">
              <a:lnSpc>
                <a:spcPct val="115000"/>
              </a:lnSpc>
            </a:pPr>
            <a:r>
              <a:rPr sz="1800" b="1">
                <a:solidFill>
                  <a:srgbClr val="C6452D"/>
                </a:solidFill>
                <a:latin typeface="Hiragino Sans"/>
                <a:ea typeface="Hiragino Sans"/>
                <a:cs typeface="Hiragino Sans"/>
              </a:rPr>
              <a:t>✗</a:t>
            </a:r>
          </a:p>
        </p:txBody>
      </p:sp>
      <p:sp>
        <p:nvSpPr>
          <p:cNvPr id="46" name="TextBox 45"/>
          <p:cNvSpPr txBox="1"/>
          <p:nvPr/>
        </p:nvSpPr>
        <p:spPr>
          <a:xfrm>
            <a:off x="6812280" y="4846320"/>
            <a:ext cx="4663440" cy="365760"/>
          </a:xfrm>
          <a:prstGeom prst="rect">
            <a:avLst/>
          </a:prstGeom>
          <a:noFill/>
        </p:spPr>
        <p:txBody>
          <a:bodyPr wrap="square" anchor="t" lIns="0" rIns="0" tIns="0" bIns="0">
            <a:spAutoFit/>
          </a:bodyPr>
          <a:lstStyle/>
          <a:p>
            <a:pPr algn="l">
              <a:lnSpc>
                <a:spcPct val="130000"/>
              </a:lnSpc>
            </a:pPr>
            <a:r>
              <a:rPr sz="1200" b="1">
                <a:solidFill>
                  <a:srgbClr val="0F2A4F"/>
                </a:solidFill>
                <a:latin typeface="Hiragino Sans"/>
                <a:ea typeface="Hiragino Sans"/>
                <a:cs typeface="Hiragino Sans"/>
              </a:rPr>
              <a:t>Demand Gen と VRC を混同</a:t>
            </a:r>
          </a:p>
        </p:txBody>
      </p:sp>
      <p:sp>
        <p:nvSpPr>
          <p:cNvPr id="47" name="TextBox 46"/>
          <p:cNvSpPr txBox="1"/>
          <p:nvPr/>
        </p:nvSpPr>
        <p:spPr>
          <a:xfrm>
            <a:off x="6400800" y="5303520"/>
            <a:ext cx="5074920" cy="411480"/>
          </a:xfrm>
          <a:prstGeom prst="rect">
            <a:avLst/>
          </a:prstGeom>
          <a:noFill/>
        </p:spPr>
        <p:txBody>
          <a:bodyPr wrap="square" anchor="t" lIns="0" rIns="0" tIns="0" bIns="0">
            <a:spAutoFit/>
          </a:bodyPr>
          <a:lstStyle/>
          <a:p>
            <a:pPr algn="l">
              <a:lnSpc>
                <a:spcPct val="140000"/>
              </a:lnSpc>
            </a:pPr>
            <a:r>
              <a:rPr sz="1000" b="0">
                <a:solidFill>
                  <a:srgbClr val="5A6A80"/>
                </a:solidFill>
                <a:latin typeface="Hiragino Sans"/>
                <a:ea typeface="Hiragino Sans"/>
                <a:cs typeface="Hiragino Sans"/>
              </a:rPr>
              <a:t>目的別に使い分けないと予算非効率</a:t>
            </a:r>
          </a:p>
        </p:txBody>
      </p:sp>
      <p:sp>
        <p:nvSpPr>
          <p:cNvPr id="48" name="Rectangle 47"/>
          <p:cNvSpPr/>
          <p:nvPr/>
        </p:nvSpPr>
        <p:spPr>
          <a:xfrm>
            <a:off x="6400800" y="5715000"/>
            <a:ext cx="507492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400800" y="5806440"/>
            <a:ext cx="5074920" cy="411480"/>
          </a:xfrm>
          <a:prstGeom prst="rect">
            <a:avLst/>
          </a:prstGeom>
          <a:noFill/>
        </p:spPr>
        <p:txBody>
          <a:bodyPr wrap="square" anchor="t" lIns="0" rIns="0" tIns="0" bIns="0">
            <a:spAutoFit/>
          </a:bodyPr>
          <a:lstStyle/>
          <a:p>
            <a:pPr algn="l">
              <a:lnSpc>
                <a:spcPct val="140000"/>
              </a:lnSpc>
            </a:pPr>
            <a:r>
              <a:rPr sz="1000" b="1">
                <a:solidFill>
                  <a:srgbClr val="B85E1A"/>
                </a:solidFill>
                <a:latin typeface="Hiragino Sans"/>
                <a:ea typeface="Hiragino Sans"/>
                <a:cs typeface="Hiragino Sans"/>
              </a:rPr>
              <a:t>→  CV = Demand Gen, 認知 = VRC を徹底</a:t>
            </a:r>
          </a:p>
        </p:txBody>
      </p:sp>
      <p:sp>
        <p:nvSpPr>
          <p:cNvPr id="50" name="TextBox 49"/>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914400"/>
            <a:ext cx="137160" cy="493776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914400"/>
            <a:ext cx="7315200" cy="365760"/>
          </a:xfrm>
          <a:prstGeom prst="rect">
            <a:avLst/>
          </a:prstGeom>
          <a:noFill/>
        </p:spPr>
        <p:txBody>
          <a:bodyPr wrap="square" anchor="t" lIns="0" rIns="0" tIns="0" bIns="0">
            <a:spAutoFit/>
          </a:bodyPr>
          <a:lstStyle/>
          <a:p>
            <a:pPr algn="l">
              <a:lnSpc>
                <a:spcPct val="115000"/>
              </a:lnSpc>
            </a:pPr>
            <a:r>
              <a:rPr sz="1200" b="1">
                <a:solidFill>
                  <a:srgbClr val="E87722"/>
                </a:solidFill>
                <a:latin typeface="Helvetica Neue"/>
                <a:ea typeface="Helvetica Neue"/>
                <a:cs typeface="Helvetica Neue"/>
              </a:rPr>
              <a:t>PART 3 / 媒体別キャッチアップ — 3-C 後半</a:t>
            </a:r>
          </a:p>
        </p:txBody>
      </p:sp>
      <p:sp>
        <p:nvSpPr>
          <p:cNvPr id="5" name="TextBox 4"/>
          <p:cNvSpPr txBox="1"/>
          <p:nvPr/>
        </p:nvSpPr>
        <p:spPr>
          <a:xfrm>
            <a:off x="1097280" y="1280160"/>
            <a:ext cx="7315200" cy="365760"/>
          </a:xfrm>
          <a:prstGeom prst="rect">
            <a:avLst/>
          </a:prstGeom>
          <a:noFill/>
        </p:spPr>
        <p:txBody>
          <a:bodyPr wrap="square" anchor="t" lIns="0" rIns="0" tIns="0" bIns="0">
            <a:spAutoFit/>
          </a:bodyPr>
          <a:lstStyle/>
          <a:p>
            <a:pPr algn="l">
              <a:lnSpc>
                <a:spcPct val="115000"/>
              </a:lnSpc>
            </a:pPr>
            <a:r>
              <a:rPr sz="1400" b="1">
                <a:solidFill>
                  <a:srgbClr val="D7DDE8"/>
                </a:solidFill>
                <a:latin typeface="Hiragino Sans"/>
                <a:ea typeface="Hiragino Sans"/>
                <a:cs typeface="Hiragino Sans"/>
              </a:rPr>
              <a:t>日本市場の二大ポータル</a:t>
            </a:r>
          </a:p>
        </p:txBody>
      </p:sp>
      <p:sp>
        <p:nvSpPr>
          <p:cNvPr id="6" name="TextBox 5"/>
          <p:cNvSpPr txBox="1"/>
          <p:nvPr/>
        </p:nvSpPr>
        <p:spPr>
          <a:xfrm>
            <a:off x="1097280" y="1691640"/>
            <a:ext cx="10058400" cy="1188720"/>
          </a:xfrm>
          <a:prstGeom prst="rect">
            <a:avLst/>
          </a:prstGeom>
          <a:noFill/>
        </p:spPr>
        <p:txBody>
          <a:bodyPr wrap="square" anchor="t" lIns="0" rIns="0" tIns="0" bIns="0">
            <a:spAutoFit/>
          </a:bodyPr>
          <a:lstStyle/>
          <a:p>
            <a:pPr algn="l">
              <a:lnSpc>
                <a:spcPct val="110000"/>
              </a:lnSpc>
            </a:pPr>
            <a:r>
              <a:rPr sz="5400" b="1">
                <a:solidFill>
                  <a:srgbClr val="FFFFFF"/>
                </a:solidFill>
                <a:latin typeface="Hiragino Sans"/>
                <a:ea typeface="Hiragino Sans"/>
                <a:cs typeface="Hiragino Sans"/>
              </a:rPr>
              <a:t>Yahoo!広告</a:t>
            </a:r>
          </a:p>
        </p:txBody>
      </p:sp>
      <p:sp>
        <p:nvSpPr>
          <p:cNvPr id="7" name="TextBox 6"/>
          <p:cNvSpPr txBox="1"/>
          <p:nvPr/>
        </p:nvSpPr>
        <p:spPr>
          <a:xfrm>
            <a:off x="1097280" y="3017520"/>
            <a:ext cx="10058400" cy="365760"/>
          </a:xfrm>
          <a:prstGeom prst="rect">
            <a:avLst/>
          </a:prstGeom>
          <a:noFill/>
        </p:spPr>
        <p:txBody>
          <a:bodyPr wrap="square" anchor="t" lIns="0" rIns="0" tIns="0" bIns="0">
            <a:spAutoFit/>
          </a:bodyPr>
          <a:lstStyle/>
          <a:p>
            <a:pPr algn="l">
              <a:lnSpc>
                <a:spcPct val="115000"/>
              </a:lnSpc>
            </a:pPr>
            <a:r>
              <a:rPr sz="1600" b="0">
                <a:solidFill>
                  <a:srgbClr val="D7DDE8"/>
                </a:solidFill>
                <a:latin typeface="Hiragino Sans"/>
                <a:ea typeface="Hiragino Sans"/>
                <a:cs typeface="Hiragino Sans"/>
              </a:rPr>
              <a:t>LINEヤフー広告 統合 (2026春) 直前の現在地</a:t>
            </a:r>
          </a:p>
        </p:txBody>
      </p:sp>
      <p:sp>
        <p:nvSpPr>
          <p:cNvPr id="8" name="Rounded Rectangle 7"/>
          <p:cNvSpPr/>
          <p:nvPr/>
        </p:nvSpPr>
        <p:spPr>
          <a:xfrm>
            <a:off x="9875520" y="914400"/>
            <a:ext cx="1828800" cy="640080"/>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1078992"/>
            <a:ext cx="1828800" cy="457200"/>
          </a:xfrm>
          <a:prstGeom prst="rect">
            <a:avLst/>
          </a:prstGeom>
          <a:noFill/>
        </p:spPr>
        <p:txBody>
          <a:bodyPr wrap="square" anchor="t" lIns="0" rIns="0" tIns="0" bIns="0">
            <a:spAutoFit/>
          </a:bodyPr>
          <a:lstStyle/>
          <a:p>
            <a:pPr algn="ctr">
              <a:lnSpc>
                <a:spcPct val="115000"/>
              </a:lnSpc>
            </a:pPr>
            <a:r>
              <a:rPr sz="1800" b="1">
                <a:solidFill>
                  <a:srgbClr val="FFFFFF"/>
                </a:solidFill>
                <a:latin typeface="Helvetica Neue"/>
                <a:ea typeface="Helvetica Neue"/>
                <a:cs typeface="Helvetica Neue"/>
              </a:rPr>
              <a:t>10p</a:t>
            </a:r>
          </a:p>
        </p:txBody>
      </p:sp>
      <p:sp>
        <p:nvSpPr>
          <p:cNvPr id="10" name="Rectangle 9"/>
          <p:cNvSpPr/>
          <p:nvPr/>
        </p:nvSpPr>
        <p:spPr>
          <a:xfrm>
            <a:off x="1097280" y="3657600"/>
            <a:ext cx="914400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840480"/>
            <a:ext cx="10058400" cy="1097280"/>
          </a:xfrm>
          <a:prstGeom prst="rect">
            <a:avLst/>
          </a:prstGeom>
          <a:noFill/>
        </p:spPr>
        <p:txBody>
          <a:bodyPr wrap="square" anchor="t" lIns="0" rIns="0" tIns="0" bIns="0">
            <a:spAutoFit/>
          </a:bodyPr>
          <a:lstStyle/>
          <a:p>
            <a:pPr algn="l">
              <a:lnSpc>
                <a:spcPct val="150000"/>
              </a:lnSpc>
            </a:pPr>
            <a:r>
              <a:rPr sz="1300" b="0">
                <a:solidFill>
                  <a:srgbClr val="D7DDE8"/>
                </a:solidFill>
                <a:latin typeface="Hiragino Sans"/>
                <a:ea typeface="Hiragino Sans"/>
                <a:cs typeface="Hiragino Sans"/>
              </a:rPr>
              <a:t>2025/09/25 公式発表 : LINE広告 + Yahoo!広告ディスプレイ広告 (運用型・予約型) を統合し、</a:t>
            </a:r>
          </a:p>
          <a:p>
            <a:pPr algn="l">
              <a:lnSpc>
                <a:spcPct val="150000"/>
              </a:lnSpc>
            </a:pPr>
            <a:r>
              <a:rPr sz="1300" b="0">
                <a:solidFill>
                  <a:srgbClr val="D7DDE8"/>
                </a:solidFill>
                <a:latin typeface="Hiragino Sans"/>
                <a:ea typeface="Hiragino Sans"/>
                <a:cs typeface="Hiragino Sans"/>
              </a:rPr>
              <a:t>2026年春から『LINEヤフー広告 ディスプレイ広告』として提供開始。</a:t>
            </a:r>
          </a:p>
          <a:p>
            <a:pPr algn="l">
              <a:lnSpc>
                <a:spcPct val="150000"/>
              </a:lnSpc>
            </a:pPr>
            <a:r>
              <a:rPr sz="1300" b="0">
                <a:solidFill>
                  <a:srgbClr val="D7DDE8"/>
                </a:solidFill>
                <a:latin typeface="Hiragino Sans"/>
                <a:ea typeface="Hiragino Sans"/>
                <a:cs typeface="Hiragino Sans"/>
              </a:rPr>
              <a:t>Yahoo!ユーザーは自動移行、LINE側は移行ツール or 手動移行</a:t>
            </a:r>
          </a:p>
        </p:txBody>
      </p:sp>
      <p:sp>
        <p:nvSpPr>
          <p:cNvPr id="12" name="TextBox 11"/>
          <p:cNvSpPr txBox="1"/>
          <p:nvPr/>
        </p:nvSpPr>
        <p:spPr>
          <a:xfrm>
            <a:off x="1097280" y="5120640"/>
            <a:ext cx="7315200" cy="320040"/>
          </a:xfrm>
          <a:prstGeom prst="rect">
            <a:avLst/>
          </a:prstGeom>
          <a:noFill/>
        </p:spPr>
        <p:txBody>
          <a:bodyPr wrap="square" anchor="t" lIns="0" rIns="0" tIns="0" bIns="0">
            <a:spAutoFit/>
          </a:bodyPr>
          <a:lstStyle/>
          <a:p>
            <a:pPr algn="l">
              <a:lnSpc>
                <a:spcPct val="115000"/>
              </a:lnSpc>
            </a:pPr>
            <a:r>
              <a:rPr sz="1200" b="1">
                <a:solidFill>
                  <a:srgbClr val="E87722"/>
                </a:solidFill>
                <a:latin typeface="Hiragino Sans"/>
                <a:ea typeface="Hiragino Sans"/>
                <a:cs typeface="Hiragino Sans"/>
              </a:rPr>
              <a:t>▸ 章内の主要トピック</a:t>
            </a:r>
          </a:p>
        </p:txBody>
      </p:sp>
      <p:sp>
        <p:nvSpPr>
          <p:cNvPr id="13" name="TextBox 12"/>
          <p:cNvSpPr txBox="1"/>
          <p:nvPr/>
        </p:nvSpPr>
        <p:spPr>
          <a:xfrm>
            <a:off x="1097280" y="5440680"/>
            <a:ext cx="5029200" cy="292608"/>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LINEヤフー広告統合 2026春</a:t>
            </a:r>
          </a:p>
        </p:txBody>
      </p:sp>
      <p:sp>
        <p:nvSpPr>
          <p:cNvPr id="14" name="TextBox 13"/>
          <p:cNvSpPr txBox="1"/>
          <p:nvPr/>
        </p:nvSpPr>
        <p:spPr>
          <a:xfrm>
            <a:off x="1097280" y="5733288"/>
            <a:ext cx="5029200" cy="292608"/>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Yahoo!検索広告 + AI機能</a:t>
            </a:r>
          </a:p>
        </p:txBody>
      </p:sp>
      <p:sp>
        <p:nvSpPr>
          <p:cNvPr id="15" name="TextBox 14"/>
          <p:cNvSpPr txBox="1"/>
          <p:nvPr/>
        </p:nvSpPr>
        <p:spPr>
          <a:xfrm>
            <a:off x="1097280" y="6025896"/>
            <a:ext cx="5029200" cy="292608"/>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YDA (ディスプレイ広告)</a:t>
            </a:r>
          </a:p>
        </p:txBody>
      </p:sp>
      <p:sp>
        <p:nvSpPr>
          <p:cNvPr id="16" name="TextBox 15"/>
          <p:cNvSpPr txBox="1"/>
          <p:nvPr/>
        </p:nvSpPr>
        <p:spPr>
          <a:xfrm>
            <a:off x="1097280" y="6318504"/>
            <a:ext cx="5029200" cy="292608"/>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LINE広告との連携</a:t>
            </a:r>
          </a:p>
        </p:txBody>
      </p:sp>
      <p:sp>
        <p:nvSpPr>
          <p:cNvPr id="17" name="TextBox 16"/>
          <p:cNvSpPr txBox="1"/>
          <p:nvPr/>
        </p:nvSpPr>
        <p:spPr>
          <a:xfrm>
            <a:off x="6309360" y="5440680"/>
            <a:ext cx="5029200" cy="292608"/>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ターゲティング・オーディエンス</a:t>
            </a:r>
          </a:p>
        </p:txBody>
      </p:sp>
      <p:sp>
        <p:nvSpPr>
          <p:cNvPr id="18" name="TextBox 17"/>
          <p:cNvSpPr txBox="1"/>
          <p:nvPr/>
        </p:nvSpPr>
        <p:spPr>
          <a:xfrm>
            <a:off x="6309360" y="5733288"/>
            <a:ext cx="5029200" cy="292608"/>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計測・コンバージョンタグ</a:t>
            </a:r>
          </a:p>
        </p:txBody>
      </p:sp>
      <p:sp>
        <p:nvSpPr>
          <p:cNvPr id="19" name="TextBox 18"/>
          <p:cNvSpPr txBox="1"/>
          <p:nvPr/>
        </p:nvSpPr>
        <p:spPr>
          <a:xfrm>
            <a:off x="6309360" y="6025896"/>
            <a:ext cx="5029200" cy="292608"/>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鉄板運用メソッド</a:t>
            </a:r>
          </a:p>
        </p:txBody>
      </p:sp>
      <p:sp>
        <p:nvSpPr>
          <p:cNvPr id="20" name="TextBox 19"/>
          <p:cNvSpPr txBox="1"/>
          <p:nvPr/>
        </p:nvSpPr>
        <p:spPr>
          <a:xfrm>
            <a:off x="6309360" y="6318504"/>
            <a:ext cx="5029200" cy="292608"/>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よくある失敗・回避策</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 LINEヤフー広告 統合 2026春</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LINE + Yahoo! ディスプレイ広告が一本化される</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P91 / 250</a:t>
            </a:r>
          </a:p>
        </p:txBody>
      </p:sp>
      <p:sp>
        <p:nvSpPr>
          <p:cNvPr id="8" name="Rounded Rectangle 7"/>
          <p:cNvSpPr/>
          <p:nvPr/>
        </p:nvSpPr>
        <p:spPr>
          <a:xfrm>
            <a:off x="548640" y="1371600"/>
            <a:ext cx="11109960" cy="118872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600200"/>
            <a:ext cx="731520" cy="731520"/>
          </a:xfrm>
          <a:prstGeom prst="rect">
            <a:avLst/>
          </a:prstGeom>
          <a:noFill/>
        </p:spPr>
        <p:txBody>
          <a:bodyPr wrap="square" anchor="t" lIns="0" rIns="0" tIns="0" bIns="0">
            <a:spAutoFit/>
          </a:bodyPr>
          <a:lstStyle/>
          <a:p>
            <a:pPr algn="l">
              <a:lnSpc>
                <a:spcPct val="115000"/>
              </a:lnSpc>
            </a:pPr>
            <a:r>
              <a:rPr sz="3000" b="0">
                <a:solidFill>
                  <a:srgbClr val="1A1A1A"/>
                </a:solidFill>
                <a:latin typeface="Hiragino Sans"/>
                <a:ea typeface="Hiragino Sans"/>
                <a:cs typeface="Hiragino Sans"/>
              </a:rPr>
              <a:t>📢</a:t>
            </a:r>
          </a:p>
        </p:txBody>
      </p:sp>
      <p:sp>
        <p:nvSpPr>
          <p:cNvPr id="10" name="TextBox 9"/>
          <p:cNvSpPr txBox="1"/>
          <p:nvPr/>
        </p:nvSpPr>
        <p:spPr>
          <a:xfrm>
            <a:off x="1554480" y="1554480"/>
            <a:ext cx="10058400" cy="365760"/>
          </a:xfrm>
          <a:prstGeom prst="rect">
            <a:avLst/>
          </a:prstGeom>
          <a:noFill/>
        </p:spPr>
        <p:txBody>
          <a:bodyPr wrap="square" anchor="t" lIns="0" rIns="0" tIns="0" bIns="0">
            <a:spAutoFit/>
          </a:bodyPr>
          <a:lstStyle/>
          <a:p>
            <a:pPr algn="l">
              <a:lnSpc>
                <a:spcPct val="115000"/>
              </a:lnSpc>
            </a:pPr>
            <a:r>
              <a:rPr sz="1200" b="1">
                <a:solidFill>
                  <a:srgbClr val="E87722"/>
                </a:solidFill>
                <a:latin typeface="Hiragino Sans"/>
                <a:ea typeface="Hiragino Sans"/>
                <a:cs typeface="Hiragino Sans"/>
              </a:rPr>
              <a:t>LINEヤフー公式発表 (2025/09/25)</a:t>
            </a:r>
          </a:p>
        </p:txBody>
      </p:sp>
      <p:sp>
        <p:nvSpPr>
          <p:cNvPr id="11" name="TextBox 10"/>
          <p:cNvSpPr txBox="1"/>
          <p:nvPr/>
        </p:nvSpPr>
        <p:spPr>
          <a:xfrm>
            <a:off x="1554480" y="1874519"/>
            <a:ext cx="10058400" cy="640080"/>
          </a:xfrm>
          <a:prstGeom prst="rect">
            <a:avLst/>
          </a:prstGeom>
          <a:noFill/>
        </p:spPr>
        <p:txBody>
          <a:bodyPr wrap="square" anchor="t" lIns="0" rIns="0" tIns="0" bIns="0">
            <a:spAutoFit/>
          </a:bodyPr>
          <a:lstStyle/>
          <a:p>
            <a:pPr algn="l">
              <a:lnSpc>
                <a:spcPct val="150000"/>
              </a:lnSpc>
            </a:pPr>
            <a:r>
              <a:rPr sz="1200" b="1">
                <a:solidFill>
                  <a:srgbClr val="FFFFFF"/>
                </a:solidFill>
                <a:latin typeface="Hiragino Sans"/>
                <a:ea typeface="Hiragino Sans"/>
                <a:cs typeface="Hiragino Sans"/>
              </a:rPr>
              <a:t>LINE広告 (Talk Head View含む) + Yahoo!広告 ディスプレイ広告 (運用型・予約型) を統合</a:t>
            </a:r>
          </a:p>
          <a:p>
            <a:pPr algn="l">
              <a:lnSpc>
                <a:spcPct val="150000"/>
              </a:lnSpc>
            </a:pPr>
            <a:r>
              <a:rPr sz="1200" b="1">
                <a:solidFill>
                  <a:srgbClr val="FFFFFF"/>
                </a:solidFill>
                <a:latin typeface="Hiragino Sans"/>
                <a:ea typeface="Hiragino Sans"/>
                <a:cs typeface="Hiragino Sans"/>
              </a:rPr>
              <a:t>2026年春より『LINEヤフー広告 ディスプレイ広告』として提供開始</a:t>
            </a:r>
          </a:p>
        </p:txBody>
      </p:sp>
      <p:sp>
        <p:nvSpPr>
          <p:cNvPr id="12" name="TextBox 11"/>
          <p:cNvSpPr txBox="1"/>
          <p:nvPr/>
        </p:nvSpPr>
        <p:spPr>
          <a:xfrm>
            <a:off x="548640" y="2697480"/>
            <a:ext cx="1097280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現在ユーザーの移行パス</a:t>
            </a:r>
          </a:p>
        </p:txBody>
      </p:sp>
      <p:sp>
        <p:nvSpPr>
          <p:cNvPr id="13" name="Rounded Rectangle 12"/>
          <p:cNvSpPr/>
          <p:nvPr/>
        </p:nvSpPr>
        <p:spPr>
          <a:xfrm>
            <a:off x="548640" y="3108960"/>
            <a:ext cx="5486400" cy="18288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108960"/>
            <a:ext cx="91440" cy="1828800"/>
          </a:xfrm>
          <a:prstGeom prst="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3246120"/>
            <a:ext cx="5120640" cy="36576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Yahoo!広告ユーザー</a:t>
            </a:r>
          </a:p>
        </p:txBody>
      </p:sp>
      <p:sp>
        <p:nvSpPr>
          <p:cNvPr id="16" name="TextBox 15"/>
          <p:cNvSpPr txBox="1"/>
          <p:nvPr/>
        </p:nvSpPr>
        <p:spPr>
          <a:xfrm>
            <a:off x="777240" y="3657600"/>
            <a:ext cx="5120640" cy="365760"/>
          </a:xfrm>
          <a:prstGeom prst="rect">
            <a:avLst/>
          </a:prstGeom>
          <a:noFill/>
        </p:spPr>
        <p:txBody>
          <a:bodyPr wrap="square" anchor="t" lIns="0" rIns="0" tIns="0" bIns="0">
            <a:spAutoFit/>
          </a:bodyPr>
          <a:lstStyle/>
          <a:p>
            <a:pPr algn="l">
              <a:lnSpc>
                <a:spcPct val="115000"/>
              </a:lnSpc>
            </a:pPr>
            <a:r>
              <a:rPr sz="1400" b="1">
                <a:solidFill>
                  <a:srgbClr val="2E8B57"/>
                </a:solidFill>
                <a:latin typeface="Hiragino Sans"/>
                <a:ea typeface="Hiragino Sans"/>
                <a:cs typeface="Hiragino Sans"/>
              </a:rPr>
              <a:t>✓ 自動移行</a:t>
            </a:r>
          </a:p>
        </p:txBody>
      </p:sp>
      <p:sp>
        <p:nvSpPr>
          <p:cNvPr id="17" name="TextBox 16"/>
          <p:cNvSpPr txBox="1"/>
          <p:nvPr/>
        </p:nvSpPr>
        <p:spPr>
          <a:xfrm>
            <a:off x="777240" y="4114800"/>
            <a:ext cx="5120640" cy="77724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設定・データそのまま引継ぎ</a:t>
            </a:r>
          </a:p>
          <a:p>
            <a:pPr algn="l">
              <a:lnSpc>
                <a:spcPct val="150000"/>
              </a:lnSpc>
            </a:pPr>
            <a:r>
              <a:rPr sz="1100" b="0">
                <a:solidFill>
                  <a:srgbClr val="1A1A1A"/>
                </a:solidFill>
                <a:latin typeface="Hiragino Sans"/>
                <a:ea typeface="Hiragino Sans"/>
                <a:cs typeface="Hiragino Sans"/>
              </a:rPr>
              <a:t>運用者の作業は不要</a:t>
            </a:r>
          </a:p>
        </p:txBody>
      </p:sp>
      <p:sp>
        <p:nvSpPr>
          <p:cNvPr id="18" name="Rounded Rectangle 17"/>
          <p:cNvSpPr/>
          <p:nvPr/>
        </p:nvSpPr>
        <p:spPr>
          <a:xfrm>
            <a:off x="6172200" y="3108960"/>
            <a:ext cx="5486400" cy="18288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72200" y="3108960"/>
            <a:ext cx="91440" cy="1828800"/>
          </a:xfrm>
          <a:prstGeom prst="rect">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3246120"/>
            <a:ext cx="5120640" cy="36576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LINE広告ユーザー</a:t>
            </a:r>
          </a:p>
        </p:txBody>
      </p:sp>
      <p:sp>
        <p:nvSpPr>
          <p:cNvPr id="21" name="TextBox 20"/>
          <p:cNvSpPr txBox="1"/>
          <p:nvPr/>
        </p:nvSpPr>
        <p:spPr>
          <a:xfrm>
            <a:off x="6400800" y="3657600"/>
            <a:ext cx="5120640" cy="365760"/>
          </a:xfrm>
          <a:prstGeom prst="rect">
            <a:avLst/>
          </a:prstGeom>
          <a:noFill/>
        </p:spPr>
        <p:txBody>
          <a:bodyPr wrap="square" anchor="t" lIns="0" rIns="0" tIns="0" bIns="0">
            <a:spAutoFit/>
          </a:bodyPr>
          <a:lstStyle/>
          <a:p>
            <a:pPr algn="l">
              <a:lnSpc>
                <a:spcPct val="115000"/>
              </a:lnSpc>
            </a:pPr>
            <a:r>
              <a:rPr sz="1400" b="1">
                <a:solidFill>
                  <a:srgbClr val="C6452D"/>
                </a:solidFill>
                <a:latin typeface="Hiragino Sans"/>
                <a:ea typeface="Hiragino Sans"/>
                <a:cs typeface="Hiragino Sans"/>
              </a:rPr>
              <a:t>⚠ 移行ツール or 手動移行</a:t>
            </a:r>
          </a:p>
        </p:txBody>
      </p:sp>
      <p:sp>
        <p:nvSpPr>
          <p:cNvPr id="22" name="TextBox 21"/>
          <p:cNvSpPr txBox="1"/>
          <p:nvPr/>
        </p:nvSpPr>
        <p:spPr>
          <a:xfrm>
            <a:off x="6400800" y="4114800"/>
            <a:ext cx="5120640" cy="77724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管理画面の移行ツール経由</a:t>
            </a:r>
          </a:p>
          <a:p>
            <a:pPr algn="l">
              <a:lnSpc>
                <a:spcPct val="150000"/>
              </a:lnSpc>
            </a:pPr>
            <a:r>
              <a:rPr sz="1100" b="0">
                <a:solidFill>
                  <a:srgbClr val="1A1A1A"/>
                </a:solidFill>
                <a:latin typeface="Hiragino Sans"/>
                <a:ea typeface="Hiragino Sans"/>
                <a:cs typeface="Hiragino Sans"/>
              </a:rPr>
              <a:t>手動セットアップも可</a:t>
            </a:r>
          </a:p>
        </p:txBody>
      </p:sp>
      <p:sp>
        <p:nvSpPr>
          <p:cNvPr id="23" name="Rounded Rectangle 22"/>
          <p:cNvSpPr/>
          <p:nvPr/>
        </p:nvSpPr>
        <p:spPr>
          <a:xfrm>
            <a:off x="548640" y="5166360"/>
            <a:ext cx="11109960" cy="118872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285232"/>
            <a:ext cx="100584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 Connect One 構想とは</a:t>
            </a:r>
          </a:p>
        </p:txBody>
      </p:sp>
      <p:sp>
        <p:nvSpPr>
          <p:cNvPr id="25" name="TextBox 24"/>
          <p:cNvSpPr txBox="1"/>
          <p:nvPr/>
        </p:nvSpPr>
        <p:spPr>
          <a:xfrm>
            <a:off x="777240" y="5605272"/>
            <a:ext cx="10972800" cy="73152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LINE公式アカウントを起点に、広告 / 販促 / コマース / 予約 / 顧客分析 を統合提供する構想。</a:t>
            </a:r>
          </a:p>
          <a:p>
            <a:pPr algn="l">
              <a:lnSpc>
                <a:spcPct val="150000"/>
              </a:lnSpc>
            </a:pPr>
            <a:r>
              <a:rPr sz="1100" b="0">
                <a:solidFill>
                  <a:srgbClr val="1A1A1A"/>
                </a:solidFill>
                <a:latin typeface="Hiragino Sans"/>
                <a:ea typeface="Hiragino Sans"/>
                <a:cs typeface="Hiragino Sans"/>
              </a:rPr>
              <a:t>2026春の広告統合はその第一弾。LINE + Yahoo! の統合データで MLモデルが共有学習 → 配信効果向上を期待</a:t>
            </a:r>
          </a:p>
        </p:txBody>
      </p:sp>
      <p:sp>
        <p:nvSpPr>
          <p:cNvPr id="26" name="TextBox 25"/>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Yahoo!検索広告 — 現在 + AI機能</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Google検索広告とは異なる立ち位置を維持</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P92 / 250</a:t>
            </a:r>
          </a:p>
        </p:txBody>
      </p:sp>
      <p:sp>
        <p:nvSpPr>
          <p:cNvPr id="8" name="Rounded Rectangle 7"/>
          <p:cNvSpPr/>
          <p:nvPr/>
        </p:nvSpPr>
        <p:spPr>
          <a:xfrm>
            <a:off x="548640" y="1371600"/>
            <a:ext cx="11109960" cy="914400"/>
          </a:xfrm>
          <a:prstGeom prst="roundRect">
            <a:avLst>
              <a:gd name="adj" fmla="val 6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08760"/>
            <a:ext cx="10972800" cy="731520"/>
          </a:xfrm>
          <a:prstGeom prst="rect">
            <a:avLst/>
          </a:prstGeom>
          <a:noFill/>
        </p:spPr>
        <p:txBody>
          <a:bodyPr wrap="square" anchor="t" lIns="0" rIns="0" tIns="0" bIns="0">
            <a:spAutoFit/>
          </a:bodyPr>
          <a:lstStyle/>
          <a:p>
            <a:pPr algn="l">
              <a:lnSpc>
                <a:spcPct val="150000"/>
              </a:lnSpc>
            </a:pPr>
            <a:r>
              <a:rPr sz="1200" b="0">
                <a:solidFill>
                  <a:srgbClr val="1A1A1A"/>
                </a:solidFill>
                <a:latin typeface="Hiragino Sans"/>
                <a:ea typeface="Hiragino Sans"/>
                <a:cs typeface="Hiragino Sans"/>
              </a:rPr>
              <a:t>Yahoo!JAPAN は日本国内での検索シェア 約20-25% (Google約75%) ※要確認。</a:t>
            </a:r>
          </a:p>
          <a:p>
            <a:pPr algn="l">
              <a:lnSpc>
                <a:spcPct val="150000"/>
              </a:lnSpc>
            </a:pPr>
            <a:r>
              <a:rPr sz="1200" b="0">
                <a:solidFill>
                  <a:srgbClr val="1A1A1A"/>
                </a:solidFill>
                <a:latin typeface="Hiragino Sans"/>
                <a:ea typeface="Hiragino Sans"/>
                <a:cs typeface="Hiragino Sans"/>
              </a:rPr>
              <a:t>高年齢層 + 男性比率高 + ニュース閲覧と連動した検索行動が特徴</a:t>
            </a:r>
          </a:p>
        </p:txBody>
      </p:sp>
      <p:sp>
        <p:nvSpPr>
          <p:cNvPr id="10" name="Rounded Rectangle 9"/>
          <p:cNvSpPr/>
          <p:nvPr/>
        </p:nvSpPr>
        <p:spPr>
          <a:xfrm>
            <a:off x="548640" y="2468880"/>
            <a:ext cx="2697480" cy="2286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468880"/>
            <a:ext cx="2697480" cy="13716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743200"/>
            <a:ext cx="2331720" cy="41148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自動入札</a:t>
            </a:r>
          </a:p>
        </p:txBody>
      </p:sp>
      <p:sp>
        <p:nvSpPr>
          <p:cNvPr id="13" name="TextBox 12"/>
          <p:cNvSpPr txBox="1"/>
          <p:nvPr/>
        </p:nvSpPr>
        <p:spPr>
          <a:xfrm>
            <a:off x="731520" y="3246120"/>
            <a:ext cx="2331720" cy="365760"/>
          </a:xfrm>
          <a:prstGeom prst="rect">
            <a:avLst/>
          </a:prstGeom>
          <a:noFill/>
        </p:spPr>
        <p:txBody>
          <a:bodyPr wrap="square" anchor="t" lIns="0" rIns="0" tIns="0" bIns="0">
            <a:spAutoFit/>
          </a:bodyPr>
          <a:lstStyle/>
          <a:p>
            <a:pPr algn="l">
              <a:lnSpc>
                <a:spcPct val="130000"/>
              </a:lnSpc>
            </a:pPr>
            <a:r>
              <a:rPr sz="1000" b="1">
                <a:solidFill>
                  <a:srgbClr val="B85E1A"/>
                </a:solidFill>
                <a:latin typeface="Hiragino Sans"/>
                <a:ea typeface="Hiragino Sans"/>
                <a:cs typeface="Hiragino Sans"/>
              </a:rPr>
              <a:t>目的別自動入札</a:t>
            </a:r>
          </a:p>
        </p:txBody>
      </p:sp>
      <p:sp>
        <p:nvSpPr>
          <p:cNvPr id="14" name="TextBox 13"/>
          <p:cNvSpPr txBox="1"/>
          <p:nvPr/>
        </p:nvSpPr>
        <p:spPr>
          <a:xfrm>
            <a:off x="731520" y="3749040"/>
            <a:ext cx="2331720" cy="960120"/>
          </a:xfrm>
          <a:prstGeom prst="rect">
            <a:avLst/>
          </a:prstGeom>
          <a:noFill/>
        </p:spPr>
        <p:txBody>
          <a:bodyPr wrap="square" anchor="t" lIns="0" rIns="0" tIns="0" bIns="0">
            <a:spAutoFit/>
          </a:bodyPr>
          <a:lstStyle/>
          <a:p>
            <a:pPr algn="l">
              <a:lnSpc>
                <a:spcPct val="150000"/>
              </a:lnSpc>
            </a:pPr>
            <a:r>
              <a:rPr sz="1000" b="0">
                <a:solidFill>
                  <a:srgbClr val="1A1A1A"/>
                </a:solidFill>
                <a:latin typeface="Hiragino Sans"/>
                <a:ea typeface="Hiragino Sans"/>
                <a:cs typeface="Hiragino Sans"/>
              </a:rPr>
              <a:t>Maxコンバージョン / 目標CPA /</a:t>
            </a:r>
          </a:p>
          <a:p>
            <a:pPr algn="l">
              <a:lnSpc>
                <a:spcPct val="150000"/>
              </a:lnSpc>
            </a:pPr>
            <a:r>
              <a:rPr sz="1000" b="0">
                <a:solidFill>
                  <a:srgbClr val="1A1A1A"/>
                </a:solidFill>
                <a:latin typeface="Hiragino Sans"/>
                <a:ea typeface="Hiragino Sans"/>
                <a:cs typeface="Hiragino Sans"/>
              </a:rPr>
              <a:t>目標ROAS / Maxクリック等</a:t>
            </a:r>
          </a:p>
        </p:txBody>
      </p:sp>
      <p:sp>
        <p:nvSpPr>
          <p:cNvPr id="15" name="Rounded Rectangle 14"/>
          <p:cNvSpPr/>
          <p:nvPr/>
        </p:nvSpPr>
        <p:spPr>
          <a:xfrm>
            <a:off x="3337560" y="2468880"/>
            <a:ext cx="2697480" cy="2286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37560" y="2468880"/>
            <a:ext cx="2697480" cy="13716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20440" y="2743200"/>
            <a:ext cx="2331720" cy="41148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レスポンシブ検索広告</a:t>
            </a:r>
          </a:p>
        </p:txBody>
      </p:sp>
      <p:sp>
        <p:nvSpPr>
          <p:cNvPr id="18" name="TextBox 17"/>
          <p:cNvSpPr txBox="1"/>
          <p:nvPr/>
        </p:nvSpPr>
        <p:spPr>
          <a:xfrm>
            <a:off x="3520440" y="3246120"/>
            <a:ext cx="2331720" cy="365760"/>
          </a:xfrm>
          <a:prstGeom prst="rect">
            <a:avLst/>
          </a:prstGeom>
          <a:noFill/>
        </p:spPr>
        <p:txBody>
          <a:bodyPr wrap="square" anchor="t" lIns="0" rIns="0" tIns="0" bIns="0">
            <a:spAutoFit/>
          </a:bodyPr>
          <a:lstStyle/>
          <a:p>
            <a:pPr algn="l">
              <a:lnSpc>
                <a:spcPct val="130000"/>
              </a:lnSpc>
            </a:pPr>
            <a:r>
              <a:rPr sz="1000" b="1">
                <a:solidFill>
                  <a:srgbClr val="B85E1A"/>
                </a:solidFill>
                <a:latin typeface="Hiragino Sans"/>
                <a:ea typeface="Hiragino Sans"/>
                <a:cs typeface="Hiragino Sans"/>
              </a:rPr>
              <a:t>見出し最大15・説明文最大4</a:t>
            </a:r>
          </a:p>
        </p:txBody>
      </p:sp>
      <p:sp>
        <p:nvSpPr>
          <p:cNvPr id="19" name="TextBox 18"/>
          <p:cNvSpPr txBox="1"/>
          <p:nvPr/>
        </p:nvSpPr>
        <p:spPr>
          <a:xfrm>
            <a:off x="3520440" y="3749040"/>
            <a:ext cx="2331720" cy="960120"/>
          </a:xfrm>
          <a:prstGeom prst="rect">
            <a:avLst/>
          </a:prstGeom>
          <a:noFill/>
        </p:spPr>
        <p:txBody>
          <a:bodyPr wrap="square" anchor="t" lIns="0" rIns="0" tIns="0" bIns="0">
            <a:spAutoFit/>
          </a:bodyPr>
          <a:lstStyle/>
          <a:p>
            <a:pPr algn="l">
              <a:lnSpc>
                <a:spcPct val="150000"/>
              </a:lnSpc>
            </a:pPr>
            <a:r>
              <a:rPr sz="1000" b="0">
                <a:solidFill>
                  <a:srgbClr val="1A1A1A"/>
                </a:solidFill>
                <a:latin typeface="Hiragino Sans"/>
                <a:ea typeface="Hiragino Sans"/>
                <a:cs typeface="Hiragino Sans"/>
              </a:rPr>
              <a:t>Google Ads RSA と同様</a:t>
            </a:r>
          </a:p>
          <a:p>
            <a:pPr algn="l">
              <a:lnSpc>
                <a:spcPct val="150000"/>
              </a:lnSpc>
            </a:pPr>
            <a:r>
              <a:rPr sz="1000" b="0">
                <a:solidFill>
                  <a:srgbClr val="1A1A1A"/>
                </a:solidFill>
                <a:latin typeface="Hiragino Sans"/>
                <a:ea typeface="Hiragino Sans"/>
                <a:cs typeface="Hiragino Sans"/>
              </a:rPr>
              <a:t>AIが組合せ最適化</a:t>
            </a:r>
          </a:p>
        </p:txBody>
      </p:sp>
      <p:sp>
        <p:nvSpPr>
          <p:cNvPr id="20" name="Rounded Rectangle 19"/>
          <p:cNvSpPr/>
          <p:nvPr/>
        </p:nvSpPr>
        <p:spPr>
          <a:xfrm>
            <a:off x="6126480" y="2468880"/>
            <a:ext cx="2697480" cy="2286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26480" y="2468880"/>
            <a:ext cx="2697480" cy="13716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9360" y="2743200"/>
            <a:ext cx="2331720" cy="41148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AIアシスト機能</a:t>
            </a:r>
          </a:p>
        </p:txBody>
      </p:sp>
      <p:sp>
        <p:nvSpPr>
          <p:cNvPr id="23" name="TextBox 22"/>
          <p:cNvSpPr txBox="1"/>
          <p:nvPr/>
        </p:nvSpPr>
        <p:spPr>
          <a:xfrm>
            <a:off x="6309360" y="3246120"/>
            <a:ext cx="2331720" cy="365760"/>
          </a:xfrm>
          <a:prstGeom prst="rect">
            <a:avLst/>
          </a:prstGeom>
          <a:noFill/>
        </p:spPr>
        <p:txBody>
          <a:bodyPr wrap="square" anchor="t" lIns="0" rIns="0" tIns="0" bIns="0">
            <a:spAutoFit/>
          </a:bodyPr>
          <a:lstStyle/>
          <a:p>
            <a:pPr algn="l">
              <a:lnSpc>
                <a:spcPct val="130000"/>
              </a:lnSpc>
            </a:pPr>
            <a:r>
              <a:rPr sz="1000" b="1">
                <a:solidFill>
                  <a:srgbClr val="B85E1A"/>
                </a:solidFill>
                <a:latin typeface="Hiragino Sans"/>
                <a:ea typeface="Hiragino Sans"/>
                <a:cs typeface="Hiragino Sans"/>
              </a:rPr>
              <a:t>広告文生成・キーワード提案</a:t>
            </a:r>
          </a:p>
        </p:txBody>
      </p:sp>
      <p:sp>
        <p:nvSpPr>
          <p:cNvPr id="24" name="TextBox 23"/>
          <p:cNvSpPr txBox="1"/>
          <p:nvPr/>
        </p:nvSpPr>
        <p:spPr>
          <a:xfrm>
            <a:off x="6309360" y="3749040"/>
            <a:ext cx="2331720" cy="960120"/>
          </a:xfrm>
          <a:prstGeom prst="rect">
            <a:avLst/>
          </a:prstGeom>
          <a:noFill/>
        </p:spPr>
        <p:txBody>
          <a:bodyPr wrap="square" anchor="t" lIns="0" rIns="0" tIns="0" bIns="0">
            <a:spAutoFit/>
          </a:bodyPr>
          <a:lstStyle/>
          <a:p>
            <a:pPr algn="l">
              <a:lnSpc>
                <a:spcPct val="150000"/>
              </a:lnSpc>
            </a:pPr>
            <a:r>
              <a:rPr sz="1000" b="0">
                <a:solidFill>
                  <a:srgbClr val="1A1A1A"/>
                </a:solidFill>
                <a:latin typeface="Hiragino Sans"/>
                <a:ea typeface="Hiragino Sans"/>
                <a:cs typeface="Hiragino Sans"/>
              </a:rPr>
              <a:t>管理画面でAIが下書き生成</a:t>
            </a:r>
          </a:p>
          <a:p>
            <a:pPr algn="l">
              <a:lnSpc>
                <a:spcPct val="150000"/>
              </a:lnSpc>
            </a:pPr>
            <a:r>
              <a:rPr sz="1000" b="0">
                <a:solidFill>
                  <a:srgbClr val="1A1A1A"/>
                </a:solidFill>
                <a:latin typeface="Hiragino Sans"/>
                <a:ea typeface="Hiragino Sans"/>
                <a:cs typeface="Hiragino Sans"/>
              </a:rPr>
              <a:t>人間が最終承認</a:t>
            </a:r>
          </a:p>
        </p:txBody>
      </p:sp>
      <p:sp>
        <p:nvSpPr>
          <p:cNvPr id="25" name="Rounded Rectangle 24"/>
          <p:cNvSpPr/>
          <p:nvPr/>
        </p:nvSpPr>
        <p:spPr>
          <a:xfrm>
            <a:off x="8915400" y="2468880"/>
            <a:ext cx="2697480" cy="2286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15400" y="2468880"/>
            <a:ext cx="2697480" cy="13716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098280" y="2743200"/>
            <a:ext cx="2331720" cy="41148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Microsoft広告連携</a:t>
            </a:r>
          </a:p>
        </p:txBody>
      </p:sp>
      <p:sp>
        <p:nvSpPr>
          <p:cNvPr id="28" name="TextBox 27"/>
          <p:cNvSpPr txBox="1"/>
          <p:nvPr/>
        </p:nvSpPr>
        <p:spPr>
          <a:xfrm>
            <a:off x="9098280" y="3246120"/>
            <a:ext cx="2331720" cy="365760"/>
          </a:xfrm>
          <a:prstGeom prst="rect">
            <a:avLst/>
          </a:prstGeom>
          <a:noFill/>
        </p:spPr>
        <p:txBody>
          <a:bodyPr wrap="square" anchor="t" lIns="0" rIns="0" tIns="0" bIns="0">
            <a:spAutoFit/>
          </a:bodyPr>
          <a:lstStyle/>
          <a:p>
            <a:pPr algn="l">
              <a:lnSpc>
                <a:spcPct val="130000"/>
              </a:lnSpc>
            </a:pPr>
            <a:r>
              <a:rPr sz="1000" b="1">
                <a:solidFill>
                  <a:srgbClr val="B85E1A"/>
                </a:solidFill>
                <a:latin typeface="Hiragino Sans"/>
                <a:ea typeface="Hiragino Sans"/>
                <a:cs typeface="Hiragino Sans"/>
              </a:rPr>
              <a:t>Bing経由の広告も拡張可</a:t>
            </a:r>
          </a:p>
        </p:txBody>
      </p:sp>
      <p:sp>
        <p:nvSpPr>
          <p:cNvPr id="29" name="TextBox 28"/>
          <p:cNvSpPr txBox="1"/>
          <p:nvPr/>
        </p:nvSpPr>
        <p:spPr>
          <a:xfrm>
            <a:off x="9098280" y="3749040"/>
            <a:ext cx="2331720" cy="960120"/>
          </a:xfrm>
          <a:prstGeom prst="rect">
            <a:avLst/>
          </a:prstGeom>
          <a:noFill/>
        </p:spPr>
        <p:txBody>
          <a:bodyPr wrap="square" anchor="t" lIns="0" rIns="0" tIns="0" bIns="0">
            <a:spAutoFit/>
          </a:bodyPr>
          <a:lstStyle/>
          <a:p>
            <a:pPr algn="l">
              <a:lnSpc>
                <a:spcPct val="150000"/>
              </a:lnSpc>
            </a:pPr>
            <a:r>
              <a:rPr sz="1000" b="0">
                <a:solidFill>
                  <a:srgbClr val="1A1A1A"/>
                </a:solidFill>
                <a:latin typeface="Hiragino Sans"/>
                <a:ea typeface="Hiragino Sans"/>
                <a:cs typeface="Hiragino Sans"/>
              </a:rPr>
              <a:t>Microsoft広告が日本撤退後 ※</a:t>
            </a:r>
          </a:p>
          <a:p>
            <a:pPr algn="l">
              <a:lnSpc>
                <a:spcPct val="150000"/>
              </a:lnSpc>
            </a:pPr>
            <a:r>
              <a:rPr sz="1000" b="0">
                <a:solidFill>
                  <a:srgbClr val="1A1A1A"/>
                </a:solidFill>
                <a:latin typeface="Hiragino Sans"/>
                <a:ea typeface="Hiragino Sans"/>
                <a:cs typeface="Hiragino Sans"/>
              </a:rPr>
              <a:t>Yahoo!検索広告のみ運用</a:t>
            </a:r>
          </a:p>
        </p:txBody>
      </p:sp>
      <p:sp>
        <p:nvSpPr>
          <p:cNvPr id="30" name="Rounded Rectangle 29"/>
          <p:cNvSpPr/>
          <p:nvPr/>
        </p:nvSpPr>
        <p:spPr>
          <a:xfrm>
            <a:off x="548640" y="4937760"/>
            <a:ext cx="11109960" cy="141732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7240" y="5074920"/>
            <a:ext cx="100584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 副業代行での扱い</a:t>
            </a:r>
          </a:p>
        </p:txBody>
      </p:sp>
      <p:sp>
        <p:nvSpPr>
          <p:cNvPr id="32" name="TextBox 31"/>
          <p:cNvSpPr txBox="1"/>
          <p:nvPr/>
        </p:nvSpPr>
        <p:spPr>
          <a:xfrm>
            <a:off x="777240" y="5394960"/>
            <a:ext cx="10972800" cy="914400"/>
          </a:xfrm>
          <a:prstGeom prst="rect">
            <a:avLst/>
          </a:prstGeom>
          <a:noFill/>
        </p:spPr>
        <p:txBody>
          <a:bodyPr wrap="square" anchor="t" lIns="0" rIns="0" tIns="0" bIns="0">
            <a:spAutoFit/>
          </a:bodyPr>
          <a:lstStyle/>
          <a:p>
            <a:pPr algn="l">
              <a:lnSpc>
                <a:spcPct val="155000"/>
              </a:lnSpc>
            </a:pPr>
            <a:r>
              <a:rPr sz="1100" b="0">
                <a:solidFill>
                  <a:srgbClr val="1A1A1A"/>
                </a:solidFill>
                <a:latin typeface="Hiragino Sans"/>
                <a:ea typeface="Hiragino Sans"/>
                <a:cs typeface="Hiragino Sans"/>
              </a:rPr>
              <a:t>• B2C / 高年齢層ターゲット (50代以上) の案件では Google単独より Yahoo!併用が効く</a:t>
            </a:r>
          </a:p>
          <a:p>
            <a:pPr algn="l">
              <a:lnSpc>
                <a:spcPct val="155000"/>
              </a:lnSpc>
            </a:pPr>
            <a:r>
              <a:rPr sz="1100" b="0">
                <a:solidFill>
                  <a:srgbClr val="1A1A1A"/>
                </a:solidFill>
                <a:latin typeface="Hiragino Sans"/>
                <a:ea typeface="Hiragino Sans"/>
                <a:cs typeface="Hiragino Sans"/>
              </a:rPr>
              <a:t>• B2B でも Yahoo!検索の方が CPA安い業種あり (士業/不動産/保険)</a:t>
            </a:r>
          </a:p>
          <a:p>
            <a:pPr algn="l">
              <a:lnSpc>
                <a:spcPct val="155000"/>
              </a:lnSpc>
            </a:pPr>
            <a:r>
              <a:rPr sz="1100" b="0">
                <a:solidFill>
                  <a:srgbClr val="1A1A1A"/>
                </a:solidFill>
                <a:latin typeface="Hiragino Sans"/>
                <a:ea typeface="Hiragino Sans"/>
                <a:cs typeface="Hiragino Sans"/>
              </a:rPr>
              <a:t>• 提案には『Google + Yahoo!』の2軸セット提案がデフォルト</a:t>
            </a:r>
          </a:p>
          <a:p>
            <a:pPr algn="l">
              <a:lnSpc>
                <a:spcPct val="155000"/>
              </a:lnSpc>
            </a:pPr>
            <a:r>
              <a:rPr sz="1100" b="0">
                <a:solidFill>
                  <a:srgbClr val="1A1A1A"/>
                </a:solidFill>
                <a:latin typeface="Hiragino Sans"/>
                <a:ea typeface="Hiragino Sans"/>
                <a:cs typeface="Hiragino Sans"/>
              </a:rPr>
              <a:t>• 名義方針 : 提案文では『Yahoo!広告』と明記OK、ただし前面押しはしない</a:t>
            </a:r>
          </a:p>
        </p:txBody>
      </p:sp>
      <p:sp>
        <p:nvSpPr>
          <p:cNvPr id="33" name="TextBox 32"/>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YDA (Yahoo!広告 ディスプレイ広告)</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2026春の統合直前の現状</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P93 / 250</a:t>
            </a:r>
          </a:p>
        </p:txBody>
      </p:sp>
      <p:sp>
        <p:nvSpPr>
          <p:cNvPr id="8" name="Rounded Rectangle 7"/>
          <p:cNvSpPr/>
          <p:nvPr/>
        </p:nvSpPr>
        <p:spPr>
          <a:xfrm>
            <a:off x="548640" y="1417320"/>
            <a:ext cx="5486400" cy="27432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548640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581912"/>
            <a:ext cx="4937760" cy="411480"/>
          </a:xfrm>
          <a:prstGeom prst="rect">
            <a:avLst/>
          </a:prstGeom>
          <a:noFill/>
        </p:spPr>
        <p:txBody>
          <a:bodyPr wrap="square" anchor="t" lIns="0" rIns="0" tIns="0" bIns="0">
            <a:spAutoFit/>
          </a:bodyPr>
          <a:lstStyle/>
          <a:p>
            <a:pPr algn="l">
              <a:lnSpc>
                <a:spcPct val="115000"/>
              </a:lnSpc>
            </a:pPr>
            <a:r>
              <a:rPr sz="1800" b="1">
                <a:solidFill>
                  <a:srgbClr val="E87722"/>
                </a:solidFill>
                <a:latin typeface="Hiragino Sans"/>
                <a:ea typeface="Hiragino Sans"/>
                <a:cs typeface="Hiragino Sans"/>
              </a:rPr>
              <a:t>運用型</a:t>
            </a:r>
          </a:p>
        </p:txBody>
      </p:sp>
      <p:sp>
        <p:nvSpPr>
          <p:cNvPr id="11" name="TextBox 10"/>
          <p:cNvSpPr txBox="1"/>
          <p:nvPr/>
        </p:nvSpPr>
        <p:spPr>
          <a:xfrm>
            <a:off x="822960" y="1965960"/>
            <a:ext cx="4937760" cy="27432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オークション型・自動最適化</a:t>
            </a:r>
          </a:p>
        </p:txBody>
      </p:sp>
      <p:sp>
        <p:nvSpPr>
          <p:cNvPr id="12" name="TextBox 11"/>
          <p:cNvSpPr txBox="1"/>
          <p:nvPr/>
        </p:nvSpPr>
        <p:spPr>
          <a:xfrm>
            <a:off x="822960" y="2423160"/>
            <a:ext cx="4937760" cy="169164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リアルタイム入札</a:t>
            </a:r>
          </a:p>
          <a:p>
            <a:pPr algn="l">
              <a:lnSpc>
                <a:spcPct val="160000"/>
              </a:lnSpc>
            </a:pPr>
            <a:r>
              <a:rPr sz="1100" b="0">
                <a:solidFill>
                  <a:srgbClr val="1A1A1A"/>
                </a:solidFill>
                <a:latin typeface="Hiragino Sans"/>
                <a:ea typeface="Hiragino Sans"/>
                <a:cs typeface="Hiragino Sans"/>
              </a:rPr>
              <a:t>AI自動配信が主流</a:t>
            </a:r>
          </a:p>
          <a:p>
            <a:pPr algn="l">
              <a:lnSpc>
                <a:spcPct val="160000"/>
              </a:lnSpc>
            </a:pPr>
            <a:r>
              <a:rPr sz="1100" b="0">
                <a:solidFill>
                  <a:srgbClr val="1A1A1A"/>
                </a:solidFill>
                <a:latin typeface="Hiragino Sans"/>
                <a:ea typeface="Hiragino Sans"/>
                <a:cs typeface="Hiragino Sans"/>
              </a:rPr>
              <a:t>中小予算でも運用可</a:t>
            </a:r>
          </a:p>
          <a:p>
            <a:pPr algn="l">
              <a:lnSpc>
                <a:spcPct val="160000"/>
              </a:lnSpc>
            </a:pPr>
            <a:r>
              <a:rPr sz="1100" b="0">
                <a:solidFill>
                  <a:srgbClr val="1A1A1A"/>
                </a:solidFill>
                <a:latin typeface="Hiragino Sans"/>
                <a:ea typeface="Hiragino Sans"/>
                <a:cs typeface="Hiragino Sans"/>
              </a:rPr>
              <a:t>2026春に LINEヤフー広告に統合</a:t>
            </a:r>
          </a:p>
        </p:txBody>
      </p:sp>
      <p:sp>
        <p:nvSpPr>
          <p:cNvPr id="13" name="Rounded Rectangle 12"/>
          <p:cNvSpPr/>
          <p:nvPr/>
        </p:nvSpPr>
        <p:spPr>
          <a:xfrm>
            <a:off x="6172200" y="1417320"/>
            <a:ext cx="5486400" cy="27432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1417320"/>
            <a:ext cx="548640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1581912"/>
            <a:ext cx="4937760" cy="411480"/>
          </a:xfrm>
          <a:prstGeom prst="rect">
            <a:avLst/>
          </a:prstGeom>
          <a:noFill/>
        </p:spPr>
        <p:txBody>
          <a:bodyPr wrap="square" anchor="t" lIns="0" rIns="0" tIns="0" bIns="0">
            <a:spAutoFit/>
          </a:bodyPr>
          <a:lstStyle/>
          <a:p>
            <a:pPr algn="l">
              <a:lnSpc>
                <a:spcPct val="115000"/>
              </a:lnSpc>
            </a:pPr>
            <a:r>
              <a:rPr sz="1800" b="1">
                <a:solidFill>
                  <a:srgbClr val="E87722"/>
                </a:solidFill>
                <a:latin typeface="Hiragino Sans"/>
                <a:ea typeface="Hiragino Sans"/>
                <a:cs typeface="Hiragino Sans"/>
              </a:rPr>
              <a:t>予約型</a:t>
            </a:r>
          </a:p>
        </p:txBody>
      </p:sp>
      <p:sp>
        <p:nvSpPr>
          <p:cNvPr id="16" name="TextBox 15"/>
          <p:cNvSpPr txBox="1"/>
          <p:nvPr/>
        </p:nvSpPr>
        <p:spPr>
          <a:xfrm>
            <a:off x="6446520" y="1965960"/>
            <a:ext cx="4937760" cy="27432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保証型・期間契約</a:t>
            </a:r>
          </a:p>
        </p:txBody>
      </p:sp>
      <p:sp>
        <p:nvSpPr>
          <p:cNvPr id="17" name="TextBox 16"/>
          <p:cNvSpPr txBox="1"/>
          <p:nvPr/>
        </p:nvSpPr>
        <p:spPr>
          <a:xfrm>
            <a:off x="6446520" y="2423160"/>
            <a:ext cx="4937760" cy="169164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ブランドパネル / Yahoo! JAPANトップ等</a:t>
            </a:r>
          </a:p>
          <a:p>
            <a:pPr algn="l">
              <a:lnSpc>
                <a:spcPct val="160000"/>
              </a:lnSpc>
            </a:pPr>
            <a:r>
              <a:rPr sz="1100" b="0">
                <a:solidFill>
                  <a:srgbClr val="1A1A1A"/>
                </a:solidFill>
                <a:latin typeface="Hiragino Sans"/>
                <a:ea typeface="Hiragino Sans"/>
                <a:cs typeface="Hiragino Sans"/>
              </a:rPr>
              <a:t>大型予算 (数百万〜数千万円)</a:t>
            </a:r>
          </a:p>
          <a:p>
            <a:pPr algn="l">
              <a:lnSpc>
                <a:spcPct val="160000"/>
              </a:lnSpc>
            </a:pPr>
            <a:r>
              <a:rPr sz="1100" b="0">
                <a:solidFill>
                  <a:srgbClr val="1A1A1A"/>
                </a:solidFill>
                <a:latin typeface="Hiragino Sans"/>
                <a:ea typeface="Hiragino Sans"/>
                <a:cs typeface="Hiragino Sans"/>
              </a:rPr>
              <a:t>認知獲得・大型キャンペーン向け</a:t>
            </a:r>
          </a:p>
          <a:p>
            <a:pPr algn="l">
              <a:lnSpc>
                <a:spcPct val="160000"/>
              </a:lnSpc>
            </a:pPr>
            <a:r>
              <a:rPr sz="1100" b="0">
                <a:solidFill>
                  <a:srgbClr val="1A1A1A"/>
                </a:solidFill>
                <a:latin typeface="Hiragino Sans"/>
                <a:ea typeface="Hiragino Sans"/>
                <a:cs typeface="Hiragino Sans"/>
              </a:rPr>
              <a:t>2026春に LINEヤフー広告に統合</a:t>
            </a:r>
          </a:p>
        </p:txBody>
      </p:sp>
      <p:sp>
        <p:nvSpPr>
          <p:cNvPr id="18" name="TextBox 17"/>
          <p:cNvSpPr txBox="1"/>
          <p:nvPr/>
        </p:nvSpPr>
        <p:spPr>
          <a:xfrm>
            <a:off x="548640" y="4434840"/>
            <a:ext cx="1097280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YDA の AI機能 (2026年現在)</a:t>
            </a:r>
          </a:p>
        </p:txBody>
      </p:sp>
      <p:sp>
        <p:nvSpPr>
          <p:cNvPr id="19" name="Rectangle 18"/>
          <p:cNvSpPr/>
          <p:nvPr/>
        </p:nvSpPr>
        <p:spPr>
          <a:xfrm>
            <a:off x="548640" y="4800600"/>
            <a:ext cx="1110996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4983480"/>
            <a:ext cx="27432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a:t>
            </a:r>
          </a:p>
        </p:txBody>
      </p:sp>
      <p:sp>
        <p:nvSpPr>
          <p:cNvPr id="21" name="TextBox 20"/>
          <p:cNvSpPr txBox="1"/>
          <p:nvPr/>
        </p:nvSpPr>
        <p:spPr>
          <a:xfrm>
            <a:off x="914400" y="5001768"/>
            <a:ext cx="365760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自動入札</a:t>
            </a:r>
          </a:p>
        </p:txBody>
      </p:sp>
      <p:sp>
        <p:nvSpPr>
          <p:cNvPr id="22" name="TextBox 21"/>
          <p:cNvSpPr txBox="1"/>
          <p:nvPr/>
        </p:nvSpPr>
        <p:spPr>
          <a:xfrm>
            <a:off x="4572000" y="5001768"/>
            <a:ext cx="6858000" cy="274320"/>
          </a:xfrm>
          <a:prstGeom prst="rect">
            <a:avLst/>
          </a:prstGeom>
          <a:noFill/>
        </p:spPr>
        <p:txBody>
          <a:bodyPr wrap="square" anchor="t" lIns="0" rIns="0" tIns="0" bIns="0">
            <a:spAutoFit/>
          </a:bodyPr>
          <a:lstStyle/>
          <a:p>
            <a:pPr algn="l">
              <a:lnSpc>
                <a:spcPct val="115000"/>
              </a:lnSpc>
            </a:pPr>
            <a:r>
              <a:rPr sz="1100" b="0">
                <a:solidFill>
                  <a:srgbClr val="1A1A1A"/>
                </a:solidFill>
                <a:latin typeface="Hiragino Sans"/>
                <a:ea typeface="Hiragino Sans"/>
                <a:cs typeface="Hiragino Sans"/>
              </a:rPr>
              <a:t>目標CPA / ROAS / コンバージョン最大化</a:t>
            </a:r>
          </a:p>
        </p:txBody>
      </p:sp>
      <p:sp>
        <p:nvSpPr>
          <p:cNvPr id="23" name="TextBox 22"/>
          <p:cNvSpPr txBox="1"/>
          <p:nvPr/>
        </p:nvSpPr>
        <p:spPr>
          <a:xfrm>
            <a:off x="640080" y="5330952"/>
            <a:ext cx="27432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a:t>
            </a:r>
          </a:p>
        </p:txBody>
      </p:sp>
      <p:sp>
        <p:nvSpPr>
          <p:cNvPr id="24" name="TextBox 23"/>
          <p:cNvSpPr txBox="1"/>
          <p:nvPr/>
        </p:nvSpPr>
        <p:spPr>
          <a:xfrm>
            <a:off x="914400" y="5349240"/>
            <a:ext cx="365760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オートターゲティング</a:t>
            </a:r>
          </a:p>
        </p:txBody>
      </p:sp>
      <p:sp>
        <p:nvSpPr>
          <p:cNvPr id="25" name="TextBox 24"/>
          <p:cNvSpPr txBox="1"/>
          <p:nvPr/>
        </p:nvSpPr>
        <p:spPr>
          <a:xfrm>
            <a:off x="4572000" y="5349240"/>
            <a:ext cx="6858000" cy="274320"/>
          </a:xfrm>
          <a:prstGeom prst="rect">
            <a:avLst/>
          </a:prstGeom>
          <a:noFill/>
        </p:spPr>
        <p:txBody>
          <a:bodyPr wrap="square" anchor="t" lIns="0" rIns="0" tIns="0" bIns="0">
            <a:spAutoFit/>
          </a:bodyPr>
          <a:lstStyle/>
          <a:p>
            <a:pPr algn="l">
              <a:lnSpc>
                <a:spcPct val="115000"/>
              </a:lnSpc>
            </a:pPr>
            <a:r>
              <a:rPr sz="1100" b="0">
                <a:solidFill>
                  <a:srgbClr val="1A1A1A"/>
                </a:solidFill>
                <a:latin typeface="Hiragino Sans"/>
                <a:ea typeface="Hiragino Sans"/>
                <a:cs typeface="Hiragino Sans"/>
              </a:rPr>
              <a:t>AIがオーディエンス自動拡張</a:t>
            </a:r>
          </a:p>
        </p:txBody>
      </p:sp>
      <p:sp>
        <p:nvSpPr>
          <p:cNvPr id="26" name="TextBox 25"/>
          <p:cNvSpPr txBox="1"/>
          <p:nvPr/>
        </p:nvSpPr>
        <p:spPr>
          <a:xfrm>
            <a:off x="640080" y="5678424"/>
            <a:ext cx="27432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a:t>
            </a:r>
          </a:p>
        </p:txBody>
      </p:sp>
      <p:sp>
        <p:nvSpPr>
          <p:cNvPr id="27" name="TextBox 26"/>
          <p:cNvSpPr txBox="1"/>
          <p:nvPr/>
        </p:nvSpPr>
        <p:spPr>
          <a:xfrm>
            <a:off x="914400" y="5696712"/>
            <a:ext cx="365760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広告クリエイティブAI</a:t>
            </a:r>
          </a:p>
        </p:txBody>
      </p:sp>
      <p:sp>
        <p:nvSpPr>
          <p:cNvPr id="28" name="TextBox 27"/>
          <p:cNvSpPr txBox="1"/>
          <p:nvPr/>
        </p:nvSpPr>
        <p:spPr>
          <a:xfrm>
            <a:off x="4572000" y="5696712"/>
            <a:ext cx="6858000" cy="274320"/>
          </a:xfrm>
          <a:prstGeom prst="rect">
            <a:avLst/>
          </a:prstGeom>
          <a:noFill/>
        </p:spPr>
        <p:txBody>
          <a:bodyPr wrap="square" anchor="t" lIns="0" rIns="0" tIns="0" bIns="0">
            <a:spAutoFit/>
          </a:bodyPr>
          <a:lstStyle/>
          <a:p>
            <a:pPr algn="l">
              <a:lnSpc>
                <a:spcPct val="115000"/>
              </a:lnSpc>
            </a:pPr>
            <a:r>
              <a:rPr sz="1100" b="0">
                <a:solidFill>
                  <a:srgbClr val="1A1A1A"/>
                </a:solidFill>
                <a:latin typeface="Hiragino Sans"/>
                <a:ea typeface="Hiragino Sans"/>
                <a:cs typeface="Hiragino Sans"/>
              </a:rPr>
              <a:t>テキスト・画像のAI生成 (限定機能)</a:t>
            </a:r>
          </a:p>
        </p:txBody>
      </p:sp>
      <p:sp>
        <p:nvSpPr>
          <p:cNvPr id="29" name="TextBox 28"/>
          <p:cNvSpPr txBox="1"/>
          <p:nvPr/>
        </p:nvSpPr>
        <p:spPr>
          <a:xfrm>
            <a:off x="640080" y="6025896"/>
            <a:ext cx="27432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a:t>
            </a:r>
          </a:p>
        </p:txBody>
      </p:sp>
      <p:sp>
        <p:nvSpPr>
          <p:cNvPr id="30" name="TextBox 29"/>
          <p:cNvSpPr txBox="1"/>
          <p:nvPr/>
        </p:nvSpPr>
        <p:spPr>
          <a:xfrm>
            <a:off x="914400" y="6044184"/>
            <a:ext cx="365760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LINE側ML共有 (2026〜)</a:t>
            </a:r>
          </a:p>
        </p:txBody>
      </p:sp>
      <p:sp>
        <p:nvSpPr>
          <p:cNvPr id="31" name="TextBox 30"/>
          <p:cNvSpPr txBox="1"/>
          <p:nvPr/>
        </p:nvSpPr>
        <p:spPr>
          <a:xfrm>
            <a:off x="4572000" y="6044184"/>
            <a:ext cx="6858000" cy="274320"/>
          </a:xfrm>
          <a:prstGeom prst="rect">
            <a:avLst/>
          </a:prstGeom>
          <a:noFill/>
        </p:spPr>
        <p:txBody>
          <a:bodyPr wrap="square" anchor="t" lIns="0" rIns="0" tIns="0" bIns="0">
            <a:spAutoFit/>
          </a:bodyPr>
          <a:lstStyle/>
          <a:p>
            <a:pPr algn="l">
              <a:lnSpc>
                <a:spcPct val="115000"/>
              </a:lnSpc>
            </a:pPr>
            <a:r>
              <a:rPr sz="1100" b="0">
                <a:solidFill>
                  <a:srgbClr val="1A1A1A"/>
                </a:solidFill>
                <a:latin typeface="Hiragino Sans"/>
                <a:ea typeface="Hiragino Sans"/>
                <a:cs typeface="Hiragino Sans"/>
              </a:rPr>
              <a:t>統合後 LINE行動データを学習に組込</a:t>
            </a:r>
          </a:p>
        </p:txBody>
      </p:sp>
      <p:sp>
        <p:nvSpPr>
          <p:cNvPr id="32" name="TextBox 31"/>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LINE広告との連携 — 現在 → 2026春統合の流れ</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現状の連携機能と2026春の完全統合</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P94 / 250</a:t>
            </a:r>
          </a:p>
        </p:txBody>
      </p:sp>
      <p:sp>
        <p:nvSpPr>
          <p:cNvPr id="8" name="TextBox 7"/>
          <p:cNvSpPr txBox="1"/>
          <p:nvPr/>
        </p:nvSpPr>
        <p:spPr>
          <a:xfrm>
            <a:off x="548640" y="1417320"/>
            <a:ext cx="5486400" cy="365760"/>
          </a:xfrm>
          <a:prstGeom prst="rect">
            <a:avLst/>
          </a:prstGeom>
          <a:noFill/>
        </p:spPr>
        <p:txBody>
          <a:bodyPr wrap="square" anchor="t" lIns="0" rIns="0" tIns="0" bIns="0">
            <a:spAutoFit/>
          </a:bodyPr>
          <a:lstStyle/>
          <a:p>
            <a:pPr algn="l">
              <a:lnSpc>
                <a:spcPct val="115000"/>
              </a:lnSpc>
            </a:pPr>
            <a:r>
              <a:rPr sz="1400" b="1">
                <a:solidFill>
                  <a:srgbClr val="5A6A80"/>
                </a:solidFill>
                <a:latin typeface="Hiragino Sans"/>
                <a:ea typeface="Hiragino Sans"/>
                <a:cs typeface="Hiragino Sans"/>
              </a:rPr>
              <a:t>現状 (2025) — 部分連携</a:t>
            </a:r>
          </a:p>
        </p:txBody>
      </p:sp>
      <p:sp>
        <p:nvSpPr>
          <p:cNvPr id="9" name="TextBox 8"/>
          <p:cNvSpPr txBox="1"/>
          <p:nvPr/>
        </p:nvSpPr>
        <p:spPr>
          <a:xfrm>
            <a:off x="6400800" y="1417320"/>
            <a:ext cx="5486400" cy="365760"/>
          </a:xfrm>
          <a:prstGeom prst="rect">
            <a:avLst/>
          </a:prstGeom>
          <a:noFill/>
        </p:spPr>
        <p:txBody>
          <a:bodyPr wrap="square" anchor="t" lIns="0" rIns="0" tIns="0" bIns="0">
            <a:spAutoFit/>
          </a:bodyPr>
          <a:lstStyle/>
          <a:p>
            <a:pPr algn="l">
              <a:lnSpc>
                <a:spcPct val="115000"/>
              </a:lnSpc>
            </a:pPr>
            <a:r>
              <a:rPr sz="1400" b="1">
                <a:solidFill>
                  <a:srgbClr val="E87722"/>
                </a:solidFill>
                <a:latin typeface="Hiragino Sans"/>
                <a:ea typeface="Hiragino Sans"/>
                <a:cs typeface="Hiragino Sans"/>
              </a:rPr>
              <a:t>After (2026春~) — 完全統合</a:t>
            </a:r>
          </a:p>
        </p:txBody>
      </p:sp>
      <p:sp>
        <p:nvSpPr>
          <p:cNvPr id="10" name="Rounded Rectangle 9"/>
          <p:cNvSpPr/>
          <p:nvPr/>
        </p:nvSpPr>
        <p:spPr>
          <a:xfrm>
            <a:off x="548640" y="1874519"/>
            <a:ext cx="5486400" cy="45720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984247"/>
            <a:ext cx="274320" cy="274320"/>
          </a:xfrm>
          <a:prstGeom prst="rect">
            <a:avLst/>
          </a:prstGeom>
          <a:noFill/>
        </p:spPr>
        <p:txBody>
          <a:bodyPr wrap="square" anchor="t" lIns="0" rIns="0" tIns="0" bIns="0">
            <a:spAutoFit/>
          </a:bodyPr>
          <a:lstStyle/>
          <a:p>
            <a:pPr algn="l">
              <a:lnSpc>
                <a:spcPct val="115000"/>
              </a:lnSpc>
            </a:pPr>
            <a:r>
              <a:rPr sz="1400" b="1">
                <a:solidFill>
                  <a:srgbClr val="5A6A80"/>
                </a:solidFill>
                <a:latin typeface="Hiragino Sans"/>
                <a:ea typeface="Hiragino Sans"/>
                <a:cs typeface="Hiragino Sans"/>
              </a:rPr>
              <a:t>•</a:t>
            </a:r>
          </a:p>
        </p:txBody>
      </p:sp>
      <p:sp>
        <p:nvSpPr>
          <p:cNvPr id="12" name="TextBox 11"/>
          <p:cNvSpPr txBox="1"/>
          <p:nvPr/>
        </p:nvSpPr>
        <p:spPr>
          <a:xfrm>
            <a:off x="1005840" y="1993391"/>
            <a:ext cx="4389120" cy="27432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Yahoo!とLINEは別管理画面</a:t>
            </a:r>
          </a:p>
        </p:txBody>
      </p:sp>
      <p:sp>
        <p:nvSpPr>
          <p:cNvPr id="13" name="Rounded Rectangle 12"/>
          <p:cNvSpPr/>
          <p:nvPr/>
        </p:nvSpPr>
        <p:spPr>
          <a:xfrm>
            <a:off x="548640" y="2377439"/>
            <a:ext cx="5486400" cy="45720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2487167"/>
            <a:ext cx="274320" cy="274320"/>
          </a:xfrm>
          <a:prstGeom prst="rect">
            <a:avLst/>
          </a:prstGeom>
          <a:noFill/>
        </p:spPr>
        <p:txBody>
          <a:bodyPr wrap="square" anchor="t" lIns="0" rIns="0" tIns="0" bIns="0">
            <a:spAutoFit/>
          </a:bodyPr>
          <a:lstStyle/>
          <a:p>
            <a:pPr algn="l">
              <a:lnSpc>
                <a:spcPct val="115000"/>
              </a:lnSpc>
            </a:pPr>
            <a:r>
              <a:rPr sz="1400" b="1">
                <a:solidFill>
                  <a:srgbClr val="5A6A80"/>
                </a:solidFill>
                <a:latin typeface="Hiragino Sans"/>
                <a:ea typeface="Hiragino Sans"/>
                <a:cs typeface="Hiragino Sans"/>
              </a:rPr>
              <a:t>•</a:t>
            </a:r>
          </a:p>
        </p:txBody>
      </p:sp>
      <p:sp>
        <p:nvSpPr>
          <p:cNvPr id="15" name="TextBox 14"/>
          <p:cNvSpPr txBox="1"/>
          <p:nvPr/>
        </p:nvSpPr>
        <p:spPr>
          <a:xfrm>
            <a:off x="1005840" y="2496311"/>
            <a:ext cx="4389120" cy="27432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ID / オーディエンス別管理</a:t>
            </a:r>
          </a:p>
        </p:txBody>
      </p:sp>
      <p:sp>
        <p:nvSpPr>
          <p:cNvPr id="16" name="Rounded Rectangle 15"/>
          <p:cNvSpPr/>
          <p:nvPr/>
        </p:nvSpPr>
        <p:spPr>
          <a:xfrm>
            <a:off x="548640" y="2880359"/>
            <a:ext cx="5486400" cy="45720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2990087"/>
            <a:ext cx="274320" cy="274320"/>
          </a:xfrm>
          <a:prstGeom prst="rect">
            <a:avLst/>
          </a:prstGeom>
          <a:noFill/>
        </p:spPr>
        <p:txBody>
          <a:bodyPr wrap="square" anchor="t" lIns="0" rIns="0" tIns="0" bIns="0">
            <a:spAutoFit/>
          </a:bodyPr>
          <a:lstStyle/>
          <a:p>
            <a:pPr algn="l">
              <a:lnSpc>
                <a:spcPct val="115000"/>
              </a:lnSpc>
            </a:pPr>
            <a:r>
              <a:rPr sz="1400" b="1">
                <a:solidFill>
                  <a:srgbClr val="5A6A80"/>
                </a:solidFill>
                <a:latin typeface="Hiragino Sans"/>
                <a:ea typeface="Hiragino Sans"/>
                <a:cs typeface="Hiragino Sans"/>
              </a:rPr>
              <a:t>•</a:t>
            </a:r>
          </a:p>
        </p:txBody>
      </p:sp>
      <p:sp>
        <p:nvSpPr>
          <p:cNvPr id="18" name="TextBox 17"/>
          <p:cNvSpPr txBox="1"/>
          <p:nvPr/>
        </p:nvSpPr>
        <p:spPr>
          <a:xfrm>
            <a:off x="1005840" y="2999231"/>
            <a:ext cx="4389120" cy="27432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LINEオーディエンスをYDAで活用 (一部)</a:t>
            </a:r>
          </a:p>
        </p:txBody>
      </p:sp>
      <p:sp>
        <p:nvSpPr>
          <p:cNvPr id="19" name="Rounded Rectangle 18"/>
          <p:cNvSpPr/>
          <p:nvPr/>
        </p:nvSpPr>
        <p:spPr>
          <a:xfrm>
            <a:off x="548640" y="3383279"/>
            <a:ext cx="5486400" cy="45720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3493007"/>
            <a:ext cx="274320" cy="274320"/>
          </a:xfrm>
          <a:prstGeom prst="rect">
            <a:avLst/>
          </a:prstGeom>
          <a:noFill/>
        </p:spPr>
        <p:txBody>
          <a:bodyPr wrap="square" anchor="t" lIns="0" rIns="0" tIns="0" bIns="0">
            <a:spAutoFit/>
          </a:bodyPr>
          <a:lstStyle/>
          <a:p>
            <a:pPr algn="l">
              <a:lnSpc>
                <a:spcPct val="115000"/>
              </a:lnSpc>
            </a:pPr>
            <a:r>
              <a:rPr sz="1400" b="1">
                <a:solidFill>
                  <a:srgbClr val="5A6A80"/>
                </a:solidFill>
                <a:latin typeface="Hiragino Sans"/>
                <a:ea typeface="Hiragino Sans"/>
                <a:cs typeface="Hiragino Sans"/>
              </a:rPr>
              <a:t>•</a:t>
            </a:r>
          </a:p>
        </p:txBody>
      </p:sp>
      <p:sp>
        <p:nvSpPr>
          <p:cNvPr id="21" name="TextBox 20"/>
          <p:cNvSpPr txBox="1"/>
          <p:nvPr/>
        </p:nvSpPr>
        <p:spPr>
          <a:xfrm>
            <a:off x="1005840" y="3502151"/>
            <a:ext cx="4389120" cy="27432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YDAでLINE友だち追加広告配信可</a:t>
            </a:r>
          </a:p>
        </p:txBody>
      </p:sp>
      <p:sp>
        <p:nvSpPr>
          <p:cNvPr id="22" name="Rounded Rectangle 21"/>
          <p:cNvSpPr/>
          <p:nvPr/>
        </p:nvSpPr>
        <p:spPr>
          <a:xfrm>
            <a:off x="548640" y="3886199"/>
            <a:ext cx="5486400" cy="45720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995927"/>
            <a:ext cx="274320" cy="274320"/>
          </a:xfrm>
          <a:prstGeom prst="rect">
            <a:avLst/>
          </a:prstGeom>
          <a:noFill/>
        </p:spPr>
        <p:txBody>
          <a:bodyPr wrap="square" anchor="t" lIns="0" rIns="0" tIns="0" bIns="0">
            <a:spAutoFit/>
          </a:bodyPr>
          <a:lstStyle/>
          <a:p>
            <a:pPr algn="l">
              <a:lnSpc>
                <a:spcPct val="115000"/>
              </a:lnSpc>
            </a:pPr>
            <a:r>
              <a:rPr sz="1400" b="1">
                <a:solidFill>
                  <a:srgbClr val="5A6A80"/>
                </a:solidFill>
                <a:latin typeface="Hiragino Sans"/>
                <a:ea typeface="Hiragino Sans"/>
                <a:cs typeface="Hiragino Sans"/>
              </a:rPr>
              <a:t>•</a:t>
            </a:r>
          </a:p>
        </p:txBody>
      </p:sp>
      <p:sp>
        <p:nvSpPr>
          <p:cNvPr id="24" name="TextBox 23"/>
          <p:cNvSpPr txBox="1"/>
          <p:nvPr/>
        </p:nvSpPr>
        <p:spPr>
          <a:xfrm>
            <a:off x="1005840" y="4005071"/>
            <a:ext cx="4389120" cy="27432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ビジネスID統合 (2025/06/30~)</a:t>
            </a:r>
          </a:p>
        </p:txBody>
      </p:sp>
      <p:sp>
        <p:nvSpPr>
          <p:cNvPr id="25" name="Rounded Rectangle 24"/>
          <p:cNvSpPr/>
          <p:nvPr/>
        </p:nvSpPr>
        <p:spPr>
          <a:xfrm>
            <a:off x="6400800" y="1874519"/>
            <a:ext cx="5349240" cy="457200"/>
          </a:xfrm>
          <a:prstGeom prst="roundRect">
            <a:avLst>
              <a:gd name="adj" fmla="val 6000"/>
            </a:avLst>
          </a:prstGeom>
          <a:solidFill>
            <a:srgbClr val="FFF3E6"/>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0" y="1984247"/>
            <a:ext cx="274320" cy="274320"/>
          </a:xfrm>
          <a:prstGeom prst="rect">
            <a:avLst/>
          </a:prstGeom>
          <a:noFill/>
        </p:spPr>
        <p:txBody>
          <a:bodyPr wrap="square" anchor="t" lIns="0" rIns="0" tIns="0" bIns="0">
            <a:spAutoFit/>
          </a:bodyPr>
          <a:lstStyle/>
          <a:p>
            <a:pPr algn="l">
              <a:lnSpc>
                <a:spcPct val="115000"/>
              </a:lnSpc>
            </a:pPr>
            <a:r>
              <a:rPr sz="1400" b="1">
                <a:solidFill>
                  <a:srgbClr val="2E8B57"/>
                </a:solidFill>
                <a:latin typeface="Hiragino Sans"/>
                <a:ea typeface="Hiragino Sans"/>
                <a:cs typeface="Hiragino Sans"/>
              </a:rPr>
              <a:t>✓</a:t>
            </a:r>
          </a:p>
        </p:txBody>
      </p:sp>
      <p:sp>
        <p:nvSpPr>
          <p:cNvPr id="27" name="TextBox 26"/>
          <p:cNvSpPr txBox="1"/>
          <p:nvPr/>
        </p:nvSpPr>
        <p:spPr>
          <a:xfrm>
            <a:off x="6903720" y="1993391"/>
            <a:ext cx="4389120" cy="274320"/>
          </a:xfrm>
          <a:prstGeom prst="rect">
            <a:avLst/>
          </a:prstGeom>
          <a:noFill/>
        </p:spPr>
        <p:txBody>
          <a:bodyPr wrap="square" anchor="t" lIns="0" rIns="0" tIns="0" bIns="0">
            <a:spAutoFit/>
          </a:bodyPr>
          <a:lstStyle/>
          <a:p>
            <a:pPr algn="l">
              <a:lnSpc>
                <a:spcPct val="115000"/>
              </a:lnSpc>
            </a:pPr>
            <a:r>
              <a:rPr sz="1100" b="0">
                <a:solidFill>
                  <a:srgbClr val="0F2A4F"/>
                </a:solidFill>
                <a:latin typeface="Hiragino Sans"/>
                <a:ea typeface="Hiragino Sans"/>
                <a:cs typeface="Hiragino Sans"/>
              </a:rPr>
              <a:t>LINEヤフー広告 ディスプレイ広告に一本化</a:t>
            </a:r>
          </a:p>
        </p:txBody>
      </p:sp>
      <p:sp>
        <p:nvSpPr>
          <p:cNvPr id="28" name="Rounded Rectangle 27"/>
          <p:cNvSpPr/>
          <p:nvPr/>
        </p:nvSpPr>
        <p:spPr>
          <a:xfrm>
            <a:off x="6400800" y="2377439"/>
            <a:ext cx="5349240" cy="457200"/>
          </a:xfrm>
          <a:prstGeom prst="roundRect">
            <a:avLst>
              <a:gd name="adj" fmla="val 6000"/>
            </a:avLst>
          </a:prstGeom>
          <a:solidFill>
            <a:srgbClr val="FFF3E6"/>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0" y="2487167"/>
            <a:ext cx="274320" cy="274320"/>
          </a:xfrm>
          <a:prstGeom prst="rect">
            <a:avLst/>
          </a:prstGeom>
          <a:noFill/>
        </p:spPr>
        <p:txBody>
          <a:bodyPr wrap="square" anchor="t" lIns="0" rIns="0" tIns="0" bIns="0">
            <a:spAutoFit/>
          </a:bodyPr>
          <a:lstStyle/>
          <a:p>
            <a:pPr algn="l">
              <a:lnSpc>
                <a:spcPct val="115000"/>
              </a:lnSpc>
            </a:pPr>
            <a:r>
              <a:rPr sz="1400" b="1">
                <a:solidFill>
                  <a:srgbClr val="2E8B57"/>
                </a:solidFill>
                <a:latin typeface="Hiragino Sans"/>
                <a:ea typeface="Hiragino Sans"/>
                <a:cs typeface="Hiragino Sans"/>
              </a:rPr>
              <a:t>✓</a:t>
            </a:r>
          </a:p>
        </p:txBody>
      </p:sp>
      <p:sp>
        <p:nvSpPr>
          <p:cNvPr id="30" name="TextBox 29"/>
          <p:cNvSpPr txBox="1"/>
          <p:nvPr/>
        </p:nvSpPr>
        <p:spPr>
          <a:xfrm>
            <a:off x="6903720" y="2496311"/>
            <a:ext cx="4389120" cy="274320"/>
          </a:xfrm>
          <a:prstGeom prst="rect">
            <a:avLst/>
          </a:prstGeom>
          <a:noFill/>
        </p:spPr>
        <p:txBody>
          <a:bodyPr wrap="square" anchor="t" lIns="0" rIns="0" tIns="0" bIns="0">
            <a:spAutoFit/>
          </a:bodyPr>
          <a:lstStyle/>
          <a:p>
            <a:pPr algn="l">
              <a:lnSpc>
                <a:spcPct val="115000"/>
              </a:lnSpc>
            </a:pPr>
            <a:r>
              <a:rPr sz="1100" b="0">
                <a:solidFill>
                  <a:srgbClr val="0F2A4F"/>
                </a:solidFill>
                <a:latin typeface="Hiragino Sans"/>
                <a:ea typeface="Hiragino Sans"/>
                <a:cs typeface="Hiragino Sans"/>
              </a:rPr>
              <a:t>ビジネスID + 統合データ</a:t>
            </a:r>
          </a:p>
        </p:txBody>
      </p:sp>
      <p:sp>
        <p:nvSpPr>
          <p:cNvPr id="31" name="Rounded Rectangle 30"/>
          <p:cNvSpPr/>
          <p:nvPr/>
        </p:nvSpPr>
        <p:spPr>
          <a:xfrm>
            <a:off x="6400800" y="2880359"/>
            <a:ext cx="5349240" cy="457200"/>
          </a:xfrm>
          <a:prstGeom prst="roundRect">
            <a:avLst>
              <a:gd name="adj" fmla="val 6000"/>
            </a:avLst>
          </a:prstGeom>
          <a:solidFill>
            <a:srgbClr val="FFF3E6"/>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83680" y="2990087"/>
            <a:ext cx="274320" cy="274320"/>
          </a:xfrm>
          <a:prstGeom prst="rect">
            <a:avLst/>
          </a:prstGeom>
          <a:noFill/>
        </p:spPr>
        <p:txBody>
          <a:bodyPr wrap="square" anchor="t" lIns="0" rIns="0" tIns="0" bIns="0">
            <a:spAutoFit/>
          </a:bodyPr>
          <a:lstStyle/>
          <a:p>
            <a:pPr algn="l">
              <a:lnSpc>
                <a:spcPct val="115000"/>
              </a:lnSpc>
            </a:pPr>
            <a:r>
              <a:rPr sz="1400" b="1">
                <a:solidFill>
                  <a:srgbClr val="2E8B57"/>
                </a:solidFill>
                <a:latin typeface="Hiragino Sans"/>
                <a:ea typeface="Hiragino Sans"/>
                <a:cs typeface="Hiragino Sans"/>
              </a:rPr>
              <a:t>✓</a:t>
            </a:r>
          </a:p>
        </p:txBody>
      </p:sp>
      <p:sp>
        <p:nvSpPr>
          <p:cNvPr id="33" name="TextBox 32"/>
          <p:cNvSpPr txBox="1"/>
          <p:nvPr/>
        </p:nvSpPr>
        <p:spPr>
          <a:xfrm>
            <a:off x="6903720" y="2999231"/>
            <a:ext cx="4389120" cy="274320"/>
          </a:xfrm>
          <a:prstGeom prst="rect">
            <a:avLst/>
          </a:prstGeom>
          <a:noFill/>
        </p:spPr>
        <p:txBody>
          <a:bodyPr wrap="square" anchor="t" lIns="0" rIns="0" tIns="0" bIns="0">
            <a:spAutoFit/>
          </a:bodyPr>
          <a:lstStyle/>
          <a:p>
            <a:pPr algn="l">
              <a:lnSpc>
                <a:spcPct val="115000"/>
              </a:lnSpc>
            </a:pPr>
            <a:r>
              <a:rPr sz="1100" b="0">
                <a:solidFill>
                  <a:srgbClr val="0F2A4F"/>
                </a:solidFill>
                <a:latin typeface="Hiragino Sans"/>
                <a:ea typeface="Hiragino Sans"/>
                <a:cs typeface="Hiragino Sans"/>
              </a:rPr>
              <a:t>LINE + Yahoo! 横断ターゲティング</a:t>
            </a:r>
          </a:p>
        </p:txBody>
      </p:sp>
      <p:sp>
        <p:nvSpPr>
          <p:cNvPr id="34" name="Rounded Rectangle 33"/>
          <p:cNvSpPr/>
          <p:nvPr/>
        </p:nvSpPr>
        <p:spPr>
          <a:xfrm>
            <a:off x="6400800" y="3383279"/>
            <a:ext cx="5349240" cy="457200"/>
          </a:xfrm>
          <a:prstGeom prst="roundRect">
            <a:avLst>
              <a:gd name="adj" fmla="val 6000"/>
            </a:avLst>
          </a:prstGeom>
          <a:solidFill>
            <a:srgbClr val="FFF3E6"/>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83680" y="3493007"/>
            <a:ext cx="274320" cy="274320"/>
          </a:xfrm>
          <a:prstGeom prst="rect">
            <a:avLst/>
          </a:prstGeom>
          <a:noFill/>
        </p:spPr>
        <p:txBody>
          <a:bodyPr wrap="square" anchor="t" lIns="0" rIns="0" tIns="0" bIns="0">
            <a:spAutoFit/>
          </a:bodyPr>
          <a:lstStyle/>
          <a:p>
            <a:pPr algn="l">
              <a:lnSpc>
                <a:spcPct val="115000"/>
              </a:lnSpc>
            </a:pPr>
            <a:r>
              <a:rPr sz="1400" b="1">
                <a:solidFill>
                  <a:srgbClr val="2E8B57"/>
                </a:solidFill>
                <a:latin typeface="Hiragino Sans"/>
                <a:ea typeface="Hiragino Sans"/>
                <a:cs typeface="Hiragino Sans"/>
              </a:rPr>
              <a:t>✓</a:t>
            </a:r>
          </a:p>
        </p:txBody>
      </p:sp>
      <p:sp>
        <p:nvSpPr>
          <p:cNvPr id="36" name="TextBox 35"/>
          <p:cNvSpPr txBox="1"/>
          <p:nvPr/>
        </p:nvSpPr>
        <p:spPr>
          <a:xfrm>
            <a:off x="6903720" y="3502151"/>
            <a:ext cx="4389120" cy="274320"/>
          </a:xfrm>
          <a:prstGeom prst="rect">
            <a:avLst/>
          </a:prstGeom>
          <a:noFill/>
        </p:spPr>
        <p:txBody>
          <a:bodyPr wrap="square" anchor="t" lIns="0" rIns="0" tIns="0" bIns="0">
            <a:spAutoFit/>
          </a:bodyPr>
          <a:lstStyle/>
          <a:p>
            <a:pPr algn="l">
              <a:lnSpc>
                <a:spcPct val="115000"/>
              </a:lnSpc>
            </a:pPr>
            <a:r>
              <a:rPr sz="1100" b="0">
                <a:solidFill>
                  <a:srgbClr val="0F2A4F"/>
                </a:solidFill>
                <a:latin typeface="Hiragino Sans"/>
                <a:ea typeface="Hiragino Sans"/>
                <a:cs typeface="Hiragino Sans"/>
              </a:rPr>
              <a:t>LINE側ML改善で配信効果向上</a:t>
            </a:r>
          </a:p>
        </p:txBody>
      </p:sp>
      <p:sp>
        <p:nvSpPr>
          <p:cNvPr id="37" name="Rounded Rectangle 36"/>
          <p:cNvSpPr/>
          <p:nvPr/>
        </p:nvSpPr>
        <p:spPr>
          <a:xfrm>
            <a:off x="6400800" y="3886199"/>
            <a:ext cx="5349240" cy="457200"/>
          </a:xfrm>
          <a:prstGeom prst="roundRect">
            <a:avLst>
              <a:gd name="adj" fmla="val 6000"/>
            </a:avLst>
          </a:prstGeom>
          <a:solidFill>
            <a:srgbClr val="FFF3E6"/>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83680" y="3995927"/>
            <a:ext cx="274320" cy="274320"/>
          </a:xfrm>
          <a:prstGeom prst="rect">
            <a:avLst/>
          </a:prstGeom>
          <a:noFill/>
        </p:spPr>
        <p:txBody>
          <a:bodyPr wrap="square" anchor="t" lIns="0" rIns="0" tIns="0" bIns="0">
            <a:spAutoFit/>
          </a:bodyPr>
          <a:lstStyle/>
          <a:p>
            <a:pPr algn="l">
              <a:lnSpc>
                <a:spcPct val="115000"/>
              </a:lnSpc>
            </a:pPr>
            <a:r>
              <a:rPr sz="1400" b="1">
                <a:solidFill>
                  <a:srgbClr val="2E8B57"/>
                </a:solidFill>
                <a:latin typeface="Hiragino Sans"/>
                <a:ea typeface="Hiragino Sans"/>
                <a:cs typeface="Hiragino Sans"/>
              </a:rPr>
              <a:t>✓</a:t>
            </a:r>
          </a:p>
        </p:txBody>
      </p:sp>
      <p:sp>
        <p:nvSpPr>
          <p:cNvPr id="39" name="TextBox 38"/>
          <p:cNvSpPr txBox="1"/>
          <p:nvPr/>
        </p:nvSpPr>
        <p:spPr>
          <a:xfrm>
            <a:off x="6903720" y="4005071"/>
            <a:ext cx="4389120" cy="274320"/>
          </a:xfrm>
          <a:prstGeom prst="rect">
            <a:avLst/>
          </a:prstGeom>
          <a:noFill/>
        </p:spPr>
        <p:txBody>
          <a:bodyPr wrap="square" anchor="t" lIns="0" rIns="0" tIns="0" bIns="0">
            <a:spAutoFit/>
          </a:bodyPr>
          <a:lstStyle/>
          <a:p>
            <a:pPr algn="l">
              <a:lnSpc>
                <a:spcPct val="115000"/>
              </a:lnSpc>
            </a:pPr>
            <a:r>
              <a:rPr sz="1100" b="0">
                <a:solidFill>
                  <a:srgbClr val="0F2A4F"/>
                </a:solidFill>
                <a:latin typeface="Hiragino Sans"/>
                <a:ea typeface="Hiragino Sans"/>
                <a:cs typeface="Hiragino Sans"/>
              </a:rPr>
              <a:t>1キャンペーンで両在庫配信</a:t>
            </a:r>
          </a:p>
        </p:txBody>
      </p:sp>
      <p:sp>
        <p:nvSpPr>
          <p:cNvPr id="40" name="Rounded Rectangle 39"/>
          <p:cNvSpPr/>
          <p:nvPr/>
        </p:nvSpPr>
        <p:spPr>
          <a:xfrm>
            <a:off x="548640" y="4617720"/>
            <a:ext cx="11109960" cy="173736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77240" y="4754880"/>
            <a:ext cx="10058400" cy="320040"/>
          </a:xfrm>
          <a:prstGeom prst="rect">
            <a:avLst/>
          </a:prstGeom>
          <a:noFill/>
        </p:spPr>
        <p:txBody>
          <a:bodyPr wrap="square" anchor="t" lIns="0" rIns="0" tIns="0" bIns="0">
            <a:spAutoFit/>
          </a:bodyPr>
          <a:lstStyle/>
          <a:p>
            <a:pPr algn="l">
              <a:lnSpc>
                <a:spcPct val="115000"/>
              </a:lnSpc>
            </a:pPr>
            <a:r>
              <a:rPr sz="1200" b="1">
                <a:solidFill>
                  <a:srgbClr val="E87722"/>
                </a:solidFill>
                <a:latin typeface="Hiragino Sans"/>
                <a:ea typeface="Hiragino Sans"/>
                <a:cs typeface="Hiragino Sans"/>
              </a:rPr>
              <a:t>💡 2026春の統合に向けた副業代行の準備</a:t>
            </a:r>
          </a:p>
        </p:txBody>
      </p:sp>
      <p:sp>
        <p:nvSpPr>
          <p:cNvPr id="42" name="TextBox 41"/>
          <p:cNvSpPr txBox="1"/>
          <p:nvPr/>
        </p:nvSpPr>
        <p:spPr>
          <a:xfrm>
            <a:off x="777240" y="5074920"/>
            <a:ext cx="10972800" cy="1280160"/>
          </a:xfrm>
          <a:prstGeom prst="rect">
            <a:avLst/>
          </a:prstGeom>
          <a:noFill/>
        </p:spPr>
        <p:txBody>
          <a:bodyPr wrap="square" anchor="t" lIns="0" rIns="0" tIns="0" bIns="0">
            <a:spAutoFit/>
          </a:bodyPr>
          <a:lstStyle/>
          <a:p>
            <a:pPr algn="l">
              <a:lnSpc>
                <a:spcPct val="155000"/>
              </a:lnSpc>
            </a:pPr>
            <a:r>
              <a:rPr sz="1100" b="0">
                <a:solidFill>
                  <a:srgbClr val="FFFFFF"/>
                </a:solidFill>
                <a:latin typeface="Hiragino Sans"/>
                <a:ea typeface="Hiragino Sans"/>
                <a:cs typeface="Hiragino Sans"/>
              </a:rPr>
              <a:t>1. Yahoo!広告ユーザーのクライアント — 自動移行されるので運用継続のみ</a:t>
            </a:r>
          </a:p>
          <a:p>
            <a:pPr algn="l">
              <a:lnSpc>
                <a:spcPct val="155000"/>
              </a:lnSpc>
            </a:pPr>
            <a:r>
              <a:rPr sz="1100" b="0">
                <a:solidFill>
                  <a:srgbClr val="FFFFFF"/>
                </a:solidFill>
                <a:latin typeface="Hiragino Sans"/>
                <a:ea typeface="Hiragino Sans"/>
                <a:cs typeface="Hiragino Sans"/>
              </a:rPr>
              <a:t>2. LINE広告ユーザーのクライアント — 移行ツールの確認、テストアカウントで予行演習</a:t>
            </a:r>
          </a:p>
          <a:p>
            <a:pPr algn="l">
              <a:lnSpc>
                <a:spcPct val="155000"/>
              </a:lnSpc>
            </a:pPr>
            <a:r>
              <a:rPr sz="1100" b="0">
                <a:solidFill>
                  <a:srgbClr val="FFFFFF"/>
                </a:solidFill>
                <a:latin typeface="Hiragino Sans"/>
                <a:ea typeface="Hiragino Sans"/>
                <a:cs typeface="Hiragino Sans"/>
              </a:rPr>
              <a:t>3. 両方使うクライアント — 統合後はキャンペーン構造を再設計 (在庫横断最適化)</a:t>
            </a:r>
          </a:p>
          <a:p>
            <a:pPr algn="l">
              <a:lnSpc>
                <a:spcPct val="155000"/>
              </a:lnSpc>
            </a:pPr>
            <a:r>
              <a:rPr sz="1100" b="0">
                <a:solidFill>
                  <a:srgbClr val="FFFFFF"/>
                </a:solidFill>
                <a:latin typeface="Hiragino Sans"/>
                <a:ea typeface="Hiragino Sans"/>
                <a:cs typeface="Hiragino Sans"/>
              </a:rPr>
              <a:t>4. 提案資料 : 『2026春から日本市場の主要DSPに格上げ』として LINEヤフー広告を組込み</a:t>
            </a:r>
          </a:p>
          <a:p>
            <a:pPr algn="l">
              <a:lnSpc>
                <a:spcPct val="155000"/>
              </a:lnSpc>
            </a:pPr>
            <a:r>
              <a:rPr sz="1100" b="0">
                <a:solidFill>
                  <a:srgbClr val="FFFFFF"/>
                </a:solidFill>
                <a:latin typeface="Hiragino Sans"/>
                <a:ea typeface="Hiragino Sans"/>
                <a:cs typeface="Hiragino Sans"/>
              </a:rPr>
              <a:t>5. リーチ : LINE+Yahoo!合算で 国内スマホユーザー 94% (重複除く) を訴求</a:t>
            </a:r>
          </a:p>
        </p:txBody>
      </p:sp>
      <p:sp>
        <p:nvSpPr>
          <p:cNvPr id="43" name="TextBox 42"/>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Yahoo!広告 ターゲティング・オーディエンス</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Yahoo!固有のデータが強みの領域</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P95 / 250</a:t>
            </a:r>
          </a:p>
        </p:txBody>
      </p:sp>
      <p:sp>
        <p:nvSpPr>
          <p:cNvPr id="8" name="Rounded Rectangle 7"/>
          <p:cNvSpPr/>
          <p:nvPr/>
        </p:nvSpPr>
        <p:spPr>
          <a:xfrm>
            <a:off x="548640" y="1417320"/>
            <a:ext cx="3611880" cy="14173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36118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645920"/>
            <a:ext cx="324612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属性</a:t>
            </a:r>
          </a:p>
        </p:txBody>
      </p:sp>
      <p:sp>
        <p:nvSpPr>
          <p:cNvPr id="11" name="TextBox 10"/>
          <p:cNvSpPr txBox="1"/>
          <p:nvPr/>
        </p:nvSpPr>
        <p:spPr>
          <a:xfrm>
            <a:off x="777240" y="2011680"/>
            <a:ext cx="3246120" cy="365760"/>
          </a:xfrm>
          <a:prstGeom prst="rect">
            <a:avLst/>
          </a:prstGeom>
          <a:noFill/>
        </p:spPr>
        <p:txBody>
          <a:bodyPr wrap="square" anchor="t" lIns="0" rIns="0" tIns="0" bIns="0">
            <a:spAutoFit/>
          </a:bodyPr>
          <a:lstStyle/>
          <a:p>
            <a:pPr algn="l">
              <a:lnSpc>
                <a:spcPct val="140000"/>
              </a:lnSpc>
            </a:pPr>
            <a:r>
              <a:rPr sz="1100" b="0">
                <a:solidFill>
                  <a:srgbClr val="1A1A1A"/>
                </a:solidFill>
                <a:latin typeface="Hiragino Sans"/>
                <a:ea typeface="Hiragino Sans"/>
                <a:cs typeface="Hiragino Sans"/>
              </a:rPr>
              <a:t>年齢 / 性別 / 地域 / 言語</a:t>
            </a:r>
          </a:p>
        </p:txBody>
      </p:sp>
      <p:sp>
        <p:nvSpPr>
          <p:cNvPr id="12" name="TextBox 11"/>
          <p:cNvSpPr txBox="1"/>
          <p:nvPr/>
        </p:nvSpPr>
        <p:spPr>
          <a:xfrm>
            <a:off x="777240" y="2423160"/>
            <a:ext cx="3246120" cy="320040"/>
          </a:xfrm>
          <a:prstGeom prst="rect">
            <a:avLst/>
          </a:prstGeom>
          <a:noFill/>
        </p:spPr>
        <p:txBody>
          <a:bodyPr wrap="square" anchor="t" lIns="0" rIns="0" tIns="0" bIns="0">
            <a:spAutoFit/>
          </a:bodyPr>
          <a:lstStyle/>
          <a:p>
            <a:pPr algn="l">
              <a:lnSpc>
                <a:spcPct val="115000"/>
              </a:lnSpc>
            </a:pPr>
            <a:r>
              <a:rPr sz="900" b="0">
                <a:solidFill>
                  <a:srgbClr val="B85E1A"/>
                </a:solidFill>
                <a:latin typeface="Hiragino Sans"/>
                <a:ea typeface="Hiragino Sans"/>
                <a:cs typeface="Hiragino Sans"/>
              </a:rPr>
              <a:t>Yahoo!JAPAN 登録情報ベース</a:t>
            </a:r>
          </a:p>
        </p:txBody>
      </p:sp>
      <p:sp>
        <p:nvSpPr>
          <p:cNvPr id="13" name="Rounded Rectangle 12"/>
          <p:cNvSpPr/>
          <p:nvPr/>
        </p:nvSpPr>
        <p:spPr>
          <a:xfrm>
            <a:off x="4297680" y="1417320"/>
            <a:ext cx="3611880" cy="14173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7680" y="1417320"/>
            <a:ext cx="36118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26280" y="1645920"/>
            <a:ext cx="324612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興味関心</a:t>
            </a:r>
          </a:p>
        </p:txBody>
      </p:sp>
      <p:sp>
        <p:nvSpPr>
          <p:cNvPr id="16" name="TextBox 15"/>
          <p:cNvSpPr txBox="1"/>
          <p:nvPr/>
        </p:nvSpPr>
        <p:spPr>
          <a:xfrm>
            <a:off x="4526280" y="2011680"/>
            <a:ext cx="3246120" cy="365760"/>
          </a:xfrm>
          <a:prstGeom prst="rect">
            <a:avLst/>
          </a:prstGeom>
          <a:noFill/>
        </p:spPr>
        <p:txBody>
          <a:bodyPr wrap="square" anchor="t" lIns="0" rIns="0" tIns="0" bIns="0">
            <a:spAutoFit/>
          </a:bodyPr>
          <a:lstStyle/>
          <a:p>
            <a:pPr algn="l">
              <a:lnSpc>
                <a:spcPct val="140000"/>
              </a:lnSpc>
            </a:pPr>
            <a:r>
              <a:rPr sz="1100" b="0">
                <a:solidFill>
                  <a:srgbClr val="1A1A1A"/>
                </a:solidFill>
                <a:latin typeface="Hiragino Sans"/>
                <a:ea typeface="Hiragino Sans"/>
                <a:cs typeface="Hiragino Sans"/>
              </a:rPr>
              <a:t>Yahoo!検索履歴 + 閲覧履歴</a:t>
            </a:r>
          </a:p>
        </p:txBody>
      </p:sp>
      <p:sp>
        <p:nvSpPr>
          <p:cNvPr id="17" name="TextBox 16"/>
          <p:cNvSpPr txBox="1"/>
          <p:nvPr/>
        </p:nvSpPr>
        <p:spPr>
          <a:xfrm>
            <a:off x="4526280" y="2423160"/>
            <a:ext cx="3246120" cy="320040"/>
          </a:xfrm>
          <a:prstGeom prst="rect">
            <a:avLst/>
          </a:prstGeom>
          <a:noFill/>
        </p:spPr>
        <p:txBody>
          <a:bodyPr wrap="square" anchor="t" lIns="0" rIns="0" tIns="0" bIns="0">
            <a:spAutoFit/>
          </a:bodyPr>
          <a:lstStyle/>
          <a:p>
            <a:pPr algn="l">
              <a:lnSpc>
                <a:spcPct val="115000"/>
              </a:lnSpc>
            </a:pPr>
            <a:r>
              <a:rPr sz="900" b="0">
                <a:solidFill>
                  <a:srgbClr val="B85E1A"/>
                </a:solidFill>
                <a:latin typeface="Hiragino Sans"/>
                <a:ea typeface="Hiragino Sans"/>
                <a:cs typeface="Hiragino Sans"/>
              </a:rPr>
              <a:t>ニュース / Y!知恵袋 / 不動産等</a:t>
            </a:r>
          </a:p>
        </p:txBody>
      </p:sp>
      <p:sp>
        <p:nvSpPr>
          <p:cNvPr id="18" name="Rounded Rectangle 17"/>
          <p:cNvSpPr/>
          <p:nvPr/>
        </p:nvSpPr>
        <p:spPr>
          <a:xfrm>
            <a:off x="8046720" y="1417320"/>
            <a:ext cx="3611880" cy="14173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6720" y="1417320"/>
            <a:ext cx="36118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1645920"/>
            <a:ext cx="324612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ライフイベント</a:t>
            </a:r>
          </a:p>
        </p:txBody>
      </p:sp>
      <p:sp>
        <p:nvSpPr>
          <p:cNvPr id="21" name="TextBox 20"/>
          <p:cNvSpPr txBox="1"/>
          <p:nvPr/>
        </p:nvSpPr>
        <p:spPr>
          <a:xfrm>
            <a:off x="8275320" y="2011680"/>
            <a:ext cx="3246120" cy="365760"/>
          </a:xfrm>
          <a:prstGeom prst="rect">
            <a:avLst/>
          </a:prstGeom>
          <a:noFill/>
        </p:spPr>
        <p:txBody>
          <a:bodyPr wrap="square" anchor="t" lIns="0" rIns="0" tIns="0" bIns="0">
            <a:spAutoFit/>
          </a:bodyPr>
          <a:lstStyle/>
          <a:p>
            <a:pPr algn="l">
              <a:lnSpc>
                <a:spcPct val="140000"/>
              </a:lnSpc>
            </a:pPr>
            <a:r>
              <a:rPr sz="1100" b="0">
                <a:solidFill>
                  <a:srgbClr val="1A1A1A"/>
                </a:solidFill>
                <a:latin typeface="Hiragino Sans"/>
                <a:ea typeface="Hiragino Sans"/>
                <a:cs typeface="Hiragino Sans"/>
              </a:rPr>
              <a:t>結婚 / 転職 / 出産 / 引越し</a:t>
            </a:r>
          </a:p>
        </p:txBody>
      </p:sp>
      <p:sp>
        <p:nvSpPr>
          <p:cNvPr id="22" name="TextBox 21"/>
          <p:cNvSpPr txBox="1"/>
          <p:nvPr/>
        </p:nvSpPr>
        <p:spPr>
          <a:xfrm>
            <a:off x="8275320" y="2423160"/>
            <a:ext cx="3246120" cy="320040"/>
          </a:xfrm>
          <a:prstGeom prst="rect">
            <a:avLst/>
          </a:prstGeom>
          <a:noFill/>
        </p:spPr>
        <p:txBody>
          <a:bodyPr wrap="square" anchor="t" lIns="0" rIns="0" tIns="0" bIns="0">
            <a:spAutoFit/>
          </a:bodyPr>
          <a:lstStyle/>
          <a:p>
            <a:pPr algn="l">
              <a:lnSpc>
                <a:spcPct val="115000"/>
              </a:lnSpc>
            </a:pPr>
            <a:r>
              <a:rPr sz="900" b="0">
                <a:solidFill>
                  <a:srgbClr val="B85E1A"/>
                </a:solidFill>
                <a:latin typeface="Hiragino Sans"/>
                <a:ea typeface="Hiragino Sans"/>
                <a:cs typeface="Hiragino Sans"/>
              </a:rPr>
              <a:t>Yahoo!サービスからの推定</a:t>
            </a:r>
          </a:p>
        </p:txBody>
      </p:sp>
      <p:sp>
        <p:nvSpPr>
          <p:cNvPr id="23" name="Rounded Rectangle 22"/>
          <p:cNvSpPr/>
          <p:nvPr/>
        </p:nvSpPr>
        <p:spPr>
          <a:xfrm>
            <a:off x="548640" y="2971800"/>
            <a:ext cx="3611880" cy="14173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2971800"/>
            <a:ext cx="36118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3200400"/>
            <a:ext cx="324612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購買意欲層</a:t>
            </a:r>
          </a:p>
        </p:txBody>
      </p:sp>
      <p:sp>
        <p:nvSpPr>
          <p:cNvPr id="26" name="TextBox 25"/>
          <p:cNvSpPr txBox="1"/>
          <p:nvPr/>
        </p:nvSpPr>
        <p:spPr>
          <a:xfrm>
            <a:off x="777240" y="3566160"/>
            <a:ext cx="3246120" cy="365760"/>
          </a:xfrm>
          <a:prstGeom prst="rect">
            <a:avLst/>
          </a:prstGeom>
          <a:noFill/>
        </p:spPr>
        <p:txBody>
          <a:bodyPr wrap="square" anchor="t" lIns="0" rIns="0" tIns="0" bIns="0">
            <a:spAutoFit/>
          </a:bodyPr>
          <a:lstStyle/>
          <a:p>
            <a:pPr algn="l">
              <a:lnSpc>
                <a:spcPct val="140000"/>
              </a:lnSpc>
            </a:pPr>
            <a:r>
              <a:rPr sz="1100" b="0">
                <a:solidFill>
                  <a:srgbClr val="1A1A1A"/>
                </a:solidFill>
                <a:latin typeface="Hiragino Sans"/>
                <a:ea typeface="Hiragino Sans"/>
                <a:cs typeface="Hiragino Sans"/>
              </a:rPr>
              <a:t>EC検索行動からの推定</a:t>
            </a:r>
          </a:p>
        </p:txBody>
      </p:sp>
      <p:sp>
        <p:nvSpPr>
          <p:cNvPr id="27" name="TextBox 26"/>
          <p:cNvSpPr txBox="1"/>
          <p:nvPr/>
        </p:nvSpPr>
        <p:spPr>
          <a:xfrm>
            <a:off x="777240" y="3977640"/>
            <a:ext cx="3246120" cy="320040"/>
          </a:xfrm>
          <a:prstGeom prst="rect">
            <a:avLst/>
          </a:prstGeom>
          <a:noFill/>
        </p:spPr>
        <p:txBody>
          <a:bodyPr wrap="square" anchor="t" lIns="0" rIns="0" tIns="0" bIns="0">
            <a:spAutoFit/>
          </a:bodyPr>
          <a:lstStyle/>
          <a:p>
            <a:pPr algn="l">
              <a:lnSpc>
                <a:spcPct val="115000"/>
              </a:lnSpc>
            </a:pPr>
            <a:r>
              <a:rPr sz="900" b="0">
                <a:solidFill>
                  <a:srgbClr val="B85E1A"/>
                </a:solidFill>
                <a:latin typeface="Hiragino Sans"/>
                <a:ea typeface="Hiragino Sans"/>
                <a:cs typeface="Hiragino Sans"/>
              </a:rPr>
              <a:t>Yahoo!ショッピング検索を活用</a:t>
            </a:r>
          </a:p>
        </p:txBody>
      </p:sp>
      <p:sp>
        <p:nvSpPr>
          <p:cNvPr id="28" name="Rounded Rectangle 27"/>
          <p:cNvSpPr/>
          <p:nvPr/>
        </p:nvSpPr>
        <p:spPr>
          <a:xfrm>
            <a:off x="4297680" y="2971800"/>
            <a:ext cx="3611880" cy="14173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297680" y="2971800"/>
            <a:ext cx="36118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26280" y="3200400"/>
            <a:ext cx="324612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カスタムオーディエンス</a:t>
            </a:r>
          </a:p>
        </p:txBody>
      </p:sp>
      <p:sp>
        <p:nvSpPr>
          <p:cNvPr id="31" name="TextBox 30"/>
          <p:cNvSpPr txBox="1"/>
          <p:nvPr/>
        </p:nvSpPr>
        <p:spPr>
          <a:xfrm>
            <a:off x="4526280" y="3566160"/>
            <a:ext cx="3246120" cy="365760"/>
          </a:xfrm>
          <a:prstGeom prst="rect">
            <a:avLst/>
          </a:prstGeom>
          <a:noFill/>
        </p:spPr>
        <p:txBody>
          <a:bodyPr wrap="square" anchor="t" lIns="0" rIns="0" tIns="0" bIns="0">
            <a:spAutoFit/>
          </a:bodyPr>
          <a:lstStyle/>
          <a:p>
            <a:pPr algn="l">
              <a:lnSpc>
                <a:spcPct val="140000"/>
              </a:lnSpc>
            </a:pPr>
            <a:r>
              <a:rPr sz="1100" b="0">
                <a:solidFill>
                  <a:srgbClr val="1A1A1A"/>
                </a:solidFill>
                <a:latin typeface="Hiragino Sans"/>
                <a:ea typeface="Hiragino Sans"/>
                <a:cs typeface="Hiragino Sans"/>
              </a:rPr>
              <a:t>1PD アップロード</a:t>
            </a:r>
          </a:p>
        </p:txBody>
      </p:sp>
      <p:sp>
        <p:nvSpPr>
          <p:cNvPr id="32" name="TextBox 31"/>
          <p:cNvSpPr txBox="1"/>
          <p:nvPr/>
        </p:nvSpPr>
        <p:spPr>
          <a:xfrm>
            <a:off x="4526280" y="3977640"/>
            <a:ext cx="3246120" cy="320040"/>
          </a:xfrm>
          <a:prstGeom prst="rect">
            <a:avLst/>
          </a:prstGeom>
          <a:noFill/>
        </p:spPr>
        <p:txBody>
          <a:bodyPr wrap="square" anchor="t" lIns="0" rIns="0" tIns="0" bIns="0">
            <a:spAutoFit/>
          </a:bodyPr>
          <a:lstStyle/>
          <a:p>
            <a:pPr algn="l">
              <a:lnSpc>
                <a:spcPct val="115000"/>
              </a:lnSpc>
            </a:pPr>
            <a:r>
              <a:rPr sz="900" b="0">
                <a:solidFill>
                  <a:srgbClr val="B85E1A"/>
                </a:solidFill>
                <a:latin typeface="Hiragino Sans"/>
                <a:ea typeface="Hiragino Sans"/>
                <a:cs typeface="Hiragino Sans"/>
              </a:rPr>
              <a:t>ハッシュ化された顧客リスト</a:t>
            </a:r>
          </a:p>
        </p:txBody>
      </p:sp>
      <p:sp>
        <p:nvSpPr>
          <p:cNvPr id="33" name="Rounded Rectangle 32"/>
          <p:cNvSpPr/>
          <p:nvPr/>
        </p:nvSpPr>
        <p:spPr>
          <a:xfrm>
            <a:off x="8046720" y="2971800"/>
            <a:ext cx="3611880" cy="14173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046720" y="2971800"/>
            <a:ext cx="36118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75320" y="3200400"/>
            <a:ext cx="324612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類似拡張</a:t>
            </a:r>
          </a:p>
        </p:txBody>
      </p:sp>
      <p:sp>
        <p:nvSpPr>
          <p:cNvPr id="36" name="TextBox 35"/>
          <p:cNvSpPr txBox="1"/>
          <p:nvPr/>
        </p:nvSpPr>
        <p:spPr>
          <a:xfrm>
            <a:off x="8275320" y="3566160"/>
            <a:ext cx="3246120" cy="365760"/>
          </a:xfrm>
          <a:prstGeom prst="rect">
            <a:avLst/>
          </a:prstGeom>
          <a:noFill/>
        </p:spPr>
        <p:txBody>
          <a:bodyPr wrap="square" anchor="t" lIns="0" rIns="0" tIns="0" bIns="0">
            <a:spAutoFit/>
          </a:bodyPr>
          <a:lstStyle/>
          <a:p>
            <a:pPr algn="l">
              <a:lnSpc>
                <a:spcPct val="140000"/>
              </a:lnSpc>
            </a:pPr>
            <a:r>
              <a:rPr sz="1100" b="0">
                <a:solidFill>
                  <a:srgbClr val="1A1A1A"/>
                </a:solidFill>
                <a:latin typeface="Hiragino Sans"/>
                <a:ea typeface="Hiragino Sans"/>
                <a:cs typeface="Hiragino Sans"/>
              </a:rPr>
              <a:t>Lookalike 相当</a:t>
            </a:r>
          </a:p>
        </p:txBody>
      </p:sp>
      <p:sp>
        <p:nvSpPr>
          <p:cNvPr id="37" name="TextBox 36"/>
          <p:cNvSpPr txBox="1"/>
          <p:nvPr/>
        </p:nvSpPr>
        <p:spPr>
          <a:xfrm>
            <a:off x="8275320" y="3977640"/>
            <a:ext cx="3246120" cy="320040"/>
          </a:xfrm>
          <a:prstGeom prst="rect">
            <a:avLst/>
          </a:prstGeom>
          <a:noFill/>
        </p:spPr>
        <p:txBody>
          <a:bodyPr wrap="square" anchor="t" lIns="0" rIns="0" tIns="0" bIns="0">
            <a:spAutoFit/>
          </a:bodyPr>
          <a:lstStyle/>
          <a:p>
            <a:pPr algn="l">
              <a:lnSpc>
                <a:spcPct val="115000"/>
              </a:lnSpc>
            </a:pPr>
            <a:r>
              <a:rPr sz="900" b="0">
                <a:solidFill>
                  <a:srgbClr val="B85E1A"/>
                </a:solidFill>
                <a:latin typeface="Hiragino Sans"/>
                <a:ea typeface="Hiragino Sans"/>
                <a:cs typeface="Hiragino Sans"/>
              </a:rPr>
              <a:t>Yahoo!ユーザーから類似抽出</a:t>
            </a:r>
          </a:p>
        </p:txBody>
      </p:sp>
      <p:sp>
        <p:nvSpPr>
          <p:cNvPr id="38" name="Rounded Rectangle 37"/>
          <p:cNvSpPr/>
          <p:nvPr/>
        </p:nvSpPr>
        <p:spPr>
          <a:xfrm>
            <a:off x="548640" y="4572000"/>
            <a:ext cx="11109960" cy="178308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77240" y="4709160"/>
            <a:ext cx="100584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 Yahoo!固有データの強み</a:t>
            </a:r>
          </a:p>
        </p:txBody>
      </p:sp>
      <p:sp>
        <p:nvSpPr>
          <p:cNvPr id="40" name="TextBox 39"/>
          <p:cNvSpPr txBox="1"/>
          <p:nvPr/>
        </p:nvSpPr>
        <p:spPr>
          <a:xfrm>
            <a:off x="777240" y="5029200"/>
            <a:ext cx="10972800" cy="1280160"/>
          </a:xfrm>
          <a:prstGeom prst="rect">
            <a:avLst/>
          </a:prstGeom>
          <a:noFill/>
        </p:spPr>
        <p:txBody>
          <a:bodyPr wrap="square" anchor="t" lIns="0" rIns="0" tIns="0" bIns="0">
            <a:spAutoFit/>
          </a:bodyPr>
          <a:lstStyle/>
          <a:p>
            <a:pPr algn="l">
              <a:lnSpc>
                <a:spcPct val="155000"/>
              </a:lnSpc>
            </a:pPr>
            <a:r>
              <a:rPr sz="1100" b="0">
                <a:solidFill>
                  <a:srgbClr val="1A1A1A"/>
                </a:solidFill>
                <a:latin typeface="Hiragino Sans"/>
                <a:ea typeface="Hiragino Sans"/>
                <a:cs typeface="Hiragino Sans"/>
              </a:rPr>
              <a:t>• Yahoo!ニュース閲覧履歴ベースの興味関心 → トレンド連動の訴求が可能</a:t>
            </a:r>
          </a:p>
          <a:p>
            <a:pPr algn="l">
              <a:lnSpc>
                <a:spcPct val="155000"/>
              </a:lnSpc>
            </a:pPr>
            <a:r>
              <a:rPr sz="1100" b="0">
                <a:solidFill>
                  <a:srgbClr val="1A1A1A"/>
                </a:solidFill>
                <a:latin typeface="Hiragino Sans"/>
                <a:ea typeface="Hiragino Sans"/>
                <a:cs typeface="Hiragino Sans"/>
              </a:rPr>
              <a:t>• Yahoo!不動産・知恵袋・ファイナンス等の高関与サービス連動 → 購買意欲層が強い</a:t>
            </a:r>
          </a:p>
          <a:p>
            <a:pPr algn="l">
              <a:lnSpc>
                <a:spcPct val="155000"/>
              </a:lnSpc>
            </a:pPr>
            <a:r>
              <a:rPr sz="1100" b="0">
                <a:solidFill>
                  <a:srgbClr val="1A1A1A"/>
                </a:solidFill>
                <a:latin typeface="Hiragino Sans"/>
                <a:ea typeface="Hiragino Sans"/>
                <a:cs typeface="Hiragino Sans"/>
              </a:rPr>
              <a:t>• 高年齢層 (50代以上) のリーチ網はGoogle/Metaより強い</a:t>
            </a:r>
          </a:p>
          <a:p>
            <a:pPr algn="l">
              <a:lnSpc>
                <a:spcPct val="155000"/>
              </a:lnSpc>
            </a:pPr>
            <a:r>
              <a:rPr sz="1100" b="0">
                <a:solidFill>
                  <a:srgbClr val="1A1A1A"/>
                </a:solidFill>
                <a:latin typeface="Hiragino Sans"/>
                <a:ea typeface="Hiragino Sans"/>
                <a:cs typeface="Hiragino Sans"/>
              </a:rPr>
              <a:t>• 2026春以降 + LINEデータ : チャット行動 + 検索行動の組合せでターゲティング精度UP</a:t>
            </a:r>
          </a:p>
        </p:txBody>
      </p:sp>
      <p:sp>
        <p:nvSpPr>
          <p:cNvPr id="41" name="TextBox 40"/>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Yahoo!広告 計測・コンバージョンタグ</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Cookie対応 + サイトジェネラルタグ</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P96 / 250</a:t>
            </a:r>
          </a:p>
        </p:txBody>
      </p:sp>
      <p:sp>
        <p:nvSpPr>
          <p:cNvPr id="8" name="Rounded Rectangle 7"/>
          <p:cNvSpPr/>
          <p:nvPr/>
        </p:nvSpPr>
        <p:spPr>
          <a:xfrm>
            <a:off x="548640" y="1417320"/>
            <a:ext cx="5486400" cy="2286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548640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581912"/>
            <a:ext cx="4937760" cy="411480"/>
          </a:xfrm>
          <a:prstGeom prst="rect">
            <a:avLst/>
          </a:prstGeom>
          <a:noFill/>
        </p:spPr>
        <p:txBody>
          <a:bodyPr wrap="square" anchor="t" lIns="0" rIns="0" tIns="0" bIns="0">
            <a:spAutoFit/>
          </a:bodyPr>
          <a:lstStyle/>
          <a:p>
            <a:pPr algn="l">
              <a:lnSpc>
                <a:spcPct val="115000"/>
              </a:lnSpc>
            </a:pPr>
            <a:r>
              <a:rPr sz="1500" b="1">
                <a:solidFill>
                  <a:srgbClr val="E87722"/>
                </a:solidFill>
                <a:latin typeface="Hiragino Sans"/>
                <a:ea typeface="Hiragino Sans"/>
                <a:cs typeface="Hiragino Sans"/>
              </a:rPr>
              <a:t>サイトジェネラルタグ</a:t>
            </a:r>
          </a:p>
        </p:txBody>
      </p:sp>
      <p:sp>
        <p:nvSpPr>
          <p:cNvPr id="11" name="TextBox 10"/>
          <p:cNvSpPr txBox="1"/>
          <p:nvPr/>
        </p:nvSpPr>
        <p:spPr>
          <a:xfrm>
            <a:off x="822960" y="1965960"/>
            <a:ext cx="4937760" cy="27432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全ページに設置</a:t>
            </a:r>
          </a:p>
        </p:txBody>
      </p:sp>
      <p:sp>
        <p:nvSpPr>
          <p:cNvPr id="12" name="TextBox 11"/>
          <p:cNvSpPr txBox="1"/>
          <p:nvPr/>
        </p:nvSpPr>
        <p:spPr>
          <a:xfrm>
            <a:off x="822960" y="2423160"/>
            <a:ext cx="4937760" cy="1234440"/>
          </a:xfrm>
          <a:prstGeom prst="rect">
            <a:avLst/>
          </a:prstGeom>
          <a:noFill/>
        </p:spPr>
        <p:txBody>
          <a:bodyPr wrap="square" anchor="t" lIns="0" rIns="0" tIns="0" bIns="0">
            <a:spAutoFit/>
          </a:bodyPr>
          <a:lstStyle/>
          <a:p>
            <a:pPr algn="l">
              <a:lnSpc>
                <a:spcPct val="155000"/>
              </a:lnSpc>
            </a:pPr>
            <a:r>
              <a:rPr sz="1100" b="0">
                <a:solidFill>
                  <a:srgbClr val="1A1A1A"/>
                </a:solidFill>
                <a:latin typeface="Hiragino Sans"/>
                <a:ea typeface="Hiragino Sans"/>
                <a:cs typeface="Hiragino Sans"/>
              </a:rPr>
              <a:t>Google の gtag.js 相当。</a:t>
            </a:r>
          </a:p>
          <a:p>
            <a:pPr algn="l">
              <a:lnSpc>
                <a:spcPct val="155000"/>
              </a:lnSpc>
            </a:pPr>
            <a:r>
              <a:rPr sz="1100" b="0">
                <a:solidFill>
                  <a:srgbClr val="1A1A1A"/>
                </a:solidFill>
                <a:latin typeface="Hiragino Sans"/>
                <a:ea typeface="Hiragino Sans"/>
                <a:cs typeface="Hiragino Sans"/>
              </a:rPr>
              <a:t>GTM経由でも実装可。</a:t>
            </a:r>
          </a:p>
          <a:p>
            <a:pPr algn="l">
              <a:lnSpc>
                <a:spcPct val="155000"/>
              </a:lnSpc>
            </a:pPr>
            <a:r>
              <a:rPr sz="1100" b="0">
                <a:solidFill>
                  <a:srgbClr val="1A1A1A"/>
                </a:solidFill>
                <a:latin typeface="Hiragino Sans"/>
                <a:ea typeface="Hiragino Sans"/>
                <a:cs typeface="Hiragino Sans"/>
              </a:rPr>
              <a:t>コンバージョン測定の基盤</a:t>
            </a:r>
          </a:p>
        </p:txBody>
      </p:sp>
      <p:sp>
        <p:nvSpPr>
          <p:cNvPr id="13" name="Rounded Rectangle 12"/>
          <p:cNvSpPr/>
          <p:nvPr/>
        </p:nvSpPr>
        <p:spPr>
          <a:xfrm>
            <a:off x="6172200" y="1417320"/>
            <a:ext cx="5486400" cy="2286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1417320"/>
            <a:ext cx="548640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1581912"/>
            <a:ext cx="4937760" cy="411480"/>
          </a:xfrm>
          <a:prstGeom prst="rect">
            <a:avLst/>
          </a:prstGeom>
          <a:noFill/>
        </p:spPr>
        <p:txBody>
          <a:bodyPr wrap="square" anchor="t" lIns="0" rIns="0" tIns="0" bIns="0">
            <a:spAutoFit/>
          </a:bodyPr>
          <a:lstStyle/>
          <a:p>
            <a:pPr algn="l">
              <a:lnSpc>
                <a:spcPct val="115000"/>
              </a:lnSpc>
            </a:pPr>
            <a:r>
              <a:rPr sz="1500" b="1">
                <a:solidFill>
                  <a:srgbClr val="E87722"/>
                </a:solidFill>
                <a:latin typeface="Hiragino Sans"/>
                <a:ea typeface="Hiragino Sans"/>
                <a:cs typeface="Hiragino Sans"/>
              </a:rPr>
              <a:t>コンバージョン測定タグ</a:t>
            </a:r>
          </a:p>
        </p:txBody>
      </p:sp>
      <p:sp>
        <p:nvSpPr>
          <p:cNvPr id="16" name="TextBox 15"/>
          <p:cNvSpPr txBox="1"/>
          <p:nvPr/>
        </p:nvSpPr>
        <p:spPr>
          <a:xfrm>
            <a:off x="6446520" y="1965960"/>
            <a:ext cx="4937760" cy="27432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サンクスページに設置</a:t>
            </a:r>
          </a:p>
        </p:txBody>
      </p:sp>
      <p:sp>
        <p:nvSpPr>
          <p:cNvPr id="17" name="TextBox 16"/>
          <p:cNvSpPr txBox="1"/>
          <p:nvPr/>
        </p:nvSpPr>
        <p:spPr>
          <a:xfrm>
            <a:off x="6446520" y="2423160"/>
            <a:ext cx="4937760" cy="1234440"/>
          </a:xfrm>
          <a:prstGeom prst="rect">
            <a:avLst/>
          </a:prstGeom>
          <a:noFill/>
        </p:spPr>
        <p:txBody>
          <a:bodyPr wrap="square" anchor="t" lIns="0" rIns="0" tIns="0" bIns="0">
            <a:spAutoFit/>
          </a:bodyPr>
          <a:lstStyle/>
          <a:p>
            <a:pPr algn="l">
              <a:lnSpc>
                <a:spcPct val="155000"/>
              </a:lnSpc>
            </a:pPr>
            <a:r>
              <a:rPr sz="1100" b="0">
                <a:solidFill>
                  <a:srgbClr val="1A1A1A"/>
                </a:solidFill>
                <a:latin typeface="Hiragino Sans"/>
                <a:ea typeface="Hiragino Sans"/>
                <a:cs typeface="Hiragino Sans"/>
              </a:rPr>
              <a:t>CV発生時に発火。</a:t>
            </a:r>
          </a:p>
          <a:p>
            <a:pPr algn="l">
              <a:lnSpc>
                <a:spcPct val="155000"/>
              </a:lnSpc>
            </a:pPr>
            <a:r>
              <a:rPr sz="1100" b="0">
                <a:solidFill>
                  <a:srgbClr val="1A1A1A"/>
                </a:solidFill>
                <a:latin typeface="Hiragino Sans"/>
                <a:ea typeface="Hiragino Sans"/>
                <a:cs typeface="Hiragino Sans"/>
              </a:rPr>
              <a:t>Yahoo! Tag Managerで一元管理可。</a:t>
            </a:r>
          </a:p>
          <a:p>
            <a:pPr algn="l">
              <a:lnSpc>
                <a:spcPct val="155000"/>
              </a:lnSpc>
            </a:pPr>
            <a:r>
              <a:rPr sz="1100" b="0">
                <a:solidFill>
                  <a:srgbClr val="1A1A1A"/>
                </a:solidFill>
                <a:latin typeface="Hiragino Sans"/>
                <a:ea typeface="Hiragino Sans"/>
                <a:cs typeface="Hiragino Sans"/>
              </a:rPr>
              <a:t>アプリ計測も含む</a:t>
            </a:r>
          </a:p>
        </p:txBody>
      </p:sp>
      <p:sp>
        <p:nvSpPr>
          <p:cNvPr id="18" name="Rounded Rectangle 17"/>
          <p:cNvSpPr/>
          <p:nvPr/>
        </p:nvSpPr>
        <p:spPr>
          <a:xfrm>
            <a:off x="548640" y="3886200"/>
            <a:ext cx="11109960" cy="246888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023360"/>
            <a:ext cx="10058400" cy="365760"/>
          </a:xfrm>
          <a:prstGeom prst="rect">
            <a:avLst/>
          </a:prstGeom>
          <a:noFill/>
        </p:spPr>
        <p:txBody>
          <a:bodyPr wrap="square" anchor="t" lIns="0" rIns="0" tIns="0" bIns="0">
            <a:spAutoFit/>
          </a:bodyPr>
          <a:lstStyle/>
          <a:p>
            <a:pPr algn="l">
              <a:lnSpc>
                <a:spcPct val="115000"/>
              </a:lnSpc>
            </a:pPr>
            <a:r>
              <a:rPr sz="1300" b="1">
                <a:solidFill>
                  <a:srgbClr val="E87722"/>
                </a:solidFill>
                <a:latin typeface="Hiragino Sans"/>
                <a:ea typeface="Hiragino Sans"/>
                <a:cs typeface="Hiragino Sans"/>
              </a:rPr>
              <a:t>Cookie対応 + Privacy 対策 (2026年現在)</a:t>
            </a:r>
          </a:p>
        </p:txBody>
      </p:sp>
      <p:sp>
        <p:nvSpPr>
          <p:cNvPr id="20" name="TextBox 19"/>
          <p:cNvSpPr txBox="1"/>
          <p:nvPr/>
        </p:nvSpPr>
        <p:spPr>
          <a:xfrm>
            <a:off x="777240" y="4434840"/>
            <a:ext cx="27432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a:t>
            </a:r>
          </a:p>
        </p:txBody>
      </p:sp>
      <p:sp>
        <p:nvSpPr>
          <p:cNvPr id="21" name="TextBox 20"/>
          <p:cNvSpPr txBox="1"/>
          <p:nvPr/>
        </p:nvSpPr>
        <p:spPr>
          <a:xfrm>
            <a:off x="1051560" y="4462272"/>
            <a:ext cx="10515600" cy="365760"/>
          </a:xfrm>
          <a:prstGeom prst="rect">
            <a:avLst/>
          </a:prstGeom>
          <a:noFill/>
        </p:spPr>
        <p:txBody>
          <a:bodyPr wrap="square" anchor="t" lIns="0" rIns="0" tIns="0" bIns="0">
            <a:spAutoFit/>
          </a:bodyPr>
          <a:lstStyle/>
          <a:p>
            <a:pPr algn="l">
              <a:lnSpc>
                <a:spcPct val="145000"/>
              </a:lnSpc>
            </a:pPr>
            <a:r>
              <a:rPr sz="1100" b="0">
                <a:solidFill>
                  <a:srgbClr val="FFFFFF"/>
                </a:solidFill>
                <a:latin typeface="Hiragino Sans"/>
                <a:ea typeface="Hiragino Sans"/>
                <a:cs typeface="Hiragino Sans"/>
              </a:rPr>
              <a:t>Google Cookie廃止撤回 (2024/07) でYahoo!広告のCookie計測も継続可</a:t>
            </a:r>
          </a:p>
        </p:txBody>
      </p:sp>
      <p:sp>
        <p:nvSpPr>
          <p:cNvPr id="22" name="TextBox 21"/>
          <p:cNvSpPr txBox="1"/>
          <p:nvPr/>
        </p:nvSpPr>
        <p:spPr>
          <a:xfrm>
            <a:off x="777240" y="4800600"/>
            <a:ext cx="27432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a:t>
            </a:r>
          </a:p>
        </p:txBody>
      </p:sp>
      <p:sp>
        <p:nvSpPr>
          <p:cNvPr id="23" name="TextBox 22"/>
          <p:cNvSpPr txBox="1"/>
          <p:nvPr/>
        </p:nvSpPr>
        <p:spPr>
          <a:xfrm>
            <a:off x="1051560" y="4828032"/>
            <a:ext cx="10515600" cy="365760"/>
          </a:xfrm>
          <a:prstGeom prst="rect">
            <a:avLst/>
          </a:prstGeom>
          <a:noFill/>
        </p:spPr>
        <p:txBody>
          <a:bodyPr wrap="square" anchor="t" lIns="0" rIns="0" tIns="0" bIns="0">
            <a:spAutoFit/>
          </a:bodyPr>
          <a:lstStyle/>
          <a:p>
            <a:pPr algn="l">
              <a:lnSpc>
                <a:spcPct val="145000"/>
              </a:lnSpc>
            </a:pPr>
            <a:r>
              <a:rPr sz="1100" b="0">
                <a:solidFill>
                  <a:srgbClr val="FFFFFF"/>
                </a:solidFill>
                <a:latin typeface="Hiragino Sans"/>
                <a:ea typeface="Hiragino Sans"/>
                <a:cs typeface="Hiragino Sans"/>
              </a:rPr>
              <a:t>ATT等のシグナル減対策 : サーバーサイド計測 (相当機能) は限定的、Tag Manager経由が標準</a:t>
            </a:r>
          </a:p>
        </p:txBody>
      </p:sp>
      <p:sp>
        <p:nvSpPr>
          <p:cNvPr id="24" name="TextBox 23"/>
          <p:cNvSpPr txBox="1"/>
          <p:nvPr/>
        </p:nvSpPr>
        <p:spPr>
          <a:xfrm>
            <a:off x="777240" y="5166360"/>
            <a:ext cx="27432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a:t>
            </a:r>
          </a:p>
        </p:txBody>
      </p:sp>
      <p:sp>
        <p:nvSpPr>
          <p:cNvPr id="25" name="TextBox 24"/>
          <p:cNvSpPr txBox="1"/>
          <p:nvPr/>
        </p:nvSpPr>
        <p:spPr>
          <a:xfrm>
            <a:off x="1051560" y="5193792"/>
            <a:ext cx="10515600" cy="365760"/>
          </a:xfrm>
          <a:prstGeom prst="rect">
            <a:avLst/>
          </a:prstGeom>
          <a:noFill/>
        </p:spPr>
        <p:txBody>
          <a:bodyPr wrap="square" anchor="t" lIns="0" rIns="0" tIns="0" bIns="0">
            <a:spAutoFit/>
          </a:bodyPr>
          <a:lstStyle/>
          <a:p>
            <a:pPr algn="l">
              <a:lnSpc>
                <a:spcPct val="145000"/>
              </a:lnSpc>
            </a:pPr>
            <a:r>
              <a:rPr sz="1100" b="0">
                <a:solidFill>
                  <a:srgbClr val="FFFFFF"/>
                </a:solidFill>
                <a:latin typeface="Hiragino Sans"/>
                <a:ea typeface="Hiragino Sans"/>
                <a:cs typeface="Hiragino Sans"/>
              </a:rPr>
              <a:t>ITP (Safari) の影響 : Yahoo!広告でも First-Party Cookie へ移行が進行</a:t>
            </a:r>
          </a:p>
        </p:txBody>
      </p:sp>
      <p:sp>
        <p:nvSpPr>
          <p:cNvPr id="26" name="TextBox 25"/>
          <p:cNvSpPr txBox="1"/>
          <p:nvPr/>
        </p:nvSpPr>
        <p:spPr>
          <a:xfrm>
            <a:off x="777240" y="5532120"/>
            <a:ext cx="27432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a:t>
            </a:r>
          </a:p>
        </p:txBody>
      </p:sp>
      <p:sp>
        <p:nvSpPr>
          <p:cNvPr id="27" name="TextBox 26"/>
          <p:cNvSpPr txBox="1"/>
          <p:nvPr/>
        </p:nvSpPr>
        <p:spPr>
          <a:xfrm>
            <a:off x="1051560" y="5559552"/>
            <a:ext cx="10515600" cy="365760"/>
          </a:xfrm>
          <a:prstGeom prst="rect">
            <a:avLst/>
          </a:prstGeom>
          <a:noFill/>
        </p:spPr>
        <p:txBody>
          <a:bodyPr wrap="square" anchor="t" lIns="0" rIns="0" tIns="0" bIns="0">
            <a:spAutoFit/>
          </a:bodyPr>
          <a:lstStyle/>
          <a:p>
            <a:pPr algn="l">
              <a:lnSpc>
                <a:spcPct val="145000"/>
              </a:lnSpc>
            </a:pPr>
            <a:r>
              <a:rPr sz="1100" b="0">
                <a:solidFill>
                  <a:srgbClr val="FFFFFF"/>
                </a:solidFill>
                <a:latin typeface="Hiragino Sans"/>
                <a:ea typeface="Hiragino Sans"/>
                <a:cs typeface="Hiragino Sans"/>
              </a:rPr>
              <a:t>Consent Mode 相当 : Yahoo!独自の同意管理は限定的、CMP導入で日本市場対応が現実解</a:t>
            </a:r>
          </a:p>
        </p:txBody>
      </p:sp>
      <p:sp>
        <p:nvSpPr>
          <p:cNvPr id="28" name="TextBox 27"/>
          <p:cNvSpPr txBox="1"/>
          <p:nvPr/>
        </p:nvSpPr>
        <p:spPr>
          <a:xfrm>
            <a:off x="777240" y="5897880"/>
            <a:ext cx="27432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a:t>
            </a:r>
          </a:p>
        </p:txBody>
      </p:sp>
      <p:sp>
        <p:nvSpPr>
          <p:cNvPr id="29" name="TextBox 28"/>
          <p:cNvSpPr txBox="1"/>
          <p:nvPr/>
        </p:nvSpPr>
        <p:spPr>
          <a:xfrm>
            <a:off x="1051560" y="5925312"/>
            <a:ext cx="10515600" cy="365760"/>
          </a:xfrm>
          <a:prstGeom prst="rect">
            <a:avLst/>
          </a:prstGeom>
          <a:noFill/>
        </p:spPr>
        <p:txBody>
          <a:bodyPr wrap="square" anchor="t" lIns="0" rIns="0" tIns="0" bIns="0">
            <a:spAutoFit/>
          </a:bodyPr>
          <a:lstStyle/>
          <a:p>
            <a:pPr algn="l">
              <a:lnSpc>
                <a:spcPct val="145000"/>
              </a:lnSpc>
            </a:pPr>
            <a:r>
              <a:rPr sz="1100" b="0">
                <a:solidFill>
                  <a:srgbClr val="FFFFFF"/>
                </a:solidFill>
                <a:latin typeface="Hiragino Sans"/>
                <a:ea typeface="Hiragino Sans"/>
                <a:cs typeface="Hiragino Sans"/>
              </a:rPr>
              <a:t>🔥 2026春LINEヤフー統合 : ID統合 + データ統合で計測精度改善が期待される</a:t>
            </a:r>
          </a:p>
        </p:txBody>
      </p:sp>
      <p:sp>
        <p:nvSpPr>
          <p:cNvPr id="30" name="TextBox 29"/>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Yahoo!広告 業界別ユースケース</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Google より Yahoo!が強い業種</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P97 / 250</a:t>
            </a:r>
          </a:p>
        </p:txBody>
      </p:sp>
      <p:sp>
        <p:nvSpPr>
          <p:cNvPr id="8" name="Rounded Rectangle 7"/>
          <p:cNvSpPr/>
          <p:nvPr/>
        </p:nvSpPr>
        <p:spPr>
          <a:xfrm>
            <a:off x="548640" y="1417320"/>
            <a:ext cx="3611880" cy="150876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150876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554480"/>
            <a:ext cx="3246120" cy="32004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不動産</a:t>
            </a:r>
          </a:p>
        </p:txBody>
      </p:sp>
      <p:sp>
        <p:nvSpPr>
          <p:cNvPr id="11" name="TextBox 10"/>
          <p:cNvSpPr txBox="1"/>
          <p:nvPr/>
        </p:nvSpPr>
        <p:spPr>
          <a:xfrm>
            <a:off x="777240" y="1920240"/>
            <a:ext cx="3246120" cy="320040"/>
          </a:xfrm>
          <a:prstGeom prst="rect">
            <a:avLst/>
          </a:prstGeom>
          <a:noFill/>
        </p:spPr>
        <p:txBody>
          <a:bodyPr wrap="square" anchor="t" lIns="0" rIns="0" tIns="0" bIns="0">
            <a:spAutoFit/>
          </a:bodyPr>
          <a:lstStyle/>
          <a:p>
            <a:pPr algn="l">
              <a:lnSpc>
                <a:spcPct val="115000"/>
              </a:lnSpc>
            </a:pPr>
            <a:r>
              <a:rPr sz="1000" b="1">
                <a:solidFill>
                  <a:srgbClr val="B85E1A"/>
                </a:solidFill>
                <a:latin typeface="Hiragino Sans"/>
                <a:ea typeface="Hiragino Sans"/>
                <a:cs typeface="Hiragino Sans"/>
              </a:rPr>
              <a:t>Yahoo!不動産連動</a:t>
            </a:r>
          </a:p>
        </p:txBody>
      </p:sp>
      <p:sp>
        <p:nvSpPr>
          <p:cNvPr id="12" name="TextBox 11"/>
          <p:cNvSpPr txBox="1"/>
          <p:nvPr/>
        </p:nvSpPr>
        <p:spPr>
          <a:xfrm>
            <a:off x="777240" y="2286000"/>
            <a:ext cx="3246120" cy="594360"/>
          </a:xfrm>
          <a:prstGeom prst="rect">
            <a:avLst/>
          </a:prstGeom>
          <a:noFill/>
        </p:spPr>
        <p:txBody>
          <a:bodyPr wrap="square" anchor="t" lIns="0" rIns="0" tIns="0" bIns="0">
            <a:spAutoFit/>
          </a:bodyPr>
          <a:lstStyle/>
          <a:p>
            <a:pPr algn="l">
              <a:lnSpc>
                <a:spcPct val="145000"/>
              </a:lnSpc>
            </a:pPr>
            <a:r>
              <a:rPr sz="1000" b="0">
                <a:solidFill>
                  <a:srgbClr val="1A1A1A"/>
                </a:solidFill>
                <a:latin typeface="Hiragino Sans"/>
                <a:ea typeface="Hiragino Sans"/>
                <a:cs typeface="Hiragino Sans"/>
              </a:rPr>
              <a:t>高年齢層 + Yahoo!不動産閲覧者へのリマケで効果大</a:t>
            </a:r>
          </a:p>
        </p:txBody>
      </p:sp>
      <p:sp>
        <p:nvSpPr>
          <p:cNvPr id="13" name="Rounded Rectangle 12"/>
          <p:cNvSpPr/>
          <p:nvPr/>
        </p:nvSpPr>
        <p:spPr>
          <a:xfrm>
            <a:off x="4297680" y="1417320"/>
            <a:ext cx="3611880" cy="150876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7680" y="1417320"/>
            <a:ext cx="91440" cy="150876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26280" y="1554480"/>
            <a:ext cx="3246120" cy="32004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金融 / 保険</a:t>
            </a:r>
          </a:p>
        </p:txBody>
      </p:sp>
      <p:sp>
        <p:nvSpPr>
          <p:cNvPr id="16" name="TextBox 15"/>
          <p:cNvSpPr txBox="1"/>
          <p:nvPr/>
        </p:nvSpPr>
        <p:spPr>
          <a:xfrm>
            <a:off x="4526280" y="1920240"/>
            <a:ext cx="3246120" cy="320040"/>
          </a:xfrm>
          <a:prstGeom prst="rect">
            <a:avLst/>
          </a:prstGeom>
          <a:noFill/>
        </p:spPr>
        <p:txBody>
          <a:bodyPr wrap="square" anchor="t" lIns="0" rIns="0" tIns="0" bIns="0">
            <a:spAutoFit/>
          </a:bodyPr>
          <a:lstStyle/>
          <a:p>
            <a:pPr algn="l">
              <a:lnSpc>
                <a:spcPct val="115000"/>
              </a:lnSpc>
            </a:pPr>
            <a:r>
              <a:rPr sz="1000" b="1">
                <a:solidFill>
                  <a:srgbClr val="B85E1A"/>
                </a:solidFill>
                <a:latin typeface="Hiragino Sans"/>
                <a:ea typeface="Hiragino Sans"/>
                <a:cs typeface="Hiragino Sans"/>
              </a:rPr>
              <a:t>Yahoo!ファイナンス連動</a:t>
            </a:r>
          </a:p>
        </p:txBody>
      </p:sp>
      <p:sp>
        <p:nvSpPr>
          <p:cNvPr id="17" name="TextBox 16"/>
          <p:cNvSpPr txBox="1"/>
          <p:nvPr/>
        </p:nvSpPr>
        <p:spPr>
          <a:xfrm>
            <a:off x="4526280" y="2286000"/>
            <a:ext cx="3246120" cy="594360"/>
          </a:xfrm>
          <a:prstGeom prst="rect">
            <a:avLst/>
          </a:prstGeom>
          <a:noFill/>
        </p:spPr>
        <p:txBody>
          <a:bodyPr wrap="square" anchor="t" lIns="0" rIns="0" tIns="0" bIns="0">
            <a:spAutoFit/>
          </a:bodyPr>
          <a:lstStyle/>
          <a:p>
            <a:pPr algn="l">
              <a:lnSpc>
                <a:spcPct val="145000"/>
              </a:lnSpc>
            </a:pPr>
            <a:r>
              <a:rPr sz="1000" b="0">
                <a:solidFill>
                  <a:srgbClr val="1A1A1A"/>
                </a:solidFill>
                <a:latin typeface="Hiragino Sans"/>
                <a:ea typeface="Hiragino Sans"/>
                <a:cs typeface="Hiragino Sans"/>
              </a:rPr>
              <a:t>比較検討層・高所得層へのリーチが Google比優位</a:t>
            </a:r>
          </a:p>
        </p:txBody>
      </p:sp>
      <p:sp>
        <p:nvSpPr>
          <p:cNvPr id="18" name="Rounded Rectangle 17"/>
          <p:cNvSpPr/>
          <p:nvPr/>
        </p:nvSpPr>
        <p:spPr>
          <a:xfrm>
            <a:off x="8046720" y="1417320"/>
            <a:ext cx="3611880" cy="150876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6720" y="1417320"/>
            <a:ext cx="91440" cy="150876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1554480"/>
            <a:ext cx="3246120" cy="32004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自動車</a:t>
            </a:r>
          </a:p>
        </p:txBody>
      </p:sp>
      <p:sp>
        <p:nvSpPr>
          <p:cNvPr id="21" name="TextBox 20"/>
          <p:cNvSpPr txBox="1"/>
          <p:nvPr/>
        </p:nvSpPr>
        <p:spPr>
          <a:xfrm>
            <a:off x="8275320" y="1920240"/>
            <a:ext cx="3246120" cy="320040"/>
          </a:xfrm>
          <a:prstGeom prst="rect">
            <a:avLst/>
          </a:prstGeom>
          <a:noFill/>
        </p:spPr>
        <p:txBody>
          <a:bodyPr wrap="square" anchor="t" lIns="0" rIns="0" tIns="0" bIns="0">
            <a:spAutoFit/>
          </a:bodyPr>
          <a:lstStyle/>
          <a:p>
            <a:pPr algn="l">
              <a:lnSpc>
                <a:spcPct val="115000"/>
              </a:lnSpc>
            </a:pPr>
            <a:r>
              <a:rPr sz="1000" b="1">
                <a:solidFill>
                  <a:srgbClr val="B85E1A"/>
                </a:solidFill>
                <a:latin typeface="Hiragino Sans"/>
                <a:ea typeface="Hiragino Sans"/>
                <a:cs typeface="Hiragino Sans"/>
              </a:rPr>
              <a:t>Yahoo!カー / オークション</a:t>
            </a:r>
          </a:p>
        </p:txBody>
      </p:sp>
      <p:sp>
        <p:nvSpPr>
          <p:cNvPr id="22" name="TextBox 21"/>
          <p:cNvSpPr txBox="1"/>
          <p:nvPr/>
        </p:nvSpPr>
        <p:spPr>
          <a:xfrm>
            <a:off x="8275320" y="2286000"/>
            <a:ext cx="3246120" cy="594360"/>
          </a:xfrm>
          <a:prstGeom prst="rect">
            <a:avLst/>
          </a:prstGeom>
          <a:noFill/>
        </p:spPr>
        <p:txBody>
          <a:bodyPr wrap="square" anchor="t" lIns="0" rIns="0" tIns="0" bIns="0">
            <a:spAutoFit/>
          </a:bodyPr>
          <a:lstStyle/>
          <a:p>
            <a:pPr algn="l">
              <a:lnSpc>
                <a:spcPct val="145000"/>
              </a:lnSpc>
            </a:pPr>
            <a:r>
              <a:rPr sz="1000" b="0">
                <a:solidFill>
                  <a:srgbClr val="1A1A1A"/>
                </a:solidFill>
                <a:latin typeface="Hiragino Sans"/>
                <a:ea typeface="Hiragino Sans"/>
                <a:cs typeface="Hiragino Sans"/>
              </a:rPr>
              <a:t>中古車・新車検討者の購買サイクルに合致</a:t>
            </a:r>
          </a:p>
        </p:txBody>
      </p:sp>
      <p:sp>
        <p:nvSpPr>
          <p:cNvPr id="23" name="Rounded Rectangle 22"/>
          <p:cNvSpPr/>
          <p:nvPr/>
        </p:nvSpPr>
        <p:spPr>
          <a:xfrm>
            <a:off x="548640" y="3063240"/>
            <a:ext cx="3611880" cy="150876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3063240"/>
            <a:ext cx="91440" cy="150876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3200400"/>
            <a:ext cx="3246120" cy="32004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BtoB士業</a:t>
            </a:r>
          </a:p>
        </p:txBody>
      </p:sp>
      <p:sp>
        <p:nvSpPr>
          <p:cNvPr id="26" name="TextBox 25"/>
          <p:cNvSpPr txBox="1"/>
          <p:nvPr/>
        </p:nvSpPr>
        <p:spPr>
          <a:xfrm>
            <a:off x="777240" y="3566160"/>
            <a:ext cx="3246120" cy="320040"/>
          </a:xfrm>
          <a:prstGeom prst="rect">
            <a:avLst/>
          </a:prstGeom>
          <a:noFill/>
        </p:spPr>
        <p:txBody>
          <a:bodyPr wrap="square" anchor="t" lIns="0" rIns="0" tIns="0" bIns="0">
            <a:spAutoFit/>
          </a:bodyPr>
          <a:lstStyle/>
          <a:p>
            <a:pPr algn="l">
              <a:lnSpc>
                <a:spcPct val="115000"/>
              </a:lnSpc>
            </a:pPr>
            <a:r>
              <a:rPr sz="1000" b="1">
                <a:solidFill>
                  <a:srgbClr val="B85E1A"/>
                </a:solidFill>
                <a:latin typeface="Hiragino Sans"/>
                <a:ea typeface="Hiragino Sans"/>
                <a:cs typeface="Hiragino Sans"/>
              </a:rPr>
              <a:t>Yahoo!知恵袋 + 検索</a:t>
            </a:r>
          </a:p>
        </p:txBody>
      </p:sp>
      <p:sp>
        <p:nvSpPr>
          <p:cNvPr id="27" name="TextBox 26"/>
          <p:cNvSpPr txBox="1"/>
          <p:nvPr/>
        </p:nvSpPr>
        <p:spPr>
          <a:xfrm>
            <a:off x="777240" y="3931920"/>
            <a:ext cx="3246120" cy="594360"/>
          </a:xfrm>
          <a:prstGeom prst="rect">
            <a:avLst/>
          </a:prstGeom>
          <a:noFill/>
        </p:spPr>
        <p:txBody>
          <a:bodyPr wrap="square" anchor="t" lIns="0" rIns="0" tIns="0" bIns="0">
            <a:spAutoFit/>
          </a:bodyPr>
          <a:lstStyle/>
          <a:p>
            <a:pPr algn="l">
              <a:lnSpc>
                <a:spcPct val="145000"/>
              </a:lnSpc>
            </a:pPr>
            <a:r>
              <a:rPr sz="1000" b="0">
                <a:solidFill>
                  <a:srgbClr val="1A1A1A"/>
                </a:solidFill>
                <a:latin typeface="Hiragino Sans"/>
                <a:ea typeface="Hiragino Sans"/>
                <a:cs typeface="Hiragino Sans"/>
              </a:rPr>
              <a:t>弁護士・税理士・社労士の問合せCV安定</a:t>
            </a:r>
          </a:p>
        </p:txBody>
      </p:sp>
      <p:sp>
        <p:nvSpPr>
          <p:cNvPr id="28" name="Rounded Rectangle 27"/>
          <p:cNvSpPr/>
          <p:nvPr/>
        </p:nvSpPr>
        <p:spPr>
          <a:xfrm>
            <a:off x="4297680" y="3063240"/>
            <a:ext cx="3611880" cy="150876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297680" y="3063240"/>
            <a:ext cx="91440" cy="150876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26280" y="3200400"/>
            <a:ext cx="3246120" cy="32004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通販 / D2C</a:t>
            </a:r>
          </a:p>
        </p:txBody>
      </p:sp>
      <p:sp>
        <p:nvSpPr>
          <p:cNvPr id="31" name="TextBox 30"/>
          <p:cNvSpPr txBox="1"/>
          <p:nvPr/>
        </p:nvSpPr>
        <p:spPr>
          <a:xfrm>
            <a:off x="4526280" y="3566160"/>
            <a:ext cx="3246120" cy="320040"/>
          </a:xfrm>
          <a:prstGeom prst="rect">
            <a:avLst/>
          </a:prstGeom>
          <a:noFill/>
        </p:spPr>
        <p:txBody>
          <a:bodyPr wrap="square" anchor="t" lIns="0" rIns="0" tIns="0" bIns="0">
            <a:spAutoFit/>
          </a:bodyPr>
          <a:lstStyle/>
          <a:p>
            <a:pPr algn="l">
              <a:lnSpc>
                <a:spcPct val="115000"/>
              </a:lnSpc>
            </a:pPr>
            <a:r>
              <a:rPr sz="1000" b="1">
                <a:solidFill>
                  <a:srgbClr val="B85E1A"/>
                </a:solidFill>
                <a:latin typeface="Hiragino Sans"/>
                <a:ea typeface="Hiragino Sans"/>
                <a:cs typeface="Hiragino Sans"/>
              </a:rPr>
              <a:t>Yahoo!ショッピング連携</a:t>
            </a:r>
          </a:p>
        </p:txBody>
      </p:sp>
      <p:sp>
        <p:nvSpPr>
          <p:cNvPr id="32" name="TextBox 31"/>
          <p:cNvSpPr txBox="1"/>
          <p:nvPr/>
        </p:nvSpPr>
        <p:spPr>
          <a:xfrm>
            <a:off x="4526280" y="3931920"/>
            <a:ext cx="3246120" cy="594360"/>
          </a:xfrm>
          <a:prstGeom prst="rect">
            <a:avLst/>
          </a:prstGeom>
          <a:noFill/>
        </p:spPr>
        <p:txBody>
          <a:bodyPr wrap="square" anchor="t" lIns="0" rIns="0" tIns="0" bIns="0">
            <a:spAutoFit/>
          </a:bodyPr>
          <a:lstStyle/>
          <a:p>
            <a:pPr algn="l">
              <a:lnSpc>
                <a:spcPct val="145000"/>
              </a:lnSpc>
            </a:pPr>
            <a:r>
              <a:rPr sz="1000" b="0">
                <a:solidFill>
                  <a:srgbClr val="1A1A1A"/>
                </a:solidFill>
                <a:latin typeface="Hiragino Sans"/>
                <a:ea typeface="Hiragino Sans"/>
                <a:cs typeface="Hiragino Sans"/>
              </a:rPr>
              <a:t>リテールメディアと組み合わせて広域認知</a:t>
            </a:r>
          </a:p>
        </p:txBody>
      </p:sp>
      <p:sp>
        <p:nvSpPr>
          <p:cNvPr id="33" name="Rounded Rectangle 32"/>
          <p:cNvSpPr/>
          <p:nvPr/>
        </p:nvSpPr>
        <p:spPr>
          <a:xfrm>
            <a:off x="8046720" y="3063240"/>
            <a:ext cx="3611880" cy="150876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046720" y="3063240"/>
            <a:ext cx="91440" cy="150876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75320" y="3200400"/>
            <a:ext cx="3246120" cy="32004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教育 / 資格</a:t>
            </a:r>
          </a:p>
        </p:txBody>
      </p:sp>
      <p:sp>
        <p:nvSpPr>
          <p:cNvPr id="36" name="TextBox 35"/>
          <p:cNvSpPr txBox="1"/>
          <p:nvPr/>
        </p:nvSpPr>
        <p:spPr>
          <a:xfrm>
            <a:off x="8275320" y="3566160"/>
            <a:ext cx="3246120" cy="320040"/>
          </a:xfrm>
          <a:prstGeom prst="rect">
            <a:avLst/>
          </a:prstGeom>
          <a:noFill/>
        </p:spPr>
        <p:txBody>
          <a:bodyPr wrap="square" anchor="t" lIns="0" rIns="0" tIns="0" bIns="0">
            <a:spAutoFit/>
          </a:bodyPr>
          <a:lstStyle/>
          <a:p>
            <a:pPr algn="l">
              <a:lnSpc>
                <a:spcPct val="115000"/>
              </a:lnSpc>
            </a:pPr>
            <a:r>
              <a:rPr sz="1000" b="1">
                <a:solidFill>
                  <a:srgbClr val="B85E1A"/>
                </a:solidFill>
                <a:latin typeface="Hiragino Sans"/>
                <a:ea typeface="Hiragino Sans"/>
                <a:cs typeface="Hiragino Sans"/>
              </a:rPr>
              <a:t>Yahoo!ニュース閲覧層</a:t>
            </a:r>
          </a:p>
        </p:txBody>
      </p:sp>
      <p:sp>
        <p:nvSpPr>
          <p:cNvPr id="37" name="TextBox 36"/>
          <p:cNvSpPr txBox="1"/>
          <p:nvPr/>
        </p:nvSpPr>
        <p:spPr>
          <a:xfrm>
            <a:off x="8275320" y="3931920"/>
            <a:ext cx="3246120" cy="594360"/>
          </a:xfrm>
          <a:prstGeom prst="rect">
            <a:avLst/>
          </a:prstGeom>
          <a:noFill/>
        </p:spPr>
        <p:txBody>
          <a:bodyPr wrap="square" anchor="t" lIns="0" rIns="0" tIns="0" bIns="0">
            <a:spAutoFit/>
          </a:bodyPr>
          <a:lstStyle/>
          <a:p>
            <a:pPr algn="l">
              <a:lnSpc>
                <a:spcPct val="145000"/>
              </a:lnSpc>
            </a:pPr>
            <a:r>
              <a:rPr sz="1000" b="0">
                <a:solidFill>
                  <a:srgbClr val="1A1A1A"/>
                </a:solidFill>
                <a:latin typeface="Hiragino Sans"/>
                <a:ea typeface="Hiragino Sans"/>
                <a:cs typeface="Hiragino Sans"/>
              </a:rPr>
              <a:t>資格取得・スクール案件で高CV</a:t>
            </a:r>
          </a:p>
        </p:txBody>
      </p:sp>
      <p:sp>
        <p:nvSpPr>
          <p:cNvPr id="38" name="Rounded Rectangle 37"/>
          <p:cNvSpPr/>
          <p:nvPr/>
        </p:nvSpPr>
        <p:spPr>
          <a:xfrm>
            <a:off x="548640" y="5029200"/>
            <a:ext cx="11109960" cy="132588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77240" y="5166360"/>
            <a:ext cx="100584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 副業代行の Yahoo! 提案ライン</a:t>
            </a:r>
          </a:p>
        </p:txBody>
      </p:sp>
      <p:sp>
        <p:nvSpPr>
          <p:cNvPr id="40" name="TextBox 39"/>
          <p:cNvSpPr txBox="1"/>
          <p:nvPr/>
        </p:nvSpPr>
        <p:spPr>
          <a:xfrm>
            <a:off x="777240" y="5486400"/>
            <a:ext cx="10972800" cy="868680"/>
          </a:xfrm>
          <a:prstGeom prst="rect">
            <a:avLst/>
          </a:prstGeom>
          <a:noFill/>
        </p:spPr>
        <p:txBody>
          <a:bodyPr wrap="square" anchor="t" lIns="0" rIns="0" tIns="0" bIns="0">
            <a:spAutoFit/>
          </a:bodyPr>
          <a:lstStyle/>
          <a:p>
            <a:pPr algn="l">
              <a:lnSpc>
                <a:spcPct val="155000"/>
              </a:lnSpc>
            </a:pPr>
            <a:r>
              <a:rPr sz="1100" b="0">
                <a:solidFill>
                  <a:srgbClr val="1A1A1A"/>
                </a:solidFill>
                <a:latin typeface="Hiragino Sans"/>
                <a:ea typeface="Hiragino Sans"/>
                <a:cs typeface="Hiragino Sans"/>
              </a:rPr>
              <a:t>• 上記6業界では『Google + Yahoo!』のセット提案がデフォルト</a:t>
            </a:r>
          </a:p>
          <a:p>
            <a:pPr algn="l">
              <a:lnSpc>
                <a:spcPct val="155000"/>
              </a:lnSpc>
            </a:pPr>
            <a:r>
              <a:rPr sz="1100" b="0">
                <a:solidFill>
                  <a:srgbClr val="1A1A1A"/>
                </a:solidFill>
                <a:latin typeface="Hiragino Sans"/>
                <a:ea typeface="Hiragino Sans"/>
                <a:cs typeface="Hiragino Sans"/>
              </a:rPr>
              <a:t>• EC案件は『Yahoo!ショッピング広告』 (Part 3-E Amazon Adsと並ぶ位置づけ) も検討</a:t>
            </a:r>
          </a:p>
          <a:p>
            <a:pPr algn="l">
              <a:lnSpc>
                <a:spcPct val="155000"/>
              </a:lnSpc>
            </a:pPr>
            <a:r>
              <a:rPr sz="1100" b="0">
                <a:solidFill>
                  <a:srgbClr val="1A1A1A"/>
                </a:solidFill>
                <a:latin typeface="Hiragino Sans"/>
                <a:ea typeface="Hiragino Sans"/>
                <a:cs typeface="Hiragino Sans"/>
              </a:rPr>
              <a:t>• 名義方針 : ofmeton としての発信ではYahoo!も併記OK、BSAでの提案は『AI運用代行』として包括</a:t>
            </a:r>
          </a:p>
        </p:txBody>
      </p:sp>
      <p:sp>
        <p:nvSpPr>
          <p:cNvPr id="41" name="TextBox 40"/>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Yahoo!広告 : 鉄板運用メソッド 2026年版</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Google Adsと並行運用する前提</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P98 / 250</a:t>
            </a:r>
          </a:p>
        </p:txBody>
      </p:sp>
      <p:sp>
        <p:nvSpPr>
          <p:cNvPr id="8" name="Rounded Rectangle 7"/>
          <p:cNvSpPr/>
          <p:nvPr/>
        </p:nvSpPr>
        <p:spPr>
          <a:xfrm>
            <a:off x="548640" y="1371600"/>
            <a:ext cx="11109960" cy="11887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71600"/>
            <a:ext cx="137160" cy="11887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508760"/>
            <a:ext cx="10515600" cy="32004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Day 0-2 : 計測 + クライアント情報</a:t>
            </a:r>
          </a:p>
        </p:txBody>
      </p:sp>
      <p:sp>
        <p:nvSpPr>
          <p:cNvPr id="11" name="TextBox 10"/>
          <p:cNvSpPr txBox="1"/>
          <p:nvPr/>
        </p:nvSpPr>
        <p:spPr>
          <a:xfrm>
            <a:off x="868680" y="182880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12" name="TextBox 11"/>
          <p:cNvSpPr txBox="1"/>
          <p:nvPr/>
        </p:nvSpPr>
        <p:spPr>
          <a:xfrm>
            <a:off x="1097280" y="185623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サイトジェネラルタグ確認/設置</a:t>
            </a:r>
          </a:p>
        </p:txBody>
      </p:sp>
      <p:sp>
        <p:nvSpPr>
          <p:cNvPr id="13" name="TextBox 12"/>
          <p:cNvSpPr txBox="1"/>
          <p:nvPr/>
        </p:nvSpPr>
        <p:spPr>
          <a:xfrm>
            <a:off x="6309360" y="182880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14" name="TextBox 13"/>
          <p:cNvSpPr txBox="1"/>
          <p:nvPr/>
        </p:nvSpPr>
        <p:spPr>
          <a:xfrm>
            <a:off x="6537960" y="185623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コンバージョン測定タグ設置</a:t>
            </a:r>
          </a:p>
        </p:txBody>
      </p:sp>
      <p:sp>
        <p:nvSpPr>
          <p:cNvPr id="15" name="TextBox 14"/>
          <p:cNvSpPr txBox="1"/>
          <p:nvPr/>
        </p:nvSpPr>
        <p:spPr>
          <a:xfrm>
            <a:off x="868680" y="214884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16" name="TextBox 15"/>
          <p:cNvSpPr txBox="1"/>
          <p:nvPr/>
        </p:nvSpPr>
        <p:spPr>
          <a:xfrm>
            <a:off x="1097280" y="217627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Google Ads との重複CV確認</a:t>
            </a:r>
          </a:p>
        </p:txBody>
      </p:sp>
      <p:sp>
        <p:nvSpPr>
          <p:cNvPr id="17" name="TextBox 16"/>
          <p:cNvSpPr txBox="1"/>
          <p:nvPr/>
        </p:nvSpPr>
        <p:spPr>
          <a:xfrm>
            <a:off x="6309360" y="214884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18" name="TextBox 17"/>
          <p:cNvSpPr txBox="1"/>
          <p:nvPr/>
        </p:nvSpPr>
        <p:spPr>
          <a:xfrm>
            <a:off x="6537960" y="217627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予算配分 (Google : Yahoo! = 7:3 が定番)</a:t>
            </a:r>
          </a:p>
        </p:txBody>
      </p:sp>
      <p:sp>
        <p:nvSpPr>
          <p:cNvPr id="19" name="Rounded Rectangle 18"/>
          <p:cNvSpPr/>
          <p:nvPr/>
        </p:nvSpPr>
        <p:spPr>
          <a:xfrm>
            <a:off x="548640" y="2651760"/>
            <a:ext cx="11109960" cy="11887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651760"/>
            <a:ext cx="137160" cy="11887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2788920"/>
            <a:ext cx="10515600" cy="32004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Day 3-7 : キャンペーン構造</a:t>
            </a:r>
          </a:p>
        </p:txBody>
      </p:sp>
      <p:sp>
        <p:nvSpPr>
          <p:cNvPr id="22" name="TextBox 21"/>
          <p:cNvSpPr txBox="1"/>
          <p:nvPr/>
        </p:nvSpPr>
        <p:spPr>
          <a:xfrm>
            <a:off x="868680" y="310896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23" name="TextBox 22"/>
          <p:cNvSpPr txBox="1"/>
          <p:nvPr/>
        </p:nvSpPr>
        <p:spPr>
          <a:xfrm>
            <a:off x="1097280" y="313639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検索広告 : 完全一致 + フレーズ + 部分一致</a:t>
            </a:r>
          </a:p>
        </p:txBody>
      </p:sp>
      <p:sp>
        <p:nvSpPr>
          <p:cNvPr id="24" name="TextBox 23"/>
          <p:cNvSpPr txBox="1"/>
          <p:nvPr/>
        </p:nvSpPr>
        <p:spPr>
          <a:xfrm>
            <a:off x="6309360" y="310896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25" name="TextBox 24"/>
          <p:cNvSpPr txBox="1"/>
          <p:nvPr/>
        </p:nvSpPr>
        <p:spPr>
          <a:xfrm>
            <a:off x="6537960" y="313639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YDA : オーディエンス × 興味関心</a:t>
            </a:r>
          </a:p>
        </p:txBody>
      </p:sp>
      <p:sp>
        <p:nvSpPr>
          <p:cNvPr id="26" name="TextBox 25"/>
          <p:cNvSpPr txBox="1"/>
          <p:nvPr/>
        </p:nvSpPr>
        <p:spPr>
          <a:xfrm>
            <a:off x="868680" y="342900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27" name="TextBox 26"/>
          <p:cNvSpPr txBox="1"/>
          <p:nvPr/>
        </p:nvSpPr>
        <p:spPr>
          <a:xfrm>
            <a:off x="1097280" y="345643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リマケ : サイトジェネラルタグ連動</a:t>
            </a:r>
          </a:p>
        </p:txBody>
      </p:sp>
      <p:sp>
        <p:nvSpPr>
          <p:cNvPr id="28" name="TextBox 27"/>
          <p:cNvSpPr txBox="1"/>
          <p:nvPr/>
        </p:nvSpPr>
        <p:spPr>
          <a:xfrm>
            <a:off x="6309360" y="342900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29" name="TextBox 28"/>
          <p:cNvSpPr txBox="1"/>
          <p:nvPr/>
        </p:nvSpPr>
        <p:spPr>
          <a:xfrm>
            <a:off x="6537960" y="345643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LINE広告 (該当時) : 友だち追加配信</a:t>
            </a:r>
          </a:p>
        </p:txBody>
      </p:sp>
      <p:sp>
        <p:nvSpPr>
          <p:cNvPr id="30" name="Rounded Rectangle 29"/>
          <p:cNvSpPr/>
          <p:nvPr/>
        </p:nvSpPr>
        <p:spPr>
          <a:xfrm>
            <a:off x="548640" y="3931920"/>
            <a:ext cx="11109960" cy="11887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8640" y="3931920"/>
            <a:ext cx="137160" cy="11887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68680" y="4069080"/>
            <a:ext cx="10515600" cy="32004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Day 8-21 : 学習期間</a:t>
            </a:r>
          </a:p>
        </p:txBody>
      </p:sp>
      <p:sp>
        <p:nvSpPr>
          <p:cNvPr id="33" name="TextBox 32"/>
          <p:cNvSpPr txBox="1"/>
          <p:nvPr/>
        </p:nvSpPr>
        <p:spPr>
          <a:xfrm>
            <a:off x="868680" y="438912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34" name="TextBox 33"/>
          <p:cNvSpPr txBox="1"/>
          <p:nvPr/>
        </p:nvSpPr>
        <p:spPr>
          <a:xfrm>
            <a:off x="1097280" y="441655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自動入札の学習を観察</a:t>
            </a:r>
          </a:p>
        </p:txBody>
      </p:sp>
      <p:sp>
        <p:nvSpPr>
          <p:cNvPr id="35" name="TextBox 34"/>
          <p:cNvSpPr txBox="1"/>
          <p:nvPr/>
        </p:nvSpPr>
        <p:spPr>
          <a:xfrm>
            <a:off x="6309360" y="438912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36" name="TextBox 35"/>
          <p:cNvSpPr txBox="1"/>
          <p:nvPr/>
        </p:nvSpPr>
        <p:spPr>
          <a:xfrm>
            <a:off x="6537960" y="441655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AIアシストでクリエイティブ生成</a:t>
            </a:r>
          </a:p>
        </p:txBody>
      </p:sp>
      <p:sp>
        <p:nvSpPr>
          <p:cNvPr id="37" name="TextBox 36"/>
          <p:cNvSpPr txBox="1"/>
          <p:nvPr/>
        </p:nvSpPr>
        <p:spPr>
          <a:xfrm>
            <a:off x="868680" y="470916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38" name="TextBox 37"/>
          <p:cNvSpPr txBox="1"/>
          <p:nvPr/>
        </p:nvSpPr>
        <p:spPr>
          <a:xfrm>
            <a:off x="1097280" y="473659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予算 ±20% 以内で安定運用</a:t>
            </a:r>
          </a:p>
        </p:txBody>
      </p:sp>
      <p:sp>
        <p:nvSpPr>
          <p:cNvPr id="39" name="TextBox 38"/>
          <p:cNvSpPr txBox="1"/>
          <p:nvPr/>
        </p:nvSpPr>
        <p:spPr>
          <a:xfrm>
            <a:off x="6309360" y="470916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40" name="TextBox 39"/>
          <p:cNvSpPr txBox="1"/>
          <p:nvPr/>
        </p:nvSpPr>
        <p:spPr>
          <a:xfrm>
            <a:off x="6537960" y="473659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オーディエンス追加は週1ペース</a:t>
            </a:r>
          </a:p>
        </p:txBody>
      </p:sp>
      <p:sp>
        <p:nvSpPr>
          <p:cNvPr id="41" name="Rounded Rectangle 40"/>
          <p:cNvSpPr/>
          <p:nvPr/>
        </p:nvSpPr>
        <p:spPr>
          <a:xfrm>
            <a:off x="548640" y="5212080"/>
            <a:ext cx="11109960" cy="11887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48640" y="5212080"/>
            <a:ext cx="137160" cy="11887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68680" y="5349240"/>
            <a:ext cx="10515600" cy="32004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Day 22-30 : 最適化 + レポート</a:t>
            </a:r>
          </a:p>
        </p:txBody>
      </p:sp>
      <p:sp>
        <p:nvSpPr>
          <p:cNvPr id="44" name="TextBox 43"/>
          <p:cNvSpPr txBox="1"/>
          <p:nvPr/>
        </p:nvSpPr>
        <p:spPr>
          <a:xfrm>
            <a:off x="868680" y="566928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45" name="TextBox 44"/>
          <p:cNvSpPr txBox="1"/>
          <p:nvPr/>
        </p:nvSpPr>
        <p:spPr>
          <a:xfrm>
            <a:off x="1097280" y="569671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検索クエリで Negative追加</a:t>
            </a:r>
          </a:p>
        </p:txBody>
      </p:sp>
      <p:sp>
        <p:nvSpPr>
          <p:cNvPr id="46" name="TextBox 45"/>
          <p:cNvSpPr txBox="1"/>
          <p:nvPr/>
        </p:nvSpPr>
        <p:spPr>
          <a:xfrm>
            <a:off x="6309360" y="566928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47" name="TextBox 46"/>
          <p:cNvSpPr txBox="1"/>
          <p:nvPr/>
        </p:nvSpPr>
        <p:spPr>
          <a:xfrm>
            <a:off x="6537960" y="569671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クリエイティブ Best/Low 入替</a:t>
            </a:r>
          </a:p>
        </p:txBody>
      </p:sp>
      <p:sp>
        <p:nvSpPr>
          <p:cNvPr id="48" name="TextBox 47"/>
          <p:cNvSpPr txBox="1"/>
          <p:nvPr/>
        </p:nvSpPr>
        <p:spPr>
          <a:xfrm>
            <a:off x="868680" y="598932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49" name="TextBox 48"/>
          <p:cNvSpPr txBox="1"/>
          <p:nvPr/>
        </p:nvSpPr>
        <p:spPr>
          <a:xfrm>
            <a:off x="1097280" y="601675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Google Ads との配分見直し</a:t>
            </a:r>
          </a:p>
        </p:txBody>
      </p:sp>
      <p:sp>
        <p:nvSpPr>
          <p:cNvPr id="50" name="TextBox 49"/>
          <p:cNvSpPr txBox="1"/>
          <p:nvPr/>
        </p:nvSpPr>
        <p:spPr>
          <a:xfrm>
            <a:off x="6309360" y="598932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51" name="TextBox 50"/>
          <p:cNvSpPr txBox="1"/>
          <p:nvPr/>
        </p:nvSpPr>
        <p:spPr>
          <a:xfrm>
            <a:off x="6537960" y="601675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月次レポート + 次月提案</a:t>
            </a:r>
          </a:p>
        </p:txBody>
      </p:sp>
      <p:sp>
        <p:nvSpPr>
          <p:cNvPr id="52" name="TextBox 51"/>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Yahoo! pitfalls + Part 3-C まとめ</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副業代行で『Yahoo! あるある』 + 次章へ</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P99 / 250</a:t>
            </a:r>
          </a:p>
        </p:txBody>
      </p:sp>
      <p:sp>
        <p:nvSpPr>
          <p:cNvPr id="8" name="Rounded Rectangle 7"/>
          <p:cNvSpPr/>
          <p:nvPr/>
        </p:nvSpPr>
        <p:spPr>
          <a:xfrm>
            <a:off x="548640" y="1325880"/>
            <a:ext cx="5440680" cy="10972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25880"/>
            <a:ext cx="91440" cy="1097280"/>
          </a:xfrm>
          <a:prstGeom prst="rect">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63040"/>
            <a:ext cx="457200" cy="320040"/>
          </a:xfrm>
          <a:prstGeom prst="rect">
            <a:avLst/>
          </a:prstGeom>
          <a:noFill/>
        </p:spPr>
        <p:txBody>
          <a:bodyPr wrap="square" anchor="t" lIns="0" rIns="0" tIns="0" bIns="0">
            <a:spAutoFit/>
          </a:bodyPr>
          <a:lstStyle/>
          <a:p>
            <a:pPr algn="l">
              <a:lnSpc>
                <a:spcPct val="115000"/>
              </a:lnSpc>
            </a:pPr>
            <a:r>
              <a:rPr sz="1600" b="1">
                <a:solidFill>
                  <a:srgbClr val="C6452D"/>
                </a:solidFill>
                <a:latin typeface="Hiragino Sans"/>
                <a:ea typeface="Hiragino Sans"/>
                <a:cs typeface="Hiragino Sans"/>
              </a:rPr>
              <a:t>✗</a:t>
            </a:r>
          </a:p>
        </p:txBody>
      </p:sp>
      <p:sp>
        <p:nvSpPr>
          <p:cNvPr id="11" name="TextBox 10"/>
          <p:cNvSpPr txBox="1"/>
          <p:nvPr/>
        </p:nvSpPr>
        <p:spPr>
          <a:xfrm>
            <a:off x="1188720" y="1463040"/>
            <a:ext cx="4663440" cy="36576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Google複製で運用</a:t>
            </a:r>
          </a:p>
        </p:txBody>
      </p:sp>
      <p:sp>
        <p:nvSpPr>
          <p:cNvPr id="12" name="TextBox 11"/>
          <p:cNvSpPr txBox="1"/>
          <p:nvPr/>
        </p:nvSpPr>
        <p:spPr>
          <a:xfrm>
            <a:off x="777240" y="1874520"/>
            <a:ext cx="5074920" cy="502920"/>
          </a:xfrm>
          <a:prstGeom prst="rect">
            <a:avLst/>
          </a:prstGeom>
          <a:noFill/>
        </p:spPr>
        <p:txBody>
          <a:bodyPr wrap="square" anchor="t" lIns="0" rIns="0" tIns="0" bIns="0">
            <a:spAutoFit/>
          </a:bodyPr>
          <a:lstStyle/>
          <a:p>
            <a:pPr algn="l">
              <a:lnSpc>
                <a:spcPct val="145000"/>
              </a:lnSpc>
            </a:pPr>
            <a:r>
              <a:rPr sz="1000" b="0">
                <a:solidFill>
                  <a:srgbClr val="1A1A1A"/>
                </a:solidFill>
                <a:latin typeface="Hiragino Sans"/>
                <a:ea typeface="Hiragino Sans"/>
                <a:cs typeface="Hiragino Sans"/>
              </a:rPr>
              <a:t>Yahoo!固有のオーディエンス未活用 → Yahoo!興味関心 + ライフイベントを活用</a:t>
            </a:r>
          </a:p>
        </p:txBody>
      </p:sp>
      <p:sp>
        <p:nvSpPr>
          <p:cNvPr id="13" name="Rounded Rectangle 12"/>
          <p:cNvSpPr/>
          <p:nvPr/>
        </p:nvSpPr>
        <p:spPr>
          <a:xfrm>
            <a:off x="6172200" y="1325880"/>
            <a:ext cx="5440680" cy="10972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1325880"/>
            <a:ext cx="91440" cy="1097280"/>
          </a:xfrm>
          <a:prstGeom prst="rect">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463040"/>
            <a:ext cx="457200" cy="320040"/>
          </a:xfrm>
          <a:prstGeom prst="rect">
            <a:avLst/>
          </a:prstGeom>
          <a:noFill/>
        </p:spPr>
        <p:txBody>
          <a:bodyPr wrap="square" anchor="t" lIns="0" rIns="0" tIns="0" bIns="0">
            <a:spAutoFit/>
          </a:bodyPr>
          <a:lstStyle/>
          <a:p>
            <a:pPr algn="l">
              <a:lnSpc>
                <a:spcPct val="115000"/>
              </a:lnSpc>
            </a:pPr>
            <a:r>
              <a:rPr sz="1600" b="1">
                <a:solidFill>
                  <a:srgbClr val="C6452D"/>
                </a:solidFill>
                <a:latin typeface="Hiragino Sans"/>
                <a:ea typeface="Hiragino Sans"/>
                <a:cs typeface="Hiragino Sans"/>
              </a:rPr>
              <a:t>✗</a:t>
            </a:r>
          </a:p>
        </p:txBody>
      </p:sp>
      <p:sp>
        <p:nvSpPr>
          <p:cNvPr id="16" name="TextBox 15"/>
          <p:cNvSpPr txBox="1"/>
          <p:nvPr/>
        </p:nvSpPr>
        <p:spPr>
          <a:xfrm>
            <a:off x="6812280" y="1463040"/>
            <a:ext cx="4663440" cy="36576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LINE広告との連携無視</a:t>
            </a:r>
          </a:p>
        </p:txBody>
      </p:sp>
      <p:sp>
        <p:nvSpPr>
          <p:cNvPr id="17" name="TextBox 16"/>
          <p:cNvSpPr txBox="1"/>
          <p:nvPr/>
        </p:nvSpPr>
        <p:spPr>
          <a:xfrm>
            <a:off x="6400800" y="1874520"/>
            <a:ext cx="5074920" cy="502920"/>
          </a:xfrm>
          <a:prstGeom prst="rect">
            <a:avLst/>
          </a:prstGeom>
          <a:noFill/>
        </p:spPr>
        <p:txBody>
          <a:bodyPr wrap="square" anchor="t" lIns="0" rIns="0" tIns="0" bIns="0">
            <a:spAutoFit/>
          </a:bodyPr>
          <a:lstStyle/>
          <a:p>
            <a:pPr algn="l">
              <a:lnSpc>
                <a:spcPct val="145000"/>
              </a:lnSpc>
            </a:pPr>
            <a:r>
              <a:rPr sz="1000" b="0">
                <a:solidFill>
                  <a:srgbClr val="1A1A1A"/>
                </a:solidFill>
                <a:latin typeface="Hiragino Sans"/>
                <a:ea typeface="Hiragino Sans"/>
                <a:cs typeface="Hiragino Sans"/>
              </a:rPr>
              <a:t>LINEオーディエンスをYDAで活用できる (現在) → 2026春の統合に備えて連携準備</a:t>
            </a:r>
          </a:p>
        </p:txBody>
      </p:sp>
      <p:sp>
        <p:nvSpPr>
          <p:cNvPr id="18" name="Rounded Rectangle 17"/>
          <p:cNvSpPr/>
          <p:nvPr/>
        </p:nvSpPr>
        <p:spPr>
          <a:xfrm>
            <a:off x="548640" y="2560320"/>
            <a:ext cx="5440680" cy="10972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2560320"/>
            <a:ext cx="91440" cy="1097280"/>
          </a:xfrm>
          <a:prstGeom prst="rect">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2697480"/>
            <a:ext cx="457200" cy="320040"/>
          </a:xfrm>
          <a:prstGeom prst="rect">
            <a:avLst/>
          </a:prstGeom>
          <a:noFill/>
        </p:spPr>
        <p:txBody>
          <a:bodyPr wrap="square" anchor="t" lIns="0" rIns="0" tIns="0" bIns="0">
            <a:spAutoFit/>
          </a:bodyPr>
          <a:lstStyle/>
          <a:p>
            <a:pPr algn="l">
              <a:lnSpc>
                <a:spcPct val="115000"/>
              </a:lnSpc>
            </a:pPr>
            <a:r>
              <a:rPr sz="1600" b="1">
                <a:solidFill>
                  <a:srgbClr val="C6452D"/>
                </a:solidFill>
                <a:latin typeface="Hiragino Sans"/>
                <a:ea typeface="Hiragino Sans"/>
                <a:cs typeface="Hiragino Sans"/>
              </a:rPr>
              <a:t>✗</a:t>
            </a:r>
          </a:p>
        </p:txBody>
      </p:sp>
      <p:sp>
        <p:nvSpPr>
          <p:cNvPr id="21" name="TextBox 20"/>
          <p:cNvSpPr txBox="1"/>
          <p:nvPr/>
        </p:nvSpPr>
        <p:spPr>
          <a:xfrm>
            <a:off x="1188720" y="2697480"/>
            <a:ext cx="4663440" cy="36576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Cookie対応放置</a:t>
            </a:r>
          </a:p>
        </p:txBody>
      </p:sp>
      <p:sp>
        <p:nvSpPr>
          <p:cNvPr id="22" name="TextBox 21"/>
          <p:cNvSpPr txBox="1"/>
          <p:nvPr/>
        </p:nvSpPr>
        <p:spPr>
          <a:xfrm>
            <a:off x="777240" y="3108960"/>
            <a:ext cx="5074920" cy="502920"/>
          </a:xfrm>
          <a:prstGeom prst="rect">
            <a:avLst/>
          </a:prstGeom>
          <a:noFill/>
        </p:spPr>
        <p:txBody>
          <a:bodyPr wrap="square" anchor="t" lIns="0" rIns="0" tIns="0" bIns="0">
            <a:spAutoFit/>
          </a:bodyPr>
          <a:lstStyle/>
          <a:p>
            <a:pPr algn="l">
              <a:lnSpc>
                <a:spcPct val="145000"/>
              </a:lnSpc>
            </a:pPr>
            <a:r>
              <a:rPr sz="1000" b="0">
                <a:solidFill>
                  <a:srgbClr val="1A1A1A"/>
                </a:solidFill>
                <a:latin typeface="Hiragino Sans"/>
                <a:ea typeface="Hiragino Sans"/>
                <a:cs typeface="Hiragino Sans"/>
              </a:rPr>
              <a:t>ITP / 規制でCV計測ロス → サイトジェネラルタグ + CMP導入</a:t>
            </a:r>
          </a:p>
        </p:txBody>
      </p:sp>
      <p:sp>
        <p:nvSpPr>
          <p:cNvPr id="23" name="Rounded Rectangle 22"/>
          <p:cNvSpPr/>
          <p:nvPr/>
        </p:nvSpPr>
        <p:spPr>
          <a:xfrm>
            <a:off x="6172200" y="2560320"/>
            <a:ext cx="5440680" cy="10972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72200" y="2560320"/>
            <a:ext cx="91440" cy="1097280"/>
          </a:xfrm>
          <a:prstGeom prst="rect">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0" y="2697480"/>
            <a:ext cx="457200" cy="320040"/>
          </a:xfrm>
          <a:prstGeom prst="rect">
            <a:avLst/>
          </a:prstGeom>
          <a:noFill/>
        </p:spPr>
        <p:txBody>
          <a:bodyPr wrap="square" anchor="t" lIns="0" rIns="0" tIns="0" bIns="0">
            <a:spAutoFit/>
          </a:bodyPr>
          <a:lstStyle/>
          <a:p>
            <a:pPr algn="l">
              <a:lnSpc>
                <a:spcPct val="115000"/>
              </a:lnSpc>
            </a:pPr>
            <a:r>
              <a:rPr sz="1600" b="1">
                <a:solidFill>
                  <a:srgbClr val="C6452D"/>
                </a:solidFill>
                <a:latin typeface="Hiragino Sans"/>
                <a:ea typeface="Hiragino Sans"/>
                <a:cs typeface="Hiragino Sans"/>
              </a:rPr>
              <a:t>✗</a:t>
            </a:r>
          </a:p>
        </p:txBody>
      </p:sp>
      <p:sp>
        <p:nvSpPr>
          <p:cNvPr id="26" name="TextBox 25"/>
          <p:cNvSpPr txBox="1"/>
          <p:nvPr/>
        </p:nvSpPr>
        <p:spPr>
          <a:xfrm>
            <a:off x="6812280" y="2697480"/>
            <a:ext cx="4663440" cy="36576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予算配分の固定化</a:t>
            </a:r>
          </a:p>
        </p:txBody>
      </p:sp>
      <p:sp>
        <p:nvSpPr>
          <p:cNvPr id="27" name="TextBox 26"/>
          <p:cNvSpPr txBox="1"/>
          <p:nvPr/>
        </p:nvSpPr>
        <p:spPr>
          <a:xfrm>
            <a:off x="6400800" y="3108960"/>
            <a:ext cx="5074920" cy="502920"/>
          </a:xfrm>
          <a:prstGeom prst="rect">
            <a:avLst/>
          </a:prstGeom>
          <a:noFill/>
        </p:spPr>
        <p:txBody>
          <a:bodyPr wrap="square" anchor="t" lIns="0" rIns="0" tIns="0" bIns="0">
            <a:spAutoFit/>
          </a:bodyPr>
          <a:lstStyle/>
          <a:p>
            <a:pPr algn="l">
              <a:lnSpc>
                <a:spcPct val="145000"/>
              </a:lnSpc>
            </a:pPr>
            <a:r>
              <a:rPr sz="1000" b="0">
                <a:solidFill>
                  <a:srgbClr val="1A1A1A"/>
                </a:solidFill>
                <a:latin typeface="Hiragino Sans"/>
                <a:ea typeface="Hiragino Sans"/>
                <a:cs typeface="Hiragino Sans"/>
              </a:rPr>
              <a:t>Google一辺倒ではYahoo!得意業種を逃す → 業種別に配分を見直し</a:t>
            </a:r>
          </a:p>
        </p:txBody>
      </p:sp>
      <p:sp>
        <p:nvSpPr>
          <p:cNvPr id="28" name="Rounded Rectangle 27"/>
          <p:cNvSpPr/>
          <p:nvPr/>
        </p:nvSpPr>
        <p:spPr>
          <a:xfrm>
            <a:off x="548640" y="4023360"/>
            <a:ext cx="11109960" cy="233172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4160520"/>
            <a:ext cx="10972800" cy="411480"/>
          </a:xfrm>
          <a:prstGeom prst="rect">
            <a:avLst/>
          </a:prstGeom>
          <a:noFill/>
        </p:spPr>
        <p:txBody>
          <a:bodyPr wrap="square" anchor="t" lIns="0" rIns="0" tIns="0" bIns="0">
            <a:spAutoFit/>
          </a:bodyPr>
          <a:lstStyle/>
          <a:p>
            <a:pPr algn="l">
              <a:lnSpc>
                <a:spcPct val="115000"/>
              </a:lnSpc>
            </a:pPr>
            <a:r>
              <a:rPr sz="1800" b="1">
                <a:solidFill>
                  <a:srgbClr val="E87722"/>
                </a:solidFill>
                <a:latin typeface="Helvetica Neue"/>
                <a:ea typeface="Helvetica Neue"/>
                <a:cs typeface="Helvetica Neue"/>
              </a:rPr>
              <a:t>NEXT →  Part 3-D  TikTok + LINE  (25p, P100-P124)</a:t>
            </a:r>
          </a:p>
        </p:txBody>
      </p:sp>
      <p:sp>
        <p:nvSpPr>
          <p:cNvPr id="30" name="TextBox 29"/>
          <p:cNvSpPr txBox="1"/>
          <p:nvPr/>
        </p:nvSpPr>
        <p:spPr>
          <a:xfrm>
            <a:off x="777240" y="4617720"/>
            <a:ext cx="10972800" cy="1691640"/>
          </a:xfrm>
          <a:prstGeom prst="rect">
            <a:avLst/>
          </a:prstGeom>
          <a:noFill/>
        </p:spPr>
        <p:txBody>
          <a:bodyPr wrap="square" anchor="t" lIns="0" rIns="0" tIns="0" bIns="0">
            <a:spAutoFit/>
          </a:bodyPr>
          <a:lstStyle/>
          <a:p>
            <a:pPr algn="l">
              <a:lnSpc>
                <a:spcPct val="160000"/>
              </a:lnSpc>
            </a:pPr>
            <a:r>
              <a:rPr sz="1100" b="0">
                <a:solidFill>
                  <a:srgbClr val="FFFFFF"/>
                </a:solidFill>
                <a:latin typeface="Hiragino Sans"/>
                <a:ea typeface="Hiragino Sans"/>
                <a:cs typeface="Hiragino Sans"/>
              </a:rPr>
              <a:t>Part 3-D で扱うトピック :</a:t>
            </a:r>
          </a:p>
          <a:p>
            <a:pPr algn="l">
              <a:lnSpc>
                <a:spcPct val="160000"/>
              </a:lnSpc>
            </a:pPr>
            <a:r>
              <a:rPr sz="1100" b="0">
                <a:solidFill>
                  <a:srgbClr val="FFFFFF"/>
                </a:solidFill>
                <a:latin typeface="Hiragino Sans"/>
                <a:ea typeface="Hiragino Sans"/>
                <a:cs typeface="Hiragino Sans"/>
              </a:rPr>
              <a:t>• TikTok (15p) : Smart+ / Symphony AI Suite / Spark Ads / TikTok Shop / Creative Center / 縦型クリエイティブ鉄則</a:t>
            </a:r>
          </a:p>
          <a:p>
            <a:pPr algn="l">
              <a:lnSpc>
                <a:spcPct val="160000"/>
              </a:lnSpc>
            </a:pPr>
            <a:r>
              <a:rPr sz="1100" b="0">
                <a:solidFill>
                  <a:srgbClr val="FFFFFF"/>
                </a:solidFill>
                <a:latin typeface="Hiragino Sans"/>
                <a:ea typeface="Hiragino Sans"/>
                <a:cs typeface="Hiragino Sans"/>
              </a:rPr>
              <a:t>• LINE (10p) : LINE広告 / 配信面 / 友だち追加・公式アカウント連携 / 2026春統合の準備</a:t>
            </a:r>
          </a:p>
          <a:p>
            <a:pPr algn="l">
              <a:lnSpc>
                <a:spcPct val="160000"/>
              </a:lnSpc>
            </a:pPr>
            <a:r>
              <a:rPr sz="1100" b="0">
                <a:solidFill>
                  <a:srgbClr val="FFFFFF"/>
                </a:solidFill>
                <a:latin typeface="Hiragino Sans"/>
                <a:ea typeface="Hiragino Sans"/>
                <a:cs typeface="Hiragino Sans"/>
              </a:rPr>
              <a:t/>
            </a:r>
          </a:p>
          <a:p>
            <a:pPr algn="l">
              <a:lnSpc>
                <a:spcPct val="160000"/>
              </a:lnSpc>
            </a:pPr>
            <a:r>
              <a:rPr sz="1100" b="0">
                <a:solidFill>
                  <a:srgbClr val="FFFFFF"/>
                </a:solidFill>
                <a:latin typeface="Hiragino Sans"/>
                <a:ea typeface="Hiragino Sans"/>
                <a:cs typeface="Hiragino Sans"/>
              </a:rPr>
              <a:t>B2C系の重要媒体ペア。日本市場の Z世代-30代 リーチで Google/Meta と並ぶ第3の柱</a:t>
            </a:r>
          </a:p>
        </p:txBody>
      </p:sp>
      <p:sp>
        <p:nvSpPr>
          <p:cNvPr id="31" name="TextBox 30"/>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914400"/>
            <a:ext cx="137160" cy="493776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914400"/>
            <a:ext cx="7315200" cy="365760"/>
          </a:xfrm>
          <a:prstGeom prst="rect">
            <a:avLst/>
          </a:prstGeom>
          <a:noFill/>
        </p:spPr>
        <p:txBody>
          <a:bodyPr wrap="square" anchor="t" lIns="0" rIns="0" tIns="0" bIns="0">
            <a:spAutoFit/>
          </a:bodyPr>
          <a:lstStyle/>
          <a:p>
            <a:pPr algn="l">
              <a:lnSpc>
                <a:spcPct val="115000"/>
              </a:lnSpc>
            </a:pPr>
            <a:r>
              <a:rPr sz="1200" b="1">
                <a:solidFill>
                  <a:srgbClr val="E87722"/>
                </a:solidFill>
                <a:latin typeface="Helvetica Neue"/>
                <a:ea typeface="Helvetica Neue"/>
                <a:cs typeface="Helvetica Neue"/>
              </a:rPr>
              <a:t>PART 3 / 媒体別キャッチアップ</a:t>
            </a:r>
          </a:p>
        </p:txBody>
      </p:sp>
      <p:sp>
        <p:nvSpPr>
          <p:cNvPr id="5" name="TextBox 4"/>
          <p:cNvSpPr txBox="1"/>
          <p:nvPr/>
        </p:nvSpPr>
        <p:spPr>
          <a:xfrm>
            <a:off x="1097280" y="1280160"/>
            <a:ext cx="7315200" cy="365760"/>
          </a:xfrm>
          <a:prstGeom prst="rect">
            <a:avLst/>
          </a:prstGeom>
          <a:noFill/>
        </p:spPr>
        <p:txBody>
          <a:bodyPr wrap="square" anchor="t" lIns="0" rIns="0" tIns="0" bIns="0">
            <a:spAutoFit/>
          </a:bodyPr>
          <a:lstStyle/>
          <a:p>
            <a:pPr algn="l">
              <a:lnSpc>
                <a:spcPct val="115000"/>
              </a:lnSpc>
            </a:pPr>
            <a:r>
              <a:rPr sz="1400" b="1">
                <a:solidFill>
                  <a:srgbClr val="D7DDE8"/>
                </a:solidFill>
                <a:latin typeface="Hiragino Sans"/>
                <a:ea typeface="Hiragino Sans"/>
                <a:cs typeface="Hiragino Sans"/>
              </a:rPr>
              <a:t>3-D   |   B2C縦型ペア</a:t>
            </a:r>
          </a:p>
        </p:txBody>
      </p:sp>
      <p:sp>
        <p:nvSpPr>
          <p:cNvPr id="6" name="TextBox 5"/>
          <p:cNvSpPr txBox="1"/>
          <p:nvPr/>
        </p:nvSpPr>
        <p:spPr>
          <a:xfrm>
            <a:off x="1097280" y="1691640"/>
            <a:ext cx="10058400" cy="1188720"/>
          </a:xfrm>
          <a:prstGeom prst="rect">
            <a:avLst/>
          </a:prstGeom>
          <a:noFill/>
        </p:spPr>
        <p:txBody>
          <a:bodyPr wrap="square" anchor="t" lIns="0" rIns="0" tIns="0" bIns="0">
            <a:spAutoFit/>
          </a:bodyPr>
          <a:lstStyle/>
          <a:p>
            <a:pPr algn="l">
              <a:lnSpc>
                <a:spcPct val="110000"/>
              </a:lnSpc>
            </a:pPr>
            <a:r>
              <a:rPr sz="5400" b="1">
                <a:solidFill>
                  <a:srgbClr val="FFFFFF"/>
                </a:solidFill>
                <a:latin typeface="Hiragino Sans"/>
                <a:ea typeface="Hiragino Sans"/>
                <a:cs typeface="Hiragino Sans"/>
              </a:rPr>
              <a:t>TikTok + LINE</a:t>
            </a:r>
          </a:p>
        </p:txBody>
      </p:sp>
      <p:sp>
        <p:nvSpPr>
          <p:cNvPr id="7" name="TextBox 6"/>
          <p:cNvSpPr txBox="1"/>
          <p:nvPr/>
        </p:nvSpPr>
        <p:spPr>
          <a:xfrm>
            <a:off x="1097280" y="3017520"/>
            <a:ext cx="10058400" cy="365760"/>
          </a:xfrm>
          <a:prstGeom prst="rect">
            <a:avLst/>
          </a:prstGeom>
          <a:noFill/>
        </p:spPr>
        <p:txBody>
          <a:bodyPr wrap="square" anchor="t" lIns="0" rIns="0" tIns="0" bIns="0">
            <a:spAutoFit/>
          </a:bodyPr>
          <a:lstStyle/>
          <a:p>
            <a:pPr algn="l">
              <a:lnSpc>
                <a:spcPct val="115000"/>
              </a:lnSpc>
            </a:pPr>
            <a:r>
              <a:rPr sz="1600" b="0">
                <a:solidFill>
                  <a:srgbClr val="D7DDE8"/>
                </a:solidFill>
                <a:latin typeface="Hiragino Sans"/>
                <a:ea typeface="Hiragino Sans"/>
                <a:cs typeface="Hiragino Sans"/>
              </a:rPr>
              <a:t>Z世代-30代の必修媒体ペア。Smart+ AI と LINEヤフー統合直前</a:t>
            </a:r>
          </a:p>
        </p:txBody>
      </p:sp>
      <p:sp>
        <p:nvSpPr>
          <p:cNvPr id="8" name="Rounded Rectangle 7"/>
          <p:cNvSpPr/>
          <p:nvPr/>
        </p:nvSpPr>
        <p:spPr>
          <a:xfrm>
            <a:off x="9875520" y="914400"/>
            <a:ext cx="1828800" cy="640080"/>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1078992"/>
            <a:ext cx="1828800" cy="457200"/>
          </a:xfrm>
          <a:prstGeom prst="rect">
            <a:avLst/>
          </a:prstGeom>
          <a:noFill/>
        </p:spPr>
        <p:txBody>
          <a:bodyPr wrap="square" anchor="t" lIns="0" rIns="0" tIns="0" bIns="0">
            <a:spAutoFit/>
          </a:bodyPr>
          <a:lstStyle/>
          <a:p>
            <a:pPr algn="ctr">
              <a:lnSpc>
                <a:spcPct val="115000"/>
              </a:lnSpc>
            </a:pPr>
            <a:r>
              <a:rPr sz="1800" b="1">
                <a:solidFill>
                  <a:srgbClr val="FFFFFF"/>
                </a:solidFill>
                <a:latin typeface="Helvetica Neue"/>
                <a:ea typeface="Helvetica Neue"/>
                <a:cs typeface="Helvetica Neue"/>
              </a:rPr>
              <a:t>25p</a:t>
            </a:r>
          </a:p>
        </p:txBody>
      </p:sp>
      <p:sp>
        <p:nvSpPr>
          <p:cNvPr id="10" name="Rectangle 9"/>
          <p:cNvSpPr/>
          <p:nvPr/>
        </p:nvSpPr>
        <p:spPr>
          <a:xfrm>
            <a:off x="1097280" y="3657600"/>
            <a:ext cx="914400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840480"/>
            <a:ext cx="10058400" cy="914400"/>
          </a:xfrm>
          <a:prstGeom prst="rect">
            <a:avLst/>
          </a:prstGeom>
          <a:noFill/>
        </p:spPr>
        <p:txBody>
          <a:bodyPr wrap="square" anchor="t" lIns="0" rIns="0" tIns="0" bIns="0">
            <a:spAutoFit/>
          </a:bodyPr>
          <a:lstStyle/>
          <a:p>
            <a:pPr algn="l">
              <a:lnSpc>
                <a:spcPct val="150000"/>
              </a:lnSpc>
            </a:pPr>
            <a:r>
              <a:rPr sz="1300" b="0">
                <a:solidFill>
                  <a:srgbClr val="D7DDE8"/>
                </a:solidFill>
                <a:latin typeface="Hiragino Sans"/>
                <a:ea typeface="Hiragino Sans"/>
                <a:cs typeface="Hiragino Sans"/>
              </a:rPr>
              <a:t>TikTok は Smart+ + Symphony AI で完全自動化が成熟、TikTok Shop が日本上陸 (2025/06/30)。</a:t>
            </a:r>
          </a:p>
          <a:p>
            <a:pPr algn="l">
              <a:lnSpc>
                <a:spcPct val="150000"/>
              </a:lnSpc>
            </a:pPr>
            <a:r>
              <a:rPr sz="1300" b="0">
                <a:solidFill>
                  <a:srgbClr val="D7DDE8"/>
                </a:solidFill>
                <a:latin typeface="Hiragino Sans"/>
                <a:ea typeface="Hiragino Sans"/>
                <a:cs typeface="Hiragino Sans"/>
              </a:rPr>
              <a:t>LINEは LINEヤフー広告統合 (2026春) を控え、現在は LINE広告単独運用の最終期</a:t>
            </a:r>
          </a:p>
        </p:txBody>
      </p:sp>
      <p:sp>
        <p:nvSpPr>
          <p:cNvPr id="12" name="Rounded Rectangle 11"/>
          <p:cNvSpPr/>
          <p:nvPr/>
        </p:nvSpPr>
        <p:spPr>
          <a:xfrm>
            <a:off x="1097280" y="5029200"/>
            <a:ext cx="5029200" cy="1371600"/>
          </a:xfrm>
          <a:prstGeom prst="roundRect">
            <a:avLst>
              <a:gd name="adj" fmla="val 6000"/>
            </a:avLst>
          </a:prstGeom>
          <a:solidFill>
            <a:srgbClr val="0A16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097280" y="5029200"/>
            <a:ext cx="91440" cy="137160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5120640"/>
            <a:ext cx="4663440" cy="365760"/>
          </a:xfrm>
          <a:prstGeom prst="rect">
            <a:avLst/>
          </a:prstGeom>
          <a:noFill/>
        </p:spPr>
        <p:txBody>
          <a:bodyPr wrap="square" anchor="t" lIns="0" rIns="0" tIns="0" bIns="0">
            <a:spAutoFit/>
          </a:bodyPr>
          <a:lstStyle/>
          <a:p>
            <a:pPr algn="l">
              <a:lnSpc>
                <a:spcPct val="115000"/>
              </a:lnSpc>
            </a:pPr>
            <a:r>
              <a:rPr sz="1800" b="1">
                <a:solidFill>
                  <a:srgbClr val="E87722"/>
                </a:solidFill>
                <a:latin typeface="Hiragino Sans"/>
                <a:ea typeface="Hiragino Sans"/>
                <a:cs typeface="Hiragino Sans"/>
              </a:rPr>
              <a:t>TikTok</a:t>
            </a:r>
          </a:p>
        </p:txBody>
      </p:sp>
      <p:sp>
        <p:nvSpPr>
          <p:cNvPr id="15" name="TextBox 14"/>
          <p:cNvSpPr txBox="1"/>
          <p:nvPr/>
        </p:nvSpPr>
        <p:spPr>
          <a:xfrm>
            <a:off x="1325880" y="5486400"/>
            <a:ext cx="4663440" cy="274320"/>
          </a:xfrm>
          <a:prstGeom prst="rect">
            <a:avLst/>
          </a:prstGeom>
          <a:noFill/>
        </p:spPr>
        <p:txBody>
          <a:bodyPr wrap="square" anchor="t" lIns="0" rIns="0" tIns="0" bIns="0">
            <a:spAutoFit/>
          </a:bodyPr>
          <a:lstStyle/>
          <a:p>
            <a:pPr algn="l">
              <a:lnSpc>
                <a:spcPct val="115000"/>
              </a:lnSpc>
            </a:pPr>
            <a:r>
              <a:rPr sz="1100" b="0">
                <a:solidFill>
                  <a:srgbClr val="D7DDE8"/>
                </a:solidFill>
                <a:latin typeface="Hiragino Sans"/>
                <a:ea typeface="Hiragino Sans"/>
                <a:cs typeface="Hiragino Sans"/>
              </a:rPr>
              <a:t>15p (P100-P114)</a:t>
            </a:r>
          </a:p>
        </p:txBody>
      </p:sp>
      <p:sp>
        <p:nvSpPr>
          <p:cNvPr id="16" name="TextBox 15"/>
          <p:cNvSpPr txBox="1"/>
          <p:nvPr/>
        </p:nvSpPr>
        <p:spPr>
          <a:xfrm>
            <a:off x="1325880" y="5806440"/>
            <a:ext cx="4663440" cy="594360"/>
          </a:xfrm>
          <a:prstGeom prst="rect">
            <a:avLst/>
          </a:prstGeom>
          <a:noFill/>
        </p:spPr>
        <p:txBody>
          <a:bodyPr wrap="square" anchor="t" lIns="0" rIns="0" tIns="0" bIns="0">
            <a:spAutoFit/>
          </a:bodyPr>
          <a:lstStyle/>
          <a:p>
            <a:pPr algn="l">
              <a:lnSpc>
                <a:spcPct val="140000"/>
              </a:lnSpc>
            </a:pPr>
            <a:r>
              <a:rPr sz="1000" b="0">
                <a:solidFill>
                  <a:srgbClr val="FFFFFF"/>
                </a:solidFill>
                <a:latin typeface="Hiragino Sans"/>
                <a:ea typeface="Hiragino Sans"/>
                <a:cs typeface="Hiragino Sans"/>
              </a:rPr>
              <a:t>Smart+ / Symphony Creative Studio /</a:t>
            </a:r>
          </a:p>
          <a:p>
            <a:pPr algn="l">
              <a:lnSpc>
                <a:spcPct val="140000"/>
              </a:lnSpc>
            </a:pPr>
            <a:r>
              <a:rPr sz="1000" b="0">
                <a:solidFill>
                  <a:srgbClr val="FFFFFF"/>
                </a:solidFill>
                <a:latin typeface="Hiragino Sans"/>
                <a:ea typeface="Hiragino Sans"/>
                <a:cs typeface="Hiragino Sans"/>
              </a:rPr>
              <a:t>Spark Ads / TikTok Shop /</a:t>
            </a:r>
          </a:p>
          <a:p>
            <a:pPr algn="l">
              <a:lnSpc>
                <a:spcPct val="140000"/>
              </a:lnSpc>
            </a:pPr>
            <a:r>
              <a:rPr sz="1000" b="0">
                <a:solidFill>
                  <a:srgbClr val="FFFFFF"/>
                </a:solidFill>
                <a:latin typeface="Hiragino Sans"/>
                <a:ea typeface="Hiragino Sans"/>
                <a:cs typeface="Hiragino Sans"/>
              </a:rPr>
              <a:t>Pangle / Brand Lift</a:t>
            </a:r>
          </a:p>
        </p:txBody>
      </p:sp>
      <p:sp>
        <p:nvSpPr>
          <p:cNvPr id="17" name="Rounded Rectangle 16"/>
          <p:cNvSpPr/>
          <p:nvPr/>
        </p:nvSpPr>
        <p:spPr>
          <a:xfrm>
            <a:off x="6400800" y="5029200"/>
            <a:ext cx="5029200" cy="1371600"/>
          </a:xfrm>
          <a:prstGeom prst="roundRect">
            <a:avLst>
              <a:gd name="adj" fmla="val 6000"/>
            </a:avLst>
          </a:prstGeom>
          <a:solidFill>
            <a:srgbClr val="0A16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0" y="5029200"/>
            <a:ext cx="91440" cy="137160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29400" y="5120640"/>
            <a:ext cx="4663440" cy="365760"/>
          </a:xfrm>
          <a:prstGeom prst="rect">
            <a:avLst/>
          </a:prstGeom>
          <a:noFill/>
        </p:spPr>
        <p:txBody>
          <a:bodyPr wrap="square" anchor="t" lIns="0" rIns="0" tIns="0" bIns="0">
            <a:spAutoFit/>
          </a:bodyPr>
          <a:lstStyle/>
          <a:p>
            <a:pPr algn="l">
              <a:lnSpc>
                <a:spcPct val="115000"/>
              </a:lnSpc>
            </a:pPr>
            <a:r>
              <a:rPr sz="1800" b="1">
                <a:solidFill>
                  <a:srgbClr val="E87722"/>
                </a:solidFill>
                <a:latin typeface="Hiragino Sans"/>
                <a:ea typeface="Hiragino Sans"/>
                <a:cs typeface="Hiragino Sans"/>
              </a:rPr>
              <a:t>LINE</a:t>
            </a:r>
          </a:p>
        </p:txBody>
      </p:sp>
      <p:sp>
        <p:nvSpPr>
          <p:cNvPr id="20" name="TextBox 19"/>
          <p:cNvSpPr txBox="1"/>
          <p:nvPr/>
        </p:nvSpPr>
        <p:spPr>
          <a:xfrm>
            <a:off x="6629400" y="5486400"/>
            <a:ext cx="4663440" cy="274320"/>
          </a:xfrm>
          <a:prstGeom prst="rect">
            <a:avLst/>
          </a:prstGeom>
          <a:noFill/>
        </p:spPr>
        <p:txBody>
          <a:bodyPr wrap="square" anchor="t" lIns="0" rIns="0" tIns="0" bIns="0">
            <a:spAutoFit/>
          </a:bodyPr>
          <a:lstStyle/>
          <a:p>
            <a:pPr algn="l">
              <a:lnSpc>
                <a:spcPct val="115000"/>
              </a:lnSpc>
            </a:pPr>
            <a:r>
              <a:rPr sz="1100" b="0">
                <a:solidFill>
                  <a:srgbClr val="D7DDE8"/>
                </a:solidFill>
                <a:latin typeface="Hiragino Sans"/>
                <a:ea typeface="Hiragino Sans"/>
                <a:cs typeface="Hiragino Sans"/>
              </a:rPr>
              <a:t>10p (P115-P124)</a:t>
            </a:r>
          </a:p>
        </p:txBody>
      </p:sp>
      <p:sp>
        <p:nvSpPr>
          <p:cNvPr id="21" name="TextBox 20"/>
          <p:cNvSpPr txBox="1"/>
          <p:nvPr/>
        </p:nvSpPr>
        <p:spPr>
          <a:xfrm>
            <a:off x="6629400" y="5806440"/>
            <a:ext cx="4663440" cy="594360"/>
          </a:xfrm>
          <a:prstGeom prst="rect">
            <a:avLst/>
          </a:prstGeom>
          <a:noFill/>
        </p:spPr>
        <p:txBody>
          <a:bodyPr wrap="square" anchor="t" lIns="0" rIns="0" tIns="0" bIns="0">
            <a:spAutoFit/>
          </a:bodyPr>
          <a:lstStyle/>
          <a:p>
            <a:pPr algn="l">
              <a:lnSpc>
                <a:spcPct val="140000"/>
              </a:lnSpc>
            </a:pPr>
            <a:r>
              <a:rPr sz="1000" b="0">
                <a:solidFill>
                  <a:srgbClr val="FFFFFF"/>
                </a:solidFill>
                <a:latin typeface="Hiragino Sans"/>
                <a:ea typeface="Hiragino Sans"/>
                <a:cs typeface="Hiragino Sans"/>
              </a:rPr>
              <a:t>LAP / Talk Head View / 配信面 /</a:t>
            </a:r>
          </a:p>
          <a:p>
            <a:pPr algn="l">
              <a:lnSpc>
                <a:spcPct val="140000"/>
              </a:lnSpc>
            </a:pPr>
            <a:r>
              <a:rPr sz="1000" b="0">
                <a:solidFill>
                  <a:srgbClr val="FFFFFF"/>
                </a:solidFill>
                <a:latin typeface="Hiragino Sans"/>
                <a:ea typeface="Hiragino Sans"/>
                <a:cs typeface="Hiragino Sans"/>
              </a:rPr>
              <a:t>友だち追加 / 公式アカウント連携 /</a:t>
            </a:r>
          </a:p>
          <a:p>
            <a:pPr algn="l">
              <a:lnSpc>
                <a:spcPct val="140000"/>
              </a:lnSpc>
            </a:pPr>
            <a:r>
              <a:rPr sz="1000" b="0">
                <a:solidFill>
                  <a:srgbClr val="FFFFFF"/>
                </a:solidFill>
                <a:latin typeface="Hiragino Sans"/>
                <a:ea typeface="Hiragino Sans"/>
                <a:cs typeface="Hiragino Sans"/>
              </a:rPr>
              <a:t>2026春統合の準備</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TikTok Ads ランドスケープ 2026</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Smart+ AI 中心 + Shop Ads + Symphony 補助</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P101 / 250</a:t>
            </a:r>
          </a:p>
        </p:txBody>
      </p:sp>
      <p:sp>
        <p:nvSpPr>
          <p:cNvPr id="8" name="Rounded Rectangle 7"/>
          <p:cNvSpPr/>
          <p:nvPr/>
        </p:nvSpPr>
        <p:spPr>
          <a:xfrm>
            <a:off x="548640" y="1371600"/>
            <a:ext cx="11109960" cy="118872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08760"/>
            <a:ext cx="3657600" cy="32004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TikTok 日本MAU</a:t>
            </a:r>
          </a:p>
        </p:txBody>
      </p:sp>
      <p:sp>
        <p:nvSpPr>
          <p:cNvPr id="10" name="TextBox 9"/>
          <p:cNvSpPr txBox="1"/>
          <p:nvPr/>
        </p:nvSpPr>
        <p:spPr>
          <a:xfrm>
            <a:off x="777240" y="1783080"/>
            <a:ext cx="3200400" cy="777240"/>
          </a:xfrm>
          <a:prstGeom prst="rect">
            <a:avLst/>
          </a:prstGeom>
          <a:noFill/>
        </p:spPr>
        <p:txBody>
          <a:bodyPr wrap="square" anchor="t" lIns="0" rIns="0" tIns="0" bIns="0">
            <a:spAutoFit/>
          </a:bodyPr>
          <a:lstStyle/>
          <a:p>
            <a:pPr algn="l">
              <a:lnSpc>
                <a:spcPct val="115000"/>
              </a:lnSpc>
            </a:pPr>
            <a:r>
              <a:rPr sz="4400" b="1">
                <a:solidFill>
                  <a:srgbClr val="FFFFFF"/>
                </a:solidFill>
                <a:latin typeface="Helvetica Neue"/>
                <a:ea typeface="Helvetica Neue"/>
                <a:cs typeface="Helvetica Neue"/>
              </a:rPr>
              <a:t>33M+</a:t>
            </a:r>
          </a:p>
        </p:txBody>
      </p:sp>
      <p:sp>
        <p:nvSpPr>
          <p:cNvPr id="11" name="TextBox 10"/>
          <p:cNvSpPr txBox="1"/>
          <p:nvPr/>
        </p:nvSpPr>
        <p:spPr>
          <a:xfrm>
            <a:off x="5029200" y="1554480"/>
            <a:ext cx="6400800" cy="320040"/>
          </a:xfrm>
          <a:prstGeom prst="rect">
            <a:avLst/>
          </a:prstGeom>
          <a:noFill/>
        </p:spPr>
        <p:txBody>
          <a:bodyPr wrap="square" anchor="t" lIns="0" rIns="0" tIns="0" bIns="0">
            <a:spAutoFit/>
          </a:bodyPr>
          <a:lstStyle/>
          <a:p>
            <a:pPr algn="l">
              <a:lnSpc>
                <a:spcPct val="115000"/>
              </a:lnSpc>
            </a:pPr>
            <a:r>
              <a:rPr sz="1200" b="1">
                <a:solidFill>
                  <a:srgbClr val="E87722"/>
                </a:solidFill>
                <a:latin typeface="Hiragino Sans"/>
                <a:ea typeface="Hiragino Sans"/>
                <a:cs typeface="Hiragino Sans"/>
              </a:rPr>
              <a:t>TikTok Shop ローンチ後 6ヶ月</a:t>
            </a:r>
          </a:p>
        </p:txBody>
      </p:sp>
      <p:sp>
        <p:nvSpPr>
          <p:cNvPr id="12" name="TextBox 11"/>
          <p:cNvSpPr txBox="1"/>
          <p:nvPr/>
        </p:nvSpPr>
        <p:spPr>
          <a:xfrm>
            <a:off x="5029200" y="1828800"/>
            <a:ext cx="6400800" cy="685800"/>
          </a:xfrm>
          <a:prstGeom prst="rect">
            <a:avLst/>
          </a:prstGeom>
          <a:noFill/>
        </p:spPr>
        <p:txBody>
          <a:bodyPr wrap="square" anchor="t" lIns="0" rIns="0" tIns="0" bIns="0">
            <a:spAutoFit/>
          </a:bodyPr>
          <a:lstStyle/>
          <a:p>
            <a:pPr algn="l">
              <a:lnSpc>
                <a:spcPct val="150000"/>
              </a:lnSpc>
            </a:pPr>
            <a:r>
              <a:rPr sz="1100" b="0">
                <a:solidFill>
                  <a:srgbClr val="FFFFFF"/>
                </a:solidFill>
                <a:latin typeface="Hiragino Sans"/>
                <a:ea typeface="Hiragino Sans"/>
                <a:cs typeface="Hiragino Sans"/>
              </a:rPr>
              <a:t>50,000+ sellers / 200,000+ creators / GMVの 70% が</a:t>
            </a:r>
          </a:p>
          <a:p>
            <a:pPr algn="l">
              <a:lnSpc>
                <a:spcPct val="150000"/>
              </a:lnSpc>
            </a:pPr>
            <a:r>
              <a:rPr sz="1100" b="0">
                <a:solidFill>
                  <a:srgbClr val="FFFFFF"/>
                </a:solidFill>
                <a:latin typeface="Hiragino Sans"/>
                <a:ea typeface="Hiragino Sans"/>
                <a:cs typeface="Hiragino Sans"/>
              </a:rPr>
              <a:t>コンテンツ起点購買 (動画→購入)</a:t>
            </a:r>
          </a:p>
        </p:txBody>
      </p:sp>
      <p:sp>
        <p:nvSpPr>
          <p:cNvPr id="13" name="TextBox 12"/>
          <p:cNvSpPr txBox="1"/>
          <p:nvPr/>
        </p:nvSpPr>
        <p:spPr>
          <a:xfrm>
            <a:off x="548640" y="2743200"/>
            <a:ext cx="1097280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TikTok 広告プロダクト 2026</a:t>
            </a:r>
          </a:p>
        </p:txBody>
      </p:sp>
      <p:sp>
        <p:nvSpPr>
          <p:cNvPr id="14" name="Rounded Rectangle 13"/>
          <p:cNvSpPr/>
          <p:nvPr/>
        </p:nvSpPr>
        <p:spPr>
          <a:xfrm>
            <a:off x="548640" y="3154680"/>
            <a:ext cx="2221992" cy="18288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154680"/>
            <a:ext cx="2221992" cy="5029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273552"/>
            <a:ext cx="1947672" cy="274320"/>
          </a:xfrm>
          <a:prstGeom prst="rect">
            <a:avLst/>
          </a:prstGeom>
          <a:noFill/>
        </p:spPr>
        <p:txBody>
          <a:bodyPr wrap="square" anchor="t" lIns="0" rIns="0" tIns="0" bIns="0">
            <a:spAutoFit/>
          </a:bodyPr>
          <a:lstStyle/>
          <a:p>
            <a:pPr algn="ctr">
              <a:lnSpc>
                <a:spcPct val="115000"/>
              </a:lnSpc>
            </a:pPr>
            <a:r>
              <a:rPr sz="1400" b="1">
                <a:solidFill>
                  <a:srgbClr val="FFFFFF"/>
                </a:solidFill>
                <a:latin typeface="Helvetica Neue"/>
                <a:ea typeface="Helvetica Neue"/>
                <a:cs typeface="Helvetica Neue"/>
              </a:rPr>
              <a:t>Smart+</a:t>
            </a:r>
          </a:p>
        </p:txBody>
      </p:sp>
      <p:sp>
        <p:nvSpPr>
          <p:cNvPr id="17" name="TextBox 16"/>
          <p:cNvSpPr txBox="1"/>
          <p:nvPr/>
        </p:nvSpPr>
        <p:spPr>
          <a:xfrm>
            <a:off x="685800" y="3794760"/>
            <a:ext cx="1947672" cy="365760"/>
          </a:xfrm>
          <a:prstGeom prst="rect">
            <a:avLst/>
          </a:prstGeom>
          <a:noFill/>
        </p:spPr>
        <p:txBody>
          <a:bodyPr wrap="square" anchor="t" lIns="0" rIns="0" tIns="0" bIns="0">
            <a:spAutoFit/>
          </a:bodyPr>
          <a:lstStyle/>
          <a:p>
            <a:pPr algn="ctr">
              <a:lnSpc>
                <a:spcPct val="130000"/>
              </a:lnSpc>
            </a:pPr>
            <a:r>
              <a:rPr sz="1000" b="1">
                <a:solidFill>
                  <a:srgbClr val="B85E1A"/>
                </a:solidFill>
                <a:latin typeface="Hiragino Sans"/>
                <a:ea typeface="Hiragino Sans"/>
                <a:cs typeface="Hiragino Sans"/>
              </a:rPr>
              <a:t>Web/Catalog/App/Lead</a:t>
            </a:r>
          </a:p>
        </p:txBody>
      </p:sp>
      <p:sp>
        <p:nvSpPr>
          <p:cNvPr id="18" name="TextBox 17"/>
          <p:cNvSpPr txBox="1"/>
          <p:nvPr/>
        </p:nvSpPr>
        <p:spPr>
          <a:xfrm>
            <a:off x="685800" y="4206240"/>
            <a:ext cx="1947672" cy="731520"/>
          </a:xfrm>
          <a:prstGeom prst="rect">
            <a:avLst/>
          </a:prstGeom>
          <a:noFill/>
        </p:spPr>
        <p:txBody>
          <a:bodyPr wrap="square" anchor="t" lIns="0" rIns="0" tIns="0" bIns="0">
            <a:spAutoFit/>
          </a:bodyPr>
          <a:lstStyle/>
          <a:p>
            <a:pPr algn="ctr">
              <a:lnSpc>
                <a:spcPct val="145000"/>
              </a:lnSpc>
            </a:pPr>
            <a:r>
              <a:rPr sz="1000" b="0">
                <a:solidFill>
                  <a:srgbClr val="1A1A1A"/>
                </a:solidFill>
                <a:latin typeface="Hiragino Sans"/>
                <a:ea typeface="Hiragino Sans"/>
                <a:cs typeface="Hiragino Sans"/>
              </a:rPr>
              <a:t>完全自動化キャンペーン</a:t>
            </a:r>
          </a:p>
          <a:p>
            <a:pPr algn="ctr">
              <a:lnSpc>
                <a:spcPct val="145000"/>
              </a:lnSpc>
            </a:pPr>
            <a:r>
              <a:rPr sz="1000" b="0">
                <a:solidFill>
                  <a:srgbClr val="1A1A1A"/>
                </a:solidFill>
                <a:latin typeface="Hiragino Sans"/>
                <a:ea typeface="Hiragino Sans"/>
                <a:cs typeface="Hiragino Sans"/>
              </a:rPr>
              <a:t>2024/10ローンチ</a:t>
            </a:r>
          </a:p>
        </p:txBody>
      </p:sp>
      <p:sp>
        <p:nvSpPr>
          <p:cNvPr id="19" name="Rounded Rectangle 18"/>
          <p:cNvSpPr/>
          <p:nvPr/>
        </p:nvSpPr>
        <p:spPr>
          <a:xfrm>
            <a:off x="2816352" y="3154680"/>
            <a:ext cx="2221992" cy="18288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816352" y="3154680"/>
            <a:ext cx="2221992" cy="5029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953512" y="3273552"/>
            <a:ext cx="1947672" cy="274320"/>
          </a:xfrm>
          <a:prstGeom prst="rect">
            <a:avLst/>
          </a:prstGeom>
          <a:noFill/>
        </p:spPr>
        <p:txBody>
          <a:bodyPr wrap="square" anchor="t" lIns="0" rIns="0" tIns="0" bIns="0">
            <a:spAutoFit/>
          </a:bodyPr>
          <a:lstStyle/>
          <a:p>
            <a:pPr algn="ctr">
              <a:lnSpc>
                <a:spcPct val="115000"/>
              </a:lnSpc>
            </a:pPr>
            <a:r>
              <a:rPr sz="1400" b="1">
                <a:solidFill>
                  <a:srgbClr val="FFFFFF"/>
                </a:solidFill>
                <a:latin typeface="Helvetica Neue"/>
                <a:ea typeface="Helvetica Neue"/>
                <a:cs typeface="Helvetica Neue"/>
              </a:rPr>
              <a:t>Spark Ads</a:t>
            </a:r>
          </a:p>
        </p:txBody>
      </p:sp>
      <p:sp>
        <p:nvSpPr>
          <p:cNvPr id="22" name="TextBox 21"/>
          <p:cNvSpPr txBox="1"/>
          <p:nvPr/>
        </p:nvSpPr>
        <p:spPr>
          <a:xfrm>
            <a:off x="2953512" y="3794760"/>
            <a:ext cx="1947672" cy="365760"/>
          </a:xfrm>
          <a:prstGeom prst="rect">
            <a:avLst/>
          </a:prstGeom>
          <a:noFill/>
        </p:spPr>
        <p:txBody>
          <a:bodyPr wrap="square" anchor="t" lIns="0" rIns="0" tIns="0" bIns="0">
            <a:spAutoFit/>
          </a:bodyPr>
          <a:lstStyle/>
          <a:p>
            <a:pPr algn="ctr">
              <a:lnSpc>
                <a:spcPct val="130000"/>
              </a:lnSpc>
            </a:pPr>
            <a:r>
              <a:rPr sz="1000" b="1">
                <a:solidFill>
                  <a:srgbClr val="B85E1A"/>
                </a:solidFill>
                <a:latin typeface="Hiragino Sans"/>
                <a:ea typeface="Hiragino Sans"/>
                <a:cs typeface="Hiragino Sans"/>
              </a:rPr>
              <a:t>Organic Boost</a:t>
            </a:r>
          </a:p>
        </p:txBody>
      </p:sp>
      <p:sp>
        <p:nvSpPr>
          <p:cNvPr id="23" name="TextBox 22"/>
          <p:cNvSpPr txBox="1"/>
          <p:nvPr/>
        </p:nvSpPr>
        <p:spPr>
          <a:xfrm>
            <a:off x="2953512" y="4206240"/>
            <a:ext cx="1947672" cy="731520"/>
          </a:xfrm>
          <a:prstGeom prst="rect">
            <a:avLst/>
          </a:prstGeom>
          <a:noFill/>
        </p:spPr>
        <p:txBody>
          <a:bodyPr wrap="square" anchor="t" lIns="0" rIns="0" tIns="0" bIns="0">
            <a:spAutoFit/>
          </a:bodyPr>
          <a:lstStyle/>
          <a:p>
            <a:pPr algn="ctr">
              <a:lnSpc>
                <a:spcPct val="145000"/>
              </a:lnSpc>
            </a:pPr>
            <a:r>
              <a:rPr sz="1000" b="0">
                <a:solidFill>
                  <a:srgbClr val="1A1A1A"/>
                </a:solidFill>
                <a:latin typeface="Hiragino Sans"/>
                <a:ea typeface="Hiragino Sans"/>
                <a:cs typeface="Hiragino Sans"/>
              </a:rPr>
              <a:t>既存投稿を広告化</a:t>
            </a:r>
          </a:p>
          <a:p>
            <a:pPr algn="ctr">
              <a:lnSpc>
                <a:spcPct val="145000"/>
              </a:lnSpc>
            </a:pPr>
            <a:r>
              <a:rPr sz="1000" b="0">
                <a:solidFill>
                  <a:srgbClr val="1A1A1A"/>
                </a:solidFill>
                <a:latin typeface="Hiragino Sans"/>
                <a:ea typeface="Hiragino Sans"/>
                <a:cs typeface="Hiragino Sans"/>
              </a:rPr>
              <a:t>UGCの原型を保つ</a:t>
            </a:r>
          </a:p>
        </p:txBody>
      </p:sp>
      <p:sp>
        <p:nvSpPr>
          <p:cNvPr id="24" name="Rounded Rectangle 23"/>
          <p:cNvSpPr/>
          <p:nvPr/>
        </p:nvSpPr>
        <p:spPr>
          <a:xfrm>
            <a:off x="5084064" y="3154680"/>
            <a:ext cx="2221992" cy="18288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084064" y="3154680"/>
            <a:ext cx="2221992" cy="5029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21224" y="3273552"/>
            <a:ext cx="1947672" cy="274320"/>
          </a:xfrm>
          <a:prstGeom prst="rect">
            <a:avLst/>
          </a:prstGeom>
          <a:noFill/>
        </p:spPr>
        <p:txBody>
          <a:bodyPr wrap="square" anchor="t" lIns="0" rIns="0" tIns="0" bIns="0">
            <a:spAutoFit/>
          </a:bodyPr>
          <a:lstStyle/>
          <a:p>
            <a:pPr algn="ctr">
              <a:lnSpc>
                <a:spcPct val="115000"/>
              </a:lnSpc>
            </a:pPr>
            <a:r>
              <a:rPr sz="1400" b="1">
                <a:solidFill>
                  <a:srgbClr val="FFFFFF"/>
                </a:solidFill>
                <a:latin typeface="Helvetica Neue"/>
                <a:ea typeface="Helvetica Neue"/>
                <a:cs typeface="Helvetica Neue"/>
              </a:rPr>
              <a:t>Shop Ads</a:t>
            </a:r>
          </a:p>
        </p:txBody>
      </p:sp>
      <p:sp>
        <p:nvSpPr>
          <p:cNvPr id="27" name="TextBox 26"/>
          <p:cNvSpPr txBox="1"/>
          <p:nvPr/>
        </p:nvSpPr>
        <p:spPr>
          <a:xfrm>
            <a:off x="5221224" y="3794760"/>
            <a:ext cx="1947672" cy="365760"/>
          </a:xfrm>
          <a:prstGeom prst="rect">
            <a:avLst/>
          </a:prstGeom>
          <a:noFill/>
        </p:spPr>
        <p:txBody>
          <a:bodyPr wrap="square" anchor="t" lIns="0" rIns="0" tIns="0" bIns="0">
            <a:spAutoFit/>
          </a:bodyPr>
          <a:lstStyle/>
          <a:p>
            <a:pPr algn="ctr">
              <a:lnSpc>
                <a:spcPct val="130000"/>
              </a:lnSpc>
            </a:pPr>
            <a:r>
              <a:rPr sz="1000" b="1">
                <a:solidFill>
                  <a:srgbClr val="B85E1A"/>
                </a:solidFill>
                <a:latin typeface="Hiragino Sans"/>
                <a:ea typeface="Hiragino Sans"/>
                <a:cs typeface="Hiragino Sans"/>
              </a:rPr>
              <a:t>TikTok Shop連動</a:t>
            </a:r>
          </a:p>
        </p:txBody>
      </p:sp>
      <p:sp>
        <p:nvSpPr>
          <p:cNvPr id="28" name="TextBox 27"/>
          <p:cNvSpPr txBox="1"/>
          <p:nvPr/>
        </p:nvSpPr>
        <p:spPr>
          <a:xfrm>
            <a:off x="5221224" y="4206240"/>
            <a:ext cx="1947672" cy="731520"/>
          </a:xfrm>
          <a:prstGeom prst="rect">
            <a:avLst/>
          </a:prstGeom>
          <a:noFill/>
        </p:spPr>
        <p:txBody>
          <a:bodyPr wrap="square" anchor="t" lIns="0" rIns="0" tIns="0" bIns="0">
            <a:spAutoFit/>
          </a:bodyPr>
          <a:lstStyle/>
          <a:p>
            <a:pPr algn="ctr">
              <a:lnSpc>
                <a:spcPct val="145000"/>
              </a:lnSpc>
            </a:pPr>
            <a:r>
              <a:rPr sz="1000" b="0">
                <a:solidFill>
                  <a:srgbClr val="1A1A1A"/>
                </a:solidFill>
                <a:latin typeface="Hiragino Sans"/>
                <a:ea typeface="Hiragino Sans"/>
                <a:cs typeface="Hiragino Sans"/>
              </a:rPr>
              <a:t>EC購入特化</a:t>
            </a:r>
          </a:p>
          <a:p>
            <a:pPr algn="ctr">
              <a:lnSpc>
                <a:spcPct val="145000"/>
              </a:lnSpc>
            </a:pPr>
            <a:r>
              <a:rPr sz="1000" b="0">
                <a:solidFill>
                  <a:srgbClr val="1A1A1A"/>
                </a:solidFill>
                <a:latin typeface="Hiragino Sans"/>
                <a:ea typeface="Hiragino Sans"/>
                <a:cs typeface="Hiragino Sans"/>
              </a:rPr>
              <a:t>2025/07~ 日本</a:t>
            </a:r>
          </a:p>
        </p:txBody>
      </p:sp>
      <p:sp>
        <p:nvSpPr>
          <p:cNvPr id="29" name="Rounded Rectangle 28"/>
          <p:cNvSpPr/>
          <p:nvPr/>
        </p:nvSpPr>
        <p:spPr>
          <a:xfrm>
            <a:off x="7351776" y="3154680"/>
            <a:ext cx="2221992" cy="18288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351776" y="3154680"/>
            <a:ext cx="2221992" cy="50292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88936" y="3273552"/>
            <a:ext cx="1947672" cy="274320"/>
          </a:xfrm>
          <a:prstGeom prst="rect">
            <a:avLst/>
          </a:prstGeom>
          <a:noFill/>
        </p:spPr>
        <p:txBody>
          <a:bodyPr wrap="square" anchor="t" lIns="0" rIns="0" tIns="0" bIns="0">
            <a:spAutoFit/>
          </a:bodyPr>
          <a:lstStyle/>
          <a:p>
            <a:pPr algn="ctr">
              <a:lnSpc>
                <a:spcPct val="115000"/>
              </a:lnSpc>
            </a:pPr>
            <a:r>
              <a:rPr sz="1400" b="1">
                <a:solidFill>
                  <a:srgbClr val="FFFFFF"/>
                </a:solidFill>
                <a:latin typeface="Helvetica Neue"/>
                <a:ea typeface="Helvetica Neue"/>
                <a:cs typeface="Helvetica Neue"/>
              </a:rPr>
              <a:t>Brand Takeover</a:t>
            </a:r>
          </a:p>
        </p:txBody>
      </p:sp>
      <p:sp>
        <p:nvSpPr>
          <p:cNvPr id="32" name="TextBox 31"/>
          <p:cNvSpPr txBox="1"/>
          <p:nvPr/>
        </p:nvSpPr>
        <p:spPr>
          <a:xfrm>
            <a:off x="7488936" y="3794760"/>
            <a:ext cx="1947672" cy="365760"/>
          </a:xfrm>
          <a:prstGeom prst="rect">
            <a:avLst/>
          </a:prstGeom>
          <a:noFill/>
        </p:spPr>
        <p:txBody>
          <a:bodyPr wrap="square" anchor="t" lIns="0" rIns="0" tIns="0" bIns="0">
            <a:spAutoFit/>
          </a:bodyPr>
          <a:lstStyle/>
          <a:p>
            <a:pPr algn="ctr">
              <a:lnSpc>
                <a:spcPct val="130000"/>
              </a:lnSpc>
            </a:pPr>
            <a:r>
              <a:rPr sz="1000" b="1">
                <a:solidFill>
                  <a:srgbClr val="B85E1A"/>
                </a:solidFill>
                <a:latin typeface="Hiragino Sans"/>
                <a:ea typeface="Hiragino Sans"/>
                <a:cs typeface="Hiragino Sans"/>
              </a:rPr>
              <a:t>起動時表示</a:t>
            </a:r>
          </a:p>
        </p:txBody>
      </p:sp>
      <p:sp>
        <p:nvSpPr>
          <p:cNvPr id="33" name="TextBox 32"/>
          <p:cNvSpPr txBox="1"/>
          <p:nvPr/>
        </p:nvSpPr>
        <p:spPr>
          <a:xfrm>
            <a:off x="7488936" y="4206240"/>
            <a:ext cx="1947672" cy="731520"/>
          </a:xfrm>
          <a:prstGeom prst="rect">
            <a:avLst/>
          </a:prstGeom>
          <a:noFill/>
        </p:spPr>
        <p:txBody>
          <a:bodyPr wrap="square" anchor="t" lIns="0" rIns="0" tIns="0" bIns="0">
            <a:spAutoFit/>
          </a:bodyPr>
          <a:lstStyle/>
          <a:p>
            <a:pPr algn="ctr">
              <a:lnSpc>
                <a:spcPct val="145000"/>
              </a:lnSpc>
            </a:pPr>
            <a:r>
              <a:rPr sz="1000" b="0">
                <a:solidFill>
                  <a:srgbClr val="1A1A1A"/>
                </a:solidFill>
                <a:latin typeface="Hiragino Sans"/>
                <a:ea typeface="Hiragino Sans"/>
                <a:cs typeface="Hiragino Sans"/>
              </a:rPr>
              <a:t>1日1ブランド</a:t>
            </a:r>
          </a:p>
          <a:p>
            <a:pPr algn="ctr">
              <a:lnSpc>
                <a:spcPct val="145000"/>
              </a:lnSpc>
            </a:pPr>
            <a:r>
              <a:rPr sz="1000" b="0">
                <a:solidFill>
                  <a:srgbClr val="1A1A1A"/>
                </a:solidFill>
                <a:latin typeface="Hiragino Sans"/>
                <a:ea typeface="Hiragino Sans"/>
                <a:cs typeface="Hiragino Sans"/>
              </a:rPr>
              <a:t>認知最大化</a:t>
            </a:r>
          </a:p>
        </p:txBody>
      </p:sp>
      <p:sp>
        <p:nvSpPr>
          <p:cNvPr id="34" name="Rounded Rectangle 33"/>
          <p:cNvSpPr/>
          <p:nvPr/>
        </p:nvSpPr>
        <p:spPr>
          <a:xfrm>
            <a:off x="9619488" y="3154680"/>
            <a:ext cx="2221992" cy="18288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619488" y="3154680"/>
            <a:ext cx="2221992" cy="50292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56648" y="3273552"/>
            <a:ext cx="1947672" cy="274320"/>
          </a:xfrm>
          <a:prstGeom prst="rect">
            <a:avLst/>
          </a:prstGeom>
          <a:noFill/>
        </p:spPr>
        <p:txBody>
          <a:bodyPr wrap="square" anchor="t" lIns="0" rIns="0" tIns="0" bIns="0">
            <a:spAutoFit/>
          </a:bodyPr>
          <a:lstStyle/>
          <a:p>
            <a:pPr algn="ctr">
              <a:lnSpc>
                <a:spcPct val="115000"/>
              </a:lnSpc>
            </a:pPr>
            <a:r>
              <a:rPr sz="1400" b="1">
                <a:solidFill>
                  <a:srgbClr val="FFFFFF"/>
                </a:solidFill>
                <a:latin typeface="Helvetica Neue"/>
                <a:ea typeface="Helvetica Neue"/>
                <a:cs typeface="Helvetica Neue"/>
              </a:rPr>
              <a:t>Top View</a:t>
            </a:r>
          </a:p>
        </p:txBody>
      </p:sp>
      <p:sp>
        <p:nvSpPr>
          <p:cNvPr id="37" name="TextBox 36"/>
          <p:cNvSpPr txBox="1"/>
          <p:nvPr/>
        </p:nvSpPr>
        <p:spPr>
          <a:xfrm>
            <a:off x="9756648" y="3794760"/>
            <a:ext cx="1947672" cy="365760"/>
          </a:xfrm>
          <a:prstGeom prst="rect">
            <a:avLst/>
          </a:prstGeom>
          <a:noFill/>
        </p:spPr>
        <p:txBody>
          <a:bodyPr wrap="square" anchor="t" lIns="0" rIns="0" tIns="0" bIns="0">
            <a:spAutoFit/>
          </a:bodyPr>
          <a:lstStyle/>
          <a:p>
            <a:pPr algn="ctr">
              <a:lnSpc>
                <a:spcPct val="130000"/>
              </a:lnSpc>
            </a:pPr>
            <a:r>
              <a:rPr sz="1000" b="1">
                <a:solidFill>
                  <a:srgbClr val="B85E1A"/>
                </a:solidFill>
                <a:latin typeface="Hiragino Sans"/>
                <a:ea typeface="Hiragino Sans"/>
                <a:cs typeface="Hiragino Sans"/>
              </a:rPr>
              <a:t>起動5秒動画</a:t>
            </a:r>
          </a:p>
        </p:txBody>
      </p:sp>
      <p:sp>
        <p:nvSpPr>
          <p:cNvPr id="38" name="TextBox 37"/>
          <p:cNvSpPr txBox="1"/>
          <p:nvPr/>
        </p:nvSpPr>
        <p:spPr>
          <a:xfrm>
            <a:off x="9756648" y="4206240"/>
            <a:ext cx="1947672" cy="731520"/>
          </a:xfrm>
          <a:prstGeom prst="rect">
            <a:avLst/>
          </a:prstGeom>
          <a:noFill/>
        </p:spPr>
        <p:txBody>
          <a:bodyPr wrap="square" anchor="t" lIns="0" rIns="0" tIns="0" bIns="0">
            <a:spAutoFit/>
          </a:bodyPr>
          <a:lstStyle/>
          <a:p>
            <a:pPr algn="ctr">
              <a:lnSpc>
                <a:spcPct val="145000"/>
              </a:lnSpc>
            </a:pPr>
            <a:r>
              <a:rPr sz="1000" b="0">
                <a:solidFill>
                  <a:srgbClr val="1A1A1A"/>
                </a:solidFill>
                <a:latin typeface="Hiragino Sans"/>
                <a:ea typeface="Hiragino Sans"/>
                <a:cs typeface="Hiragino Sans"/>
              </a:rPr>
              <a:t>認知獲得型</a:t>
            </a:r>
          </a:p>
          <a:p>
            <a:pPr algn="ctr">
              <a:lnSpc>
                <a:spcPct val="145000"/>
              </a:lnSpc>
            </a:pPr>
            <a:r>
              <a:rPr sz="1000" b="0">
                <a:solidFill>
                  <a:srgbClr val="1A1A1A"/>
                </a:solidFill>
                <a:latin typeface="Hiragino Sans"/>
                <a:ea typeface="Hiragino Sans"/>
                <a:cs typeface="Hiragino Sans"/>
              </a:rPr>
              <a:t>CPM最高単価</a:t>
            </a:r>
          </a:p>
        </p:txBody>
      </p:sp>
      <p:sp>
        <p:nvSpPr>
          <p:cNvPr id="39" name="Rounded Rectangle 38"/>
          <p:cNvSpPr/>
          <p:nvPr/>
        </p:nvSpPr>
        <p:spPr>
          <a:xfrm>
            <a:off x="548640" y="5212080"/>
            <a:ext cx="11109960" cy="114300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77240" y="5349240"/>
            <a:ext cx="100584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 副業代行で押さえる戦略</a:t>
            </a:r>
          </a:p>
        </p:txBody>
      </p:sp>
      <p:sp>
        <p:nvSpPr>
          <p:cNvPr id="41" name="TextBox 40"/>
          <p:cNvSpPr txBox="1"/>
          <p:nvPr/>
        </p:nvSpPr>
        <p:spPr>
          <a:xfrm>
            <a:off x="777240" y="5669280"/>
            <a:ext cx="10972800" cy="640080"/>
          </a:xfrm>
          <a:prstGeom prst="rect">
            <a:avLst/>
          </a:prstGeom>
          <a:noFill/>
        </p:spPr>
        <p:txBody>
          <a:bodyPr wrap="square" anchor="t" lIns="0" rIns="0" tIns="0" bIns="0">
            <a:spAutoFit/>
          </a:bodyPr>
          <a:lstStyle/>
          <a:p>
            <a:pPr algn="l">
              <a:lnSpc>
                <a:spcPct val="155000"/>
              </a:lnSpc>
            </a:pPr>
            <a:r>
              <a:rPr sz="1100" b="0">
                <a:solidFill>
                  <a:srgbClr val="1A1A1A"/>
                </a:solidFill>
                <a:latin typeface="Hiragino Sans"/>
                <a:ea typeface="Hiragino Sans"/>
                <a:cs typeface="Hiragino Sans"/>
              </a:rPr>
              <a:t>• B2C案件のメイン構成 = Smart+ Web (CV) + Spark Ads (UGC補強)</a:t>
            </a:r>
          </a:p>
          <a:p>
            <a:pPr algn="l">
              <a:lnSpc>
                <a:spcPct val="155000"/>
              </a:lnSpc>
            </a:pPr>
            <a:r>
              <a:rPr sz="1100" b="0">
                <a:solidFill>
                  <a:srgbClr val="1A1A1A"/>
                </a:solidFill>
                <a:latin typeface="Hiragino Sans"/>
                <a:ea typeface="Hiragino Sans"/>
                <a:cs typeface="Hiragino Sans"/>
              </a:rPr>
              <a:t>• EC案件 = Shop Ads (2025/07~ 日本) + Smart+ Catalog</a:t>
            </a:r>
          </a:p>
          <a:p>
            <a:pPr algn="l">
              <a:lnSpc>
                <a:spcPct val="155000"/>
              </a:lnSpc>
            </a:pPr>
            <a:r>
              <a:rPr sz="1100" b="0">
                <a:solidFill>
                  <a:srgbClr val="1A1A1A"/>
                </a:solidFill>
                <a:latin typeface="Hiragino Sans"/>
                <a:ea typeface="Hiragino Sans"/>
                <a:cs typeface="Hiragino Sans"/>
              </a:rPr>
              <a:t>• ブランディング案件 = Top View / Brand Takeover を月単位で組込</a:t>
            </a:r>
          </a:p>
        </p:txBody>
      </p:sp>
      <p:sp>
        <p:nvSpPr>
          <p:cNvPr id="42" name="TextBox 41"/>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TikTok : 地殻変動 TL;DR</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2023年9月 → 2026年4月 / 5つの大変化</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P102 / 250</a:t>
            </a:r>
          </a:p>
        </p:txBody>
      </p:sp>
      <p:sp>
        <p:nvSpPr>
          <p:cNvPr id="8" name="Rounded Rectangle 7"/>
          <p:cNvSpPr/>
          <p:nvPr/>
        </p:nvSpPr>
        <p:spPr>
          <a:xfrm>
            <a:off x="548640" y="1325880"/>
            <a:ext cx="11109960" cy="9601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25880"/>
            <a:ext cx="109728" cy="9601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508760"/>
            <a:ext cx="731520" cy="640080"/>
          </a:xfrm>
          <a:prstGeom prst="rect">
            <a:avLst/>
          </a:prstGeom>
          <a:noFill/>
        </p:spPr>
        <p:txBody>
          <a:bodyPr wrap="square" anchor="t" lIns="0" rIns="0" tIns="0" bIns="0">
            <a:spAutoFit/>
          </a:bodyPr>
          <a:lstStyle/>
          <a:p>
            <a:pPr algn="l">
              <a:lnSpc>
                <a:spcPct val="115000"/>
              </a:lnSpc>
            </a:pPr>
            <a:r>
              <a:rPr sz="3200" b="1">
                <a:solidFill>
                  <a:srgbClr val="E87722"/>
                </a:solidFill>
                <a:latin typeface="Helvetica Neue"/>
                <a:ea typeface="Helvetica Neue"/>
                <a:cs typeface="Helvetica Neue"/>
              </a:rPr>
              <a:t>01</a:t>
            </a:r>
          </a:p>
        </p:txBody>
      </p:sp>
      <p:sp>
        <p:nvSpPr>
          <p:cNvPr id="11" name="TextBox 10"/>
          <p:cNvSpPr txBox="1"/>
          <p:nvPr/>
        </p:nvSpPr>
        <p:spPr>
          <a:xfrm>
            <a:off x="1737360" y="1490472"/>
            <a:ext cx="9601200" cy="365760"/>
          </a:xfrm>
          <a:prstGeom prst="rect">
            <a:avLst/>
          </a:prstGeom>
          <a:noFill/>
        </p:spPr>
        <p:txBody>
          <a:bodyPr wrap="square" anchor="t" lIns="0" rIns="0" tIns="0" bIns="0">
            <a:spAutoFit/>
          </a:bodyPr>
          <a:lstStyle/>
          <a:p>
            <a:pPr algn="l">
              <a:lnSpc>
                <a:spcPct val="115000"/>
              </a:lnSpc>
            </a:pPr>
            <a:r>
              <a:rPr sz="1500" b="1">
                <a:solidFill>
                  <a:srgbClr val="0F2A4F"/>
                </a:solidFill>
                <a:latin typeface="Hiragino Sans"/>
                <a:ea typeface="Hiragino Sans"/>
                <a:cs typeface="Hiragino Sans"/>
              </a:rPr>
              <a:t>Smart+ で完全自動化が成熟 (2024/10)</a:t>
            </a:r>
          </a:p>
        </p:txBody>
      </p:sp>
      <p:sp>
        <p:nvSpPr>
          <p:cNvPr id="12" name="TextBox 11"/>
          <p:cNvSpPr txBox="1"/>
          <p:nvPr/>
        </p:nvSpPr>
        <p:spPr>
          <a:xfrm>
            <a:off x="1737360" y="1828800"/>
            <a:ext cx="9692640" cy="457200"/>
          </a:xfrm>
          <a:prstGeom prst="rect">
            <a:avLst/>
          </a:prstGeom>
          <a:noFill/>
        </p:spPr>
        <p:txBody>
          <a:bodyPr wrap="square" anchor="t" lIns="0" rIns="0" tIns="0" bIns="0">
            <a:spAutoFit/>
          </a:bodyPr>
          <a:lstStyle/>
          <a:p>
            <a:pPr algn="l">
              <a:lnSpc>
                <a:spcPct val="150000"/>
              </a:lnSpc>
            </a:pPr>
            <a:r>
              <a:rPr sz="1000" b="0">
                <a:solidFill>
                  <a:srgbClr val="1A1A1A"/>
                </a:solidFill>
                <a:latin typeface="Hiragino Sans"/>
                <a:ea typeface="Hiragino Sans"/>
                <a:cs typeface="Hiragino Sans"/>
              </a:rPr>
              <a:t>Web/Catalog/App/Lead で『1キャンペーンで全自動』。</a:t>
            </a:r>
          </a:p>
          <a:p>
            <a:pPr algn="l">
              <a:lnSpc>
                <a:spcPct val="150000"/>
              </a:lnSpc>
            </a:pPr>
            <a:r>
              <a:rPr sz="1000" b="0">
                <a:solidFill>
                  <a:srgbClr val="1A1A1A"/>
                </a:solidFill>
                <a:latin typeface="Hiragino Sans"/>
                <a:ea typeface="Hiragino Sans"/>
                <a:cs typeface="Hiragino Sans"/>
              </a:rPr>
              <a:t>Ray-Ban で +50% CVR / +42% ROAS の事例</a:t>
            </a:r>
          </a:p>
        </p:txBody>
      </p:sp>
      <p:sp>
        <p:nvSpPr>
          <p:cNvPr id="13" name="Rounded Rectangle 12"/>
          <p:cNvSpPr/>
          <p:nvPr/>
        </p:nvSpPr>
        <p:spPr>
          <a:xfrm>
            <a:off x="548640" y="2313432"/>
            <a:ext cx="11109960" cy="9601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2313432"/>
            <a:ext cx="109728" cy="9601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2496312"/>
            <a:ext cx="731520" cy="640080"/>
          </a:xfrm>
          <a:prstGeom prst="rect">
            <a:avLst/>
          </a:prstGeom>
          <a:noFill/>
        </p:spPr>
        <p:txBody>
          <a:bodyPr wrap="square" anchor="t" lIns="0" rIns="0" tIns="0" bIns="0">
            <a:spAutoFit/>
          </a:bodyPr>
          <a:lstStyle/>
          <a:p>
            <a:pPr algn="l">
              <a:lnSpc>
                <a:spcPct val="115000"/>
              </a:lnSpc>
            </a:pPr>
            <a:r>
              <a:rPr sz="3200" b="1">
                <a:solidFill>
                  <a:srgbClr val="E87722"/>
                </a:solidFill>
                <a:latin typeface="Helvetica Neue"/>
                <a:ea typeface="Helvetica Neue"/>
                <a:cs typeface="Helvetica Neue"/>
              </a:rPr>
              <a:t>02</a:t>
            </a:r>
          </a:p>
        </p:txBody>
      </p:sp>
      <p:sp>
        <p:nvSpPr>
          <p:cNvPr id="16" name="TextBox 15"/>
          <p:cNvSpPr txBox="1"/>
          <p:nvPr/>
        </p:nvSpPr>
        <p:spPr>
          <a:xfrm>
            <a:off x="1737360" y="2478024"/>
            <a:ext cx="9601200" cy="365760"/>
          </a:xfrm>
          <a:prstGeom prst="rect">
            <a:avLst/>
          </a:prstGeom>
          <a:noFill/>
        </p:spPr>
        <p:txBody>
          <a:bodyPr wrap="square" anchor="t" lIns="0" rIns="0" tIns="0" bIns="0">
            <a:spAutoFit/>
          </a:bodyPr>
          <a:lstStyle/>
          <a:p>
            <a:pPr algn="l">
              <a:lnSpc>
                <a:spcPct val="115000"/>
              </a:lnSpc>
            </a:pPr>
            <a:r>
              <a:rPr sz="1500" b="1">
                <a:solidFill>
                  <a:srgbClr val="0F2A4F"/>
                </a:solidFill>
                <a:latin typeface="Hiragino Sans"/>
                <a:ea typeface="Hiragino Sans"/>
                <a:cs typeface="Hiragino Sans"/>
              </a:rPr>
              <a:t>Symphony AI でクリエイティブ生成が標準</a:t>
            </a:r>
          </a:p>
        </p:txBody>
      </p:sp>
      <p:sp>
        <p:nvSpPr>
          <p:cNvPr id="17" name="TextBox 16"/>
          <p:cNvSpPr txBox="1"/>
          <p:nvPr/>
        </p:nvSpPr>
        <p:spPr>
          <a:xfrm>
            <a:off x="1737360" y="2816352"/>
            <a:ext cx="9692640" cy="457200"/>
          </a:xfrm>
          <a:prstGeom prst="rect">
            <a:avLst/>
          </a:prstGeom>
          <a:noFill/>
        </p:spPr>
        <p:txBody>
          <a:bodyPr wrap="square" anchor="t" lIns="0" rIns="0" tIns="0" bIns="0">
            <a:spAutoFit/>
          </a:bodyPr>
          <a:lstStyle/>
          <a:p>
            <a:pPr algn="l">
              <a:lnSpc>
                <a:spcPct val="150000"/>
              </a:lnSpc>
            </a:pPr>
            <a:r>
              <a:rPr sz="1000" b="0">
                <a:solidFill>
                  <a:srgbClr val="1A1A1A"/>
                </a:solidFill>
                <a:latin typeface="Hiragino Sans"/>
                <a:ea typeface="Hiragino Sans"/>
                <a:cs typeface="Hiragino Sans"/>
              </a:rPr>
              <a:t>Image to Video / Text to Video / Digital Avatars (30+言語)。</a:t>
            </a:r>
          </a:p>
          <a:p>
            <a:pPr algn="l">
              <a:lnSpc>
                <a:spcPct val="150000"/>
              </a:lnSpc>
            </a:pPr>
            <a:r>
              <a:rPr sz="1000" b="0">
                <a:solidFill>
                  <a:srgbClr val="1A1A1A"/>
                </a:solidFill>
                <a:latin typeface="Hiragino Sans"/>
                <a:ea typeface="Hiragino Sans"/>
                <a:cs typeface="Hiragino Sans"/>
              </a:rPr>
              <a:t>AI Dubbing でグローバル展開も同時実行</a:t>
            </a:r>
          </a:p>
        </p:txBody>
      </p:sp>
      <p:sp>
        <p:nvSpPr>
          <p:cNvPr id="18" name="Rounded Rectangle 17"/>
          <p:cNvSpPr/>
          <p:nvPr/>
        </p:nvSpPr>
        <p:spPr>
          <a:xfrm>
            <a:off x="548640" y="3300984"/>
            <a:ext cx="11109960" cy="9601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300984"/>
            <a:ext cx="109728" cy="9601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3483864"/>
            <a:ext cx="731520" cy="640080"/>
          </a:xfrm>
          <a:prstGeom prst="rect">
            <a:avLst/>
          </a:prstGeom>
          <a:noFill/>
        </p:spPr>
        <p:txBody>
          <a:bodyPr wrap="square" anchor="t" lIns="0" rIns="0" tIns="0" bIns="0">
            <a:spAutoFit/>
          </a:bodyPr>
          <a:lstStyle/>
          <a:p>
            <a:pPr algn="l">
              <a:lnSpc>
                <a:spcPct val="115000"/>
              </a:lnSpc>
            </a:pPr>
            <a:r>
              <a:rPr sz="3200" b="1">
                <a:solidFill>
                  <a:srgbClr val="E87722"/>
                </a:solidFill>
                <a:latin typeface="Helvetica Neue"/>
                <a:ea typeface="Helvetica Neue"/>
                <a:cs typeface="Helvetica Neue"/>
              </a:rPr>
              <a:t>03</a:t>
            </a:r>
          </a:p>
        </p:txBody>
      </p:sp>
      <p:sp>
        <p:nvSpPr>
          <p:cNvPr id="21" name="TextBox 20"/>
          <p:cNvSpPr txBox="1"/>
          <p:nvPr/>
        </p:nvSpPr>
        <p:spPr>
          <a:xfrm>
            <a:off x="1737360" y="3465576"/>
            <a:ext cx="9601200" cy="365760"/>
          </a:xfrm>
          <a:prstGeom prst="rect">
            <a:avLst/>
          </a:prstGeom>
          <a:noFill/>
        </p:spPr>
        <p:txBody>
          <a:bodyPr wrap="square" anchor="t" lIns="0" rIns="0" tIns="0" bIns="0">
            <a:spAutoFit/>
          </a:bodyPr>
          <a:lstStyle/>
          <a:p>
            <a:pPr algn="l">
              <a:lnSpc>
                <a:spcPct val="115000"/>
              </a:lnSpc>
            </a:pPr>
            <a:r>
              <a:rPr sz="1500" b="1">
                <a:solidFill>
                  <a:srgbClr val="0F2A4F"/>
                </a:solidFill>
                <a:latin typeface="Hiragino Sans"/>
                <a:ea typeface="Hiragino Sans"/>
                <a:cs typeface="Hiragino Sans"/>
              </a:rPr>
              <a:t>TikTok Shop 日本上陸 (2025/06/30)</a:t>
            </a:r>
          </a:p>
        </p:txBody>
      </p:sp>
      <p:sp>
        <p:nvSpPr>
          <p:cNvPr id="22" name="TextBox 21"/>
          <p:cNvSpPr txBox="1"/>
          <p:nvPr/>
        </p:nvSpPr>
        <p:spPr>
          <a:xfrm>
            <a:off x="1737360" y="3803904"/>
            <a:ext cx="9692640" cy="457200"/>
          </a:xfrm>
          <a:prstGeom prst="rect">
            <a:avLst/>
          </a:prstGeom>
          <a:noFill/>
        </p:spPr>
        <p:txBody>
          <a:bodyPr wrap="square" anchor="t" lIns="0" rIns="0" tIns="0" bIns="0">
            <a:spAutoFit/>
          </a:bodyPr>
          <a:lstStyle/>
          <a:p>
            <a:pPr algn="l">
              <a:lnSpc>
                <a:spcPct val="150000"/>
              </a:lnSpc>
            </a:pPr>
            <a:r>
              <a:rPr sz="1000" b="0">
                <a:solidFill>
                  <a:srgbClr val="1A1A1A"/>
                </a:solidFill>
                <a:latin typeface="Hiragino Sans"/>
                <a:ea typeface="Hiragino Sans"/>
                <a:cs typeface="Hiragino Sans"/>
              </a:rPr>
              <a:t>EC購買が TikTok 内で完結。GMVの 70% が動画起点購入。</a:t>
            </a:r>
          </a:p>
          <a:p>
            <a:pPr algn="l">
              <a:lnSpc>
                <a:spcPct val="150000"/>
              </a:lnSpc>
            </a:pPr>
            <a:r>
              <a:rPr sz="1000" b="0">
                <a:solidFill>
                  <a:srgbClr val="1A1A1A"/>
                </a:solidFill>
                <a:latin typeface="Hiragino Sans"/>
                <a:ea typeface="Hiragino Sans"/>
                <a:cs typeface="Hiragino Sans"/>
              </a:rPr>
              <a:t>Shop Ads (2025/07~) で運用代行案件が新ジャンル化</a:t>
            </a:r>
          </a:p>
        </p:txBody>
      </p:sp>
      <p:sp>
        <p:nvSpPr>
          <p:cNvPr id="23" name="Rounded Rectangle 22"/>
          <p:cNvSpPr/>
          <p:nvPr/>
        </p:nvSpPr>
        <p:spPr>
          <a:xfrm>
            <a:off x="548640" y="4288536"/>
            <a:ext cx="11109960" cy="9601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4288536"/>
            <a:ext cx="109728" cy="9601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 y="4471416"/>
            <a:ext cx="731520" cy="640080"/>
          </a:xfrm>
          <a:prstGeom prst="rect">
            <a:avLst/>
          </a:prstGeom>
          <a:noFill/>
        </p:spPr>
        <p:txBody>
          <a:bodyPr wrap="square" anchor="t" lIns="0" rIns="0" tIns="0" bIns="0">
            <a:spAutoFit/>
          </a:bodyPr>
          <a:lstStyle/>
          <a:p>
            <a:pPr algn="l">
              <a:lnSpc>
                <a:spcPct val="115000"/>
              </a:lnSpc>
            </a:pPr>
            <a:r>
              <a:rPr sz="3200" b="1">
                <a:solidFill>
                  <a:srgbClr val="E87722"/>
                </a:solidFill>
                <a:latin typeface="Helvetica Neue"/>
                <a:ea typeface="Helvetica Neue"/>
                <a:cs typeface="Helvetica Neue"/>
              </a:rPr>
              <a:t>04</a:t>
            </a:r>
          </a:p>
        </p:txBody>
      </p:sp>
      <p:sp>
        <p:nvSpPr>
          <p:cNvPr id="26" name="TextBox 25"/>
          <p:cNvSpPr txBox="1"/>
          <p:nvPr/>
        </p:nvSpPr>
        <p:spPr>
          <a:xfrm>
            <a:off x="1737360" y="4453128"/>
            <a:ext cx="9601200" cy="365760"/>
          </a:xfrm>
          <a:prstGeom prst="rect">
            <a:avLst/>
          </a:prstGeom>
          <a:noFill/>
        </p:spPr>
        <p:txBody>
          <a:bodyPr wrap="square" anchor="t" lIns="0" rIns="0" tIns="0" bIns="0">
            <a:spAutoFit/>
          </a:bodyPr>
          <a:lstStyle/>
          <a:p>
            <a:pPr algn="l">
              <a:lnSpc>
                <a:spcPct val="115000"/>
              </a:lnSpc>
            </a:pPr>
            <a:r>
              <a:rPr sz="1500" b="1">
                <a:solidFill>
                  <a:srgbClr val="0F2A4F"/>
                </a:solidFill>
                <a:latin typeface="Hiragino Sans"/>
                <a:ea typeface="Hiragino Sans"/>
                <a:cs typeface="Hiragino Sans"/>
              </a:rPr>
              <a:t>Spark Ads が UGC 主流化</a:t>
            </a:r>
          </a:p>
        </p:txBody>
      </p:sp>
      <p:sp>
        <p:nvSpPr>
          <p:cNvPr id="27" name="TextBox 26"/>
          <p:cNvSpPr txBox="1"/>
          <p:nvPr/>
        </p:nvSpPr>
        <p:spPr>
          <a:xfrm>
            <a:off x="1737360" y="4791456"/>
            <a:ext cx="9692640" cy="457200"/>
          </a:xfrm>
          <a:prstGeom prst="rect">
            <a:avLst/>
          </a:prstGeom>
          <a:noFill/>
        </p:spPr>
        <p:txBody>
          <a:bodyPr wrap="square" anchor="t" lIns="0" rIns="0" tIns="0" bIns="0">
            <a:spAutoFit/>
          </a:bodyPr>
          <a:lstStyle/>
          <a:p>
            <a:pPr algn="l">
              <a:lnSpc>
                <a:spcPct val="150000"/>
              </a:lnSpc>
            </a:pPr>
            <a:r>
              <a:rPr sz="1000" b="0">
                <a:solidFill>
                  <a:srgbClr val="1A1A1A"/>
                </a:solidFill>
                <a:latin typeface="Hiragino Sans"/>
                <a:ea typeface="Hiragino Sans"/>
                <a:cs typeface="Hiragino Sans"/>
              </a:rPr>
              <a:t>オーガニック投稿を広告化、ステマ規制下でも適切な PR表記で運用可。</a:t>
            </a:r>
          </a:p>
          <a:p>
            <a:pPr algn="l">
              <a:lnSpc>
                <a:spcPct val="150000"/>
              </a:lnSpc>
            </a:pPr>
            <a:r>
              <a:rPr sz="1000" b="0">
                <a:solidFill>
                  <a:srgbClr val="1A1A1A"/>
                </a:solidFill>
                <a:latin typeface="Hiragino Sans"/>
                <a:ea typeface="Hiragino Sans"/>
                <a:cs typeface="Hiragino Sans"/>
              </a:rPr>
              <a:t>Creator collab + Spark Ads が D2C鉄板</a:t>
            </a:r>
          </a:p>
        </p:txBody>
      </p:sp>
      <p:sp>
        <p:nvSpPr>
          <p:cNvPr id="28" name="Rounded Rectangle 27"/>
          <p:cNvSpPr/>
          <p:nvPr/>
        </p:nvSpPr>
        <p:spPr>
          <a:xfrm>
            <a:off x="548640" y="5276088"/>
            <a:ext cx="11109960" cy="9601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5276088"/>
            <a:ext cx="109728" cy="9601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5458968"/>
            <a:ext cx="731520" cy="640080"/>
          </a:xfrm>
          <a:prstGeom prst="rect">
            <a:avLst/>
          </a:prstGeom>
          <a:noFill/>
        </p:spPr>
        <p:txBody>
          <a:bodyPr wrap="square" anchor="t" lIns="0" rIns="0" tIns="0" bIns="0">
            <a:spAutoFit/>
          </a:bodyPr>
          <a:lstStyle/>
          <a:p>
            <a:pPr algn="l">
              <a:lnSpc>
                <a:spcPct val="115000"/>
              </a:lnSpc>
            </a:pPr>
            <a:r>
              <a:rPr sz="3200" b="1">
                <a:solidFill>
                  <a:srgbClr val="E87722"/>
                </a:solidFill>
                <a:latin typeface="Helvetica Neue"/>
                <a:ea typeface="Helvetica Neue"/>
                <a:cs typeface="Helvetica Neue"/>
              </a:rPr>
              <a:t>05</a:t>
            </a:r>
          </a:p>
        </p:txBody>
      </p:sp>
      <p:sp>
        <p:nvSpPr>
          <p:cNvPr id="31" name="TextBox 30"/>
          <p:cNvSpPr txBox="1"/>
          <p:nvPr/>
        </p:nvSpPr>
        <p:spPr>
          <a:xfrm>
            <a:off x="1737360" y="5440680"/>
            <a:ext cx="9601200" cy="365760"/>
          </a:xfrm>
          <a:prstGeom prst="rect">
            <a:avLst/>
          </a:prstGeom>
          <a:noFill/>
        </p:spPr>
        <p:txBody>
          <a:bodyPr wrap="square" anchor="t" lIns="0" rIns="0" tIns="0" bIns="0">
            <a:spAutoFit/>
          </a:bodyPr>
          <a:lstStyle/>
          <a:p>
            <a:pPr algn="l">
              <a:lnSpc>
                <a:spcPct val="115000"/>
              </a:lnSpc>
            </a:pPr>
            <a:r>
              <a:rPr sz="1500" b="1">
                <a:solidFill>
                  <a:srgbClr val="0F2A4F"/>
                </a:solidFill>
                <a:latin typeface="Hiragino Sans"/>
                <a:ea typeface="Hiragino Sans"/>
                <a:cs typeface="Hiragino Sans"/>
              </a:rPr>
              <a:t>計測 : Events API + Pixel + 1PD 統合</a:t>
            </a:r>
          </a:p>
        </p:txBody>
      </p:sp>
      <p:sp>
        <p:nvSpPr>
          <p:cNvPr id="32" name="TextBox 31"/>
          <p:cNvSpPr txBox="1"/>
          <p:nvPr/>
        </p:nvSpPr>
        <p:spPr>
          <a:xfrm>
            <a:off x="1737360" y="5779008"/>
            <a:ext cx="9692640" cy="457200"/>
          </a:xfrm>
          <a:prstGeom prst="rect">
            <a:avLst/>
          </a:prstGeom>
          <a:noFill/>
        </p:spPr>
        <p:txBody>
          <a:bodyPr wrap="square" anchor="t" lIns="0" rIns="0" tIns="0" bIns="0">
            <a:spAutoFit/>
          </a:bodyPr>
          <a:lstStyle/>
          <a:p>
            <a:pPr algn="l">
              <a:lnSpc>
                <a:spcPct val="150000"/>
              </a:lnSpc>
            </a:pPr>
            <a:r>
              <a:rPr sz="1000" b="0">
                <a:solidFill>
                  <a:srgbClr val="1A1A1A"/>
                </a:solidFill>
                <a:latin typeface="Hiragino Sans"/>
                <a:ea typeface="Hiragino Sans"/>
                <a:cs typeface="Hiragino Sans"/>
              </a:rPr>
              <a:t>iOS/ATTシグナル減対応で Events API (CAPI相当) が必須。</a:t>
            </a:r>
          </a:p>
          <a:p>
            <a:pPr algn="l">
              <a:lnSpc>
                <a:spcPct val="150000"/>
              </a:lnSpc>
            </a:pPr>
            <a:r>
              <a:rPr sz="1000" b="0">
                <a:solidFill>
                  <a:srgbClr val="1A1A1A"/>
                </a:solidFill>
                <a:latin typeface="Hiragino Sans"/>
                <a:ea typeface="Hiragino Sans"/>
                <a:cs typeface="Hiragino Sans"/>
              </a:rPr>
              <a:t>Conversion Lift (Brand Lift も) が Brand案件で標準化</a:t>
            </a:r>
          </a:p>
        </p:txBody>
      </p:sp>
      <p:sp>
        <p:nvSpPr>
          <p:cNvPr id="33" name="TextBox 32"/>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 TikTok Smart+ Campaigns (2024/10)</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完全自動化キャンペーン 4タイプ</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P103 / 250</a:t>
            </a:r>
          </a:p>
        </p:txBody>
      </p:sp>
      <p:sp>
        <p:nvSpPr>
          <p:cNvPr id="8" name="Rounded Rectangle 7"/>
          <p:cNvSpPr/>
          <p:nvPr/>
        </p:nvSpPr>
        <p:spPr>
          <a:xfrm>
            <a:off x="548640" y="1417320"/>
            <a:ext cx="2697480" cy="219456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2697480" cy="64008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554480"/>
            <a:ext cx="2331720" cy="365760"/>
          </a:xfrm>
          <a:prstGeom prst="rect">
            <a:avLst/>
          </a:prstGeom>
          <a:noFill/>
        </p:spPr>
        <p:txBody>
          <a:bodyPr wrap="square" anchor="t" lIns="0" rIns="0" tIns="0" bIns="0">
            <a:spAutoFit/>
          </a:bodyPr>
          <a:lstStyle/>
          <a:p>
            <a:pPr algn="ctr">
              <a:lnSpc>
                <a:spcPct val="115000"/>
              </a:lnSpc>
            </a:pPr>
            <a:r>
              <a:rPr sz="1500" b="1">
                <a:solidFill>
                  <a:srgbClr val="FFFFFF"/>
                </a:solidFill>
                <a:latin typeface="Helvetica Neue"/>
                <a:ea typeface="Helvetica Neue"/>
                <a:cs typeface="Helvetica Neue"/>
              </a:rPr>
              <a:t>Smart+ Web</a:t>
            </a:r>
          </a:p>
        </p:txBody>
      </p:sp>
      <p:sp>
        <p:nvSpPr>
          <p:cNvPr id="11" name="TextBox 10"/>
          <p:cNvSpPr txBox="1"/>
          <p:nvPr/>
        </p:nvSpPr>
        <p:spPr>
          <a:xfrm>
            <a:off x="731520" y="1920240"/>
            <a:ext cx="233172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Webサイト誘導・CV</a:t>
            </a:r>
          </a:p>
        </p:txBody>
      </p:sp>
      <p:sp>
        <p:nvSpPr>
          <p:cNvPr id="12" name="TextBox 11"/>
          <p:cNvSpPr txBox="1"/>
          <p:nvPr/>
        </p:nvSpPr>
        <p:spPr>
          <a:xfrm>
            <a:off x="731520" y="2331720"/>
            <a:ext cx="2331720" cy="1188720"/>
          </a:xfrm>
          <a:prstGeom prst="rect">
            <a:avLst/>
          </a:prstGeom>
          <a:noFill/>
        </p:spPr>
        <p:txBody>
          <a:bodyPr wrap="square" anchor="t" lIns="0" rIns="0" tIns="0" bIns="0">
            <a:spAutoFit/>
          </a:bodyPr>
          <a:lstStyle/>
          <a:p>
            <a:pPr algn="ctr">
              <a:lnSpc>
                <a:spcPct val="155000"/>
              </a:lnSpc>
            </a:pPr>
            <a:r>
              <a:rPr sz="1100" b="0">
                <a:solidFill>
                  <a:srgbClr val="1A1A1A"/>
                </a:solidFill>
                <a:latin typeface="Hiragino Sans"/>
                <a:ea typeface="Hiragino Sans"/>
                <a:cs typeface="Hiragino Sans"/>
              </a:rPr>
              <a:t>サイトCVを最適化</a:t>
            </a:r>
          </a:p>
          <a:p>
            <a:pPr algn="ctr">
              <a:lnSpc>
                <a:spcPct val="155000"/>
              </a:lnSpc>
            </a:pPr>
            <a:r>
              <a:rPr sz="1100" b="0">
                <a:solidFill>
                  <a:srgbClr val="1A1A1A"/>
                </a:solidFill>
                <a:latin typeface="Hiragino Sans"/>
                <a:ea typeface="Hiragino Sans"/>
                <a:cs typeface="Hiragino Sans"/>
              </a:rPr>
              <a:t>LP / フォーム / 購入</a:t>
            </a:r>
          </a:p>
        </p:txBody>
      </p:sp>
      <p:sp>
        <p:nvSpPr>
          <p:cNvPr id="13" name="Rounded Rectangle 12"/>
          <p:cNvSpPr/>
          <p:nvPr/>
        </p:nvSpPr>
        <p:spPr>
          <a:xfrm>
            <a:off x="3337560" y="1417320"/>
            <a:ext cx="2697480" cy="219456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37560" y="1417320"/>
            <a:ext cx="2697480" cy="64008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20440" y="1554480"/>
            <a:ext cx="2331720" cy="365760"/>
          </a:xfrm>
          <a:prstGeom prst="rect">
            <a:avLst/>
          </a:prstGeom>
          <a:noFill/>
        </p:spPr>
        <p:txBody>
          <a:bodyPr wrap="square" anchor="t" lIns="0" rIns="0" tIns="0" bIns="0">
            <a:spAutoFit/>
          </a:bodyPr>
          <a:lstStyle/>
          <a:p>
            <a:pPr algn="ctr">
              <a:lnSpc>
                <a:spcPct val="115000"/>
              </a:lnSpc>
            </a:pPr>
            <a:r>
              <a:rPr sz="1500" b="1">
                <a:solidFill>
                  <a:srgbClr val="FFFFFF"/>
                </a:solidFill>
                <a:latin typeface="Helvetica Neue"/>
                <a:ea typeface="Helvetica Neue"/>
                <a:cs typeface="Helvetica Neue"/>
              </a:rPr>
              <a:t>Smart+ Catalog</a:t>
            </a:r>
          </a:p>
        </p:txBody>
      </p:sp>
      <p:sp>
        <p:nvSpPr>
          <p:cNvPr id="16" name="TextBox 15"/>
          <p:cNvSpPr txBox="1"/>
          <p:nvPr/>
        </p:nvSpPr>
        <p:spPr>
          <a:xfrm>
            <a:off x="3520440" y="1920240"/>
            <a:ext cx="233172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EC商品データ連携</a:t>
            </a:r>
          </a:p>
        </p:txBody>
      </p:sp>
      <p:sp>
        <p:nvSpPr>
          <p:cNvPr id="17" name="TextBox 16"/>
          <p:cNvSpPr txBox="1"/>
          <p:nvPr/>
        </p:nvSpPr>
        <p:spPr>
          <a:xfrm>
            <a:off x="3520440" y="2331720"/>
            <a:ext cx="2331720" cy="1188720"/>
          </a:xfrm>
          <a:prstGeom prst="rect">
            <a:avLst/>
          </a:prstGeom>
          <a:noFill/>
        </p:spPr>
        <p:txBody>
          <a:bodyPr wrap="square" anchor="t" lIns="0" rIns="0" tIns="0" bIns="0">
            <a:spAutoFit/>
          </a:bodyPr>
          <a:lstStyle/>
          <a:p>
            <a:pPr algn="ctr">
              <a:lnSpc>
                <a:spcPct val="155000"/>
              </a:lnSpc>
            </a:pPr>
            <a:r>
              <a:rPr sz="1100" b="0">
                <a:solidFill>
                  <a:srgbClr val="1A1A1A"/>
                </a:solidFill>
                <a:latin typeface="Hiragino Sans"/>
                <a:ea typeface="Hiragino Sans"/>
                <a:cs typeface="Hiragino Sans"/>
              </a:rPr>
              <a:t>Product Feed → 動的広告</a:t>
            </a:r>
          </a:p>
          <a:p>
            <a:pPr algn="ctr">
              <a:lnSpc>
                <a:spcPct val="155000"/>
              </a:lnSpc>
            </a:pPr>
            <a:r>
              <a:rPr sz="1100" b="0">
                <a:solidFill>
                  <a:srgbClr val="1A1A1A"/>
                </a:solidFill>
                <a:latin typeface="Hiragino Sans"/>
                <a:ea typeface="Hiragino Sans"/>
                <a:cs typeface="Hiragino Sans"/>
              </a:rPr>
              <a:t>商品ページに直接遷移</a:t>
            </a:r>
          </a:p>
        </p:txBody>
      </p:sp>
      <p:sp>
        <p:nvSpPr>
          <p:cNvPr id="18" name="Rounded Rectangle 17"/>
          <p:cNvSpPr/>
          <p:nvPr/>
        </p:nvSpPr>
        <p:spPr>
          <a:xfrm>
            <a:off x="6126480" y="1417320"/>
            <a:ext cx="2697480" cy="219456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0" y="1417320"/>
            <a:ext cx="2697480" cy="64008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1554480"/>
            <a:ext cx="2331720" cy="365760"/>
          </a:xfrm>
          <a:prstGeom prst="rect">
            <a:avLst/>
          </a:prstGeom>
          <a:noFill/>
        </p:spPr>
        <p:txBody>
          <a:bodyPr wrap="square" anchor="t" lIns="0" rIns="0" tIns="0" bIns="0">
            <a:spAutoFit/>
          </a:bodyPr>
          <a:lstStyle/>
          <a:p>
            <a:pPr algn="ctr">
              <a:lnSpc>
                <a:spcPct val="115000"/>
              </a:lnSpc>
            </a:pPr>
            <a:r>
              <a:rPr sz="1500" b="1">
                <a:solidFill>
                  <a:srgbClr val="FFFFFF"/>
                </a:solidFill>
                <a:latin typeface="Helvetica Neue"/>
                <a:ea typeface="Helvetica Neue"/>
                <a:cs typeface="Helvetica Neue"/>
              </a:rPr>
              <a:t>Smart+ App</a:t>
            </a:r>
          </a:p>
        </p:txBody>
      </p:sp>
      <p:sp>
        <p:nvSpPr>
          <p:cNvPr id="21" name="TextBox 20"/>
          <p:cNvSpPr txBox="1"/>
          <p:nvPr/>
        </p:nvSpPr>
        <p:spPr>
          <a:xfrm>
            <a:off x="6309360" y="1920240"/>
            <a:ext cx="233172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アプリインストール</a:t>
            </a:r>
          </a:p>
        </p:txBody>
      </p:sp>
      <p:sp>
        <p:nvSpPr>
          <p:cNvPr id="22" name="TextBox 21"/>
          <p:cNvSpPr txBox="1"/>
          <p:nvPr/>
        </p:nvSpPr>
        <p:spPr>
          <a:xfrm>
            <a:off x="6309360" y="2331720"/>
            <a:ext cx="2331720" cy="1188720"/>
          </a:xfrm>
          <a:prstGeom prst="rect">
            <a:avLst/>
          </a:prstGeom>
          <a:noFill/>
        </p:spPr>
        <p:txBody>
          <a:bodyPr wrap="square" anchor="t" lIns="0" rIns="0" tIns="0" bIns="0">
            <a:spAutoFit/>
          </a:bodyPr>
          <a:lstStyle/>
          <a:p>
            <a:pPr algn="ctr">
              <a:lnSpc>
                <a:spcPct val="155000"/>
              </a:lnSpc>
            </a:pPr>
            <a:r>
              <a:rPr sz="1100" b="0">
                <a:solidFill>
                  <a:srgbClr val="1A1A1A"/>
                </a:solidFill>
                <a:latin typeface="Hiragino Sans"/>
                <a:ea typeface="Hiragino Sans"/>
                <a:cs typeface="Hiragino Sans"/>
              </a:rPr>
              <a:t>iOS SKAN対応</a:t>
            </a:r>
          </a:p>
          <a:p>
            <a:pPr algn="ctr">
              <a:lnSpc>
                <a:spcPct val="155000"/>
              </a:lnSpc>
            </a:pPr>
            <a:r>
              <a:rPr sz="1100" b="0">
                <a:solidFill>
                  <a:srgbClr val="1A1A1A"/>
                </a:solidFill>
                <a:latin typeface="Hiragino Sans"/>
                <a:ea typeface="Hiragino Sans"/>
                <a:cs typeface="Hiragino Sans"/>
              </a:rPr>
              <a:t>初回起動 + 24h CV</a:t>
            </a:r>
          </a:p>
        </p:txBody>
      </p:sp>
      <p:sp>
        <p:nvSpPr>
          <p:cNvPr id="23" name="Rounded Rectangle 22"/>
          <p:cNvSpPr/>
          <p:nvPr/>
        </p:nvSpPr>
        <p:spPr>
          <a:xfrm>
            <a:off x="8915400" y="1417320"/>
            <a:ext cx="2697480" cy="219456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15400" y="1417320"/>
            <a:ext cx="2697480" cy="64008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98280" y="1554480"/>
            <a:ext cx="2331720" cy="365760"/>
          </a:xfrm>
          <a:prstGeom prst="rect">
            <a:avLst/>
          </a:prstGeom>
          <a:noFill/>
        </p:spPr>
        <p:txBody>
          <a:bodyPr wrap="square" anchor="t" lIns="0" rIns="0" tIns="0" bIns="0">
            <a:spAutoFit/>
          </a:bodyPr>
          <a:lstStyle/>
          <a:p>
            <a:pPr algn="ctr">
              <a:lnSpc>
                <a:spcPct val="115000"/>
              </a:lnSpc>
            </a:pPr>
            <a:r>
              <a:rPr sz="1500" b="1">
                <a:solidFill>
                  <a:srgbClr val="FFFFFF"/>
                </a:solidFill>
                <a:latin typeface="Helvetica Neue"/>
                <a:ea typeface="Helvetica Neue"/>
                <a:cs typeface="Helvetica Neue"/>
              </a:rPr>
              <a:t>Smart+ Lead</a:t>
            </a:r>
          </a:p>
        </p:txBody>
      </p:sp>
      <p:sp>
        <p:nvSpPr>
          <p:cNvPr id="26" name="TextBox 25"/>
          <p:cNvSpPr txBox="1"/>
          <p:nvPr/>
        </p:nvSpPr>
        <p:spPr>
          <a:xfrm>
            <a:off x="9098280" y="1920240"/>
            <a:ext cx="233172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リード獲得</a:t>
            </a:r>
          </a:p>
        </p:txBody>
      </p:sp>
      <p:sp>
        <p:nvSpPr>
          <p:cNvPr id="27" name="TextBox 26"/>
          <p:cNvSpPr txBox="1"/>
          <p:nvPr/>
        </p:nvSpPr>
        <p:spPr>
          <a:xfrm>
            <a:off x="9098280" y="2331720"/>
            <a:ext cx="2331720" cy="1188720"/>
          </a:xfrm>
          <a:prstGeom prst="rect">
            <a:avLst/>
          </a:prstGeom>
          <a:noFill/>
        </p:spPr>
        <p:txBody>
          <a:bodyPr wrap="square" anchor="t" lIns="0" rIns="0" tIns="0" bIns="0">
            <a:spAutoFit/>
          </a:bodyPr>
          <a:lstStyle/>
          <a:p>
            <a:pPr algn="ctr">
              <a:lnSpc>
                <a:spcPct val="155000"/>
              </a:lnSpc>
            </a:pPr>
            <a:r>
              <a:rPr sz="1100" b="0">
                <a:solidFill>
                  <a:srgbClr val="1A1A1A"/>
                </a:solidFill>
                <a:latin typeface="Hiragino Sans"/>
                <a:ea typeface="Hiragino Sans"/>
                <a:cs typeface="Hiragino Sans"/>
              </a:rPr>
              <a:t>TikTok内フォーム</a:t>
            </a:r>
          </a:p>
          <a:p>
            <a:pPr algn="ctr">
              <a:lnSpc>
                <a:spcPct val="155000"/>
              </a:lnSpc>
            </a:pPr>
            <a:r>
              <a:rPr sz="1100" b="0">
                <a:solidFill>
                  <a:srgbClr val="1A1A1A"/>
                </a:solidFill>
                <a:latin typeface="Hiragino Sans"/>
                <a:ea typeface="Hiragino Sans"/>
                <a:cs typeface="Hiragino Sans"/>
              </a:rPr>
              <a:t>B2B / 不動産 / 教育</a:t>
            </a:r>
          </a:p>
        </p:txBody>
      </p:sp>
      <p:sp>
        <p:nvSpPr>
          <p:cNvPr id="28" name="Rounded Rectangle 27"/>
          <p:cNvSpPr/>
          <p:nvPr/>
        </p:nvSpPr>
        <p:spPr>
          <a:xfrm>
            <a:off x="548640" y="3840480"/>
            <a:ext cx="11109960" cy="128016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3977639"/>
            <a:ext cx="10058400" cy="320040"/>
          </a:xfrm>
          <a:prstGeom prst="rect">
            <a:avLst/>
          </a:prstGeom>
          <a:noFill/>
        </p:spPr>
        <p:txBody>
          <a:bodyPr wrap="square" anchor="t" lIns="0" rIns="0" tIns="0" bIns="0">
            <a:spAutoFit/>
          </a:bodyPr>
          <a:lstStyle/>
          <a:p>
            <a:pPr algn="l">
              <a:lnSpc>
                <a:spcPct val="115000"/>
              </a:lnSpc>
            </a:pPr>
            <a:r>
              <a:rPr sz="1300" b="1">
                <a:solidFill>
                  <a:srgbClr val="E87722"/>
                </a:solidFill>
                <a:latin typeface="Hiragino Sans"/>
                <a:ea typeface="Hiragino Sans"/>
                <a:cs typeface="Hiragino Sans"/>
              </a:rPr>
              <a:t>📊 Smart+ 効果 (TikTok 公式事例)</a:t>
            </a:r>
          </a:p>
        </p:txBody>
      </p:sp>
      <p:sp>
        <p:nvSpPr>
          <p:cNvPr id="30" name="TextBox 29"/>
          <p:cNvSpPr txBox="1"/>
          <p:nvPr/>
        </p:nvSpPr>
        <p:spPr>
          <a:xfrm>
            <a:off x="777240" y="4297680"/>
            <a:ext cx="10972800" cy="777240"/>
          </a:xfrm>
          <a:prstGeom prst="rect">
            <a:avLst/>
          </a:prstGeom>
          <a:noFill/>
        </p:spPr>
        <p:txBody>
          <a:bodyPr wrap="square" anchor="t" lIns="0" rIns="0" tIns="0" bIns="0">
            <a:spAutoFit/>
          </a:bodyPr>
          <a:lstStyle/>
          <a:p>
            <a:pPr algn="l">
              <a:lnSpc>
                <a:spcPct val="155000"/>
              </a:lnSpc>
            </a:pPr>
            <a:r>
              <a:rPr sz="1400" b="1">
                <a:solidFill>
                  <a:srgbClr val="FFFFFF"/>
                </a:solidFill>
                <a:latin typeface="Helvetica Neue"/>
                <a:ea typeface="Helvetica Neue"/>
                <a:cs typeface="Helvetica Neue"/>
              </a:rPr>
              <a:t>Ray-Ban (Smart+ ローンチ時 ベータ参加) :</a:t>
            </a:r>
          </a:p>
          <a:p>
            <a:pPr algn="l">
              <a:lnSpc>
                <a:spcPct val="155000"/>
              </a:lnSpc>
            </a:pPr>
            <a:r>
              <a:rPr sz="1400" b="1">
                <a:solidFill>
                  <a:srgbClr val="FFFFFF"/>
                </a:solidFill>
                <a:latin typeface="Helvetica Neue"/>
                <a:ea typeface="Helvetica Neue"/>
                <a:cs typeface="Helvetica Neue"/>
              </a:rPr>
              <a:t>    +50% コンバージョン率 / +42% ROAS</a:t>
            </a:r>
          </a:p>
        </p:txBody>
      </p:sp>
      <p:sp>
        <p:nvSpPr>
          <p:cNvPr id="31" name="TextBox 30"/>
          <p:cNvSpPr txBox="1"/>
          <p:nvPr/>
        </p:nvSpPr>
        <p:spPr>
          <a:xfrm>
            <a:off x="548640" y="5349240"/>
            <a:ext cx="10972800" cy="36576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Smart+ の3つの自動化レイヤー</a:t>
            </a:r>
          </a:p>
        </p:txBody>
      </p:sp>
      <p:sp>
        <p:nvSpPr>
          <p:cNvPr id="32" name="Rectangle 31"/>
          <p:cNvSpPr/>
          <p:nvPr/>
        </p:nvSpPr>
        <p:spPr>
          <a:xfrm>
            <a:off x="548640" y="5715000"/>
            <a:ext cx="1110996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 y="5852160"/>
            <a:ext cx="27432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a:t>
            </a:r>
          </a:p>
        </p:txBody>
      </p:sp>
      <p:sp>
        <p:nvSpPr>
          <p:cNvPr id="34" name="TextBox 33"/>
          <p:cNvSpPr txBox="1"/>
          <p:nvPr/>
        </p:nvSpPr>
        <p:spPr>
          <a:xfrm>
            <a:off x="914400" y="5870448"/>
            <a:ext cx="228600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Targeting :</a:t>
            </a:r>
          </a:p>
        </p:txBody>
      </p:sp>
      <p:sp>
        <p:nvSpPr>
          <p:cNvPr id="35" name="TextBox 34"/>
          <p:cNvSpPr txBox="1"/>
          <p:nvPr/>
        </p:nvSpPr>
        <p:spPr>
          <a:xfrm>
            <a:off x="3200400" y="5870448"/>
            <a:ext cx="7772400" cy="274320"/>
          </a:xfrm>
          <a:prstGeom prst="rect">
            <a:avLst/>
          </a:prstGeom>
          <a:noFill/>
        </p:spPr>
        <p:txBody>
          <a:bodyPr wrap="square" anchor="t" lIns="0" rIns="0" tIns="0" bIns="0">
            <a:spAutoFit/>
          </a:bodyPr>
          <a:lstStyle/>
          <a:p>
            <a:pPr algn="l">
              <a:lnSpc>
                <a:spcPct val="115000"/>
              </a:lnSpc>
            </a:pPr>
            <a:r>
              <a:rPr sz="1100" b="0">
                <a:solidFill>
                  <a:srgbClr val="1A1A1A"/>
                </a:solidFill>
                <a:latin typeface="Hiragino Sans"/>
                <a:ea typeface="Hiragino Sans"/>
                <a:cs typeface="Hiragino Sans"/>
              </a:rPr>
              <a:t>オーディエンスを AI が自動拡張</a:t>
            </a:r>
          </a:p>
        </p:txBody>
      </p:sp>
      <p:sp>
        <p:nvSpPr>
          <p:cNvPr id="36" name="TextBox 35"/>
          <p:cNvSpPr txBox="1"/>
          <p:nvPr/>
        </p:nvSpPr>
        <p:spPr>
          <a:xfrm>
            <a:off x="640080" y="6016752"/>
            <a:ext cx="27432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a:t>
            </a:r>
          </a:p>
        </p:txBody>
      </p:sp>
      <p:sp>
        <p:nvSpPr>
          <p:cNvPr id="37" name="TextBox 36"/>
          <p:cNvSpPr txBox="1"/>
          <p:nvPr/>
        </p:nvSpPr>
        <p:spPr>
          <a:xfrm>
            <a:off x="914400" y="6035040"/>
            <a:ext cx="228600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Creative :</a:t>
            </a:r>
          </a:p>
        </p:txBody>
      </p:sp>
      <p:sp>
        <p:nvSpPr>
          <p:cNvPr id="38" name="TextBox 37"/>
          <p:cNvSpPr txBox="1"/>
          <p:nvPr/>
        </p:nvSpPr>
        <p:spPr>
          <a:xfrm>
            <a:off x="3200400" y="6035040"/>
            <a:ext cx="7772400" cy="274320"/>
          </a:xfrm>
          <a:prstGeom prst="rect">
            <a:avLst/>
          </a:prstGeom>
          <a:noFill/>
        </p:spPr>
        <p:txBody>
          <a:bodyPr wrap="square" anchor="t" lIns="0" rIns="0" tIns="0" bIns="0">
            <a:spAutoFit/>
          </a:bodyPr>
          <a:lstStyle/>
          <a:p>
            <a:pPr algn="l">
              <a:lnSpc>
                <a:spcPct val="115000"/>
              </a:lnSpc>
            </a:pPr>
            <a:r>
              <a:rPr sz="1100" b="0">
                <a:solidFill>
                  <a:srgbClr val="1A1A1A"/>
                </a:solidFill>
                <a:latin typeface="Hiragino Sans"/>
                <a:ea typeface="Hiragino Sans"/>
                <a:cs typeface="Hiragino Sans"/>
              </a:rPr>
              <a:t>Asset 組合せを AI 最適化</a:t>
            </a:r>
          </a:p>
        </p:txBody>
      </p:sp>
      <p:sp>
        <p:nvSpPr>
          <p:cNvPr id="39" name="TextBox 38"/>
          <p:cNvSpPr txBox="1"/>
          <p:nvPr/>
        </p:nvSpPr>
        <p:spPr>
          <a:xfrm>
            <a:off x="640080" y="6181344"/>
            <a:ext cx="27432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a:t>
            </a:r>
          </a:p>
        </p:txBody>
      </p:sp>
      <p:sp>
        <p:nvSpPr>
          <p:cNvPr id="40" name="TextBox 39"/>
          <p:cNvSpPr txBox="1"/>
          <p:nvPr/>
        </p:nvSpPr>
        <p:spPr>
          <a:xfrm>
            <a:off x="914400" y="6199632"/>
            <a:ext cx="228600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Bidding :</a:t>
            </a:r>
          </a:p>
        </p:txBody>
      </p:sp>
      <p:sp>
        <p:nvSpPr>
          <p:cNvPr id="41" name="TextBox 40"/>
          <p:cNvSpPr txBox="1"/>
          <p:nvPr/>
        </p:nvSpPr>
        <p:spPr>
          <a:xfrm>
            <a:off x="3200400" y="6199632"/>
            <a:ext cx="7772400" cy="274320"/>
          </a:xfrm>
          <a:prstGeom prst="rect">
            <a:avLst/>
          </a:prstGeom>
          <a:noFill/>
        </p:spPr>
        <p:txBody>
          <a:bodyPr wrap="square" anchor="t" lIns="0" rIns="0" tIns="0" bIns="0">
            <a:spAutoFit/>
          </a:bodyPr>
          <a:lstStyle/>
          <a:p>
            <a:pPr algn="l">
              <a:lnSpc>
                <a:spcPct val="115000"/>
              </a:lnSpc>
            </a:pPr>
            <a:r>
              <a:rPr sz="1100" b="0">
                <a:solidFill>
                  <a:srgbClr val="1A1A1A"/>
                </a:solidFill>
                <a:latin typeface="Hiragino Sans"/>
                <a:ea typeface="Hiragino Sans"/>
                <a:cs typeface="Hiragino Sans"/>
              </a:rPr>
              <a:t>Target CPA / ROAS 自動入札</a:t>
            </a:r>
          </a:p>
        </p:txBody>
      </p:sp>
      <p:sp>
        <p:nvSpPr>
          <p:cNvPr id="42" name="TextBox 41"/>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Symphony Creative Studio (GA)</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TikTok公式の生成AIクリエイティブ・スイート</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P104 / 250</a:t>
            </a:r>
          </a:p>
        </p:txBody>
      </p:sp>
      <p:sp>
        <p:nvSpPr>
          <p:cNvPr id="8" name="Rounded Rectangle 7"/>
          <p:cNvSpPr/>
          <p:nvPr/>
        </p:nvSpPr>
        <p:spPr>
          <a:xfrm>
            <a:off x="548640" y="1371600"/>
            <a:ext cx="11109960" cy="91440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08760"/>
            <a:ext cx="10972800" cy="731520"/>
          </a:xfrm>
          <a:prstGeom prst="rect">
            <a:avLst/>
          </a:prstGeom>
          <a:noFill/>
        </p:spPr>
        <p:txBody>
          <a:bodyPr wrap="square" anchor="t" lIns="0" rIns="0" tIns="0" bIns="0">
            <a:spAutoFit/>
          </a:bodyPr>
          <a:lstStyle/>
          <a:p>
            <a:pPr algn="l">
              <a:lnSpc>
                <a:spcPct val="150000"/>
              </a:lnSpc>
            </a:pPr>
            <a:r>
              <a:rPr sz="1200" b="0">
                <a:solidFill>
                  <a:srgbClr val="FFFFFF"/>
                </a:solidFill>
                <a:latin typeface="Hiragino Sans"/>
                <a:ea typeface="Hiragino Sans"/>
                <a:cs typeface="Hiragino Sans"/>
              </a:rPr>
              <a:t>Symphony Creative Studio : 全 TikTok for Business ユーザー向けに GA。</a:t>
            </a:r>
          </a:p>
          <a:p>
            <a:pPr algn="l">
              <a:lnSpc>
                <a:spcPct val="150000"/>
              </a:lnSpc>
            </a:pPr>
            <a:r>
              <a:rPr sz="1200" b="0">
                <a:solidFill>
                  <a:srgbClr val="FFFFFF"/>
                </a:solidFill>
                <a:latin typeface="Hiragino Sans"/>
                <a:ea typeface="Hiragino Sans"/>
                <a:cs typeface="Hiragino Sans"/>
              </a:rPr>
              <a:t>AI生成動画は『AI-generated』ラベルが自動付与 (透明性確保)</a:t>
            </a:r>
          </a:p>
        </p:txBody>
      </p:sp>
      <p:sp>
        <p:nvSpPr>
          <p:cNvPr id="10" name="Rounded Rectangle 9"/>
          <p:cNvSpPr/>
          <p:nvPr/>
        </p:nvSpPr>
        <p:spPr>
          <a:xfrm>
            <a:off x="548640" y="2423160"/>
            <a:ext cx="3611880" cy="14173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423160"/>
            <a:ext cx="36118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624328"/>
            <a:ext cx="324612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elvetica Neue"/>
                <a:ea typeface="Helvetica Neue"/>
                <a:cs typeface="Helvetica Neue"/>
              </a:rPr>
              <a:t>Image to Video</a:t>
            </a:r>
          </a:p>
        </p:txBody>
      </p:sp>
      <p:sp>
        <p:nvSpPr>
          <p:cNvPr id="13" name="TextBox 12"/>
          <p:cNvSpPr txBox="1"/>
          <p:nvPr/>
        </p:nvSpPr>
        <p:spPr>
          <a:xfrm>
            <a:off x="777240" y="2971800"/>
            <a:ext cx="3246120" cy="274320"/>
          </a:xfrm>
          <a:prstGeom prst="rect">
            <a:avLst/>
          </a:prstGeom>
          <a:noFill/>
        </p:spPr>
        <p:txBody>
          <a:bodyPr wrap="square" anchor="t" lIns="0" rIns="0" tIns="0" bIns="0">
            <a:spAutoFit/>
          </a:bodyPr>
          <a:lstStyle/>
          <a:p>
            <a:pPr algn="l">
              <a:lnSpc>
                <a:spcPct val="115000"/>
              </a:lnSpc>
            </a:pPr>
            <a:r>
              <a:rPr sz="1000" b="1">
                <a:solidFill>
                  <a:srgbClr val="B85E1A"/>
                </a:solidFill>
                <a:latin typeface="Hiragino Sans"/>
                <a:ea typeface="Hiragino Sans"/>
                <a:cs typeface="Hiragino Sans"/>
              </a:rPr>
              <a:t>静止画→5秒動画</a:t>
            </a:r>
          </a:p>
        </p:txBody>
      </p:sp>
      <p:sp>
        <p:nvSpPr>
          <p:cNvPr id="14" name="TextBox 13"/>
          <p:cNvSpPr txBox="1"/>
          <p:nvPr/>
        </p:nvSpPr>
        <p:spPr>
          <a:xfrm>
            <a:off x="777240" y="3291840"/>
            <a:ext cx="3246120" cy="50292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商品写真・モードボード→</a:t>
            </a:r>
          </a:p>
          <a:p>
            <a:pPr algn="l">
              <a:lnSpc>
                <a:spcPct val="140000"/>
              </a:lnSpc>
            </a:pPr>
            <a:r>
              <a:rPr sz="1000" b="0">
                <a:solidFill>
                  <a:srgbClr val="1A1A1A"/>
                </a:solidFill>
                <a:latin typeface="Hiragino Sans"/>
                <a:ea typeface="Hiragino Sans"/>
                <a:cs typeface="Hiragino Sans"/>
              </a:rPr>
              <a:t>TikTok型 5秒クリップ</a:t>
            </a:r>
          </a:p>
        </p:txBody>
      </p:sp>
      <p:sp>
        <p:nvSpPr>
          <p:cNvPr id="15" name="Rounded Rectangle 14"/>
          <p:cNvSpPr/>
          <p:nvPr/>
        </p:nvSpPr>
        <p:spPr>
          <a:xfrm>
            <a:off x="4297680" y="2423160"/>
            <a:ext cx="3611880" cy="14173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97680" y="2423160"/>
            <a:ext cx="36118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26280" y="2624328"/>
            <a:ext cx="324612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elvetica Neue"/>
                <a:ea typeface="Helvetica Neue"/>
                <a:cs typeface="Helvetica Neue"/>
              </a:rPr>
              <a:t>Text to Video</a:t>
            </a:r>
          </a:p>
        </p:txBody>
      </p:sp>
      <p:sp>
        <p:nvSpPr>
          <p:cNvPr id="18" name="TextBox 17"/>
          <p:cNvSpPr txBox="1"/>
          <p:nvPr/>
        </p:nvSpPr>
        <p:spPr>
          <a:xfrm>
            <a:off x="4526280" y="2971800"/>
            <a:ext cx="3246120" cy="274320"/>
          </a:xfrm>
          <a:prstGeom prst="rect">
            <a:avLst/>
          </a:prstGeom>
          <a:noFill/>
        </p:spPr>
        <p:txBody>
          <a:bodyPr wrap="square" anchor="t" lIns="0" rIns="0" tIns="0" bIns="0">
            <a:spAutoFit/>
          </a:bodyPr>
          <a:lstStyle/>
          <a:p>
            <a:pPr algn="l">
              <a:lnSpc>
                <a:spcPct val="115000"/>
              </a:lnSpc>
            </a:pPr>
            <a:r>
              <a:rPr sz="1000" b="1">
                <a:solidFill>
                  <a:srgbClr val="B85E1A"/>
                </a:solidFill>
                <a:latin typeface="Hiragino Sans"/>
                <a:ea typeface="Hiragino Sans"/>
                <a:cs typeface="Hiragino Sans"/>
              </a:rPr>
              <a:t>テキスト→5秒動画</a:t>
            </a:r>
          </a:p>
        </p:txBody>
      </p:sp>
      <p:sp>
        <p:nvSpPr>
          <p:cNvPr id="19" name="TextBox 18"/>
          <p:cNvSpPr txBox="1"/>
          <p:nvPr/>
        </p:nvSpPr>
        <p:spPr>
          <a:xfrm>
            <a:off x="4526280" y="3291840"/>
            <a:ext cx="3246120" cy="50292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プロンプトから直接</a:t>
            </a:r>
          </a:p>
          <a:p>
            <a:pPr algn="l">
              <a:lnSpc>
                <a:spcPct val="140000"/>
              </a:lnSpc>
            </a:pPr>
            <a:r>
              <a:rPr sz="1000" b="0">
                <a:solidFill>
                  <a:srgbClr val="1A1A1A"/>
                </a:solidFill>
                <a:latin typeface="Hiragino Sans"/>
                <a:ea typeface="Hiragino Sans"/>
                <a:cs typeface="Hiragino Sans"/>
              </a:rPr>
              <a:t>動画生成</a:t>
            </a:r>
          </a:p>
        </p:txBody>
      </p:sp>
      <p:sp>
        <p:nvSpPr>
          <p:cNvPr id="20" name="Rounded Rectangle 19"/>
          <p:cNvSpPr/>
          <p:nvPr/>
        </p:nvSpPr>
        <p:spPr>
          <a:xfrm>
            <a:off x="8046720" y="2423160"/>
            <a:ext cx="3611880" cy="14173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46720" y="2423160"/>
            <a:ext cx="36118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75320" y="2624328"/>
            <a:ext cx="324612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elvetica Neue"/>
                <a:ea typeface="Helvetica Neue"/>
                <a:cs typeface="Helvetica Neue"/>
              </a:rPr>
              <a:t>Showcase Products</a:t>
            </a:r>
          </a:p>
        </p:txBody>
      </p:sp>
      <p:sp>
        <p:nvSpPr>
          <p:cNvPr id="23" name="TextBox 22"/>
          <p:cNvSpPr txBox="1"/>
          <p:nvPr/>
        </p:nvSpPr>
        <p:spPr>
          <a:xfrm>
            <a:off x="8275320" y="2971800"/>
            <a:ext cx="3246120" cy="274320"/>
          </a:xfrm>
          <a:prstGeom prst="rect">
            <a:avLst/>
          </a:prstGeom>
          <a:noFill/>
        </p:spPr>
        <p:txBody>
          <a:bodyPr wrap="square" anchor="t" lIns="0" rIns="0" tIns="0" bIns="0">
            <a:spAutoFit/>
          </a:bodyPr>
          <a:lstStyle/>
          <a:p>
            <a:pPr algn="l">
              <a:lnSpc>
                <a:spcPct val="115000"/>
              </a:lnSpc>
            </a:pPr>
            <a:r>
              <a:rPr sz="1000" b="1">
                <a:solidFill>
                  <a:srgbClr val="B85E1A"/>
                </a:solidFill>
                <a:latin typeface="Hiragino Sans"/>
                <a:ea typeface="Hiragino Sans"/>
                <a:cs typeface="Hiragino Sans"/>
              </a:rPr>
              <a:t>商品+Avatar 動画</a:t>
            </a:r>
          </a:p>
        </p:txBody>
      </p:sp>
      <p:sp>
        <p:nvSpPr>
          <p:cNvPr id="24" name="TextBox 23"/>
          <p:cNvSpPr txBox="1"/>
          <p:nvPr/>
        </p:nvSpPr>
        <p:spPr>
          <a:xfrm>
            <a:off x="8275320" y="3291840"/>
            <a:ext cx="3246120" cy="50292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商品画像 + Avatar 選択 →</a:t>
            </a:r>
          </a:p>
          <a:p>
            <a:pPr algn="l">
              <a:lnSpc>
                <a:spcPct val="140000"/>
              </a:lnSpc>
            </a:pPr>
            <a:r>
              <a:rPr sz="1000" b="0">
                <a:solidFill>
                  <a:srgbClr val="1A1A1A"/>
                </a:solidFill>
                <a:latin typeface="Hiragino Sans"/>
                <a:ea typeface="Hiragino Sans"/>
                <a:cs typeface="Hiragino Sans"/>
              </a:rPr>
              <a:t>紹介動画 自動生成</a:t>
            </a:r>
          </a:p>
        </p:txBody>
      </p:sp>
      <p:sp>
        <p:nvSpPr>
          <p:cNvPr id="25" name="Rounded Rectangle 24"/>
          <p:cNvSpPr/>
          <p:nvPr/>
        </p:nvSpPr>
        <p:spPr>
          <a:xfrm>
            <a:off x="548640" y="3977640"/>
            <a:ext cx="3611880" cy="14173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3977640"/>
            <a:ext cx="36118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4178808"/>
            <a:ext cx="324612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elvetica Neue"/>
                <a:ea typeface="Helvetica Neue"/>
                <a:cs typeface="Helvetica Neue"/>
              </a:rPr>
              <a:t>Digital Avatars</a:t>
            </a:r>
          </a:p>
        </p:txBody>
      </p:sp>
      <p:sp>
        <p:nvSpPr>
          <p:cNvPr id="28" name="TextBox 27"/>
          <p:cNvSpPr txBox="1"/>
          <p:nvPr/>
        </p:nvSpPr>
        <p:spPr>
          <a:xfrm>
            <a:off x="777240" y="4526280"/>
            <a:ext cx="3246120" cy="274320"/>
          </a:xfrm>
          <a:prstGeom prst="rect">
            <a:avLst/>
          </a:prstGeom>
          <a:noFill/>
        </p:spPr>
        <p:txBody>
          <a:bodyPr wrap="square" anchor="t" lIns="0" rIns="0" tIns="0" bIns="0">
            <a:spAutoFit/>
          </a:bodyPr>
          <a:lstStyle/>
          <a:p>
            <a:pPr algn="l">
              <a:lnSpc>
                <a:spcPct val="115000"/>
              </a:lnSpc>
            </a:pPr>
            <a:r>
              <a:rPr sz="1000" b="1">
                <a:solidFill>
                  <a:srgbClr val="B85E1A"/>
                </a:solidFill>
                <a:latin typeface="Hiragino Sans"/>
                <a:ea typeface="Hiragino Sans"/>
                <a:cs typeface="Hiragino Sans"/>
              </a:rPr>
              <a:t>30+言語 (Stock + Custom)</a:t>
            </a:r>
          </a:p>
        </p:txBody>
      </p:sp>
      <p:sp>
        <p:nvSpPr>
          <p:cNvPr id="29" name="TextBox 28"/>
          <p:cNvSpPr txBox="1"/>
          <p:nvPr/>
        </p:nvSpPr>
        <p:spPr>
          <a:xfrm>
            <a:off x="777240" y="4846320"/>
            <a:ext cx="3246120" cy="50292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ライセンス済 Stock Avatar +</a:t>
            </a:r>
          </a:p>
          <a:p>
            <a:pPr algn="l">
              <a:lnSpc>
                <a:spcPct val="140000"/>
              </a:lnSpc>
            </a:pPr>
            <a:r>
              <a:rPr sz="1000" b="0">
                <a:solidFill>
                  <a:srgbClr val="1A1A1A"/>
                </a:solidFill>
                <a:latin typeface="Hiragino Sans"/>
                <a:ea typeface="Hiragino Sans"/>
                <a:cs typeface="Hiragino Sans"/>
              </a:rPr>
              <a:t>自社特注 Custom Avatar</a:t>
            </a:r>
          </a:p>
        </p:txBody>
      </p:sp>
      <p:sp>
        <p:nvSpPr>
          <p:cNvPr id="30" name="Rounded Rectangle 29"/>
          <p:cNvSpPr/>
          <p:nvPr/>
        </p:nvSpPr>
        <p:spPr>
          <a:xfrm>
            <a:off x="4297680" y="3977640"/>
            <a:ext cx="3611880" cy="14173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297680" y="3977640"/>
            <a:ext cx="36118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26280" y="4178808"/>
            <a:ext cx="324612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elvetica Neue"/>
                <a:ea typeface="Helvetica Neue"/>
                <a:cs typeface="Helvetica Neue"/>
              </a:rPr>
              <a:t>Daily Generations</a:t>
            </a:r>
          </a:p>
        </p:txBody>
      </p:sp>
      <p:sp>
        <p:nvSpPr>
          <p:cNvPr id="33" name="TextBox 32"/>
          <p:cNvSpPr txBox="1"/>
          <p:nvPr/>
        </p:nvSpPr>
        <p:spPr>
          <a:xfrm>
            <a:off x="4526280" y="4526280"/>
            <a:ext cx="3246120" cy="274320"/>
          </a:xfrm>
          <a:prstGeom prst="rect">
            <a:avLst/>
          </a:prstGeom>
          <a:noFill/>
        </p:spPr>
        <p:txBody>
          <a:bodyPr wrap="square" anchor="t" lIns="0" rIns="0" tIns="0" bIns="0">
            <a:spAutoFit/>
          </a:bodyPr>
          <a:lstStyle/>
          <a:p>
            <a:pPr algn="l">
              <a:lnSpc>
                <a:spcPct val="115000"/>
              </a:lnSpc>
            </a:pPr>
            <a:r>
              <a:rPr sz="1000" b="1">
                <a:solidFill>
                  <a:srgbClr val="B85E1A"/>
                </a:solidFill>
                <a:latin typeface="Hiragino Sans"/>
                <a:ea typeface="Hiragino Sans"/>
                <a:cs typeface="Hiragino Sans"/>
              </a:rPr>
              <a:t>毎日新動画提案</a:t>
            </a:r>
          </a:p>
        </p:txBody>
      </p:sp>
      <p:sp>
        <p:nvSpPr>
          <p:cNvPr id="34" name="TextBox 33"/>
          <p:cNvSpPr txBox="1"/>
          <p:nvPr/>
        </p:nvSpPr>
        <p:spPr>
          <a:xfrm>
            <a:off x="4526280" y="4846320"/>
            <a:ext cx="3246120" cy="50292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ブランド + 商品 + 過去履歴から</a:t>
            </a:r>
          </a:p>
          <a:p>
            <a:pPr algn="l">
              <a:lnSpc>
                <a:spcPct val="140000"/>
              </a:lnSpc>
            </a:pPr>
            <a:r>
              <a:rPr sz="1000" b="0">
                <a:solidFill>
                  <a:srgbClr val="1A1A1A"/>
                </a:solidFill>
                <a:latin typeface="Hiragino Sans"/>
                <a:ea typeface="Hiragino Sans"/>
                <a:cs typeface="Hiragino Sans"/>
              </a:rPr>
              <a:t>自動生成提案</a:t>
            </a:r>
          </a:p>
        </p:txBody>
      </p:sp>
      <p:sp>
        <p:nvSpPr>
          <p:cNvPr id="35" name="Rounded Rectangle 34"/>
          <p:cNvSpPr/>
          <p:nvPr/>
        </p:nvSpPr>
        <p:spPr>
          <a:xfrm>
            <a:off x="8046720" y="3977640"/>
            <a:ext cx="3611880" cy="14173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46720" y="3977640"/>
            <a:ext cx="36118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275320" y="4178808"/>
            <a:ext cx="324612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elvetica Neue"/>
                <a:ea typeface="Helvetica Neue"/>
                <a:cs typeface="Helvetica Neue"/>
              </a:rPr>
              <a:t>AI Dubbing</a:t>
            </a:r>
          </a:p>
        </p:txBody>
      </p:sp>
      <p:sp>
        <p:nvSpPr>
          <p:cNvPr id="38" name="TextBox 37"/>
          <p:cNvSpPr txBox="1"/>
          <p:nvPr/>
        </p:nvSpPr>
        <p:spPr>
          <a:xfrm>
            <a:off x="8275320" y="4526280"/>
            <a:ext cx="3246120" cy="274320"/>
          </a:xfrm>
          <a:prstGeom prst="rect">
            <a:avLst/>
          </a:prstGeom>
          <a:noFill/>
        </p:spPr>
        <p:txBody>
          <a:bodyPr wrap="square" anchor="t" lIns="0" rIns="0" tIns="0" bIns="0">
            <a:spAutoFit/>
          </a:bodyPr>
          <a:lstStyle/>
          <a:p>
            <a:pPr algn="l">
              <a:lnSpc>
                <a:spcPct val="115000"/>
              </a:lnSpc>
            </a:pPr>
            <a:r>
              <a:rPr sz="1000" b="1">
                <a:solidFill>
                  <a:srgbClr val="B85E1A"/>
                </a:solidFill>
                <a:latin typeface="Hiragino Sans"/>
                <a:ea typeface="Hiragino Sans"/>
                <a:cs typeface="Hiragino Sans"/>
              </a:rPr>
              <a:t>多言語 + Lip-sync</a:t>
            </a:r>
          </a:p>
        </p:txBody>
      </p:sp>
      <p:sp>
        <p:nvSpPr>
          <p:cNvPr id="39" name="TextBox 38"/>
          <p:cNvSpPr txBox="1"/>
          <p:nvPr/>
        </p:nvSpPr>
        <p:spPr>
          <a:xfrm>
            <a:off x="8275320" y="4846320"/>
            <a:ext cx="3246120" cy="50292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音声クローン + リップシンク</a:t>
            </a:r>
          </a:p>
          <a:p>
            <a:pPr algn="l">
              <a:lnSpc>
                <a:spcPct val="140000"/>
              </a:lnSpc>
            </a:pPr>
            <a:r>
              <a:rPr sz="1000" b="0">
                <a:solidFill>
                  <a:srgbClr val="1A1A1A"/>
                </a:solidFill>
                <a:latin typeface="Hiragino Sans"/>
                <a:ea typeface="Hiragino Sans"/>
                <a:cs typeface="Hiragino Sans"/>
              </a:rPr>
              <a:t>グローバル展開で活用</a:t>
            </a:r>
          </a:p>
        </p:txBody>
      </p:sp>
      <p:sp>
        <p:nvSpPr>
          <p:cNvPr id="40" name="Rounded Rectangle 39"/>
          <p:cNvSpPr/>
          <p:nvPr/>
        </p:nvSpPr>
        <p:spPr>
          <a:xfrm>
            <a:off x="548640" y="5532120"/>
            <a:ext cx="11109960" cy="82296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77240" y="5669280"/>
            <a:ext cx="10972800" cy="548640"/>
          </a:xfrm>
          <a:prstGeom prst="rect">
            <a:avLst/>
          </a:prstGeom>
          <a:noFill/>
        </p:spPr>
        <p:txBody>
          <a:bodyPr wrap="square" anchor="t" lIns="0" rIns="0" tIns="0" bIns="0">
            <a:spAutoFit/>
          </a:bodyPr>
          <a:lstStyle/>
          <a:p>
            <a:pPr algn="l">
              <a:lnSpc>
                <a:spcPct val="145000"/>
              </a:lnSpc>
            </a:pPr>
            <a:r>
              <a:rPr sz="1100" b="1">
                <a:solidFill>
                  <a:srgbClr val="B85E1A"/>
                </a:solidFill>
                <a:latin typeface="Hiragino Sans"/>
                <a:ea typeface="Hiragino Sans"/>
                <a:cs typeface="Hiragino Sans"/>
              </a:rPr>
              <a:t>💡 副業代行 : 月20万以下のSMBクライアントでも生成AIクリエイティブで月10-30本量産が可能 (人件費圧縮)</a:t>
            </a:r>
          </a:p>
        </p:txBody>
      </p:sp>
      <p:sp>
        <p:nvSpPr>
          <p:cNvPr id="42" name="TextBox 41"/>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Spark Ads — UGCの原型を保つ広告</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オーガニック投稿を広告化する仕組み</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P105 / 250</a:t>
            </a:r>
          </a:p>
        </p:txBody>
      </p:sp>
      <p:sp>
        <p:nvSpPr>
          <p:cNvPr id="8" name="Rounded Rectangle 7"/>
          <p:cNvSpPr/>
          <p:nvPr/>
        </p:nvSpPr>
        <p:spPr>
          <a:xfrm>
            <a:off x="548640" y="1371600"/>
            <a:ext cx="11109960" cy="914400"/>
          </a:xfrm>
          <a:prstGeom prst="roundRect">
            <a:avLst>
              <a:gd name="adj" fmla="val 6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08760"/>
            <a:ext cx="10972800" cy="731520"/>
          </a:xfrm>
          <a:prstGeom prst="rect">
            <a:avLst/>
          </a:prstGeom>
          <a:noFill/>
        </p:spPr>
        <p:txBody>
          <a:bodyPr wrap="square" anchor="t" lIns="0" rIns="0" tIns="0" bIns="0">
            <a:spAutoFit/>
          </a:bodyPr>
          <a:lstStyle/>
          <a:p>
            <a:pPr algn="l">
              <a:lnSpc>
                <a:spcPct val="150000"/>
              </a:lnSpc>
            </a:pPr>
            <a:r>
              <a:rPr sz="1200" b="0">
                <a:solidFill>
                  <a:srgbClr val="1A1A1A"/>
                </a:solidFill>
                <a:latin typeface="Hiragino Sans"/>
                <a:ea typeface="Hiragino Sans"/>
                <a:cs typeface="Hiragino Sans"/>
              </a:rPr>
              <a:t>Spark Ads : 既存のオーガニック TikTok 投稿 (自社 or クリエイター) を広告として配信。</a:t>
            </a:r>
          </a:p>
          <a:p>
            <a:pPr algn="l">
              <a:lnSpc>
                <a:spcPct val="150000"/>
              </a:lnSpc>
            </a:pPr>
            <a:r>
              <a:rPr sz="1200" b="0">
                <a:solidFill>
                  <a:srgbClr val="1A1A1A"/>
                </a:solidFill>
                <a:latin typeface="Hiragino Sans"/>
                <a:ea typeface="Hiragino Sans"/>
                <a:cs typeface="Hiragino Sans"/>
              </a:rPr>
              <a:t>UGC感のある動画を広告として活用、CTR・エンゲージメントが Manual広告より高い傾向</a:t>
            </a:r>
          </a:p>
        </p:txBody>
      </p:sp>
      <p:sp>
        <p:nvSpPr>
          <p:cNvPr id="10" name="Rounded Rectangle 9"/>
          <p:cNvSpPr/>
          <p:nvPr/>
        </p:nvSpPr>
        <p:spPr>
          <a:xfrm>
            <a:off x="548640" y="2423160"/>
            <a:ext cx="5486400" cy="24688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423160"/>
            <a:ext cx="548640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2587752"/>
            <a:ext cx="4937760" cy="411480"/>
          </a:xfrm>
          <a:prstGeom prst="rect">
            <a:avLst/>
          </a:prstGeom>
          <a:noFill/>
        </p:spPr>
        <p:txBody>
          <a:bodyPr wrap="square" anchor="t" lIns="0" rIns="0" tIns="0" bIns="0">
            <a:spAutoFit/>
          </a:bodyPr>
          <a:lstStyle/>
          <a:p>
            <a:pPr algn="l">
              <a:lnSpc>
                <a:spcPct val="120000"/>
              </a:lnSpc>
            </a:pPr>
            <a:r>
              <a:rPr sz="1400" b="1">
                <a:solidFill>
                  <a:srgbClr val="FFFFFF"/>
                </a:solidFill>
                <a:latin typeface="Hiragino Sans"/>
                <a:ea typeface="Hiragino Sans"/>
                <a:cs typeface="Hiragino Sans"/>
              </a:rPr>
              <a:t>自社アカウント Spark Ads</a:t>
            </a:r>
          </a:p>
        </p:txBody>
      </p:sp>
      <p:sp>
        <p:nvSpPr>
          <p:cNvPr id="13" name="TextBox 12"/>
          <p:cNvSpPr txBox="1"/>
          <p:nvPr/>
        </p:nvSpPr>
        <p:spPr>
          <a:xfrm>
            <a:off x="822960" y="2971800"/>
            <a:ext cx="4937760" cy="274320"/>
          </a:xfrm>
          <a:prstGeom prst="rect">
            <a:avLst/>
          </a:prstGeom>
          <a:noFill/>
        </p:spPr>
        <p:txBody>
          <a:bodyPr wrap="square" anchor="t" lIns="0" rIns="0" tIns="0" bIns="0">
            <a:spAutoFit/>
          </a:bodyPr>
          <a:lstStyle/>
          <a:p>
            <a:pPr algn="l">
              <a:lnSpc>
                <a:spcPct val="115000"/>
              </a:lnSpc>
            </a:pPr>
            <a:r>
              <a:rPr sz="1000" b="0">
                <a:solidFill>
                  <a:srgbClr val="FFFFFF"/>
                </a:solidFill>
                <a:latin typeface="Hiragino Sans"/>
                <a:ea typeface="Hiragino Sans"/>
                <a:cs typeface="Hiragino Sans"/>
              </a:rPr>
              <a:t>ブランド公式投稿を広告化</a:t>
            </a:r>
          </a:p>
        </p:txBody>
      </p:sp>
      <p:sp>
        <p:nvSpPr>
          <p:cNvPr id="14" name="TextBox 13"/>
          <p:cNvSpPr txBox="1"/>
          <p:nvPr/>
        </p:nvSpPr>
        <p:spPr>
          <a:xfrm>
            <a:off x="822960" y="3429000"/>
            <a:ext cx="4937760" cy="1417320"/>
          </a:xfrm>
          <a:prstGeom prst="rect">
            <a:avLst/>
          </a:prstGeom>
          <a:noFill/>
        </p:spPr>
        <p:txBody>
          <a:bodyPr wrap="square" anchor="t" lIns="0" rIns="0" tIns="0" bIns="0">
            <a:spAutoFit/>
          </a:bodyPr>
          <a:lstStyle/>
          <a:p>
            <a:pPr algn="l">
              <a:lnSpc>
                <a:spcPct val="155000"/>
              </a:lnSpc>
            </a:pPr>
            <a:r>
              <a:rPr sz="1100" b="0">
                <a:solidFill>
                  <a:srgbClr val="1A1A1A"/>
                </a:solidFill>
                <a:latin typeface="Hiragino Sans"/>
                <a:ea typeface="Hiragino Sans"/>
                <a:cs typeface="Hiragino Sans"/>
              </a:rPr>
              <a:t>自社アカウントの過去・新規投稿を</a:t>
            </a:r>
          </a:p>
          <a:p>
            <a:pPr algn="l">
              <a:lnSpc>
                <a:spcPct val="155000"/>
              </a:lnSpc>
            </a:pPr>
            <a:r>
              <a:rPr sz="1100" b="0">
                <a:solidFill>
                  <a:srgbClr val="1A1A1A"/>
                </a:solidFill>
                <a:latin typeface="Hiragino Sans"/>
                <a:ea typeface="Hiragino Sans"/>
                <a:cs typeface="Hiragino Sans"/>
              </a:rPr>
              <a:t>広告として配信。</a:t>
            </a:r>
          </a:p>
          <a:p>
            <a:pPr algn="l">
              <a:lnSpc>
                <a:spcPct val="155000"/>
              </a:lnSpc>
            </a:pPr>
            <a:r>
              <a:rPr sz="1100" b="0">
                <a:solidFill>
                  <a:srgbClr val="1A1A1A"/>
                </a:solidFill>
                <a:latin typeface="Hiragino Sans"/>
                <a:ea typeface="Hiragino Sans"/>
                <a:cs typeface="Hiragino Sans"/>
              </a:rPr>
              <a:t>コメント・いいね・フォロー がそのまま積算</a:t>
            </a:r>
          </a:p>
          <a:p>
            <a:pPr algn="l">
              <a:lnSpc>
                <a:spcPct val="155000"/>
              </a:lnSpc>
            </a:pPr>
            <a:r>
              <a:rPr sz="1100" b="0">
                <a:solidFill>
                  <a:srgbClr val="1A1A1A"/>
                </a:solidFill>
                <a:latin typeface="Hiragino Sans"/>
                <a:ea typeface="Hiragino Sans"/>
                <a:cs typeface="Hiragino Sans"/>
              </a:rPr>
              <a:t>UGC感のあるブランド広告として効く</a:t>
            </a:r>
          </a:p>
        </p:txBody>
      </p:sp>
      <p:sp>
        <p:nvSpPr>
          <p:cNvPr id="15" name="Rounded Rectangle 14"/>
          <p:cNvSpPr/>
          <p:nvPr/>
        </p:nvSpPr>
        <p:spPr>
          <a:xfrm>
            <a:off x="6172200" y="2423160"/>
            <a:ext cx="5486400" cy="24688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2423160"/>
            <a:ext cx="548640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2587752"/>
            <a:ext cx="4937760" cy="411480"/>
          </a:xfrm>
          <a:prstGeom prst="rect">
            <a:avLst/>
          </a:prstGeom>
          <a:noFill/>
        </p:spPr>
        <p:txBody>
          <a:bodyPr wrap="square" anchor="t" lIns="0" rIns="0" tIns="0" bIns="0">
            <a:spAutoFit/>
          </a:bodyPr>
          <a:lstStyle/>
          <a:p>
            <a:pPr algn="l">
              <a:lnSpc>
                <a:spcPct val="120000"/>
              </a:lnSpc>
            </a:pPr>
            <a:r>
              <a:rPr sz="1400" b="1">
                <a:solidFill>
                  <a:srgbClr val="FFFFFF"/>
                </a:solidFill>
                <a:latin typeface="Hiragino Sans"/>
                <a:ea typeface="Hiragino Sans"/>
                <a:cs typeface="Hiragino Sans"/>
              </a:rPr>
              <a:t>クリエイター Spark Ads</a:t>
            </a:r>
          </a:p>
        </p:txBody>
      </p:sp>
      <p:sp>
        <p:nvSpPr>
          <p:cNvPr id="18" name="TextBox 17"/>
          <p:cNvSpPr txBox="1"/>
          <p:nvPr/>
        </p:nvSpPr>
        <p:spPr>
          <a:xfrm>
            <a:off x="6446520" y="2971800"/>
            <a:ext cx="4937760" cy="274320"/>
          </a:xfrm>
          <a:prstGeom prst="rect">
            <a:avLst/>
          </a:prstGeom>
          <a:noFill/>
        </p:spPr>
        <p:txBody>
          <a:bodyPr wrap="square" anchor="t" lIns="0" rIns="0" tIns="0" bIns="0">
            <a:spAutoFit/>
          </a:bodyPr>
          <a:lstStyle/>
          <a:p>
            <a:pPr algn="l">
              <a:lnSpc>
                <a:spcPct val="115000"/>
              </a:lnSpc>
            </a:pPr>
            <a:r>
              <a:rPr sz="1000" b="0">
                <a:solidFill>
                  <a:srgbClr val="FFFFFF"/>
                </a:solidFill>
                <a:latin typeface="Hiragino Sans"/>
                <a:ea typeface="Hiragino Sans"/>
                <a:cs typeface="Hiragino Sans"/>
              </a:rPr>
              <a:t>クリエイター投稿を広告化</a:t>
            </a:r>
          </a:p>
        </p:txBody>
      </p:sp>
      <p:sp>
        <p:nvSpPr>
          <p:cNvPr id="19" name="TextBox 18"/>
          <p:cNvSpPr txBox="1"/>
          <p:nvPr/>
        </p:nvSpPr>
        <p:spPr>
          <a:xfrm>
            <a:off x="6446520" y="3429000"/>
            <a:ext cx="4937760" cy="1417320"/>
          </a:xfrm>
          <a:prstGeom prst="rect">
            <a:avLst/>
          </a:prstGeom>
          <a:noFill/>
        </p:spPr>
        <p:txBody>
          <a:bodyPr wrap="square" anchor="t" lIns="0" rIns="0" tIns="0" bIns="0">
            <a:spAutoFit/>
          </a:bodyPr>
          <a:lstStyle/>
          <a:p>
            <a:pPr algn="l">
              <a:lnSpc>
                <a:spcPct val="155000"/>
              </a:lnSpc>
            </a:pPr>
            <a:r>
              <a:rPr sz="1100" b="0">
                <a:solidFill>
                  <a:srgbClr val="1A1A1A"/>
                </a:solidFill>
                <a:latin typeface="Hiragino Sans"/>
                <a:ea typeface="Hiragino Sans"/>
                <a:cs typeface="Hiragino Sans"/>
              </a:rPr>
              <a:t>Creator Marketplace で発掘した</a:t>
            </a:r>
          </a:p>
          <a:p>
            <a:pPr algn="l">
              <a:lnSpc>
                <a:spcPct val="155000"/>
              </a:lnSpc>
            </a:pPr>
            <a:r>
              <a:rPr sz="1100" b="0">
                <a:solidFill>
                  <a:srgbClr val="1A1A1A"/>
                </a:solidFill>
                <a:latin typeface="Hiragino Sans"/>
                <a:ea typeface="Hiragino Sans"/>
                <a:cs typeface="Hiragino Sans"/>
              </a:rPr>
              <a:t>クリエイター投稿を広告化。</a:t>
            </a:r>
          </a:p>
          <a:p>
            <a:pPr algn="l">
              <a:lnSpc>
                <a:spcPct val="155000"/>
              </a:lnSpc>
            </a:pPr>
            <a:r>
              <a:rPr sz="1100" b="0">
                <a:solidFill>
                  <a:srgbClr val="1A1A1A"/>
                </a:solidFill>
                <a:latin typeface="Hiragino Sans"/>
                <a:ea typeface="Hiragino Sans"/>
                <a:cs typeface="Hiragino Sans"/>
              </a:rPr>
              <a:t>クリエイター承認 → 広告主が配信</a:t>
            </a:r>
          </a:p>
          <a:p>
            <a:pPr algn="l">
              <a:lnSpc>
                <a:spcPct val="155000"/>
              </a:lnSpc>
            </a:pPr>
            <a:r>
              <a:rPr sz="1100" b="0">
                <a:solidFill>
                  <a:srgbClr val="1A1A1A"/>
                </a:solidFill>
                <a:latin typeface="Hiragino Sans"/>
                <a:ea typeface="Hiragino Sans"/>
                <a:cs typeface="Hiragino Sans"/>
              </a:rPr>
              <a:t>PR表記必須 (ステマ規制対応)</a:t>
            </a:r>
          </a:p>
        </p:txBody>
      </p:sp>
      <p:sp>
        <p:nvSpPr>
          <p:cNvPr id="20" name="Rounded Rectangle 19"/>
          <p:cNvSpPr/>
          <p:nvPr/>
        </p:nvSpPr>
        <p:spPr>
          <a:xfrm>
            <a:off x="548640" y="5074920"/>
            <a:ext cx="11109960" cy="128016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212080"/>
            <a:ext cx="10058400" cy="320040"/>
          </a:xfrm>
          <a:prstGeom prst="rect">
            <a:avLst/>
          </a:prstGeom>
          <a:noFill/>
        </p:spPr>
        <p:txBody>
          <a:bodyPr wrap="square" anchor="t" lIns="0" rIns="0" tIns="0" bIns="0">
            <a:spAutoFit/>
          </a:bodyPr>
          <a:lstStyle/>
          <a:p>
            <a:pPr algn="l">
              <a:lnSpc>
                <a:spcPct val="115000"/>
              </a:lnSpc>
            </a:pPr>
            <a:r>
              <a:rPr sz="1200" b="1">
                <a:solidFill>
                  <a:srgbClr val="E87722"/>
                </a:solidFill>
                <a:latin typeface="Hiragino Sans"/>
                <a:ea typeface="Hiragino Sans"/>
                <a:cs typeface="Hiragino Sans"/>
              </a:rPr>
              <a:t>💡 副業代行で活用するシナリオ</a:t>
            </a:r>
          </a:p>
        </p:txBody>
      </p:sp>
      <p:sp>
        <p:nvSpPr>
          <p:cNvPr id="22" name="TextBox 21"/>
          <p:cNvSpPr txBox="1"/>
          <p:nvPr/>
        </p:nvSpPr>
        <p:spPr>
          <a:xfrm>
            <a:off x="777240" y="5532120"/>
            <a:ext cx="10972800" cy="777240"/>
          </a:xfrm>
          <a:prstGeom prst="rect">
            <a:avLst/>
          </a:prstGeom>
          <a:noFill/>
        </p:spPr>
        <p:txBody>
          <a:bodyPr wrap="square" anchor="t" lIns="0" rIns="0" tIns="0" bIns="0">
            <a:spAutoFit/>
          </a:bodyPr>
          <a:lstStyle/>
          <a:p>
            <a:pPr algn="l">
              <a:lnSpc>
                <a:spcPct val="155000"/>
              </a:lnSpc>
            </a:pPr>
            <a:r>
              <a:rPr sz="1100" b="0">
                <a:solidFill>
                  <a:srgbClr val="FFFFFF"/>
                </a:solidFill>
                <a:latin typeface="Hiragino Sans"/>
                <a:ea typeface="Hiragino Sans"/>
                <a:cs typeface="Hiragino Sans"/>
              </a:rPr>
              <a:t>• D2C / コスメ / アパレル : クリエイター Spark Ads が CVR / ROAS で最強 (UGC効果)</a:t>
            </a:r>
          </a:p>
          <a:p>
            <a:pPr algn="l">
              <a:lnSpc>
                <a:spcPct val="155000"/>
              </a:lnSpc>
            </a:pPr>
            <a:r>
              <a:rPr sz="1100" b="0">
                <a:solidFill>
                  <a:srgbClr val="FFFFFF"/>
                </a:solidFill>
                <a:latin typeface="Hiragino Sans"/>
                <a:ea typeface="Hiragino Sans"/>
                <a:cs typeface="Hiragino Sans"/>
              </a:rPr>
              <a:t>• 中小ブランド : 自社オーガニック投稿の中から伸びてる動画を Spark Ads で広告化</a:t>
            </a:r>
          </a:p>
          <a:p>
            <a:pPr algn="l">
              <a:lnSpc>
                <a:spcPct val="155000"/>
              </a:lnSpc>
            </a:pPr>
            <a:r>
              <a:rPr sz="1100" b="0">
                <a:solidFill>
                  <a:srgbClr val="FFFFFF"/>
                </a:solidFill>
                <a:latin typeface="Hiragino Sans"/>
                <a:ea typeface="Hiragino Sans"/>
                <a:cs typeface="Hiragino Sans"/>
              </a:rPr>
              <a:t>• ステマ規制対応 : クリエイター案件は必ず PR / 提供 などの明示を契約条件に</a:t>
            </a:r>
          </a:p>
        </p:txBody>
      </p:sp>
      <p:sp>
        <p:nvSpPr>
          <p:cNvPr id="23" name="TextBox 22"/>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 TikTok Shop Ads (2025/07 日本)</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TikTok Shop 公式ローンチ後の運用代行新ジャンル</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P106 / 250</a:t>
            </a:r>
          </a:p>
        </p:txBody>
      </p:sp>
      <p:sp>
        <p:nvSpPr>
          <p:cNvPr id="8" name="Rounded Rectangle 7"/>
          <p:cNvSpPr/>
          <p:nvPr/>
        </p:nvSpPr>
        <p:spPr>
          <a:xfrm>
            <a:off x="548640" y="1371600"/>
            <a:ext cx="11109960" cy="155448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08760"/>
            <a:ext cx="10058400" cy="365760"/>
          </a:xfrm>
          <a:prstGeom prst="rect">
            <a:avLst/>
          </a:prstGeom>
          <a:noFill/>
        </p:spPr>
        <p:txBody>
          <a:bodyPr wrap="square" anchor="t" lIns="0" rIns="0" tIns="0" bIns="0">
            <a:spAutoFit/>
          </a:bodyPr>
          <a:lstStyle/>
          <a:p>
            <a:pPr algn="l">
              <a:lnSpc>
                <a:spcPct val="115000"/>
              </a:lnSpc>
            </a:pPr>
            <a:r>
              <a:rPr sz="1300" b="1">
                <a:solidFill>
                  <a:srgbClr val="E87722"/>
                </a:solidFill>
                <a:latin typeface="Hiragino Sans"/>
                <a:ea typeface="Hiragino Sans"/>
                <a:cs typeface="Hiragino Sans"/>
              </a:rPr>
              <a:t>TikTok Shop Japan 6ヶ月後の状況</a:t>
            </a:r>
          </a:p>
        </p:txBody>
      </p:sp>
      <p:sp>
        <p:nvSpPr>
          <p:cNvPr id="10" name="TextBox 9"/>
          <p:cNvSpPr txBox="1"/>
          <p:nvPr/>
        </p:nvSpPr>
        <p:spPr>
          <a:xfrm>
            <a:off x="777240" y="1874519"/>
            <a:ext cx="2560320" cy="548640"/>
          </a:xfrm>
          <a:prstGeom prst="rect">
            <a:avLst/>
          </a:prstGeom>
          <a:noFill/>
        </p:spPr>
        <p:txBody>
          <a:bodyPr wrap="square" anchor="t" lIns="0" rIns="0" tIns="0" bIns="0">
            <a:spAutoFit/>
          </a:bodyPr>
          <a:lstStyle/>
          <a:p>
            <a:pPr algn="ctr">
              <a:lnSpc>
                <a:spcPct val="115000"/>
              </a:lnSpc>
            </a:pPr>
            <a:r>
              <a:rPr sz="2800" b="1">
                <a:solidFill>
                  <a:srgbClr val="FFFFFF"/>
                </a:solidFill>
                <a:latin typeface="Helvetica Neue"/>
                <a:ea typeface="Helvetica Neue"/>
                <a:cs typeface="Helvetica Neue"/>
              </a:rPr>
              <a:t>33M+</a:t>
            </a:r>
          </a:p>
        </p:txBody>
      </p:sp>
      <p:sp>
        <p:nvSpPr>
          <p:cNvPr id="11" name="TextBox 10"/>
          <p:cNvSpPr txBox="1"/>
          <p:nvPr/>
        </p:nvSpPr>
        <p:spPr>
          <a:xfrm>
            <a:off x="777240" y="2468880"/>
            <a:ext cx="2560320" cy="365760"/>
          </a:xfrm>
          <a:prstGeom prst="rect">
            <a:avLst/>
          </a:prstGeom>
          <a:noFill/>
        </p:spPr>
        <p:txBody>
          <a:bodyPr wrap="square" anchor="t" lIns="0" rIns="0" tIns="0" bIns="0">
            <a:spAutoFit/>
          </a:bodyPr>
          <a:lstStyle/>
          <a:p>
            <a:pPr algn="ctr">
              <a:lnSpc>
                <a:spcPct val="115000"/>
              </a:lnSpc>
            </a:pPr>
            <a:r>
              <a:rPr sz="1100" b="0">
                <a:solidFill>
                  <a:srgbClr val="D7DDE8"/>
                </a:solidFill>
                <a:latin typeface="Hiragino Sans"/>
                <a:ea typeface="Hiragino Sans"/>
                <a:cs typeface="Hiragino Sans"/>
              </a:rPr>
              <a:t>MAU</a:t>
            </a:r>
          </a:p>
        </p:txBody>
      </p:sp>
      <p:sp>
        <p:nvSpPr>
          <p:cNvPr id="12" name="TextBox 11"/>
          <p:cNvSpPr txBox="1"/>
          <p:nvPr/>
        </p:nvSpPr>
        <p:spPr>
          <a:xfrm>
            <a:off x="3520440" y="1874519"/>
            <a:ext cx="2560320" cy="548640"/>
          </a:xfrm>
          <a:prstGeom prst="rect">
            <a:avLst/>
          </a:prstGeom>
          <a:noFill/>
        </p:spPr>
        <p:txBody>
          <a:bodyPr wrap="square" anchor="t" lIns="0" rIns="0" tIns="0" bIns="0">
            <a:spAutoFit/>
          </a:bodyPr>
          <a:lstStyle/>
          <a:p>
            <a:pPr algn="ctr">
              <a:lnSpc>
                <a:spcPct val="115000"/>
              </a:lnSpc>
            </a:pPr>
            <a:r>
              <a:rPr sz="2800" b="1">
                <a:solidFill>
                  <a:srgbClr val="FFFFFF"/>
                </a:solidFill>
                <a:latin typeface="Helvetica Neue"/>
                <a:ea typeface="Helvetica Neue"/>
                <a:cs typeface="Helvetica Neue"/>
              </a:rPr>
              <a:t>50,000+</a:t>
            </a:r>
          </a:p>
        </p:txBody>
      </p:sp>
      <p:sp>
        <p:nvSpPr>
          <p:cNvPr id="13" name="TextBox 12"/>
          <p:cNvSpPr txBox="1"/>
          <p:nvPr/>
        </p:nvSpPr>
        <p:spPr>
          <a:xfrm>
            <a:off x="3520440" y="2468880"/>
            <a:ext cx="2560320" cy="365760"/>
          </a:xfrm>
          <a:prstGeom prst="rect">
            <a:avLst/>
          </a:prstGeom>
          <a:noFill/>
        </p:spPr>
        <p:txBody>
          <a:bodyPr wrap="square" anchor="t" lIns="0" rIns="0" tIns="0" bIns="0">
            <a:spAutoFit/>
          </a:bodyPr>
          <a:lstStyle/>
          <a:p>
            <a:pPr algn="ctr">
              <a:lnSpc>
                <a:spcPct val="115000"/>
              </a:lnSpc>
            </a:pPr>
            <a:r>
              <a:rPr sz="1100" b="0">
                <a:solidFill>
                  <a:srgbClr val="D7DDE8"/>
                </a:solidFill>
                <a:latin typeface="Hiragino Sans"/>
                <a:ea typeface="Hiragino Sans"/>
                <a:cs typeface="Hiragino Sans"/>
              </a:rPr>
              <a:t>Active Sellers</a:t>
            </a:r>
          </a:p>
        </p:txBody>
      </p:sp>
      <p:sp>
        <p:nvSpPr>
          <p:cNvPr id="14" name="TextBox 13"/>
          <p:cNvSpPr txBox="1"/>
          <p:nvPr/>
        </p:nvSpPr>
        <p:spPr>
          <a:xfrm>
            <a:off x="6263640" y="1874519"/>
            <a:ext cx="2560320" cy="548640"/>
          </a:xfrm>
          <a:prstGeom prst="rect">
            <a:avLst/>
          </a:prstGeom>
          <a:noFill/>
        </p:spPr>
        <p:txBody>
          <a:bodyPr wrap="square" anchor="t" lIns="0" rIns="0" tIns="0" bIns="0">
            <a:spAutoFit/>
          </a:bodyPr>
          <a:lstStyle/>
          <a:p>
            <a:pPr algn="ctr">
              <a:lnSpc>
                <a:spcPct val="115000"/>
              </a:lnSpc>
            </a:pPr>
            <a:r>
              <a:rPr sz="2800" b="1">
                <a:solidFill>
                  <a:srgbClr val="FFFFFF"/>
                </a:solidFill>
                <a:latin typeface="Helvetica Neue"/>
                <a:ea typeface="Helvetica Neue"/>
                <a:cs typeface="Helvetica Neue"/>
              </a:rPr>
              <a:t>200,000+</a:t>
            </a:r>
          </a:p>
        </p:txBody>
      </p:sp>
      <p:sp>
        <p:nvSpPr>
          <p:cNvPr id="15" name="TextBox 14"/>
          <p:cNvSpPr txBox="1"/>
          <p:nvPr/>
        </p:nvSpPr>
        <p:spPr>
          <a:xfrm>
            <a:off x="6263640" y="2468880"/>
            <a:ext cx="2560320" cy="365760"/>
          </a:xfrm>
          <a:prstGeom prst="rect">
            <a:avLst/>
          </a:prstGeom>
          <a:noFill/>
        </p:spPr>
        <p:txBody>
          <a:bodyPr wrap="square" anchor="t" lIns="0" rIns="0" tIns="0" bIns="0">
            <a:spAutoFit/>
          </a:bodyPr>
          <a:lstStyle/>
          <a:p>
            <a:pPr algn="ctr">
              <a:lnSpc>
                <a:spcPct val="115000"/>
              </a:lnSpc>
            </a:pPr>
            <a:r>
              <a:rPr sz="1100" b="0">
                <a:solidFill>
                  <a:srgbClr val="D7DDE8"/>
                </a:solidFill>
                <a:latin typeface="Hiragino Sans"/>
                <a:ea typeface="Hiragino Sans"/>
                <a:cs typeface="Hiragino Sans"/>
              </a:rPr>
              <a:t>Creators</a:t>
            </a:r>
          </a:p>
        </p:txBody>
      </p:sp>
      <p:sp>
        <p:nvSpPr>
          <p:cNvPr id="16" name="TextBox 15"/>
          <p:cNvSpPr txBox="1"/>
          <p:nvPr/>
        </p:nvSpPr>
        <p:spPr>
          <a:xfrm>
            <a:off x="9006840" y="1874519"/>
            <a:ext cx="2560320" cy="548640"/>
          </a:xfrm>
          <a:prstGeom prst="rect">
            <a:avLst/>
          </a:prstGeom>
          <a:noFill/>
        </p:spPr>
        <p:txBody>
          <a:bodyPr wrap="square" anchor="t" lIns="0" rIns="0" tIns="0" bIns="0">
            <a:spAutoFit/>
          </a:bodyPr>
          <a:lstStyle/>
          <a:p>
            <a:pPr algn="ctr">
              <a:lnSpc>
                <a:spcPct val="115000"/>
              </a:lnSpc>
            </a:pPr>
            <a:r>
              <a:rPr sz="2800" b="1">
                <a:solidFill>
                  <a:srgbClr val="FFFFFF"/>
                </a:solidFill>
                <a:latin typeface="Helvetica Neue"/>
                <a:ea typeface="Helvetica Neue"/>
                <a:cs typeface="Helvetica Neue"/>
              </a:rPr>
              <a:t>70%</a:t>
            </a:r>
          </a:p>
        </p:txBody>
      </p:sp>
      <p:sp>
        <p:nvSpPr>
          <p:cNvPr id="17" name="TextBox 16"/>
          <p:cNvSpPr txBox="1"/>
          <p:nvPr/>
        </p:nvSpPr>
        <p:spPr>
          <a:xfrm>
            <a:off x="9006840" y="2468880"/>
            <a:ext cx="2560320" cy="365760"/>
          </a:xfrm>
          <a:prstGeom prst="rect">
            <a:avLst/>
          </a:prstGeom>
          <a:noFill/>
        </p:spPr>
        <p:txBody>
          <a:bodyPr wrap="square" anchor="t" lIns="0" rIns="0" tIns="0" bIns="0">
            <a:spAutoFit/>
          </a:bodyPr>
          <a:lstStyle/>
          <a:p>
            <a:pPr algn="ctr">
              <a:lnSpc>
                <a:spcPct val="115000"/>
              </a:lnSpc>
            </a:pPr>
            <a:r>
              <a:rPr sz="1100" b="0">
                <a:solidFill>
                  <a:srgbClr val="D7DDE8"/>
                </a:solidFill>
                <a:latin typeface="Hiragino Sans"/>
                <a:ea typeface="Hiragino Sans"/>
                <a:cs typeface="Hiragino Sans"/>
              </a:rPr>
              <a:t>GMV from Content</a:t>
            </a:r>
          </a:p>
        </p:txBody>
      </p:sp>
      <p:sp>
        <p:nvSpPr>
          <p:cNvPr id="18" name="TextBox 17"/>
          <p:cNvSpPr txBox="1"/>
          <p:nvPr/>
        </p:nvSpPr>
        <p:spPr>
          <a:xfrm>
            <a:off x="548640" y="3108960"/>
            <a:ext cx="1097280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Shop Ads の広告タイプ</a:t>
            </a:r>
          </a:p>
        </p:txBody>
      </p:sp>
      <p:sp>
        <p:nvSpPr>
          <p:cNvPr id="19" name="Rounded Rectangle 18"/>
          <p:cNvSpPr/>
          <p:nvPr/>
        </p:nvSpPr>
        <p:spPr>
          <a:xfrm>
            <a:off x="548640" y="3520440"/>
            <a:ext cx="3611880" cy="18288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520440"/>
            <a:ext cx="36118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3749040"/>
            <a:ext cx="324612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Video Shopping Ads</a:t>
            </a:r>
          </a:p>
        </p:txBody>
      </p:sp>
      <p:sp>
        <p:nvSpPr>
          <p:cNvPr id="22" name="TextBox 21"/>
          <p:cNvSpPr txBox="1"/>
          <p:nvPr/>
        </p:nvSpPr>
        <p:spPr>
          <a:xfrm>
            <a:off x="777240" y="4160520"/>
            <a:ext cx="3246120" cy="1143000"/>
          </a:xfrm>
          <a:prstGeom prst="rect">
            <a:avLst/>
          </a:prstGeom>
          <a:noFill/>
        </p:spPr>
        <p:txBody>
          <a:bodyPr wrap="square" anchor="t" lIns="0" rIns="0" tIns="0" bIns="0">
            <a:spAutoFit/>
          </a:bodyPr>
          <a:lstStyle/>
          <a:p>
            <a:pPr algn="l">
              <a:lnSpc>
                <a:spcPct val="155000"/>
              </a:lnSpc>
            </a:pPr>
            <a:r>
              <a:rPr sz="1100" b="0">
                <a:solidFill>
                  <a:srgbClr val="1A1A1A"/>
                </a:solidFill>
                <a:latin typeface="Hiragino Sans"/>
                <a:ea typeface="Hiragino Sans"/>
                <a:cs typeface="Hiragino Sans"/>
              </a:rPr>
              <a:t>動画広告内に商品ショーケース表示。</a:t>
            </a:r>
          </a:p>
          <a:p>
            <a:pPr algn="l">
              <a:lnSpc>
                <a:spcPct val="155000"/>
              </a:lnSpc>
            </a:pPr>
            <a:r>
              <a:rPr sz="1100" b="0">
                <a:solidFill>
                  <a:srgbClr val="1A1A1A"/>
                </a:solidFill>
                <a:latin typeface="Hiragino Sans"/>
                <a:ea typeface="Hiragino Sans"/>
                <a:cs typeface="Hiragino Sans"/>
              </a:rPr>
              <a:t>クリック→商品ページへ</a:t>
            </a:r>
          </a:p>
        </p:txBody>
      </p:sp>
      <p:sp>
        <p:nvSpPr>
          <p:cNvPr id="23" name="Rounded Rectangle 22"/>
          <p:cNvSpPr/>
          <p:nvPr/>
        </p:nvSpPr>
        <p:spPr>
          <a:xfrm>
            <a:off x="4297680" y="3520440"/>
            <a:ext cx="3611880" cy="18288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297680" y="3520440"/>
            <a:ext cx="36118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26280" y="3749040"/>
            <a:ext cx="324612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Product Shopping Ads</a:t>
            </a:r>
          </a:p>
        </p:txBody>
      </p:sp>
      <p:sp>
        <p:nvSpPr>
          <p:cNvPr id="26" name="TextBox 25"/>
          <p:cNvSpPr txBox="1"/>
          <p:nvPr/>
        </p:nvSpPr>
        <p:spPr>
          <a:xfrm>
            <a:off x="4526280" y="4160520"/>
            <a:ext cx="3246120" cy="1143000"/>
          </a:xfrm>
          <a:prstGeom prst="rect">
            <a:avLst/>
          </a:prstGeom>
          <a:noFill/>
        </p:spPr>
        <p:txBody>
          <a:bodyPr wrap="square" anchor="t" lIns="0" rIns="0" tIns="0" bIns="0">
            <a:spAutoFit/>
          </a:bodyPr>
          <a:lstStyle/>
          <a:p>
            <a:pPr algn="l">
              <a:lnSpc>
                <a:spcPct val="155000"/>
              </a:lnSpc>
            </a:pPr>
            <a:r>
              <a:rPr sz="1100" b="0">
                <a:solidFill>
                  <a:srgbClr val="1A1A1A"/>
                </a:solidFill>
                <a:latin typeface="Hiragino Sans"/>
                <a:ea typeface="Hiragino Sans"/>
                <a:cs typeface="Hiragino Sans"/>
              </a:rPr>
              <a:t>商品単独画像広告。</a:t>
            </a:r>
          </a:p>
          <a:p>
            <a:pPr algn="l">
              <a:lnSpc>
                <a:spcPct val="155000"/>
              </a:lnSpc>
            </a:pPr>
            <a:r>
              <a:rPr sz="1100" b="0">
                <a:solidFill>
                  <a:srgbClr val="1A1A1A"/>
                </a:solidFill>
                <a:latin typeface="Hiragino Sans"/>
                <a:ea typeface="Hiragino Sans"/>
                <a:cs typeface="Hiragino Sans"/>
              </a:rPr>
              <a:t>For Youフィードに表示</a:t>
            </a:r>
          </a:p>
        </p:txBody>
      </p:sp>
      <p:sp>
        <p:nvSpPr>
          <p:cNvPr id="27" name="Rounded Rectangle 26"/>
          <p:cNvSpPr/>
          <p:nvPr/>
        </p:nvSpPr>
        <p:spPr>
          <a:xfrm>
            <a:off x="8046720" y="3520440"/>
            <a:ext cx="3611880" cy="18288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46720" y="3520440"/>
            <a:ext cx="36118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75320" y="3749040"/>
            <a:ext cx="324612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LIVE Shopping Ads</a:t>
            </a:r>
          </a:p>
        </p:txBody>
      </p:sp>
      <p:sp>
        <p:nvSpPr>
          <p:cNvPr id="30" name="TextBox 29"/>
          <p:cNvSpPr txBox="1"/>
          <p:nvPr/>
        </p:nvSpPr>
        <p:spPr>
          <a:xfrm>
            <a:off x="8275320" y="4160520"/>
            <a:ext cx="3246120" cy="1143000"/>
          </a:xfrm>
          <a:prstGeom prst="rect">
            <a:avLst/>
          </a:prstGeom>
          <a:noFill/>
        </p:spPr>
        <p:txBody>
          <a:bodyPr wrap="square" anchor="t" lIns="0" rIns="0" tIns="0" bIns="0">
            <a:spAutoFit/>
          </a:bodyPr>
          <a:lstStyle/>
          <a:p>
            <a:pPr algn="l">
              <a:lnSpc>
                <a:spcPct val="155000"/>
              </a:lnSpc>
            </a:pPr>
            <a:r>
              <a:rPr sz="1100" b="0">
                <a:solidFill>
                  <a:srgbClr val="1A1A1A"/>
                </a:solidFill>
                <a:latin typeface="Hiragino Sans"/>
                <a:ea typeface="Hiragino Sans"/>
                <a:cs typeface="Hiragino Sans"/>
              </a:rPr>
              <a:t>ライブ配信を広告化。</a:t>
            </a:r>
          </a:p>
          <a:p>
            <a:pPr algn="l">
              <a:lnSpc>
                <a:spcPct val="155000"/>
              </a:lnSpc>
            </a:pPr>
            <a:r>
              <a:rPr sz="1100" b="0">
                <a:solidFill>
                  <a:srgbClr val="1A1A1A"/>
                </a:solidFill>
                <a:latin typeface="Hiragino Sans"/>
                <a:ea typeface="Hiragino Sans"/>
                <a:cs typeface="Hiragino Sans"/>
              </a:rPr>
              <a:t>リアルタイム購買を促進</a:t>
            </a:r>
          </a:p>
        </p:txBody>
      </p:sp>
      <p:sp>
        <p:nvSpPr>
          <p:cNvPr id="31" name="TextBox 30"/>
          <p:cNvSpPr txBox="1"/>
          <p:nvPr/>
        </p:nvSpPr>
        <p:spPr>
          <a:xfrm>
            <a:off x="548640" y="5486400"/>
            <a:ext cx="10972800" cy="868680"/>
          </a:xfrm>
          <a:prstGeom prst="rect">
            <a:avLst/>
          </a:prstGeom>
          <a:noFill/>
        </p:spPr>
        <p:txBody>
          <a:bodyPr wrap="square" anchor="t" lIns="0" rIns="0" tIns="0" bIns="0">
            <a:spAutoFit/>
          </a:bodyPr>
          <a:lstStyle/>
          <a:p>
            <a:pPr algn="l">
              <a:lnSpc>
                <a:spcPct val="150000"/>
              </a:lnSpc>
            </a:pPr>
            <a:r>
              <a:rPr sz="1100" b="0">
                <a:solidFill>
                  <a:srgbClr val="5A6A80"/>
                </a:solidFill>
                <a:latin typeface="Hiragino Sans"/>
                <a:ea typeface="Hiragino Sans"/>
                <a:cs typeface="Hiragino Sans"/>
              </a:rPr>
              <a:t>💡 早期参入ブランド : Unilever Japan / Nissin Foods / WEGO / YA-MAN — 大手主導で SMBは2026以降が主戦場</a:t>
            </a:r>
          </a:p>
        </p:txBody>
      </p:sp>
      <p:sp>
        <p:nvSpPr>
          <p:cNvPr id="32" name="TextBox 31"/>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Creative Center — TikTok公式リサーチツール</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競合分析・トレンド発掘の必須ツール</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P107 / 250</a:t>
            </a:r>
          </a:p>
        </p:txBody>
      </p:sp>
      <p:sp>
        <p:nvSpPr>
          <p:cNvPr id="8" name="Rounded Rectangle 7"/>
          <p:cNvSpPr/>
          <p:nvPr/>
        </p:nvSpPr>
        <p:spPr>
          <a:xfrm>
            <a:off x="548640" y="1417320"/>
            <a:ext cx="5440680" cy="16916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16916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554480"/>
            <a:ext cx="5074920" cy="41148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Top Ads Dashboard</a:t>
            </a:r>
          </a:p>
        </p:txBody>
      </p:sp>
      <p:sp>
        <p:nvSpPr>
          <p:cNvPr id="11" name="TextBox 10"/>
          <p:cNvSpPr txBox="1"/>
          <p:nvPr/>
        </p:nvSpPr>
        <p:spPr>
          <a:xfrm>
            <a:off x="777240" y="1965960"/>
            <a:ext cx="5074920" cy="1097280"/>
          </a:xfrm>
          <a:prstGeom prst="rect">
            <a:avLst/>
          </a:prstGeom>
          <a:noFill/>
        </p:spPr>
        <p:txBody>
          <a:bodyPr wrap="square" anchor="t" lIns="0" rIns="0" tIns="0" bIns="0">
            <a:spAutoFit/>
          </a:bodyPr>
          <a:lstStyle/>
          <a:p>
            <a:pPr algn="l">
              <a:lnSpc>
                <a:spcPct val="155000"/>
              </a:lnSpc>
            </a:pPr>
            <a:r>
              <a:rPr sz="1100" b="0">
                <a:solidFill>
                  <a:srgbClr val="1A1A1A"/>
                </a:solidFill>
                <a:latin typeface="Hiragino Sans"/>
                <a:ea typeface="Hiragino Sans"/>
                <a:cs typeface="Hiragino Sans"/>
              </a:rPr>
              <a:t>業種・地域別の高パフォーマンス広告</a:t>
            </a:r>
          </a:p>
          <a:p>
            <a:pPr algn="l">
              <a:lnSpc>
                <a:spcPct val="155000"/>
              </a:lnSpc>
            </a:pPr>
            <a:r>
              <a:rPr sz="1100" b="0">
                <a:solidFill>
                  <a:srgbClr val="1A1A1A"/>
                </a:solidFill>
                <a:latin typeface="Hiragino Sans"/>
                <a:ea typeface="Hiragino Sans"/>
                <a:cs typeface="Hiragino Sans"/>
              </a:rPr>
              <a:t>実績ベースの広告ライブラリ</a:t>
            </a:r>
          </a:p>
        </p:txBody>
      </p:sp>
      <p:sp>
        <p:nvSpPr>
          <p:cNvPr id="12" name="Rounded Rectangle 11"/>
          <p:cNvSpPr/>
          <p:nvPr/>
        </p:nvSpPr>
        <p:spPr>
          <a:xfrm>
            <a:off x="6172200" y="1417320"/>
            <a:ext cx="5440680" cy="16916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2200" y="1417320"/>
            <a:ext cx="91440" cy="16916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1554480"/>
            <a:ext cx="5074920" cy="41148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Trend Discovery</a:t>
            </a:r>
          </a:p>
        </p:txBody>
      </p:sp>
      <p:sp>
        <p:nvSpPr>
          <p:cNvPr id="15" name="TextBox 14"/>
          <p:cNvSpPr txBox="1"/>
          <p:nvPr/>
        </p:nvSpPr>
        <p:spPr>
          <a:xfrm>
            <a:off x="6400800" y="1965960"/>
            <a:ext cx="5074920" cy="1097280"/>
          </a:xfrm>
          <a:prstGeom prst="rect">
            <a:avLst/>
          </a:prstGeom>
          <a:noFill/>
        </p:spPr>
        <p:txBody>
          <a:bodyPr wrap="square" anchor="t" lIns="0" rIns="0" tIns="0" bIns="0">
            <a:spAutoFit/>
          </a:bodyPr>
          <a:lstStyle/>
          <a:p>
            <a:pPr algn="l">
              <a:lnSpc>
                <a:spcPct val="155000"/>
              </a:lnSpc>
            </a:pPr>
            <a:r>
              <a:rPr sz="1100" b="0">
                <a:solidFill>
                  <a:srgbClr val="1A1A1A"/>
                </a:solidFill>
                <a:latin typeface="Hiragino Sans"/>
                <a:ea typeface="Hiragino Sans"/>
                <a:cs typeface="Hiragino Sans"/>
              </a:rPr>
              <a:t>トレンドハッシュタグ・楽曲</a:t>
            </a:r>
          </a:p>
          <a:p>
            <a:pPr algn="l">
              <a:lnSpc>
                <a:spcPct val="155000"/>
              </a:lnSpc>
            </a:pPr>
            <a:r>
              <a:rPr sz="1100" b="0">
                <a:solidFill>
                  <a:srgbClr val="1A1A1A"/>
                </a:solidFill>
                <a:latin typeface="Hiragino Sans"/>
                <a:ea typeface="Hiragino Sans"/>
                <a:cs typeface="Hiragino Sans"/>
              </a:rPr>
              <a:t>7/30日トレンドを可視化</a:t>
            </a:r>
          </a:p>
        </p:txBody>
      </p:sp>
      <p:sp>
        <p:nvSpPr>
          <p:cNvPr id="16" name="Rounded Rectangle 15"/>
          <p:cNvSpPr/>
          <p:nvPr/>
        </p:nvSpPr>
        <p:spPr>
          <a:xfrm>
            <a:off x="548640" y="3291840"/>
            <a:ext cx="5440680" cy="16916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291840"/>
            <a:ext cx="91440" cy="16916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3429000"/>
            <a:ext cx="5074920" cy="41148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Creative Insights</a:t>
            </a:r>
          </a:p>
        </p:txBody>
      </p:sp>
      <p:sp>
        <p:nvSpPr>
          <p:cNvPr id="19" name="TextBox 18"/>
          <p:cNvSpPr txBox="1"/>
          <p:nvPr/>
        </p:nvSpPr>
        <p:spPr>
          <a:xfrm>
            <a:off x="777240" y="3840480"/>
            <a:ext cx="5074920" cy="1097280"/>
          </a:xfrm>
          <a:prstGeom prst="rect">
            <a:avLst/>
          </a:prstGeom>
          <a:noFill/>
        </p:spPr>
        <p:txBody>
          <a:bodyPr wrap="square" anchor="t" lIns="0" rIns="0" tIns="0" bIns="0">
            <a:spAutoFit/>
          </a:bodyPr>
          <a:lstStyle/>
          <a:p>
            <a:pPr algn="l">
              <a:lnSpc>
                <a:spcPct val="155000"/>
              </a:lnSpc>
            </a:pPr>
            <a:r>
              <a:rPr sz="1100" b="0">
                <a:solidFill>
                  <a:srgbClr val="1A1A1A"/>
                </a:solidFill>
                <a:latin typeface="Hiragino Sans"/>
                <a:ea typeface="Hiragino Sans"/>
                <a:cs typeface="Hiragino Sans"/>
              </a:rPr>
              <a:t>広告ベンチマーク</a:t>
            </a:r>
          </a:p>
          <a:p>
            <a:pPr algn="l">
              <a:lnSpc>
                <a:spcPct val="155000"/>
              </a:lnSpc>
            </a:pPr>
            <a:r>
              <a:rPr sz="1100" b="0">
                <a:solidFill>
                  <a:srgbClr val="1A1A1A"/>
                </a:solidFill>
                <a:latin typeface="Hiragino Sans"/>
                <a:ea typeface="Hiragino Sans"/>
                <a:cs typeface="Hiragino Sans"/>
              </a:rPr>
              <a:t>CVR / CTR / VTR の業界平均</a:t>
            </a:r>
          </a:p>
        </p:txBody>
      </p:sp>
      <p:sp>
        <p:nvSpPr>
          <p:cNvPr id="20" name="Rounded Rectangle 19"/>
          <p:cNvSpPr/>
          <p:nvPr/>
        </p:nvSpPr>
        <p:spPr>
          <a:xfrm>
            <a:off x="6172200" y="3291840"/>
            <a:ext cx="5440680" cy="16916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72200" y="3291840"/>
            <a:ext cx="91440" cy="16916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3429000"/>
            <a:ext cx="5074920" cy="41148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Symphony Tools 連携</a:t>
            </a:r>
          </a:p>
        </p:txBody>
      </p:sp>
      <p:sp>
        <p:nvSpPr>
          <p:cNvPr id="23" name="TextBox 22"/>
          <p:cNvSpPr txBox="1"/>
          <p:nvPr/>
        </p:nvSpPr>
        <p:spPr>
          <a:xfrm>
            <a:off x="6400800" y="3840480"/>
            <a:ext cx="5074920" cy="1097280"/>
          </a:xfrm>
          <a:prstGeom prst="rect">
            <a:avLst/>
          </a:prstGeom>
          <a:noFill/>
        </p:spPr>
        <p:txBody>
          <a:bodyPr wrap="square" anchor="t" lIns="0" rIns="0" tIns="0" bIns="0">
            <a:spAutoFit/>
          </a:bodyPr>
          <a:lstStyle/>
          <a:p>
            <a:pPr algn="l">
              <a:lnSpc>
                <a:spcPct val="155000"/>
              </a:lnSpc>
            </a:pPr>
            <a:r>
              <a:rPr sz="1100" b="0">
                <a:solidFill>
                  <a:srgbClr val="1A1A1A"/>
                </a:solidFill>
                <a:latin typeface="Hiragino Sans"/>
                <a:ea typeface="Hiragino Sans"/>
                <a:cs typeface="Hiragino Sans"/>
              </a:rPr>
              <a:t>リサーチ → AI生成までシームレス</a:t>
            </a:r>
          </a:p>
          <a:p>
            <a:pPr algn="l">
              <a:lnSpc>
                <a:spcPct val="155000"/>
              </a:lnSpc>
            </a:pPr>
            <a:r>
              <a:rPr sz="1100" b="0">
                <a:solidFill>
                  <a:srgbClr val="1A1A1A"/>
                </a:solidFill>
                <a:latin typeface="Hiragino Sans"/>
                <a:ea typeface="Hiragino Sans"/>
                <a:cs typeface="Hiragino Sans"/>
              </a:rPr>
              <a:t>TikTok内で完結</a:t>
            </a:r>
          </a:p>
        </p:txBody>
      </p:sp>
      <p:sp>
        <p:nvSpPr>
          <p:cNvPr id="24" name="Rounded Rectangle 23"/>
          <p:cNvSpPr/>
          <p:nvPr/>
        </p:nvSpPr>
        <p:spPr>
          <a:xfrm>
            <a:off x="548640" y="5166360"/>
            <a:ext cx="11109960" cy="118872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5303520"/>
            <a:ext cx="109728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 副業代行ワークフロー</a:t>
            </a:r>
          </a:p>
        </p:txBody>
      </p:sp>
      <p:sp>
        <p:nvSpPr>
          <p:cNvPr id="26" name="TextBox 25"/>
          <p:cNvSpPr txBox="1"/>
          <p:nvPr/>
        </p:nvSpPr>
        <p:spPr>
          <a:xfrm>
            <a:off x="777240" y="5623560"/>
            <a:ext cx="10972800" cy="731520"/>
          </a:xfrm>
          <a:prstGeom prst="rect">
            <a:avLst/>
          </a:prstGeom>
          <a:noFill/>
        </p:spPr>
        <p:txBody>
          <a:bodyPr wrap="square" anchor="t" lIns="0" rIns="0" tIns="0" bIns="0">
            <a:spAutoFit/>
          </a:bodyPr>
          <a:lstStyle/>
          <a:p>
            <a:pPr algn="l">
              <a:lnSpc>
                <a:spcPct val="155000"/>
              </a:lnSpc>
            </a:pPr>
            <a:r>
              <a:rPr sz="1100" b="0">
                <a:solidFill>
                  <a:srgbClr val="1A1A1A"/>
                </a:solidFill>
                <a:latin typeface="Hiragino Sans"/>
                <a:ea typeface="Hiragino Sans"/>
                <a:cs typeface="Hiragino Sans"/>
              </a:rPr>
              <a:t>1. Creative Center で クライアント業種の Top Ads を分析 (週次)</a:t>
            </a:r>
          </a:p>
          <a:p>
            <a:pPr algn="l">
              <a:lnSpc>
                <a:spcPct val="155000"/>
              </a:lnSpc>
            </a:pPr>
            <a:r>
              <a:rPr sz="1100" b="0">
                <a:solidFill>
                  <a:srgbClr val="1A1A1A"/>
                </a:solidFill>
                <a:latin typeface="Hiragino Sans"/>
                <a:ea typeface="Hiragino Sans"/>
                <a:cs typeface="Hiragino Sans"/>
              </a:rPr>
              <a:t>2. トレンド楽曲・ハッシュタグをリサーチ → 制作チームに展開</a:t>
            </a:r>
          </a:p>
          <a:p>
            <a:pPr algn="l">
              <a:lnSpc>
                <a:spcPct val="155000"/>
              </a:lnSpc>
            </a:pPr>
            <a:r>
              <a:rPr sz="1100" b="0">
                <a:solidFill>
                  <a:srgbClr val="1A1A1A"/>
                </a:solidFill>
                <a:latin typeface="Hiragino Sans"/>
                <a:ea typeface="Hiragino Sans"/>
                <a:cs typeface="Hiragino Sans"/>
              </a:rPr>
              <a:t>3. Symphony Creative Studio で AI生成 → クリエイター撮影と並行</a:t>
            </a:r>
          </a:p>
          <a:p>
            <a:pPr algn="l">
              <a:lnSpc>
                <a:spcPct val="155000"/>
              </a:lnSpc>
            </a:pPr>
            <a:r>
              <a:rPr sz="1100" b="0">
                <a:solidFill>
                  <a:srgbClr val="1A1A1A"/>
                </a:solidFill>
                <a:latin typeface="Hiragino Sans"/>
                <a:ea typeface="Hiragino Sans"/>
                <a:cs typeface="Hiragino Sans"/>
              </a:rPr>
              <a:t>4. Smart+ + Spark Ads で配信 → CVR/VTR を業界ベンチマークと比較</a:t>
            </a:r>
          </a:p>
        </p:txBody>
      </p:sp>
      <p:sp>
        <p:nvSpPr>
          <p:cNvPr id="27" name="TextBox 26"/>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TikTok ターゲティング・オーディエンス</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属性 + 興味関心 + Custom + Lookalike</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P108 / 250</a:t>
            </a:r>
          </a:p>
        </p:txBody>
      </p:sp>
      <p:sp>
        <p:nvSpPr>
          <p:cNvPr id="8" name="Rounded Rectangle 7"/>
          <p:cNvSpPr/>
          <p:nvPr/>
        </p:nvSpPr>
        <p:spPr>
          <a:xfrm>
            <a:off x="548640" y="1417320"/>
            <a:ext cx="2697480" cy="25603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269748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581912"/>
            <a:ext cx="2331720" cy="365760"/>
          </a:xfrm>
          <a:prstGeom prst="rect">
            <a:avLst/>
          </a:prstGeom>
          <a:noFill/>
        </p:spPr>
        <p:txBody>
          <a:bodyPr wrap="square" anchor="t" lIns="0" rIns="0" tIns="0" bIns="0">
            <a:spAutoFit/>
          </a:bodyPr>
          <a:lstStyle/>
          <a:p>
            <a:pPr algn="ctr">
              <a:lnSpc>
                <a:spcPct val="115000"/>
              </a:lnSpc>
            </a:pPr>
            <a:r>
              <a:rPr sz="1400" b="1">
                <a:solidFill>
                  <a:srgbClr val="FFFFFF"/>
                </a:solidFill>
                <a:latin typeface="Helvetica Neue"/>
                <a:ea typeface="Helvetica Neue"/>
                <a:cs typeface="Helvetica Neue"/>
              </a:rPr>
              <a:t>Demographics</a:t>
            </a:r>
          </a:p>
        </p:txBody>
      </p:sp>
      <p:sp>
        <p:nvSpPr>
          <p:cNvPr id="11" name="TextBox 10"/>
          <p:cNvSpPr txBox="1"/>
          <p:nvPr/>
        </p:nvSpPr>
        <p:spPr>
          <a:xfrm>
            <a:off x="731520" y="1965960"/>
            <a:ext cx="233172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属性ベース</a:t>
            </a:r>
          </a:p>
        </p:txBody>
      </p:sp>
      <p:sp>
        <p:nvSpPr>
          <p:cNvPr id="12" name="TextBox 11"/>
          <p:cNvSpPr txBox="1"/>
          <p:nvPr/>
        </p:nvSpPr>
        <p:spPr>
          <a:xfrm>
            <a:off x="731520" y="2423160"/>
            <a:ext cx="2331720" cy="1508760"/>
          </a:xfrm>
          <a:prstGeom prst="rect">
            <a:avLst/>
          </a:prstGeom>
          <a:noFill/>
        </p:spPr>
        <p:txBody>
          <a:bodyPr wrap="square" anchor="t" lIns="0" rIns="0" tIns="0" bIns="0">
            <a:spAutoFit/>
          </a:bodyPr>
          <a:lstStyle/>
          <a:p>
            <a:pPr algn="l">
              <a:lnSpc>
                <a:spcPct val="170000"/>
              </a:lnSpc>
            </a:pPr>
            <a:r>
              <a:rPr sz="1100" b="0">
                <a:solidFill>
                  <a:srgbClr val="1A1A1A"/>
                </a:solidFill>
                <a:latin typeface="Hiragino Sans"/>
                <a:ea typeface="Hiragino Sans"/>
                <a:cs typeface="Hiragino Sans"/>
              </a:rPr>
              <a:t>・年齢 / 性別 / 地域</a:t>
            </a:r>
          </a:p>
          <a:p>
            <a:pPr algn="l">
              <a:lnSpc>
                <a:spcPct val="170000"/>
              </a:lnSpc>
            </a:pPr>
            <a:r>
              <a:rPr sz="1100" b="0">
                <a:solidFill>
                  <a:srgbClr val="1A1A1A"/>
                </a:solidFill>
                <a:latin typeface="Hiragino Sans"/>
                <a:ea typeface="Hiragino Sans"/>
                <a:cs typeface="Hiragino Sans"/>
              </a:rPr>
              <a:t>・言語 / OS / デバイス</a:t>
            </a:r>
          </a:p>
          <a:p>
            <a:pPr algn="l">
              <a:lnSpc>
                <a:spcPct val="170000"/>
              </a:lnSpc>
            </a:pPr>
            <a:r>
              <a:rPr sz="1100" b="0">
                <a:solidFill>
                  <a:srgbClr val="1A1A1A"/>
                </a:solidFill>
                <a:latin typeface="Hiragino Sans"/>
                <a:ea typeface="Hiragino Sans"/>
                <a:cs typeface="Hiragino Sans"/>
              </a:rPr>
              <a:t>・キャリア / 接続環境</a:t>
            </a:r>
          </a:p>
        </p:txBody>
      </p:sp>
      <p:sp>
        <p:nvSpPr>
          <p:cNvPr id="13" name="Rounded Rectangle 12"/>
          <p:cNvSpPr/>
          <p:nvPr/>
        </p:nvSpPr>
        <p:spPr>
          <a:xfrm>
            <a:off x="3337560" y="1417320"/>
            <a:ext cx="2697480" cy="25603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37560" y="1417320"/>
            <a:ext cx="269748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20440" y="1581912"/>
            <a:ext cx="2331720" cy="365760"/>
          </a:xfrm>
          <a:prstGeom prst="rect">
            <a:avLst/>
          </a:prstGeom>
          <a:noFill/>
        </p:spPr>
        <p:txBody>
          <a:bodyPr wrap="square" anchor="t" lIns="0" rIns="0" tIns="0" bIns="0">
            <a:spAutoFit/>
          </a:bodyPr>
          <a:lstStyle/>
          <a:p>
            <a:pPr algn="ctr">
              <a:lnSpc>
                <a:spcPct val="115000"/>
              </a:lnSpc>
            </a:pPr>
            <a:r>
              <a:rPr sz="1400" b="1">
                <a:solidFill>
                  <a:srgbClr val="FFFFFF"/>
                </a:solidFill>
                <a:latin typeface="Helvetica Neue"/>
                <a:ea typeface="Helvetica Neue"/>
                <a:cs typeface="Helvetica Neue"/>
              </a:rPr>
              <a:t>Interests &amp; Behaviors</a:t>
            </a:r>
          </a:p>
        </p:txBody>
      </p:sp>
      <p:sp>
        <p:nvSpPr>
          <p:cNvPr id="16" name="TextBox 15"/>
          <p:cNvSpPr txBox="1"/>
          <p:nvPr/>
        </p:nvSpPr>
        <p:spPr>
          <a:xfrm>
            <a:off x="3520440" y="1965960"/>
            <a:ext cx="233172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興味関心 + 行動</a:t>
            </a:r>
          </a:p>
        </p:txBody>
      </p:sp>
      <p:sp>
        <p:nvSpPr>
          <p:cNvPr id="17" name="TextBox 16"/>
          <p:cNvSpPr txBox="1"/>
          <p:nvPr/>
        </p:nvSpPr>
        <p:spPr>
          <a:xfrm>
            <a:off x="3520440" y="2423160"/>
            <a:ext cx="2331720" cy="1508760"/>
          </a:xfrm>
          <a:prstGeom prst="rect">
            <a:avLst/>
          </a:prstGeom>
          <a:noFill/>
        </p:spPr>
        <p:txBody>
          <a:bodyPr wrap="square" anchor="t" lIns="0" rIns="0" tIns="0" bIns="0">
            <a:spAutoFit/>
          </a:bodyPr>
          <a:lstStyle/>
          <a:p>
            <a:pPr algn="l">
              <a:lnSpc>
                <a:spcPct val="170000"/>
              </a:lnSpc>
            </a:pPr>
            <a:r>
              <a:rPr sz="1100" b="0">
                <a:solidFill>
                  <a:srgbClr val="1A1A1A"/>
                </a:solidFill>
                <a:latin typeface="Hiragino Sans"/>
                <a:ea typeface="Hiragino Sans"/>
                <a:cs typeface="Hiragino Sans"/>
              </a:rPr>
              <a:t>・トピック (美容/フィットネス等)</a:t>
            </a:r>
          </a:p>
          <a:p>
            <a:pPr algn="l">
              <a:lnSpc>
                <a:spcPct val="170000"/>
              </a:lnSpc>
            </a:pPr>
            <a:r>
              <a:rPr sz="1100" b="0">
                <a:solidFill>
                  <a:srgbClr val="1A1A1A"/>
                </a:solidFill>
                <a:latin typeface="Hiragino Sans"/>
                <a:ea typeface="Hiragino Sans"/>
                <a:cs typeface="Hiragino Sans"/>
              </a:rPr>
              <a:t>・ハッシュタグエンゲージ</a:t>
            </a:r>
          </a:p>
          <a:p>
            <a:pPr algn="l">
              <a:lnSpc>
                <a:spcPct val="170000"/>
              </a:lnSpc>
            </a:pPr>
            <a:r>
              <a:rPr sz="1100" b="0">
                <a:solidFill>
                  <a:srgbClr val="1A1A1A"/>
                </a:solidFill>
                <a:latin typeface="Hiragino Sans"/>
                <a:ea typeface="Hiragino Sans"/>
                <a:cs typeface="Hiragino Sans"/>
              </a:rPr>
              <a:t>・クリエイターフォロー</a:t>
            </a:r>
          </a:p>
        </p:txBody>
      </p:sp>
      <p:sp>
        <p:nvSpPr>
          <p:cNvPr id="18" name="Rounded Rectangle 17"/>
          <p:cNvSpPr/>
          <p:nvPr/>
        </p:nvSpPr>
        <p:spPr>
          <a:xfrm>
            <a:off x="6126480" y="1417320"/>
            <a:ext cx="2697480" cy="25603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0" y="1417320"/>
            <a:ext cx="269748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1581912"/>
            <a:ext cx="2331720" cy="365760"/>
          </a:xfrm>
          <a:prstGeom prst="rect">
            <a:avLst/>
          </a:prstGeom>
          <a:noFill/>
        </p:spPr>
        <p:txBody>
          <a:bodyPr wrap="square" anchor="t" lIns="0" rIns="0" tIns="0" bIns="0">
            <a:spAutoFit/>
          </a:bodyPr>
          <a:lstStyle/>
          <a:p>
            <a:pPr algn="ctr">
              <a:lnSpc>
                <a:spcPct val="115000"/>
              </a:lnSpc>
            </a:pPr>
            <a:r>
              <a:rPr sz="1400" b="1">
                <a:solidFill>
                  <a:srgbClr val="FFFFFF"/>
                </a:solidFill>
                <a:latin typeface="Helvetica Neue"/>
                <a:ea typeface="Helvetica Neue"/>
                <a:cs typeface="Helvetica Neue"/>
              </a:rPr>
              <a:t>Custom Audience</a:t>
            </a:r>
          </a:p>
        </p:txBody>
      </p:sp>
      <p:sp>
        <p:nvSpPr>
          <p:cNvPr id="21" name="TextBox 20"/>
          <p:cNvSpPr txBox="1"/>
          <p:nvPr/>
        </p:nvSpPr>
        <p:spPr>
          <a:xfrm>
            <a:off x="6309360" y="1965960"/>
            <a:ext cx="233172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1PD / 行動</a:t>
            </a:r>
          </a:p>
        </p:txBody>
      </p:sp>
      <p:sp>
        <p:nvSpPr>
          <p:cNvPr id="22" name="TextBox 21"/>
          <p:cNvSpPr txBox="1"/>
          <p:nvPr/>
        </p:nvSpPr>
        <p:spPr>
          <a:xfrm>
            <a:off x="6309360" y="2423160"/>
            <a:ext cx="2331720" cy="1508760"/>
          </a:xfrm>
          <a:prstGeom prst="rect">
            <a:avLst/>
          </a:prstGeom>
          <a:noFill/>
        </p:spPr>
        <p:txBody>
          <a:bodyPr wrap="square" anchor="t" lIns="0" rIns="0" tIns="0" bIns="0">
            <a:spAutoFit/>
          </a:bodyPr>
          <a:lstStyle/>
          <a:p>
            <a:pPr algn="l">
              <a:lnSpc>
                <a:spcPct val="170000"/>
              </a:lnSpc>
            </a:pPr>
            <a:r>
              <a:rPr sz="1100" b="0">
                <a:solidFill>
                  <a:srgbClr val="1A1A1A"/>
                </a:solidFill>
                <a:latin typeface="Hiragino Sans"/>
                <a:ea typeface="Hiragino Sans"/>
                <a:cs typeface="Hiragino Sans"/>
              </a:rPr>
              <a:t>・Customer File (CRM)</a:t>
            </a:r>
          </a:p>
          <a:p>
            <a:pPr algn="l">
              <a:lnSpc>
                <a:spcPct val="170000"/>
              </a:lnSpc>
            </a:pPr>
            <a:r>
              <a:rPr sz="1100" b="0">
                <a:solidFill>
                  <a:srgbClr val="1A1A1A"/>
                </a:solidFill>
                <a:latin typeface="Hiragino Sans"/>
                <a:ea typeface="Hiragino Sans"/>
                <a:cs typeface="Hiragino Sans"/>
              </a:rPr>
              <a:t>・Engagement (動画視聴)</a:t>
            </a:r>
          </a:p>
          <a:p>
            <a:pPr algn="l">
              <a:lnSpc>
                <a:spcPct val="170000"/>
              </a:lnSpc>
            </a:pPr>
            <a:r>
              <a:rPr sz="1100" b="0">
                <a:solidFill>
                  <a:srgbClr val="1A1A1A"/>
                </a:solidFill>
                <a:latin typeface="Hiragino Sans"/>
                <a:ea typeface="Hiragino Sans"/>
                <a:cs typeface="Hiragino Sans"/>
              </a:rPr>
              <a:t>・Lead Form 提出済</a:t>
            </a:r>
          </a:p>
        </p:txBody>
      </p:sp>
      <p:sp>
        <p:nvSpPr>
          <p:cNvPr id="23" name="Rounded Rectangle 22"/>
          <p:cNvSpPr/>
          <p:nvPr/>
        </p:nvSpPr>
        <p:spPr>
          <a:xfrm>
            <a:off x="8915400" y="1417320"/>
            <a:ext cx="2697480" cy="25603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15400" y="1417320"/>
            <a:ext cx="269748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98280" y="1581912"/>
            <a:ext cx="2331720" cy="365760"/>
          </a:xfrm>
          <a:prstGeom prst="rect">
            <a:avLst/>
          </a:prstGeom>
          <a:noFill/>
        </p:spPr>
        <p:txBody>
          <a:bodyPr wrap="square" anchor="t" lIns="0" rIns="0" tIns="0" bIns="0">
            <a:spAutoFit/>
          </a:bodyPr>
          <a:lstStyle/>
          <a:p>
            <a:pPr algn="ctr">
              <a:lnSpc>
                <a:spcPct val="115000"/>
              </a:lnSpc>
            </a:pPr>
            <a:r>
              <a:rPr sz="1400" b="1">
                <a:solidFill>
                  <a:srgbClr val="FFFFFF"/>
                </a:solidFill>
                <a:latin typeface="Helvetica Neue"/>
                <a:ea typeface="Helvetica Neue"/>
                <a:cs typeface="Helvetica Neue"/>
              </a:rPr>
              <a:t>Lookalike</a:t>
            </a:r>
          </a:p>
        </p:txBody>
      </p:sp>
      <p:sp>
        <p:nvSpPr>
          <p:cNvPr id="26" name="TextBox 25"/>
          <p:cNvSpPr txBox="1"/>
          <p:nvPr/>
        </p:nvSpPr>
        <p:spPr>
          <a:xfrm>
            <a:off x="9098280" y="1965960"/>
            <a:ext cx="233172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類似拡張</a:t>
            </a:r>
          </a:p>
        </p:txBody>
      </p:sp>
      <p:sp>
        <p:nvSpPr>
          <p:cNvPr id="27" name="TextBox 26"/>
          <p:cNvSpPr txBox="1"/>
          <p:nvPr/>
        </p:nvSpPr>
        <p:spPr>
          <a:xfrm>
            <a:off x="9098280" y="2423160"/>
            <a:ext cx="2331720" cy="1508760"/>
          </a:xfrm>
          <a:prstGeom prst="rect">
            <a:avLst/>
          </a:prstGeom>
          <a:noFill/>
        </p:spPr>
        <p:txBody>
          <a:bodyPr wrap="square" anchor="t" lIns="0" rIns="0" tIns="0" bIns="0">
            <a:spAutoFit/>
          </a:bodyPr>
          <a:lstStyle/>
          <a:p>
            <a:pPr algn="l">
              <a:lnSpc>
                <a:spcPct val="170000"/>
              </a:lnSpc>
            </a:pPr>
            <a:r>
              <a:rPr sz="1100" b="0">
                <a:solidFill>
                  <a:srgbClr val="1A1A1A"/>
                </a:solidFill>
                <a:latin typeface="Hiragino Sans"/>
                <a:ea typeface="Hiragino Sans"/>
                <a:cs typeface="Hiragino Sans"/>
              </a:rPr>
              <a:t>・1%-10% 類似度制御</a:t>
            </a:r>
          </a:p>
          <a:p>
            <a:pPr algn="l">
              <a:lnSpc>
                <a:spcPct val="170000"/>
              </a:lnSpc>
            </a:pPr>
            <a:r>
              <a:rPr sz="1100" b="0">
                <a:solidFill>
                  <a:srgbClr val="1A1A1A"/>
                </a:solidFill>
                <a:latin typeface="Hiragino Sans"/>
                <a:ea typeface="Hiragino Sans"/>
                <a:cs typeface="Hiragino Sans"/>
              </a:rPr>
              <a:t>・Customer File をシードに</a:t>
            </a:r>
          </a:p>
          <a:p>
            <a:pPr algn="l">
              <a:lnSpc>
                <a:spcPct val="170000"/>
              </a:lnSpc>
            </a:pPr>
            <a:r>
              <a:rPr sz="1100" b="0">
                <a:solidFill>
                  <a:srgbClr val="1A1A1A"/>
                </a:solidFill>
                <a:latin typeface="Hiragino Sans"/>
                <a:ea typeface="Hiragino Sans"/>
                <a:cs typeface="Hiragino Sans"/>
              </a:rPr>
              <a:t>・国別 LAL 可</a:t>
            </a:r>
          </a:p>
        </p:txBody>
      </p:sp>
      <p:sp>
        <p:nvSpPr>
          <p:cNvPr id="28" name="Rounded Rectangle 27"/>
          <p:cNvSpPr/>
          <p:nvPr/>
        </p:nvSpPr>
        <p:spPr>
          <a:xfrm>
            <a:off x="548640" y="4114800"/>
            <a:ext cx="11109960" cy="224028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4251960"/>
            <a:ext cx="10058400" cy="320040"/>
          </a:xfrm>
          <a:prstGeom prst="rect">
            <a:avLst/>
          </a:prstGeom>
          <a:noFill/>
        </p:spPr>
        <p:txBody>
          <a:bodyPr wrap="square" anchor="t" lIns="0" rIns="0" tIns="0" bIns="0">
            <a:spAutoFit/>
          </a:bodyPr>
          <a:lstStyle/>
          <a:p>
            <a:pPr algn="l">
              <a:lnSpc>
                <a:spcPct val="115000"/>
              </a:lnSpc>
            </a:pPr>
            <a:r>
              <a:rPr sz="1200" b="1">
                <a:solidFill>
                  <a:srgbClr val="E87722"/>
                </a:solidFill>
                <a:latin typeface="Hiragino Sans"/>
                <a:ea typeface="Hiragino Sans"/>
                <a:cs typeface="Hiragino Sans"/>
              </a:rPr>
              <a:t>💡 Smart+ 活用時のオーディエンス設計</a:t>
            </a:r>
          </a:p>
        </p:txBody>
      </p:sp>
      <p:sp>
        <p:nvSpPr>
          <p:cNvPr id="30" name="TextBox 29"/>
          <p:cNvSpPr txBox="1"/>
          <p:nvPr/>
        </p:nvSpPr>
        <p:spPr>
          <a:xfrm>
            <a:off x="777240" y="4572000"/>
            <a:ext cx="10972800" cy="1691640"/>
          </a:xfrm>
          <a:prstGeom prst="rect">
            <a:avLst/>
          </a:prstGeom>
          <a:noFill/>
        </p:spPr>
        <p:txBody>
          <a:bodyPr wrap="square" anchor="t" lIns="0" rIns="0" tIns="0" bIns="0">
            <a:spAutoFit/>
          </a:bodyPr>
          <a:lstStyle/>
          <a:p>
            <a:pPr algn="l">
              <a:lnSpc>
                <a:spcPct val="160000"/>
              </a:lnSpc>
            </a:pPr>
            <a:r>
              <a:rPr sz="1100" b="0">
                <a:solidFill>
                  <a:srgbClr val="FFFFFF"/>
                </a:solidFill>
                <a:latin typeface="Hiragino Sans"/>
                <a:ea typeface="Hiragino Sans"/>
                <a:cs typeface="Hiragino Sans"/>
              </a:rPr>
              <a:t>• Smart+ では AI が自動拡張 — 細かいセグメント指定は不要、Audience Signal として渡す</a:t>
            </a:r>
          </a:p>
          <a:p>
            <a:pPr algn="l">
              <a:lnSpc>
                <a:spcPct val="160000"/>
              </a:lnSpc>
            </a:pPr>
            <a:r>
              <a:rPr sz="1100" b="0">
                <a:solidFill>
                  <a:srgbClr val="FFFFFF"/>
                </a:solidFill>
                <a:latin typeface="Hiragino Sans"/>
                <a:ea typeface="Hiragino Sans"/>
                <a:cs typeface="Hiragino Sans"/>
              </a:rPr>
              <a:t>• Custom Audience (Customer File) を Audience Signal に投入で AI学習加速</a:t>
            </a:r>
          </a:p>
          <a:p>
            <a:pPr algn="l">
              <a:lnSpc>
                <a:spcPct val="160000"/>
              </a:lnSpc>
            </a:pPr>
            <a:r>
              <a:rPr sz="1100" b="0">
                <a:solidFill>
                  <a:srgbClr val="FFFFFF"/>
                </a:solidFill>
                <a:latin typeface="Hiragino Sans"/>
                <a:ea typeface="Hiragino Sans"/>
                <a:cs typeface="Hiragino Sans"/>
              </a:rPr>
              <a:t>• Lookalike 1-3% を新規獲得用、5-10% は規模拡大用に使い分け</a:t>
            </a:r>
          </a:p>
          <a:p>
            <a:pPr algn="l">
              <a:lnSpc>
                <a:spcPct val="160000"/>
              </a:lnSpc>
            </a:pPr>
            <a:r>
              <a:rPr sz="1100" b="0">
                <a:solidFill>
                  <a:srgbClr val="FFFFFF"/>
                </a:solidFill>
                <a:latin typeface="Hiragino Sans"/>
                <a:ea typeface="Hiragino Sans"/>
                <a:cs typeface="Hiragino Sans"/>
              </a:rPr>
              <a:t>• Engagement Audience (動画70%以上視聴) で Re-marketing → CVR大幅改善</a:t>
            </a:r>
          </a:p>
          <a:p>
            <a:pPr algn="l">
              <a:lnSpc>
                <a:spcPct val="160000"/>
              </a:lnSpc>
            </a:pPr>
            <a:r>
              <a:rPr sz="1100" b="0">
                <a:solidFill>
                  <a:srgbClr val="FFFFFF"/>
                </a:solidFill>
                <a:latin typeface="Hiragino Sans"/>
                <a:ea typeface="Hiragino Sans"/>
                <a:cs typeface="Hiragino Sans"/>
              </a:rPr>
              <a:t>• 興味関心セグメントは Smart+ 不使用時の Manual キャンペーンで活用</a:t>
            </a:r>
          </a:p>
        </p:txBody>
      </p:sp>
      <p:sp>
        <p:nvSpPr>
          <p:cNvPr id="31" name="TextBox 30"/>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TikTok 計測 — Pixel + Events API</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iOS/ATT 後のシグナル復元</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P109 / 250</a:t>
            </a:r>
          </a:p>
        </p:txBody>
      </p:sp>
      <p:sp>
        <p:nvSpPr>
          <p:cNvPr id="8" name="Rounded Rectangle 7"/>
          <p:cNvSpPr/>
          <p:nvPr/>
        </p:nvSpPr>
        <p:spPr>
          <a:xfrm>
            <a:off x="548640" y="1417320"/>
            <a:ext cx="5486400" cy="23774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548640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581912"/>
            <a:ext cx="4937760" cy="411480"/>
          </a:xfrm>
          <a:prstGeom prst="rect">
            <a:avLst/>
          </a:prstGeom>
          <a:noFill/>
        </p:spPr>
        <p:txBody>
          <a:bodyPr wrap="square" anchor="t" lIns="0" rIns="0" tIns="0" bIns="0">
            <a:spAutoFit/>
          </a:bodyPr>
          <a:lstStyle/>
          <a:p>
            <a:pPr algn="l">
              <a:lnSpc>
                <a:spcPct val="115000"/>
              </a:lnSpc>
            </a:pPr>
            <a:r>
              <a:rPr sz="1500" b="1">
                <a:solidFill>
                  <a:srgbClr val="FFFFFF"/>
                </a:solidFill>
                <a:latin typeface="Helvetica Neue"/>
                <a:ea typeface="Helvetica Neue"/>
                <a:cs typeface="Helvetica Neue"/>
              </a:rPr>
              <a:t>TikTok Pixel</a:t>
            </a:r>
          </a:p>
        </p:txBody>
      </p:sp>
      <p:sp>
        <p:nvSpPr>
          <p:cNvPr id="11" name="TextBox 10"/>
          <p:cNvSpPr txBox="1"/>
          <p:nvPr/>
        </p:nvSpPr>
        <p:spPr>
          <a:xfrm>
            <a:off x="822960" y="1965960"/>
            <a:ext cx="4937760" cy="27432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ブラウザイベント計測</a:t>
            </a:r>
          </a:p>
        </p:txBody>
      </p:sp>
      <p:sp>
        <p:nvSpPr>
          <p:cNvPr id="12" name="TextBox 11"/>
          <p:cNvSpPr txBox="1"/>
          <p:nvPr/>
        </p:nvSpPr>
        <p:spPr>
          <a:xfrm>
            <a:off x="822960" y="2377440"/>
            <a:ext cx="4937760" cy="137160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JavaScript で発火</a:t>
            </a:r>
          </a:p>
          <a:p>
            <a:pPr algn="l">
              <a:lnSpc>
                <a:spcPct val="160000"/>
              </a:lnSpc>
            </a:pPr>
            <a:r>
              <a:rPr sz="1100" b="0">
                <a:solidFill>
                  <a:srgbClr val="1A1A1A"/>
                </a:solidFill>
                <a:latin typeface="Hiragino Sans"/>
                <a:ea typeface="Hiragino Sans"/>
                <a:cs typeface="Hiragino Sans"/>
              </a:rPr>
              <a:t>PageView / AddToCart / Purchase 等</a:t>
            </a:r>
          </a:p>
          <a:p>
            <a:pPr algn="l">
              <a:lnSpc>
                <a:spcPct val="160000"/>
              </a:lnSpc>
            </a:pPr>
            <a:r>
              <a:rPr sz="1100" b="0">
                <a:solidFill>
                  <a:srgbClr val="1A1A1A"/>
                </a:solidFill>
                <a:latin typeface="Hiragino Sans"/>
                <a:ea typeface="Hiragino Sans"/>
                <a:cs typeface="Hiragino Sans"/>
              </a:rPr>
              <a:t>iOS で Cookie制限の影響あり</a:t>
            </a:r>
          </a:p>
        </p:txBody>
      </p:sp>
      <p:sp>
        <p:nvSpPr>
          <p:cNvPr id="13" name="Rounded Rectangle 12"/>
          <p:cNvSpPr/>
          <p:nvPr/>
        </p:nvSpPr>
        <p:spPr>
          <a:xfrm>
            <a:off x="6172200" y="1417320"/>
            <a:ext cx="5486400" cy="23774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1417320"/>
            <a:ext cx="548640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1581912"/>
            <a:ext cx="4937760" cy="411480"/>
          </a:xfrm>
          <a:prstGeom prst="rect">
            <a:avLst/>
          </a:prstGeom>
          <a:noFill/>
        </p:spPr>
        <p:txBody>
          <a:bodyPr wrap="square" anchor="t" lIns="0" rIns="0" tIns="0" bIns="0">
            <a:spAutoFit/>
          </a:bodyPr>
          <a:lstStyle/>
          <a:p>
            <a:pPr algn="l">
              <a:lnSpc>
                <a:spcPct val="115000"/>
              </a:lnSpc>
            </a:pPr>
            <a:r>
              <a:rPr sz="1500" b="1">
                <a:solidFill>
                  <a:srgbClr val="FFFFFF"/>
                </a:solidFill>
                <a:latin typeface="Helvetica Neue"/>
                <a:ea typeface="Helvetica Neue"/>
                <a:cs typeface="Helvetica Neue"/>
              </a:rPr>
              <a:t>Events API (CAPI相当)</a:t>
            </a:r>
          </a:p>
        </p:txBody>
      </p:sp>
      <p:sp>
        <p:nvSpPr>
          <p:cNvPr id="16" name="TextBox 15"/>
          <p:cNvSpPr txBox="1"/>
          <p:nvPr/>
        </p:nvSpPr>
        <p:spPr>
          <a:xfrm>
            <a:off x="6446520" y="1965960"/>
            <a:ext cx="4937760" cy="27432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サーバーサイド計測</a:t>
            </a:r>
          </a:p>
        </p:txBody>
      </p:sp>
      <p:sp>
        <p:nvSpPr>
          <p:cNvPr id="17" name="TextBox 16"/>
          <p:cNvSpPr txBox="1"/>
          <p:nvPr/>
        </p:nvSpPr>
        <p:spPr>
          <a:xfrm>
            <a:off x="6446520" y="2377440"/>
            <a:ext cx="4937760" cy="137160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サーバーから直接送信</a:t>
            </a:r>
          </a:p>
          <a:p>
            <a:pPr algn="l">
              <a:lnSpc>
                <a:spcPct val="160000"/>
              </a:lnSpc>
            </a:pPr>
            <a:r>
              <a:rPr sz="1100" b="0">
                <a:solidFill>
                  <a:srgbClr val="1A1A1A"/>
                </a:solidFill>
                <a:latin typeface="Hiragino Sans"/>
                <a:ea typeface="Hiragino Sans"/>
                <a:cs typeface="Hiragino Sans"/>
              </a:rPr>
              <a:t>ブラウザブロックの影響なし</a:t>
            </a:r>
          </a:p>
          <a:p>
            <a:pPr algn="l">
              <a:lnSpc>
                <a:spcPct val="160000"/>
              </a:lnSpc>
            </a:pPr>
            <a:r>
              <a:rPr sz="1100" b="0">
                <a:solidFill>
                  <a:srgbClr val="1A1A1A"/>
                </a:solidFill>
                <a:latin typeface="Hiragino Sans"/>
                <a:ea typeface="Hiragino Sans"/>
                <a:cs typeface="Hiragino Sans"/>
              </a:rPr>
              <a:t>Pixel と event_id で重複排除</a:t>
            </a:r>
          </a:p>
        </p:txBody>
      </p:sp>
      <p:sp>
        <p:nvSpPr>
          <p:cNvPr id="18" name="Rounded Rectangle 17"/>
          <p:cNvSpPr/>
          <p:nvPr/>
        </p:nvSpPr>
        <p:spPr>
          <a:xfrm>
            <a:off x="548640" y="4023360"/>
            <a:ext cx="11109960" cy="233172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160520"/>
            <a:ext cx="100584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 副業代行の標準実装 (2026年)</a:t>
            </a:r>
          </a:p>
        </p:txBody>
      </p:sp>
      <p:sp>
        <p:nvSpPr>
          <p:cNvPr id="20" name="TextBox 19"/>
          <p:cNvSpPr txBox="1"/>
          <p:nvPr/>
        </p:nvSpPr>
        <p:spPr>
          <a:xfrm>
            <a:off x="777240" y="4526280"/>
            <a:ext cx="10972800" cy="178308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1. TikTok Pixel + Events API のハイブリッド構成 (Meta CAPIと同パターン)</a:t>
            </a:r>
          </a:p>
          <a:p>
            <a:pPr algn="l">
              <a:lnSpc>
                <a:spcPct val="160000"/>
              </a:lnSpc>
            </a:pPr>
            <a:r>
              <a:rPr sz="1100" b="0">
                <a:solidFill>
                  <a:srgbClr val="1A1A1A"/>
                </a:solidFill>
                <a:latin typeface="Hiragino Sans"/>
                <a:ea typeface="Hiragino Sans"/>
                <a:cs typeface="Hiragino Sans"/>
              </a:rPr>
              <a:t>2. event_id で重複排除を確実に (GTM テンプレートを活用)</a:t>
            </a:r>
          </a:p>
          <a:p>
            <a:pPr algn="l">
              <a:lnSpc>
                <a:spcPct val="160000"/>
              </a:lnSpc>
            </a:pPr>
            <a:r>
              <a:rPr sz="1100" b="0">
                <a:solidFill>
                  <a:srgbClr val="1A1A1A"/>
                </a:solidFill>
                <a:latin typeface="Hiragino Sans"/>
                <a:ea typeface="Hiragino Sans"/>
                <a:cs typeface="Hiragino Sans"/>
              </a:rPr>
              <a:t>3. EMQ (Event Match Quality) スコアを Events Manager で 8/10以上目標</a:t>
            </a:r>
          </a:p>
          <a:p>
            <a:pPr algn="l">
              <a:lnSpc>
                <a:spcPct val="160000"/>
              </a:lnSpc>
            </a:pPr>
            <a:r>
              <a:rPr sz="1100" b="0">
                <a:solidFill>
                  <a:srgbClr val="1A1A1A"/>
                </a:solidFill>
                <a:latin typeface="Hiragino Sans"/>
                <a:ea typeface="Hiragino Sans"/>
                <a:cs typeface="Hiragino Sans"/>
              </a:rPr>
              <a:t>4. iOS SKAN (App案件のみ) : Smart+ App で自動マッピング</a:t>
            </a:r>
          </a:p>
          <a:p>
            <a:pPr algn="l">
              <a:lnSpc>
                <a:spcPct val="160000"/>
              </a:lnSpc>
            </a:pPr>
            <a:r>
              <a:rPr sz="1100" b="0">
                <a:solidFill>
                  <a:srgbClr val="1A1A1A"/>
                </a:solidFill>
                <a:latin typeface="Hiragino Sans"/>
                <a:ea typeface="Hiragino Sans"/>
                <a:cs typeface="Hiragino Sans"/>
              </a:rPr>
              <a:t>5. Cookie同意管理 : Consent Mode 相当を CMP経由で設計</a:t>
            </a:r>
          </a:p>
          <a:p>
            <a:pPr algn="l">
              <a:lnSpc>
                <a:spcPct val="160000"/>
              </a:lnSpc>
            </a:pPr>
            <a:r>
              <a:rPr sz="1100" b="0">
                <a:solidFill>
                  <a:srgbClr val="1A1A1A"/>
                </a:solidFill>
                <a:latin typeface="Hiragino Sans"/>
                <a:ea typeface="Hiragino Sans"/>
                <a:cs typeface="Hiragino Sans"/>
              </a:rPr>
              <a:t>6. レポート : Pixel単独より Events API追加で +20-40% のCV復元事例多数</a:t>
            </a:r>
          </a:p>
        </p:txBody>
      </p:sp>
      <p:sp>
        <p:nvSpPr>
          <p:cNvPr id="21" name="TextBox 20"/>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TikTok 縦型クリエイティブ鉄則 2026</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Smart+ + Symphony 時代の制作指針</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P110 / 250</a:t>
            </a:r>
          </a:p>
        </p:txBody>
      </p:sp>
      <p:sp>
        <p:nvSpPr>
          <p:cNvPr id="8" name="Rounded Rectangle 7"/>
          <p:cNvSpPr/>
          <p:nvPr/>
        </p:nvSpPr>
        <p:spPr>
          <a:xfrm>
            <a:off x="548640" y="1417320"/>
            <a:ext cx="3611880" cy="15544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600200"/>
            <a:ext cx="548640" cy="640080"/>
          </a:xfrm>
          <a:prstGeom prst="rect">
            <a:avLst/>
          </a:prstGeom>
          <a:noFill/>
        </p:spPr>
        <p:txBody>
          <a:bodyPr wrap="square" anchor="t" lIns="0" rIns="0" tIns="0" bIns="0">
            <a:spAutoFit/>
          </a:bodyPr>
          <a:lstStyle/>
          <a:p>
            <a:pPr algn="l">
              <a:lnSpc>
                <a:spcPct val="115000"/>
              </a:lnSpc>
            </a:pPr>
            <a:r>
              <a:rPr sz="3200" b="1">
                <a:solidFill>
                  <a:srgbClr val="E87722"/>
                </a:solidFill>
                <a:latin typeface="Helvetica Neue"/>
                <a:ea typeface="Helvetica Neue"/>
                <a:cs typeface="Helvetica Neue"/>
              </a:rPr>
              <a:t>①</a:t>
            </a:r>
          </a:p>
        </p:txBody>
      </p:sp>
      <p:sp>
        <p:nvSpPr>
          <p:cNvPr id="10" name="TextBox 9"/>
          <p:cNvSpPr txBox="1"/>
          <p:nvPr/>
        </p:nvSpPr>
        <p:spPr>
          <a:xfrm>
            <a:off x="1417320" y="1645920"/>
            <a:ext cx="2606040" cy="36576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1秒で掴む</a:t>
            </a:r>
          </a:p>
        </p:txBody>
      </p:sp>
      <p:sp>
        <p:nvSpPr>
          <p:cNvPr id="11" name="TextBox 10"/>
          <p:cNvSpPr txBox="1"/>
          <p:nvPr/>
        </p:nvSpPr>
        <p:spPr>
          <a:xfrm>
            <a:off x="731520" y="2286000"/>
            <a:ext cx="3246120" cy="640080"/>
          </a:xfrm>
          <a:prstGeom prst="rect">
            <a:avLst/>
          </a:prstGeom>
          <a:noFill/>
        </p:spPr>
        <p:txBody>
          <a:bodyPr wrap="square" anchor="t" lIns="0" rIns="0" tIns="0" bIns="0">
            <a:spAutoFit/>
          </a:bodyPr>
          <a:lstStyle/>
          <a:p>
            <a:pPr algn="l">
              <a:lnSpc>
                <a:spcPct val="145000"/>
              </a:lnSpc>
            </a:pPr>
            <a:r>
              <a:rPr sz="1000" b="0">
                <a:solidFill>
                  <a:srgbClr val="1A1A1A"/>
                </a:solidFill>
                <a:latin typeface="Hiragino Sans"/>
                <a:ea typeface="Hiragino Sans"/>
                <a:cs typeface="Hiragino Sans"/>
              </a:rPr>
              <a:t>最初の1秒で視覚インパクト</a:t>
            </a:r>
          </a:p>
          <a:p>
            <a:pPr algn="l">
              <a:lnSpc>
                <a:spcPct val="145000"/>
              </a:lnSpc>
            </a:pPr>
            <a:r>
              <a:rPr sz="1000" b="0">
                <a:solidFill>
                  <a:srgbClr val="1A1A1A"/>
                </a:solidFill>
                <a:latin typeface="Hiragino Sans"/>
                <a:ea typeface="Hiragino Sans"/>
                <a:cs typeface="Hiragino Sans"/>
              </a:rPr>
              <a:t>人物/動き/テロップで意表を突く</a:t>
            </a:r>
          </a:p>
        </p:txBody>
      </p:sp>
      <p:sp>
        <p:nvSpPr>
          <p:cNvPr id="12" name="Rounded Rectangle 11"/>
          <p:cNvSpPr/>
          <p:nvPr/>
        </p:nvSpPr>
        <p:spPr>
          <a:xfrm>
            <a:off x="4297680" y="1417320"/>
            <a:ext cx="3611880" cy="15544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0560" y="1600200"/>
            <a:ext cx="548640" cy="640080"/>
          </a:xfrm>
          <a:prstGeom prst="rect">
            <a:avLst/>
          </a:prstGeom>
          <a:noFill/>
        </p:spPr>
        <p:txBody>
          <a:bodyPr wrap="square" anchor="t" lIns="0" rIns="0" tIns="0" bIns="0">
            <a:spAutoFit/>
          </a:bodyPr>
          <a:lstStyle/>
          <a:p>
            <a:pPr algn="l">
              <a:lnSpc>
                <a:spcPct val="115000"/>
              </a:lnSpc>
            </a:pPr>
            <a:r>
              <a:rPr sz="3200" b="1">
                <a:solidFill>
                  <a:srgbClr val="E87722"/>
                </a:solidFill>
                <a:latin typeface="Helvetica Neue"/>
                <a:ea typeface="Helvetica Neue"/>
                <a:cs typeface="Helvetica Neue"/>
              </a:rPr>
              <a:t>②</a:t>
            </a:r>
          </a:p>
        </p:txBody>
      </p:sp>
      <p:sp>
        <p:nvSpPr>
          <p:cNvPr id="14" name="TextBox 13"/>
          <p:cNvSpPr txBox="1"/>
          <p:nvPr/>
        </p:nvSpPr>
        <p:spPr>
          <a:xfrm>
            <a:off x="5166360" y="1645920"/>
            <a:ext cx="2606040" cy="36576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9:16縦型必須</a:t>
            </a:r>
          </a:p>
        </p:txBody>
      </p:sp>
      <p:sp>
        <p:nvSpPr>
          <p:cNvPr id="15" name="TextBox 14"/>
          <p:cNvSpPr txBox="1"/>
          <p:nvPr/>
        </p:nvSpPr>
        <p:spPr>
          <a:xfrm>
            <a:off x="4480560" y="2286000"/>
            <a:ext cx="3246120" cy="640080"/>
          </a:xfrm>
          <a:prstGeom prst="rect">
            <a:avLst/>
          </a:prstGeom>
          <a:noFill/>
        </p:spPr>
        <p:txBody>
          <a:bodyPr wrap="square" anchor="t" lIns="0" rIns="0" tIns="0" bIns="0">
            <a:spAutoFit/>
          </a:bodyPr>
          <a:lstStyle/>
          <a:p>
            <a:pPr algn="l">
              <a:lnSpc>
                <a:spcPct val="145000"/>
              </a:lnSpc>
            </a:pPr>
            <a:r>
              <a:rPr sz="1000" b="0">
                <a:solidFill>
                  <a:srgbClr val="1A1A1A"/>
                </a:solidFill>
                <a:latin typeface="Hiragino Sans"/>
                <a:ea typeface="Hiragino Sans"/>
                <a:cs typeface="Hiragino Sans"/>
              </a:rPr>
              <a:t>上下に余白を残す (UI隠れ対策)</a:t>
            </a:r>
          </a:p>
          <a:p>
            <a:pPr algn="l">
              <a:lnSpc>
                <a:spcPct val="145000"/>
              </a:lnSpc>
            </a:pPr>
            <a:r>
              <a:rPr sz="1000" b="0">
                <a:solidFill>
                  <a:srgbClr val="1A1A1A"/>
                </a:solidFill>
                <a:latin typeface="Hiragino Sans"/>
                <a:ea typeface="Hiragino Sans"/>
                <a:cs typeface="Hiragino Sans"/>
              </a:rPr>
              <a:t>中央60%にメインコンテンツ</a:t>
            </a:r>
          </a:p>
        </p:txBody>
      </p:sp>
      <p:sp>
        <p:nvSpPr>
          <p:cNvPr id="16" name="Rounded Rectangle 15"/>
          <p:cNvSpPr/>
          <p:nvPr/>
        </p:nvSpPr>
        <p:spPr>
          <a:xfrm>
            <a:off x="8046720" y="1417320"/>
            <a:ext cx="3611880" cy="15544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0" y="1600200"/>
            <a:ext cx="548640" cy="640080"/>
          </a:xfrm>
          <a:prstGeom prst="rect">
            <a:avLst/>
          </a:prstGeom>
          <a:noFill/>
        </p:spPr>
        <p:txBody>
          <a:bodyPr wrap="square" anchor="t" lIns="0" rIns="0" tIns="0" bIns="0">
            <a:spAutoFit/>
          </a:bodyPr>
          <a:lstStyle/>
          <a:p>
            <a:pPr algn="l">
              <a:lnSpc>
                <a:spcPct val="115000"/>
              </a:lnSpc>
            </a:pPr>
            <a:r>
              <a:rPr sz="3200" b="1">
                <a:solidFill>
                  <a:srgbClr val="E87722"/>
                </a:solidFill>
                <a:latin typeface="Helvetica Neue"/>
                <a:ea typeface="Helvetica Neue"/>
                <a:cs typeface="Helvetica Neue"/>
              </a:rPr>
              <a:t>③</a:t>
            </a:r>
          </a:p>
        </p:txBody>
      </p:sp>
      <p:sp>
        <p:nvSpPr>
          <p:cNvPr id="18" name="TextBox 17"/>
          <p:cNvSpPr txBox="1"/>
          <p:nvPr/>
        </p:nvSpPr>
        <p:spPr>
          <a:xfrm>
            <a:off x="8915400" y="1645920"/>
            <a:ext cx="2606040" cy="36576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音声OFF前提</a:t>
            </a:r>
          </a:p>
        </p:txBody>
      </p:sp>
      <p:sp>
        <p:nvSpPr>
          <p:cNvPr id="19" name="TextBox 18"/>
          <p:cNvSpPr txBox="1"/>
          <p:nvPr/>
        </p:nvSpPr>
        <p:spPr>
          <a:xfrm>
            <a:off x="8229600" y="2286000"/>
            <a:ext cx="3246120" cy="640080"/>
          </a:xfrm>
          <a:prstGeom prst="rect">
            <a:avLst/>
          </a:prstGeom>
          <a:noFill/>
        </p:spPr>
        <p:txBody>
          <a:bodyPr wrap="square" anchor="t" lIns="0" rIns="0" tIns="0" bIns="0">
            <a:spAutoFit/>
          </a:bodyPr>
          <a:lstStyle/>
          <a:p>
            <a:pPr algn="l">
              <a:lnSpc>
                <a:spcPct val="145000"/>
              </a:lnSpc>
            </a:pPr>
            <a:r>
              <a:rPr sz="1000" b="0">
                <a:solidFill>
                  <a:srgbClr val="1A1A1A"/>
                </a:solidFill>
                <a:latin typeface="Hiragino Sans"/>
                <a:ea typeface="Hiragino Sans"/>
                <a:cs typeface="Hiragino Sans"/>
              </a:rPr>
              <a:t>字幕・テロップ常時表示</a:t>
            </a:r>
          </a:p>
          <a:p>
            <a:pPr algn="l">
              <a:lnSpc>
                <a:spcPct val="145000"/>
              </a:lnSpc>
            </a:pPr>
            <a:r>
              <a:rPr sz="1000" b="0">
                <a:solidFill>
                  <a:srgbClr val="1A1A1A"/>
                </a:solidFill>
                <a:latin typeface="Hiragino Sans"/>
                <a:ea typeface="Hiragino Sans"/>
                <a:cs typeface="Hiragino Sans"/>
              </a:rPr>
              <a:t>音楽・効果音は補助的に</a:t>
            </a:r>
          </a:p>
        </p:txBody>
      </p:sp>
      <p:sp>
        <p:nvSpPr>
          <p:cNvPr id="20" name="Rounded Rectangle 19"/>
          <p:cNvSpPr/>
          <p:nvPr/>
        </p:nvSpPr>
        <p:spPr>
          <a:xfrm>
            <a:off x="548640" y="3108960"/>
            <a:ext cx="3611880" cy="15544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291840"/>
            <a:ext cx="548640" cy="640080"/>
          </a:xfrm>
          <a:prstGeom prst="rect">
            <a:avLst/>
          </a:prstGeom>
          <a:noFill/>
        </p:spPr>
        <p:txBody>
          <a:bodyPr wrap="square" anchor="t" lIns="0" rIns="0" tIns="0" bIns="0">
            <a:spAutoFit/>
          </a:bodyPr>
          <a:lstStyle/>
          <a:p>
            <a:pPr algn="l">
              <a:lnSpc>
                <a:spcPct val="115000"/>
              </a:lnSpc>
            </a:pPr>
            <a:r>
              <a:rPr sz="3200" b="1">
                <a:solidFill>
                  <a:srgbClr val="E87722"/>
                </a:solidFill>
                <a:latin typeface="Helvetica Neue"/>
                <a:ea typeface="Helvetica Neue"/>
                <a:cs typeface="Helvetica Neue"/>
              </a:rPr>
              <a:t>④</a:t>
            </a:r>
          </a:p>
        </p:txBody>
      </p:sp>
      <p:sp>
        <p:nvSpPr>
          <p:cNvPr id="22" name="TextBox 21"/>
          <p:cNvSpPr txBox="1"/>
          <p:nvPr/>
        </p:nvSpPr>
        <p:spPr>
          <a:xfrm>
            <a:off x="1417320" y="3337560"/>
            <a:ext cx="2606040" cy="36576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15-30秒推奨</a:t>
            </a:r>
          </a:p>
        </p:txBody>
      </p:sp>
      <p:sp>
        <p:nvSpPr>
          <p:cNvPr id="23" name="TextBox 22"/>
          <p:cNvSpPr txBox="1"/>
          <p:nvPr/>
        </p:nvSpPr>
        <p:spPr>
          <a:xfrm>
            <a:off x="731520" y="3977640"/>
            <a:ext cx="3246120" cy="640080"/>
          </a:xfrm>
          <a:prstGeom prst="rect">
            <a:avLst/>
          </a:prstGeom>
          <a:noFill/>
        </p:spPr>
        <p:txBody>
          <a:bodyPr wrap="square" anchor="t" lIns="0" rIns="0" tIns="0" bIns="0">
            <a:spAutoFit/>
          </a:bodyPr>
          <a:lstStyle/>
          <a:p>
            <a:pPr algn="l">
              <a:lnSpc>
                <a:spcPct val="145000"/>
              </a:lnSpc>
            </a:pPr>
            <a:r>
              <a:rPr sz="1000" b="0">
                <a:solidFill>
                  <a:srgbClr val="1A1A1A"/>
                </a:solidFill>
                <a:latin typeface="Hiragino Sans"/>
                <a:ea typeface="Hiragino Sans"/>
                <a:cs typeface="Hiragino Sans"/>
              </a:rPr>
              <a:t>10秒未満も増加傾向</a:t>
            </a:r>
          </a:p>
          <a:p>
            <a:pPr algn="l">
              <a:lnSpc>
                <a:spcPct val="145000"/>
              </a:lnSpc>
            </a:pPr>
            <a:r>
              <a:rPr sz="1000" b="0">
                <a:solidFill>
                  <a:srgbClr val="1A1A1A"/>
                </a:solidFill>
                <a:latin typeface="Hiragino Sans"/>
                <a:ea typeface="Hiragino Sans"/>
                <a:cs typeface="Hiragino Sans"/>
              </a:rPr>
              <a:t>冗長な前置きは削る</a:t>
            </a:r>
          </a:p>
        </p:txBody>
      </p:sp>
      <p:sp>
        <p:nvSpPr>
          <p:cNvPr id="24" name="Rounded Rectangle 23"/>
          <p:cNvSpPr/>
          <p:nvPr/>
        </p:nvSpPr>
        <p:spPr>
          <a:xfrm>
            <a:off x="4297680" y="3108960"/>
            <a:ext cx="3611880" cy="15544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80560" y="3291840"/>
            <a:ext cx="548640" cy="640080"/>
          </a:xfrm>
          <a:prstGeom prst="rect">
            <a:avLst/>
          </a:prstGeom>
          <a:noFill/>
        </p:spPr>
        <p:txBody>
          <a:bodyPr wrap="square" anchor="t" lIns="0" rIns="0" tIns="0" bIns="0">
            <a:spAutoFit/>
          </a:bodyPr>
          <a:lstStyle/>
          <a:p>
            <a:pPr algn="l">
              <a:lnSpc>
                <a:spcPct val="115000"/>
              </a:lnSpc>
            </a:pPr>
            <a:r>
              <a:rPr sz="3200" b="1">
                <a:solidFill>
                  <a:srgbClr val="E87722"/>
                </a:solidFill>
                <a:latin typeface="Helvetica Neue"/>
                <a:ea typeface="Helvetica Neue"/>
                <a:cs typeface="Helvetica Neue"/>
              </a:rPr>
              <a:t>⑤</a:t>
            </a:r>
          </a:p>
        </p:txBody>
      </p:sp>
      <p:sp>
        <p:nvSpPr>
          <p:cNvPr id="26" name="TextBox 25"/>
          <p:cNvSpPr txBox="1"/>
          <p:nvPr/>
        </p:nvSpPr>
        <p:spPr>
          <a:xfrm>
            <a:off x="5166360" y="3337560"/>
            <a:ext cx="2606040" cy="36576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UGC感維持</a:t>
            </a:r>
          </a:p>
        </p:txBody>
      </p:sp>
      <p:sp>
        <p:nvSpPr>
          <p:cNvPr id="27" name="TextBox 26"/>
          <p:cNvSpPr txBox="1"/>
          <p:nvPr/>
        </p:nvSpPr>
        <p:spPr>
          <a:xfrm>
            <a:off x="4480560" y="3977640"/>
            <a:ext cx="3246120" cy="640080"/>
          </a:xfrm>
          <a:prstGeom prst="rect">
            <a:avLst/>
          </a:prstGeom>
          <a:noFill/>
        </p:spPr>
        <p:txBody>
          <a:bodyPr wrap="square" anchor="t" lIns="0" rIns="0" tIns="0" bIns="0">
            <a:spAutoFit/>
          </a:bodyPr>
          <a:lstStyle/>
          <a:p>
            <a:pPr algn="l">
              <a:lnSpc>
                <a:spcPct val="145000"/>
              </a:lnSpc>
            </a:pPr>
            <a:r>
              <a:rPr sz="1000" b="0">
                <a:solidFill>
                  <a:srgbClr val="1A1A1A"/>
                </a:solidFill>
                <a:latin typeface="Hiragino Sans"/>
                <a:ea typeface="Hiragino Sans"/>
                <a:cs typeface="Hiragino Sans"/>
              </a:rPr>
              <a:t>整いすぎたCM感は嫌われる</a:t>
            </a:r>
          </a:p>
          <a:p>
            <a:pPr algn="l">
              <a:lnSpc>
                <a:spcPct val="145000"/>
              </a:lnSpc>
            </a:pPr>
            <a:r>
              <a:rPr sz="1000" b="0">
                <a:solidFill>
                  <a:srgbClr val="1A1A1A"/>
                </a:solidFill>
                <a:latin typeface="Hiragino Sans"/>
                <a:ea typeface="Hiragino Sans"/>
                <a:cs typeface="Hiragino Sans"/>
              </a:rPr>
              <a:t>クリエイターの自然なトーン</a:t>
            </a:r>
          </a:p>
        </p:txBody>
      </p:sp>
      <p:sp>
        <p:nvSpPr>
          <p:cNvPr id="28" name="Rounded Rectangle 27"/>
          <p:cNvSpPr/>
          <p:nvPr/>
        </p:nvSpPr>
        <p:spPr>
          <a:xfrm>
            <a:off x="8046720" y="3108960"/>
            <a:ext cx="3611880" cy="15544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0" y="3291840"/>
            <a:ext cx="548640" cy="640080"/>
          </a:xfrm>
          <a:prstGeom prst="rect">
            <a:avLst/>
          </a:prstGeom>
          <a:noFill/>
        </p:spPr>
        <p:txBody>
          <a:bodyPr wrap="square" anchor="t" lIns="0" rIns="0" tIns="0" bIns="0">
            <a:spAutoFit/>
          </a:bodyPr>
          <a:lstStyle/>
          <a:p>
            <a:pPr algn="l">
              <a:lnSpc>
                <a:spcPct val="115000"/>
              </a:lnSpc>
            </a:pPr>
            <a:r>
              <a:rPr sz="3200" b="1">
                <a:solidFill>
                  <a:srgbClr val="E87722"/>
                </a:solidFill>
                <a:latin typeface="Helvetica Neue"/>
                <a:ea typeface="Helvetica Neue"/>
                <a:cs typeface="Helvetica Neue"/>
              </a:rPr>
              <a:t>⑥</a:t>
            </a:r>
          </a:p>
        </p:txBody>
      </p:sp>
      <p:sp>
        <p:nvSpPr>
          <p:cNvPr id="30" name="TextBox 29"/>
          <p:cNvSpPr txBox="1"/>
          <p:nvPr/>
        </p:nvSpPr>
        <p:spPr>
          <a:xfrm>
            <a:off x="8915400" y="3337560"/>
            <a:ext cx="2606040" cy="36576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CTAは最後3秒</a:t>
            </a:r>
          </a:p>
        </p:txBody>
      </p:sp>
      <p:sp>
        <p:nvSpPr>
          <p:cNvPr id="31" name="TextBox 30"/>
          <p:cNvSpPr txBox="1"/>
          <p:nvPr/>
        </p:nvSpPr>
        <p:spPr>
          <a:xfrm>
            <a:off x="8229600" y="3977640"/>
            <a:ext cx="3246120" cy="640080"/>
          </a:xfrm>
          <a:prstGeom prst="rect">
            <a:avLst/>
          </a:prstGeom>
          <a:noFill/>
        </p:spPr>
        <p:txBody>
          <a:bodyPr wrap="square" anchor="t" lIns="0" rIns="0" tIns="0" bIns="0">
            <a:spAutoFit/>
          </a:bodyPr>
          <a:lstStyle/>
          <a:p>
            <a:pPr algn="l">
              <a:lnSpc>
                <a:spcPct val="145000"/>
              </a:lnSpc>
            </a:pPr>
            <a:r>
              <a:rPr sz="1000" b="0">
                <a:solidFill>
                  <a:srgbClr val="1A1A1A"/>
                </a:solidFill>
                <a:latin typeface="Hiragino Sans"/>
                <a:ea typeface="Hiragino Sans"/>
                <a:cs typeface="Hiragino Sans"/>
              </a:rPr>
              <a:t>『今すぐLINE友達追加』等</a:t>
            </a:r>
          </a:p>
          <a:p>
            <a:pPr algn="l">
              <a:lnSpc>
                <a:spcPct val="145000"/>
              </a:lnSpc>
            </a:pPr>
            <a:r>
              <a:rPr sz="1000" b="0">
                <a:solidFill>
                  <a:srgbClr val="1A1A1A"/>
                </a:solidFill>
                <a:latin typeface="Hiragino Sans"/>
                <a:ea typeface="Hiragino Sans"/>
                <a:cs typeface="Hiragino Sans"/>
              </a:rPr>
              <a:t>オーバーレイCTAも併用</a:t>
            </a:r>
          </a:p>
        </p:txBody>
      </p:sp>
      <p:sp>
        <p:nvSpPr>
          <p:cNvPr id="32" name="Rounded Rectangle 31"/>
          <p:cNvSpPr/>
          <p:nvPr/>
        </p:nvSpPr>
        <p:spPr>
          <a:xfrm>
            <a:off x="548640" y="4983480"/>
            <a:ext cx="11109960" cy="137160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7240" y="5120640"/>
            <a:ext cx="10058400" cy="320040"/>
          </a:xfrm>
          <a:prstGeom prst="rect">
            <a:avLst/>
          </a:prstGeom>
          <a:noFill/>
        </p:spPr>
        <p:txBody>
          <a:bodyPr wrap="square" anchor="t" lIns="0" rIns="0" tIns="0" bIns="0">
            <a:spAutoFit/>
          </a:bodyPr>
          <a:lstStyle/>
          <a:p>
            <a:pPr algn="l">
              <a:lnSpc>
                <a:spcPct val="115000"/>
              </a:lnSpc>
            </a:pPr>
            <a:r>
              <a:rPr sz="1200" b="1">
                <a:solidFill>
                  <a:srgbClr val="E87722"/>
                </a:solidFill>
                <a:latin typeface="Hiragino Sans"/>
                <a:ea typeface="Hiragino Sans"/>
                <a:cs typeface="Hiragino Sans"/>
              </a:rPr>
              <a:t>💡 AI生成 vs 撮影 の使い分け</a:t>
            </a:r>
          </a:p>
        </p:txBody>
      </p:sp>
      <p:sp>
        <p:nvSpPr>
          <p:cNvPr id="34" name="TextBox 33"/>
          <p:cNvSpPr txBox="1"/>
          <p:nvPr/>
        </p:nvSpPr>
        <p:spPr>
          <a:xfrm>
            <a:off x="777240" y="5440680"/>
            <a:ext cx="10972800" cy="868680"/>
          </a:xfrm>
          <a:prstGeom prst="rect">
            <a:avLst/>
          </a:prstGeom>
          <a:noFill/>
        </p:spPr>
        <p:txBody>
          <a:bodyPr wrap="square" anchor="t" lIns="0" rIns="0" tIns="0" bIns="0">
            <a:spAutoFit/>
          </a:bodyPr>
          <a:lstStyle/>
          <a:p>
            <a:pPr algn="l">
              <a:lnSpc>
                <a:spcPct val="155000"/>
              </a:lnSpc>
            </a:pPr>
            <a:r>
              <a:rPr sz="1100" b="0">
                <a:solidFill>
                  <a:srgbClr val="FFFFFF"/>
                </a:solidFill>
                <a:latin typeface="Hiragino Sans"/>
                <a:ea typeface="Hiragino Sans"/>
                <a:cs typeface="Hiragino Sans"/>
              </a:rPr>
              <a:t>• Symphony AI生成 : 商品紹介・説明動画・多言語展開 → コスト圧縮</a:t>
            </a:r>
          </a:p>
          <a:p>
            <a:pPr algn="l">
              <a:lnSpc>
                <a:spcPct val="155000"/>
              </a:lnSpc>
            </a:pPr>
            <a:r>
              <a:rPr sz="1100" b="0">
                <a:solidFill>
                  <a:srgbClr val="FFFFFF"/>
                </a:solidFill>
                <a:latin typeface="Hiragino Sans"/>
                <a:ea typeface="Hiragino Sans"/>
                <a:cs typeface="Hiragino Sans"/>
              </a:rPr>
              <a:t>• 撮影 (クリエイター) : ストーリー・体験・UGC感 → 高エンゲージメント</a:t>
            </a:r>
          </a:p>
          <a:p>
            <a:pPr algn="l">
              <a:lnSpc>
                <a:spcPct val="155000"/>
              </a:lnSpc>
            </a:pPr>
            <a:r>
              <a:rPr sz="1100" b="0">
                <a:solidFill>
                  <a:srgbClr val="FFFFFF"/>
                </a:solidFill>
                <a:latin typeface="Hiragino Sans"/>
                <a:ea typeface="Hiragino Sans"/>
                <a:cs typeface="Hiragino Sans"/>
              </a:rPr>
              <a:t>• 最強構成 : 撮影 80% + AI 20% の素材プールで Smart+ に投入</a:t>
            </a:r>
          </a:p>
        </p:txBody>
      </p:sp>
      <p:sp>
        <p:nvSpPr>
          <p:cNvPr id="35" name="TextBox 34"/>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TikTok Brand Lift / Conversion Lift</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ブランド・購入の真の効果測定</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P111 / 250</a:t>
            </a:r>
          </a:p>
        </p:txBody>
      </p:sp>
      <p:sp>
        <p:nvSpPr>
          <p:cNvPr id="8" name="Rounded Rectangle 7"/>
          <p:cNvSpPr/>
          <p:nvPr/>
        </p:nvSpPr>
        <p:spPr>
          <a:xfrm>
            <a:off x="548640" y="1417320"/>
            <a:ext cx="5486400" cy="33832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548640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581912"/>
            <a:ext cx="4937760" cy="411480"/>
          </a:xfrm>
          <a:prstGeom prst="rect">
            <a:avLst/>
          </a:prstGeom>
          <a:noFill/>
        </p:spPr>
        <p:txBody>
          <a:bodyPr wrap="square" anchor="t" lIns="0" rIns="0" tIns="0" bIns="0">
            <a:spAutoFit/>
          </a:bodyPr>
          <a:lstStyle/>
          <a:p>
            <a:pPr algn="l">
              <a:lnSpc>
                <a:spcPct val="115000"/>
              </a:lnSpc>
            </a:pPr>
            <a:r>
              <a:rPr sz="1500" b="1">
                <a:solidFill>
                  <a:srgbClr val="FFFFFF"/>
                </a:solidFill>
                <a:latin typeface="Hiragino Sans"/>
                <a:ea typeface="Hiragino Sans"/>
                <a:cs typeface="Hiragino Sans"/>
              </a:rPr>
              <a:t>Brand Lift Study</a:t>
            </a:r>
          </a:p>
        </p:txBody>
      </p:sp>
      <p:sp>
        <p:nvSpPr>
          <p:cNvPr id="11" name="TextBox 10"/>
          <p:cNvSpPr txBox="1"/>
          <p:nvPr/>
        </p:nvSpPr>
        <p:spPr>
          <a:xfrm>
            <a:off x="822960" y="1965960"/>
            <a:ext cx="4937760" cy="27432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認知・好意・購入意向</a:t>
            </a:r>
          </a:p>
        </p:txBody>
      </p:sp>
      <p:sp>
        <p:nvSpPr>
          <p:cNvPr id="12" name="TextBox 11"/>
          <p:cNvSpPr txBox="1"/>
          <p:nvPr/>
        </p:nvSpPr>
        <p:spPr>
          <a:xfrm>
            <a:off x="822960" y="2423160"/>
            <a:ext cx="4937760" cy="228600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TestとControl群へポーリング配信。</a:t>
            </a:r>
          </a:p>
          <a:p>
            <a:pPr algn="l">
              <a:lnSpc>
                <a:spcPct val="160000"/>
              </a:lnSpc>
            </a:pPr>
            <a:r>
              <a:rPr sz="1100" b="0">
                <a:solidFill>
                  <a:srgbClr val="1A1A1A"/>
                </a:solidFill>
                <a:latin typeface="Hiragino Sans"/>
                <a:ea typeface="Hiragino Sans"/>
                <a:cs typeface="Hiragino Sans"/>
              </a:rPr>
              <a:t>Ad Recall / Brand Awareness /</a:t>
            </a:r>
          </a:p>
          <a:p>
            <a:pPr algn="l">
              <a:lnSpc>
                <a:spcPct val="160000"/>
              </a:lnSpc>
            </a:pPr>
            <a:r>
              <a:rPr sz="1100" b="0">
                <a:solidFill>
                  <a:srgbClr val="1A1A1A"/>
                </a:solidFill>
                <a:latin typeface="Hiragino Sans"/>
                <a:ea typeface="Hiragino Sans"/>
                <a:cs typeface="Hiragino Sans"/>
              </a:rPr>
              <a:t>Familiarity / Favorability / Intent</a:t>
            </a:r>
          </a:p>
          <a:p>
            <a:pPr algn="l">
              <a:lnSpc>
                <a:spcPct val="160000"/>
              </a:lnSpc>
            </a:pPr>
            <a:r>
              <a:rPr sz="1100" b="0">
                <a:solidFill>
                  <a:srgbClr val="1A1A1A"/>
                </a:solidFill>
                <a:latin typeface="Hiragino Sans"/>
                <a:ea typeface="Hiragino Sans"/>
                <a:cs typeface="Hiragino Sans"/>
              </a:rPr>
              <a:t/>
            </a:r>
          </a:p>
          <a:p>
            <a:pPr algn="l">
              <a:lnSpc>
                <a:spcPct val="160000"/>
              </a:lnSpc>
            </a:pPr>
            <a:r>
              <a:rPr sz="1100" b="0">
                <a:solidFill>
                  <a:srgbClr val="1A1A1A"/>
                </a:solidFill>
                <a:latin typeface="Hiragino Sans"/>
                <a:ea typeface="Hiragino Sans"/>
                <a:cs typeface="Hiragino Sans"/>
              </a:rPr>
              <a:t>ブランディング案件で必須</a:t>
            </a:r>
          </a:p>
        </p:txBody>
      </p:sp>
      <p:sp>
        <p:nvSpPr>
          <p:cNvPr id="13" name="Rounded Rectangle 12"/>
          <p:cNvSpPr/>
          <p:nvPr/>
        </p:nvSpPr>
        <p:spPr>
          <a:xfrm>
            <a:off x="6172200" y="1417320"/>
            <a:ext cx="5486400" cy="33832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1417320"/>
            <a:ext cx="548640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1581912"/>
            <a:ext cx="4937760" cy="411480"/>
          </a:xfrm>
          <a:prstGeom prst="rect">
            <a:avLst/>
          </a:prstGeom>
          <a:noFill/>
        </p:spPr>
        <p:txBody>
          <a:bodyPr wrap="square" anchor="t" lIns="0" rIns="0" tIns="0" bIns="0">
            <a:spAutoFit/>
          </a:bodyPr>
          <a:lstStyle/>
          <a:p>
            <a:pPr algn="l">
              <a:lnSpc>
                <a:spcPct val="115000"/>
              </a:lnSpc>
            </a:pPr>
            <a:r>
              <a:rPr sz="1500" b="1">
                <a:solidFill>
                  <a:srgbClr val="FFFFFF"/>
                </a:solidFill>
                <a:latin typeface="Hiragino Sans"/>
                <a:ea typeface="Hiragino Sans"/>
                <a:cs typeface="Hiragino Sans"/>
              </a:rPr>
              <a:t>Conversion Lift Test</a:t>
            </a:r>
          </a:p>
        </p:txBody>
      </p:sp>
      <p:sp>
        <p:nvSpPr>
          <p:cNvPr id="16" name="TextBox 15"/>
          <p:cNvSpPr txBox="1"/>
          <p:nvPr/>
        </p:nvSpPr>
        <p:spPr>
          <a:xfrm>
            <a:off x="6446520" y="1965960"/>
            <a:ext cx="4937760" cy="27432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Incremental CV測定</a:t>
            </a:r>
          </a:p>
        </p:txBody>
      </p:sp>
      <p:sp>
        <p:nvSpPr>
          <p:cNvPr id="17" name="TextBox 16"/>
          <p:cNvSpPr txBox="1"/>
          <p:nvPr/>
        </p:nvSpPr>
        <p:spPr>
          <a:xfrm>
            <a:off x="6446520" y="2423160"/>
            <a:ext cx="4937760" cy="228600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Test と Control 群でCV発生率比較。</a:t>
            </a:r>
          </a:p>
          <a:p>
            <a:pPr algn="l">
              <a:lnSpc>
                <a:spcPct val="160000"/>
              </a:lnSpc>
            </a:pPr>
            <a:r>
              <a:rPr sz="1100" b="0">
                <a:solidFill>
                  <a:srgbClr val="1A1A1A"/>
                </a:solidFill>
                <a:latin typeface="Hiragino Sans"/>
                <a:ea typeface="Hiragino Sans"/>
                <a:cs typeface="Hiragino Sans"/>
              </a:rPr>
              <a:t>ラストクリック計測の限界を補正。</a:t>
            </a:r>
          </a:p>
          <a:p>
            <a:pPr algn="l">
              <a:lnSpc>
                <a:spcPct val="160000"/>
              </a:lnSpc>
            </a:pPr>
            <a:r>
              <a:rPr sz="1100" b="0">
                <a:solidFill>
                  <a:srgbClr val="1A1A1A"/>
                </a:solidFill>
                <a:latin typeface="Hiragino Sans"/>
                <a:ea typeface="Hiragino Sans"/>
                <a:cs typeface="Hiragino Sans"/>
              </a:rPr>
              <a:t/>
            </a:r>
          </a:p>
          <a:p>
            <a:pPr algn="l">
              <a:lnSpc>
                <a:spcPct val="160000"/>
              </a:lnSpc>
            </a:pPr>
            <a:r>
              <a:rPr sz="1100" b="0">
                <a:solidFill>
                  <a:srgbClr val="1A1A1A"/>
                </a:solidFill>
                <a:latin typeface="Hiragino Sans"/>
                <a:ea typeface="Hiragino Sans"/>
                <a:cs typeface="Hiragino Sans"/>
              </a:rPr>
              <a:t>CV系キャンペーンで</a:t>
            </a:r>
          </a:p>
          <a:p>
            <a:pPr algn="l">
              <a:lnSpc>
                <a:spcPct val="160000"/>
              </a:lnSpc>
            </a:pPr>
            <a:r>
              <a:rPr sz="1100" b="0">
                <a:solidFill>
                  <a:srgbClr val="1A1A1A"/>
                </a:solidFill>
                <a:latin typeface="Hiragino Sans"/>
                <a:ea typeface="Hiragino Sans"/>
                <a:cs typeface="Hiragino Sans"/>
              </a:rPr>
              <a:t>月100万円以上の案件で標準化</a:t>
            </a:r>
          </a:p>
        </p:txBody>
      </p:sp>
      <p:sp>
        <p:nvSpPr>
          <p:cNvPr id="18" name="TextBox 17"/>
          <p:cNvSpPr txBox="1"/>
          <p:nvPr/>
        </p:nvSpPr>
        <p:spPr>
          <a:xfrm>
            <a:off x="548640" y="4937760"/>
            <a:ext cx="10972800" cy="1417320"/>
          </a:xfrm>
          <a:prstGeom prst="rect">
            <a:avLst/>
          </a:prstGeom>
          <a:noFill/>
        </p:spPr>
        <p:txBody>
          <a:bodyPr wrap="square" anchor="t" lIns="0" rIns="0" tIns="0" bIns="0">
            <a:spAutoFit/>
          </a:bodyPr>
          <a:lstStyle/>
          <a:p>
            <a:pPr algn="l">
              <a:lnSpc>
                <a:spcPct val="155000"/>
              </a:lnSpc>
            </a:pPr>
            <a:r>
              <a:rPr sz="1100" b="0">
                <a:solidFill>
                  <a:srgbClr val="0F2A4F"/>
                </a:solidFill>
                <a:latin typeface="Hiragino Sans"/>
                <a:ea typeface="Hiragino Sans"/>
                <a:cs typeface="Hiragino Sans"/>
              </a:rPr>
              <a:t>💡 Meta / YouTube と並んで TikTok の Lift Test が標準的に使えるようになった (2024-2026)。提案資料に組込必須</a:t>
            </a:r>
          </a:p>
        </p:txBody>
      </p:sp>
      <p:sp>
        <p:nvSpPr>
          <p:cNvPr id="19" name="TextBox 18"/>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Pangle / オーディエンスネットワーク</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TikTok外への配信拡張</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P112 / 250</a:t>
            </a:r>
          </a:p>
        </p:txBody>
      </p:sp>
      <p:sp>
        <p:nvSpPr>
          <p:cNvPr id="8" name="Rounded Rectangle 7"/>
          <p:cNvSpPr/>
          <p:nvPr/>
        </p:nvSpPr>
        <p:spPr>
          <a:xfrm>
            <a:off x="548640" y="1371600"/>
            <a:ext cx="11109960" cy="91440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08760"/>
            <a:ext cx="10972800" cy="731520"/>
          </a:xfrm>
          <a:prstGeom prst="rect">
            <a:avLst/>
          </a:prstGeom>
          <a:noFill/>
        </p:spPr>
        <p:txBody>
          <a:bodyPr wrap="square" anchor="t" lIns="0" rIns="0" tIns="0" bIns="0">
            <a:spAutoFit/>
          </a:bodyPr>
          <a:lstStyle/>
          <a:p>
            <a:pPr algn="l">
              <a:lnSpc>
                <a:spcPct val="150000"/>
              </a:lnSpc>
            </a:pPr>
            <a:r>
              <a:rPr sz="1200" b="0">
                <a:solidFill>
                  <a:srgbClr val="FFFFFF"/>
                </a:solidFill>
                <a:latin typeface="Hiragino Sans"/>
                <a:ea typeface="Hiragino Sans"/>
                <a:cs typeface="Hiragino Sans"/>
              </a:rPr>
              <a:t>Pangle : ByteDance のグローバル広告ネットワーク。</a:t>
            </a:r>
          </a:p>
          <a:p>
            <a:pPr algn="l">
              <a:lnSpc>
                <a:spcPct val="150000"/>
              </a:lnSpc>
            </a:pPr>
            <a:r>
              <a:rPr sz="1200" b="0">
                <a:solidFill>
                  <a:srgbClr val="FFFFFF"/>
                </a:solidFill>
                <a:latin typeface="Hiragino Sans"/>
                <a:ea typeface="Hiragino Sans"/>
                <a:cs typeface="Hiragino Sans"/>
              </a:rPr>
              <a:t>TikTok外のサードパーティアプリ・パブリッシャー在庫に配信</a:t>
            </a:r>
          </a:p>
        </p:txBody>
      </p:sp>
      <p:sp>
        <p:nvSpPr>
          <p:cNvPr id="10" name="TextBox 9"/>
          <p:cNvSpPr txBox="1"/>
          <p:nvPr/>
        </p:nvSpPr>
        <p:spPr>
          <a:xfrm>
            <a:off x="548640" y="2423160"/>
            <a:ext cx="1097280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Pangle 在庫の特徴</a:t>
            </a:r>
          </a:p>
        </p:txBody>
      </p:sp>
      <p:sp>
        <p:nvSpPr>
          <p:cNvPr id="11" name="Rounded Rectangle 10"/>
          <p:cNvSpPr/>
          <p:nvPr/>
        </p:nvSpPr>
        <p:spPr>
          <a:xfrm>
            <a:off x="548640" y="2834640"/>
            <a:ext cx="2697480" cy="18288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834640"/>
            <a:ext cx="26974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063240"/>
            <a:ext cx="2331720" cy="365760"/>
          </a:xfrm>
          <a:prstGeom prst="rect">
            <a:avLst/>
          </a:prstGeom>
          <a:noFill/>
        </p:spPr>
        <p:txBody>
          <a:bodyPr wrap="square" anchor="t" lIns="0" rIns="0" tIns="0" bIns="0">
            <a:spAutoFit/>
          </a:bodyPr>
          <a:lstStyle/>
          <a:p>
            <a:pPr algn="ctr">
              <a:lnSpc>
                <a:spcPct val="115000"/>
              </a:lnSpc>
            </a:pPr>
            <a:r>
              <a:rPr sz="1300" b="1">
                <a:solidFill>
                  <a:srgbClr val="0F2A4F"/>
                </a:solidFill>
                <a:latin typeface="Hiragino Sans"/>
                <a:ea typeface="Hiragino Sans"/>
                <a:cs typeface="Hiragino Sans"/>
              </a:rPr>
              <a:t>Reward Video</a:t>
            </a:r>
          </a:p>
        </p:txBody>
      </p:sp>
      <p:sp>
        <p:nvSpPr>
          <p:cNvPr id="14" name="TextBox 13"/>
          <p:cNvSpPr txBox="1"/>
          <p:nvPr/>
        </p:nvSpPr>
        <p:spPr>
          <a:xfrm>
            <a:off x="731520" y="3474720"/>
            <a:ext cx="2331720" cy="1097280"/>
          </a:xfrm>
          <a:prstGeom prst="rect">
            <a:avLst/>
          </a:prstGeom>
          <a:noFill/>
        </p:spPr>
        <p:txBody>
          <a:bodyPr wrap="square" anchor="t" lIns="0" rIns="0" tIns="0" bIns="0">
            <a:spAutoFit/>
          </a:bodyPr>
          <a:lstStyle/>
          <a:p>
            <a:pPr algn="ctr">
              <a:lnSpc>
                <a:spcPct val="155000"/>
              </a:lnSpc>
            </a:pPr>
            <a:r>
              <a:rPr sz="1000" b="0">
                <a:solidFill>
                  <a:srgbClr val="1A1A1A"/>
                </a:solidFill>
                <a:latin typeface="Hiragino Sans"/>
                <a:ea typeface="Hiragino Sans"/>
                <a:cs typeface="Hiragino Sans"/>
              </a:rPr>
              <a:t>アプリ内リワード型動画</a:t>
            </a:r>
          </a:p>
          <a:p>
            <a:pPr algn="ctr">
              <a:lnSpc>
                <a:spcPct val="155000"/>
              </a:lnSpc>
            </a:pPr>
            <a:r>
              <a:rPr sz="1000" b="0">
                <a:solidFill>
                  <a:srgbClr val="1A1A1A"/>
                </a:solidFill>
                <a:latin typeface="Hiragino Sans"/>
                <a:ea typeface="Hiragino Sans"/>
                <a:cs typeface="Hiragino Sans"/>
              </a:rPr>
              <a:t>ゲーム/エンタメ系で多い</a:t>
            </a:r>
          </a:p>
        </p:txBody>
      </p:sp>
      <p:sp>
        <p:nvSpPr>
          <p:cNvPr id="15" name="Rounded Rectangle 14"/>
          <p:cNvSpPr/>
          <p:nvPr/>
        </p:nvSpPr>
        <p:spPr>
          <a:xfrm>
            <a:off x="3337560" y="2834640"/>
            <a:ext cx="2697480" cy="18288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37560" y="2834640"/>
            <a:ext cx="26974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20440" y="3063240"/>
            <a:ext cx="2331720" cy="365760"/>
          </a:xfrm>
          <a:prstGeom prst="rect">
            <a:avLst/>
          </a:prstGeom>
          <a:noFill/>
        </p:spPr>
        <p:txBody>
          <a:bodyPr wrap="square" anchor="t" lIns="0" rIns="0" tIns="0" bIns="0">
            <a:spAutoFit/>
          </a:bodyPr>
          <a:lstStyle/>
          <a:p>
            <a:pPr algn="ctr">
              <a:lnSpc>
                <a:spcPct val="115000"/>
              </a:lnSpc>
            </a:pPr>
            <a:r>
              <a:rPr sz="1300" b="1">
                <a:solidFill>
                  <a:srgbClr val="0F2A4F"/>
                </a:solidFill>
                <a:latin typeface="Hiragino Sans"/>
                <a:ea typeface="Hiragino Sans"/>
                <a:cs typeface="Hiragino Sans"/>
              </a:rPr>
              <a:t>Native Display</a:t>
            </a:r>
          </a:p>
        </p:txBody>
      </p:sp>
      <p:sp>
        <p:nvSpPr>
          <p:cNvPr id="18" name="TextBox 17"/>
          <p:cNvSpPr txBox="1"/>
          <p:nvPr/>
        </p:nvSpPr>
        <p:spPr>
          <a:xfrm>
            <a:off x="3520440" y="3474720"/>
            <a:ext cx="2331720" cy="1097280"/>
          </a:xfrm>
          <a:prstGeom prst="rect">
            <a:avLst/>
          </a:prstGeom>
          <a:noFill/>
        </p:spPr>
        <p:txBody>
          <a:bodyPr wrap="square" anchor="t" lIns="0" rIns="0" tIns="0" bIns="0">
            <a:spAutoFit/>
          </a:bodyPr>
          <a:lstStyle/>
          <a:p>
            <a:pPr algn="ctr">
              <a:lnSpc>
                <a:spcPct val="155000"/>
              </a:lnSpc>
            </a:pPr>
            <a:r>
              <a:rPr sz="1000" b="0">
                <a:solidFill>
                  <a:srgbClr val="1A1A1A"/>
                </a:solidFill>
                <a:latin typeface="Hiragino Sans"/>
                <a:ea typeface="Hiragino Sans"/>
                <a:cs typeface="Hiragino Sans"/>
              </a:rPr>
              <a:t>ネイティブ広告</a:t>
            </a:r>
          </a:p>
          <a:p>
            <a:pPr algn="ctr">
              <a:lnSpc>
                <a:spcPct val="155000"/>
              </a:lnSpc>
            </a:pPr>
            <a:r>
              <a:rPr sz="1000" b="0">
                <a:solidFill>
                  <a:srgbClr val="1A1A1A"/>
                </a:solidFill>
                <a:latin typeface="Hiragino Sans"/>
                <a:ea typeface="Hiragino Sans"/>
                <a:cs typeface="Hiragino Sans"/>
              </a:rPr>
              <a:t>記事/フィード型</a:t>
            </a:r>
          </a:p>
        </p:txBody>
      </p:sp>
      <p:sp>
        <p:nvSpPr>
          <p:cNvPr id="19" name="Rounded Rectangle 18"/>
          <p:cNvSpPr/>
          <p:nvPr/>
        </p:nvSpPr>
        <p:spPr>
          <a:xfrm>
            <a:off x="6126480" y="2834640"/>
            <a:ext cx="2697480" cy="18288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26480" y="2834640"/>
            <a:ext cx="26974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9360" y="3063240"/>
            <a:ext cx="2331720" cy="365760"/>
          </a:xfrm>
          <a:prstGeom prst="rect">
            <a:avLst/>
          </a:prstGeom>
          <a:noFill/>
        </p:spPr>
        <p:txBody>
          <a:bodyPr wrap="square" anchor="t" lIns="0" rIns="0" tIns="0" bIns="0">
            <a:spAutoFit/>
          </a:bodyPr>
          <a:lstStyle/>
          <a:p>
            <a:pPr algn="ctr">
              <a:lnSpc>
                <a:spcPct val="115000"/>
              </a:lnSpc>
            </a:pPr>
            <a:r>
              <a:rPr sz="1300" b="1">
                <a:solidFill>
                  <a:srgbClr val="0F2A4F"/>
                </a:solidFill>
                <a:latin typeface="Hiragino Sans"/>
                <a:ea typeface="Hiragino Sans"/>
                <a:cs typeface="Hiragino Sans"/>
              </a:rPr>
              <a:t>Interstitial</a:t>
            </a:r>
          </a:p>
        </p:txBody>
      </p:sp>
      <p:sp>
        <p:nvSpPr>
          <p:cNvPr id="22" name="TextBox 21"/>
          <p:cNvSpPr txBox="1"/>
          <p:nvPr/>
        </p:nvSpPr>
        <p:spPr>
          <a:xfrm>
            <a:off x="6309360" y="3474720"/>
            <a:ext cx="2331720" cy="1097280"/>
          </a:xfrm>
          <a:prstGeom prst="rect">
            <a:avLst/>
          </a:prstGeom>
          <a:noFill/>
        </p:spPr>
        <p:txBody>
          <a:bodyPr wrap="square" anchor="t" lIns="0" rIns="0" tIns="0" bIns="0">
            <a:spAutoFit/>
          </a:bodyPr>
          <a:lstStyle/>
          <a:p>
            <a:pPr algn="ctr">
              <a:lnSpc>
                <a:spcPct val="155000"/>
              </a:lnSpc>
            </a:pPr>
            <a:r>
              <a:rPr sz="1000" b="0">
                <a:solidFill>
                  <a:srgbClr val="1A1A1A"/>
                </a:solidFill>
                <a:latin typeface="Hiragino Sans"/>
                <a:ea typeface="Hiragino Sans"/>
                <a:cs typeface="Hiragino Sans"/>
              </a:rPr>
              <a:t>全画面表示</a:t>
            </a:r>
          </a:p>
          <a:p>
            <a:pPr algn="ctr">
              <a:lnSpc>
                <a:spcPct val="155000"/>
              </a:lnSpc>
            </a:pPr>
            <a:r>
              <a:rPr sz="1000" b="0">
                <a:solidFill>
                  <a:srgbClr val="1A1A1A"/>
                </a:solidFill>
                <a:latin typeface="Hiragino Sans"/>
                <a:ea typeface="Hiragino Sans"/>
                <a:cs typeface="Hiragino Sans"/>
              </a:rPr>
              <a:t>画面遷移時に表示</a:t>
            </a:r>
          </a:p>
        </p:txBody>
      </p:sp>
      <p:sp>
        <p:nvSpPr>
          <p:cNvPr id="23" name="Rounded Rectangle 22"/>
          <p:cNvSpPr/>
          <p:nvPr/>
        </p:nvSpPr>
        <p:spPr>
          <a:xfrm>
            <a:off x="8915400" y="2834640"/>
            <a:ext cx="2697480" cy="18288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15400" y="2834640"/>
            <a:ext cx="26974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98280" y="3063240"/>
            <a:ext cx="2331720" cy="365760"/>
          </a:xfrm>
          <a:prstGeom prst="rect">
            <a:avLst/>
          </a:prstGeom>
          <a:noFill/>
        </p:spPr>
        <p:txBody>
          <a:bodyPr wrap="square" anchor="t" lIns="0" rIns="0" tIns="0" bIns="0">
            <a:spAutoFit/>
          </a:bodyPr>
          <a:lstStyle/>
          <a:p>
            <a:pPr algn="ctr">
              <a:lnSpc>
                <a:spcPct val="115000"/>
              </a:lnSpc>
            </a:pPr>
            <a:r>
              <a:rPr sz="1300" b="1">
                <a:solidFill>
                  <a:srgbClr val="0F2A4F"/>
                </a:solidFill>
                <a:latin typeface="Hiragino Sans"/>
                <a:ea typeface="Hiragino Sans"/>
                <a:cs typeface="Hiragino Sans"/>
              </a:rPr>
              <a:t>Rich Media</a:t>
            </a:r>
          </a:p>
        </p:txBody>
      </p:sp>
      <p:sp>
        <p:nvSpPr>
          <p:cNvPr id="26" name="TextBox 25"/>
          <p:cNvSpPr txBox="1"/>
          <p:nvPr/>
        </p:nvSpPr>
        <p:spPr>
          <a:xfrm>
            <a:off x="9098280" y="3474720"/>
            <a:ext cx="2331720" cy="1097280"/>
          </a:xfrm>
          <a:prstGeom prst="rect">
            <a:avLst/>
          </a:prstGeom>
          <a:noFill/>
        </p:spPr>
        <p:txBody>
          <a:bodyPr wrap="square" anchor="t" lIns="0" rIns="0" tIns="0" bIns="0">
            <a:spAutoFit/>
          </a:bodyPr>
          <a:lstStyle/>
          <a:p>
            <a:pPr algn="ctr">
              <a:lnSpc>
                <a:spcPct val="155000"/>
              </a:lnSpc>
            </a:pPr>
            <a:r>
              <a:rPr sz="1000" b="0">
                <a:solidFill>
                  <a:srgbClr val="1A1A1A"/>
                </a:solidFill>
                <a:latin typeface="Hiragino Sans"/>
                <a:ea typeface="Hiragino Sans"/>
                <a:cs typeface="Hiragino Sans"/>
              </a:rPr>
              <a:t>インタラクティブ広告</a:t>
            </a:r>
          </a:p>
          <a:p>
            <a:pPr algn="ctr">
              <a:lnSpc>
                <a:spcPct val="155000"/>
              </a:lnSpc>
            </a:pPr>
            <a:r>
              <a:rPr sz="1000" b="0">
                <a:solidFill>
                  <a:srgbClr val="1A1A1A"/>
                </a:solidFill>
                <a:latin typeface="Hiragino Sans"/>
                <a:ea typeface="Hiragino Sans"/>
                <a:cs typeface="Hiragino Sans"/>
              </a:rPr>
              <a:t>ブランド体験型</a:t>
            </a:r>
          </a:p>
        </p:txBody>
      </p:sp>
      <p:sp>
        <p:nvSpPr>
          <p:cNvPr id="27" name="Rounded Rectangle 26"/>
          <p:cNvSpPr/>
          <p:nvPr/>
        </p:nvSpPr>
        <p:spPr>
          <a:xfrm>
            <a:off x="548640" y="4846320"/>
            <a:ext cx="11109960" cy="150876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4983480"/>
            <a:ext cx="100584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 Pangle の使いどころ</a:t>
            </a:r>
          </a:p>
        </p:txBody>
      </p:sp>
      <p:sp>
        <p:nvSpPr>
          <p:cNvPr id="29" name="TextBox 28"/>
          <p:cNvSpPr txBox="1"/>
          <p:nvPr/>
        </p:nvSpPr>
        <p:spPr>
          <a:xfrm>
            <a:off x="777240" y="5303520"/>
            <a:ext cx="10972800" cy="914400"/>
          </a:xfrm>
          <a:prstGeom prst="rect">
            <a:avLst/>
          </a:prstGeom>
          <a:noFill/>
        </p:spPr>
        <p:txBody>
          <a:bodyPr wrap="square" anchor="t" lIns="0" rIns="0" tIns="0" bIns="0">
            <a:spAutoFit/>
          </a:bodyPr>
          <a:lstStyle/>
          <a:p>
            <a:pPr algn="l">
              <a:lnSpc>
                <a:spcPct val="155000"/>
              </a:lnSpc>
            </a:pPr>
            <a:r>
              <a:rPr sz="1100" b="0">
                <a:solidFill>
                  <a:srgbClr val="1A1A1A"/>
                </a:solidFill>
                <a:latin typeface="Hiragino Sans"/>
                <a:ea typeface="Hiragino Sans"/>
                <a:cs typeface="Hiragino Sans"/>
              </a:rPr>
              <a:t>• App案件 (特にゲーム・エンタメ) でリワード動画として強い</a:t>
            </a:r>
          </a:p>
          <a:p>
            <a:pPr algn="l">
              <a:lnSpc>
                <a:spcPct val="155000"/>
              </a:lnSpc>
            </a:pPr>
            <a:r>
              <a:rPr sz="1100" b="0">
                <a:solidFill>
                  <a:srgbClr val="1A1A1A"/>
                </a:solidFill>
                <a:latin typeface="Hiragino Sans"/>
                <a:ea typeface="Hiragino Sans"/>
                <a:cs typeface="Hiragino Sans"/>
              </a:rPr>
              <a:t>• ブランディング: TikTok本体 + Pangle 統合配信でリーチ最大化</a:t>
            </a:r>
          </a:p>
          <a:p>
            <a:pPr algn="l">
              <a:lnSpc>
                <a:spcPct val="155000"/>
              </a:lnSpc>
            </a:pPr>
            <a:r>
              <a:rPr sz="1100" b="0">
                <a:solidFill>
                  <a:srgbClr val="1A1A1A"/>
                </a:solidFill>
                <a:latin typeface="Hiragino Sans"/>
                <a:ea typeface="Hiragino Sans"/>
                <a:cs typeface="Hiragino Sans"/>
              </a:rPr>
              <a:t>• EC/CV系では効果限定的、TikTok本体配信を優先</a:t>
            </a:r>
          </a:p>
        </p:txBody>
      </p:sp>
      <p:sp>
        <p:nvSpPr>
          <p:cNvPr id="30" name="TextBox 29"/>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TikTok : 鉄板運用メソッド 2026年版</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新規TikTok案件で最初の30日にやること</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P113 / 250</a:t>
            </a:r>
          </a:p>
        </p:txBody>
      </p:sp>
      <p:sp>
        <p:nvSpPr>
          <p:cNvPr id="8" name="Rounded Rectangle 7"/>
          <p:cNvSpPr/>
          <p:nvPr/>
        </p:nvSpPr>
        <p:spPr>
          <a:xfrm>
            <a:off x="548640" y="1371600"/>
            <a:ext cx="11109960" cy="11887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71600"/>
            <a:ext cx="137160" cy="11887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508760"/>
            <a:ext cx="10515600" cy="32004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Day 0-2 : 計測 + クリエイティブ準備</a:t>
            </a:r>
          </a:p>
        </p:txBody>
      </p:sp>
      <p:sp>
        <p:nvSpPr>
          <p:cNvPr id="11" name="TextBox 10"/>
          <p:cNvSpPr txBox="1"/>
          <p:nvPr/>
        </p:nvSpPr>
        <p:spPr>
          <a:xfrm>
            <a:off x="868680" y="182880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12" name="TextBox 11"/>
          <p:cNvSpPr txBox="1"/>
          <p:nvPr/>
        </p:nvSpPr>
        <p:spPr>
          <a:xfrm>
            <a:off x="1097280" y="185623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TikTok Pixel + Events API 実装</a:t>
            </a:r>
          </a:p>
        </p:txBody>
      </p:sp>
      <p:sp>
        <p:nvSpPr>
          <p:cNvPr id="13" name="TextBox 12"/>
          <p:cNvSpPr txBox="1"/>
          <p:nvPr/>
        </p:nvSpPr>
        <p:spPr>
          <a:xfrm>
            <a:off x="6309360" y="182880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14" name="TextBox 13"/>
          <p:cNvSpPr txBox="1"/>
          <p:nvPr/>
        </p:nvSpPr>
        <p:spPr>
          <a:xfrm>
            <a:off x="6537960" y="185623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EMQ 8/10 以上に</a:t>
            </a:r>
          </a:p>
        </p:txBody>
      </p:sp>
      <p:sp>
        <p:nvSpPr>
          <p:cNvPr id="15" name="TextBox 14"/>
          <p:cNvSpPr txBox="1"/>
          <p:nvPr/>
        </p:nvSpPr>
        <p:spPr>
          <a:xfrm>
            <a:off x="868680" y="214884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16" name="TextBox 15"/>
          <p:cNvSpPr txBox="1"/>
          <p:nvPr/>
        </p:nvSpPr>
        <p:spPr>
          <a:xfrm>
            <a:off x="1097280" y="217627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Symphony Creative Studio セットアップ</a:t>
            </a:r>
          </a:p>
        </p:txBody>
      </p:sp>
      <p:sp>
        <p:nvSpPr>
          <p:cNvPr id="17" name="TextBox 16"/>
          <p:cNvSpPr txBox="1"/>
          <p:nvPr/>
        </p:nvSpPr>
        <p:spPr>
          <a:xfrm>
            <a:off x="6309360" y="214884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18" name="TextBox 17"/>
          <p:cNvSpPr txBox="1"/>
          <p:nvPr/>
        </p:nvSpPr>
        <p:spPr>
          <a:xfrm>
            <a:off x="6537960" y="217627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Creative Center で業種リサーチ</a:t>
            </a:r>
          </a:p>
        </p:txBody>
      </p:sp>
      <p:sp>
        <p:nvSpPr>
          <p:cNvPr id="19" name="Rounded Rectangle 18"/>
          <p:cNvSpPr/>
          <p:nvPr/>
        </p:nvSpPr>
        <p:spPr>
          <a:xfrm>
            <a:off x="548640" y="2651760"/>
            <a:ext cx="11109960" cy="11887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651760"/>
            <a:ext cx="137160" cy="11887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2788920"/>
            <a:ext cx="10515600" cy="32004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Day 3-7 : キャンペーン構造</a:t>
            </a:r>
          </a:p>
        </p:txBody>
      </p:sp>
      <p:sp>
        <p:nvSpPr>
          <p:cNvPr id="22" name="TextBox 21"/>
          <p:cNvSpPr txBox="1"/>
          <p:nvPr/>
        </p:nvSpPr>
        <p:spPr>
          <a:xfrm>
            <a:off x="868680" y="310896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23" name="TextBox 22"/>
          <p:cNvSpPr txBox="1"/>
          <p:nvPr/>
        </p:nvSpPr>
        <p:spPr>
          <a:xfrm>
            <a:off x="1097280" y="313639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Smart+ Web (CV) + Spark Ads (UGC)</a:t>
            </a:r>
          </a:p>
        </p:txBody>
      </p:sp>
      <p:sp>
        <p:nvSpPr>
          <p:cNvPr id="24" name="TextBox 23"/>
          <p:cNvSpPr txBox="1"/>
          <p:nvPr/>
        </p:nvSpPr>
        <p:spPr>
          <a:xfrm>
            <a:off x="6309360" y="310896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25" name="TextBox 24"/>
          <p:cNvSpPr txBox="1"/>
          <p:nvPr/>
        </p:nvSpPr>
        <p:spPr>
          <a:xfrm>
            <a:off x="6537960" y="313639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Custom Audience アップロード</a:t>
            </a:r>
          </a:p>
        </p:txBody>
      </p:sp>
      <p:sp>
        <p:nvSpPr>
          <p:cNvPr id="26" name="TextBox 25"/>
          <p:cNvSpPr txBox="1"/>
          <p:nvPr/>
        </p:nvSpPr>
        <p:spPr>
          <a:xfrm>
            <a:off x="868680" y="342900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27" name="TextBox 26"/>
          <p:cNvSpPr txBox="1"/>
          <p:nvPr/>
        </p:nvSpPr>
        <p:spPr>
          <a:xfrm>
            <a:off x="1097280" y="345643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Audience Signal に 1PD投入</a:t>
            </a:r>
          </a:p>
        </p:txBody>
      </p:sp>
      <p:sp>
        <p:nvSpPr>
          <p:cNvPr id="28" name="TextBox 27"/>
          <p:cNvSpPr txBox="1"/>
          <p:nvPr/>
        </p:nvSpPr>
        <p:spPr>
          <a:xfrm>
            <a:off x="6309360" y="342900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29" name="TextBox 28"/>
          <p:cNvSpPr txBox="1"/>
          <p:nvPr/>
        </p:nvSpPr>
        <p:spPr>
          <a:xfrm>
            <a:off x="6537960" y="345643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クリエイティブ 5-10本を Asset Group に</a:t>
            </a:r>
          </a:p>
        </p:txBody>
      </p:sp>
      <p:sp>
        <p:nvSpPr>
          <p:cNvPr id="30" name="Rounded Rectangle 29"/>
          <p:cNvSpPr/>
          <p:nvPr/>
        </p:nvSpPr>
        <p:spPr>
          <a:xfrm>
            <a:off x="548640" y="3931920"/>
            <a:ext cx="11109960" cy="11887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8640" y="3931920"/>
            <a:ext cx="137160" cy="11887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68680" y="4069080"/>
            <a:ext cx="10515600" cy="32004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Day 8-21 : 学習期間</a:t>
            </a:r>
          </a:p>
        </p:txBody>
      </p:sp>
      <p:sp>
        <p:nvSpPr>
          <p:cNvPr id="33" name="TextBox 32"/>
          <p:cNvSpPr txBox="1"/>
          <p:nvPr/>
        </p:nvSpPr>
        <p:spPr>
          <a:xfrm>
            <a:off x="868680" y="438912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34" name="TextBox 33"/>
          <p:cNvSpPr txBox="1"/>
          <p:nvPr/>
        </p:nvSpPr>
        <p:spPr>
          <a:xfrm>
            <a:off x="1097280" y="441655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予算 ±20% 以内で安定運用</a:t>
            </a:r>
          </a:p>
        </p:txBody>
      </p:sp>
      <p:sp>
        <p:nvSpPr>
          <p:cNvPr id="35" name="TextBox 34"/>
          <p:cNvSpPr txBox="1"/>
          <p:nvPr/>
        </p:nvSpPr>
        <p:spPr>
          <a:xfrm>
            <a:off x="6309360" y="438912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36" name="TextBox 35"/>
          <p:cNvSpPr txBox="1"/>
          <p:nvPr/>
        </p:nvSpPr>
        <p:spPr>
          <a:xfrm>
            <a:off x="6537960" y="441655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Symphony で週20-30本量産</a:t>
            </a:r>
          </a:p>
        </p:txBody>
      </p:sp>
      <p:sp>
        <p:nvSpPr>
          <p:cNvPr id="37" name="TextBox 36"/>
          <p:cNvSpPr txBox="1"/>
          <p:nvPr/>
        </p:nvSpPr>
        <p:spPr>
          <a:xfrm>
            <a:off x="868680" y="470916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38" name="TextBox 37"/>
          <p:cNvSpPr txBox="1"/>
          <p:nvPr/>
        </p:nvSpPr>
        <p:spPr>
          <a:xfrm>
            <a:off x="1097280" y="473659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Creator Spark Ads を週次追加</a:t>
            </a:r>
          </a:p>
        </p:txBody>
      </p:sp>
      <p:sp>
        <p:nvSpPr>
          <p:cNvPr id="39" name="TextBox 38"/>
          <p:cNvSpPr txBox="1"/>
          <p:nvPr/>
        </p:nvSpPr>
        <p:spPr>
          <a:xfrm>
            <a:off x="6309360" y="470916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40" name="TextBox 39"/>
          <p:cNvSpPr txBox="1"/>
          <p:nvPr/>
        </p:nvSpPr>
        <p:spPr>
          <a:xfrm>
            <a:off x="6537960" y="473659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Brand Lift / Lift Test 申請 (該当時)</a:t>
            </a:r>
          </a:p>
        </p:txBody>
      </p:sp>
      <p:sp>
        <p:nvSpPr>
          <p:cNvPr id="41" name="Rounded Rectangle 40"/>
          <p:cNvSpPr/>
          <p:nvPr/>
        </p:nvSpPr>
        <p:spPr>
          <a:xfrm>
            <a:off x="548640" y="5212080"/>
            <a:ext cx="11109960" cy="11887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48640" y="5212080"/>
            <a:ext cx="137160" cy="11887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68680" y="5349240"/>
            <a:ext cx="10515600" cy="32004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Day 22-30 : 最適化</a:t>
            </a:r>
          </a:p>
        </p:txBody>
      </p:sp>
      <p:sp>
        <p:nvSpPr>
          <p:cNvPr id="44" name="TextBox 43"/>
          <p:cNvSpPr txBox="1"/>
          <p:nvPr/>
        </p:nvSpPr>
        <p:spPr>
          <a:xfrm>
            <a:off x="868680" y="566928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45" name="TextBox 44"/>
          <p:cNvSpPr txBox="1"/>
          <p:nvPr/>
        </p:nvSpPr>
        <p:spPr>
          <a:xfrm>
            <a:off x="1097280" y="569671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Top Ads の傾向を分析</a:t>
            </a:r>
          </a:p>
        </p:txBody>
      </p:sp>
      <p:sp>
        <p:nvSpPr>
          <p:cNvPr id="46" name="TextBox 45"/>
          <p:cNvSpPr txBox="1"/>
          <p:nvPr/>
        </p:nvSpPr>
        <p:spPr>
          <a:xfrm>
            <a:off x="6309360" y="566928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47" name="TextBox 46"/>
          <p:cNvSpPr txBox="1"/>
          <p:nvPr/>
        </p:nvSpPr>
        <p:spPr>
          <a:xfrm>
            <a:off x="6537960" y="569671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Best/Low クリエイティブ入替</a:t>
            </a:r>
          </a:p>
        </p:txBody>
      </p:sp>
      <p:sp>
        <p:nvSpPr>
          <p:cNvPr id="48" name="TextBox 47"/>
          <p:cNvSpPr txBox="1"/>
          <p:nvPr/>
        </p:nvSpPr>
        <p:spPr>
          <a:xfrm>
            <a:off x="868680" y="598932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49" name="TextBox 48"/>
          <p:cNvSpPr txBox="1"/>
          <p:nvPr/>
        </p:nvSpPr>
        <p:spPr>
          <a:xfrm>
            <a:off x="1097280" y="601675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オーディエンス拡張テスト</a:t>
            </a:r>
          </a:p>
        </p:txBody>
      </p:sp>
      <p:sp>
        <p:nvSpPr>
          <p:cNvPr id="50" name="TextBox 49"/>
          <p:cNvSpPr txBox="1"/>
          <p:nvPr/>
        </p:nvSpPr>
        <p:spPr>
          <a:xfrm>
            <a:off x="6309360" y="598932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51" name="TextBox 50"/>
          <p:cNvSpPr txBox="1"/>
          <p:nvPr/>
        </p:nvSpPr>
        <p:spPr>
          <a:xfrm>
            <a:off x="6537960" y="601675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月次レポート + 次月提案</a:t>
            </a:r>
          </a:p>
        </p:txBody>
      </p:sp>
      <p:sp>
        <p:nvSpPr>
          <p:cNvPr id="52" name="TextBox 51"/>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TikTok : よくある失敗と回避策</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副業代行で『TikTok あるある』を防ぐ</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P114 / 250</a:t>
            </a:r>
          </a:p>
        </p:txBody>
      </p:sp>
      <p:sp>
        <p:nvSpPr>
          <p:cNvPr id="8" name="Rounded Rectangle 7"/>
          <p:cNvSpPr/>
          <p:nvPr/>
        </p:nvSpPr>
        <p:spPr>
          <a:xfrm>
            <a:off x="548640" y="1325880"/>
            <a:ext cx="5440680" cy="15544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25880"/>
            <a:ext cx="91440" cy="1554480"/>
          </a:xfrm>
          <a:prstGeom prst="rect">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63040"/>
            <a:ext cx="457200" cy="320040"/>
          </a:xfrm>
          <a:prstGeom prst="rect">
            <a:avLst/>
          </a:prstGeom>
          <a:noFill/>
        </p:spPr>
        <p:txBody>
          <a:bodyPr wrap="square" anchor="t" lIns="0" rIns="0" tIns="0" bIns="0">
            <a:spAutoFit/>
          </a:bodyPr>
          <a:lstStyle/>
          <a:p>
            <a:pPr algn="l">
              <a:lnSpc>
                <a:spcPct val="115000"/>
              </a:lnSpc>
            </a:pPr>
            <a:r>
              <a:rPr sz="1800" b="1">
                <a:solidFill>
                  <a:srgbClr val="C6452D"/>
                </a:solidFill>
                <a:latin typeface="Hiragino Sans"/>
                <a:ea typeface="Hiragino Sans"/>
                <a:cs typeface="Hiragino Sans"/>
              </a:rPr>
              <a:t>✗</a:t>
            </a:r>
          </a:p>
        </p:txBody>
      </p:sp>
      <p:sp>
        <p:nvSpPr>
          <p:cNvPr id="11" name="TextBox 10"/>
          <p:cNvSpPr txBox="1"/>
          <p:nvPr/>
        </p:nvSpPr>
        <p:spPr>
          <a:xfrm>
            <a:off x="1188720" y="1463040"/>
            <a:ext cx="4663440" cy="365760"/>
          </a:xfrm>
          <a:prstGeom prst="rect">
            <a:avLst/>
          </a:prstGeom>
          <a:noFill/>
        </p:spPr>
        <p:txBody>
          <a:bodyPr wrap="square" anchor="t" lIns="0" rIns="0" tIns="0" bIns="0">
            <a:spAutoFit/>
          </a:bodyPr>
          <a:lstStyle/>
          <a:p>
            <a:pPr algn="l">
              <a:lnSpc>
                <a:spcPct val="130000"/>
              </a:lnSpc>
            </a:pPr>
            <a:r>
              <a:rPr sz="1200" b="1">
                <a:solidFill>
                  <a:srgbClr val="0F2A4F"/>
                </a:solidFill>
                <a:latin typeface="Hiragino Sans"/>
                <a:ea typeface="Hiragino Sans"/>
                <a:cs typeface="Hiragino Sans"/>
              </a:rPr>
              <a:t>Meta /YouTube クリエイティブ流用</a:t>
            </a:r>
          </a:p>
        </p:txBody>
      </p:sp>
      <p:sp>
        <p:nvSpPr>
          <p:cNvPr id="12" name="TextBox 11"/>
          <p:cNvSpPr txBox="1"/>
          <p:nvPr/>
        </p:nvSpPr>
        <p:spPr>
          <a:xfrm>
            <a:off x="777240" y="1920240"/>
            <a:ext cx="5074920" cy="411480"/>
          </a:xfrm>
          <a:prstGeom prst="rect">
            <a:avLst/>
          </a:prstGeom>
          <a:noFill/>
        </p:spPr>
        <p:txBody>
          <a:bodyPr wrap="square" anchor="t" lIns="0" rIns="0" tIns="0" bIns="0">
            <a:spAutoFit/>
          </a:bodyPr>
          <a:lstStyle/>
          <a:p>
            <a:pPr algn="l">
              <a:lnSpc>
                <a:spcPct val="140000"/>
              </a:lnSpc>
            </a:pPr>
            <a:r>
              <a:rPr sz="1000" b="0">
                <a:solidFill>
                  <a:srgbClr val="5A6A80"/>
                </a:solidFill>
                <a:latin typeface="Hiragino Sans"/>
                <a:ea typeface="Hiragino Sans"/>
                <a:cs typeface="Hiragino Sans"/>
              </a:rPr>
              <a:t>TikTok特有のUGC感が出ず CTR/VTR 低迷</a:t>
            </a:r>
          </a:p>
        </p:txBody>
      </p:sp>
      <p:sp>
        <p:nvSpPr>
          <p:cNvPr id="13" name="Rectangle 12"/>
          <p:cNvSpPr/>
          <p:nvPr/>
        </p:nvSpPr>
        <p:spPr>
          <a:xfrm>
            <a:off x="777240" y="2331720"/>
            <a:ext cx="507492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423160"/>
            <a:ext cx="5074920" cy="411480"/>
          </a:xfrm>
          <a:prstGeom prst="rect">
            <a:avLst/>
          </a:prstGeom>
          <a:noFill/>
        </p:spPr>
        <p:txBody>
          <a:bodyPr wrap="square" anchor="t" lIns="0" rIns="0" tIns="0" bIns="0">
            <a:spAutoFit/>
          </a:bodyPr>
          <a:lstStyle/>
          <a:p>
            <a:pPr algn="l">
              <a:lnSpc>
                <a:spcPct val="140000"/>
              </a:lnSpc>
            </a:pPr>
            <a:r>
              <a:rPr sz="1000" b="1">
                <a:solidFill>
                  <a:srgbClr val="B85E1A"/>
                </a:solidFill>
                <a:latin typeface="Hiragino Sans"/>
                <a:ea typeface="Hiragino Sans"/>
                <a:cs typeface="Hiragino Sans"/>
              </a:rPr>
              <a:t>→  Symphony AI生成 + Creator Spark Ads で TikTok感を出す</a:t>
            </a:r>
          </a:p>
        </p:txBody>
      </p:sp>
      <p:sp>
        <p:nvSpPr>
          <p:cNvPr id="15" name="Rounded Rectangle 14"/>
          <p:cNvSpPr/>
          <p:nvPr/>
        </p:nvSpPr>
        <p:spPr>
          <a:xfrm>
            <a:off x="6172200" y="1325880"/>
            <a:ext cx="5440680" cy="15544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1325880"/>
            <a:ext cx="91440" cy="1554480"/>
          </a:xfrm>
          <a:prstGeom prst="rect">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1463040"/>
            <a:ext cx="457200" cy="320040"/>
          </a:xfrm>
          <a:prstGeom prst="rect">
            <a:avLst/>
          </a:prstGeom>
          <a:noFill/>
        </p:spPr>
        <p:txBody>
          <a:bodyPr wrap="square" anchor="t" lIns="0" rIns="0" tIns="0" bIns="0">
            <a:spAutoFit/>
          </a:bodyPr>
          <a:lstStyle/>
          <a:p>
            <a:pPr algn="l">
              <a:lnSpc>
                <a:spcPct val="115000"/>
              </a:lnSpc>
            </a:pPr>
            <a:r>
              <a:rPr sz="1800" b="1">
                <a:solidFill>
                  <a:srgbClr val="C6452D"/>
                </a:solidFill>
                <a:latin typeface="Hiragino Sans"/>
                <a:ea typeface="Hiragino Sans"/>
                <a:cs typeface="Hiragino Sans"/>
              </a:rPr>
              <a:t>✗</a:t>
            </a:r>
          </a:p>
        </p:txBody>
      </p:sp>
      <p:sp>
        <p:nvSpPr>
          <p:cNvPr id="18" name="TextBox 17"/>
          <p:cNvSpPr txBox="1"/>
          <p:nvPr/>
        </p:nvSpPr>
        <p:spPr>
          <a:xfrm>
            <a:off x="6812280" y="1463040"/>
            <a:ext cx="4663440" cy="365760"/>
          </a:xfrm>
          <a:prstGeom prst="rect">
            <a:avLst/>
          </a:prstGeom>
          <a:noFill/>
        </p:spPr>
        <p:txBody>
          <a:bodyPr wrap="square" anchor="t" lIns="0" rIns="0" tIns="0" bIns="0">
            <a:spAutoFit/>
          </a:bodyPr>
          <a:lstStyle/>
          <a:p>
            <a:pPr algn="l">
              <a:lnSpc>
                <a:spcPct val="130000"/>
              </a:lnSpc>
            </a:pPr>
            <a:r>
              <a:rPr sz="1200" b="1">
                <a:solidFill>
                  <a:srgbClr val="0F2A4F"/>
                </a:solidFill>
                <a:latin typeface="Hiragino Sans"/>
                <a:ea typeface="Hiragino Sans"/>
                <a:cs typeface="Hiragino Sans"/>
              </a:rPr>
              <a:t>Smart+ を細かく分割</a:t>
            </a:r>
          </a:p>
        </p:txBody>
      </p:sp>
      <p:sp>
        <p:nvSpPr>
          <p:cNvPr id="19" name="TextBox 18"/>
          <p:cNvSpPr txBox="1"/>
          <p:nvPr/>
        </p:nvSpPr>
        <p:spPr>
          <a:xfrm>
            <a:off x="6400800" y="1920240"/>
            <a:ext cx="5074920" cy="411480"/>
          </a:xfrm>
          <a:prstGeom prst="rect">
            <a:avLst/>
          </a:prstGeom>
          <a:noFill/>
        </p:spPr>
        <p:txBody>
          <a:bodyPr wrap="square" anchor="t" lIns="0" rIns="0" tIns="0" bIns="0">
            <a:spAutoFit/>
          </a:bodyPr>
          <a:lstStyle/>
          <a:p>
            <a:pPr algn="l">
              <a:lnSpc>
                <a:spcPct val="140000"/>
              </a:lnSpc>
            </a:pPr>
            <a:r>
              <a:rPr sz="1000" b="0">
                <a:solidFill>
                  <a:srgbClr val="5A6A80"/>
                </a:solidFill>
                <a:latin typeface="Hiragino Sans"/>
                <a:ea typeface="Hiragino Sans"/>
                <a:cs typeface="Hiragino Sans"/>
              </a:rPr>
              <a:t>AI 学習が分散 → CPA高騰</a:t>
            </a:r>
          </a:p>
        </p:txBody>
      </p:sp>
      <p:sp>
        <p:nvSpPr>
          <p:cNvPr id="20" name="Rectangle 19"/>
          <p:cNvSpPr/>
          <p:nvPr/>
        </p:nvSpPr>
        <p:spPr>
          <a:xfrm>
            <a:off x="6400800" y="2331720"/>
            <a:ext cx="507492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0" y="2423160"/>
            <a:ext cx="5074920" cy="411480"/>
          </a:xfrm>
          <a:prstGeom prst="rect">
            <a:avLst/>
          </a:prstGeom>
          <a:noFill/>
        </p:spPr>
        <p:txBody>
          <a:bodyPr wrap="square" anchor="t" lIns="0" rIns="0" tIns="0" bIns="0">
            <a:spAutoFit/>
          </a:bodyPr>
          <a:lstStyle/>
          <a:p>
            <a:pPr algn="l">
              <a:lnSpc>
                <a:spcPct val="140000"/>
              </a:lnSpc>
            </a:pPr>
            <a:r>
              <a:rPr sz="1000" b="1">
                <a:solidFill>
                  <a:srgbClr val="B85E1A"/>
                </a:solidFill>
                <a:latin typeface="Hiragino Sans"/>
                <a:ea typeface="Hiragino Sans"/>
                <a:cs typeface="Hiragino Sans"/>
              </a:rPr>
              <a:t>→  1キャンペーン 1-2 ad set + Smart+ で十分</a:t>
            </a:r>
          </a:p>
        </p:txBody>
      </p:sp>
      <p:sp>
        <p:nvSpPr>
          <p:cNvPr id="22" name="Rounded Rectangle 21"/>
          <p:cNvSpPr/>
          <p:nvPr/>
        </p:nvSpPr>
        <p:spPr>
          <a:xfrm>
            <a:off x="548640" y="3017520"/>
            <a:ext cx="5440680" cy="15544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48640" y="3017520"/>
            <a:ext cx="91440" cy="1554480"/>
          </a:xfrm>
          <a:prstGeom prst="rect">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3154680"/>
            <a:ext cx="457200" cy="320040"/>
          </a:xfrm>
          <a:prstGeom prst="rect">
            <a:avLst/>
          </a:prstGeom>
          <a:noFill/>
        </p:spPr>
        <p:txBody>
          <a:bodyPr wrap="square" anchor="t" lIns="0" rIns="0" tIns="0" bIns="0">
            <a:spAutoFit/>
          </a:bodyPr>
          <a:lstStyle/>
          <a:p>
            <a:pPr algn="l">
              <a:lnSpc>
                <a:spcPct val="115000"/>
              </a:lnSpc>
            </a:pPr>
            <a:r>
              <a:rPr sz="1800" b="1">
                <a:solidFill>
                  <a:srgbClr val="C6452D"/>
                </a:solidFill>
                <a:latin typeface="Hiragino Sans"/>
                <a:ea typeface="Hiragino Sans"/>
                <a:cs typeface="Hiragino Sans"/>
              </a:rPr>
              <a:t>✗</a:t>
            </a:r>
          </a:p>
        </p:txBody>
      </p:sp>
      <p:sp>
        <p:nvSpPr>
          <p:cNvPr id="25" name="TextBox 24"/>
          <p:cNvSpPr txBox="1"/>
          <p:nvPr/>
        </p:nvSpPr>
        <p:spPr>
          <a:xfrm>
            <a:off x="1188720" y="3154680"/>
            <a:ext cx="4663440" cy="365760"/>
          </a:xfrm>
          <a:prstGeom prst="rect">
            <a:avLst/>
          </a:prstGeom>
          <a:noFill/>
        </p:spPr>
        <p:txBody>
          <a:bodyPr wrap="square" anchor="t" lIns="0" rIns="0" tIns="0" bIns="0">
            <a:spAutoFit/>
          </a:bodyPr>
          <a:lstStyle/>
          <a:p>
            <a:pPr algn="l">
              <a:lnSpc>
                <a:spcPct val="130000"/>
              </a:lnSpc>
            </a:pPr>
            <a:r>
              <a:rPr sz="1200" b="1">
                <a:solidFill>
                  <a:srgbClr val="0F2A4F"/>
                </a:solidFill>
                <a:latin typeface="Hiragino Sans"/>
                <a:ea typeface="Hiragino Sans"/>
                <a:cs typeface="Hiragino Sans"/>
              </a:rPr>
              <a:t>Pixel のみで Events API 未実装</a:t>
            </a:r>
          </a:p>
        </p:txBody>
      </p:sp>
      <p:sp>
        <p:nvSpPr>
          <p:cNvPr id="26" name="TextBox 25"/>
          <p:cNvSpPr txBox="1"/>
          <p:nvPr/>
        </p:nvSpPr>
        <p:spPr>
          <a:xfrm>
            <a:off x="777240" y="3611880"/>
            <a:ext cx="5074920" cy="411480"/>
          </a:xfrm>
          <a:prstGeom prst="rect">
            <a:avLst/>
          </a:prstGeom>
          <a:noFill/>
        </p:spPr>
        <p:txBody>
          <a:bodyPr wrap="square" anchor="t" lIns="0" rIns="0" tIns="0" bIns="0">
            <a:spAutoFit/>
          </a:bodyPr>
          <a:lstStyle/>
          <a:p>
            <a:pPr algn="l">
              <a:lnSpc>
                <a:spcPct val="140000"/>
              </a:lnSpc>
            </a:pPr>
            <a:r>
              <a:rPr sz="1000" b="0">
                <a:solidFill>
                  <a:srgbClr val="5A6A80"/>
                </a:solidFill>
                <a:latin typeface="Hiragino Sans"/>
                <a:ea typeface="Hiragino Sans"/>
                <a:cs typeface="Hiragino Sans"/>
              </a:rPr>
              <a:t>iOS計測ロス + Smart+ AI精度低下</a:t>
            </a:r>
          </a:p>
        </p:txBody>
      </p:sp>
      <p:sp>
        <p:nvSpPr>
          <p:cNvPr id="27" name="Rectangle 26"/>
          <p:cNvSpPr/>
          <p:nvPr/>
        </p:nvSpPr>
        <p:spPr>
          <a:xfrm>
            <a:off x="777240" y="4023360"/>
            <a:ext cx="507492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4114800"/>
            <a:ext cx="5074920" cy="411480"/>
          </a:xfrm>
          <a:prstGeom prst="rect">
            <a:avLst/>
          </a:prstGeom>
          <a:noFill/>
        </p:spPr>
        <p:txBody>
          <a:bodyPr wrap="square" anchor="t" lIns="0" rIns="0" tIns="0" bIns="0">
            <a:spAutoFit/>
          </a:bodyPr>
          <a:lstStyle/>
          <a:p>
            <a:pPr algn="l">
              <a:lnSpc>
                <a:spcPct val="140000"/>
              </a:lnSpc>
            </a:pPr>
            <a:r>
              <a:rPr sz="1000" b="1">
                <a:solidFill>
                  <a:srgbClr val="B85E1A"/>
                </a:solidFill>
                <a:latin typeface="Hiragino Sans"/>
                <a:ea typeface="Hiragino Sans"/>
                <a:cs typeface="Hiragino Sans"/>
              </a:rPr>
              <a:t>→  Pixel + Events API ハイブリッド構成 (Meta同様)</a:t>
            </a:r>
          </a:p>
        </p:txBody>
      </p:sp>
      <p:sp>
        <p:nvSpPr>
          <p:cNvPr id="29" name="Rounded Rectangle 28"/>
          <p:cNvSpPr/>
          <p:nvPr/>
        </p:nvSpPr>
        <p:spPr>
          <a:xfrm>
            <a:off x="6172200" y="3017520"/>
            <a:ext cx="5440680" cy="15544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72200" y="3017520"/>
            <a:ext cx="91440" cy="1554480"/>
          </a:xfrm>
          <a:prstGeom prst="rect">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0" y="3154680"/>
            <a:ext cx="457200" cy="320040"/>
          </a:xfrm>
          <a:prstGeom prst="rect">
            <a:avLst/>
          </a:prstGeom>
          <a:noFill/>
        </p:spPr>
        <p:txBody>
          <a:bodyPr wrap="square" anchor="t" lIns="0" rIns="0" tIns="0" bIns="0">
            <a:spAutoFit/>
          </a:bodyPr>
          <a:lstStyle/>
          <a:p>
            <a:pPr algn="l">
              <a:lnSpc>
                <a:spcPct val="115000"/>
              </a:lnSpc>
            </a:pPr>
            <a:r>
              <a:rPr sz="1800" b="1">
                <a:solidFill>
                  <a:srgbClr val="C6452D"/>
                </a:solidFill>
                <a:latin typeface="Hiragino Sans"/>
                <a:ea typeface="Hiragino Sans"/>
                <a:cs typeface="Hiragino Sans"/>
              </a:rPr>
              <a:t>✗</a:t>
            </a:r>
          </a:p>
        </p:txBody>
      </p:sp>
      <p:sp>
        <p:nvSpPr>
          <p:cNvPr id="32" name="TextBox 31"/>
          <p:cNvSpPr txBox="1"/>
          <p:nvPr/>
        </p:nvSpPr>
        <p:spPr>
          <a:xfrm>
            <a:off x="6812280" y="3154680"/>
            <a:ext cx="4663440" cy="365760"/>
          </a:xfrm>
          <a:prstGeom prst="rect">
            <a:avLst/>
          </a:prstGeom>
          <a:noFill/>
        </p:spPr>
        <p:txBody>
          <a:bodyPr wrap="square" anchor="t" lIns="0" rIns="0" tIns="0" bIns="0">
            <a:spAutoFit/>
          </a:bodyPr>
          <a:lstStyle/>
          <a:p>
            <a:pPr algn="l">
              <a:lnSpc>
                <a:spcPct val="130000"/>
              </a:lnSpc>
            </a:pPr>
            <a:r>
              <a:rPr sz="1200" b="1">
                <a:solidFill>
                  <a:srgbClr val="0F2A4F"/>
                </a:solidFill>
                <a:latin typeface="Hiragino Sans"/>
                <a:ea typeface="Hiragino Sans"/>
                <a:cs typeface="Hiragino Sans"/>
              </a:rPr>
              <a:t>ステマ規制違反 (PR表記漏れ)</a:t>
            </a:r>
          </a:p>
        </p:txBody>
      </p:sp>
      <p:sp>
        <p:nvSpPr>
          <p:cNvPr id="33" name="TextBox 32"/>
          <p:cNvSpPr txBox="1"/>
          <p:nvPr/>
        </p:nvSpPr>
        <p:spPr>
          <a:xfrm>
            <a:off x="6400800" y="3611880"/>
            <a:ext cx="5074920" cy="411480"/>
          </a:xfrm>
          <a:prstGeom prst="rect">
            <a:avLst/>
          </a:prstGeom>
          <a:noFill/>
        </p:spPr>
        <p:txBody>
          <a:bodyPr wrap="square" anchor="t" lIns="0" rIns="0" tIns="0" bIns="0">
            <a:spAutoFit/>
          </a:bodyPr>
          <a:lstStyle/>
          <a:p>
            <a:pPr algn="l">
              <a:lnSpc>
                <a:spcPct val="140000"/>
              </a:lnSpc>
            </a:pPr>
            <a:r>
              <a:rPr sz="1000" b="0">
                <a:solidFill>
                  <a:srgbClr val="5A6A80"/>
                </a:solidFill>
                <a:latin typeface="Hiragino Sans"/>
                <a:ea typeface="Hiragino Sans"/>
                <a:cs typeface="Hiragino Sans"/>
              </a:rPr>
              <a:t>措置命令・課徴金・ブランド毀損</a:t>
            </a:r>
          </a:p>
        </p:txBody>
      </p:sp>
      <p:sp>
        <p:nvSpPr>
          <p:cNvPr id="34" name="Rectangle 33"/>
          <p:cNvSpPr/>
          <p:nvPr/>
        </p:nvSpPr>
        <p:spPr>
          <a:xfrm>
            <a:off x="6400800" y="4023360"/>
            <a:ext cx="507492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0" y="4114800"/>
            <a:ext cx="5074920" cy="411480"/>
          </a:xfrm>
          <a:prstGeom prst="rect">
            <a:avLst/>
          </a:prstGeom>
          <a:noFill/>
        </p:spPr>
        <p:txBody>
          <a:bodyPr wrap="square" anchor="t" lIns="0" rIns="0" tIns="0" bIns="0">
            <a:spAutoFit/>
          </a:bodyPr>
          <a:lstStyle/>
          <a:p>
            <a:pPr algn="l">
              <a:lnSpc>
                <a:spcPct val="140000"/>
              </a:lnSpc>
            </a:pPr>
            <a:r>
              <a:rPr sz="1000" b="1">
                <a:solidFill>
                  <a:srgbClr val="B85E1A"/>
                </a:solidFill>
                <a:latin typeface="Hiragino Sans"/>
                <a:ea typeface="Hiragino Sans"/>
                <a:cs typeface="Hiragino Sans"/>
              </a:rPr>
              <a:t>→  Spark Ads (Creator) は契約条件に PR表記必須</a:t>
            </a:r>
          </a:p>
        </p:txBody>
      </p:sp>
      <p:sp>
        <p:nvSpPr>
          <p:cNvPr id="36" name="Rounded Rectangle 35"/>
          <p:cNvSpPr/>
          <p:nvPr/>
        </p:nvSpPr>
        <p:spPr>
          <a:xfrm>
            <a:off x="548640" y="4709160"/>
            <a:ext cx="5440680" cy="15544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 y="4709160"/>
            <a:ext cx="91440" cy="1554480"/>
          </a:xfrm>
          <a:prstGeom prst="rect">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77240" y="4846320"/>
            <a:ext cx="457200" cy="320040"/>
          </a:xfrm>
          <a:prstGeom prst="rect">
            <a:avLst/>
          </a:prstGeom>
          <a:noFill/>
        </p:spPr>
        <p:txBody>
          <a:bodyPr wrap="square" anchor="t" lIns="0" rIns="0" tIns="0" bIns="0">
            <a:spAutoFit/>
          </a:bodyPr>
          <a:lstStyle/>
          <a:p>
            <a:pPr algn="l">
              <a:lnSpc>
                <a:spcPct val="115000"/>
              </a:lnSpc>
            </a:pPr>
            <a:r>
              <a:rPr sz="1800" b="1">
                <a:solidFill>
                  <a:srgbClr val="C6452D"/>
                </a:solidFill>
                <a:latin typeface="Hiragino Sans"/>
                <a:ea typeface="Hiragino Sans"/>
                <a:cs typeface="Hiragino Sans"/>
              </a:rPr>
              <a:t>✗</a:t>
            </a:r>
          </a:p>
        </p:txBody>
      </p:sp>
      <p:sp>
        <p:nvSpPr>
          <p:cNvPr id="39" name="TextBox 38"/>
          <p:cNvSpPr txBox="1"/>
          <p:nvPr/>
        </p:nvSpPr>
        <p:spPr>
          <a:xfrm>
            <a:off x="1188720" y="4846320"/>
            <a:ext cx="4663440" cy="365760"/>
          </a:xfrm>
          <a:prstGeom prst="rect">
            <a:avLst/>
          </a:prstGeom>
          <a:noFill/>
        </p:spPr>
        <p:txBody>
          <a:bodyPr wrap="square" anchor="t" lIns="0" rIns="0" tIns="0" bIns="0">
            <a:spAutoFit/>
          </a:bodyPr>
          <a:lstStyle/>
          <a:p>
            <a:pPr algn="l">
              <a:lnSpc>
                <a:spcPct val="130000"/>
              </a:lnSpc>
            </a:pPr>
            <a:r>
              <a:rPr sz="1200" b="1">
                <a:solidFill>
                  <a:srgbClr val="0F2A4F"/>
                </a:solidFill>
                <a:latin typeface="Hiragino Sans"/>
                <a:ea typeface="Hiragino Sans"/>
                <a:cs typeface="Hiragino Sans"/>
              </a:rPr>
              <a:t>音声前提のクリエイティブ</a:t>
            </a:r>
          </a:p>
        </p:txBody>
      </p:sp>
      <p:sp>
        <p:nvSpPr>
          <p:cNvPr id="40" name="TextBox 39"/>
          <p:cNvSpPr txBox="1"/>
          <p:nvPr/>
        </p:nvSpPr>
        <p:spPr>
          <a:xfrm>
            <a:off x="777240" y="5303520"/>
            <a:ext cx="5074920" cy="411480"/>
          </a:xfrm>
          <a:prstGeom prst="rect">
            <a:avLst/>
          </a:prstGeom>
          <a:noFill/>
        </p:spPr>
        <p:txBody>
          <a:bodyPr wrap="square" anchor="t" lIns="0" rIns="0" tIns="0" bIns="0">
            <a:spAutoFit/>
          </a:bodyPr>
          <a:lstStyle/>
          <a:p>
            <a:pPr algn="l">
              <a:lnSpc>
                <a:spcPct val="140000"/>
              </a:lnSpc>
            </a:pPr>
            <a:r>
              <a:rPr sz="1000" b="0">
                <a:solidFill>
                  <a:srgbClr val="5A6A80"/>
                </a:solidFill>
                <a:latin typeface="Hiragino Sans"/>
                <a:ea typeface="Hiragino Sans"/>
                <a:cs typeface="Hiragino Sans"/>
              </a:rPr>
              <a:t>ミュート視聴で訴求伝わらず VTR低下</a:t>
            </a:r>
          </a:p>
        </p:txBody>
      </p:sp>
      <p:sp>
        <p:nvSpPr>
          <p:cNvPr id="41" name="Rectangle 40"/>
          <p:cNvSpPr/>
          <p:nvPr/>
        </p:nvSpPr>
        <p:spPr>
          <a:xfrm>
            <a:off x="777240" y="5715000"/>
            <a:ext cx="507492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77240" y="5806440"/>
            <a:ext cx="5074920" cy="411480"/>
          </a:xfrm>
          <a:prstGeom prst="rect">
            <a:avLst/>
          </a:prstGeom>
          <a:noFill/>
        </p:spPr>
        <p:txBody>
          <a:bodyPr wrap="square" anchor="t" lIns="0" rIns="0" tIns="0" bIns="0">
            <a:spAutoFit/>
          </a:bodyPr>
          <a:lstStyle/>
          <a:p>
            <a:pPr algn="l">
              <a:lnSpc>
                <a:spcPct val="140000"/>
              </a:lnSpc>
            </a:pPr>
            <a:r>
              <a:rPr sz="1000" b="1">
                <a:solidFill>
                  <a:srgbClr val="B85E1A"/>
                </a:solidFill>
                <a:latin typeface="Hiragino Sans"/>
                <a:ea typeface="Hiragino Sans"/>
                <a:cs typeface="Hiragino Sans"/>
              </a:rPr>
              <a:t>→  テロップ常時表示、字幕焼き付け</a:t>
            </a:r>
          </a:p>
        </p:txBody>
      </p:sp>
      <p:sp>
        <p:nvSpPr>
          <p:cNvPr id="43" name="Rounded Rectangle 42"/>
          <p:cNvSpPr/>
          <p:nvPr/>
        </p:nvSpPr>
        <p:spPr>
          <a:xfrm>
            <a:off x="6172200" y="4709160"/>
            <a:ext cx="5440680" cy="15544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172200" y="4709160"/>
            <a:ext cx="91440" cy="1554480"/>
          </a:xfrm>
          <a:prstGeom prst="rect">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00800" y="4846320"/>
            <a:ext cx="457200" cy="320040"/>
          </a:xfrm>
          <a:prstGeom prst="rect">
            <a:avLst/>
          </a:prstGeom>
          <a:noFill/>
        </p:spPr>
        <p:txBody>
          <a:bodyPr wrap="square" anchor="t" lIns="0" rIns="0" tIns="0" bIns="0">
            <a:spAutoFit/>
          </a:bodyPr>
          <a:lstStyle/>
          <a:p>
            <a:pPr algn="l">
              <a:lnSpc>
                <a:spcPct val="115000"/>
              </a:lnSpc>
            </a:pPr>
            <a:r>
              <a:rPr sz="1800" b="1">
                <a:solidFill>
                  <a:srgbClr val="C6452D"/>
                </a:solidFill>
                <a:latin typeface="Hiragino Sans"/>
                <a:ea typeface="Hiragino Sans"/>
                <a:cs typeface="Hiragino Sans"/>
              </a:rPr>
              <a:t>✗</a:t>
            </a:r>
          </a:p>
        </p:txBody>
      </p:sp>
      <p:sp>
        <p:nvSpPr>
          <p:cNvPr id="46" name="TextBox 45"/>
          <p:cNvSpPr txBox="1"/>
          <p:nvPr/>
        </p:nvSpPr>
        <p:spPr>
          <a:xfrm>
            <a:off x="6812280" y="4846320"/>
            <a:ext cx="4663440" cy="365760"/>
          </a:xfrm>
          <a:prstGeom prst="rect">
            <a:avLst/>
          </a:prstGeom>
          <a:noFill/>
        </p:spPr>
        <p:txBody>
          <a:bodyPr wrap="square" anchor="t" lIns="0" rIns="0" tIns="0" bIns="0">
            <a:spAutoFit/>
          </a:bodyPr>
          <a:lstStyle/>
          <a:p>
            <a:pPr algn="l">
              <a:lnSpc>
                <a:spcPct val="130000"/>
              </a:lnSpc>
            </a:pPr>
            <a:r>
              <a:rPr sz="1200" b="1">
                <a:solidFill>
                  <a:srgbClr val="0F2A4F"/>
                </a:solidFill>
                <a:latin typeface="Hiragino Sans"/>
                <a:ea typeface="Hiragino Sans"/>
                <a:cs typeface="Hiragino Sans"/>
              </a:rPr>
              <a:t>Lift Test 未活用</a:t>
            </a:r>
          </a:p>
        </p:txBody>
      </p:sp>
      <p:sp>
        <p:nvSpPr>
          <p:cNvPr id="47" name="TextBox 46"/>
          <p:cNvSpPr txBox="1"/>
          <p:nvPr/>
        </p:nvSpPr>
        <p:spPr>
          <a:xfrm>
            <a:off x="6400800" y="5303520"/>
            <a:ext cx="5074920" cy="411480"/>
          </a:xfrm>
          <a:prstGeom prst="rect">
            <a:avLst/>
          </a:prstGeom>
          <a:noFill/>
        </p:spPr>
        <p:txBody>
          <a:bodyPr wrap="square" anchor="t" lIns="0" rIns="0" tIns="0" bIns="0">
            <a:spAutoFit/>
          </a:bodyPr>
          <a:lstStyle/>
          <a:p>
            <a:pPr algn="l">
              <a:lnSpc>
                <a:spcPct val="140000"/>
              </a:lnSpc>
            </a:pPr>
            <a:r>
              <a:rPr sz="1000" b="0">
                <a:solidFill>
                  <a:srgbClr val="5A6A80"/>
                </a:solidFill>
                <a:latin typeface="Hiragino Sans"/>
                <a:ea typeface="Hiragino Sans"/>
                <a:cs typeface="Hiragino Sans"/>
              </a:rPr>
              <a:t>ラストクリック過大評価 → ROAS過小報告</a:t>
            </a:r>
          </a:p>
        </p:txBody>
      </p:sp>
      <p:sp>
        <p:nvSpPr>
          <p:cNvPr id="48" name="Rectangle 47"/>
          <p:cNvSpPr/>
          <p:nvPr/>
        </p:nvSpPr>
        <p:spPr>
          <a:xfrm>
            <a:off x="6400800" y="5715000"/>
            <a:ext cx="507492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400800" y="5806440"/>
            <a:ext cx="5074920" cy="411480"/>
          </a:xfrm>
          <a:prstGeom prst="rect">
            <a:avLst/>
          </a:prstGeom>
          <a:noFill/>
        </p:spPr>
        <p:txBody>
          <a:bodyPr wrap="square" anchor="t" lIns="0" rIns="0" tIns="0" bIns="0">
            <a:spAutoFit/>
          </a:bodyPr>
          <a:lstStyle/>
          <a:p>
            <a:pPr algn="l">
              <a:lnSpc>
                <a:spcPct val="140000"/>
              </a:lnSpc>
            </a:pPr>
            <a:r>
              <a:rPr sz="1000" b="1">
                <a:solidFill>
                  <a:srgbClr val="B85E1A"/>
                </a:solidFill>
                <a:latin typeface="Hiragino Sans"/>
                <a:ea typeface="Hiragino Sans"/>
                <a:cs typeface="Hiragino Sans"/>
              </a:rPr>
              <a:t>→  月100万以上は Conversion / Brand Lift 必須</a:t>
            </a:r>
          </a:p>
        </p:txBody>
      </p:sp>
      <p:sp>
        <p:nvSpPr>
          <p:cNvPr id="50" name="TextBox 49"/>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914400"/>
            <a:ext cx="137160" cy="493776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914400"/>
            <a:ext cx="7315200" cy="365760"/>
          </a:xfrm>
          <a:prstGeom prst="rect">
            <a:avLst/>
          </a:prstGeom>
          <a:noFill/>
        </p:spPr>
        <p:txBody>
          <a:bodyPr wrap="square" anchor="t" lIns="0" rIns="0" tIns="0" bIns="0">
            <a:spAutoFit/>
          </a:bodyPr>
          <a:lstStyle/>
          <a:p>
            <a:pPr algn="l">
              <a:lnSpc>
                <a:spcPct val="115000"/>
              </a:lnSpc>
            </a:pPr>
            <a:r>
              <a:rPr sz="1200" b="1">
                <a:solidFill>
                  <a:srgbClr val="E87722"/>
                </a:solidFill>
                <a:latin typeface="Helvetica Neue"/>
                <a:ea typeface="Helvetica Neue"/>
                <a:cs typeface="Helvetica Neue"/>
              </a:rPr>
              <a:t>PART 3 / 媒体別キャッチアップ — 3-D 後半</a:t>
            </a:r>
          </a:p>
        </p:txBody>
      </p:sp>
      <p:sp>
        <p:nvSpPr>
          <p:cNvPr id="5" name="TextBox 4"/>
          <p:cNvSpPr txBox="1"/>
          <p:nvPr/>
        </p:nvSpPr>
        <p:spPr>
          <a:xfrm>
            <a:off x="1097280" y="1280160"/>
            <a:ext cx="7315200" cy="365760"/>
          </a:xfrm>
          <a:prstGeom prst="rect">
            <a:avLst/>
          </a:prstGeom>
          <a:noFill/>
        </p:spPr>
        <p:txBody>
          <a:bodyPr wrap="square" anchor="t" lIns="0" rIns="0" tIns="0" bIns="0">
            <a:spAutoFit/>
          </a:bodyPr>
          <a:lstStyle/>
          <a:p>
            <a:pPr algn="l">
              <a:lnSpc>
                <a:spcPct val="115000"/>
              </a:lnSpc>
            </a:pPr>
            <a:r>
              <a:rPr sz="1400" b="1">
                <a:solidFill>
                  <a:srgbClr val="D7DDE8"/>
                </a:solidFill>
                <a:latin typeface="Hiragino Sans"/>
                <a:ea typeface="Hiragino Sans"/>
                <a:cs typeface="Hiragino Sans"/>
              </a:rPr>
              <a:t>日本のメッセージング軸ポータル</a:t>
            </a:r>
          </a:p>
        </p:txBody>
      </p:sp>
      <p:sp>
        <p:nvSpPr>
          <p:cNvPr id="6" name="TextBox 5"/>
          <p:cNvSpPr txBox="1"/>
          <p:nvPr/>
        </p:nvSpPr>
        <p:spPr>
          <a:xfrm>
            <a:off x="1097280" y="1691640"/>
            <a:ext cx="10058400" cy="1188720"/>
          </a:xfrm>
          <a:prstGeom prst="rect">
            <a:avLst/>
          </a:prstGeom>
          <a:noFill/>
        </p:spPr>
        <p:txBody>
          <a:bodyPr wrap="square" anchor="t" lIns="0" rIns="0" tIns="0" bIns="0">
            <a:spAutoFit/>
          </a:bodyPr>
          <a:lstStyle/>
          <a:p>
            <a:pPr algn="l">
              <a:lnSpc>
                <a:spcPct val="110000"/>
              </a:lnSpc>
            </a:pPr>
            <a:r>
              <a:rPr sz="5400" b="1">
                <a:solidFill>
                  <a:srgbClr val="FFFFFF"/>
                </a:solidFill>
                <a:latin typeface="Hiragino Sans"/>
                <a:ea typeface="Hiragino Sans"/>
                <a:cs typeface="Hiragino Sans"/>
              </a:rPr>
              <a:t>LINE広告</a:t>
            </a:r>
          </a:p>
        </p:txBody>
      </p:sp>
      <p:sp>
        <p:nvSpPr>
          <p:cNvPr id="7" name="TextBox 6"/>
          <p:cNvSpPr txBox="1"/>
          <p:nvPr/>
        </p:nvSpPr>
        <p:spPr>
          <a:xfrm>
            <a:off x="1097280" y="3017520"/>
            <a:ext cx="10058400" cy="365760"/>
          </a:xfrm>
          <a:prstGeom prst="rect">
            <a:avLst/>
          </a:prstGeom>
          <a:noFill/>
        </p:spPr>
        <p:txBody>
          <a:bodyPr wrap="square" anchor="t" lIns="0" rIns="0" tIns="0" bIns="0">
            <a:spAutoFit/>
          </a:bodyPr>
          <a:lstStyle/>
          <a:p>
            <a:pPr algn="l">
              <a:lnSpc>
                <a:spcPct val="115000"/>
              </a:lnSpc>
            </a:pPr>
            <a:r>
              <a:rPr sz="1600" b="0">
                <a:solidFill>
                  <a:srgbClr val="D7DDE8"/>
                </a:solidFill>
                <a:latin typeface="Hiragino Sans"/>
                <a:ea typeface="Hiragino Sans"/>
                <a:cs typeface="Hiragino Sans"/>
              </a:rPr>
              <a:t>LAP単独運用の最終期。2026春LINEヤフー広告に統合</a:t>
            </a:r>
          </a:p>
        </p:txBody>
      </p:sp>
      <p:sp>
        <p:nvSpPr>
          <p:cNvPr id="8" name="Rounded Rectangle 7"/>
          <p:cNvSpPr/>
          <p:nvPr/>
        </p:nvSpPr>
        <p:spPr>
          <a:xfrm>
            <a:off x="9875520" y="914400"/>
            <a:ext cx="1828800" cy="640080"/>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1078992"/>
            <a:ext cx="1828800" cy="457200"/>
          </a:xfrm>
          <a:prstGeom prst="rect">
            <a:avLst/>
          </a:prstGeom>
          <a:noFill/>
        </p:spPr>
        <p:txBody>
          <a:bodyPr wrap="square" anchor="t" lIns="0" rIns="0" tIns="0" bIns="0">
            <a:spAutoFit/>
          </a:bodyPr>
          <a:lstStyle/>
          <a:p>
            <a:pPr algn="ctr">
              <a:lnSpc>
                <a:spcPct val="115000"/>
              </a:lnSpc>
            </a:pPr>
            <a:r>
              <a:rPr sz="1800" b="1">
                <a:solidFill>
                  <a:srgbClr val="FFFFFF"/>
                </a:solidFill>
                <a:latin typeface="Helvetica Neue"/>
                <a:ea typeface="Helvetica Neue"/>
                <a:cs typeface="Helvetica Neue"/>
              </a:rPr>
              <a:t>10p</a:t>
            </a:r>
          </a:p>
        </p:txBody>
      </p:sp>
      <p:sp>
        <p:nvSpPr>
          <p:cNvPr id="10" name="Rectangle 9"/>
          <p:cNvSpPr/>
          <p:nvPr/>
        </p:nvSpPr>
        <p:spPr>
          <a:xfrm>
            <a:off x="1097280" y="3657600"/>
            <a:ext cx="914400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840480"/>
            <a:ext cx="10058400" cy="1097280"/>
          </a:xfrm>
          <a:prstGeom prst="rect">
            <a:avLst/>
          </a:prstGeom>
          <a:noFill/>
        </p:spPr>
        <p:txBody>
          <a:bodyPr wrap="square" anchor="t" lIns="0" rIns="0" tIns="0" bIns="0">
            <a:spAutoFit/>
          </a:bodyPr>
          <a:lstStyle/>
          <a:p>
            <a:pPr algn="l">
              <a:lnSpc>
                <a:spcPct val="150000"/>
              </a:lnSpc>
            </a:pPr>
            <a:r>
              <a:rPr sz="1300" b="0">
                <a:solidFill>
                  <a:srgbClr val="D7DDE8"/>
                </a:solidFill>
                <a:latin typeface="Hiragino Sans"/>
                <a:ea typeface="Hiragino Sans"/>
                <a:cs typeface="Hiragino Sans"/>
              </a:rPr>
              <a:t>LINEは日本人の 9割超が利用するメッセージングアプリ。</a:t>
            </a:r>
          </a:p>
          <a:p>
            <a:pPr algn="l">
              <a:lnSpc>
                <a:spcPct val="150000"/>
              </a:lnSpc>
            </a:pPr>
            <a:r>
              <a:rPr sz="1300" b="0">
                <a:solidFill>
                  <a:srgbClr val="D7DDE8"/>
                </a:solidFill>
                <a:latin typeface="Hiragino Sans"/>
                <a:ea typeface="Hiragino Sans"/>
                <a:cs typeface="Hiragino Sans"/>
              </a:rPr>
              <a:t>LAP (LINE Ads Platform) 経由で広告配信、LINE公式アカウントと連携で友だち獲得・販促に強い。</a:t>
            </a:r>
          </a:p>
          <a:p>
            <a:pPr algn="l">
              <a:lnSpc>
                <a:spcPct val="150000"/>
              </a:lnSpc>
            </a:pPr>
            <a:r>
              <a:rPr sz="1300" b="0">
                <a:solidFill>
                  <a:srgbClr val="D7DDE8"/>
                </a:solidFill>
                <a:latin typeface="Hiragino Sans"/>
                <a:ea typeface="Hiragino Sans"/>
                <a:cs typeface="Hiragino Sans"/>
              </a:rPr>
              <a:t>2026春に Yahoo!ディスプレイ広告と統合予定 (LINEヤフー広告)</a:t>
            </a:r>
          </a:p>
        </p:txBody>
      </p:sp>
      <p:sp>
        <p:nvSpPr>
          <p:cNvPr id="12" name="TextBox 11"/>
          <p:cNvSpPr txBox="1"/>
          <p:nvPr/>
        </p:nvSpPr>
        <p:spPr>
          <a:xfrm>
            <a:off x="1097280" y="5120640"/>
            <a:ext cx="7315200" cy="320040"/>
          </a:xfrm>
          <a:prstGeom prst="rect">
            <a:avLst/>
          </a:prstGeom>
          <a:noFill/>
        </p:spPr>
        <p:txBody>
          <a:bodyPr wrap="square" anchor="t" lIns="0" rIns="0" tIns="0" bIns="0">
            <a:spAutoFit/>
          </a:bodyPr>
          <a:lstStyle/>
          <a:p>
            <a:pPr algn="l">
              <a:lnSpc>
                <a:spcPct val="115000"/>
              </a:lnSpc>
            </a:pPr>
            <a:r>
              <a:rPr sz="1200" b="1">
                <a:solidFill>
                  <a:srgbClr val="E87722"/>
                </a:solidFill>
                <a:latin typeface="Hiragino Sans"/>
                <a:ea typeface="Hiragino Sans"/>
                <a:cs typeface="Hiragino Sans"/>
              </a:rPr>
              <a:t>▸ 章内の主要トピック</a:t>
            </a:r>
          </a:p>
        </p:txBody>
      </p:sp>
      <p:sp>
        <p:nvSpPr>
          <p:cNvPr id="13" name="TextBox 12"/>
          <p:cNvSpPr txBox="1"/>
          <p:nvPr/>
        </p:nvSpPr>
        <p:spPr>
          <a:xfrm>
            <a:off x="1097280" y="5440680"/>
            <a:ext cx="5029200" cy="292608"/>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LINE広告ランドスケープ</a:t>
            </a:r>
          </a:p>
        </p:txBody>
      </p:sp>
      <p:sp>
        <p:nvSpPr>
          <p:cNvPr id="14" name="TextBox 13"/>
          <p:cNvSpPr txBox="1"/>
          <p:nvPr/>
        </p:nvSpPr>
        <p:spPr>
          <a:xfrm>
            <a:off x="1097280" y="5733288"/>
            <a:ext cx="5029200" cy="292608"/>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配信面詳細 (4面)</a:t>
            </a:r>
          </a:p>
        </p:txBody>
      </p:sp>
      <p:sp>
        <p:nvSpPr>
          <p:cNvPr id="15" name="TextBox 14"/>
          <p:cNvSpPr txBox="1"/>
          <p:nvPr/>
        </p:nvSpPr>
        <p:spPr>
          <a:xfrm>
            <a:off x="1097280" y="6025896"/>
            <a:ext cx="5029200" cy="292608"/>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Talk Head View (予約型)</a:t>
            </a:r>
          </a:p>
        </p:txBody>
      </p:sp>
      <p:sp>
        <p:nvSpPr>
          <p:cNvPr id="16" name="TextBox 15"/>
          <p:cNvSpPr txBox="1"/>
          <p:nvPr/>
        </p:nvSpPr>
        <p:spPr>
          <a:xfrm>
            <a:off x="1097280" y="6318504"/>
            <a:ext cx="5029200" cy="292608"/>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公式アカウント連携</a:t>
            </a:r>
          </a:p>
        </p:txBody>
      </p:sp>
      <p:sp>
        <p:nvSpPr>
          <p:cNvPr id="17" name="TextBox 16"/>
          <p:cNvSpPr txBox="1"/>
          <p:nvPr/>
        </p:nvSpPr>
        <p:spPr>
          <a:xfrm>
            <a:off x="6309360" y="5440680"/>
            <a:ext cx="5029200" cy="292608"/>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ターゲティング・LINEデモグラ</a:t>
            </a:r>
          </a:p>
        </p:txBody>
      </p:sp>
      <p:sp>
        <p:nvSpPr>
          <p:cNvPr id="18" name="TextBox 17"/>
          <p:cNvSpPr txBox="1"/>
          <p:nvPr/>
        </p:nvSpPr>
        <p:spPr>
          <a:xfrm>
            <a:off x="6309360" y="5733288"/>
            <a:ext cx="5029200" cy="292608"/>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LINE Tag / 計測</a:t>
            </a:r>
          </a:p>
        </p:txBody>
      </p:sp>
      <p:sp>
        <p:nvSpPr>
          <p:cNvPr id="19" name="TextBox 18"/>
          <p:cNvSpPr txBox="1"/>
          <p:nvPr/>
        </p:nvSpPr>
        <p:spPr>
          <a:xfrm>
            <a:off x="6309360" y="6025896"/>
            <a:ext cx="5029200" cy="292608"/>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鉄板運用メソッド</a:t>
            </a:r>
          </a:p>
        </p:txBody>
      </p:sp>
      <p:sp>
        <p:nvSpPr>
          <p:cNvPr id="20" name="TextBox 19"/>
          <p:cNvSpPr txBox="1"/>
          <p:nvPr/>
        </p:nvSpPr>
        <p:spPr>
          <a:xfrm>
            <a:off x="6309360" y="6318504"/>
            <a:ext cx="5029200" cy="292608"/>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2026春統合準備 + pitfalls</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LINE広告 ランドスケープ 2026</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運用型 (LAP) + 予約型 (Talk Head View)</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P116 / 250</a:t>
            </a:r>
          </a:p>
        </p:txBody>
      </p:sp>
      <p:sp>
        <p:nvSpPr>
          <p:cNvPr id="8" name="Rounded Rectangle 7"/>
          <p:cNvSpPr/>
          <p:nvPr/>
        </p:nvSpPr>
        <p:spPr>
          <a:xfrm>
            <a:off x="548640" y="1371600"/>
            <a:ext cx="11109960" cy="118872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08760"/>
            <a:ext cx="3657600" cy="32004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LINE 日本MAU</a:t>
            </a:r>
          </a:p>
        </p:txBody>
      </p:sp>
      <p:sp>
        <p:nvSpPr>
          <p:cNvPr id="10" name="TextBox 9"/>
          <p:cNvSpPr txBox="1"/>
          <p:nvPr/>
        </p:nvSpPr>
        <p:spPr>
          <a:xfrm>
            <a:off x="777240" y="1783080"/>
            <a:ext cx="3657600" cy="777240"/>
          </a:xfrm>
          <a:prstGeom prst="rect">
            <a:avLst/>
          </a:prstGeom>
          <a:noFill/>
        </p:spPr>
        <p:txBody>
          <a:bodyPr wrap="square" anchor="t" lIns="0" rIns="0" tIns="0" bIns="0">
            <a:spAutoFit/>
          </a:bodyPr>
          <a:lstStyle/>
          <a:p>
            <a:pPr algn="l">
              <a:lnSpc>
                <a:spcPct val="115000"/>
              </a:lnSpc>
            </a:pPr>
            <a:r>
              <a:rPr sz="4400" b="1">
                <a:solidFill>
                  <a:srgbClr val="FFFFFF"/>
                </a:solidFill>
                <a:latin typeface="Helvetica Neue"/>
                <a:ea typeface="Helvetica Neue"/>
                <a:cs typeface="Helvetica Neue"/>
              </a:rPr>
              <a:t>9,800万</a:t>
            </a:r>
          </a:p>
        </p:txBody>
      </p:sp>
      <p:sp>
        <p:nvSpPr>
          <p:cNvPr id="11" name="TextBox 10"/>
          <p:cNvSpPr txBox="1"/>
          <p:nvPr/>
        </p:nvSpPr>
        <p:spPr>
          <a:xfrm>
            <a:off x="5486400" y="1508760"/>
            <a:ext cx="6400800" cy="32004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LINEヤフー統合後リーチ (合算)</a:t>
            </a:r>
          </a:p>
        </p:txBody>
      </p:sp>
      <p:sp>
        <p:nvSpPr>
          <p:cNvPr id="12" name="TextBox 11"/>
          <p:cNvSpPr txBox="1"/>
          <p:nvPr/>
        </p:nvSpPr>
        <p:spPr>
          <a:xfrm>
            <a:off x="5486400" y="1783080"/>
            <a:ext cx="2743200" cy="777240"/>
          </a:xfrm>
          <a:prstGeom prst="rect">
            <a:avLst/>
          </a:prstGeom>
          <a:noFill/>
        </p:spPr>
        <p:txBody>
          <a:bodyPr wrap="square" anchor="t" lIns="0" rIns="0" tIns="0" bIns="0">
            <a:spAutoFit/>
          </a:bodyPr>
          <a:lstStyle/>
          <a:p>
            <a:pPr algn="l">
              <a:lnSpc>
                <a:spcPct val="115000"/>
              </a:lnSpc>
            </a:pPr>
            <a:r>
              <a:rPr sz="4400" b="1">
                <a:solidFill>
                  <a:srgbClr val="FFFFFF"/>
                </a:solidFill>
                <a:latin typeface="Helvetica Neue"/>
                <a:ea typeface="Helvetica Neue"/>
                <a:cs typeface="Helvetica Neue"/>
              </a:rPr>
              <a:t>94%</a:t>
            </a:r>
          </a:p>
        </p:txBody>
      </p:sp>
      <p:sp>
        <p:nvSpPr>
          <p:cNvPr id="13" name="TextBox 12"/>
          <p:cNvSpPr txBox="1"/>
          <p:nvPr/>
        </p:nvSpPr>
        <p:spPr>
          <a:xfrm>
            <a:off x="7772400" y="2011680"/>
            <a:ext cx="4114800" cy="411480"/>
          </a:xfrm>
          <a:prstGeom prst="rect">
            <a:avLst/>
          </a:prstGeom>
          <a:noFill/>
        </p:spPr>
        <p:txBody>
          <a:bodyPr wrap="square" anchor="t" lIns="0" rIns="0" tIns="0" bIns="0">
            <a:spAutoFit/>
          </a:bodyPr>
          <a:lstStyle/>
          <a:p>
            <a:pPr algn="l">
              <a:lnSpc>
                <a:spcPct val="115000"/>
              </a:lnSpc>
            </a:pPr>
            <a:r>
              <a:rPr sz="1100" b="0">
                <a:solidFill>
                  <a:srgbClr val="D7DDE8"/>
                </a:solidFill>
                <a:latin typeface="Hiragino Sans"/>
                <a:ea typeface="Hiragino Sans"/>
                <a:cs typeface="Hiragino Sans"/>
              </a:rPr>
              <a:t>国内スマートフォンユーザー (重複除く)</a:t>
            </a:r>
          </a:p>
        </p:txBody>
      </p:sp>
      <p:sp>
        <p:nvSpPr>
          <p:cNvPr id="14" name="TextBox 13"/>
          <p:cNvSpPr txBox="1"/>
          <p:nvPr/>
        </p:nvSpPr>
        <p:spPr>
          <a:xfrm>
            <a:off x="548640" y="2697480"/>
            <a:ext cx="1097280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LINE広告 2大プロダクトライン</a:t>
            </a:r>
          </a:p>
        </p:txBody>
      </p:sp>
      <p:sp>
        <p:nvSpPr>
          <p:cNvPr id="15" name="Rounded Rectangle 14"/>
          <p:cNvSpPr/>
          <p:nvPr/>
        </p:nvSpPr>
        <p:spPr>
          <a:xfrm>
            <a:off x="548640" y="3108960"/>
            <a:ext cx="5486400" cy="32004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108960"/>
            <a:ext cx="548640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3246120"/>
            <a:ext cx="4937760" cy="411480"/>
          </a:xfrm>
          <a:prstGeom prst="rect">
            <a:avLst/>
          </a:prstGeom>
          <a:noFill/>
        </p:spPr>
        <p:txBody>
          <a:bodyPr wrap="square" anchor="t" lIns="0" rIns="0" tIns="0" bIns="0">
            <a:spAutoFit/>
          </a:bodyPr>
          <a:lstStyle/>
          <a:p>
            <a:pPr algn="l">
              <a:lnSpc>
                <a:spcPct val="115000"/>
              </a:lnSpc>
            </a:pPr>
            <a:r>
              <a:rPr sz="1500" b="1">
                <a:solidFill>
                  <a:srgbClr val="FFFFFF"/>
                </a:solidFill>
                <a:latin typeface="Hiragino Sans"/>
                <a:ea typeface="Hiragino Sans"/>
                <a:cs typeface="Hiragino Sans"/>
              </a:rPr>
              <a:t>LAP (LINE Ads Platform)</a:t>
            </a:r>
          </a:p>
        </p:txBody>
      </p:sp>
      <p:sp>
        <p:nvSpPr>
          <p:cNvPr id="18" name="TextBox 17"/>
          <p:cNvSpPr txBox="1"/>
          <p:nvPr/>
        </p:nvSpPr>
        <p:spPr>
          <a:xfrm>
            <a:off x="822960" y="3657600"/>
            <a:ext cx="4937760" cy="27432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運用型</a:t>
            </a:r>
          </a:p>
        </p:txBody>
      </p:sp>
      <p:sp>
        <p:nvSpPr>
          <p:cNvPr id="19" name="TextBox 18"/>
          <p:cNvSpPr txBox="1"/>
          <p:nvPr/>
        </p:nvSpPr>
        <p:spPr>
          <a:xfrm>
            <a:off x="822960" y="4114800"/>
            <a:ext cx="4937760" cy="2103120"/>
          </a:xfrm>
          <a:prstGeom prst="rect">
            <a:avLst/>
          </a:prstGeom>
          <a:noFill/>
        </p:spPr>
        <p:txBody>
          <a:bodyPr wrap="square" anchor="t" lIns="0" rIns="0" tIns="0" bIns="0">
            <a:spAutoFit/>
          </a:bodyPr>
          <a:lstStyle/>
          <a:p>
            <a:pPr algn="l">
              <a:lnSpc>
                <a:spcPct val="160000"/>
              </a:lnSpc>
            </a:pPr>
            <a:r>
              <a:rPr sz="1200" b="0">
                <a:solidFill>
                  <a:srgbClr val="1A1A1A"/>
                </a:solidFill>
                <a:latin typeface="Hiragino Sans"/>
                <a:ea typeface="Hiragino Sans"/>
                <a:cs typeface="Hiragino Sans"/>
              </a:rPr>
              <a:t>オークション型・自動最適化</a:t>
            </a:r>
          </a:p>
          <a:p>
            <a:pPr algn="l">
              <a:lnSpc>
                <a:spcPct val="160000"/>
              </a:lnSpc>
            </a:pPr>
            <a:r>
              <a:rPr sz="1200" b="0">
                <a:solidFill>
                  <a:srgbClr val="1A1A1A"/>
                </a:solidFill>
                <a:latin typeface="Hiragino Sans"/>
                <a:ea typeface="Hiragino Sans"/>
                <a:cs typeface="Hiragino Sans"/>
              </a:rPr>
              <a:t>中小予算でも運用可</a:t>
            </a:r>
          </a:p>
          <a:p>
            <a:pPr algn="l">
              <a:lnSpc>
                <a:spcPct val="160000"/>
              </a:lnSpc>
            </a:pPr>
            <a:r>
              <a:rPr sz="1200" b="0">
                <a:solidFill>
                  <a:srgbClr val="1A1A1A"/>
                </a:solidFill>
                <a:latin typeface="Hiragino Sans"/>
                <a:ea typeface="Hiragino Sans"/>
                <a:cs typeface="Hiragino Sans"/>
              </a:rPr>
              <a:t>2026春に LINEヤフー広告 ディスプレイ広告に統合</a:t>
            </a:r>
          </a:p>
        </p:txBody>
      </p:sp>
      <p:sp>
        <p:nvSpPr>
          <p:cNvPr id="20" name="Rounded Rectangle 19"/>
          <p:cNvSpPr/>
          <p:nvPr/>
        </p:nvSpPr>
        <p:spPr>
          <a:xfrm>
            <a:off x="6172200" y="3108960"/>
            <a:ext cx="5486400" cy="32004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72200" y="3108960"/>
            <a:ext cx="548640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3246120"/>
            <a:ext cx="4937760" cy="411480"/>
          </a:xfrm>
          <a:prstGeom prst="rect">
            <a:avLst/>
          </a:prstGeom>
          <a:noFill/>
        </p:spPr>
        <p:txBody>
          <a:bodyPr wrap="square" anchor="t" lIns="0" rIns="0" tIns="0" bIns="0">
            <a:spAutoFit/>
          </a:bodyPr>
          <a:lstStyle/>
          <a:p>
            <a:pPr algn="l">
              <a:lnSpc>
                <a:spcPct val="115000"/>
              </a:lnSpc>
            </a:pPr>
            <a:r>
              <a:rPr sz="1500" b="1">
                <a:solidFill>
                  <a:srgbClr val="FFFFFF"/>
                </a:solidFill>
                <a:latin typeface="Hiragino Sans"/>
                <a:ea typeface="Hiragino Sans"/>
                <a:cs typeface="Hiragino Sans"/>
              </a:rPr>
              <a:t>Talk Head View</a:t>
            </a:r>
          </a:p>
        </p:txBody>
      </p:sp>
      <p:sp>
        <p:nvSpPr>
          <p:cNvPr id="23" name="TextBox 22"/>
          <p:cNvSpPr txBox="1"/>
          <p:nvPr/>
        </p:nvSpPr>
        <p:spPr>
          <a:xfrm>
            <a:off x="6446520" y="3657600"/>
            <a:ext cx="4937760" cy="27432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予約型</a:t>
            </a:r>
          </a:p>
        </p:txBody>
      </p:sp>
      <p:sp>
        <p:nvSpPr>
          <p:cNvPr id="24" name="TextBox 23"/>
          <p:cNvSpPr txBox="1"/>
          <p:nvPr/>
        </p:nvSpPr>
        <p:spPr>
          <a:xfrm>
            <a:off x="6446520" y="4114800"/>
            <a:ext cx="4937760" cy="2103120"/>
          </a:xfrm>
          <a:prstGeom prst="rect">
            <a:avLst/>
          </a:prstGeom>
          <a:noFill/>
        </p:spPr>
        <p:txBody>
          <a:bodyPr wrap="square" anchor="t" lIns="0" rIns="0" tIns="0" bIns="0">
            <a:spAutoFit/>
          </a:bodyPr>
          <a:lstStyle/>
          <a:p>
            <a:pPr algn="l">
              <a:lnSpc>
                <a:spcPct val="160000"/>
              </a:lnSpc>
            </a:pPr>
            <a:r>
              <a:rPr sz="1200" b="0">
                <a:solidFill>
                  <a:srgbClr val="1A1A1A"/>
                </a:solidFill>
                <a:latin typeface="Hiragino Sans"/>
                <a:ea typeface="Hiragino Sans"/>
                <a:cs typeface="Hiragino Sans"/>
              </a:rPr>
              <a:t>LINEホーム最上部の予約型動画広告</a:t>
            </a:r>
          </a:p>
          <a:p>
            <a:pPr algn="l">
              <a:lnSpc>
                <a:spcPct val="160000"/>
              </a:lnSpc>
            </a:pPr>
            <a:r>
              <a:rPr sz="1200" b="0">
                <a:solidFill>
                  <a:srgbClr val="1A1A1A"/>
                </a:solidFill>
                <a:latin typeface="Hiragino Sans"/>
                <a:ea typeface="Hiragino Sans"/>
                <a:cs typeface="Hiragino Sans"/>
              </a:rPr>
              <a:t>1日1ブランド・1,000-3,000万円規模</a:t>
            </a:r>
          </a:p>
          <a:p>
            <a:pPr algn="l">
              <a:lnSpc>
                <a:spcPct val="160000"/>
              </a:lnSpc>
            </a:pPr>
            <a:r>
              <a:rPr sz="1200" b="0">
                <a:solidFill>
                  <a:srgbClr val="1A1A1A"/>
                </a:solidFill>
                <a:latin typeface="Hiragino Sans"/>
                <a:ea typeface="Hiragino Sans"/>
                <a:cs typeface="Hiragino Sans"/>
              </a:rPr>
              <a:t>認知獲得型のフラッグシップ</a:t>
            </a:r>
          </a:p>
        </p:txBody>
      </p:sp>
      <p:sp>
        <p:nvSpPr>
          <p:cNvPr id="25" name="TextBox 24"/>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LINE広告 配信面詳細 (4面)</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LINEアプリ内の主要広告枠</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P117 / 250</a:t>
            </a:r>
          </a:p>
        </p:txBody>
      </p:sp>
      <p:sp>
        <p:nvSpPr>
          <p:cNvPr id="8" name="Rounded Rectangle 7"/>
          <p:cNvSpPr/>
          <p:nvPr/>
        </p:nvSpPr>
        <p:spPr>
          <a:xfrm>
            <a:off x="548640" y="1417320"/>
            <a:ext cx="2697480" cy="219456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2697480" cy="64008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536192"/>
            <a:ext cx="2331720" cy="365760"/>
          </a:xfrm>
          <a:prstGeom prst="rect">
            <a:avLst/>
          </a:prstGeom>
          <a:noFill/>
        </p:spPr>
        <p:txBody>
          <a:bodyPr wrap="square" anchor="t" lIns="0" rIns="0" tIns="0" bIns="0">
            <a:spAutoFit/>
          </a:bodyPr>
          <a:lstStyle/>
          <a:p>
            <a:pPr algn="ctr">
              <a:lnSpc>
                <a:spcPct val="115000"/>
              </a:lnSpc>
            </a:pPr>
            <a:r>
              <a:rPr sz="1400" b="1">
                <a:solidFill>
                  <a:srgbClr val="FFFFFF"/>
                </a:solidFill>
                <a:latin typeface="Hiragino Sans"/>
                <a:ea typeface="Hiragino Sans"/>
                <a:cs typeface="Hiragino Sans"/>
              </a:rPr>
              <a:t>トークリスト</a:t>
            </a:r>
          </a:p>
        </p:txBody>
      </p:sp>
      <p:sp>
        <p:nvSpPr>
          <p:cNvPr id="11" name="TextBox 10"/>
          <p:cNvSpPr txBox="1"/>
          <p:nvPr/>
        </p:nvSpPr>
        <p:spPr>
          <a:xfrm>
            <a:off x="731520" y="1920240"/>
            <a:ext cx="233172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最上部 (※2024~)</a:t>
            </a:r>
          </a:p>
        </p:txBody>
      </p:sp>
      <p:sp>
        <p:nvSpPr>
          <p:cNvPr id="12" name="TextBox 11"/>
          <p:cNvSpPr txBox="1"/>
          <p:nvPr/>
        </p:nvSpPr>
        <p:spPr>
          <a:xfrm>
            <a:off x="731520" y="2331720"/>
            <a:ext cx="2331720" cy="1188720"/>
          </a:xfrm>
          <a:prstGeom prst="rect">
            <a:avLst/>
          </a:prstGeom>
          <a:noFill/>
        </p:spPr>
        <p:txBody>
          <a:bodyPr wrap="square" anchor="t" lIns="0" rIns="0" tIns="0" bIns="0">
            <a:spAutoFit/>
          </a:bodyPr>
          <a:lstStyle/>
          <a:p>
            <a:pPr algn="ctr">
              <a:lnSpc>
                <a:spcPct val="155000"/>
              </a:lnSpc>
            </a:pPr>
            <a:r>
              <a:rPr sz="1100" b="0">
                <a:solidFill>
                  <a:srgbClr val="1A1A1A"/>
                </a:solidFill>
                <a:latin typeface="Hiragino Sans"/>
                <a:ea typeface="Hiragino Sans"/>
                <a:cs typeface="Hiragino Sans"/>
              </a:rPr>
              <a:t>トークリストの最上部に</a:t>
            </a:r>
          </a:p>
          <a:p>
            <a:pPr algn="ctr">
              <a:lnSpc>
                <a:spcPct val="155000"/>
              </a:lnSpc>
            </a:pPr>
            <a:r>
              <a:rPr sz="1100" b="0">
                <a:solidFill>
                  <a:srgbClr val="1A1A1A"/>
                </a:solidFill>
                <a:latin typeface="Hiragino Sans"/>
                <a:ea typeface="Hiragino Sans"/>
                <a:cs typeface="Hiragino Sans"/>
              </a:rPr>
              <a:t>表示される予約型枠</a:t>
            </a:r>
          </a:p>
        </p:txBody>
      </p:sp>
      <p:sp>
        <p:nvSpPr>
          <p:cNvPr id="13" name="Rounded Rectangle 12"/>
          <p:cNvSpPr/>
          <p:nvPr/>
        </p:nvSpPr>
        <p:spPr>
          <a:xfrm>
            <a:off x="3337560" y="1417320"/>
            <a:ext cx="2697480" cy="219456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37560" y="1417320"/>
            <a:ext cx="2697480" cy="64008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20440" y="1536192"/>
            <a:ext cx="2331720" cy="365760"/>
          </a:xfrm>
          <a:prstGeom prst="rect">
            <a:avLst/>
          </a:prstGeom>
          <a:noFill/>
        </p:spPr>
        <p:txBody>
          <a:bodyPr wrap="square" anchor="t" lIns="0" rIns="0" tIns="0" bIns="0">
            <a:spAutoFit/>
          </a:bodyPr>
          <a:lstStyle/>
          <a:p>
            <a:pPr algn="ctr">
              <a:lnSpc>
                <a:spcPct val="115000"/>
              </a:lnSpc>
            </a:pPr>
            <a:r>
              <a:rPr sz="1400" b="1">
                <a:solidFill>
                  <a:srgbClr val="FFFFFF"/>
                </a:solidFill>
                <a:latin typeface="Hiragino Sans"/>
                <a:ea typeface="Hiragino Sans"/>
                <a:cs typeface="Hiragino Sans"/>
              </a:rPr>
              <a:t>LINE NEWS</a:t>
            </a:r>
          </a:p>
        </p:txBody>
      </p:sp>
      <p:sp>
        <p:nvSpPr>
          <p:cNvPr id="16" name="TextBox 15"/>
          <p:cNvSpPr txBox="1"/>
          <p:nvPr/>
        </p:nvSpPr>
        <p:spPr>
          <a:xfrm>
            <a:off x="3520440" y="1920240"/>
            <a:ext cx="233172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ニュース面 (運用型)</a:t>
            </a:r>
          </a:p>
        </p:txBody>
      </p:sp>
      <p:sp>
        <p:nvSpPr>
          <p:cNvPr id="17" name="TextBox 16"/>
          <p:cNvSpPr txBox="1"/>
          <p:nvPr/>
        </p:nvSpPr>
        <p:spPr>
          <a:xfrm>
            <a:off x="3520440" y="2331720"/>
            <a:ext cx="2331720" cy="1188720"/>
          </a:xfrm>
          <a:prstGeom prst="rect">
            <a:avLst/>
          </a:prstGeom>
          <a:noFill/>
        </p:spPr>
        <p:txBody>
          <a:bodyPr wrap="square" anchor="t" lIns="0" rIns="0" tIns="0" bIns="0">
            <a:spAutoFit/>
          </a:bodyPr>
          <a:lstStyle/>
          <a:p>
            <a:pPr algn="ctr">
              <a:lnSpc>
                <a:spcPct val="155000"/>
              </a:lnSpc>
            </a:pPr>
            <a:r>
              <a:rPr sz="1100" b="0">
                <a:solidFill>
                  <a:srgbClr val="1A1A1A"/>
                </a:solidFill>
                <a:latin typeface="Hiragino Sans"/>
                <a:ea typeface="Hiragino Sans"/>
                <a:cs typeface="Hiragino Sans"/>
              </a:rPr>
              <a:t>ニュース記事間に</a:t>
            </a:r>
          </a:p>
          <a:p>
            <a:pPr algn="ctr">
              <a:lnSpc>
                <a:spcPct val="155000"/>
              </a:lnSpc>
            </a:pPr>
            <a:r>
              <a:rPr sz="1100" b="0">
                <a:solidFill>
                  <a:srgbClr val="1A1A1A"/>
                </a:solidFill>
                <a:latin typeface="Hiragino Sans"/>
                <a:ea typeface="Hiragino Sans"/>
                <a:cs typeface="Hiragino Sans"/>
              </a:rPr>
              <a:t>バナー / 動画広告</a:t>
            </a:r>
          </a:p>
        </p:txBody>
      </p:sp>
      <p:sp>
        <p:nvSpPr>
          <p:cNvPr id="18" name="Rounded Rectangle 17"/>
          <p:cNvSpPr/>
          <p:nvPr/>
        </p:nvSpPr>
        <p:spPr>
          <a:xfrm>
            <a:off x="6126480" y="1417320"/>
            <a:ext cx="2697480" cy="219456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0" y="1417320"/>
            <a:ext cx="2697480" cy="64008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1536192"/>
            <a:ext cx="2331720" cy="365760"/>
          </a:xfrm>
          <a:prstGeom prst="rect">
            <a:avLst/>
          </a:prstGeom>
          <a:noFill/>
        </p:spPr>
        <p:txBody>
          <a:bodyPr wrap="square" anchor="t" lIns="0" rIns="0" tIns="0" bIns="0">
            <a:spAutoFit/>
          </a:bodyPr>
          <a:lstStyle/>
          <a:p>
            <a:pPr algn="ctr">
              <a:lnSpc>
                <a:spcPct val="115000"/>
              </a:lnSpc>
            </a:pPr>
            <a:r>
              <a:rPr sz="1400" b="1">
                <a:solidFill>
                  <a:srgbClr val="FFFFFF"/>
                </a:solidFill>
                <a:latin typeface="Hiragino Sans"/>
                <a:ea typeface="Hiragino Sans"/>
                <a:cs typeface="Hiragino Sans"/>
              </a:rPr>
              <a:t>LINE VOOM</a:t>
            </a:r>
          </a:p>
        </p:txBody>
      </p:sp>
      <p:sp>
        <p:nvSpPr>
          <p:cNvPr id="21" name="TextBox 20"/>
          <p:cNvSpPr txBox="1"/>
          <p:nvPr/>
        </p:nvSpPr>
        <p:spPr>
          <a:xfrm>
            <a:off x="6309360" y="1920240"/>
            <a:ext cx="233172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ショート動画面</a:t>
            </a:r>
          </a:p>
        </p:txBody>
      </p:sp>
      <p:sp>
        <p:nvSpPr>
          <p:cNvPr id="22" name="TextBox 21"/>
          <p:cNvSpPr txBox="1"/>
          <p:nvPr/>
        </p:nvSpPr>
        <p:spPr>
          <a:xfrm>
            <a:off x="6309360" y="2331720"/>
            <a:ext cx="2331720" cy="1188720"/>
          </a:xfrm>
          <a:prstGeom prst="rect">
            <a:avLst/>
          </a:prstGeom>
          <a:noFill/>
        </p:spPr>
        <p:txBody>
          <a:bodyPr wrap="square" anchor="t" lIns="0" rIns="0" tIns="0" bIns="0">
            <a:spAutoFit/>
          </a:bodyPr>
          <a:lstStyle/>
          <a:p>
            <a:pPr algn="ctr">
              <a:lnSpc>
                <a:spcPct val="155000"/>
              </a:lnSpc>
            </a:pPr>
            <a:r>
              <a:rPr sz="1100" b="0">
                <a:solidFill>
                  <a:srgbClr val="1A1A1A"/>
                </a:solidFill>
                <a:latin typeface="Hiragino Sans"/>
                <a:ea typeface="Hiragino Sans"/>
                <a:cs typeface="Hiragino Sans"/>
              </a:rPr>
              <a:t>縦型動画フィード</a:t>
            </a:r>
          </a:p>
          <a:p>
            <a:pPr algn="ctr">
              <a:lnSpc>
                <a:spcPct val="155000"/>
              </a:lnSpc>
            </a:pPr>
            <a:r>
              <a:rPr sz="1100" b="0">
                <a:solidFill>
                  <a:srgbClr val="1A1A1A"/>
                </a:solidFill>
                <a:latin typeface="Hiragino Sans"/>
                <a:ea typeface="Hiragino Sans"/>
                <a:cs typeface="Hiragino Sans"/>
              </a:rPr>
              <a:t>Reels / TikTok 相当</a:t>
            </a:r>
          </a:p>
        </p:txBody>
      </p:sp>
      <p:sp>
        <p:nvSpPr>
          <p:cNvPr id="23" name="Rounded Rectangle 22"/>
          <p:cNvSpPr/>
          <p:nvPr/>
        </p:nvSpPr>
        <p:spPr>
          <a:xfrm>
            <a:off x="8915400" y="1417320"/>
            <a:ext cx="2697480" cy="219456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15400" y="1417320"/>
            <a:ext cx="2697480" cy="64008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98280" y="1536192"/>
            <a:ext cx="2331720" cy="365760"/>
          </a:xfrm>
          <a:prstGeom prst="rect">
            <a:avLst/>
          </a:prstGeom>
          <a:noFill/>
        </p:spPr>
        <p:txBody>
          <a:bodyPr wrap="square" anchor="t" lIns="0" rIns="0" tIns="0" bIns="0">
            <a:spAutoFit/>
          </a:bodyPr>
          <a:lstStyle/>
          <a:p>
            <a:pPr algn="ctr">
              <a:lnSpc>
                <a:spcPct val="115000"/>
              </a:lnSpc>
            </a:pPr>
            <a:r>
              <a:rPr sz="1400" b="1">
                <a:solidFill>
                  <a:srgbClr val="FFFFFF"/>
                </a:solidFill>
                <a:latin typeface="Hiragino Sans"/>
                <a:ea typeface="Hiragino Sans"/>
                <a:cs typeface="Hiragino Sans"/>
              </a:rPr>
              <a:t>ウォレット</a:t>
            </a:r>
          </a:p>
        </p:txBody>
      </p:sp>
      <p:sp>
        <p:nvSpPr>
          <p:cNvPr id="26" name="TextBox 25"/>
          <p:cNvSpPr txBox="1"/>
          <p:nvPr/>
        </p:nvSpPr>
        <p:spPr>
          <a:xfrm>
            <a:off x="9098280" y="1920240"/>
            <a:ext cx="233172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決済画面下部</a:t>
            </a:r>
          </a:p>
        </p:txBody>
      </p:sp>
      <p:sp>
        <p:nvSpPr>
          <p:cNvPr id="27" name="TextBox 26"/>
          <p:cNvSpPr txBox="1"/>
          <p:nvPr/>
        </p:nvSpPr>
        <p:spPr>
          <a:xfrm>
            <a:off x="9098280" y="2331720"/>
            <a:ext cx="2331720" cy="1188720"/>
          </a:xfrm>
          <a:prstGeom prst="rect">
            <a:avLst/>
          </a:prstGeom>
          <a:noFill/>
        </p:spPr>
        <p:txBody>
          <a:bodyPr wrap="square" anchor="t" lIns="0" rIns="0" tIns="0" bIns="0">
            <a:spAutoFit/>
          </a:bodyPr>
          <a:lstStyle/>
          <a:p>
            <a:pPr algn="ctr">
              <a:lnSpc>
                <a:spcPct val="155000"/>
              </a:lnSpc>
            </a:pPr>
            <a:r>
              <a:rPr sz="1100" b="0">
                <a:solidFill>
                  <a:srgbClr val="1A1A1A"/>
                </a:solidFill>
                <a:latin typeface="Hiragino Sans"/>
                <a:ea typeface="Hiragino Sans"/>
                <a:cs typeface="Hiragino Sans"/>
              </a:rPr>
              <a:t>LINE Pay利用者向け</a:t>
            </a:r>
          </a:p>
          <a:p>
            <a:pPr algn="ctr">
              <a:lnSpc>
                <a:spcPct val="155000"/>
              </a:lnSpc>
            </a:pPr>
            <a:r>
              <a:rPr sz="1100" b="0">
                <a:solidFill>
                  <a:srgbClr val="1A1A1A"/>
                </a:solidFill>
                <a:latin typeface="Hiragino Sans"/>
                <a:ea typeface="Hiragino Sans"/>
                <a:cs typeface="Hiragino Sans"/>
              </a:rPr>
              <a:t>クーポン・販促</a:t>
            </a:r>
          </a:p>
        </p:txBody>
      </p:sp>
      <p:sp>
        <p:nvSpPr>
          <p:cNvPr id="28" name="Rounded Rectangle 27"/>
          <p:cNvSpPr/>
          <p:nvPr/>
        </p:nvSpPr>
        <p:spPr>
          <a:xfrm>
            <a:off x="548640" y="3840480"/>
            <a:ext cx="11109960" cy="251460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3977639"/>
            <a:ext cx="10058400" cy="320040"/>
          </a:xfrm>
          <a:prstGeom prst="rect">
            <a:avLst/>
          </a:prstGeom>
          <a:noFill/>
        </p:spPr>
        <p:txBody>
          <a:bodyPr wrap="square" anchor="t" lIns="0" rIns="0" tIns="0" bIns="0">
            <a:spAutoFit/>
          </a:bodyPr>
          <a:lstStyle/>
          <a:p>
            <a:pPr algn="l">
              <a:lnSpc>
                <a:spcPct val="115000"/>
              </a:lnSpc>
            </a:pPr>
            <a:r>
              <a:rPr sz="1200" b="1">
                <a:solidFill>
                  <a:srgbClr val="E87722"/>
                </a:solidFill>
                <a:latin typeface="Hiragino Sans"/>
                <a:ea typeface="Hiragino Sans"/>
                <a:cs typeface="Hiragino Sans"/>
              </a:rPr>
              <a:t>💡 副業代行での配信面選択ガイド</a:t>
            </a:r>
          </a:p>
        </p:txBody>
      </p:sp>
      <p:sp>
        <p:nvSpPr>
          <p:cNvPr id="30" name="TextBox 29"/>
          <p:cNvSpPr txBox="1"/>
          <p:nvPr/>
        </p:nvSpPr>
        <p:spPr>
          <a:xfrm>
            <a:off x="777240" y="4297680"/>
            <a:ext cx="10972800" cy="1965960"/>
          </a:xfrm>
          <a:prstGeom prst="rect">
            <a:avLst/>
          </a:prstGeom>
          <a:noFill/>
        </p:spPr>
        <p:txBody>
          <a:bodyPr wrap="square" anchor="t" lIns="0" rIns="0" tIns="0" bIns="0">
            <a:spAutoFit/>
          </a:bodyPr>
          <a:lstStyle/>
          <a:p>
            <a:pPr algn="l">
              <a:lnSpc>
                <a:spcPct val="160000"/>
              </a:lnSpc>
            </a:pPr>
            <a:r>
              <a:rPr sz="1100" b="0">
                <a:solidFill>
                  <a:srgbClr val="FFFFFF"/>
                </a:solidFill>
                <a:latin typeface="Hiragino Sans"/>
                <a:ea typeface="Hiragino Sans"/>
                <a:cs typeface="Hiragino Sans"/>
              </a:rPr>
              <a:t>• ブランド認知 = トークリスト 最上部 (高単価) or LINE NEWS</a:t>
            </a:r>
          </a:p>
          <a:p>
            <a:pPr algn="l">
              <a:lnSpc>
                <a:spcPct val="160000"/>
              </a:lnSpc>
            </a:pPr>
            <a:r>
              <a:rPr sz="1100" b="0">
                <a:solidFill>
                  <a:srgbClr val="FFFFFF"/>
                </a:solidFill>
                <a:latin typeface="Hiragino Sans"/>
                <a:ea typeface="Hiragino Sans"/>
                <a:cs typeface="Hiragino Sans"/>
              </a:rPr>
              <a:t>• リード/CV系 = LINE NEWS + VOOM の運用型ミックス</a:t>
            </a:r>
          </a:p>
          <a:p>
            <a:pPr algn="l">
              <a:lnSpc>
                <a:spcPct val="160000"/>
              </a:lnSpc>
            </a:pPr>
            <a:r>
              <a:rPr sz="1100" b="0">
                <a:solidFill>
                  <a:srgbClr val="FFFFFF"/>
                </a:solidFill>
                <a:latin typeface="Hiragino Sans"/>
                <a:ea typeface="Hiragino Sans"/>
                <a:cs typeface="Hiragino Sans"/>
              </a:rPr>
              <a:t>• ECブランド = VOOM (TikTok相当の縦型) で UGC感のある動画配信</a:t>
            </a:r>
          </a:p>
          <a:p>
            <a:pPr algn="l">
              <a:lnSpc>
                <a:spcPct val="160000"/>
              </a:lnSpc>
            </a:pPr>
            <a:r>
              <a:rPr sz="1100" b="0">
                <a:solidFill>
                  <a:srgbClr val="FFFFFF"/>
                </a:solidFill>
                <a:latin typeface="Hiragino Sans"/>
                <a:ea typeface="Hiragino Sans"/>
                <a:cs typeface="Hiragino Sans"/>
              </a:rPr>
              <a:t>• LINE Pay 連動キャンペーン = ウォレット枠で販促・クーポン配布</a:t>
            </a:r>
          </a:p>
          <a:p>
            <a:pPr algn="l">
              <a:lnSpc>
                <a:spcPct val="160000"/>
              </a:lnSpc>
            </a:pPr>
            <a:r>
              <a:rPr sz="1100" b="0">
                <a:solidFill>
                  <a:srgbClr val="FFFFFF"/>
                </a:solidFill>
                <a:latin typeface="Hiragino Sans"/>
                <a:ea typeface="Hiragino Sans"/>
                <a:cs typeface="Hiragino Sans"/>
              </a:rPr>
              <a:t>• 中小予算 (月20万以下) は LINE NEWS の運用型に集中</a:t>
            </a:r>
          </a:p>
          <a:p>
            <a:pPr algn="l">
              <a:lnSpc>
                <a:spcPct val="160000"/>
              </a:lnSpc>
            </a:pPr>
            <a:r>
              <a:rPr sz="1100" b="0">
                <a:solidFill>
                  <a:srgbClr val="FFFFFF"/>
                </a:solidFill>
                <a:latin typeface="Hiragino Sans"/>
                <a:ea typeface="Hiragino Sans"/>
                <a:cs typeface="Hiragino Sans"/>
              </a:rPr>
              <a:t>• 2026春以降 = LINEヤフー広告ディスプレイ広告に統合、Yahoo!面と横断配信</a:t>
            </a:r>
          </a:p>
        </p:txBody>
      </p:sp>
      <p:sp>
        <p:nvSpPr>
          <p:cNvPr id="31" name="TextBox 30"/>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LINE公式アカウント連携</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友だち獲得 + メッセージ配信で CRM化</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P118 / 250</a:t>
            </a:r>
          </a:p>
        </p:txBody>
      </p:sp>
      <p:sp>
        <p:nvSpPr>
          <p:cNvPr id="8" name="Rounded Rectangle 7"/>
          <p:cNvSpPr/>
          <p:nvPr/>
        </p:nvSpPr>
        <p:spPr>
          <a:xfrm>
            <a:off x="548640" y="1417320"/>
            <a:ext cx="5486400" cy="24688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548640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554480"/>
            <a:ext cx="4937760" cy="411480"/>
          </a:xfrm>
          <a:prstGeom prst="rect">
            <a:avLst/>
          </a:prstGeom>
          <a:noFill/>
        </p:spPr>
        <p:txBody>
          <a:bodyPr wrap="square" anchor="t" lIns="0" rIns="0" tIns="0" bIns="0">
            <a:spAutoFit/>
          </a:bodyPr>
          <a:lstStyle/>
          <a:p>
            <a:pPr algn="l">
              <a:lnSpc>
                <a:spcPct val="115000"/>
              </a:lnSpc>
            </a:pPr>
            <a:r>
              <a:rPr sz="1500" b="1">
                <a:solidFill>
                  <a:srgbClr val="FFFFFF"/>
                </a:solidFill>
                <a:latin typeface="Hiragino Sans"/>
                <a:ea typeface="Hiragino Sans"/>
                <a:cs typeface="Hiragino Sans"/>
              </a:rPr>
              <a:t>友だち追加広告</a:t>
            </a:r>
          </a:p>
        </p:txBody>
      </p:sp>
      <p:sp>
        <p:nvSpPr>
          <p:cNvPr id="11" name="TextBox 10"/>
          <p:cNvSpPr txBox="1"/>
          <p:nvPr/>
        </p:nvSpPr>
        <p:spPr>
          <a:xfrm>
            <a:off x="822960" y="1965960"/>
            <a:ext cx="4937760" cy="27432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LINE広告から公式アカウント友だち獲得</a:t>
            </a:r>
          </a:p>
        </p:txBody>
      </p:sp>
      <p:sp>
        <p:nvSpPr>
          <p:cNvPr id="12" name="TextBox 11"/>
          <p:cNvSpPr txBox="1"/>
          <p:nvPr/>
        </p:nvSpPr>
        <p:spPr>
          <a:xfrm>
            <a:off x="822960" y="2423160"/>
            <a:ext cx="4937760" cy="141732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LAP / YDAから配信。</a:t>
            </a:r>
          </a:p>
          <a:p>
            <a:pPr algn="l">
              <a:lnSpc>
                <a:spcPct val="160000"/>
              </a:lnSpc>
            </a:pPr>
            <a:r>
              <a:rPr sz="1100" b="0">
                <a:solidFill>
                  <a:srgbClr val="1A1A1A"/>
                </a:solidFill>
                <a:latin typeface="Hiragino Sans"/>
                <a:ea typeface="Hiragino Sans"/>
                <a:cs typeface="Hiragino Sans"/>
              </a:rPr>
              <a:t>1友達 = 100-500円程度 (業種で変動)</a:t>
            </a:r>
          </a:p>
          <a:p>
            <a:pPr algn="l">
              <a:lnSpc>
                <a:spcPct val="160000"/>
              </a:lnSpc>
            </a:pPr>
            <a:r>
              <a:rPr sz="1100" b="0">
                <a:solidFill>
                  <a:srgbClr val="1A1A1A"/>
                </a:solidFill>
                <a:latin typeface="Hiragino Sans"/>
                <a:ea typeface="Hiragino Sans"/>
                <a:cs typeface="Hiragino Sans"/>
              </a:rPr>
              <a:t>獲得後はメッセージ配信で関係構築</a:t>
            </a:r>
          </a:p>
        </p:txBody>
      </p:sp>
      <p:sp>
        <p:nvSpPr>
          <p:cNvPr id="13" name="Rounded Rectangle 12"/>
          <p:cNvSpPr/>
          <p:nvPr/>
        </p:nvSpPr>
        <p:spPr>
          <a:xfrm>
            <a:off x="6172200" y="1417320"/>
            <a:ext cx="5486400" cy="24688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1417320"/>
            <a:ext cx="548640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1554480"/>
            <a:ext cx="4937760" cy="411480"/>
          </a:xfrm>
          <a:prstGeom prst="rect">
            <a:avLst/>
          </a:prstGeom>
          <a:noFill/>
        </p:spPr>
        <p:txBody>
          <a:bodyPr wrap="square" anchor="t" lIns="0" rIns="0" tIns="0" bIns="0">
            <a:spAutoFit/>
          </a:bodyPr>
          <a:lstStyle/>
          <a:p>
            <a:pPr algn="l">
              <a:lnSpc>
                <a:spcPct val="115000"/>
              </a:lnSpc>
            </a:pPr>
            <a:r>
              <a:rPr sz="1500" b="1">
                <a:solidFill>
                  <a:srgbClr val="FFFFFF"/>
                </a:solidFill>
                <a:latin typeface="Hiragino Sans"/>
                <a:ea typeface="Hiragino Sans"/>
                <a:cs typeface="Hiragino Sans"/>
              </a:rPr>
              <a:t>メッセージ配信</a:t>
            </a:r>
          </a:p>
        </p:txBody>
      </p:sp>
      <p:sp>
        <p:nvSpPr>
          <p:cNvPr id="16" name="TextBox 15"/>
          <p:cNvSpPr txBox="1"/>
          <p:nvPr/>
        </p:nvSpPr>
        <p:spPr>
          <a:xfrm>
            <a:off x="6446520" y="1965960"/>
            <a:ext cx="4937760" cy="27432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獲得済 友だちへの広告メッセージ</a:t>
            </a:r>
          </a:p>
        </p:txBody>
      </p:sp>
      <p:sp>
        <p:nvSpPr>
          <p:cNvPr id="17" name="TextBox 16"/>
          <p:cNvSpPr txBox="1"/>
          <p:nvPr/>
        </p:nvSpPr>
        <p:spPr>
          <a:xfrm>
            <a:off x="6446520" y="2423160"/>
            <a:ext cx="4937760" cy="141732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Step配信 / セグメント配信 / リッチメッセージ</a:t>
            </a:r>
          </a:p>
          <a:p>
            <a:pPr algn="l">
              <a:lnSpc>
                <a:spcPct val="160000"/>
              </a:lnSpc>
            </a:pPr>
            <a:r>
              <a:rPr sz="1100" b="0">
                <a:solidFill>
                  <a:srgbClr val="1A1A1A"/>
                </a:solidFill>
                <a:latin typeface="Hiragino Sans"/>
                <a:ea typeface="Hiragino Sans"/>
                <a:cs typeface="Hiragino Sans"/>
              </a:rPr>
              <a:t>オープン率 平均 40-60% (メールの3-5倍)</a:t>
            </a:r>
          </a:p>
          <a:p>
            <a:pPr algn="l">
              <a:lnSpc>
                <a:spcPct val="160000"/>
              </a:lnSpc>
            </a:pPr>
            <a:r>
              <a:rPr sz="1100" b="0">
                <a:solidFill>
                  <a:srgbClr val="1A1A1A"/>
                </a:solidFill>
                <a:latin typeface="Hiragino Sans"/>
                <a:ea typeface="Hiragino Sans"/>
                <a:cs typeface="Hiragino Sans"/>
              </a:rPr>
              <a:t>クーポン・限定販促で CV直結</a:t>
            </a:r>
          </a:p>
        </p:txBody>
      </p:sp>
      <p:sp>
        <p:nvSpPr>
          <p:cNvPr id="18" name="Rounded Rectangle 17"/>
          <p:cNvSpPr/>
          <p:nvPr/>
        </p:nvSpPr>
        <p:spPr>
          <a:xfrm>
            <a:off x="548640" y="4069080"/>
            <a:ext cx="11109960" cy="228600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206240"/>
            <a:ext cx="100584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 Connect One 構想 — 公式アカウントを起点に</a:t>
            </a:r>
          </a:p>
        </p:txBody>
      </p:sp>
      <p:sp>
        <p:nvSpPr>
          <p:cNvPr id="20" name="TextBox 19"/>
          <p:cNvSpPr txBox="1"/>
          <p:nvPr/>
        </p:nvSpPr>
        <p:spPr>
          <a:xfrm>
            <a:off x="777240" y="4526280"/>
            <a:ext cx="10972800" cy="178308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1. 広告 (LINE広告 + Yahoo!広告) → 公式アカウント友だち獲得</a:t>
            </a:r>
          </a:p>
          <a:p>
            <a:pPr algn="l">
              <a:lnSpc>
                <a:spcPct val="160000"/>
              </a:lnSpc>
            </a:pPr>
            <a:r>
              <a:rPr sz="1100" b="0">
                <a:solidFill>
                  <a:srgbClr val="1A1A1A"/>
                </a:solidFill>
                <a:latin typeface="Hiragino Sans"/>
                <a:ea typeface="Hiragino Sans"/>
                <a:cs typeface="Hiragino Sans"/>
              </a:rPr>
              <a:t>2. メッセージ配信 → 来店・購入・リピート促進</a:t>
            </a:r>
          </a:p>
          <a:p>
            <a:pPr algn="l">
              <a:lnSpc>
                <a:spcPct val="160000"/>
              </a:lnSpc>
            </a:pPr>
            <a:r>
              <a:rPr sz="1100" b="0">
                <a:solidFill>
                  <a:srgbClr val="1A1A1A"/>
                </a:solidFill>
                <a:latin typeface="Hiragino Sans"/>
                <a:ea typeface="Hiragino Sans"/>
                <a:cs typeface="Hiragino Sans"/>
              </a:rPr>
              <a:t>3. LINE ミニアプリ / LINE Pay 連携 → 予約・決済もLINE内で完結</a:t>
            </a:r>
          </a:p>
          <a:p>
            <a:pPr algn="l">
              <a:lnSpc>
                <a:spcPct val="160000"/>
              </a:lnSpc>
            </a:pPr>
            <a:r>
              <a:rPr sz="1100" b="0">
                <a:solidFill>
                  <a:srgbClr val="1A1A1A"/>
                </a:solidFill>
                <a:latin typeface="Hiragino Sans"/>
                <a:ea typeface="Hiragino Sans"/>
                <a:cs typeface="Hiragino Sans"/>
              </a:rPr>
              <a:t>4. 顧客分析 (CRMダッシュボード) → セグメント別配信に活用</a:t>
            </a:r>
          </a:p>
          <a:p>
            <a:pPr algn="l">
              <a:lnSpc>
                <a:spcPct val="160000"/>
              </a:lnSpc>
            </a:pPr>
            <a:r>
              <a:rPr sz="1100" b="0">
                <a:solidFill>
                  <a:srgbClr val="1A1A1A"/>
                </a:solidFill>
                <a:latin typeface="Hiragino Sans"/>
                <a:ea typeface="Hiragino Sans"/>
                <a:cs typeface="Hiragino Sans"/>
              </a:rPr>
              <a:t/>
            </a:r>
          </a:p>
          <a:p>
            <a:pPr algn="l">
              <a:lnSpc>
                <a:spcPct val="160000"/>
              </a:lnSpc>
            </a:pPr>
            <a:r>
              <a:rPr sz="1100" b="0">
                <a:solidFill>
                  <a:srgbClr val="1A1A1A"/>
                </a:solidFill>
                <a:latin typeface="Hiragino Sans"/>
                <a:ea typeface="Hiragino Sans"/>
                <a:cs typeface="Hiragino Sans"/>
              </a:rPr>
              <a:t>副業代行 : LINE広告だけで売上を作ろうとせず、公式アカウント連携での『顧客資産化』提案がROI最大化</a:t>
            </a:r>
          </a:p>
        </p:txBody>
      </p:sp>
      <p:sp>
        <p:nvSpPr>
          <p:cNvPr id="21" name="TextBox 20"/>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LINE広告 ターゲティング・オーディエンス</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LINEデモグラ + 行動 + Custom</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P119 / 250</a:t>
            </a:r>
          </a:p>
        </p:txBody>
      </p:sp>
      <p:sp>
        <p:nvSpPr>
          <p:cNvPr id="8" name="Rounded Rectangle 7"/>
          <p:cNvSpPr/>
          <p:nvPr/>
        </p:nvSpPr>
        <p:spPr>
          <a:xfrm>
            <a:off x="548640" y="1417320"/>
            <a:ext cx="2697480" cy="24688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269748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581912"/>
            <a:ext cx="2331720" cy="365760"/>
          </a:xfrm>
          <a:prstGeom prst="rect">
            <a:avLst/>
          </a:prstGeom>
          <a:noFill/>
        </p:spPr>
        <p:txBody>
          <a:bodyPr wrap="square" anchor="t" lIns="0" rIns="0" tIns="0" bIns="0">
            <a:spAutoFit/>
          </a:bodyPr>
          <a:lstStyle/>
          <a:p>
            <a:pPr algn="ctr">
              <a:lnSpc>
                <a:spcPct val="115000"/>
              </a:lnSpc>
            </a:pPr>
            <a:r>
              <a:rPr sz="1400" b="1">
                <a:solidFill>
                  <a:srgbClr val="FFFFFF"/>
                </a:solidFill>
                <a:latin typeface="Hiragino Sans"/>
                <a:ea typeface="Hiragino Sans"/>
                <a:cs typeface="Hiragino Sans"/>
              </a:rPr>
              <a:t>LINEデモグラ</a:t>
            </a:r>
          </a:p>
        </p:txBody>
      </p:sp>
      <p:sp>
        <p:nvSpPr>
          <p:cNvPr id="11" name="TextBox 10"/>
          <p:cNvSpPr txBox="1"/>
          <p:nvPr/>
        </p:nvSpPr>
        <p:spPr>
          <a:xfrm>
            <a:off x="731520" y="1965960"/>
            <a:ext cx="233172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LINE登録情報ベース</a:t>
            </a:r>
          </a:p>
        </p:txBody>
      </p:sp>
      <p:sp>
        <p:nvSpPr>
          <p:cNvPr id="12" name="TextBox 11"/>
          <p:cNvSpPr txBox="1"/>
          <p:nvPr/>
        </p:nvSpPr>
        <p:spPr>
          <a:xfrm>
            <a:off x="731520" y="2423160"/>
            <a:ext cx="2331720" cy="1417320"/>
          </a:xfrm>
          <a:prstGeom prst="rect">
            <a:avLst/>
          </a:prstGeom>
          <a:noFill/>
        </p:spPr>
        <p:txBody>
          <a:bodyPr wrap="square" anchor="t" lIns="0" rIns="0" tIns="0" bIns="0">
            <a:spAutoFit/>
          </a:bodyPr>
          <a:lstStyle/>
          <a:p>
            <a:pPr algn="l">
              <a:lnSpc>
                <a:spcPct val="170000"/>
              </a:lnSpc>
            </a:pPr>
            <a:r>
              <a:rPr sz="1100" b="0">
                <a:solidFill>
                  <a:srgbClr val="1A1A1A"/>
                </a:solidFill>
                <a:latin typeface="Hiragino Sans"/>
                <a:ea typeface="Hiragino Sans"/>
                <a:cs typeface="Hiragino Sans"/>
              </a:rPr>
              <a:t>・年齢 / 性別 / 地域</a:t>
            </a:r>
          </a:p>
          <a:p>
            <a:pPr algn="l">
              <a:lnSpc>
                <a:spcPct val="170000"/>
              </a:lnSpc>
            </a:pPr>
            <a:r>
              <a:rPr sz="1100" b="0">
                <a:solidFill>
                  <a:srgbClr val="1A1A1A"/>
                </a:solidFill>
                <a:latin typeface="Hiragino Sans"/>
                <a:ea typeface="Hiragino Sans"/>
                <a:cs typeface="Hiragino Sans"/>
              </a:rPr>
              <a:t>・推定属性 (年収/職業)</a:t>
            </a:r>
          </a:p>
          <a:p>
            <a:pPr algn="l">
              <a:lnSpc>
                <a:spcPct val="170000"/>
              </a:lnSpc>
            </a:pPr>
            <a:r>
              <a:rPr sz="1100" b="0">
                <a:solidFill>
                  <a:srgbClr val="1A1A1A"/>
                </a:solidFill>
                <a:latin typeface="Hiragino Sans"/>
                <a:ea typeface="Hiragino Sans"/>
                <a:cs typeface="Hiragino Sans"/>
              </a:rPr>
              <a:t>・ライフイベント</a:t>
            </a:r>
          </a:p>
        </p:txBody>
      </p:sp>
      <p:sp>
        <p:nvSpPr>
          <p:cNvPr id="13" name="Rounded Rectangle 12"/>
          <p:cNvSpPr/>
          <p:nvPr/>
        </p:nvSpPr>
        <p:spPr>
          <a:xfrm>
            <a:off x="3337560" y="1417320"/>
            <a:ext cx="2697480" cy="24688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37560" y="1417320"/>
            <a:ext cx="269748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20440" y="1581912"/>
            <a:ext cx="2331720" cy="365760"/>
          </a:xfrm>
          <a:prstGeom prst="rect">
            <a:avLst/>
          </a:prstGeom>
          <a:noFill/>
        </p:spPr>
        <p:txBody>
          <a:bodyPr wrap="square" anchor="t" lIns="0" rIns="0" tIns="0" bIns="0">
            <a:spAutoFit/>
          </a:bodyPr>
          <a:lstStyle/>
          <a:p>
            <a:pPr algn="ctr">
              <a:lnSpc>
                <a:spcPct val="115000"/>
              </a:lnSpc>
            </a:pPr>
            <a:r>
              <a:rPr sz="1400" b="1">
                <a:solidFill>
                  <a:srgbClr val="FFFFFF"/>
                </a:solidFill>
                <a:latin typeface="Hiragino Sans"/>
                <a:ea typeface="Hiragino Sans"/>
                <a:cs typeface="Hiragino Sans"/>
              </a:rPr>
              <a:t>みなし属性</a:t>
            </a:r>
          </a:p>
        </p:txBody>
      </p:sp>
      <p:sp>
        <p:nvSpPr>
          <p:cNvPr id="16" name="TextBox 15"/>
          <p:cNvSpPr txBox="1"/>
          <p:nvPr/>
        </p:nvSpPr>
        <p:spPr>
          <a:xfrm>
            <a:off x="3520440" y="1965960"/>
            <a:ext cx="233172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AI推定</a:t>
            </a:r>
          </a:p>
        </p:txBody>
      </p:sp>
      <p:sp>
        <p:nvSpPr>
          <p:cNvPr id="17" name="TextBox 16"/>
          <p:cNvSpPr txBox="1"/>
          <p:nvPr/>
        </p:nvSpPr>
        <p:spPr>
          <a:xfrm>
            <a:off x="3520440" y="2423160"/>
            <a:ext cx="2331720" cy="1417320"/>
          </a:xfrm>
          <a:prstGeom prst="rect">
            <a:avLst/>
          </a:prstGeom>
          <a:noFill/>
        </p:spPr>
        <p:txBody>
          <a:bodyPr wrap="square" anchor="t" lIns="0" rIns="0" tIns="0" bIns="0">
            <a:spAutoFit/>
          </a:bodyPr>
          <a:lstStyle/>
          <a:p>
            <a:pPr algn="l">
              <a:lnSpc>
                <a:spcPct val="170000"/>
              </a:lnSpc>
            </a:pPr>
            <a:r>
              <a:rPr sz="1100" b="0">
                <a:solidFill>
                  <a:srgbClr val="1A1A1A"/>
                </a:solidFill>
                <a:latin typeface="Hiragino Sans"/>
                <a:ea typeface="Hiragino Sans"/>
                <a:cs typeface="Hiragino Sans"/>
              </a:rPr>
              <a:t>・興味関心カテゴリ</a:t>
            </a:r>
          </a:p>
          <a:p>
            <a:pPr algn="l">
              <a:lnSpc>
                <a:spcPct val="170000"/>
              </a:lnSpc>
            </a:pPr>
            <a:r>
              <a:rPr sz="1100" b="0">
                <a:solidFill>
                  <a:srgbClr val="1A1A1A"/>
                </a:solidFill>
                <a:latin typeface="Hiragino Sans"/>
                <a:ea typeface="Hiragino Sans"/>
                <a:cs typeface="Hiragino Sans"/>
              </a:rPr>
              <a:t>・購買予測</a:t>
            </a:r>
          </a:p>
          <a:p>
            <a:pPr algn="l">
              <a:lnSpc>
                <a:spcPct val="170000"/>
              </a:lnSpc>
            </a:pPr>
            <a:r>
              <a:rPr sz="1100" b="0">
                <a:solidFill>
                  <a:srgbClr val="1A1A1A"/>
                </a:solidFill>
                <a:latin typeface="Hiragino Sans"/>
                <a:ea typeface="Hiragino Sans"/>
                <a:cs typeface="Hiragino Sans"/>
              </a:rPr>
              <a:t>・コンテンツ接触履歴</a:t>
            </a:r>
          </a:p>
        </p:txBody>
      </p:sp>
      <p:sp>
        <p:nvSpPr>
          <p:cNvPr id="18" name="Rounded Rectangle 17"/>
          <p:cNvSpPr/>
          <p:nvPr/>
        </p:nvSpPr>
        <p:spPr>
          <a:xfrm>
            <a:off x="6126480" y="1417320"/>
            <a:ext cx="2697480" cy="24688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0" y="1417320"/>
            <a:ext cx="269748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1581912"/>
            <a:ext cx="2331720" cy="365760"/>
          </a:xfrm>
          <a:prstGeom prst="rect">
            <a:avLst/>
          </a:prstGeom>
          <a:noFill/>
        </p:spPr>
        <p:txBody>
          <a:bodyPr wrap="square" anchor="t" lIns="0" rIns="0" tIns="0" bIns="0">
            <a:spAutoFit/>
          </a:bodyPr>
          <a:lstStyle/>
          <a:p>
            <a:pPr algn="ctr">
              <a:lnSpc>
                <a:spcPct val="115000"/>
              </a:lnSpc>
            </a:pPr>
            <a:r>
              <a:rPr sz="1400" b="1">
                <a:solidFill>
                  <a:srgbClr val="FFFFFF"/>
                </a:solidFill>
                <a:latin typeface="Hiragino Sans"/>
                <a:ea typeface="Hiragino Sans"/>
                <a:cs typeface="Hiragino Sans"/>
              </a:rPr>
              <a:t>Custom Audience</a:t>
            </a:r>
          </a:p>
        </p:txBody>
      </p:sp>
      <p:sp>
        <p:nvSpPr>
          <p:cNvPr id="21" name="TextBox 20"/>
          <p:cNvSpPr txBox="1"/>
          <p:nvPr/>
        </p:nvSpPr>
        <p:spPr>
          <a:xfrm>
            <a:off x="6309360" y="1965960"/>
            <a:ext cx="233172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1PD アップロード</a:t>
            </a:r>
          </a:p>
        </p:txBody>
      </p:sp>
      <p:sp>
        <p:nvSpPr>
          <p:cNvPr id="22" name="TextBox 21"/>
          <p:cNvSpPr txBox="1"/>
          <p:nvPr/>
        </p:nvSpPr>
        <p:spPr>
          <a:xfrm>
            <a:off x="6309360" y="2423160"/>
            <a:ext cx="2331720" cy="1417320"/>
          </a:xfrm>
          <a:prstGeom prst="rect">
            <a:avLst/>
          </a:prstGeom>
          <a:noFill/>
        </p:spPr>
        <p:txBody>
          <a:bodyPr wrap="square" anchor="t" lIns="0" rIns="0" tIns="0" bIns="0">
            <a:spAutoFit/>
          </a:bodyPr>
          <a:lstStyle/>
          <a:p>
            <a:pPr algn="l">
              <a:lnSpc>
                <a:spcPct val="170000"/>
              </a:lnSpc>
            </a:pPr>
            <a:r>
              <a:rPr sz="1100" b="0">
                <a:solidFill>
                  <a:srgbClr val="1A1A1A"/>
                </a:solidFill>
                <a:latin typeface="Hiragino Sans"/>
                <a:ea typeface="Hiragino Sans"/>
                <a:cs typeface="Hiragino Sans"/>
              </a:rPr>
              <a:t>・Customer File (CRM)</a:t>
            </a:r>
          </a:p>
          <a:p>
            <a:pPr algn="l">
              <a:lnSpc>
                <a:spcPct val="170000"/>
              </a:lnSpc>
            </a:pPr>
            <a:r>
              <a:rPr sz="1100" b="0">
                <a:solidFill>
                  <a:srgbClr val="1A1A1A"/>
                </a:solidFill>
                <a:latin typeface="Hiragino Sans"/>
                <a:ea typeface="Hiragino Sans"/>
                <a:cs typeface="Hiragino Sans"/>
              </a:rPr>
              <a:t>・Webサイト訪問</a:t>
            </a:r>
          </a:p>
          <a:p>
            <a:pPr algn="l">
              <a:lnSpc>
                <a:spcPct val="170000"/>
              </a:lnSpc>
            </a:pPr>
            <a:r>
              <a:rPr sz="1100" b="0">
                <a:solidFill>
                  <a:srgbClr val="1A1A1A"/>
                </a:solidFill>
                <a:latin typeface="Hiragino Sans"/>
                <a:ea typeface="Hiragino Sans"/>
                <a:cs typeface="Hiragino Sans"/>
              </a:rPr>
              <a:t>・LINE公式 友だち</a:t>
            </a:r>
          </a:p>
        </p:txBody>
      </p:sp>
      <p:sp>
        <p:nvSpPr>
          <p:cNvPr id="23" name="Rounded Rectangle 22"/>
          <p:cNvSpPr/>
          <p:nvPr/>
        </p:nvSpPr>
        <p:spPr>
          <a:xfrm>
            <a:off x="8915400" y="1417320"/>
            <a:ext cx="2697480" cy="24688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15400" y="1417320"/>
            <a:ext cx="269748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98280" y="1581912"/>
            <a:ext cx="2331720" cy="365760"/>
          </a:xfrm>
          <a:prstGeom prst="rect">
            <a:avLst/>
          </a:prstGeom>
          <a:noFill/>
        </p:spPr>
        <p:txBody>
          <a:bodyPr wrap="square" anchor="t" lIns="0" rIns="0" tIns="0" bIns="0">
            <a:spAutoFit/>
          </a:bodyPr>
          <a:lstStyle/>
          <a:p>
            <a:pPr algn="ctr">
              <a:lnSpc>
                <a:spcPct val="115000"/>
              </a:lnSpc>
            </a:pPr>
            <a:r>
              <a:rPr sz="1400" b="1">
                <a:solidFill>
                  <a:srgbClr val="FFFFFF"/>
                </a:solidFill>
                <a:latin typeface="Hiragino Sans"/>
                <a:ea typeface="Hiragino Sans"/>
                <a:cs typeface="Hiragino Sans"/>
              </a:rPr>
              <a:t>類似拡張</a:t>
            </a:r>
          </a:p>
        </p:txBody>
      </p:sp>
      <p:sp>
        <p:nvSpPr>
          <p:cNvPr id="26" name="TextBox 25"/>
          <p:cNvSpPr txBox="1"/>
          <p:nvPr/>
        </p:nvSpPr>
        <p:spPr>
          <a:xfrm>
            <a:off x="9098280" y="1965960"/>
            <a:ext cx="233172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Lookalike相当</a:t>
            </a:r>
          </a:p>
        </p:txBody>
      </p:sp>
      <p:sp>
        <p:nvSpPr>
          <p:cNvPr id="27" name="TextBox 26"/>
          <p:cNvSpPr txBox="1"/>
          <p:nvPr/>
        </p:nvSpPr>
        <p:spPr>
          <a:xfrm>
            <a:off x="9098280" y="2423160"/>
            <a:ext cx="2331720" cy="1417320"/>
          </a:xfrm>
          <a:prstGeom prst="rect">
            <a:avLst/>
          </a:prstGeom>
          <a:noFill/>
        </p:spPr>
        <p:txBody>
          <a:bodyPr wrap="square" anchor="t" lIns="0" rIns="0" tIns="0" bIns="0">
            <a:spAutoFit/>
          </a:bodyPr>
          <a:lstStyle/>
          <a:p>
            <a:pPr algn="l">
              <a:lnSpc>
                <a:spcPct val="170000"/>
              </a:lnSpc>
            </a:pPr>
            <a:r>
              <a:rPr sz="1100" b="0">
                <a:solidFill>
                  <a:srgbClr val="1A1A1A"/>
                </a:solidFill>
                <a:latin typeface="Hiragino Sans"/>
                <a:ea typeface="Hiragino Sans"/>
                <a:cs typeface="Hiragino Sans"/>
              </a:rPr>
              <a:t>・1%-15% 類似度</a:t>
            </a:r>
          </a:p>
          <a:p>
            <a:pPr algn="l">
              <a:lnSpc>
                <a:spcPct val="170000"/>
              </a:lnSpc>
            </a:pPr>
            <a:r>
              <a:rPr sz="1100" b="0">
                <a:solidFill>
                  <a:srgbClr val="1A1A1A"/>
                </a:solidFill>
                <a:latin typeface="Hiragino Sans"/>
                <a:ea typeface="Hiragino Sans"/>
                <a:cs typeface="Hiragino Sans"/>
              </a:rPr>
              <a:t>・Customer File をシード</a:t>
            </a:r>
          </a:p>
          <a:p>
            <a:pPr algn="l">
              <a:lnSpc>
                <a:spcPct val="170000"/>
              </a:lnSpc>
            </a:pPr>
            <a:r>
              <a:rPr sz="1100" b="0">
                <a:solidFill>
                  <a:srgbClr val="1A1A1A"/>
                </a:solidFill>
                <a:latin typeface="Hiragino Sans"/>
                <a:ea typeface="Hiragino Sans"/>
                <a:cs typeface="Hiragino Sans"/>
              </a:rPr>
              <a:t>・既存友だちの類似</a:t>
            </a:r>
          </a:p>
        </p:txBody>
      </p:sp>
      <p:sp>
        <p:nvSpPr>
          <p:cNvPr id="28" name="Rounded Rectangle 27"/>
          <p:cNvSpPr/>
          <p:nvPr/>
        </p:nvSpPr>
        <p:spPr>
          <a:xfrm>
            <a:off x="548640" y="4023360"/>
            <a:ext cx="11109960" cy="233172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4160520"/>
            <a:ext cx="10058400" cy="320040"/>
          </a:xfrm>
          <a:prstGeom prst="rect">
            <a:avLst/>
          </a:prstGeom>
          <a:noFill/>
        </p:spPr>
        <p:txBody>
          <a:bodyPr wrap="square" anchor="t" lIns="0" rIns="0" tIns="0" bIns="0">
            <a:spAutoFit/>
          </a:bodyPr>
          <a:lstStyle/>
          <a:p>
            <a:pPr algn="l">
              <a:lnSpc>
                <a:spcPct val="115000"/>
              </a:lnSpc>
            </a:pPr>
            <a:r>
              <a:rPr sz="1200" b="1">
                <a:solidFill>
                  <a:srgbClr val="E87722"/>
                </a:solidFill>
                <a:latin typeface="Hiragino Sans"/>
                <a:ea typeface="Hiragino Sans"/>
                <a:cs typeface="Hiragino Sans"/>
              </a:rPr>
              <a:t>💡 LINEデモグラの強み (他媒体との差別化)</a:t>
            </a:r>
          </a:p>
        </p:txBody>
      </p:sp>
      <p:sp>
        <p:nvSpPr>
          <p:cNvPr id="30" name="TextBox 29"/>
          <p:cNvSpPr txBox="1"/>
          <p:nvPr/>
        </p:nvSpPr>
        <p:spPr>
          <a:xfrm>
            <a:off x="777240" y="4526280"/>
            <a:ext cx="10972800" cy="1783080"/>
          </a:xfrm>
          <a:prstGeom prst="rect">
            <a:avLst/>
          </a:prstGeom>
          <a:noFill/>
        </p:spPr>
        <p:txBody>
          <a:bodyPr wrap="square" anchor="t" lIns="0" rIns="0" tIns="0" bIns="0">
            <a:spAutoFit/>
          </a:bodyPr>
          <a:lstStyle/>
          <a:p>
            <a:pPr algn="l">
              <a:lnSpc>
                <a:spcPct val="160000"/>
              </a:lnSpc>
            </a:pPr>
            <a:r>
              <a:rPr sz="1100" b="0">
                <a:solidFill>
                  <a:srgbClr val="FFFFFF"/>
                </a:solidFill>
                <a:latin typeface="Hiragino Sans"/>
                <a:ea typeface="Hiragino Sans"/>
                <a:cs typeface="Hiragino Sans"/>
              </a:rPr>
              <a:t>• LINE登録時の基本属性 + 利用データから推定された詳細属性</a:t>
            </a:r>
          </a:p>
          <a:p>
            <a:pPr algn="l">
              <a:lnSpc>
                <a:spcPct val="160000"/>
              </a:lnSpc>
            </a:pPr>
            <a:r>
              <a:rPr sz="1100" b="0">
                <a:solidFill>
                  <a:srgbClr val="FFFFFF"/>
                </a:solidFill>
                <a:latin typeface="Hiragino Sans"/>
                <a:ea typeface="Hiragino Sans"/>
                <a:cs typeface="Hiragino Sans"/>
              </a:rPr>
              <a:t>• 高年齢層 (60代以上) のリーチが Meta より広い</a:t>
            </a:r>
          </a:p>
          <a:p>
            <a:pPr algn="l">
              <a:lnSpc>
                <a:spcPct val="160000"/>
              </a:lnSpc>
            </a:pPr>
            <a:r>
              <a:rPr sz="1100" b="0">
                <a:solidFill>
                  <a:srgbClr val="FFFFFF"/>
                </a:solidFill>
                <a:latin typeface="Hiragino Sans"/>
                <a:ea typeface="Hiragino Sans"/>
                <a:cs typeface="Hiragino Sans"/>
              </a:rPr>
              <a:t>• B2B (経営者/管理職) のリーチ網も意外に強い</a:t>
            </a:r>
          </a:p>
          <a:p>
            <a:pPr algn="l">
              <a:lnSpc>
                <a:spcPct val="160000"/>
              </a:lnSpc>
            </a:pPr>
            <a:r>
              <a:rPr sz="1100" b="0">
                <a:solidFill>
                  <a:srgbClr val="FFFFFF"/>
                </a:solidFill>
                <a:latin typeface="Hiragino Sans"/>
                <a:ea typeface="Hiragino Sans"/>
                <a:cs typeface="Hiragino Sans"/>
              </a:rPr>
              <a:t>• 2026春LINEヤフー統合でYahoo!検索データとの結合が予定 → さらに精度向上</a:t>
            </a:r>
          </a:p>
        </p:txBody>
      </p:sp>
      <p:sp>
        <p:nvSpPr>
          <p:cNvPr id="31" name="TextBox 30"/>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LINE Tag / 計測</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LINE固有のサーバーサイド計測</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P120 / 250</a:t>
            </a:r>
          </a:p>
        </p:txBody>
      </p:sp>
      <p:sp>
        <p:nvSpPr>
          <p:cNvPr id="8" name="Rounded Rectangle 7"/>
          <p:cNvSpPr/>
          <p:nvPr/>
        </p:nvSpPr>
        <p:spPr>
          <a:xfrm>
            <a:off x="548640" y="1417320"/>
            <a:ext cx="5486400" cy="24688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548640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581912"/>
            <a:ext cx="4937760" cy="411480"/>
          </a:xfrm>
          <a:prstGeom prst="rect">
            <a:avLst/>
          </a:prstGeom>
          <a:noFill/>
        </p:spPr>
        <p:txBody>
          <a:bodyPr wrap="square" anchor="t" lIns="0" rIns="0" tIns="0" bIns="0">
            <a:spAutoFit/>
          </a:bodyPr>
          <a:lstStyle/>
          <a:p>
            <a:pPr algn="l">
              <a:lnSpc>
                <a:spcPct val="115000"/>
              </a:lnSpc>
            </a:pPr>
            <a:r>
              <a:rPr sz="1500" b="1">
                <a:solidFill>
                  <a:srgbClr val="FFFFFF"/>
                </a:solidFill>
                <a:latin typeface="Hiragino Sans"/>
                <a:ea typeface="Hiragino Sans"/>
                <a:cs typeface="Hiragino Sans"/>
              </a:rPr>
              <a:t>LINE Tag (ベース)</a:t>
            </a:r>
          </a:p>
        </p:txBody>
      </p:sp>
      <p:sp>
        <p:nvSpPr>
          <p:cNvPr id="11" name="TextBox 10"/>
          <p:cNvSpPr txBox="1"/>
          <p:nvPr/>
        </p:nvSpPr>
        <p:spPr>
          <a:xfrm>
            <a:off x="822960" y="1965960"/>
            <a:ext cx="4937760" cy="27432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全ページに設置</a:t>
            </a:r>
          </a:p>
        </p:txBody>
      </p:sp>
      <p:sp>
        <p:nvSpPr>
          <p:cNvPr id="12" name="TextBox 11"/>
          <p:cNvSpPr txBox="1"/>
          <p:nvPr/>
        </p:nvSpPr>
        <p:spPr>
          <a:xfrm>
            <a:off x="822960" y="2423160"/>
            <a:ext cx="4937760" cy="141732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JavaScript で発火</a:t>
            </a:r>
          </a:p>
          <a:p>
            <a:pPr algn="l">
              <a:lnSpc>
                <a:spcPct val="160000"/>
              </a:lnSpc>
            </a:pPr>
            <a:r>
              <a:rPr sz="1100" b="0">
                <a:solidFill>
                  <a:srgbClr val="1A1A1A"/>
                </a:solidFill>
                <a:latin typeface="Hiragino Sans"/>
                <a:ea typeface="Hiragino Sans"/>
                <a:cs typeface="Hiragino Sans"/>
              </a:rPr>
              <a:t>PageView / AddToCart / Conversion を計測</a:t>
            </a:r>
          </a:p>
          <a:p>
            <a:pPr algn="l">
              <a:lnSpc>
                <a:spcPct val="160000"/>
              </a:lnSpc>
            </a:pPr>
            <a:r>
              <a:rPr sz="1100" b="0">
                <a:solidFill>
                  <a:srgbClr val="1A1A1A"/>
                </a:solidFill>
                <a:latin typeface="Hiragino Sans"/>
                <a:ea typeface="Hiragino Sans"/>
                <a:cs typeface="Hiragino Sans"/>
              </a:rPr>
              <a:t>LINE広告のコンバージョン測定基盤</a:t>
            </a:r>
          </a:p>
        </p:txBody>
      </p:sp>
      <p:sp>
        <p:nvSpPr>
          <p:cNvPr id="13" name="Rounded Rectangle 12"/>
          <p:cNvSpPr/>
          <p:nvPr/>
        </p:nvSpPr>
        <p:spPr>
          <a:xfrm>
            <a:off x="6172200" y="1417320"/>
            <a:ext cx="5486400" cy="24688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1417320"/>
            <a:ext cx="548640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1581912"/>
            <a:ext cx="4937760" cy="411480"/>
          </a:xfrm>
          <a:prstGeom prst="rect">
            <a:avLst/>
          </a:prstGeom>
          <a:noFill/>
        </p:spPr>
        <p:txBody>
          <a:bodyPr wrap="square" anchor="t" lIns="0" rIns="0" tIns="0" bIns="0">
            <a:spAutoFit/>
          </a:bodyPr>
          <a:lstStyle/>
          <a:p>
            <a:pPr algn="l">
              <a:lnSpc>
                <a:spcPct val="115000"/>
              </a:lnSpc>
            </a:pPr>
            <a:r>
              <a:rPr sz="1500" b="1">
                <a:solidFill>
                  <a:srgbClr val="FFFFFF"/>
                </a:solidFill>
                <a:latin typeface="Hiragino Sans"/>
                <a:ea typeface="Hiragino Sans"/>
                <a:cs typeface="Hiragino Sans"/>
              </a:rPr>
              <a:t>Conversion API</a:t>
            </a:r>
          </a:p>
        </p:txBody>
      </p:sp>
      <p:sp>
        <p:nvSpPr>
          <p:cNvPr id="16" name="TextBox 15"/>
          <p:cNvSpPr txBox="1"/>
          <p:nvPr/>
        </p:nvSpPr>
        <p:spPr>
          <a:xfrm>
            <a:off x="6446520" y="1965960"/>
            <a:ext cx="4937760" cy="27432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サーバーサイド計測</a:t>
            </a:r>
          </a:p>
        </p:txBody>
      </p:sp>
      <p:sp>
        <p:nvSpPr>
          <p:cNvPr id="17" name="TextBox 16"/>
          <p:cNvSpPr txBox="1"/>
          <p:nvPr/>
        </p:nvSpPr>
        <p:spPr>
          <a:xfrm>
            <a:off x="6446520" y="2423160"/>
            <a:ext cx="4937760" cy="141732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サーバーから直接送信 (CAPI 相当)</a:t>
            </a:r>
          </a:p>
          <a:p>
            <a:pPr algn="l">
              <a:lnSpc>
                <a:spcPct val="160000"/>
              </a:lnSpc>
            </a:pPr>
            <a:r>
              <a:rPr sz="1100" b="0">
                <a:solidFill>
                  <a:srgbClr val="1A1A1A"/>
                </a:solidFill>
                <a:latin typeface="Hiragino Sans"/>
                <a:ea typeface="Hiragino Sans"/>
                <a:cs typeface="Hiragino Sans"/>
              </a:rPr>
              <a:t>iOS / ITP の影響を回避</a:t>
            </a:r>
          </a:p>
          <a:p>
            <a:pPr algn="l">
              <a:lnSpc>
                <a:spcPct val="160000"/>
              </a:lnSpc>
            </a:pPr>
            <a:r>
              <a:rPr sz="1100" b="0">
                <a:solidFill>
                  <a:srgbClr val="1A1A1A"/>
                </a:solidFill>
                <a:latin typeface="Hiragino Sans"/>
                <a:ea typeface="Hiragino Sans"/>
                <a:cs typeface="Hiragino Sans"/>
              </a:rPr>
              <a:t>2024〜 標準実装が増加</a:t>
            </a:r>
          </a:p>
        </p:txBody>
      </p:sp>
      <p:sp>
        <p:nvSpPr>
          <p:cNvPr id="18" name="Rounded Rectangle 17"/>
          <p:cNvSpPr/>
          <p:nvPr/>
        </p:nvSpPr>
        <p:spPr>
          <a:xfrm>
            <a:off x="548640" y="4023360"/>
            <a:ext cx="11109960" cy="233172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160520"/>
            <a:ext cx="100584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 副業代行での実装手順</a:t>
            </a:r>
          </a:p>
        </p:txBody>
      </p:sp>
      <p:sp>
        <p:nvSpPr>
          <p:cNvPr id="20" name="TextBox 19"/>
          <p:cNvSpPr txBox="1"/>
          <p:nvPr/>
        </p:nvSpPr>
        <p:spPr>
          <a:xfrm>
            <a:off x="777240" y="4526280"/>
            <a:ext cx="10972800" cy="178308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1. LINE Tag を全ページのhead内に設置 (GTM経由でも可)</a:t>
            </a:r>
          </a:p>
          <a:p>
            <a:pPr algn="l">
              <a:lnSpc>
                <a:spcPct val="160000"/>
              </a:lnSpc>
            </a:pPr>
            <a:r>
              <a:rPr sz="1100" b="0">
                <a:solidFill>
                  <a:srgbClr val="1A1A1A"/>
                </a:solidFill>
                <a:latin typeface="Hiragino Sans"/>
                <a:ea typeface="Hiragino Sans"/>
                <a:cs typeface="Hiragino Sans"/>
              </a:rPr>
              <a:t>2. Conversion (Purchase / Lead / SignUp等) を発火させたいページで設定</a:t>
            </a:r>
          </a:p>
          <a:p>
            <a:pPr algn="l">
              <a:lnSpc>
                <a:spcPct val="160000"/>
              </a:lnSpc>
            </a:pPr>
            <a:r>
              <a:rPr sz="1100" b="0">
                <a:solidFill>
                  <a:srgbClr val="1A1A1A"/>
                </a:solidFill>
                <a:latin typeface="Hiragino Sans"/>
                <a:ea typeface="Hiragino Sans"/>
                <a:cs typeface="Hiragino Sans"/>
              </a:rPr>
              <a:t>3. Conversion API : Shopify / WooCommerce プラグインで簡易実装も可</a:t>
            </a:r>
          </a:p>
          <a:p>
            <a:pPr algn="l">
              <a:lnSpc>
                <a:spcPct val="160000"/>
              </a:lnSpc>
            </a:pPr>
            <a:r>
              <a:rPr sz="1100" b="0">
                <a:solidFill>
                  <a:srgbClr val="1A1A1A"/>
                </a:solidFill>
                <a:latin typeface="Hiragino Sans"/>
                <a:ea typeface="Hiragino Sans"/>
                <a:cs typeface="Hiragino Sans"/>
              </a:rPr>
              <a:t>4. EMQ 相当のチェック : LINE for Business の管理画面で計測精度確認</a:t>
            </a:r>
          </a:p>
          <a:p>
            <a:pPr algn="l">
              <a:lnSpc>
                <a:spcPct val="160000"/>
              </a:lnSpc>
            </a:pPr>
            <a:r>
              <a:rPr sz="1100" b="0">
                <a:solidFill>
                  <a:srgbClr val="1A1A1A"/>
                </a:solidFill>
                <a:latin typeface="Hiragino Sans"/>
                <a:ea typeface="Hiragino Sans"/>
                <a:cs typeface="Hiragino Sans"/>
              </a:rPr>
              <a:t>5. 2026春以降 LINEヤフー統合で Yahoo!サイトジェネラルタグと統合検討</a:t>
            </a:r>
          </a:p>
        </p:txBody>
      </p:sp>
      <p:sp>
        <p:nvSpPr>
          <p:cNvPr id="21" name="TextBox 20"/>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2026春 LINEヤフー広告統合の準備</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LINE広告ユーザーは『移行ツール』対応が必要</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P121 / 250</a:t>
            </a:r>
          </a:p>
        </p:txBody>
      </p:sp>
      <p:sp>
        <p:nvSpPr>
          <p:cNvPr id="8" name="TextBox 7"/>
          <p:cNvSpPr txBox="1"/>
          <p:nvPr/>
        </p:nvSpPr>
        <p:spPr>
          <a:xfrm>
            <a:off x="548640" y="1417320"/>
            <a:ext cx="1097280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移行ステップ (2025/09 公式発表)</a:t>
            </a:r>
          </a:p>
        </p:txBody>
      </p:sp>
      <p:sp>
        <p:nvSpPr>
          <p:cNvPr id="9" name="Rounded Rectangle 8"/>
          <p:cNvSpPr/>
          <p:nvPr/>
        </p:nvSpPr>
        <p:spPr>
          <a:xfrm>
            <a:off x="548640" y="1874519"/>
            <a:ext cx="3611880" cy="2286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874519"/>
            <a:ext cx="3611880" cy="5029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993391"/>
            <a:ext cx="3246120" cy="274320"/>
          </a:xfrm>
          <a:prstGeom prst="rect">
            <a:avLst/>
          </a:prstGeom>
          <a:noFill/>
        </p:spPr>
        <p:txBody>
          <a:bodyPr wrap="square" anchor="t" lIns="0" rIns="0" tIns="0" bIns="0">
            <a:spAutoFit/>
          </a:bodyPr>
          <a:lstStyle/>
          <a:p>
            <a:pPr algn="ctr">
              <a:lnSpc>
                <a:spcPct val="115000"/>
              </a:lnSpc>
            </a:pPr>
            <a:r>
              <a:rPr sz="1200" b="1">
                <a:solidFill>
                  <a:srgbClr val="FFFFFF"/>
                </a:solidFill>
                <a:latin typeface="Helvetica Neue"/>
                <a:ea typeface="Helvetica Neue"/>
                <a:cs typeface="Helvetica Neue"/>
              </a:rPr>
              <a:t>STEP 1</a:t>
            </a:r>
          </a:p>
        </p:txBody>
      </p:sp>
      <p:sp>
        <p:nvSpPr>
          <p:cNvPr id="12" name="TextBox 11"/>
          <p:cNvSpPr txBox="1"/>
          <p:nvPr/>
        </p:nvSpPr>
        <p:spPr>
          <a:xfrm>
            <a:off x="777240" y="2514599"/>
            <a:ext cx="3246120" cy="411480"/>
          </a:xfrm>
          <a:prstGeom prst="rect">
            <a:avLst/>
          </a:prstGeom>
          <a:noFill/>
        </p:spPr>
        <p:txBody>
          <a:bodyPr wrap="square" anchor="t" lIns="0" rIns="0" tIns="0" bIns="0">
            <a:spAutoFit/>
          </a:bodyPr>
          <a:lstStyle/>
          <a:p>
            <a:pPr algn="ctr">
              <a:lnSpc>
                <a:spcPct val="115000"/>
              </a:lnSpc>
            </a:pPr>
            <a:r>
              <a:rPr sz="1400" b="1">
                <a:solidFill>
                  <a:srgbClr val="0F2A4F"/>
                </a:solidFill>
                <a:latin typeface="Hiragino Sans"/>
                <a:ea typeface="Hiragino Sans"/>
                <a:cs typeface="Hiragino Sans"/>
              </a:rPr>
              <a:t>現状確認</a:t>
            </a:r>
          </a:p>
        </p:txBody>
      </p:sp>
      <p:sp>
        <p:nvSpPr>
          <p:cNvPr id="13" name="TextBox 12"/>
          <p:cNvSpPr txBox="1"/>
          <p:nvPr/>
        </p:nvSpPr>
        <p:spPr>
          <a:xfrm>
            <a:off x="777240" y="2971799"/>
            <a:ext cx="3246120" cy="1143000"/>
          </a:xfrm>
          <a:prstGeom prst="rect">
            <a:avLst/>
          </a:prstGeom>
          <a:noFill/>
        </p:spPr>
        <p:txBody>
          <a:bodyPr wrap="square" anchor="t" lIns="0" rIns="0" tIns="0" bIns="0">
            <a:spAutoFit/>
          </a:bodyPr>
          <a:lstStyle/>
          <a:p>
            <a:pPr algn="ctr">
              <a:lnSpc>
                <a:spcPct val="155000"/>
              </a:lnSpc>
            </a:pPr>
            <a:r>
              <a:rPr sz="1100" b="0">
                <a:solidFill>
                  <a:srgbClr val="1A1A1A"/>
                </a:solidFill>
                <a:latin typeface="Hiragino Sans"/>
                <a:ea typeface="Hiragino Sans"/>
                <a:cs typeface="Hiragino Sans"/>
              </a:rPr>
              <a:t>LINE広告アカウントと</a:t>
            </a:r>
          </a:p>
          <a:p>
            <a:pPr algn="ctr">
              <a:lnSpc>
                <a:spcPct val="155000"/>
              </a:lnSpc>
            </a:pPr>
            <a:r>
              <a:rPr sz="1100" b="0">
                <a:solidFill>
                  <a:srgbClr val="1A1A1A"/>
                </a:solidFill>
                <a:latin typeface="Hiragino Sans"/>
                <a:ea typeface="Hiragino Sans"/>
                <a:cs typeface="Hiragino Sans"/>
              </a:rPr>
              <a:t>LINE for Business 管理画面の</a:t>
            </a:r>
          </a:p>
          <a:p>
            <a:pPr algn="ctr">
              <a:lnSpc>
                <a:spcPct val="155000"/>
              </a:lnSpc>
            </a:pPr>
            <a:r>
              <a:rPr sz="1100" b="0">
                <a:solidFill>
                  <a:srgbClr val="1A1A1A"/>
                </a:solidFill>
                <a:latin typeface="Hiragino Sans"/>
                <a:ea typeface="Hiragino Sans"/>
                <a:cs typeface="Hiragino Sans"/>
              </a:rPr>
              <a:t>権限確認</a:t>
            </a:r>
          </a:p>
        </p:txBody>
      </p:sp>
      <p:sp>
        <p:nvSpPr>
          <p:cNvPr id="14" name="Rounded Rectangle 13"/>
          <p:cNvSpPr/>
          <p:nvPr/>
        </p:nvSpPr>
        <p:spPr>
          <a:xfrm>
            <a:off x="4297680" y="1874519"/>
            <a:ext cx="3611880" cy="2286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80" y="1874519"/>
            <a:ext cx="3611880" cy="5029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0560" y="1993391"/>
            <a:ext cx="3246120" cy="274320"/>
          </a:xfrm>
          <a:prstGeom prst="rect">
            <a:avLst/>
          </a:prstGeom>
          <a:noFill/>
        </p:spPr>
        <p:txBody>
          <a:bodyPr wrap="square" anchor="t" lIns="0" rIns="0" tIns="0" bIns="0">
            <a:spAutoFit/>
          </a:bodyPr>
          <a:lstStyle/>
          <a:p>
            <a:pPr algn="ctr">
              <a:lnSpc>
                <a:spcPct val="115000"/>
              </a:lnSpc>
            </a:pPr>
            <a:r>
              <a:rPr sz="1200" b="1">
                <a:solidFill>
                  <a:srgbClr val="FFFFFF"/>
                </a:solidFill>
                <a:latin typeface="Helvetica Neue"/>
                <a:ea typeface="Helvetica Neue"/>
                <a:cs typeface="Helvetica Neue"/>
              </a:rPr>
              <a:t>STEP 2</a:t>
            </a:r>
          </a:p>
        </p:txBody>
      </p:sp>
      <p:sp>
        <p:nvSpPr>
          <p:cNvPr id="17" name="TextBox 16"/>
          <p:cNvSpPr txBox="1"/>
          <p:nvPr/>
        </p:nvSpPr>
        <p:spPr>
          <a:xfrm>
            <a:off x="4526280" y="2514599"/>
            <a:ext cx="3246120" cy="411480"/>
          </a:xfrm>
          <a:prstGeom prst="rect">
            <a:avLst/>
          </a:prstGeom>
          <a:noFill/>
        </p:spPr>
        <p:txBody>
          <a:bodyPr wrap="square" anchor="t" lIns="0" rIns="0" tIns="0" bIns="0">
            <a:spAutoFit/>
          </a:bodyPr>
          <a:lstStyle/>
          <a:p>
            <a:pPr algn="ctr">
              <a:lnSpc>
                <a:spcPct val="115000"/>
              </a:lnSpc>
            </a:pPr>
            <a:r>
              <a:rPr sz="1400" b="1">
                <a:solidFill>
                  <a:srgbClr val="0F2A4F"/>
                </a:solidFill>
                <a:latin typeface="Hiragino Sans"/>
                <a:ea typeface="Hiragino Sans"/>
                <a:cs typeface="Hiragino Sans"/>
              </a:rPr>
              <a:t>移行ツール利用</a:t>
            </a:r>
          </a:p>
        </p:txBody>
      </p:sp>
      <p:sp>
        <p:nvSpPr>
          <p:cNvPr id="18" name="TextBox 17"/>
          <p:cNvSpPr txBox="1"/>
          <p:nvPr/>
        </p:nvSpPr>
        <p:spPr>
          <a:xfrm>
            <a:off x="4526280" y="2971799"/>
            <a:ext cx="3246120" cy="1143000"/>
          </a:xfrm>
          <a:prstGeom prst="rect">
            <a:avLst/>
          </a:prstGeom>
          <a:noFill/>
        </p:spPr>
        <p:txBody>
          <a:bodyPr wrap="square" anchor="t" lIns="0" rIns="0" tIns="0" bIns="0">
            <a:spAutoFit/>
          </a:bodyPr>
          <a:lstStyle/>
          <a:p>
            <a:pPr algn="ctr">
              <a:lnSpc>
                <a:spcPct val="155000"/>
              </a:lnSpc>
            </a:pPr>
            <a:r>
              <a:rPr sz="1100" b="0">
                <a:solidFill>
                  <a:srgbClr val="1A1A1A"/>
                </a:solidFill>
                <a:latin typeface="Hiragino Sans"/>
                <a:ea typeface="Hiragino Sans"/>
                <a:cs typeface="Hiragino Sans"/>
              </a:rPr>
              <a:t>LINEヤフー公式の</a:t>
            </a:r>
          </a:p>
          <a:p>
            <a:pPr algn="ctr">
              <a:lnSpc>
                <a:spcPct val="155000"/>
              </a:lnSpc>
            </a:pPr>
            <a:r>
              <a:rPr sz="1100" b="0">
                <a:solidFill>
                  <a:srgbClr val="1A1A1A"/>
                </a:solidFill>
                <a:latin typeface="Hiragino Sans"/>
                <a:ea typeface="Hiragino Sans"/>
                <a:cs typeface="Hiragino Sans"/>
              </a:rPr>
              <a:t>移行ツール提供 (2026年早期)</a:t>
            </a:r>
          </a:p>
          <a:p>
            <a:pPr algn="ctr">
              <a:lnSpc>
                <a:spcPct val="155000"/>
              </a:lnSpc>
            </a:pPr>
            <a:r>
              <a:rPr sz="1100" b="0">
                <a:solidFill>
                  <a:srgbClr val="1A1A1A"/>
                </a:solidFill>
                <a:latin typeface="Hiragino Sans"/>
                <a:ea typeface="Hiragino Sans"/>
                <a:cs typeface="Hiragino Sans"/>
              </a:rPr>
              <a:t>手動移行も可</a:t>
            </a:r>
          </a:p>
        </p:txBody>
      </p:sp>
      <p:sp>
        <p:nvSpPr>
          <p:cNvPr id="19" name="Rounded Rectangle 18"/>
          <p:cNvSpPr/>
          <p:nvPr/>
        </p:nvSpPr>
        <p:spPr>
          <a:xfrm>
            <a:off x="8046720" y="1874519"/>
            <a:ext cx="3611880" cy="2286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6720" y="1874519"/>
            <a:ext cx="3611880" cy="5029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0" y="1993391"/>
            <a:ext cx="3246120" cy="274320"/>
          </a:xfrm>
          <a:prstGeom prst="rect">
            <a:avLst/>
          </a:prstGeom>
          <a:noFill/>
        </p:spPr>
        <p:txBody>
          <a:bodyPr wrap="square" anchor="t" lIns="0" rIns="0" tIns="0" bIns="0">
            <a:spAutoFit/>
          </a:bodyPr>
          <a:lstStyle/>
          <a:p>
            <a:pPr algn="ctr">
              <a:lnSpc>
                <a:spcPct val="115000"/>
              </a:lnSpc>
            </a:pPr>
            <a:r>
              <a:rPr sz="1200" b="1">
                <a:solidFill>
                  <a:srgbClr val="FFFFFF"/>
                </a:solidFill>
                <a:latin typeface="Helvetica Neue"/>
                <a:ea typeface="Helvetica Neue"/>
                <a:cs typeface="Helvetica Neue"/>
              </a:rPr>
              <a:t>STEP 3</a:t>
            </a:r>
          </a:p>
        </p:txBody>
      </p:sp>
      <p:sp>
        <p:nvSpPr>
          <p:cNvPr id="22" name="TextBox 21"/>
          <p:cNvSpPr txBox="1"/>
          <p:nvPr/>
        </p:nvSpPr>
        <p:spPr>
          <a:xfrm>
            <a:off x="8275320" y="2514599"/>
            <a:ext cx="3246120" cy="411480"/>
          </a:xfrm>
          <a:prstGeom prst="rect">
            <a:avLst/>
          </a:prstGeom>
          <a:noFill/>
        </p:spPr>
        <p:txBody>
          <a:bodyPr wrap="square" anchor="t" lIns="0" rIns="0" tIns="0" bIns="0">
            <a:spAutoFit/>
          </a:bodyPr>
          <a:lstStyle/>
          <a:p>
            <a:pPr algn="ctr">
              <a:lnSpc>
                <a:spcPct val="115000"/>
              </a:lnSpc>
            </a:pPr>
            <a:r>
              <a:rPr sz="1400" b="1">
                <a:solidFill>
                  <a:srgbClr val="0F2A4F"/>
                </a:solidFill>
                <a:latin typeface="Hiragino Sans"/>
                <a:ea typeface="Hiragino Sans"/>
                <a:cs typeface="Hiragino Sans"/>
              </a:rPr>
              <a:t>統合後 確認</a:t>
            </a:r>
          </a:p>
        </p:txBody>
      </p:sp>
      <p:sp>
        <p:nvSpPr>
          <p:cNvPr id="23" name="TextBox 22"/>
          <p:cNvSpPr txBox="1"/>
          <p:nvPr/>
        </p:nvSpPr>
        <p:spPr>
          <a:xfrm>
            <a:off x="8275320" y="2971799"/>
            <a:ext cx="3246120" cy="1143000"/>
          </a:xfrm>
          <a:prstGeom prst="rect">
            <a:avLst/>
          </a:prstGeom>
          <a:noFill/>
        </p:spPr>
        <p:txBody>
          <a:bodyPr wrap="square" anchor="t" lIns="0" rIns="0" tIns="0" bIns="0">
            <a:spAutoFit/>
          </a:bodyPr>
          <a:lstStyle/>
          <a:p>
            <a:pPr algn="ctr">
              <a:lnSpc>
                <a:spcPct val="155000"/>
              </a:lnSpc>
            </a:pPr>
            <a:r>
              <a:rPr sz="1100" b="0">
                <a:solidFill>
                  <a:srgbClr val="1A1A1A"/>
                </a:solidFill>
                <a:latin typeface="Hiragino Sans"/>
                <a:ea typeface="Hiragino Sans"/>
                <a:cs typeface="Hiragino Sans"/>
              </a:rPr>
              <a:t>新管理画面 (LINEヤフー広告)</a:t>
            </a:r>
          </a:p>
          <a:p>
            <a:pPr algn="ctr">
              <a:lnSpc>
                <a:spcPct val="155000"/>
              </a:lnSpc>
            </a:pPr>
            <a:r>
              <a:rPr sz="1100" b="0">
                <a:solidFill>
                  <a:srgbClr val="1A1A1A"/>
                </a:solidFill>
                <a:latin typeface="Hiragino Sans"/>
                <a:ea typeface="Hiragino Sans"/>
                <a:cs typeface="Hiragino Sans"/>
              </a:rPr>
              <a:t>で配信状況確認</a:t>
            </a:r>
          </a:p>
          <a:p>
            <a:pPr algn="ctr">
              <a:lnSpc>
                <a:spcPct val="155000"/>
              </a:lnSpc>
            </a:pPr>
            <a:r>
              <a:rPr sz="1100" b="0">
                <a:solidFill>
                  <a:srgbClr val="1A1A1A"/>
                </a:solidFill>
                <a:latin typeface="Hiragino Sans"/>
                <a:ea typeface="Hiragino Sans"/>
                <a:cs typeface="Hiragino Sans"/>
              </a:rPr>
              <a:t>ビジネスIDで一元管理</a:t>
            </a:r>
          </a:p>
        </p:txBody>
      </p:sp>
      <p:sp>
        <p:nvSpPr>
          <p:cNvPr id="24" name="Rounded Rectangle 23"/>
          <p:cNvSpPr/>
          <p:nvPr/>
        </p:nvSpPr>
        <p:spPr>
          <a:xfrm>
            <a:off x="548640" y="4434840"/>
            <a:ext cx="11109960" cy="192024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4572000"/>
            <a:ext cx="10058400" cy="320040"/>
          </a:xfrm>
          <a:prstGeom prst="rect">
            <a:avLst/>
          </a:prstGeom>
          <a:noFill/>
        </p:spPr>
        <p:txBody>
          <a:bodyPr wrap="square" anchor="t" lIns="0" rIns="0" tIns="0" bIns="0">
            <a:spAutoFit/>
          </a:bodyPr>
          <a:lstStyle/>
          <a:p>
            <a:pPr algn="l">
              <a:lnSpc>
                <a:spcPct val="115000"/>
              </a:lnSpc>
            </a:pPr>
            <a:r>
              <a:rPr sz="1200" b="1">
                <a:solidFill>
                  <a:srgbClr val="E87722"/>
                </a:solidFill>
                <a:latin typeface="Hiragino Sans"/>
                <a:ea typeface="Hiragino Sans"/>
                <a:cs typeface="Hiragino Sans"/>
              </a:rPr>
              <a:t>💡 副業代行で2026春に向けた行動</a:t>
            </a:r>
          </a:p>
        </p:txBody>
      </p:sp>
      <p:sp>
        <p:nvSpPr>
          <p:cNvPr id="26" name="TextBox 25"/>
          <p:cNvSpPr txBox="1"/>
          <p:nvPr/>
        </p:nvSpPr>
        <p:spPr>
          <a:xfrm>
            <a:off x="777240" y="4892040"/>
            <a:ext cx="10972800" cy="1417320"/>
          </a:xfrm>
          <a:prstGeom prst="rect">
            <a:avLst/>
          </a:prstGeom>
          <a:noFill/>
        </p:spPr>
        <p:txBody>
          <a:bodyPr wrap="square" anchor="t" lIns="0" rIns="0" tIns="0" bIns="0">
            <a:spAutoFit/>
          </a:bodyPr>
          <a:lstStyle/>
          <a:p>
            <a:pPr algn="l">
              <a:lnSpc>
                <a:spcPct val="155000"/>
              </a:lnSpc>
            </a:pPr>
            <a:r>
              <a:rPr sz="1100" b="0">
                <a:solidFill>
                  <a:srgbClr val="FFFFFF"/>
                </a:solidFill>
                <a:latin typeface="Hiragino Sans"/>
                <a:ea typeface="Hiragino Sans"/>
                <a:cs typeface="Hiragino Sans"/>
              </a:rPr>
              <a:t>• LINE広告クライアントには 2025年内に移行スケジュール案内</a:t>
            </a:r>
          </a:p>
          <a:p>
            <a:pPr algn="l">
              <a:lnSpc>
                <a:spcPct val="155000"/>
              </a:lnSpc>
            </a:pPr>
            <a:r>
              <a:rPr sz="1100" b="0">
                <a:solidFill>
                  <a:srgbClr val="FFFFFF"/>
                </a:solidFill>
                <a:latin typeface="Hiragino Sans"/>
                <a:ea typeface="Hiragino Sans"/>
                <a:cs typeface="Hiragino Sans"/>
              </a:rPr>
              <a:t>• Yahoo!広告クライアントは自動移行 — 運用継続のみ</a:t>
            </a:r>
          </a:p>
          <a:p>
            <a:pPr algn="l">
              <a:lnSpc>
                <a:spcPct val="155000"/>
              </a:lnSpc>
            </a:pPr>
            <a:r>
              <a:rPr sz="1100" b="0">
                <a:solidFill>
                  <a:srgbClr val="FFFFFF"/>
                </a:solidFill>
                <a:latin typeface="Hiragino Sans"/>
                <a:ea typeface="Hiragino Sans"/>
                <a:cs typeface="Hiragino Sans"/>
              </a:rPr>
              <a:t>• 両方使うクライアント = 統合後にキャンペーン構造を再設計 (在庫横断最適化)</a:t>
            </a:r>
          </a:p>
          <a:p>
            <a:pPr algn="l">
              <a:lnSpc>
                <a:spcPct val="155000"/>
              </a:lnSpc>
            </a:pPr>
            <a:r>
              <a:rPr sz="1100" b="0">
                <a:solidFill>
                  <a:srgbClr val="FFFFFF"/>
                </a:solidFill>
                <a:latin typeface="Hiragino Sans"/>
                <a:ea typeface="Hiragino Sans"/>
                <a:cs typeface="Hiragino Sans"/>
              </a:rPr>
              <a:t>• 提案資料 : 『2026春以降は LINEヤフー広告 = 国内94%リーチ』を訴求の中心に</a:t>
            </a:r>
          </a:p>
          <a:p>
            <a:pPr algn="l">
              <a:lnSpc>
                <a:spcPct val="155000"/>
              </a:lnSpc>
            </a:pPr>
            <a:r>
              <a:rPr sz="1100" b="0">
                <a:solidFill>
                  <a:srgbClr val="FFFFFF"/>
                </a:solidFill>
                <a:latin typeface="Hiragino Sans"/>
                <a:ea typeface="Hiragino Sans"/>
                <a:cs typeface="Hiragino Sans"/>
              </a:rPr>
              <a:t>• 統合後初の Test キャンペーン 設計準備 (CTR/CV測定の基準値を取得)</a:t>
            </a:r>
          </a:p>
        </p:txBody>
      </p:sp>
      <p:sp>
        <p:nvSpPr>
          <p:cNvPr id="27" name="TextBox 26"/>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LINE広告 業界別ユースケース</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LINE広告が他媒体より強い業種</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P122 / 250</a:t>
            </a:r>
          </a:p>
        </p:txBody>
      </p:sp>
      <p:sp>
        <p:nvSpPr>
          <p:cNvPr id="8" name="Rounded Rectangle 7"/>
          <p:cNvSpPr/>
          <p:nvPr/>
        </p:nvSpPr>
        <p:spPr>
          <a:xfrm>
            <a:off x="548640" y="1417320"/>
            <a:ext cx="3611880" cy="14173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14173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581912"/>
            <a:ext cx="3246120" cy="36576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飲食 / 美容</a:t>
            </a:r>
          </a:p>
        </p:txBody>
      </p:sp>
      <p:sp>
        <p:nvSpPr>
          <p:cNvPr id="11" name="TextBox 10"/>
          <p:cNvSpPr txBox="1"/>
          <p:nvPr/>
        </p:nvSpPr>
        <p:spPr>
          <a:xfrm>
            <a:off x="777240" y="2011680"/>
            <a:ext cx="3246120" cy="77724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公式アカウント友だち追加→クーポン配布</a:t>
            </a:r>
          </a:p>
        </p:txBody>
      </p:sp>
      <p:sp>
        <p:nvSpPr>
          <p:cNvPr id="12" name="Rounded Rectangle 11"/>
          <p:cNvSpPr/>
          <p:nvPr/>
        </p:nvSpPr>
        <p:spPr>
          <a:xfrm>
            <a:off x="4297680" y="1417320"/>
            <a:ext cx="3611880" cy="14173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1417320"/>
            <a:ext cx="91440" cy="14173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6280" y="1581912"/>
            <a:ext cx="3246120" cy="36576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金融 / 保険</a:t>
            </a:r>
          </a:p>
        </p:txBody>
      </p:sp>
      <p:sp>
        <p:nvSpPr>
          <p:cNvPr id="15" name="TextBox 14"/>
          <p:cNvSpPr txBox="1"/>
          <p:nvPr/>
        </p:nvSpPr>
        <p:spPr>
          <a:xfrm>
            <a:off x="4526280" y="2011680"/>
            <a:ext cx="3246120" cy="77724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高単価商材の比較検討層へ広範リーチ</a:t>
            </a:r>
          </a:p>
        </p:txBody>
      </p:sp>
      <p:sp>
        <p:nvSpPr>
          <p:cNvPr id="16" name="Rounded Rectangle 15"/>
          <p:cNvSpPr/>
          <p:nvPr/>
        </p:nvSpPr>
        <p:spPr>
          <a:xfrm>
            <a:off x="8046720" y="1417320"/>
            <a:ext cx="3611880" cy="14173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6720" y="1417320"/>
            <a:ext cx="91440" cy="14173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75320" y="1581912"/>
            <a:ext cx="3246120" cy="36576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教育 / 資格</a:t>
            </a:r>
          </a:p>
        </p:txBody>
      </p:sp>
      <p:sp>
        <p:nvSpPr>
          <p:cNvPr id="19" name="TextBox 18"/>
          <p:cNvSpPr txBox="1"/>
          <p:nvPr/>
        </p:nvSpPr>
        <p:spPr>
          <a:xfrm>
            <a:off x="8275320" y="2011680"/>
            <a:ext cx="3246120" cy="77724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学習サービスの初回トライアル獲得</a:t>
            </a:r>
          </a:p>
        </p:txBody>
      </p:sp>
      <p:sp>
        <p:nvSpPr>
          <p:cNvPr id="20" name="Rounded Rectangle 19"/>
          <p:cNvSpPr/>
          <p:nvPr/>
        </p:nvSpPr>
        <p:spPr>
          <a:xfrm>
            <a:off x="548640" y="2971800"/>
            <a:ext cx="3611880" cy="14173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2971800"/>
            <a:ext cx="91440" cy="14173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3136392"/>
            <a:ext cx="3246120" cy="36576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不動産 / 引越</a:t>
            </a:r>
          </a:p>
        </p:txBody>
      </p:sp>
      <p:sp>
        <p:nvSpPr>
          <p:cNvPr id="23" name="TextBox 22"/>
          <p:cNvSpPr txBox="1"/>
          <p:nvPr/>
        </p:nvSpPr>
        <p:spPr>
          <a:xfrm>
            <a:off x="777240" y="3566160"/>
            <a:ext cx="3246120" cy="77724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ライフイベント連動配信</a:t>
            </a:r>
          </a:p>
        </p:txBody>
      </p:sp>
      <p:sp>
        <p:nvSpPr>
          <p:cNvPr id="24" name="Rounded Rectangle 23"/>
          <p:cNvSpPr/>
          <p:nvPr/>
        </p:nvSpPr>
        <p:spPr>
          <a:xfrm>
            <a:off x="4297680" y="2971800"/>
            <a:ext cx="3611880" cy="14173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97680" y="2971800"/>
            <a:ext cx="91440" cy="14173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26280" y="3136392"/>
            <a:ext cx="3246120" cy="36576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EC / D2C</a:t>
            </a:r>
          </a:p>
        </p:txBody>
      </p:sp>
      <p:sp>
        <p:nvSpPr>
          <p:cNvPr id="27" name="TextBox 26"/>
          <p:cNvSpPr txBox="1"/>
          <p:nvPr/>
        </p:nvSpPr>
        <p:spPr>
          <a:xfrm>
            <a:off x="4526280" y="3566160"/>
            <a:ext cx="3246120" cy="77724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新商品告知 + 友だち向けクーポン</a:t>
            </a:r>
          </a:p>
        </p:txBody>
      </p:sp>
      <p:sp>
        <p:nvSpPr>
          <p:cNvPr id="28" name="Rounded Rectangle 27"/>
          <p:cNvSpPr/>
          <p:nvPr/>
        </p:nvSpPr>
        <p:spPr>
          <a:xfrm>
            <a:off x="8046720" y="2971800"/>
            <a:ext cx="3611880" cy="14173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46720" y="2971800"/>
            <a:ext cx="91440" cy="14173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75320" y="3136392"/>
            <a:ext cx="3246120" cy="36576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BtoB / 士業</a:t>
            </a:r>
          </a:p>
        </p:txBody>
      </p:sp>
      <p:sp>
        <p:nvSpPr>
          <p:cNvPr id="31" name="TextBox 30"/>
          <p:cNvSpPr txBox="1"/>
          <p:nvPr/>
        </p:nvSpPr>
        <p:spPr>
          <a:xfrm>
            <a:off x="8275320" y="3566160"/>
            <a:ext cx="3246120" cy="77724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経営者層の認知獲得 + 公式アカウント</a:t>
            </a:r>
          </a:p>
        </p:txBody>
      </p:sp>
      <p:sp>
        <p:nvSpPr>
          <p:cNvPr id="32" name="Rounded Rectangle 31"/>
          <p:cNvSpPr/>
          <p:nvPr/>
        </p:nvSpPr>
        <p:spPr>
          <a:xfrm>
            <a:off x="548640" y="4617720"/>
            <a:ext cx="11109960" cy="173736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7240" y="4754880"/>
            <a:ext cx="100584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 LINE広告 + 公式アカウント の組合せが最強</a:t>
            </a:r>
          </a:p>
        </p:txBody>
      </p:sp>
      <p:sp>
        <p:nvSpPr>
          <p:cNvPr id="34" name="TextBox 33"/>
          <p:cNvSpPr txBox="1"/>
          <p:nvPr/>
        </p:nvSpPr>
        <p:spPr>
          <a:xfrm>
            <a:off x="777240" y="5074920"/>
            <a:ext cx="10972800" cy="1280160"/>
          </a:xfrm>
          <a:prstGeom prst="rect">
            <a:avLst/>
          </a:prstGeom>
          <a:noFill/>
        </p:spPr>
        <p:txBody>
          <a:bodyPr wrap="square" anchor="t" lIns="0" rIns="0" tIns="0" bIns="0">
            <a:spAutoFit/>
          </a:bodyPr>
          <a:lstStyle/>
          <a:p>
            <a:pPr algn="l">
              <a:lnSpc>
                <a:spcPct val="155000"/>
              </a:lnSpc>
            </a:pPr>
            <a:r>
              <a:rPr sz="1100" b="0">
                <a:solidFill>
                  <a:srgbClr val="1A1A1A"/>
                </a:solidFill>
                <a:latin typeface="Hiragino Sans"/>
                <a:ea typeface="Hiragino Sans"/>
                <a:cs typeface="Hiragino Sans"/>
              </a:rPr>
              <a:t>• 上記6業種 + 飲食店 / 美容室 のローカル業種ではLINE広告が必須</a:t>
            </a:r>
          </a:p>
          <a:p>
            <a:pPr algn="l">
              <a:lnSpc>
                <a:spcPct val="155000"/>
              </a:lnSpc>
            </a:pPr>
            <a:r>
              <a:rPr sz="1100" b="0">
                <a:solidFill>
                  <a:srgbClr val="1A1A1A"/>
                </a:solidFill>
                <a:latin typeface="Hiragino Sans"/>
                <a:ea typeface="Hiragino Sans"/>
                <a:cs typeface="Hiragino Sans"/>
              </a:rPr>
              <a:t>• LINE広告で『友だち追加』→ メッセージ配信で『再来店促進』 = LTV最大化</a:t>
            </a:r>
          </a:p>
          <a:p>
            <a:pPr algn="l">
              <a:lnSpc>
                <a:spcPct val="155000"/>
              </a:lnSpc>
            </a:pPr>
            <a:r>
              <a:rPr sz="1100" b="0">
                <a:solidFill>
                  <a:srgbClr val="1A1A1A"/>
                </a:solidFill>
                <a:latin typeface="Hiragino Sans"/>
                <a:ea typeface="Hiragino Sans"/>
                <a:cs typeface="Hiragino Sans"/>
              </a:rPr>
              <a:t>• 副業代行 : 単発の広告運用だけでなく『公式アカウント運用込み』の月額提案で粘着</a:t>
            </a:r>
          </a:p>
          <a:p>
            <a:pPr algn="l">
              <a:lnSpc>
                <a:spcPct val="155000"/>
              </a:lnSpc>
            </a:pPr>
            <a:r>
              <a:rPr sz="1100" b="0">
                <a:solidFill>
                  <a:srgbClr val="1A1A1A"/>
                </a:solidFill>
                <a:latin typeface="Hiragino Sans"/>
                <a:ea typeface="Hiragino Sans"/>
                <a:cs typeface="Hiragino Sans"/>
              </a:rPr>
              <a:t>• 提案単価 : 広告運用 5万 + 公式アカウント運用 5万 = 月額10万円前後</a:t>
            </a:r>
          </a:p>
        </p:txBody>
      </p:sp>
      <p:sp>
        <p:nvSpPr>
          <p:cNvPr id="35" name="TextBox 34"/>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LINE広告 : 鉄板運用メソッド 2026年版</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新規LINE案件で最初の30日にやること</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P123 / 250</a:t>
            </a:r>
          </a:p>
        </p:txBody>
      </p:sp>
      <p:sp>
        <p:nvSpPr>
          <p:cNvPr id="8" name="Rounded Rectangle 7"/>
          <p:cNvSpPr/>
          <p:nvPr/>
        </p:nvSpPr>
        <p:spPr>
          <a:xfrm>
            <a:off x="548640" y="1371600"/>
            <a:ext cx="11109960" cy="11887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71600"/>
            <a:ext cx="137160" cy="11887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508760"/>
            <a:ext cx="10515600" cy="32004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Day 0-3 : 公式アカウント + 計測</a:t>
            </a:r>
          </a:p>
        </p:txBody>
      </p:sp>
      <p:sp>
        <p:nvSpPr>
          <p:cNvPr id="11" name="TextBox 10"/>
          <p:cNvSpPr txBox="1"/>
          <p:nvPr/>
        </p:nvSpPr>
        <p:spPr>
          <a:xfrm>
            <a:off x="868680" y="182880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12" name="TextBox 11"/>
          <p:cNvSpPr txBox="1"/>
          <p:nvPr/>
        </p:nvSpPr>
        <p:spPr>
          <a:xfrm>
            <a:off x="1097280" y="185623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LINE公式アカウント開設/権限取得</a:t>
            </a:r>
          </a:p>
        </p:txBody>
      </p:sp>
      <p:sp>
        <p:nvSpPr>
          <p:cNvPr id="13" name="TextBox 12"/>
          <p:cNvSpPr txBox="1"/>
          <p:nvPr/>
        </p:nvSpPr>
        <p:spPr>
          <a:xfrm>
            <a:off x="6309360" y="182880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14" name="TextBox 13"/>
          <p:cNvSpPr txBox="1"/>
          <p:nvPr/>
        </p:nvSpPr>
        <p:spPr>
          <a:xfrm>
            <a:off x="6537960" y="185623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LINE Tag 設置 (全ページ)</a:t>
            </a:r>
          </a:p>
        </p:txBody>
      </p:sp>
      <p:sp>
        <p:nvSpPr>
          <p:cNvPr id="15" name="TextBox 14"/>
          <p:cNvSpPr txBox="1"/>
          <p:nvPr/>
        </p:nvSpPr>
        <p:spPr>
          <a:xfrm>
            <a:off x="868680" y="214884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16" name="TextBox 15"/>
          <p:cNvSpPr txBox="1"/>
          <p:nvPr/>
        </p:nvSpPr>
        <p:spPr>
          <a:xfrm>
            <a:off x="1097280" y="217627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Conversion API 設定 (該当時)</a:t>
            </a:r>
          </a:p>
        </p:txBody>
      </p:sp>
      <p:sp>
        <p:nvSpPr>
          <p:cNvPr id="17" name="TextBox 16"/>
          <p:cNvSpPr txBox="1"/>
          <p:nvPr/>
        </p:nvSpPr>
        <p:spPr>
          <a:xfrm>
            <a:off x="6309360" y="214884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18" name="TextBox 17"/>
          <p:cNvSpPr txBox="1"/>
          <p:nvPr/>
        </p:nvSpPr>
        <p:spPr>
          <a:xfrm>
            <a:off x="6537960" y="217627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友だち追加URL/QR 設計</a:t>
            </a:r>
          </a:p>
        </p:txBody>
      </p:sp>
      <p:sp>
        <p:nvSpPr>
          <p:cNvPr id="19" name="Rounded Rectangle 18"/>
          <p:cNvSpPr/>
          <p:nvPr/>
        </p:nvSpPr>
        <p:spPr>
          <a:xfrm>
            <a:off x="548640" y="2651760"/>
            <a:ext cx="11109960" cy="11887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651760"/>
            <a:ext cx="137160" cy="11887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2788920"/>
            <a:ext cx="10515600" cy="32004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Day 4-7 : キャンペーン構造</a:t>
            </a:r>
          </a:p>
        </p:txBody>
      </p:sp>
      <p:sp>
        <p:nvSpPr>
          <p:cNvPr id="22" name="TextBox 21"/>
          <p:cNvSpPr txBox="1"/>
          <p:nvPr/>
        </p:nvSpPr>
        <p:spPr>
          <a:xfrm>
            <a:off x="868680" y="310896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23" name="TextBox 22"/>
          <p:cNvSpPr txBox="1"/>
          <p:nvPr/>
        </p:nvSpPr>
        <p:spPr>
          <a:xfrm>
            <a:off x="1097280" y="313639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友だち追加広告 (LAP)</a:t>
            </a:r>
          </a:p>
        </p:txBody>
      </p:sp>
      <p:sp>
        <p:nvSpPr>
          <p:cNvPr id="24" name="TextBox 23"/>
          <p:cNvSpPr txBox="1"/>
          <p:nvPr/>
        </p:nvSpPr>
        <p:spPr>
          <a:xfrm>
            <a:off x="6309360" y="310896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25" name="TextBox 24"/>
          <p:cNvSpPr txBox="1"/>
          <p:nvPr/>
        </p:nvSpPr>
        <p:spPr>
          <a:xfrm>
            <a:off x="6537960" y="313639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Webサイト誘導 (LAP / 計測込み)</a:t>
            </a:r>
          </a:p>
        </p:txBody>
      </p:sp>
      <p:sp>
        <p:nvSpPr>
          <p:cNvPr id="26" name="TextBox 25"/>
          <p:cNvSpPr txBox="1"/>
          <p:nvPr/>
        </p:nvSpPr>
        <p:spPr>
          <a:xfrm>
            <a:off x="868680" y="342900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27" name="TextBox 26"/>
          <p:cNvSpPr txBox="1"/>
          <p:nvPr/>
        </p:nvSpPr>
        <p:spPr>
          <a:xfrm>
            <a:off x="1097280" y="345643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LINE NEWS + VOOM 配信</a:t>
            </a:r>
          </a:p>
        </p:txBody>
      </p:sp>
      <p:sp>
        <p:nvSpPr>
          <p:cNvPr id="28" name="TextBox 27"/>
          <p:cNvSpPr txBox="1"/>
          <p:nvPr/>
        </p:nvSpPr>
        <p:spPr>
          <a:xfrm>
            <a:off x="6309360" y="342900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29" name="TextBox 28"/>
          <p:cNvSpPr txBox="1"/>
          <p:nvPr/>
        </p:nvSpPr>
        <p:spPr>
          <a:xfrm>
            <a:off x="6537960" y="345643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Custom Audience アップロード</a:t>
            </a:r>
          </a:p>
        </p:txBody>
      </p:sp>
      <p:sp>
        <p:nvSpPr>
          <p:cNvPr id="30" name="Rounded Rectangle 29"/>
          <p:cNvSpPr/>
          <p:nvPr/>
        </p:nvSpPr>
        <p:spPr>
          <a:xfrm>
            <a:off x="548640" y="3931920"/>
            <a:ext cx="11109960" cy="11887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8640" y="3931920"/>
            <a:ext cx="137160" cy="11887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68680" y="4069080"/>
            <a:ext cx="10515600" cy="32004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Day 8-21 : 学習期間</a:t>
            </a:r>
          </a:p>
        </p:txBody>
      </p:sp>
      <p:sp>
        <p:nvSpPr>
          <p:cNvPr id="33" name="TextBox 32"/>
          <p:cNvSpPr txBox="1"/>
          <p:nvPr/>
        </p:nvSpPr>
        <p:spPr>
          <a:xfrm>
            <a:off x="868680" y="438912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34" name="TextBox 33"/>
          <p:cNvSpPr txBox="1"/>
          <p:nvPr/>
        </p:nvSpPr>
        <p:spPr>
          <a:xfrm>
            <a:off x="1097280" y="441655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目標CPA / CPF 自動入札</a:t>
            </a:r>
          </a:p>
        </p:txBody>
      </p:sp>
      <p:sp>
        <p:nvSpPr>
          <p:cNvPr id="35" name="TextBox 34"/>
          <p:cNvSpPr txBox="1"/>
          <p:nvPr/>
        </p:nvSpPr>
        <p:spPr>
          <a:xfrm>
            <a:off x="6309360" y="438912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36" name="TextBox 35"/>
          <p:cNvSpPr txBox="1"/>
          <p:nvPr/>
        </p:nvSpPr>
        <p:spPr>
          <a:xfrm>
            <a:off x="6537960" y="441655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クリエイティブ多様化 (静止画+動画)</a:t>
            </a:r>
          </a:p>
        </p:txBody>
      </p:sp>
      <p:sp>
        <p:nvSpPr>
          <p:cNvPr id="37" name="TextBox 36"/>
          <p:cNvSpPr txBox="1"/>
          <p:nvPr/>
        </p:nvSpPr>
        <p:spPr>
          <a:xfrm>
            <a:off x="868680" y="470916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38" name="TextBox 37"/>
          <p:cNvSpPr txBox="1"/>
          <p:nvPr/>
        </p:nvSpPr>
        <p:spPr>
          <a:xfrm>
            <a:off x="1097280" y="473659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メッセージ配信は週1回でテスト</a:t>
            </a:r>
          </a:p>
        </p:txBody>
      </p:sp>
      <p:sp>
        <p:nvSpPr>
          <p:cNvPr id="39" name="TextBox 38"/>
          <p:cNvSpPr txBox="1"/>
          <p:nvPr/>
        </p:nvSpPr>
        <p:spPr>
          <a:xfrm>
            <a:off x="6309360" y="470916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40" name="TextBox 39"/>
          <p:cNvSpPr txBox="1"/>
          <p:nvPr/>
        </p:nvSpPr>
        <p:spPr>
          <a:xfrm>
            <a:off x="6537960" y="473659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リターゲティングセグメント拡張</a:t>
            </a:r>
          </a:p>
        </p:txBody>
      </p:sp>
      <p:sp>
        <p:nvSpPr>
          <p:cNvPr id="41" name="Rounded Rectangle 40"/>
          <p:cNvSpPr/>
          <p:nvPr/>
        </p:nvSpPr>
        <p:spPr>
          <a:xfrm>
            <a:off x="548640" y="5212080"/>
            <a:ext cx="11109960" cy="11887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48640" y="5212080"/>
            <a:ext cx="137160" cy="11887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68680" y="5349240"/>
            <a:ext cx="10515600" cy="32004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Day 22-30 : 最適化 + レポート</a:t>
            </a:r>
          </a:p>
        </p:txBody>
      </p:sp>
      <p:sp>
        <p:nvSpPr>
          <p:cNvPr id="44" name="TextBox 43"/>
          <p:cNvSpPr txBox="1"/>
          <p:nvPr/>
        </p:nvSpPr>
        <p:spPr>
          <a:xfrm>
            <a:off x="868680" y="566928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45" name="TextBox 44"/>
          <p:cNvSpPr txBox="1"/>
          <p:nvPr/>
        </p:nvSpPr>
        <p:spPr>
          <a:xfrm>
            <a:off x="1097280" y="569671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クリエイティブ Best/Low 入替</a:t>
            </a:r>
          </a:p>
        </p:txBody>
      </p:sp>
      <p:sp>
        <p:nvSpPr>
          <p:cNvPr id="46" name="TextBox 45"/>
          <p:cNvSpPr txBox="1"/>
          <p:nvPr/>
        </p:nvSpPr>
        <p:spPr>
          <a:xfrm>
            <a:off x="6309360" y="566928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47" name="TextBox 46"/>
          <p:cNvSpPr txBox="1"/>
          <p:nvPr/>
        </p:nvSpPr>
        <p:spPr>
          <a:xfrm>
            <a:off x="6537960" y="569671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公式アカウント友だち数 + 配信効果分析</a:t>
            </a:r>
          </a:p>
        </p:txBody>
      </p:sp>
      <p:sp>
        <p:nvSpPr>
          <p:cNvPr id="48" name="TextBox 47"/>
          <p:cNvSpPr txBox="1"/>
          <p:nvPr/>
        </p:nvSpPr>
        <p:spPr>
          <a:xfrm>
            <a:off x="868680" y="598932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49" name="TextBox 48"/>
          <p:cNvSpPr txBox="1"/>
          <p:nvPr/>
        </p:nvSpPr>
        <p:spPr>
          <a:xfrm>
            <a:off x="1097280" y="601675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セグメント別メッセージ配信戦略</a:t>
            </a:r>
          </a:p>
        </p:txBody>
      </p:sp>
      <p:sp>
        <p:nvSpPr>
          <p:cNvPr id="50" name="TextBox 49"/>
          <p:cNvSpPr txBox="1"/>
          <p:nvPr/>
        </p:nvSpPr>
        <p:spPr>
          <a:xfrm>
            <a:off x="6309360" y="598932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51" name="TextBox 50"/>
          <p:cNvSpPr txBox="1"/>
          <p:nvPr/>
        </p:nvSpPr>
        <p:spPr>
          <a:xfrm>
            <a:off x="6537960" y="601675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月次レポート + 2026春統合準備</a:t>
            </a:r>
          </a:p>
        </p:txBody>
      </p:sp>
      <p:sp>
        <p:nvSpPr>
          <p:cNvPr id="52" name="TextBox 51"/>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LINE pitfalls + Part 3-D まとめ</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副業代行で『LINE あるある』 + 次章へ</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P124 / 250</a:t>
            </a:r>
          </a:p>
        </p:txBody>
      </p:sp>
      <p:sp>
        <p:nvSpPr>
          <p:cNvPr id="8" name="Rounded Rectangle 7"/>
          <p:cNvSpPr/>
          <p:nvPr/>
        </p:nvSpPr>
        <p:spPr>
          <a:xfrm>
            <a:off x="548640" y="1325880"/>
            <a:ext cx="5440680" cy="10972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25880"/>
            <a:ext cx="91440" cy="1097280"/>
          </a:xfrm>
          <a:prstGeom prst="rect">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63040"/>
            <a:ext cx="457200" cy="320040"/>
          </a:xfrm>
          <a:prstGeom prst="rect">
            <a:avLst/>
          </a:prstGeom>
          <a:noFill/>
        </p:spPr>
        <p:txBody>
          <a:bodyPr wrap="square" anchor="t" lIns="0" rIns="0" tIns="0" bIns="0">
            <a:spAutoFit/>
          </a:bodyPr>
          <a:lstStyle/>
          <a:p>
            <a:pPr algn="l">
              <a:lnSpc>
                <a:spcPct val="115000"/>
              </a:lnSpc>
            </a:pPr>
            <a:r>
              <a:rPr sz="1600" b="1">
                <a:solidFill>
                  <a:srgbClr val="C6452D"/>
                </a:solidFill>
                <a:latin typeface="Hiragino Sans"/>
                <a:ea typeface="Hiragino Sans"/>
                <a:cs typeface="Hiragino Sans"/>
              </a:rPr>
              <a:t>✗</a:t>
            </a:r>
          </a:p>
        </p:txBody>
      </p:sp>
      <p:sp>
        <p:nvSpPr>
          <p:cNvPr id="11" name="TextBox 10"/>
          <p:cNvSpPr txBox="1"/>
          <p:nvPr/>
        </p:nvSpPr>
        <p:spPr>
          <a:xfrm>
            <a:off x="1188720" y="1463040"/>
            <a:ext cx="4663440" cy="36576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公式アカウント連携無視</a:t>
            </a:r>
          </a:p>
        </p:txBody>
      </p:sp>
      <p:sp>
        <p:nvSpPr>
          <p:cNvPr id="12" name="TextBox 11"/>
          <p:cNvSpPr txBox="1"/>
          <p:nvPr/>
        </p:nvSpPr>
        <p:spPr>
          <a:xfrm>
            <a:off x="777240" y="1874520"/>
            <a:ext cx="5074920" cy="502920"/>
          </a:xfrm>
          <a:prstGeom prst="rect">
            <a:avLst/>
          </a:prstGeom>
          <a:noFill/>
        </p:spPr>
        <p:txBody>
          <a:bodyPr wrap="square" anchor="t" lIns="0" rIns="0" tIns="0" bIns="0">
            <a:spAutoFit/>
          </a:bodyPr>
          <a:lstStyle/>
          <a:p>
            <a:pPr algn="l">
              <a:lnSpc>
                <a:spcPct val="145000"/>
              </a:lnSpc>
            </a:pPr>
            <a:r>
              <a:rPr sz="1000" b="0">
                <a:solidFill>
                  <a:srgbClr val="1A1A1A"/>
                </a:solidFill>
                <a:latin typeface="Hiragino Sans"/>
                <a:ea typeface="Hiragino Sans"/>
                <a:cs typeface="Hiragino Sans"/>
              </a:rPr>
              <a:t>広告の費用対効果が低くなる → 友だち追加+メッセージ配信で資産化</a:t>
            </a:r>
          </a:p>
        </p:txBody>
      </p:sp>
      <p:sp>
        <p:nvSpPr>
          <p:cNvPr id="13" name="Rounded Rectangle 12"/>
          <p:cNvSpPr/>
          <p:nvPr/>
        </p:nvSpPr>
        <p:spPr>
          <a:xfrm>
            <a:off x="6172200" y="1325880"/>
            <a:ext cx="5440680" cy="10972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1325880"/>
            <a:ext cx="91440" cy="1097280"/>
          </a:xfrm>
          <a:prstGeom prst="rect">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463040"/>
            <a:ext cx="457200" cy="320040"/>
          </a:xfrm>
          <a:prstGeom prst="rect">
            <a:avLst/>
          </a:prstGeom>
          <a:noFill/>
        </p:spPr>
        <p:txBody>
          <a:bodyPr wrap="square" anchor="t" lIns="0" rIns="0" tIns="0" bIns="0">
            <a:spAutoFit/>
          </a:bodyPr>
          <a:lstStyle/>
          <a:p>
            <a:pPr algn="l">
              <a:lnSpc>
                <a:spcPct val="115000"/>
              </a:lnSpc>
            </a:pPr>
            <a:r>
              <a:rPr sz="1600" b="1">
                <a:solidFill>
                  <a:srgbClr val="C6452D"/>
                </a:solidFill>
                <a:latin typeface="Hiragino Sans"/>
                <a:ea typeface="Hiragino Sans"/>
                <a:cs typeface="Hiragino Sans"/>
              </a:rPr>
              <a:t>✗</a:t>
            </a:r>
          </a:p>
        </p:txBody>
      </p:sp>
      <p:sp>
        <p:nvSpPr>
          <p:cNvPr id="16" name="TextBox 15"/>
          <p:cNvSpPr txBox="1"/>
          <p:nvPr/>
        </p:nvSpPr>
        <p:spPr>
          <a:xfrm>
            <a:off x="6812280" y="1463040"/>
            <a:ext cx="4663440" cy="36576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Yahoo!広告と分断運用</a:t>
            </a:r>
          </a:p>
        </p:txBody>
      </p:sp>
      <p:sp>
        <p:nvSpPr>
          <p:cNvPr id="17" name="TextBox 16"/>
          <p:cNvSpPr txBox="1"/>
          <p:nvPr/>
        </p:nvSpPr>
        <p:spPr>
          <a:xfrm>
            <a:off x="6400800" y="1874520"/>
            <a:ext cx="5074920" cy="502920"/>
          </a:xfrm>
          <a:prstGeom prst="rect">
            <a:avLst/>
          </a:prstGeom>
          <a:noFill/>
        </p:spPr>
        <p:txBody>
          <a:bodyPr wrap="square" anchor="t" lIns="0" rIns="0" tIns="0" bIns="0">
            <a:spAutoFit/>
          </a:bodyPr>
          <a:lstStyle/>
          <a:p>
            <a:pPr algn="l">
              <a:lnSpc>
                <a:spcPct val="145000"/>
              </a:lnSpc>
            </a:pPr>
            <a:r>
              <a:rPr sz="1000" b="0">
                <a:solidFill>
                  <a:srgbClr val="1A1A1A"/>
                </a:solidFill>
                <a:latin typeface="Hiragino Sans"/>
                <a:ea typeface="Hiragino Sans"/>
                <a:cs typeface="Hiragino Sans"/>
              </a:rPr>
              <a:t>リーチに重複・無駄発生 → 2026春統合に向けて連携設計</a:t>
            </a:r>
          </a:p>
        </p:txBody>
      </p:sp>
      <p:sp>
        <p:nvSpPr>
          <p:cNvPr id="18" name="Rounded Rectangle 17"/>
          <p:cNvSpPr/>
          <p:nvPr/>
        </p:nvSpPr>
        <p:spPr>
          <a:xfrm>
            <a:off x="548640" y="2560320"/>
            <a:ext cx="5440680" cy="10972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2560320"/>
            <a:ext cx="91440" cy="1097280"/>
          </a:xfrm>
          <a:prstGeom prst="rect">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2697480"/>
            <a:ext cx="457200" cy="320040"/>
          </a:xfrm>
          <a:prstGeom prst="rect">
            <a:avLst/>
          </a:prstGeom>
          <a:noFill/>
        </p:spPr>
        <p:txBody>
          <a:bodyPr wrap="square" anchor="t" lIns="0" rIns="0" tIns="0" bIns="0">
            <a:spAutoFit/>
          </a:bodyPr>
          <a:lstStyle/>
          <a:p>
            <a:pPr algn="l">
              <a:lnSpc>
                <a:spcPct val="115000"/>
              </a:lnSpc>
            </a:pPr>
            <a:r>
              <a:rPr sz="1600" b="1">
                <a:solidFill>
                  <a:srgbClr val="C6452D"/>
                </a:solidFill>
                <a:latin typeface="Hiragino Sans"/>
                <a:ea typeface="Hiragino Sans"/>
                <a:cs typeface="Hiragino Sans"/>
              </a:rPr>
              <a:t>✗</a:t>
            </a:r>
          </a:p>
        </p:txBody>
      </p:sp>
      <p:sp>
        <p:nvSpPr>
          <p:cNvPr id="21" name="TextBox 20"/>
          <p:cNvSpPr txBox="1"/>
          <p:nvPr/>
        </p:nvSpPr>
        <p:spPr>
          <a:xfrm>
            <a:off x="1188720" y="2697480"/>
            <a:ext cx="4663440" cy="36576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ターゲティングを細かく</a:t>
            </a:r>
          </a:p>
        </p:txBody>
      </p:sp>
      <p:sp>
        <p:nvSpPr>
          <p:cNvPr id="22" name="TextBox 21"/>
          <p:cNvSpPr txBox="1"/>
          <p:nvPr/>
        </p:nvSpPr>
        <p:spPr>
          <a:xfrm>
            <a:off x="777240" y="3108960"/>
            <a:ext cx="5074920" cy="502920"/>
          </a:xfrm>
          <a:prstGeom prst="rect">
            <a:avLst/>
          </a:prstGeom>
          <a:noFill/>
        </p:spPr>
        <p:txBody>
          <a:bodyPr wrap="square" anchor="t" lIns="0" rIns="0" tIns="0" bIns="0">
            <a:spAutoFit/>
          </a:bodyPr>
          <a:lstStyle/>
          <a:p>
            <a:pPr algn="l">
              <a:lnSpc>
                <a:spcPct val="145000"/>
              </a:lnSpc>
            </a:pPr>
            <a:r>
              <a:rPr sz="1000" b="0">
                <a:solidFill>
                  <a:srgbClr val="1A1A1A"/>
                </a:solidFill>
                <a:latin typeface="Hiragino Sans"/>
                <a:ea typeface="Hiragino Sans"/>
                <a:cs typeface="Hiragino Sans"/>
              </a:rPr>
              <a:t>AI最適化が効きづらい → みなし属性 + Custom + 自動入札</a:t>
            </a:r>
          </a:p>
        </p:txBody>
      </p:sp>
      <p:sp>
        <p:nvSpPr>
          <p:cNvPr id="23" name="Rounded Rectangle 22"/>
          <p:cNvSpPr/>
          <p:nvPr/>
        </p:nvSpPr>
        <p:spPr>
          <a:xfrm>
            <a:off x="6172200" y="2560320"/>
            <a:ext cx="5440680" cy="10972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72200" y="2560320"/>
            <a:ext cx="91440" cy="1097280"/>
          </a:xfrm>
          <a:prstGeom prst="rect">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0" y="2697480"/>
            <a:ext cx="457200" cy="320040"/>
          </a:xfrm>
          <a:prstGeom prst="rect">
            <a:avLst/>
          </a:prstGeom>
          <a:noFill/>
        </p:spPr>
        <p:txBody>
          <a:bodyPr wrap="square" anchor="t" lIns="0" rIns="0" tIns="0" bIns="0">
            <a:spAutoFit/>
          </a:bodyPr>
          <a:lstStyle/>
          <a:p>
            <a:pPr algn="l">
              <a:lnSpc>
                <a:spcPct val="115000"/>
              </a:lnSpc>
            </a:pPr>
            <a:r>
              <a:rPr sz="1600" b="1">
                <a:solidFill>
                  <a:srgbClr val="C6452D"/>
                </a:solidFill>
                <a:latin typeface="Hiragino Sans"/>
                <a:ea typeface="Hiragino Sans"/>
                <a:cs typeface="Hiragino Sans"/>
              </a:rPr>
              <a:t>✗</a:t>
            </a:r>
          </a:p>
        </p:txBody>
      </p:sp>
      <p:sp>
        <p:nvSpPr>
          <p:cNvPr id="26" name="TextBox 25"/>
          <p:cNvSpPr txBox="1"/>
          <p:nvPr/>
        </p:nvSpPr>
        <p:spPr>
          <a:xfrm>
            <a:off x="6812280" y="2697480"/>
            <a:ext cx="4663440" cy="36576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Conversion API 未実装</a:t>
            </a:r>
          </a:p>
        </p:txBody>
      </p:sp>
      <p:sp>
        <p:nvSpPr>
          <p:cNvPr id="27" name="TextBox 26"/>
          <p:cNvSpPr txBox="1"/>
          <p:nvPr/>
        </p:nvSpPr>
        <p:spPr>
          <a:xfrm>
            <a:off x="6400800" y="3108960"/>
            <a:ext cx="5074920" cy="502920"/>
          </a:xfrm>
          <a:prstGeom prst="rect">
            <a:avLst/>
          </a:prstGeom>
          <a:noFill/>
        </p:spPr>
        <p:txBody>
          <a:bodyPr wrap="square" anchor="t" lIns="0" rIns="0" tIns="0" bIns="0">
            <a:spAutoFit/>
          </a:bodyPr>
          <a:lstStyle/>
          <a:p>
            <a:pPr algn="l">
              <a:lnSpc>
                <a:spcPct val="145000"/>
              </a:lnSpc>
            </a:pPr>
            <a:r>
              <a:rPr sz="1000" b="0">
                <a:solidFill>
                  <a:srgbClr val="1A1A1A"/>
                </a:solidFill>
                <a:latin typeface="Hiragino Sans"/>
                <a:ea typeface="Hiragino Sans"/>
                <a:cs typeface="Hiragino Sans"/>
              </a:rPr>
              <a:t>iOS計測ロス + 入札精度低下 → CAPI実装 (Shopifyプラグイン等)</a:t>
            </a:r>
          </a:p>
        </p:txBody>
      </p:sp>
      <p:sp>
        <p:nvSpPr>
          <p:cNvPr id="28" name="Rounded Rectangle 27"/>
          <p:cNvSpPr/>
          <p:nvPr/>
        </p:nvSpPr>
        <p:spPr>
          <a:xfrm>
            <a:off x="548640" y="4023360"/>
            <a:ext cx="11109960" cy="233172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4160520"/>
            <a:ext cx="10972800" cy="411480"/>
          </a:xfrm>
          <a:prstGeom prst="rect">
            <a:avLst/>
          </a:prstGeom>
          <a:noFill/>
        </p:spPr>
        <p:txBody>
          <a:bodyPr wrap="square" anchor="t" lIns="0" rIns="0" tIns="0" bIns="0">
            <a:spAutoFit/>
          </a:bodyPr>
          <a:lstStyle/>
          <a:p>
            <a:pPr algn="l">
              <a:lnSpc>
                <a:spcPct val="115000"/>
              </a:lnSpc>
            </a:pPr>
            <a:r>
              <a:rPr sz="1800" b="1">
                <a:solidFill>
                  <a:srgbClr val="E87722"/>
                </a:solidFill>
                <a:latin typeface="Helvetica Neue"/>
                <a:ea typeface="Helvetica Neue"/>
                <a:cs typeface="Helvetica Neue"/>
              </a:rPr>
              <a:t>NEXT →  Part 3-E  X / LinkedIn / Amazon Ads (16p, P125-P140)</a:t>
            </a:r>
          </a:p>
        </p:txBody>
      </p:sp>
      <p:sp>
        <p:nvSpPr>
          <p:cNvPr id="30" name="TextBox 29"/>
          <p:cNvSpPr txBox="1"/>
          <p:nvPr/>
        </p:nvSpPr>
        <p:spPr>
          <a:xfrm>
            <a:off x="777240" y="4617720"/>
            <a:ext cx="10972800" cy="1691640"/>
          </a:xfrm>
          <a:prstGeom prst="rect">
            <a:avLst/>
          </a:prstGeom>
          <a:noFill/>
        </p:spPr>
        <p:txBody>
          <a:bodyPr wrap="square" anchor="t" lIns="0" rIns="0" tIns="0" bIns="0">
            <a:spAutoFit/>
          </a:bodyPr>
          <a:lstStyle/>
          <a:p>
            <a:pPr algn="l">
              <a:lnSpc>
                <a:spcPct val="160000"/>
              </a:lnSpc>
            </a:pPr>
            <a:r>
              <a:rPr sz="1100" b="0">
                <a:solidFill>
                  <a:srgbClr val="FFFFFF"/>
                </a:solidFill>
                <a:latin typeface="Hiragino Sans"/>
                <a:ea typeface="Hiragino Sans"/>
                <a:cs typeface="Hiragino Sans"/>
              </a:rPr>
              <a:t>Part 3-E で扱うトピック :</a:t>
            </a:r>
          </a:p>
          <a:p>
            <a:pPr algn="l">
              <a:lnSpc>
                <a:spcPct val="160000"/>
              </a:lnSpc>
            </a:pPr>
            <a:r>
              <a:rPr sz="1100" b="0">
                <a:solidFill>
                  <a:srgbClr val="FFFFFF"/>
                </a:solidFill>
                <a:latin typeface="Hiragino Sans"/>
                <a:ea typeface="Hiragino Sans"/>
                <a:cs typeface="Hiragino Sans"/>
              </a:rPr>
              <a:t>• X (旧Twitter) (6p) : Grok連携 / X Ads / 規制対応 / 復活と凋落</a:t>
            </a:r>
          </a:p>
          <a:p>
            <a:pPr algn="l">
              <a:lnSpc>
                <a:spcPct val="160000"/>
              </a:lnSpc>
            </a:pPr>
            <a:r>
              <a:rPr sz="1100" b="0">
                <a:solidFill>
                  <a:srgbClr val="FFFFFF"/>
                </a:solidFill>
                <a:latin typeface="Hiragino Sans"/>
                <a:ea typeface="Hiragino Sans"/>
                <a:cs typeface="Hiragino Sans"/>
              </a:rPr>
              <a:t>• LinkedIn (5p) : B2B 必修媒体 / Sponsored Content / ABM (Account-Based Marketing)</a:t>
            </a:r>
          </a:p>
          <a:p>
            <a:pPr algn="l">
              <a:lnSpc>
                <a:spcPct val="160000"/>
              </a:lnSpc>
            </a:pPr>
            <a:r>
              <a:rPr sz="1100" b="0">
                <a:solidFill>
                  <a:srgbClr val="FFFFFF"/>
                </a:solidFill>
                <a:latin typeface="Hiragino Sans"/>
                <a:ea typeface="Hiragino Sans"/>
                <a:cs typeface="Hiragino Sans"/>
              </a:rPr>
              <a:t>• Amazon Ads (5p) : Sponsored Products/Brands/Display / DSP / AMC入門</a:t>
            </a:r>
          </a:p>
          <a:p>
            <a:pPr algn="l">
              <a:lnSpc>
                <a:spcPct val="160000"/>
              </a:lnSpc>
            </a:pPr>
            <a:r>
              <a:rPr sz="1100" b="0">
                <a:solidFill>
                  <a:srgbClr val="FFFFFF"/>
                </a:solidFill>
                <a:latin typeface="Hiragino Sans"/>
                <a:ea typeface="Hiragino Sans"/>
                <a:cs typeface="Hiragino Sans"/>
              </a:rPr>
              <a:t/>
            </a:r>
          </a:p>
          <a:p>
            <a:pPr algn="l">
              <a:lnSpc>
                <a:spcPct val="160000"/>
              </a:lnSpc>
            </a:pPr>
            <a:r>
              <a:rPr sz="1100" b="0">
                <a:solidFill>
                  <a:srgbClr val="FFFFFF"/>
                </a:solidFill>
                <a:latin typeface="Hiragino Sans"/>
                <a:ea typeface="Hiragino Sans"/>
                <a:cs typeface="Hiragino Sans"/>
              </a:rPr>
              <a:t>Part 3 (媒体別 110p) の最終章。専門特化媒体を効率的にカバー</a:t>
            </a:r>
          </a:p>
        </p:txBody>
      </p:sp>
      <p:sp>
        <p:nvSpPr>
          <p:cNvPr id="31" name="TextBox 30"/>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914400"/>
            <a:ext cx="137160" cy="493776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914400"/>
            <a:ext cx="7315200" cy="365760"/>
          </a:xfrm>
          <a:prstGeom prst="rect">
            <a:avLst/>
          </a:prstGeom>
          <a:noFill/>
        </p:spPr>
        <p:txBody>
          <a:bodyPr wrap="square" anchor="t" lIns="0" rIns="0" tIns="0" bIns="0">
            <a:spAutoFit/>
          </a:bodyPr>
          <a:lstStyle/>
          <a:p>
            <a:pPr algn="l">
              <a:lnSpc>
                <a:spcPct val="115000"/>
              </a:lnSpc>
            </a:pPr>
            <a:r>
              <a:rPr sz="1200" b="1">
                <a:solidFill>
                  <a:srgbClr val="E87722"/>
                </a:solidFill>
                <a:latin typeface="Helvetica Neue"/>
                <a:ea typeface="Helvetica Neue"/>
                <a:cs typeface="Helvetica Neue"/>
              </a:rPr>
              <a:t>PART 3 / 媒体別キャッチアップ — 最終章</a:t>
            </a:r>
          </a:p>
        </p:txBody>
      </p:sp>
      <p:sp>
        <p:nvSpPr>
          <p:cNvPr id="5" name="TextBox 4"/>
          <p:cNvSpPr txBox="1"/>
          <p:nvPr/>
        </p:nvSpPr>
        <p:spPr>
          <a:xfrm>
            <a:off x="1097280" y="1280160"/>
            <a:ext cx="7315200" cy="365760"/>
          </a:xfrm>
          <a:prstGeom prst="rect">
            <a:avLst/>
          </a:prstGeom>
          <a:noFill/>
        </p:spPr>
        <p:txBody>
          <a:bodyPr wrap="square" anchor="t" lIns="0" rIns="0" tIns="0" bIns="0">
            <a:spAutoFit/>
          </a:bodyPr>
          <a:lstStyle/>
          <a:p>
            <a:pPr algn="l">
              <a:lnSpc>
                <a:spcPct val="115000"/>
              </a:lnSpc>
            </a:pPr>
            <a:r>
              <a:rPr sz="1400" b="1">
                <a:solidFill>
                  <a:srgbClr val="D7DDE8"/>
                </a:solidFill>
                <a:latin typeface="Hiragino Sans"/>
                <a:ea typeface="Hiragino Sans"/>
                <a:cs typeface="Hiragino Sans"/>
              </a:rPr>
              <a:t>3-E   |   専門特化媒体3つ</a:t>
            </a:r>
          </a:p>
        </p:txBody>
      </p:sp>
      <p:sp>
        <p:nvSpPr>
          <p:cNvPr id="6" name="TextBox 5"/>
          <p:cNvSpPr txBox="1"/>
          <p:nvPr/>
        </p:nvSpPr>
        <p:spPr>
          <a:xfrm>
            <a:off x="1097280" y="1691640"/>
            <a:ext cx="10058400" cy="1188720"/>
          </a:xfrm>
          <a:prstGeom prst="rect">
            <a:avLst/>
          </a:prstGeom>
          <a:noFill/>
        </p:spPr>
        <p:txBody>
          <a:bodyPr wrap="square" anchor="t" lIns="0" rIns="0" tIns="0" bIns="0">
            <a:spAutoFit/>
          </a:bodyPr>
          <a:lstStyle/>
          <a:p>
            <a:pPr algn="l">
              <a:lnSpc>
                <a:spcPct val="110000"/>
              </a:lnSpc>
            </a:pPr>
            <a:r>
              <a:rPr sz="4600" b="1">
                <a:solidFill>
                  <a:srgbClr val="FFFFFF"/>
                </a:solidFill>
                <a:latin typeface="Hiragino Sans"/>
                <a:ea typeface="Hiragino Sans"/>
                <a:cs typeface="Hiragino Sans"/>
              </a:rPr>
              <a:t>X / LinkedIn / Amazon Ads</a:t>
            </a:r>
          </a:p>
        </p:txBody>
      </p:sp>
      <p:sp>
        <p:nvSpPr>
          <p:cNvPr id="7" name="TextBox 6"/>
          <p:cNvSpPr txBox="1"/>
          <p:nvPr/>
        </p:nvSpPr>
        <p:spPr>
          <a:xfrm>
            <a:off x="1097280" y="3017520"/>
            <a:ext cx="10058400" cy="365760"/>
          </a:xfrm>
          <a:prstGeom prst="rect">
            <a:avLst/>
          </a:prstGeom>
          <a:noFill/>
        </p:spPr>
        <p:txBody>
          <a:bodyPr wrap="square" anchor="t" lIns="0" rIns="0" tIns="0" bIns="0">
            <a:spAutoFit/>
          </a:bodyPr>
          <a:lstStyle/>
          <a:p>
            <a:pPr algn="l">
              <a:lnSpc>
                <a:spcPct val="115000"/>
              </a:lnSpc>
            </a:pPr>
            <a:r>
              <a:rPr sz="1500" b="0">
                <a:solidFill>
                  <a:srgbClr val="D7DDE8"/>
                </a:solidFill>
                <a:latin typeface="Hiragino Sans"/>
                <a:ea typeface="Hiragino Sans"/>
                <a:cs typeface="Hiragino Sans"/>
              </a:rPr>
              <a:t>Part 3 (媒体別110p) の最終章。専門特化媒体を効率的にカバー</a:t>
            </a:r>
          </a:p>
        </p:txBody>
      </p:sp>
      <p:sp>
        <p:nvSpPr>
          <p:cNvPr id="8" name="Rounded Rectangle 7"/>
          <p:cNvSpPr/>
          <p:nvPr/>
        </p:nvSpPr>
        <p:spPr>
          <a:xfrm>
            <a:off x="9875520" y="914400"/>
            <a:ext cx="1828800" cy="640080"/>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1078992"/>
            <a:ext cx="1828800" cy="457200"/>
          </a:xfrm>
          <a:prstGeom prst="rect">
            <a:avLst/>
          </a:prstGeom>
          <a:noFill/>
        </p:spPr>
        <p:txBody>
          <a:bodyPr wrap="square" anchor="t" lIns="0" rIns="0" tIns="0" bIns="0">
            <a:spAutoFit/>
          </a:bodyPr>
          <a:lstStyle/>
          <a:p>
            <a:pPr algn="ctr">
              <a:lnSpc>
                <a:spcPct val="115000"/>
              </a:lnSpc>
            </a:pPr>
            <a:r>
              <a:rPr sz="1800" b="1">
                <a:solidFill>
                  <a:srgbClr val="FFFFFF"/>
                </a:solidFill>
                <a:latin typeface="Helvetica Neue"/>
                <a:ea typeface="Helvetica Neue"/>
                <a:cs typeface="Helvetica Neue"/>
              </a:rPr>
              <a:t>16p</a:t>
            </a:r>
          </a:p>
        </p:txBody>
      </p:sp>
      <p:sp>
        <p:nvSpPr>
          <p:cNvPr id="10" name="Rectangle 9"/>
          <p:cNvSpPr/>
          <p:nvPr/>
        </p:nvSpPr>
        <p:spPr>
          <a:xfrm>
            <a:off x="1097280" y="3657600"/>
            <a:ext cx="914400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840480"/>
            <a:ext cx="10058400" cy="914400"/>
          </a:xfrm>
          <a:prstGeom prst="rect">
            <a:avLst/>
          </a:prstGeom>
          <a:noFill/>
        </p:spPr>
        <p:txBody>
          <a:bodyPr wrap="square" anchor="t" lIns="0" rIns="0" tIns="0" bIns="0">
            <a:spAutoFit/>
          </a:bodyPr>
          <a:lstStyle/>
          <a:p>
            <a:pPr algn="l">
              <a:lnSpc>
                <a:spcPct val="150000"/>
              </a:lnSpc>
            </a:pPr>
            <a:r>
              <a:rPr sz="1300" b="0">
                <a:solidFill>
                  <a:srgbClr val="D7DDE8"/>
                </a:solidFill>
                <a:latin typeface="Hiragino Sans"/>
                <a:ea typeface="Hiragino Sans"/>
                <a:cs typeface="Hiragino Sans"/>
              </a:rPr>
              <a:t>X (旧Twitter) は Grok AI連携と縦型動画で再起動。</a:t>
            </a:r>
          </a:p>
          <a:p>
            <a:pPr algn="l">
              <a:lnSpc>
                <a:spcPct val="150000"/>
              </a:lnSpc>
            </a:pPr>
            <a:r>
              <a:rPr sz="1300" b="0">
                <a:solidFill>
                  <a:srgbClr val="D7DDE8"/>
                </a:solidFill>
                <a:latin typeface="Hiragino Sans"/>
                <a:ea typeface="Hiragino Sans"/>
                <a:cs typeface="Hiragino Sans"/>
              </a:rPr>
              <a:t>LinkedIn は ABM (Account-Based Marketing) で B2B 必修媒体に。</a:t>
            </a:r>
          </a:p>
          <a:p>
            <a:pPr algn="l">
              <a:lnSpc>
                <a:spcPct val="150000"/>
              </a:lnSpc>
            </a:pPr>
            <a:r>
              <a:rPr sz="1300" b="0">
                <a:solidFill>
                  <a:srgbClr val="D7DDE8"/>
                </a:solidFill>
                <a:latin typeface="Hiragino Sans"/>
                <a:ea typeface="Hiragino Sans"/>
                <a:cs typeface="Hiragino Sans"/>
              </a:rPr>
              <a:t>Amazon Ads は AMC (Marketing Cloud) でプライバシー安全なリテールメディア標準</a:t>
            </a:r>
          </a:p>
        </p:txBody>
      </p:sp>
      <p:sp>
        <p:nvSpPr>
          <p:cNvPr id="12" name="Rounded Rectangle 11"/>
          <p:cNvSpPr/>
          <p:nvPr/>
        </p:nvSpPr>
        <p:spPr>
          <a:xfrm>
            <a:off x="1097280" y="4937760"/>
            <a:ext cx="3337560" cy="1463040"/>
          </a:xfrm>
          <a:prstGeom prst="roundRect">
            <a:avLst>
              <a:gd name="adj" fmla="val 6000"/>
            </a:avLst>
          </a:prstGeom>
          <a:solidFill>
            <a:srgbClr val="0A16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097280" y="4937760"/>
            <a:ext cx="91440" cy="14630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5029200"/>
            <a:ext cx="2971800" cy="365760"/>
          </a:xfrm>
          <a:prstGeom prst="rect">
            <a:avLst/>
          </a:prstGeom>
          <a:noFill/>
        </p:spPr>
        <p:txBody>
          <a:bodyPr wrap="square" anchor="t" lIns="0" rIns="0" tIns="0" bIns="0">
            <a:spAutoFit/>
          </a:bodyPr>
          <a:lstStyle/>
          <a:p>
            <a:pPr algn="l">
              <a:lnSpc>
                <a:spcPct val="115000"/>
              </a:lnSpc>
            </a:pPr>
            <a:r>
              <a:rPr sz="1600" b="1">
                <a:solidFill>
                  <a:srgbClr val="E87722"/>
                </a:solidFill>
                <a:latin typeface="Hiragino Sans"/>
                <a:ea typeface="Hiragino Sans"/>
                <a:cs typeface="Hiragino Sans"/>
              </a:rPr>
              <a:t>X</a:t>
            </a:r>
          </a:p>
        </p:txBody>
      </p:sp>
      <p:sp>
        <p:nvSpPr>
          <p:cNvPr id="15" name="TextBox 14"/>
          <p:cNvSpPr txBox="1"/>
          <p:nvPr/>
        </p:nvSpPr>
        <p:spPr>
          <a:xfrm>
            <a:off x="1325880" y="5394960"/>
            <a:ext cx="2971800" cy="274320"/>
          </a:xfrm>
          <a:prstGeom prst="rect">
            <a:avLst/>
          </a:prstGeom>
          <a:noFill/>
        </p:spPr>
        <p:txBody>
          <a:bodyPr wrap="square" anchor="t" lIns="0" rIns="0" tIns="0" bIns="0">
            <a:spAutoFit/>
          </a:bodyPr>
          <a:lstStyle/>
          <a:p>
            <a:pPr algn="l">
              <a:lnSpc>
                <a:spcPct val="115000"/>
              </a:lnSpc>
            </a:pPr>
            <a:r>
              <a:rPr sz="1000" b="0">
                <a:solidFill>
                  <a:srgbClr val="D7DDE8"/>
                </a:solidFill>
                <a:latin typeface="Hiragino Sans"/>
                <a:ea typeface="Hiragino Sans"/>
                <a:cs typeface="Hiragino Sans"/>
              </a:rPr>
              <a:t>6p (P125-P130)</a:t>
            </a:r>
          </a:p>
        </p:txBody>
      </p:sp>
      <p:sp>
        <p:nvSpPr>
          <p:cNvPr id="16" name="TextBox 15"/>
          <p:cNvSpPr txBox="1"/>
          <p:nvPr/>
        </p:nvSpPr>
        <p:spPr>
          <a:xfrm>
            <a:off x="1325880" y="5715000"/>
            <a:ext cx="2971800" cy="640080"/>
          </a:xfrm>
          <a:prstGeom prst="rect">
            <a:avLst/>
          </a:prstGeom>
          <a:noFill/>
        </p:spPr>
        <p:txBody>
          <a:bodyPr wrap="square" anchor="t" lIns="0" rIns="0" tIns="0" bIns="0">
            <a:spAutoFit/>
          </a:bodyPr>
          <a:lstStyle/>
          <a:p>
            <a:pPr algn="l">
              <a:lnSpc>
                <a:spcPct val="145000"/>
              </a:lnSpc>
            </a:pPr>
            <a:r>
              <a:rPr sz="900" b="0">
                <a:solidFill>
                  <a:srgbClr val="FFFFFF"/>
                </a:solidFill>
                <a:latin typeface="Hiragino Sans"/>
                <a:ea typeface="Hiragino Sans"/>
                <a:cs typeface="Hiragino Sans"/>
              </a:rPr>
              <a:t>Grok / Vertical Video /</a:t>
            </a:r>
          </a:p>
          <a:p>
            <a:pPr algn="l">
              <a:lnSpc>
                <a:spcPct val="145000"/>
              </a:lnSpc>
            </a:pPr>
            <a:r>
              <a:rPr sz="900" b="0">
                <a:solidFill>
                  <a:srgbClr val="FFFFFF"/>
                </a:solidFill>
                <a:latin typeface="Hiragino Sans"/>
                <a:ea typeface="Hiragino Sans"/>
                <a:cs typeface="Hiragino Sans"/>
              </a:rPr>
              <a:t>Takeover / 規制対応</a:t>
            </a:r>
          </a:p>
        </p:txBody>
      </p:sp>
      <p:sp>
        <p:nvSpPr>
          <p:cNvPr id="17" name="Rounded Rectangle 16"/>
          <p:cNvSpPr/>
          <p:nvPr/>
        </p:nvSpPr>
        <p:spPr>
          <a:xfrm>
            <a:off x="4572000" y="4937760"/>
            <a:ext cx="3337560" cy="1463040"/>
          </a:xfrm>
          <a:prstGeom prst="roundRect">
            <a:avLst>
              <a:gd name="adj" fmla="val 6000"/>
            </a:avLst>
          </a:prstGeom>
          <a:solidFill>
            <a:srgbClr val="0A16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0" y="4937760"/>
            <a:ext cx="91440" cy="14630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00600" y="5029200"/>
            <a:ext cx="2971800" cy="365760"/>
          </a:xfrm>
          <a:prstGeom prst="rect">
            <a:avLst/>
          </a:prstGeom>
          <a:noFill/>
        </p:spPr>
        <p:txBody>
          <a:bodyPr wrap="square" anchor="t" lIns="0" rIns="0" tIns="0" bIns="0">
            <a:spAutoFit/>
          </a:bodyPr>
          <a:lstStyle/>
          <a:p>
            <a:pPr algn="l">
              <a:lnSpc>
                <a:spcPct val="115000"/>
              </a:lnSpc>
            </a:pPr>
            <a:r>
              <a:rPr sz="1600" b="1">
                <a:solidFill>
                  <a:srgbClr val="E87722"/>
                </a:solidFill>
                <a:latin typeface="Hiragino Sans"/>
                <a:ea typeface="Hiragino Sans"/>
                <a:cs typeface="Hiragino Sans"/>
              </a:rPr>
              <a:t>LinkedIn</a:t>
            </a:r>
          </a:p>
        </p:txBody>
      </p:sp>
      <p:sp>
        <p:nvSpPr>
          <p:cNvPr id="20" name="TextBox 19"/>
          <p:cNvSpPr txBox="1"/>
          <p:nvPr/>
        </p:nvSpPr>
        <p:spPr>
          <a:xfrm>
            <a:off x="4800600" y="5394960"/>
            <a:ext cx="2971800" cy="274320"/>
          </a:xfrm>
          <a:prstGeom prst="rect">
            <a:avLst/>
          </a:prstGeom>
          <a:noFill/>
        </p:spPr>
        <p:txBody>
          <a:bodyPr wrap="square" anchor="t" lIns="0" rIns="0" tIns="0" bIns="0">
            <a:spAutoFit/>
          </a:bodyPr>
          <a:lstStyle/>
          <a:p>
            <a:pPr algn="l">
              <a:lnSpc>
                <a:spcPct val="115000"/>
              </a:lnSpc>
            </a:pPr>
            <a:r>
              <a:rPr sz="1000" b="0">
                <a:solidFill>
                  <a:srgbClr val="D7DDE8"/>
                </a:solidFill>
                <a:latin typeface="Hiragino Sans"/>
                <a:ea typeface="Hiragino Sans"/>
                <a:cs typeface="Hiragino Sans"/>
              </a:rPr>
              <a:t>5p (P131-P135)</a:t>
            </a:r>
          </a:p>
        </p:txBody>
      </p:sp>
      <p:sp>
        <p:nvSpPr>
          <p:cNvPr id="21" name="TextBox 20"/>
          <p:cNvSpPr txBox="1"/>
          <p:nvPr/>
        </p:nvSpPr>
        <p:spPr>
          <a:xfrm>
            <a:off x="4800600" y="5715000"/>
            <a:ext cx="2971800" cy="640080"/>
          </a:xfrm>
          <a:prstGeom prst="rect">
            <a:avLst/>
          </a:prstGeom>
          <a:noFill/>
        </p:spPr>
        <p:txBody>
          <a:bodyPr wrap="square" anchor="t" lIns="0" rIns="0" tIns="0" bIns="0">
            <a:spAutoFit/>
          </a:bodyPr>
          <a:lstStyle/>
          <a:p>
            <a:pPr algn="l">
              <a:lnSpc>
                <a:spcPct val="145000"/>
              </a:lnSpc>
            </a:pPr>
            <a:r>
              <a:rPr sz="900" b="0">
                <a:solidFill>
                  <a:srgbClr val="FFFFFF"/>
                </a:solidFill>
                <a:latin typeface="Hiragino Sans"/>
                <a:ea typeface="Hiragino Sans"/>
                <a:cs typeface="Hiragino Sans"/>
              </a:rPr>
              <a:t>ABM / Sponsored Content /</a:t>
            </a:r>
          </a:p>
          <a:p>
            <a:pPr algn="l">
              <a:lnSpc>
                <a:spcPct val="145000"/>
              </a:lnSpc>
            </a:pPr>
            <a:r>
              <a:rPr sz="900" b="0">
                <a:solidFill>
                  <a:srgbClr val="FFFFFF"/>
                </a:solidFill>
                <a:latin typeface="Hiragino Sans"/>
                <a:ea typeface="Hiragino Sans"/>
                <a:cs typeface="Hiragino Sans"/>
              </a:rPr>
              <a:t>Thought Leader / Insight Tag</a:t>
            </a:r>
          </a:p>
        </p:txBody>
      </p:sp>
      <p:sp>
        <p:nvSpPr>
          <p:cNvPr id="22" name="Rounded Rectangle 21"/>
          <p:cNvSpPr/>
          <p:nvPr/>
        </p:nvSpPr>
        <p:spPr>
          <a:xfrm>
            <a:off x="8046720" y="4937760"/>
            <a:ext cx="3337560" cy="1463040"/>
          </a:xfrm>
          <a:prstGeom prst="roundRect">
            <a:avLst>
              <a:gd name="adj" fmla="val 6000"/>
            </a:avLst>
          </a:prstGeom>
          <a:solidFill>
            <a:srgbClr val="0A16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46720" y="4937760"/>
            <a:ext cx="91440" cy="14630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75320" y="5029200"/>
            <a:ext cx="2971800" cy="365760"/>
          </a:xfrm>
          <a:prstGeom prst="rect">
            <a:avLst/>
          </a:prstGeom>
          <a:noFill/>
        </p:spPr>
        <p:txBody>
          <a:bodyPr wrap="square" anchor="t" lIns="0" rIns="0" tIns="0" bIns="0">
            <a:spAutoFit/>
          </a:bodyPr>
          <a:lstStyle/>
          <a:p>
            <a:pPr algn="l">
              <a:lnSpc>
                <a:spcPct val="115000"/>
              </a:lnSpc>
            </a:pPr>
            <a:r>
              <a:rPr sz="1600" b="1">
                <a:solidFill>
                  <a:srgbClr val="E87722"/>
                </a:solidFill>
                <a:latin typeface="Hiragino Sans"/>
                <a:ea typeface="Hiragino Sans"/>
                <a:cs typeface="Hiragino Sans"/>
              </a:rPr>
              <a:t>Amazon Ads</a:t>
            </a:r>
          </a:p>
        </p:txBody>
      </p:sp>
      <p:sp>
        <p:nvSpPr>
          <p:cNvPr id="25" name="TextBox 24"/>
          <p:cNvSpPr txBox="1"/>
          <p:nvPr/>
        </p:nvSpPr>
        <p:spPr>
          <a:xfrm>
            <a:off x="8275320" y="5394960"/>
            <a:ext cx="2971800" cy="274320"/>
          </a:xfrm>
          <a:prstGeom prst="rect">
            <a:avLst/>
          </a:prstGeom>
          <a:noFill/>
        </p:spPr>
        <p:txBody>
          <a:bodyPr wrap="square" anchor="t" lIns="0" rIns="0" tIns="0" bIns="0">
            <a:spAutoFit/>
          </a:bodyPr>
          <a:lstStyle/>
          <a:p>
            <a:pPr algn="l">
              <a:lnSpc>
                <a:spcPct val="115000"/>
              </a:lnSpc>
            </a:pPr>
            <a:r>
              <a:rPr sz="1000" b="0">
                <a:solidFill>
                  <a:srgbClr val="D7DDE8"/>
                </a:solidFill>
                <a:latin typeface="Hiragino Sans"/>
                <a:ea typeface="Hiragino Sans"/>
                <a:cs typeface="Hiragino Sans"/>
              </a:rPr>
              <a:t>5p (P136-P140)</a:t>
            </a:r>
          </a:p>
        </p:txBody>
      </p:sp>
      <p:sp>
        <p:nvSpPr>
          <p:cNvPr id="26" name="TextBox 25"/>
          <p:cNvSpPr txBox="1"/>
          <p:nvPr/>
        </p:nvSpPr>
        <p:spPr>
          <a:xfrm>
            <a:off x="8275320" y="5715000"/>
            <a:ext cx="2971800" cy="640080"/>
          </a:xfrm>
          <a:prstGeom prst="rect">
            <a:avLst/>
          </a:prstGeom>
          <a:noFill/>
        </p:spPr>
        <p:txBody>
          <a:bodyPr wrap="square" anchor="t" lIns="0" rIns="0" tIns="0" bIns="0">
            <a:spAutoFit/>
          </a:bodyPr>
          <a:lstStyle/>
          <a:p>
            <a:pPr algn="l">
              <a:lnSpc>
                <a:spcPct val="145000"/>
              </a:lnSpc>
            </a:pPr>
            <a:r>
              <a:rPr sz="900" b="0">
                <a:solidFill>
                  <a:srgbClr val="FFFFFF"/>
                </a:solidFill>
                <a:latin typeface="Hiragino Sans"/>
                <a:ea typeface="Hiragino Sans"/>
                <a:cs typeface="Hiragino Sans"/>
              </a:rPr>
              <a:t>Sponsored Products/Brands/Display /</a:t>
            </a:r>
          </a:p>
          <a:p>
            <a:pPr algn="l">
              <a:lnSpc>
                <a:spcPct val="145000"/>
              </a:lnSpc>
            </a:pPr>
            <a:r>
              <a:rPr sz="900" b="0">
                <a:solidFill>
                  <a:srgbClr val="FFFFFF"/>
                </a:solidFill>
                <a:latin typeface="Hiragino Sans"/>
                <a:ea typeface="Hiragino Sans"/>
                <a:cs typeface="Hiragino Sans"/>
              </a:rPr>
              <a:t>DSP / AMC Clean Room</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X (旧Twitter) 広告 ランドスケープ 2026</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Grok AI ＋ 縦型動画で再起動</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P126 / 250</a:t>
            </a:r>
          </a:p>
        </p:txBody>
      </p:sp>
      <p:sp>
        <p:nvSpPr>
          <p:cNvPr id="8" name="Rounded Rectangle 7"/>
          <p:cNvSpPr/>
          <p:nvPr/>
        </p:nvSpPr>
        <p:spPr>
          <a:xfrm>
            <a:off x="548640" y="1371600"/>
            <a:ext cx="11109960" cy="118872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08760"/>
            <a:ext cx="3657600" cy="32004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縦型動画の比率</a:t>
            </a:r>
          </a:p>
        </p:txBody>
      </p:sp>
      <p:sp>
        <p:nvSpPr>
          <p:cNvPr id="10" name="TextBox 9"/>
          <p:cNvSpPr txBox="1"/>
          <p:nvPr/>
        </p:nvSpPr>
        <p:spPr>
          <a:xfrm>
            <a:off x="777240" y="1783080"/>
            <a:ext cx="2743200" cy="777240"/>
          </a:xfrm>
          <a:prstGeom prst="rect">
            <a:avLst/>
          </a:prstGeom>
          <a:noFill/>
        </p:spPr>
        <p:txBody>
          <a:bodyPr wrap="square" anchor="t" lIns="0" rIns="0" tIns="0" bIns="0">
            <a:spAutoFit/>
          </a:bodyPr>
          <a:lstStyle/>
          <a:p>
            <a:pPr algn="l">
              <a:lnSpc>
                <a:spcPct val="115000"/>
              </a:lnSpc>
            </a:pPr>
            <a:r>
              <a:rPr sz="4400" b="1">
                <a:solidFill>
                  <a:srgbClr val="FFFFFF"/>
                </a:solidFill>
                <a:latin typeface="Helvetica Neue"/>
                <a:ea typeface="Helvetica Neue"/>
                <a:cs typeface="Helvetica Neue"/>
              </a:rPr>
              <a:t>20%</a:t>
            </a:r>
          </a:p>
        </p:txBody>
      </p:sp>
      <p:sp>
        <p:nvSpPr>
          <p:cNvPr id="11" name="TextBox 10"/>
          <p:cNvSpPr txBox="1"/>
          <p:nvPr/>
        </p:nvSpPr>
        <p:spPr>
          <a:xfrm>
            <a:off x="4114800" y="1965960"/>
            <a:ext cx="7315200" cy="502920"/>
          </a:xfrm>
          <a:prstGeom prst="rect">
            <a:avLst/>
          </a:prstGeom>
          <a:noFill/>
        </p:spPr>
        <p:txBody>
          <a:bodyPr wrap="square" anchor="t" lIns="0" rIns="0" tIns="0" bIns="0">
            <a:spAutoFit/>
          </a:bodyPr>
          <a:lstStyle/>
          <a:p>
            <a:pPr algn="l">
              <a:lnSpc>
                <a:spcPct val="140000"/>
              </a:lnSpc>
            </a:pPr>
            <a:r>
              <a:rPr sz="1300" b="0">
                <a:solidFill>
                  <a:srgbClr val="FFFFFF"/>
                </a:solidFill>
                <a:latin typeface="Hiragino Sans"/>
                <a:ea typeface="Hiragino Sans"/>
                <a:cs typeface="Hiragino Sans"/>
              </a:rPr>
              <a:t>of daily user time = 最も成長中フォーマット</a:t>
            </a:r>
          </a:p>
        </p:txBody>
      </p:sp>
      <p:sp>
        <p:nvSpPr>
          <p:cNvPr id="12" name="Rounded Rectangle 11"/>
          <p:cNvSpPr/>
          <p:nvPr/>
        </p:nvSpPr>
        <p:spPr>
          <a:xfrm>
            <a:off x="548640" y="2743200"/>
            <a:ext cx="5486400" cy="219456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743200"/>
            <a:ext cx="5486400" cy="64008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2907792"/>
            <a:ext cx="4937760" cy="411480"/>
          </a:xfrm>
          <a:prstGeom prst="rect">
            <a:avLst/>
          </a:prstGeom>
          <a:noFill/>
        </p:spPr>
        <p:txBody>
          <a:bodyPr wrap="square" anchor="t" lIns="0" rIns="0" tIns="0" bIns="0">
            <a:spAutoFit/>
          </a:bodyPr>
          <a:lstStyle/>
          <a:p>
            <a:pPr algn="l">
              <a:lnSpc>
                <a:spcPct val="115000"/>
              </a:lnSpc>
            </a:pPr>
            <a:r>
              <a:rPr sz="1500" b="1">
                <a:solidFill>
                  <a:srgbClr val="FFFFFF"/>
                </a:solidFill>
                <a:latin typeface="Hiragino Sans"/>
                <a:ea typeface="Hiragino Sans"/>
                <a:cs typeface="Hiragino Sans"/>
              </a:rPr>
              <a:t>Grok AI 統合</a:t>
            </a:r>
          </a:p>
        </p:txBody>
      </p:sp>
      <p:sp>
        <p:nvSpPr>
          <p:cNvPr id="15" name="TextBox 14"/>
          <p:cNvSpPr txBox="1"/>
          <p:nvPr/>
        </p:nvSpPr>
        <p:spPr>
          <a:xfrm>
            <a:off x="822960" y="3611880"/>
            <a:ext cx="4937760" cy="128016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アルゴリズムが Grok 推論ベースに移行 (2025-2026)</a:t>
            </a:r>
          </a:p>
          <a:p>
            <a:pPr algn="l">
              <a:lnSpc>
                <a:spcPct val="160000"/>
              </a:lnSpc>
            </a:pPr>
            <a:r>
              <a:rPr sz="1100" b="0">
                <a:solidFill>
                  <a:srgbClr val="1A1A1A"/>
                </a:solidFill>
                <a:latin typeface="Hiragino Sans"/>
                <a:ea typeface="Hiragino Sans"/>
                <a:cs typeface="Hiragino Sans"/>
              </a:rPr>
              <a:t>『Prefill with Grok』 = URLから自動広告作成</a:t>
            </a:r>
          </a:p>
          <a:p>
            <a:pPr algn="l">
              <a:lnSpc>
                <a:spcPct val="160000"/>
              </a:lnSpc>
            </a:pPr>
            <a:r>
              <a:rPr sz="1100" b="0">
                <a:solidFill>
                  <a:srgbClr val="1A1A1A"/>
                </a:solidFill>
                <a:latin typeface="Hiragino Sans"/>
                <a:ea typeface="Hiragino Sans"/>
                <a:cs typeface="Hiragino Sans"/>
              </a:rPr>
              <a:t>AI Campaign Analyzer = 配信効果を AI が改善提案</a:t>
            </a:r>
          </a:p>
        </p:txBody>
      </p:sp>
      <p:sp>
        <p:nvSpPr>
          <p:cNvPr id="16" name="Rounded Rectangle 15"/>
          <p:cNvSpPr/>
          <p:nvPr/>
        </p:nvSpPr>
        <p:spPr>
          <a:xfrm>
            <a:off x="6172200" y="2743200"/>
            <a:ext cx="5486400" cy="219456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72200" y="2743200"/>
            <a:ext cx="5486400" cy="64008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2907792"/>
            <a:ext cx="4937760" cy="411480"/>
          </a:xfrm>
          <a:prstGeom prst="rect">
            <a:avLst/>
          </a:prstGeom>
          <a:noFill/>
        </p:spPr>
        <p:txBody>
          <a:bodyPr wrap="square" anchor="t" lIns="0" rIns="0" tIns="0" bIns="0">
            <a:spAutoFit/>
          </a:bodyPr>
          <a:lstStyle/>
          <a:p>
            <a:pPr algn="l">
              <a:lnSpc>
                <a:spcPct val="115000"/>
              </a:lnSpc>
            </a:pPr>
            <a:r>
              <a:rPr sz="1500" b="1">
                <a:solidFill>
                  <a:srgbClr val="FFFFFF"/>
                </a:solidFill>
                <a:latin typeface="Hiragino Sans"/>
                <a:ea typeface="Hiragino Sans"/>
                <a:cs typeface="Hiragino Sans"/>
              </a:rPr>
              <a:t>Vertical Video + 新フォーマット</a:t>
            </a:r>
          </a:p>
        </p:txBody>
      </p:sp>
      <p:sp>
        <p:nvSpPr>
          <p:cNvPr id="19" name="TextBox 18"/>
          <p:cNvSpPr txBox="1"/>
          <p:nvPr/>
        </p:nvSpPr>
        <p:spPr>
          <a:xfrm>
            <a:off x="6446520" y="3611880"/>
            <a:ext cx="4937760" cy="128016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4:5 + 2:3 ratio が in-stream で利用可</a:t>
            </a:r>
          </a:p>
          <a:p>
            <a:pPr algn="l">
              <a:lnSpc>
                <a:spcPct val="160000"/>
              </a:lnSpc>
            </a:pPr>
            <a:r>
              <a:rPr sz="1100" b="0">
                <a:solidFill>
                  <a:srgbClr val="1A1A1A"/>
                </a:solidFill>
                <a:latin typeface="Hiragino Sans"/>
                <a:ea typeface="Hiragino Sans"/>
                <a:cs typeface="Hiragino Sans"/>
              </a:rPr>
              <a:t>他SNSのクリエイティブ流用が容易に</a:t>
            </a:r>
          </a:p>
          <a:p>
            <a:pPr algn="l">
              <a:lnSpc>
                <a:spcPct val="160000"/>
              </a:lnSpc>
            </a:pPr>
            <a:r>
              <a:rPr sz="1100" b="0">
                <a:solidFill>
                  <a:srgbClr val="1A1A1A"/>
                </a:solidFill>
                <a:latin typeface="Hiragino Sans"/>
                <a:ea typeface="Hiragino Sans"/>
                <a:cs typeface="Hiragino Sans"/>
              </a:rPr>
              <a:t>縦型動画が CPM最安 + エンゲージ最高</a:t>
            </a:r>
          </a:p>
        </p:txBody>
      </p:sp>
      <p:sp>
        <p:nvSpPr>
          <p:cNvPr id="20" name="Rounded Rectangle 19"/>
          <p:cNvSpPr/>
          <p:nvPr/>
        </p:nvSpPr>
        <p:spPr>
          <a:xfrm>
            <a:off x="548640" y="5212080"/>
            <a:ext cx="11109960" cy="114300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349240"/>
            <a:ext cx="109728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 副業代行で押さえるポイント</a:t>
            </a:r>
          </a:p>
        </p:txBody>
      </p:sp>
      <p:sp>
        <p:nvSpPr>
          <p:cNvPr id="22" name="TextBox 21"/>
          <p:cNvSpPr txBox="1"/>
          <p:nvPr/>
        </p:nvSpPr>
        <p:spPr>
          <a:xfrm>
            <a:off x="777240" y="5669280"/>
            <a:ext cx="10972800" cy="640080"/>
          </a:xfrm>
          <a:prstGeom prst="rect">
            <a:avLst/>
          </a:prstGeom>
          <a:noFill/>
        </p:spPr>
        <p:txBody>
          <a:bodyPr wrap="square" anchor="t" lIns="0" rIns="0" tIns="0" bIns="0">
            <a:spAutoFit/>
          </a:bodyPr>
          <a:lstStyle/>
          <a:p>
            <a:pPr algn="l">
              <a:lnSpc>
                <a:spcPct val="155000"/>
              </a:lnSpc>
            </a:pPr>
            <a:r>
              <a:rPr sz="1100" b="0">
                <a:solidFill>
                  <a:srgbClr val="1A1A1A"/>
                </a:solidFill>
                <a:latin typeface="Hiragino Sans"/>
                <a:ea typeface="Hiragino Sans"/>
                <a:cs typeface="Hiragino Sans"/>
              </a:rPr>
              <a:t>• X はB2C/B2B両方OK、ニュース性のあるブランドで強い</a:t>
            </a:r>
          </a:p>
          <a:p>
            <a:pPr algn="l">
              <a:lnSpc>
                <a:spcPct val="155000"/>
              </a:lnSpc>
            </a:pPr>
            <a:r>
              <a:rPr sz="1100" b="0">
                <a:solidFill>
                  <a:srgbClr val="1A1A1A"/>
                </a:solidFill>
                <a:latin typeface="Hiragino Sans"/>
                <a:ea typeface="Hiragino Sans"/>
                <a:cs typeface="Hiragino Sans"/>
              </a:rPr>
              <a:t>• ステマ規制 + DSA罰則 (X は EUR 4,500万 罰金事例) → 表記徹底</a:t>
            </a:r>
          </a:p>
          <a:p>
            <a:pPr algn="l">
              <a:lnSpc>
                <a:spcPct val="155000"/>
              </a:lnSpc>
            </a:pPr>
            <a:r>
              <a:rPr sz="1100" b="0">
                <a:solidFill>
                  <a:srgbClr val="1A1A1A"/>
                </a:solidFill>
                <a:latin typeface="Hiragino Sans"/>
                <a:ea typeface="Hiragino Sans"/>
                <a:cs typeface="Hiragino Sans"/>
              </a:rPr>
              <a:t>• 日本ではTwitterから X リブランド後もアクティブ層あり、低単価で実験しやすい</a:t>
            </a:r>
          </a:p>
        </p:txBody>
      </p:sp>
      <p:sp>
        <p:nvSpPr>
          <p:cNvPr id="23" name="TextBox 22"/>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X Ads キャンペーンタイプ + 配信面</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Promoted / Vertical Video / Takeover</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P127 / 250</a:t>
            </a:r>
          </a:p>
        </p:txBody>
      </p:sp>
      <p:sp>
        <p:nvSpPr>
          <p:cNvPr id="8" name="Rounded Rectangle 7"/>
          <p:cNvSpPr/>
          <p:nvPr/>
        </p:nvSpPr>
        <p:spPr>
          <a:xfrm>
            <a:off x="548640" y="1417320"/>
            <a:ext cx="2697480" cy="2286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2697480" cy="64008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536192"/>
            <a:ext cx="2331720" cy="365760"/>
          </a:xfrm>
          <a:prstGeom prst="rect">
            <a:avLst/>
          </a:prstGeom>
          <a:noFill/>
        </p:spPr>
        <p:txBody>
          <a:bodyPr wrap="square" anchor="t" lIns="0" rIns="0" tIns="0" bIns="0">
            <a:spAutoFit/>
          </a:bodyPr>
          <a:lstStyle/>
          <a:p>
            <a:pPr algn="ctr">
              <a:lnSpc>
                <a:spcPct val="115000"/>
              </a:lnSpc>
            </a:pPr>
            <a:r>
              <a:rPr sz="1400" b="1">
                <a:solidFill>
                  <a:srgbClr val="FFFFFF"/>
                </a:solidFill>
                <a:latin typeface="Helvetica Neue"/>
                <a:ea typeface="Helvetica Neue"/>
                <a:cs typeface="Helvetica Neue"/>
              </a:rPr>
              <a:t>Promoted Ads</a:t>
            </a:r>
          </a:p>
        </p:txBody>
      </p:sp>
      <p:sp>
        <p:nvSpPr>
          <p:cNvPr id="11" name="TextBox 10"/>
          <p:cNvSpPr txBox="1"/>
          <p:nvPr/>
        </p:nvSpPr>
        <p:spPr>
          <a:xfrm>
            <a:off x="731520" y="1920240"/>
            <a:ext cx="233172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通常タイムライン</a:t>
            </a:r>
          </a:p>
        </p:txBody>
      </p:sp>
      <p:sp>
        <p:nvSpPr>
          <p:cNvPr id="12" name="TextBox 11"/>
          <p:cNvSpPr txBox="1"/>
          <p:nvPr/>
        </p:nvSpPr>
        <p:spPr>
          <a:xfrm>
            <a:off x="731520" y="2331720"/>
            <a:ext cx="2331720" cy="1188720"/>
          </a:xfrm>
          <a:prstGeom prst="rect">
            <a:avLst/>
          </a:prstGeom>
          <a:noFill/>
        </p:spPr>
        <p:txBody>
          <a:bodyPr wrap="square" anchor="t" lIns="0" rIns="0" tIns="0" bIns="0">
            <a:spAutoFit/>
          </a:bodyPr>
          <a:lstStyle/>
          <a:p>
            <a:pPr algn="ctr">
              <a:lnSpc>
                <a:spcPct val="155000"/>
              </a:lnSpc>
            </a:pPr>
            <a:r>
              <a:rPr sz="1100" b="0">
                <a:solidFill>
                  <a:srgbClr val="1A1A1A"/>
                </a:solidFill>
                <a:latin typeface="Hiragino Sans"/>
                <a:ea typeface="Hiragino Sans"/>
                <a:cs typeface="Hiragino Sans"/>
              </a:rPr>
              <a:t>テキスト/画像/動画/カルーセル</a:t>
            </a:r>
          </a:p>
          <a:p>
            <a:pPr algn="ctr">
              <a:lnSpc>
                <a:spcPct val="155000"/>
              </a:lnSpc>
            </a:pPr>
            <a:r>
              <a:rPr sz="1100" b="0">
                <a:solidFill>
                  <a:srgbClr val="1A1A1A"/>
                </a:solidFill>
                <a:latin typeface="Hiragino Sans"/>
                <a:ea typeface="Hiragino Sans"/>
                <a:cs typeface="Hiragino Sans"/>
              </a:rPr>
              <a:t>標準的な配信</a:t>
            </a:r>
          </a:p>
        </p:txBody>
      </p:sp>
      <p:sp>
        <p:nvSpPr>
          <p:cNvPr id="13" name="Rounded Rectangle 12"/>
          <p:cNvSpPr/>
          <p:nvPr/>
        </p:nvSpPr>
        <p:spPr>
          <a:xfrm>
            <a:off x="3337560" y="1417320"/>
            <a:ext cx="2697480" cy="2286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37560" y="1417320"/>
            <a:ext cx="2697480" cy="64008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20440" y="1536192"/>
            <a:ext cx="2331720" cy="365760"/>
          </a:xfrm>
          <a:prstGeom prst="rect">
            <a:avLst/>
          </a:prstGeom>
          <a:noFill/>
        </p:spPr>
        <p:txBody>
          <a:bodyPr wrap="square" anchor="t" lIns="0" rIns="0" tIns="0" bIns="0">
            <a:spAutoFit/>
          </a:bodyPr>
          <a:lstStyle/>
          <a:p>
            <a:pPr algn="ctr">
              <a:lnSpc>
                <a:spcPct val="115000"/>
              </a:lnSpc>
            </a:pPr>
            <a:r>
              <a:rPr sz="1400" b="1">
                <a:solidFill>
                  <a:srgbClr val="FFFFFF"/>
                </a:solidFill>
                <a:latin typeface="Helvetica Neue"/>
                <a:ea typeface="Helvetica Neue"/>
                <a:cs typeface="Helvetica Neue"/>
              </a:rPr>
              <a:t>Vertical Video</a:t>
            </a:r>
          </a:p>
        </p:txBody>
      </p:sp>
      <p:sp>
        <p:nvSpPr>
          <p:cNvPr id="16" name="TextBox 15"/>
          <p:cNvSpPr txBox="1"/>
          <p:nvPr/>
        </p:nvSpPr>
        <p:spPr>
          <a:xfrm>
            <a:off x="3520440" y="1920240"/>
            <a:ext cx="233172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縦型 9:16 動画</a:t>
            </a:r>
          </a:p>
        </p:txBody>
      </p:sp>
      <p:sp>
        <p:nvSpPr>
          <p:cNvPr id="17" name="TextBox 16"/>
          <p:cNvSpPr txBox="1"/>
          <p:nvPr/>
        </p:nvSpPr>
        <p:spPr>
          <a:xfrm>
            <a:off x="3520440" y="2331720"/>
            <a:ext cx="2331720" cy="1188720"/>
          </a:xfrm>
          <a:prstGeom prst="rect">
            <a:avLst/>
          </a:prstGeom>
          <a:noFill/>
        </p:spPr>
        <p:txBody>
          <a:bodyPr wrap="square" anchor="t" lIns="0" rIns="0" tIns="0" bIns="0">
            <a:spAutoFit/>
          </a:bodyPr>
          <a:lstStyle/>
          <a:p>
            <a:pPr algn="ctr">
              <a:lnSpc>
                <a:spcPct val="155000"/>
              </a:lnSpc>
            </a:pPr>
            <a:r>
              <a:rPr sz="1100" b="0">
                <a:solidFill>
                  <a:srgbClr val="1A1A1A"/>
                </a:solidFill>
                <a:latin typeface="Hiragino Sans"/>
                <a:ea typeface="Hiragino Sans"/>
                <a:cs typeface="Hiragino Sans"/>
              </a:rPr>
              <a:t>For You / Trending内に表示</a:t>
            </a:r>
          </a:p>
          <a:p>
            <a:pPr algn="ctr">
              <a:lnSpc>
                <a:spcPct val="155000"/>
              </a:lnSpc>
            </a:pPr>
            <a:r>
              <a:rPr sz="1100" b="0">
                <a:solidFill>
                  <a:srgbClr val="1A1A1A"/>
                </a:solidFill>
                <a:latin typeface="Hiragino Sans"/>
                <a:ea typeface="Hiragino Sans"/>
                <a:cs typeface="Hiragino Sans"/>
              </a:rPr>
              <a:t>2025-2026最重要フォーマット</a:t>
            </a:r>
          </a:p>
        </p:txBody>
      </p:sp>
      <p:sp>
        <p:nvSpPr>
          <p:cNvPr id="18" name="Rounded Rectangle 17"/>
          <p:cNvSpPr/>
          <p:nvPr/>
        </p:nvSpPr>
        <p:spPr>
          <a:xfrm>
            <a:off x="6126480" y="1417320"/>
            <a:ext cx="2697480" cy="2286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0" y="1417320"/>
            <a:ext cx="2697480" cy="64008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1536192"/>
            <a:ext cx="2331720" cy="365760"/>
          </a:xfrm>
          <a:prstGeom prst="rect">
            <a:avLst/>
          </a:prstGeom>
          <a:noFill/>
        </p:spPr>
        <p:txBody>
          <a:bodyPr wrap="square" anchor="t" lIns="0" rIns="0" tIns="0" bIns="0">
            <a:spAutoFit/>
          </a:bodyPr>
          <a:lstStyle/>
          <a:p>
            <a:pPr algn="ctr">
              <a:lnSpc>
                <a:spcPct val="115000"/>
              </a:lnSpc>
            </a:pPr>
            <a:r>
              <a:rPr sz="1400" b="1">
                <a:solidFill>
                  <a:srgbClr val="FFFFFF"/>
                </a:solidFill>
                <a:latin typeface="Helvetica Neue"/>
                <a:ea typeface="Helvetica Neue"/>
                <a:cs typeface="Helvetica Neue"/>
              </a:rPr>
              <a:t>X Takeover</a:t>
            </a:r>
          </a:p>
        </p:txBody>
      </p:sp>
      <p:sp>
        <p:nvSpPr>
          <p:cNvPr id="21" name="TextBox 20"/>
          <p:cNvSpPr txBox="1"/>
          <p:nvPr/>
        </p:nvSpPr>
        <p:spPr>
          <a:xfrm>
            <a:off x="6309360" y="1920240"/>
            <a:ext cx="233172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Timeline+Explore Tab</a:t>
            </a:r>
          </a:p>
        </p:txBody>
      </p:sp>
      <p:sp>
        <p:nvSpPr>
          <p:cNvPr id="22" name="TextBox 21"/>
          <p:cNvSpPr txBox="1"/>
          <p:nvPr/>
        </p:nvSpPr>
        <p:spPr>
          <a:xfrm>
            <a:off x="6309360" y="2331720"/>
            <a:ext cx="2331720" cy="1188720"/>
          </a:xfrm>
          <a:prstGeom prst="rect">
            <a:avLst/>
          </a:prstGeom>
          <a:noFill/>
        </p:spPr>
        <p:txBody>
          <a:bodyPr wrap="square" anchor="t" lIns="0" rIns="0" tIns="0" bIns="0">
            <a:spAutoFit/>
          </a:bodyPr>
          <a:lstStyle/>
          <a:p>
            <a:pPr algn="ctr">
              <a:lnSpc>
                <a:spcPct val="155000"/>
              </a:lnSpc>
            </a:pPr>
            <a:r>
              <a:rPr sz="1100" b="0">
                <a:solidFill>
                  <a:srgbClr val="1A1A1A"/>
                </a:solidFill>
                <a:latin typeface="Hiragino Sans"/>
                <a:ea typeface="Hiragino Sans"/>
                <a:cs typeface="Hiragino Sans"/>
              </a:rPr>
              <a:t>プレミアム枠でリーチ最大化</a:t>
            </a:r>
          </a:p>
          <a:p>
            <a:pPr algn="ctr">
              <a:lnSpc>
                <a:spcPct val="155000"/>
              </a:lnSpc>
            </a:pPr>
            <a:r>
              <a:rPr sz="1100" b="0">
                <a:solidFill>
                  <a:srgbClr val="1A1A1A"/>
                </a:solidFill>
                <a:latin typeface="Hiragino Sans"/>
                <a:ea typeface="Hiragino Sans"/>
                <a:cs typeface="Hiragino Sans"/>
              </a:rPr>
              <a:t>大型ブランディング向け</a:t>
            </a:r>
          </a:p>
        </p:txBody>
      </p:sp>
      <p:sp>
        <p:nvSpPr>
          <p:cNvPr id="23" name="Rounded Rectangle 22"/>
          <p:cNvSpPr/>
          <p:nvPr/>
        </p:nvSpPr>
        <p:spPr>
          <a:xfrm>
            <a:off x="8915400" y="1417320"/>
            <a:ext cx="2697480" cy="2286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15400" y="1417320"/>
            <a:ext cx="2697480" cy="64008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98280" y="1536192"/>
            <a:ext cx="2331720" cy="365760"/>
          </a:xfrm>
          <a:prstGeom prst="rect">
            <a:avLst/>
          </a:prstGeom>
          <a:noFill/>
        </p:spPr>
        <p:txBody>
          <a:bodyPr wrap="square" anchor="t" lIns="0" rIns="0" tIns="0" bIns="0">
            <a:spAutoFit/>
          </a:bodyPr>
          <a:lstStyle/>
          <a:p>
            <a:pPr algn="ctr">
              <a:lnSpc>
                <a:spcPct val="115000"/>
              </a:lnSpc>
            </a:pPr>
            <a:r>
              <a:rPr sz="1400" b="1">
                <a:solidFill>
                  <a:srgbClr val="FFFFFF"/>
                </a:solidFill>
                <a:latin typeface="Helvetica Neue"/>
                <a:ea typeface="Helvetica Neue"/>
                <a:cs typeface="Helvetica Neue"/>
              </a:rPr>
              <a:t>Trend Takeover</a:t>
            </a:r>
          </a:p>
        </p:txBody>
      </p:sp>
      <p:sp>
        <p:nvSpPr>
          <p:cNvPr id="26" name="TextBox 25"/>
          <p:cNvSpPr txBox="1"/>
          <p:nvPr/>
        </p:nvSpPr>
        <p:spPr>
          <a:xfrm>
            <a:off x="9098280" y="1920240"/>
            <a:ext cx="233172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トレンド欄プロモ</a:t>
            </a:r>
          </a:p>
        </p:txBody>
      </p:sp>
      <p:sp>
        <p:nvSpPr>
          <p:cNvPr id="27" name="TextBox 26"/>
          <p:cNvSpPr txBox="1"/>
          <p:nvPr/>
        </p:nvSpPr>
        <p:spPr>
          <a:xfrm>
            <a:off x="9098280" y="2331720"/>
            <a:ext cx="2331720" cy="1188720"/>
          </a:xfrm>
          <a:prstGeom prst="rect">
            <a:avLst/>
          </a:prstGeom>
          <a:noFill/>
        </p:spPr>
        <p:txBody>
          <a:bodyPr wrap="square" anchor="t" lIns="0" rIns="0" tIns="0" bIns="0">
            <a:spAutoFit/>
          </a:bodyPr>
          <a:lstStyle/>
          <a:p>
            <a:pPr algn="ctr">
              <a:lnSpc>
                <a:spcPct val="155000"/>
              </a:lnSpc>
            </a:pPr>
            <a:r>
              <a:rPr sz="1100" b="0">
                <a:solidFill>
                  <a:srgbClr val="1A1A1A"/>
                </a:solidFill>
                <a:latin typeface="Hiragino Sans"/>
                <a:ea typeface="Hiragino Sans"/>
                <a:cs typeface="Hiragino Sans"/>
              </a:rPr>
              <a:t>Explore タブのトレンド一覧</a:t>
            </a:r>
          </a:p>
          <a:p>
            <a:pPr algn="ctr">
              <a:lnSpc>
                <a:spcPct val="155000"/>
              </a:lnSpc>
            </a:pPr>
            <a:r>
              <a:rPr sz="1100" b="0">
                <a:solidFill>
                  <a:srgbClr val="1A1A1A"/>
                </a:solidFill>
                <a:latin typeface="Hiragino Sans"/>
                <a:ea typeface="Hiragino Sans"/>
                <a:cs typeface="Hiragino Sans"/>
              </a:rPr>
              <a:t>ハッシュタグ訴求</a:t>
            </a:r>
          </a:p>
        </p:txBody>
      </p:sp>
      <p:sp>
        <p:nvSpPr>
          <p:cNvPr id="28" name="TextBox 27"/>
          <p:cNvSpPr txBox="1"/>
          <p:nvPr/>
        </p:nvSpPr>
        <p:spPr>
          <a:xfrm>
            <a:off x="548640" y="3931920"/>
            <a:ext cx="1097280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ターゲティング (X固有)</a:t>
            </a:r>
          </a:p>
        </p:txBody>
      </p:sp>
      <p:sp>
        <p:nvSpPr>
          <p:cNvPr id="29" name="Rectangle 28"/>
          <p:cNvSpPr/>
          <p:nvPr/>
        </p:nvSpPr>
        <p:spPr>
          <a:xfrm>
            <a:off x="548640" y="4297680"/>
            <a:ext cx="1110996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 y="4480560"/>
            <a:ext cx="27432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a:t>
            </a:r>
          </a:p>
        </p:txBody>
      </p:sp>
      <p:sp>
        <p:nvSpPr>
          <p:cNvPr id="31" name="TextBox 30"/>
          <p:cNvSpPr txBox="1"/>
          <p:nvPr/>
        </p:nvSpPr>
        <p:spPr>
          <a:xfrm>
            <a:off x="914400" y="4498848"/>
            <a:ext cx="320040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Followers Look-alike</a:t>
            </a:r>
          </a:p>
        </p:txBody>
      </p:sp>
      <p:sp>
        <p:nvSpPr>
          <p:cNvPr id="32" name="TextBox 31"/>
          <p:cNvSpPr txBox="1"/>
          <p:nvPr/>
        </p:nvSpPr>
        <p:spPr>
          <a:xfrm>
            <a:off x="4114800" y="4498848"/>
            <a:ext cx="7315200" cy="274320"/>
          </a:xfrm>
          <a:prstGeom prst="rect">
            <a:avLst/>
          </a:prstGeom>
          <a:noFill/>
        </p:spPr>
        <p:txBody>
          <a:bodyPr wrap="square" anchor="t" lIns="0" rIns="0" tIns="0" bIns="0">
            <a:spAutoFit/>
          </a:bodyPr>
          <a:lstStyle/>
          <a:p>
            <a:pPr algn="l">
              <a:lnSpc>
                <a:spcPct val="115000"/>
              </a:lnSpc>
            </a:pPr>
            <a:r>
              <a:rPr sz="1100" b="0">
                <a:solidFill>
                  <a:srgbClr val="1A1A1A"/>
                </a:solidFill>
                <a:latin typeface="Hiragino Sans"/>
                <a:ea typeface="Hiragino Sans"/>
                <a:cs typeface="Hiragino Sans"/>
              </a:rPr>
              <a:t>他アカウントのフォロワーに類似した層</a:t>
            </a:r>
          </a:p>
        </p:txBody>
      </p:sp>
      <p:sp>
        <p:nvSpPr>
          <p:cNvPr id="33" name="TextBox 32"/>
          <p:cNvSpPr txBox="1"/>
          <p:nvPr/>
        </p:nvSpPr>
        <p:spPr>
          <a:xfrm>
            <a:off x="640080" y="4864608"/>
            <a:ext cx="27432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a:t>
            </a:r>
          </a:p>
        </p:txBody>
      </p:sp>
      <p:sp>
        <p:nvSpPr>
          <p:cNvPr id="34" name="TextBox 33"/>
          <p:cNvSpPr txBox="1"/>
          <p:nvPr/>
        </p:nvSpPr>
        <p:spPr>
          <a:xfrm>
            <a:off x="914400" y="4882896"/>
            <a:ext cx="320040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Conversation</a:t>
            </a:r>
          </a:p>
        </p:txBody>
      </p:sp>
      <p:sp>
        <p:nvSpPr>
          <p:cNvPr id="35" name="TextBox 34"/>
          <p:cNvSpPr txBox="1"/>
          <p:nvPr/>
        </p:nvSpPr>
        <p:spPr>
          <a:xfrm>
            <a:off x="4114800" y="4882896"/>
            <a:ext cx="7315200" cy="274320"/>
          </a:xfrm>
          <a:prstGeom prst="rect">
            <a:avLst/>
          </a:prstGeom>
          <a:noFill/>
        </p:spPr>
        <p:txBody>
          <a:bodyPr wrap="square" anchor="t" lIns="0" rIns="0" tIns="0" bIns="0">
            <a:spAutoFit/>
          </a:bodyPr>
          <a:lstStyle/>
          <a:p>
            <a:pPr algn="l">
              <a:lnSpc>
                <a:spcPct val="115000"/>
              </a:lnSpc>
            </a:pPr>
            <a:r>
              <a:rPr sz="1100" b="0">
                <a:solidFill>
                  <a:srgbClr val="1A1A1A"/>
                </a:solidFill>
                <a:latin typeface="Hiragino Sans"/>
                <a:ea typeface="Hiragino Sans"/>
                <a:cs typeface="Hiragino Sans"/>
              </a:rPr>
              <a:t>特定キーワードの会話に参加するユーザー</a:t>
            </a:r>
          </a:p>
        </p:txBody>
      </p:sp>
      <p:sp>
        <p:nvSpPr>
          <p:cNvPr id="36" name="TextBox 35"/>
          <p:cNvSpPr txBox="1"/>
          <p:nvPr/>
        </p:nvSpPr>
        <p:spPr>
          <a:xfrm>
            <a:off x="640080" y="5248656"/>
            <a:ext cx="27432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a:t>
            </a:r>
          </a:p>
        </p:txBody>
      </p:sp>
      <p:sp>
        <p:nvSpPr>
          <p:cNvPr id="37" name="TextBox 36"/>
          <p:cNvSpPr txBox="1"/>
          <p:nvPr/>
        </p:nvSpPr>
        <p:spPr>
          <a:xfrm>
            <a:off x="914400" y="5266944"/>
            <a:ext cx="320040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Keyword</a:t>
            </a:r>
          </a:p>
        </p:txBody>
      </p:sp>
      <p:sp>
        <p:nvSpPr>
          <p:cNvPr id="38" name="TextBox 37"/>
          <p:cNvSpPr txBox="1"/>
          <p:nvPr/>
        </p:nvSpPr>
        <p:spPr>
          <a:xfrm>
            <a:off x="4114800" y="5266944"/>
            <a:ext cx="7315200" cy="274320"/>
          </a:xfrm>
          <a:prstGeom prst="rect">
            <a:avLst/>
          </a:prstGeom>
          <a:noFill/>
        </p:spPr>
        <p:txBody>
          <a:bodyPr wrap="square" anchor="t" lIns="0" rIns="0" tIns="0" bIns="0">
            <a:spAutoFit/>
          </a:bodyPr>
          <a:lstStyle/>
          <a:p>
            <a:pPr algn="l">
              <a:lnSpc>
                <a:spcPct val="115000"/>
              </a:lnSpc>
            </a:pPr>
            <a:r>
              <a:rPr sz="1100" b="0">
                <a:solidFill>
                  <a:srgbClr val="1A1A1A"/>
                </a:solidFill>
                <a:latin typeface="Hiragino Sans"/>
                <a:ea typeface="Hiragino Sans"/>
                <a:cs typeface="Hiragino Sans"/>
              </a:rPr>
              <a:t>ツイート内キーワードベース (リアルタイム性)</a:t>
            </a:r>
          </a:p>
        </p:txBody>
      </p:sp>
      <p:sp>
        <p:nvSpPr>
          <p:cNvPr id="39" name="TextBox 38"/>
          <p:cNvSpPr txBox="1"/>
          <p:nvPr/>
        </p:nvSpPr>
        <p:spPr>
          <a:xfrm>
            <a:off x="640080" y="5632704"/>
            <a:ext cx="27432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a:t>
            </a:r>
          </a:p>
        </p:txBody>
      </p:sp>
      <p:sp>
        <p:nvSpPr>
          <p:cNvPr id="40" name="TextBox 39"/>
          <p:cNvSpPr txBox="1"/>
          <p:nvPr/>
        </p:nvSpPr>
        <p:spPr>
          <a:xfrm>
            <a:off x="914400" y="5650992"/>
            <a:ext cx="320040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Event</a:t>
            </a:r>
          </a:p>
        </p:txBody>
      </p:sp>
      <p:sp>
        <p:nvSpPr>
          <p:cNvPr id="41" name="TextBox 40"/>
          <p:cNvSpPr txBox="1"/>
          <p:nvPr/>
        </p:nvSpPr>
        <p:spPr>
          <a:xfrm>
            <a:off x="4114800" y="5650992"/>
            <a:ext cx="7315200" cy="274320"/>
          </a:xfrm>
          <a:prstGeom prst="rect">
            <a:avLst/>
          </a:prstGeom>
          <a:noFill/>
        </p:spPr>
        <p:txBody>
          <a:bodyPr wrap="square" anchor="t" lIns="0" rIns="0" tIns="0" bIns="0">
            <a:spAutoFit/>
          </a:bodyPr>
          <a:lstStyle/>
          <a:p>
            <a:pPr algn="l">
              <a:lnSpc>
                <a:spcPct val="115000"/>
              </a:lnSpc>
            </a:pPr>
            <a:r>
              <a:rPr sz="1100" b="0">
                <a:solidFill>
                  <a:srgbClr val="1A1A1A"/>
                </a:solidFill>
                <a:latin typeface="Hiragino Sans"/>
                <a:ea typeface="Hiragino Sans"/>
                <a:cs typeface="Hiragino Sans"/>
              </a:rPr>
              <a:t>スポーツ / エンタメ / ニュースイベント連動</a:t>
            </a:r>
          </a:p>
        </p:txBody>
      </p:sp>
      <p:sp>
        <p:nvSpPr>
          <p:cNvPr id="42" name="TextBox 41"/>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Grok AI連携 (2025-2026)</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X が AI ファースト広告プラットフォームへ</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P128 / 250</a:t>
            </a:r>
          </a:p>
        </p:txBody>
      </p:sp>
      <p:sp>
        <p:nvSpPr>
          <p:cNvPr id="8" name="Rounded Rectangle 7"/>
          <p:cNvSpPr/>
          <p:nvPr/>
        </p:nvSpPr>
        <p:spPr>
          <a:xfrm>
            <a:off x="548640" y="1417320"/>
            <a:ext cx="3611880" cy="27432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361188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581912"/>
            <a:ext cx="3246120" cy="411480"/>
          </a:xfrm>
          <a:prstGeom prst="rect">
            <a:avLst/>
          </a:prstGeom>
          <a:noFill/>
        </p:spPr>
        <p:txBody>
          <a:bodyPr wrap="square" anchor="t" lIns="0" rIns="0" tIns="0" bIns="0">
            <a:spAutoFit/>
          </a:bodyPr>
          <a:lstStyle/>
          <a:p>
            <a:pPr algn="l">
              <a:lnSpc>
                <a:spcPct val="120000"/>
              </a:lnSpc>
            </a:pPr>
            <a:r>
              <a:rPr sz="1500" b="1">
                <a:solidFill>
                  <a:srgbClr val="FFFFFF"/>
                </a:solidFill>
                <a:latin typeface="Hiragino Sans"/>
                <a:ea typeface="Hiragino Sans"/>
                <a:cs typeface="Hiragino Sans"/>
              </a:rPr>
              <a:t>Prefill with Grok</a:t>
            </a:r>
          </a:p>
        </p:txBody>
      </p:sp>
      <p:sp>
        <p:nvSpPr>
          <p:cNvPr id="11" name="TextBox 10"/>
          <p:cNvSpPr txBox="1"/>
          <p:nvPr/>
        </p:nvSpPr>
        <p:spPr>
          <a:xfrm>
            <a:off x="777240" y="1965960"/>
            <a:ext cx="3246120" cy="27432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URL → 自動広告生成</a:t>
            </a:r>
          </a:p>
        </p:txBody>
      </p:sp>
      <p:sp>
        <p:nvSpPr>
          <p:cNvPr id="12" name="TextBox 11"/>
          <p:cNvSpPr txBox="1"/>
          <p:nvPr/>
        </p:nvSpPr>
        <p:spPr>
          <a:xfrm>
            <a:off x="777240" y="2423160"/>
            <a:ext cx="3246120" cy="169164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ランディングページURLを入力</a:t>
            </a:r>
          </a:p>
          <a:p>
            <a:pPr algn="l">
              <a:lnSpc>
                <a:spcPct val="160000"/>
              </a:lnSpc>
            </a:pPr>
            <a:r>
              <a:rPr sz="1100" b="0">
                <a:solidFill>
                  <a:srgbClr val="1A1A1A"/>
                </a:solidFill>
                <a:latin typeface="Hiragino Sans"/>
                <a:ea typeface="Hiragino Sans"/>
                <a:cs typeface="Hiragino Sans"/>
              </a:rPr>
              <a:t>Grok が広告文・画像を自動生成</a:t>
            </a:r>
          </a:p>
          <a:p>
            <a:pPr algn="l">
              <a:lnSpc>
                <a:spcPct val="160000"/>
              </a:lnSpc>
            </a:pPr>
            <a:r>
              <a:rPr sz="1100" b="0">
                <a:solidFill>
                  <a:srgbClr val="1A1A1A"/>
                </a:solidFill>
                <a:latin typeface="Hiragino Sans"/>
                <a:ea typeface="Hiragino Sans"/>
                <a:cs typeface="Hiragino Sans"/>
              </a:rPr>
              <a:t>人間が修正・配信</a:t>
            </a:r>
          </a:p>
        </p:txBody>
      </p:sp>
      <p:sp>
        <p:nvSpPr>
          <p:cNvPr id="13" name="Rounded Rectangle 12"/>
          <p:cNvSpPr/>
          <p:nvPr/>
        </p:nvSpPr>
        <p:spPr>
          <a:xfrm>
            <a:off x="4297680" y="1417320"/>
            <a:ext cx="3611880" cy="27432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7680" y="1417320"/>
            <a:ext cx="361188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26280" y="1581912"/>
            <a:ext cx="3246120" cy="411480"/>
          </a:xfrm>
          <a:prstGeom prst="rect">
            <a:avLst/>
          </a:prstGeom>
          <a:noFill/>
        </p:spPr>
        <p:txBody>
          <a:bodyPr wrap="square" anchor="t" lIns="0" rIns="0" tIns="0" bIns="0">
            <a:spAutoFit/>
          </a:bodyPr>
          <a:lstStyle/>
          <a:p>
            <a:pPr algn="l">
              <a:lnSpc>
                <a:spcPct val="120000"/>
              </a:lnSpc>
            </a:pPr>
            <a:r>
              <a:rPr sz="1500" b="1">
                <a:solidFill>
                  <a:srgbClr val="FFFFFF"/>
                </a:solidFill>
                <a:latin typeface="Hiragino Sans"/>
                <a:ea typeface="Hiragino Sans"/>
                <a:cs typeface="Hiragino Sans"/>
              </a:rPr>
              <a:t>AI Campaign Analyzer</a:t>
            </a:r>
          </a:p>
        </p:txBody>
      </p:sp>
      <p:sp>
        <p:nvSpPr>
          <p:cNvPr id="16" name="TextBox 15"/>
          <p:cNvSpPr txBox="1"/>
          <p:nvPr/>
        </p:nvSpPr>
        <p:spPr>
          <a:xfrm>
            <a:off x="4526280" y="1965960"/>
            <a:ext cx="3246120" cy="27432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配信効果を AI 改善</a:t>
            </a:r>
          </a:p>
        </p:txBody>
      </p:sp>
      <p:sp>
        <p:nvSpPr>
          <p:cNvPr id="17" name="TextBox 16"/>
          <p:cNvSpPr txBox="1"/>
          <p:nvPr/>
        </p:nvSpPr>
        <p:spPr>
          <a:xfrm>
            <a:off x="4526280" y="2423160"/>
            <a:ext cx="3246120" cy="169164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現状のキャンペーンを Grok が分析</a:t>
            </a:r>
          </a:p>
          <a:p>
            <a:pPr algn="l">
              <a:lnSpc>
                <a:spcPct val="160000"/>
              </a:lnSpc>
            </a:pPr>
            <a:r>
              <a:rPr sz="1100" b="0">
                <a:solidFill>
                  <a:srgbClr val="1A1A1A"/>
                </a:solidFill>
                <a:latin typeface="Hiragino Sans"/>
                <a:ea typeface="Hiragino Sans"/>
                <a:cs typeface="Hiragino Sans"/>
              </a:rPr>
              <a:t>弱点とアクションを提案</a:t>
            </a:r>
          </a:p>
          <a:p>
            <a:pPr algn="l">
              <a:lnSpc>
                <a:spcPct val="160000"/>
              </a:lnSpc>
            </a:pPr>
            <a:r>
              <a:rPr sz="1100" b="0">
                <a:solidFill>
                  <a:srgbClr val="1A1A1A"/>
                </a:solidFill>
                <a:latin typeface="Hiragino Sans"/>
                <a:ea typeface="Hiragino Sans"/>
                <a:cs typeface="Hiragino Sans"/>
              </a:rPr>
              <a:t>Advantage+ / Smart+ 相当の機能</a:t>
            </a:r>
          </a:p>
        </p:txBody>
      </p:sp>
      <p:sp>
        <p:nvSpPr>
          <p:cNvPr id="18" name="Rounded Rectangle 17"/>
          <p:cNvSpPr/>
          <p:nvPr/>
        </p:nvSpPr>
        <p:spPr>
          <a:xfrm>
            <a:off x="8046720" y="1417320"/>
            <a:ext cx="3611880" cy="27432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6720" y="1417320"/>
            <a:ext cx="361188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1581912"/>
            <a:ext cx="3246120" cy="411480"/>
          </a:xfrm>
          <a:prstGeom prst="rect">
            <a:avLst/>
          </a:prstGeom>
          <a:noFill/>
        </p:spPr>
        <p:txBody>
          <a:bodyPr wrap="square" anchor="t" lIns="0" rIns="0" tIns="0" bIns="0">
            <a:spAutoFit/>
          </a:bodyPr>
          <a:lstStyle/>
          <a:p>
            <a:pPr algn="l">
              <a:lnSpc>
                <a:spcPct val="120000"/>
              </a:lnSpc>
            </a:pPr>
            <a:r>
              <a:rPr sz="1500" b="1">
                <a:solidFill>
                  <a:srgbClr val="FFFFFF"/>
                </a:solidFill>
                <a:latin typeface="Hiragino Sans"/>
                <a:ea typeface="Hiragino Sans"/>
                <a:cs typeface="Hiragino Sans"/>
              </a:rPr>
              <a:t>Algorithm = Grok</a:t>
            </a:r>
          </a:p>
        </p:txBody>
      </p:sp>
      <p:sp>
        <p:nvSpPr>
          <p:cNvPr id="21" name="TextBox 20"/>
          <p:cNvSpPr txBox="1"/>
          <p:nvPr/>
        </p:nvSpPr>
        <p:spPr>
          <a:xfrm>
            <a:off x="8275320" y="1965960"/>
            <a:ext cx="3246120" cy="27432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配信ランキングが AI ベース</a:t>
            </a:r>
          </a:p>
        </p:txBody>
      </p:sp>
      <p:sp>
        <p:nvSpPr>
          <p:cNvPr id="22" name="TextBox 21"/>
          <p:cNvSpPr txBox="1"/>
          <p:nvPr/>
        </p:nvSpPr>
        <p:spPr>
          <a:xfrm>
            <a:off x="8275320" y="2423160"/>
            <a:ext cx="3246120" cy="169164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X のフィード表示アルゴリズム自体が</a:t>
            </a:r>
          </a:p>
          <a:p>
            <a:pPr algn="l">
              <a:lnSpc>
                <a:spcPct val="160000"/>
              </a:lnSpc>
            </a:pPr>
            <a:r>
              <a:rPr sz="1100" b="0">
                <a:solidFill>
                  <a:srgbClr val="1A1A1A"/>
                </a:solidFill>
                <a:latin typeface="Hiragino Sans"/>
                <a:ea typeface="Hiragino Sans"/>
                <a:cs typeface="Hiragino Sans"/>
              </a:rPr>
              <a:t>Grok 推論ベースに移行 (段階的)</a:t>
            </a:r>
          </a:p>
          <a:p>
            <a:pPr algn="l">
              <a:lnSpc>
                <a:spcPct val="160000"/>
              </a:lnSpc>
            </a:pPr>
            <a:r>
              <a:rPr sz="1100" b="0">
                <a:solidFill>
                  <a:srgbClr val="1A1A1A"/>
                </a:solidFill>
                <a:latin typeface="Hiragino Sans"/>
                <a:ea typeface="Hiragino Sans"/>
                <a:cs typeface="Hiragino Sans"/>
              </a:rPr>
              <a:t>→ クリエイティブの『内容』理解が向上</a:t>
            </a:r>
          </a:p>
        </p:txBody>
      </p:sp>
      <p:sp>
        <p:nvSpPr>
          <p:cNvPr id="23" name="Rounded Rectangle 22"/>
          <p:cNvSpPr/>
          <p:nvPr/>
        </p:nvSpPr>
        <p:spPr>
          <a:xfrm>
            <a:off x="548640" y="4297680"/>
            <a:ext cx="11109960" cy="205740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4434840"/>
            <a:ext cx="10058400" cy="320040"/>
          </a:xfrm>
          <a:prstGeom prst="rect">
            <a:avLst/>
          </a:prstGeom>
          <a:noFill/>
        </p:spPr>
        <p:txBody>
          <a:bodyPr wrap="square" anchor="t" lIns="0" rIns="0" tIns="0" bIns="0">
            <a:spAutoFit/>
          </a:bodyPr>
          <a:lstStyle/>
          <a:p>
            <a:pPr algn="l">
              <a:lnSpc>
                <a:spcPct val="115000"/>
              </a:lnSpc>
            </a:pPr>
            <a:r>
              <a:rPr sz="1200" b="1">
                <a:solidFill>
                  <a:srgbClr val="E87722"/>
                </a:solidFill>
                <a:latin typeface="Hiragino Sans"/>
                <a:ea typeface="Hiragino Sans"/>
                <a:cs typeface="Hiragino Sans"/>
              </a:rPr>
              <a:t>💡 副業代行 : X Ads再開時の注意</a:t>
            </a:r>
          </a:p>
        </p:txBody>
      </p:sp>
      <p:sp>
        <p:nvSpPr>
          <p:cNvPr id="25" name="TextBox 24"/>
          <p:cNvSpPr txBox="1"/>
          <p:nvPr/>
        </p:nvSpPr>
        <p:spPr>
          <a:xfrm>
            <a:off x="777240" y="4754880"/>
            <a:ext cx="10972800" cy="1554480"/>
          </a:xfrm>
          <a:prstGeom prst="rect">
            <a:avLst/>
          </a:prstGeom>
          <a:noFill/>
        </p:spPr>
        <p:txBody>
          <a:bodyPr wrap="square" anchor="t" lIns="0" rIns="0" tIns="0" bIns="0">
            <a:spAutoFit/>
          </a:bodyPr>
          <a:lstStyle/>
          <a:p>
            <a:pPr algn="l">
              <a:lnSpc>
                <a:spcPct val="155000"/>
              </a:lnSpc>
            </a:pPr>
            <a:r>
              <a:rPr sz="1100" b="0">
                <a:solidFill>
                  <a:srgbClr val="FFFFFF"/>
                </a:solidFill>
                <a:latin typeface="Hiragino Sans"/>
                <a:ea typeface="Hiragino Sans"/>
                <a:cs typeface="Hiragino Sans"/>
              </a:rPr>
              <a:t>• Twitter時代 (2023年9月以前) と管理画面 / プロダクト名 が大幅変更</a:t>
            </a:r>
          </a:p>
          <a:p>
            <a:pPr algn="l">
              <a:lnSpc>
                <a:spcPct val="155000"/>
              </a:lnSpc>
            </a:pPr>
            <a:r>
              <a:rPr sz="1100" b="0">
                <a:solidFill>
                  <a:srgbClr val="FFFFFF"/>
                </a:solidFill>
                <a:latin typeface="Hiragino Sans"/>
                <a:ea typeface="Hiragino Sans"/>
                <a:cs typeface="Hiragino Sans"/>
              </a:rPr>
              <a:t>• Grok生成広告は『ステマ規制』の対象外だが、AI生成が露見した場合の信頼性懸念あり</a:t>
            </a:r>
          </a:p>
          <a:p>
            <a:pPr algn="l">
              <a:lnSpc>
                <a:spcPct val="155000"/>
              </a:lnSpc>
            </a:pPr>
            <a:r>
              <a:rPr sz="1100" b="0">
                <a:solidFill>
                  <a:srgbClr val="FFFFFF"/>
                </a:solidFill>
                <a:latin typeface="Hiragino Sans"/>
                <a:ea typeface="Hiragino Sans"/>
                <a:cs typeface="Hiragino Sans"/>
              </a:rPr>
              <a:t>• 縦型動画 + Promoted Ads の組合せが現代の鉄板</a:t>
            </a:r>
          </a:p>
          <a:p>
            <a:pPr algn="l">
              <a:lnSpc>
                <a:spcPct val="155000"/>
              </a:lnSpc>
            </a:pPr>
            <a:r>
              <a:rPr sz="1100" b="0">
                <a:solidFill>
                  <a:srgbClr val="FFFFFF"/>
                </a:solidFill>
                <a:latin typeface="Hiragino Sans"/>
                <a:ea typeface="Hiragino Sans"/>
                <a:cs typeface="Hiragino Sans"/>
              </a:rPr>
              <a:t>• ニュース性業種 (新商品告知 / スポーツ / エンタメ) では他媒体より低単価でリーチ可</a:t>
            </a:r>
          </a:p>
          <a:p>
            <a:pPr algn="l">
              <a:lnSpc>
                <a:spcPct val="155000"/>
              </a:lnSpc>
            </a:pPr>
            <a:r>
              <a:rPr sz="1100" b="0">
                <a:solidFill>
                  <a:srgbClr val="FFFFFF"/>
                </a:solidFill>
                <a:latin typeface="Hiragino Sans"/>
                <a:ea typeface="Hiragino Sans"/>
                <a:cs typeface="Hiragino Sans"/>
              </a:rPr>
              <a:t>• 政治・センシティブ広告は依然として厳しい審査 → 該当業種は事前確認必須</a:t>
            </a:r>
          </a:p>
        </p:txBody>
      </p:sp>
      <p:sp>
        <p:nvSpPr>
          <p:cNvPr id="26" name="TextBox 25"/>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X 計測 + 規制対応</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Pixel + EU DSA罰則例</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P129 / 250</a:t>
            </a:r>
          </a:p>
        </p:txBody>
      </p:sp>
      <p:sp>
        <p:nvSpPr>
          <p:cNvPr id="8" name="TextBox 7"/>
          <p:cNvSpPr txBox="1"/>
          <p:nvPr/>
        </p:nvSpPr>
        <p:spPr>
          <a:xfrm>
            <a:off x="548640" y="1417320"/>
            <a:ext cx="548640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計測</a:t>
            </a:r>
          </a:p>
        </p:txBody>
      </p:sp>
      <p:sp>
        <p:nvSpPr>
          <p:cNvPr id="9" name="Rectangle 8"/>
          <p:cNvSpPr/>
          <p:nvPr/>
        </p:nvSpPr>
        <p:spPr>
          <a:xfrm>
            <a:off x="548640" y="1783080"/>
            <a:ext cx="548640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1965960"/>
            <a:ext cx="5486400" cy="54864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057400"/>
            <a:ext cx="5029200" cy="27432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X Pixel</a:t>
            </a:r>
          </a:p>
        </p:txBody>
      </p:sp>
      <p:sp>
        <p:nvSpPr>
          <p:cNvPr id="12" name="TextBox 11"/>
          <p:cNvSpPr txBox="1"/>
          <p:nvPr/>
        </p:nvSpPr>
        <p:spPr>
          <a:xfrm>
            <a:off x="777240" y="2331720"/>
            <a:ext cx="5029200" cy="228600"/>
          </a:xfrm>
          <a:prstGeom prst="rect">
            <a:avLst/>
          </a:prstGeom>
          <a:noFill/>
        </p:spPr>
        <p:txBody>
          <a:bodyPr wrap="square" anchor="t" lIns="0" rIns="0" tIns="0" bIns="0">
            <a:spAutoFit/>
          </a:bodyPr>
          <a:lstStyle/>
          <a:p>
            <a:pPr algn="l">
              <a:lnSpc>
                <a:spcPct val="115000"/>
              </a:lnSpc>
            </a:pPr>
            <a:r>
              <a:rPr sz="1000" b="0">
                <a:solidFill>
                  <a:srgbClr val="5A6A80"/>
                </a:solidFill>
                <a:latin typeface="Hiragino Sans"/>
                <a:ea typeface="Hiragino Sans"/>
                <a:cs typeface="Hiragino Sans"/>
              </a:rPr>
              <a:t>Webコンバージョン計測の基盤</a:t>
            </a:r>
          </a:p>
        </p:txBody>
      </p:sp>
      <p:sp>
        <p:nvSpPr>
          <p:cNvPr id="13" name="Rounded Rectangle 12"/>
          <p:cNvSpPr/>
          <p:nvPr/>
        </p:nvSpPr>
        <p:spPr>
          <a:xfrm>
            <a:off x="548640" y="2606040"/>
            <a:ext cx="5486400" cy="54864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697480"/>
            <a:ext cx="5029200" cy="27432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Conversion API</a:t>
            </a:r>
          </a:p>
        </p:txBody>
      </p:sp>
      <p:sp>
        <p:nvSpPr>
          <p:cNvPr id="15" name="TextBox 14"/>
          <p:cNvSpPr txBox="1"/>
          <p:nvPr/>
        </p:nvSpPr>
        <p:spPr>
          <a:xfrm>
            <a:off x="777240" y="2971800"/>
            <a:ext cx="5029200" cy="228600"/>
          </a:xfrm>
          <a:prstGeom prst="rect">
            <a:avLst/>
          </a:prstGeom>
          <a:noFill/>
        </p:spPr>
        <p:txBody>
          <a:bodyPr wrap="square" anchor="t" lIns="0" rIns="0" tIns="0" bIns="0">
            <a:spAutoFit/>
          </a:bodyPr>
          <a:lstStyle/>
          <a:p>
            <a:pPr algn="l">
              <a:lnSpc>
                <a:spcPct val="115000"/>
              </a:lnSpc>
            </a:pPr>
            <a:r>
              <a:rPr sz="1000" b="0">
                <a:solidFill>
                  <a:srgbClr val="5A6A80"/>
                </a:solidFill>
                <a:latin typeface="Hiragino Sans"/>
                <a:ea typeface="Hiragino Sans"/>
                <a:cs typeface="Hiragino Sans"/>
              </a:rPr>
              <a:t>サーバーサイド計測 (CAPI相当)</a:t>
            </a:r>
          </a:p>
        </p:txBody>
      </p:sp>
      <p:sp>
        <p:nvSpPr>
          <p:cNvPr id="16" name="Rounded Rectangle 15"/>
          <p:cNvSpPr/>
          <p:nvPr/>
        </p:nvSpPr>
        <p:spPr>
          <a:xfrm>
            <a:off x="548640" y="3246120"/>
            <a:ext cx="5486400" cy="54864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337560"/>
            <a:ext cx="5029200" cy="27432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Web Conversion Optimization</a:t>
            </a:r>
          </a:p>
        </p:txBody>
      </p:sp>
      <p:sp>
        <p:nvSpPr>
          <p:cNvPr id="18" name="TextBox 17"/>
          <p:cNvSpPr txBox="1"/>
          <p:nvPr/>
        </p:nvSpPr>
        <p:spPr>
          <a:xfrm>
            <a:off x="777240" y="3611880"/>
            <a:ext cx="5029200" cy="228600"/>
          </a:xfrm>
          <a:prstGeom prst="rect">
            <a:avLst/>
          </a:prstGeom>
          <a:noFill/>
        </p:spPr>
        <p:txBody>
          <a:bodyPr wrap="square" anchor="t" lIns="0" rIns="0" tIns="0" bIns="0">
            <a:spAutoFit/>
          </a:bodyPr>
          <a:lstStyle/>
          <a:p>
            <a:pPr algn="l">
              <a:lnSpc>
                <a:spcPct val="115000"/>
              </a:lnSpc>
            </a:pPr>
            <a:r>
              <a:rPr sz="1000" b="0">
                <a:solidFill>
                  <a:srgbClr val="5A6A80"/>
                </a:solidFill>
                <a:latin typeface="Hiragino Sans"/>
                <a:ea typeface="Hiragino Sans"/>
                <a:cs typeface="Hiragino Sans"/>
              </a:rPr>
              <a:t>AI入札のCV最適化</a:t>
            </a:r>
          </a:p>
        </p:txBody>
      </p:sp>
      <p:sp>
        <p:nvSpPr>
          <p:cNvPr id="19" name="Rounded Rectangle 18"/>
          <p:cNvSpPr/>
          <p:nvPr/>
        </p:nvSpPr>
        <p:spPr>
          <a:xfrm>
            <a:off x="548640" y="3886200"/>
            <a:ext cx="5486400" cy="54864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977640"/>
            <a:ext cx="5029200" cy="27432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App Conversion Tracking</a:t>
            </a:r>
          </a:p>
        </p:txBody>
      </p:sp>
      <p:sp>
        <p:nvSpPr>
          <p:cNvPr id="21" name="TextBox 20"/>
          <p:cNvSpPr txBox="1"/>
          <p:nvPr/>
        </p:nvSpPr>
        <p:spPr>
          <a:xfrm>
            <a:off x="777240" y="4251960"/>
            <a:ext cx="5029200" cy="228600"/>
          </a:xfrm>
          <a:prstGeom prst="rect">
            <a:avLst/>
          </a:prstGeom>
          <a:noFill/>
        </p:spPr>
        <p:txBody>
          <a:bodyPr wrap="square" anchor="t" lIns="0" rIns="0" tIns="0" bIns="0">
            <a:spAutoFit/>
          </a:bodyPr>
          <a:lstStyle/>
          <a:p>
            <a:pPr algn="l">
              <a:lnSpc>
                <a:spcPct val="115000"/>
              </a:lnSpc>
            </a:pPr>
            <a:r>
              <a:rPr sz="1000" b="0">
                <a:solidFill>
                  <a:srgbClr val="5A6A80"/>
                </a:solidFill>
                <a:latin typeface="Hiragino Sans"/>
                <a:ea typeface="Hiragino Sans"/>
                <a:cs typeface="Hiragino Sans"/>
              </a:rPr>
              <a:t>iOS / Android アプリCV</a:t>
            </a:r>
          </a:p>
        </p:txBody>
      </p:sp>
      <p:sp>
        <p:nvSpPr>
          <p:cNvPr id="22" name="TextBox 21"/>
          <p:cNvSpPr txBox="1"/>
          <p:nvPr/>
        </p:nvSpPr>
        <p:spPr>
          <a:xfrm>
            <a:off x="6400800" y="1417320"/>
            <a:ext cx="5486400" cy="365760"/>
          </a:xfrm>
          <a:prstGeom prst="rect">
            <a:avLst/>
          </a:prstGeom>
          <a:noFill/>
        </p:spPr>
        <p:txBody>
          <a:bodyPr wrap="square" anchor="t" lIns="0" rIns="0" tIns="0" bIns="0">
            <a:spAutoFit/>
          </a:bodyPr>
          <a:lstStyle/>
          <a:p>
            <a:pPr algn="l">
              <a:lnSpc>
                <a:spcPct val="115000"/>
              </a:lnSpc>
            </a:pPr>
            <a:r>
              <a:rPr sz="1300" b="1">
                <a:solidFill>
                  <a:srgbClr val="C6452D"/>
                </a:solidFill>
                <a:latin typeface="Hiragino Sans"/>
                <a:ea typeface="Hiragino Sans"/>
                <a:cs typeface="Hiragino Sans"/>
              </a:rPr>
              <a:t>規制対応 (重要)</a:t>
            </a:r>
          </a:p>
        </p:txBody>
      </p:sp>
      <p:sp>
        <p:nvSpPr>
          <p:cNvPr id="23" name="Rectangle 22"/>
          <p:cNvSpPr/>
          <p:nvPr/>
        </p:nvSpPr>
        <p:spPr>
          <a:xfrm>
            <a:off x="6400800" y="1783080"/>
            <a:ext cx="525780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400800" y="1965960"/>
            <a:ext cx="5257800" cy="914400"/>
          </a:xfrm>
          <a:prstGeom prst="roundRect">
            <a:avLst>
              <a:gd name="adj" fmla="val 6000"/>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83680" y="2057400"/>
            <a:ext cx="4572000" cy="274320"/>
          </a:xfrm>
          <a:prstGeom prst="rect">
            <a:avLst/>
          </a:prstGeom>
          <a:noFill/>
        </p:spPr>
        <p:txBody>
          <a:bodyPr wrap="square" anchor="t" lIns="0" rIns="0" tIns="0" bIns="0">
            <a:spAutoFit/>
          </a:bodyPr>
          <a:lstStyle/>
          <a:p>
            <a:pPr algn="l">
              <a:lnSpc>
                <a:spcPct val="115000"/>
              </a:lnSpc>
            </a:pPr>
            <a:r>
              <a:rPr sz="1100" b="1">
                <a:solidFill>
                  <a:srgbClr val="FFFFFF"/>
                </a:solidFill>
                <a:latin typeface="Hiragino Sans"/>
                <a:ea typeface="Hiragino Sans"/>
                <a:cs typeface="Hiragino Sans"/>
              </a:rPr>
              <a:t>🔥 EU DSA 罰金事例</a:t>
            </a:r>
          </a:p>
        </p:txBody>
      </p:sp>
      <p:sp>
        <p:nvSpPr>
          <p:cNvPr id="26" name="TextBox 25"/>
          <p:cNvSpPr txBox="1"/>
          <p:nvPr/>
        </p:nvSpPr>
        <p:spPr>
          <a:xfrm>
            <a:off x="6583680" y="2331720"/>
            <a:ext cx="4937760" cy="548640"/>
          </a:xfrm>
          <a:prstGeom prst="rect">
            <a:avLst/>
          </a:prstGeom>
          <a:noFill/>
        </p:spPr>
        <p:txBody>
          <a:bodyPr wrap="square" anchor="t" lIns="0" rIns="0" tIns="0" bIns="0">
            <a:spAutoFit/>
          </a:bodyPr>
          <a:lstStyle/>
          <a:p>
            <a:pPr algn="l">
              <a:lnSpc>
                <a:spcPct val="145000"/>
              </a:lnSpc>
            </a:pPr>
            <a:r>
              <a:rPr sz="1200" b="1">
                <a:solidFill>
                  <a:srgbClr val="FFFFFF"/>
                </a:solidFill>
                <a:latin typeface="Hiragino Sans"/>
                <a:ea typeface="Hiragino Sans"/>
                <a:cs typeface="Hiragino Sans"/>
              </a:rPr>
              <a:t>X (Twitter) に EUR 4,500万 罰金</a:t>
            </a:r>
          </a:p>
          <a:p>
            <a:pPr algn="l">
              <a:lnSpc>
                <a:spcPct val="145000"/>
              </a:lnSpc>
            </a:pPr>
            <a:r>
              <a:rPr sz="1200" b="1">
                <a:solidFill>
                  <a:srgbClr val="FFFFFF"/>
                </a:solidFill>
                <a:latin typeface="Hiragino Sans"/>
                <a:ea typeface="Hiragino Sans"/>
                <a:cs typeface="Hiragino Sans"/>
              </a:rPr>
              <a:t>(2024年・広告レポジトリ違反)</a:t>
            </a:r>
          </a:p>
        </p:txBody>
      </p:sp>
      <p:sp>
        <p:nvSpPr>
          <p:cNvPr id="27" name="Rounded Rectangle 26"/>
          <p:cNvSpPr/>
          <p:nvPr/>
        </p:nvSpPr>
        <p:spPr>
          <a:xfrm>
            <a:off x="6400800" y="3017520"/>
            <a:ext cx="5257800" cy="548640"/>
          </a:xfrm>
          <a:prstGeom prst="roundRect">
            <a:avLst>
              <a:gd name="adj" fmla="val 6000"/>
            </a:avLst>
          </a:prstGeom>
          <a:solidFill>
            <a:srgbClr val="FFF3E6"/>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0" y="3108960"/>
            <a:ext cx="4572000" cy="274320"/>
          </a:xfrm>
          <a:prstGeom prst="rect">
            <a:avLst/>
          </a:prstGeom>
          <a:noFill/>
        </p:spPr>
        <p:txBody>
          <a:bodyPr wrap="square" anchor="t" lIns="0" rIns="0" tIns="0" bIns="0">
            <a:spAutoFit/>
          </a:bodyPr>
          <a:lstStyle/>
          <a:p>
            <a:pPr algn="l">
              <a:lnSpc>
                <a:spcPct val="115000"/>
              </a:lnSpc>
            </a:pPr>
            <a:r>
              <a:rPr sz="1100" b="1">
                <a:solidFill>
                  <a:srgbClr val="B85E1A"/>
                </a:solidFill>
                <a:latin typeface="Hiragino Sans"/>
                <a:ea typeface="Hiragino Sans"/>
                <a:cs typeface="Hiragino Sans"/>
              </a:rPr>
              <a:t>ステマ規制 (景表法)</a:t>
            </a:r>
          </a:p>
        </p:txBody>
      </p:sp>
      <p:sp>
        <p:nvSpPr>
          <p:cNvPr id="29" name="TextBox 28"/>
          <p:cNvSpPr txBox="1"/>
          <p:nvPr/>
        </p:nvSpPr>
        <p:spPr>
          <a:xfrm>
            <a:off x="6583680" y="3337560"/>
            <a:ext cx="4937760" cy="22860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PR表記必須 (Promoted は自動付与)</a:t>
            </a:r>
          </a:p>
        </p:txBody>
      </p:sp>
      <p:sp>
        <p:nvSpPr>
          <p:cNvPr id="30" name="Rounded Rectangle 29"/>
          <p:cNvSpPr/>
          <p:nvPr/>
        </p:nvSpPr>
        <p:spPr>
          <a:xfrm>
            <a:off x="6400800" y="3657600"/>
            <a:ext cx="5257800" cy="548640"/>
          </a:xfrm>
          <a:prstGeom prst="roundRect">
            <a:avLst>
              <a:gd name="adj" fmla="val 6000"/>
            </a:avLst>
          </a:prstGeom>
          <a:solidFill>
            <a:srgbClr val="FFF3E6"/>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83680" y="3749039"/>
            <a:ext cx="4572000" cy="274320"/>
          </a:xfrm>
          <a:prstGeom prst="rect">
            <a:avLst/>
          </a:prstGeom>
          <a:noFill/>
        </p:spPr>
        <p:txBody>
          <a:bodyPr wrap="square" anchor="t" lIns="0" rIns="0" tIns="0" bIns="0">
            <a:spAutoFit/>
          </a:bodyPr>
          <a:lstStyle/>
          <a:p>
            <a:pPr algn="l">
              <a:lnSpc>
                <a:spcPct val="115000"/>
              </a:lnSpc>
            </a:pPr>
            <a:r>
              <a:rPr sz="1100" b="1">
                <a:solidFill>
                  <a:srgbClr val="B85E1A"/>
                </a:solidFill>
                <a:latin typeface="Hiragino Sans"/>
                <a:ea typeface="Hiragino Sans"/>
                <a:cs typeface="Hiragino Sans"/>
              </a:rPr>
              <a:t>ブランドセーフティ</a:t>
            </a:r>
          </a:p>
        </p:txBody>
      </p:sp>
      <p:sp>
        <p:nvSpPr>
          <p:cNvPr id="32" name="TextBox 31"/>
          <p:cNvSpPr txBox="1"/>
          <p:nvPr/>
        </p:nvSpPr>
        <p:spPr>
          <a:xfrm>
            <a:off x="6583680" y="3977639"/>
            <a:ext cx="4937760" cy="22860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Inventory Filter で配信面を厳格化</a:t>
            </a:r>
          </a:p>
        </p:txBody>
      </p:sp>
      <p:sp>
        <p:nvSpPr>
          <p:cNvPr id="33" name="Rounded Rectangle 32"/>
          <p:cNvSpPr/>
          <p:nvPr/>
        </p:nvSpPr>
        <p:spPr>
          <a:xfrm>
            <a:off x="548640" y="5349240"/>
            <a:ext cx="11109960" cy="100584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77240" y="5532120"/>
            <a:ext cx="10972800" cy="731520"/>
          </a:xfrm>
          <a:prstGeom prst="rect">
            <a:avLst/>
          </a:prstGeom>
          <a:noFill/>
        </p:spPr>
        <p:txBody>
          <a:bodyPr wrap="square" anchor="t" lIns="0" rIns="0" tIns="0" bIns="0">
            <a:spAutoFit/>
          </a:bodyPr>
          <a:lstStyle/>
          <a:p>
            <a:pPr algn="l">
              <a:lnSpc>
                <a:spcPct val="155000"/>
              </a:lnSpc>
            </a:pPr>
            <a:r>
              <a:rPr sz="1100" b="1">
                <a:solidFill>
                  <a:srgbClr val="FFFFFF"/>
                </a:solidFill>
                <a:latin typeface="Hiragino Sans"/>
                <a:ea typeface="Hiragino Sans"/>
                <a:cs typeface="Hiragino Sans"/>
              </a:rPr>
              <a:t>💡 副業代行 : X案件は『リスク説明 + 実装精度』で差別化。</a:t>
            </a:r>
          </a:p>
          <a:p>
            <a:pPr algn="l">
              <a:lnSpc>
                <a:spcPct val="155000"/>
              </a:lnSpc>
            </a:pPr>
            <a:r>
              <a:rPr sz="1100" b="1">
                <a:solidFill>
                  <a:srgbClr val="FFFFFF"/>
                </a:solidFill>
                <a:latin typeface="Hiragino Sans"/>
                <a:ea typeface="Hiragino Sans"/>
                <a:cs typeface="Hiragino Sans"/>
              </a:rPr>
              <a:t>  EU向け / センシティブ業種は事前審査必須</a:t>
            </a:r>
          </a:p>
        </p:txBody>
      </p:sp>
      <p:sp>
        <p:nvSpPr>
          <p:cNvPr id="35" name="TextBox 34"/>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X : 鉄板運用 + よくある失敗</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30日プラン + pitfalls</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P130 / 250</a:t>
            </a:r>
          </a:p>
        </p:txBody>
      </p:sp>
      <p:sp>
        <p:nvSpPr>
          <p:cNvPr id="8" name="TextBox 7"/>
          <p:cNvSpPr txBox="1"/>
          <p:nvPr/>
        </p:nvSpPr>
        <p:spPr>
          <a:xfrm>
            <a:off x="548640" y="1417320"/>
            <a:ext cx="548640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30日鉄板プラン</a:t>
            </a:r>
          </a:p>
        </p:txBody>
      </p:sp>
      <p:sp>
        <p:nvSpPr>
          <p:cNvPr id="9" name="Rectangle 8"/>
          <p:cNvSpPr/>
          <p:nvPr/>
        </p:nvSpPr>
        <p:spPr>
          <a:xfrm>
            <a:off x="548640" y="1783080"/>
            <a:ext cx="548640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1965960"/>
            <a:ext cx="5486400" cy="54864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965960"/>
            <a:ext cx="1188720" cy="5486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130552"/>
            <a:ext cx="1188720" cy="274320"/>
          </a:xfrm>
          <a:prstGeom prst="rect">
            <a:avLst/>
          </a:prstGeom>
          <a:noFill/>
        </p:spPr>
        <p:txBody>
          <a:bodyPr wrap="square" anchor="t" lIns="0" rIns="0" tIns="0" bIns="0">
            <a:spAutoFit/>
          </a:bodyPr>
          <a:lstStyle/>
          <a:p>
            <a:pPr algn="ctr">
              <a:lnSpc>
                <a:spcPct val="115000"/>
              </a:lnSpc>
            </a:pPr>
            <a:r>
              <a:rPr sz="1100" b="1">
                <a:solidFill>
                  <a:srgbClr val="E87722"/>
                </a:solidFill>
                <a:latin typeface="Helvetica Neue"/>
                <a:ea typeface="Helvetica Neue"/>
                <a:cs typeface="Helvetica Neue"/>
              </a:rPr>
              <a:t>Day 0-3</a:t>
            </a:r>
          </a:p>
        </p:txBody>
      </p:sp>
      <p:sp>
        <p:nvSpPr>
          <p:cNvPr id="13" name="TextBox 12"/>
          <p:cNvSpPr txBox="1"/>
          <p:nvPr/>
        </p:nvSpPr>
        <p:spPr>
          <a:xfrm>
            <a:off x="1874519" y="2130552"/>
            <a:ext cx="402336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Pixel + Conversion API + 計測確認</a:t>
            </a:r>
          </a:p>
        </p:txBody>
      </p:sp>
      <p:sp>
        <p:nvSpPr>
          <p:cNvPr id="14" name="Rounded Rectangle 13"/>
          <p:cNvSpPr/>
          <p:nvPr/>
        </p:nvSpPr>
        <p:spPr>
          <a:xfrm>
            <a:off x="548640" y="2606040"/>
            <a:ext cx="5486400" cy="54864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606040"/>
            <a:ext cx="1188720" cy="5486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2770632"/>
            <a:ext cx="1188720" cy="274320"/>
          </a:xfrm>
          <a:prstGeom prst="rect">
            <a:avLst/>
          </a:prstGeom>
          <a:noFill/>
        </p:spPr>
        <p:txBody>
          <a:bodyPr wrap="square" anchor="t" lIns="0" rIns="0" tIns="0" bIns="0">
            <a:spAutoFit/>
          </a:bodyPr>
          <a:lstStyle/>
          <a:p>
            <a:pPr algn="ctr">
              <a:lnSpc>
                <a:spcPct val="115000"/>
              </a:lnSpc>
            </a:pPr>
            <a:r>
              <a:rPr sz="1100" b="1">
                <a:solidFill>
                  <a:srgbClr val="E87722"/>
                </a:solidFill>
                <a:latin typeface="Helvetica Neue"/>
                <a:ea typeface="Helvetica Neue"/>
                <a:cs typeface="Helvetica Neue"/>
              </a:rPr>
              <a:t>Day 4-7</a:t>
            </a:r>
          </a:p>
        </p:txBody>
      </p:sp>
      <p:sp>
        <p:nvSpPr>
          <p:cNvPr id="17" name="TextBox 16"/>
          <p:cNvSpPr txBox="1"/>
          <p:nvPr/>
        </p:nvSpPr>
        <p:spPr>
          <a:xfrm>
            <a:off x="1874519" y="2770632"/>
            <a:ext cx="402336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Promoted + 縦型動画 でテスト</a:t>
            </a:r>
          </a:p>
        </p:txBody>
      </p:sp>
      <p:sp>
        <p:nvSpPr>
          <p:cNvPr id="18" name="Rounded Rectangle 17"/>
          <p:cNvSpPr/>
          <p:nvPr/>
        </p:nvSpPr>
        <p:spPr>
          <a:xfrm>
            <a:off x="548640" y="3246120"/>
            <a:ext cx="5486400" cy="54864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246120"/>
            <a:ext cx="1188720" cy="5486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3410712"/>
            <a:ext cx="1188720" cy="274320"/>
          </a:xfrm>
          <a:prstGeom prst="rect">
            <a:avLst/>
          </a:prstGeom>
          <a:noFill/>
        </p:spPr>
        <p:txBody>
          <a:bodyPr wrap="square" anchor="t" lIns="0" rIns="0" tIns="0" bIns="0">
            <a:spAutoFit/>
          </a:bodyPr>
          <a:lstStyle/>
          <a:p>
            <a:pPr algn="ctr">
              <a:lnSpc>
                <a:spcPct val="115000"/>
              </a:lnSpc>
            </a:pPr>
            <a:r>
              <a:rPr sz="1100" b="1">
                <a:solidFill>
                  <a:srgbClr val="E87722"/>
                </a:solidFill>
                <a:latin typeface="Helvetica Neue"/>
                <a:ea typeface="Helvetica Neue"/>
                <a:cs typeface="Helvetica Neue"/>
              </a:rPr>
              <a:t>Day 8-21</a:t>
            </a:r>
          </a:p>
        </p:txBody>
      </p:sp>
      <p:sp>
        <p:nvSpPr>
          <p:cNvPr id="21" name="TextBox 20"/>
          <p:cNvSpPr txBox="1"/>
          <p:nvPr/>
        </p:nvSpPr>
        <p:spPr>
          <a:xfrm>
            <a:off x="1874519" y="3410712"/>
            <a:ext cx="402336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Grok Prefill 活用 + クリエイティブ多様化</a:t>
            </a:r>
          </a:p>
        </p:txBody>
      </p:sp>
      <p:sp>
        <p:nvSpPr>
          <p:cNvPr id="22" name="Rounded Rectangle 21"/>
          <p:cNvSpPr/>
          <p:nvPr/>
        </p:nvSpPr>
        <p:spPr>
          <a:xfrm>
            <a:off x="548640" y="3886200"/>
            <a:ext cx="5486400" cy="54864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48640" y="3886200"/>
            <a:ext cx="1188720" cy="5486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4050792"/>
            <a:ext cx="1188720" cy="274320"/>
          </a:xfrm>
          <a:prstGeom prst="rect">
            <a:avLst/>
          </a:prstGeom>
          <a:noFill/>
        </p:spPr>
        <p:txBody>
          <a:bodyPr wrap="square" anchor="t" lIns="0" rIns="0" tIns="0" bIns="0">
            <a:spAutoFit/>
          </a:bodyPr>
          <a:lstStyle/>
          <a:p>
            <a:pPr algn="ctr">
              <a:lnSpc>
                <a:spcPct val="115000"/>
              </a:lnSpc>
            </a:pPr>
            <a:r>
              <a:rPr sz="1100" b="1">
                <a:solidFill>
                  <a:srgbClr val="E87722"/>
                </a:solidFill>
                <a:latin typeface="Helvetica Neue"/>
                <a:ea typeface="Helvetica Neue"/>
                <a:cs typeface="Helvetica Neue"/>
              </a:rPr>
              <a:t>Day 22-30</a:t>
            </a:r>
          </a:p>
        </p:txBody>
      </p:sp>
      <p:sp>
        <p:nvSpPr>
          <p:cNvPr id="25" name="TextBox 24"/>
          <p:cNvSpPr txBox="1"/>
          <p:nvPr/>
        </p:nvSpPr>
        <p:spPr>
          <a:xfrm>
            <a:off x="1874519" y="4050792"/>
            <a:ext cx="402336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Best/Low 入替 + 月次レポート</a:t>
            </a:r>
          </a:p>
        </p:txBody>
      </p:sp>
      <p:sp>
        <p:nvSpPr>
          <p:cNvPr id="26" name="TextBox 25"/>
          <p:cNvSpPr txBox="1"/>
          <p:nvPr/>
        </p:nvSpPr>
        <p:spPr>
          <a:xfrm>
            <a:off x="6400800" y="1417320"/>
            <a:ext cx="5486400" cy="365760"/>
          </a:xfrm>
          <a:prstGeom prst="rect">
            <a:avLst/>
          </a:prstGeom>
          <a:noFill/>
        </p:spPr>
        <p:txBody>
          <a:bodyPr wrap="square" anchor="t" lIns="0" rIns="0" tIns="0" bIns="0">
            <a:spAutoFit/>
          </a:bodyPr>
          <a:lstStyle/>
          <a:p>
            <a:pPr algn="l">
              <a:lnSpc>
                <a:spcPct val="115000"/>
              </a:lnSpc>
            </a:pPr>
            <a:r>
              <a:rPr sz="1300" b="1">
                <a:solidFill>
                  <a:srgbClr val="C6452D"/>
                </a:solidFill>
                <a:latin typeface="Hiragino Sans"/>
                <a:ea typeface="Hiragino Sans"/>
                <a:cs typeface="Hiragino Sans"/>
              </a:rPr>
              <a:t>よくある失敗</a:t>
            </a:r>
          </a:p>
        </p:txBody>
      </p:sp>
      <p:sp>
        <p:nvSpPr>
          <p:cNvPr id="27" name="Rectangle 26"/>
          <p:cNvSpPr/>
          <p:nvPr/>
        </p:nvSpPr>
        <p:spPr>
          <a:xfrm>
            <a:off x="6400800" y="1783080"/>
            <a:ext cx="525780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400800" y="1965960"/>
            <a:ext cx="5257800" cy="5486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400800" y="1965960"/>
            <a:ext cx="91440" cy="548640"/>
          </a:xfrm>
          <a:prstGeom prst="rect">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0" y="2039112"/>
            <a:ext cx="493776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Twitter時代の感覚で運用</a:t>
            </a:r>
          </a:p>
        </p:txBody>
      </p:sp>
      <p:sp>
        <p:nvSpPr>
          <p:cNvPr id="31" name="TextBox 30"/>
          <p:cNvSpPr txBox="1"/>
          <p:nvPr/>
        </p:nvSpPr>
        <p:spPr>
          <a:xfrm>
            <a:off x="6583680" y="2258568"/>
            <a:ext cx="4937760" cy="228600"/>
          </a:xfrm>
          <a:prstGeom prst="rect">
            <a:avLst/>
          </a:prstGeom>
          <a:noFill/>
        </p:spPr>
        <p:txBody>
          <a:bodyPr wrap="square" anchor="t" lIns="0" rIns="0" tIns="0" bIns="0">
            <a:spAutoFit/>
          </a:bodyPr>
          <a:lstStyle/>
          <a:p>
            <a:pPr algn="l">
              <a:lnSpc>
                <a:spcPct val="115000"/>
              </a:lnSpc>
            </a:pPr>
            <a:r>
              <a:rPr sz="900" b="0">
                <a:solidFill>
                  <a:srgbClr val="5A6A80"/>
                </a:solidFill>
                <a:latin typeface="Hiragino Sans"/>
                <a:ea typeface="Hiragino Sans"/>
                <a:cs typeface="Hiragino Sans"/>
              </a:rPr>
              <a:t>管理画面・プロダクト名が大幅変更</a:t>
            </a:r>
          </a:p>
        </p:txBody>
      </p:sp>
      <p:sp>
        <p:nvSpPr>
          <p:cNvPr id="32" name="Rounded Rectangle 31"/>
          <p:cNvSpPr/>
          <p:nvPr/>
        </p:nvSpPr>
        <p:spPr>
          <a:xfrm>
            <a:off x="6400800" y="2606040"/>
            <a:ext cx="5257800" cy="5486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400800" y="2606040"/>
            <a:ext cx="91440" cy="548640"/>
          </a:xfrm>
          <a:prstGeom prst="rect">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0" y="2679192"/>
            <a:ext cx="493776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PR表記漏れ</a:t>
            </a:r>
          </a:p>
        </p:txBody>
      </p:sp>
      <p:sp>
        <p:nvSpPr>
          <p:cNvPr id="35" name="TextBox 34"/>
          <p:cNvSpPr txBox="1"/>
          <p:nvPr/>
        </p:nvSpPr>
        <p:spPr>
          <a:xfrm>
            <a:off x="6583680" y="2898648"/>
            <a:ext cx="4937760" cy="228600"/>
          </a:xfrm>
          <a:prstGeom prst="rect">
            <a:avLst/>
          </a:prstGeom>
          <a:noFill/>
        </p:spPr>
        <p:txBody>
          <a:bodyPr wrap="square" anchor="t" lIns="0" rIns="0" tIns="0" bIns="0">
            <a:spAutoFit/>
          </a:bodyPr>
          <a:lstStyle/>
          <a:p>
            <a:pPr algn="l">
              <a:lnSpc>
                <a:spcPct val="115000"/>
              </a:lnSpc>
            </a:pPr>
            <a:r>
              <a:rPr sz="900" b="0">
                <a:solidFill>
                  <a:srgbClr val="5A6A80"/>
                </a:solidFill>
                <a:latin typeface="Hiragino Sans"/>
                <a:ea typeface="Hiragino Sans"/>
                <a:cs typeface="Hiragino Sans"/>
              </a:rPr>
              <a:t>ステマ規制違反 + EU DSA罰則</a:t>
            </a:r>
          </a:p>
        </p:txBody>
      </p:sp>
      <p:sp>
        <p:nvSpPr>
          <p:cNvPr id="36" name="Rounded Rectangle 35"/>
          <p:cNvSpPr/>
          <p:nvPr/>
        </p:nvSpPr>
        <p:spPr>
          <a:xfrm>
            <a:off x="6400800" y="3246120"/>
            <a:ext cx="5257800" cy="5486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400800" y="3246120"/>
            <a:ext cx="91440" cy="548640"/>
          </a:xfrm>
          <a:prstGeom prst="rect">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83680" y="3319272"/>
            <a:ext cx="493776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AI生成広告の品質管理放置</a:t>
            </a:r>
          </a:p>
        </p:txBody>
      </p:sp>
      <p:sp>
        <p:nvSpPr>
          <p:cNvPr id="39" name="TextBox 38"/>
          <p:cNvSpPr txBox="1"/>
          <p:nvPr/>
        </p:nvSpPr>
        <p:spPr>
          <a:xfrm>
            <a:off x="6583680" y="3538728"/>
            <a:ext cx="4937760" cy="228600"/>
          </a:xfrm>
          <a:prstGeom prst="rect">
            <a:avLst/>
          </a:prstGeom>
          <a:noFill/>
        </p:spPr>
        <p:txBody>
          <a:bodyPr wrap="square" anchor="t" lIns="0" rIns="0" tIns="0" bIns="0">
            <a:spAutoFit/>
          </a:bodyPr>
          <a:lstStyle/>
          <a:p>
            <a:pPr algn="l">
              <a:lnSpc>
                <a:spcPct val="115000"/>
              </a:lnSpc>
            </a:pPr>
            <a:r>
              <a:rPr sz="900" b="0">
                <a:solidFill>
                  <a:srgbClr val="5A6A80"/>
                </a:solidFill>
                <a:latin typeface="Hiragino Sans"/>
                <a:ea typeface="Hiragino Sans"/>
                <a:cs typeface="Hiragino Sans"/>
              </a:rPr>
              <a:t>Grok生成は人間レビュー必須</a:t>
            </a:r>
          </a:p>
        </p:txBody>
      </p:sp>
      <p:sp>
        <p:nvSpPr>
          <p:cNvPr id="40" name="Rounded Rectangle 39"/>
          <p:cNvSpPr/>
          <p:nvPr/>
        </p:nvSpPr>
        <p:spPr>
          <a:xfrm>
            <a:off x="6400800" y="3886200"/>
            <a:ext cx="5257800" cy="5486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400800" y="3886200"/>
            <a:ext cx="91440" cy="548640"/>
          </a:xfrm>
          <a:prstGeom prst="rect">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583680" y="3959352"/>
            <a:ext cx="493776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縦型動画を準備せず</a:t>
            </a:r>
          </a:p>
        </p:txBody>
      </p:sp>
      <p:sp>
        <p:nvSpPr>
          <p:cNvPr id="43" name="TextBox 42"/>
          <p:cNvSpPr txBox="1"/>
          <p:nvPr/>
        </p:nvSpPr>
        <p:spPr>
          <a:xfrm>
            <a:off x="6583680" y="4178808"/>
            <a:ext cx="4937760" cy="228600"/>
          </a:xfrm>
          <a:prstGeom prst="rect">
            <a:avLst/>
          </a:prstGeom>
          <a:noFill/>
        </p:spPr>
        <p:txBody>
          <a:bodyPr wrap="square" anchor="t" lIns="0" rIns="0" tIns="0" bIns="0">
            <a:spAutoFit/>
          </a:bodyPr>
          <a:lstStyle/>
          <a:p>
            <a:pPr algn="l">
              <a:lnSpc>
                <a:spcPct val="115000"/>
              </a:lnSpc>
            </a:pPr>
            <a:r>
              <a:rPr sz="900" b="0">
                <a:solidFill>
                  <a:srgbClr val="5A6A80"/>
                </a:solidFill>
                <a:latin typeface="Hiragino Sans"/>
                <a:ea typeface="Hiragino Sans"/>
                <a:cs typeface="Hiragino Sans"/>
              </a:rPr>
              <a:t>20% of user time の縦型を逃す</a:t>
            </a:r>
          </a:p>
        </p:txBody>
      </p:sp>
      <p:sp>
        <p:nvSpPr>
          <p:cNvPr id="44" name="Rounded Rectangle 43"/>
          <p:cNvSpPr/>
          <p:nvPr/>
        </p:nvSpPr>
        <p:spPr>
          <a:xfrm>
            <a:off x="548640" y="4937760"/>
            <a:ext cx="11109960" cy="141732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77240" y="5074920"/>
            <a:ext cx="10972800" cy="320040"/>
          </a:xfrm>
          <a:prstGeom prst="rect">
            <a:avLst/>
          </a:prstGeom>
          <a:noFill/>
        </p:spPr>
        <p:txBody>
          <a:bodyPr wrap="square" anchor="t" lIns="0" rIns="0" tIns="0" bIns="0">
            <a:spAutoFit/>
          </a:bodyPr>
          <a:lstStyle/>
          <a:p>
            <a:pPr algn="l">
              <a:lnSpc>
                <a:spcPct val="115000"/>
              </a:lnSpc>
            </a:pPr>
            <a:r>
              <a:rPr sz="1200" b="1">
                <a:solidFill>
                  <a:srgbClr val="E87722"/>
                </a:solidFill>
                <a:latin typeface="Hiragino Sans"/>
                <a:ea typeface="Hiragino Sans"/>
                <a:cs typeface="Hiragino Sans"/>
              </a:rPr>
              <a:t>📊 X案件の予算設計の目安</a:t>
            </a:r>
          </a:p>
        </p:txBody>
      </p:sp>
      <p:sp>
        <p:nvSpPr>
          <p:cNvPr id="46" name="TextBox 45"/>
          <p:cNvSpPr txBox="1"/>
          <p:nvPr/>
        </p:nvSpPr>
        <p:spPr>
          <a:xfrm>
            <a:off x="777240" y="5394960"/>
            <a:ext cx="10972800" cy="960120"/>
          </a:xfrm>
          <a:prstGeom prst="rect">
            <a:avLst/>
          </a:prstGeom>
          <a:noFill/>
        </p:spPr>
        <p:txBody>
          <a:bodyPr wrap="square" anchor="t" lIns="0" rIns="0" tIns="0" bIns="0">
            <a:spAutoFit/>
          </a:bodyPr>
          <a:lstStyle/>
          <a:p>
            <a:pPr algn="l">
              <a:lnSpc>
                <a:spcPct val="155000"/>
              </a:lnSpc>
            </a:pPr>
            <a:r>
              <a:rPr sz="1100" b="0">
                <a:solidFill>
                  <a:srgbClr val="FFFFFF"/>
                </a:solidFill>
                <a:latin typeface="Hiragino Sans"/>
                <a:ea typeface="Hiragino Sans"/>
                <a:cs typeface="Hiragino Sans"/>
              </a:rPr>
              <a:t>• 試験運用 : 月10-30万円 (CV系) / 月50-100万円 (認知系)</a:t>
            </a:r>
          </a:p>
          <a:p>
            <a:pPr algn="l">
              <a:lnSpc>
                <a:spcPct val="155000"/>
              </a:lnSpc>
            </a:pPr>
            <a:r>
              <a:rPr sz="1100" b="0">
                <a:solidFill>
                  <a:srgbClr val="FFFFFF"/>
                </a:solidFill>
                <a:latin typeface="Hiragino Sans"/>
                <a:ea typeface="Hiragino Sans"/>
                <a:cs typeface="Hiragino Sans"/>
              </a:rPr>
              <a:t>• Takeover系 : 1日数百万円〜数千万円 (大手主導、SMBには現実的でない)</a:t>
            </a:r>
          </a:p>
          <a:p>
            <a:pPr algn="l">
              <a:lnSpc>
                <a:spcPct val="155000"/>
              </a:lnSpc>
            </a:pPr>
            <a:r>
              <a:rPr sz="1100" b="0">
                <a:solidFill>
                  <a:srgbClr val="FFFFFF"/>
                </a:solidFill>
                <a:latin typeface="Hiragino Sans"/>
                <a:ea typeface="Hiragino Sans"/>
                <a:cs typeface="Hiragino Sans"/>
              </a:rPr>
              <a:t>• 副業代行のスイートスポット : 月20-100万円のCV系ブランド + 縦型動画+Promoted</a:t>
            </a:r>
          </a:p>
        </p:txBody>
      </p:sp>
      <p:sp>
        <p:nvSpPr>
          <p:cNvPr id="47" name="TextBox 46"/>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LinkedIn Ads ─ B2B 必修媒体 (2026)</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ABM (Account-Based Marketing) で再評価</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P131 / 250</a:t>
            </a:r>
          </a:p>
        </p:txBody>
      </p:sp>
      <p:sp>
        <p:nvSpPr>
          <p:cNvPr id="8" name="Rounded Rectangle 7"/>
          <p:cNvSpPr/>
          <p:nvPr/>
        </p:nvSpPr>
        <p:spPr>
          <a:xfrm>
            <a:off x="548640" y="1371600"/>
            <a:ext cx="11109960" cy="137160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54480"/>
            <a:ext cx="3383280" cy="640080"/>
          </a:xfrm>
          <a:prstGeom prst="rect">
            <a:avLst/>
          </a:prstGeom>
          <a:noFill/>
        </p:spPr>
        <p:txBody>
          <a:bodyPr wrap="square" anchor="t" lIns="0" rIns="0" tIns="0" bIns="0">
            <a:spAutoFit/>
          </a:bodyPr>
          <a:lstStyle/>
          <a:p>
            <a:pPr algn="ctr">
              <a:lnSpc>
                <a:spcPct val="115000"/>
              </a:lnSpc>
            </a:pPr>
            <a:r>
              <a:rPr sz="3200" b="1">
                <a:solidFill>
                  <a:srgbClr val="FFFFFF"/>
                </a:solidFill>
                <a:latin typeface="Helvetica Neue"/>
                <a:ea typeface="Helvetica Neue"/>
                <a:cs typeface="Helvetica Neue"/>
              </a:rPr>
              <a:t>+31.7%</a:t>
            </a:r>
          </a:p>
        </p:txBody>
      </p:sp>
      <p:sp>
        <p:nvSpPr>
          <p:cNvPr id="10" name="TextBox 9"/>
          <p:cNvSpPr txBox="1"/>
          <p:nvPr/>
        </p:nvSpPr>
        <p:spPr>
          <a:xfrm>
            <a:off x="777240" y="2240280"/>
            <a:ext cx="3383280" cy="365760"/>
          </a:xfrm>
          <a:prstGeom prst="rect">
            <a:avLst/>
          </a:prstGeom>
          <a:noFill/>
        </p:spPr>
        <p:txBody>
          <a:bodyPr wrap="square" anchor="t" lIns="0" rIns="0" tIns="0" bIns="0">
            <a:spAutoFit/>
          </a:bodyPr>
          <a:lstStyle/>
          <a:p>
            <a:pPr algn="ctr">
              <a:lnSpc>
                <a:spcPct val="115000"/>
              </a:lnSpc>
            </a:pPr>
            <a:r>
              <a:rPr sz="1100" b="0">
                <a:solidFill>
                  <a:srgbClr val="D7DDE8"/>
                </a:solidFill>
                <a:latin typeface="Hiragino Sans"/>
                <a:ea typeface="Hiragino Sans"/>
                <a:cs typeface="Hiragino Sans"/>
              </a:rPr>
              <a:t>B2B広告費 YoY (2025)</a:t>
            </a:r>
          </a:p>
        </p:txBody>
      </p:sp>
      <p:sp>
        <p:nvSpPr>
          <p:cNvPr id="11" name="TextBox 10"/>
          <p:cNvSpPr txBox="1"/>
          <p:nvPr/>
        </p:nvSpPr>
        <p:spPr>
          <a:xfrm>
            <a:off x="4434840" y="1554480"/>
            <a:ext cx="3383280" cy="640080"/>
          </a:xfrm>
          <a:prstGeom prst="rect">
            <a:avLst/>
          </a:prstGeom>
          <a:noFill/>
        </p:spPr>
        <p:txBody>
          <a:bodyPr wrap="square" anchor="t" lIns="0" rIns="0" tIns="0" bIns="0">
            <a:spAutoFit/>
          </a:bodyPr>
          <a:lstStyle/>
          <a:p>
            <a:pPr algn="ctr">
              <a:lnSpc>
                <a:spcPct val="115000"/>
              </a:lnSpc>
            </a:pPr>
            <a:r>
              <a:rPr sz="3200" b="1">
                <a:solidFill>
                  <a:srgbClr val="FFFFFF"/>
                </a:solidFill>
                <a:latin typeface="Helvetica Neue"/>
                <a:ea typeface="Helvetica Neue"/>
                <a:cs typeface="Helvetica Neue"/>
              </a:rPr>
              <a:t>+200%</a:t>
            </a:r>
          </a:p>
        </p:txBody>
      </p:sp>
      <p:sp>
        <p:nvSpPr>
          <p:cNvPr id="12" name="TextBox 11"/>
          <p:cNvSpPr txBox="1"/>
          <p:nvPr/>
        </p:nvSpPr>
        <p:spPr>
          <a:xfrm>
            <a:off x="4434840" y="2240280"/>
            <a:ext cx="3383280" cy="365760"/>
          </a:xfrm>
          <a:prstGeom prst="rect">
            <a:avLst/>
          </a:prstGeom>
          <a:noFill/>
        </p:spPr>
        <p:txBody>
          <a:bodyPr wrap="square" anchor="t" lIns="0" rIns="0" tIns="0" bIns="0">
            <a:spAutoFit/>
          </a:bodyPr>
          <a:lstStyle/>
          <a:p>
            <a:pPr algn="ctr">
              <a:lnSpc>
                <a:spcPct val="115000"/>
              </a:lnSpc>
            </a:pPr>
            <a:r>
              <a:rPr sz="1100" b="0">
                <a:solidFill>
                  <a:srgbClr val="D7DDE8"/>
                </a:solidFill>
                <a:latin typeface="Hiragino Sans"/>
                <a:ea typeface="Hiragino Sans"/>
                <a:cs typeface="Hiragino Sans"/>
              </a:rPr>
              <a:t>ABM のROI改善</a:t>
            </a:r>
          </a:p>
        </p:txBody>
      </p:sp>
      <p:sp>
        <p:nvSpPr>
          <p:cNvPr id="13" name="TextBox 12"/>
          <p:cNvSpPr txBox="1"/>
          <p:nvPr/>
        </p:nvSpPr>
        <p:spPr>
          <a:xfrm>
            <a:off x="8092440" y="1554480"/>
            <a:ext cx="3383280" cy="640080"/>
          </a:xfrm>
          <a:prstGeom prst="rect">
            <a:avLst/>
          </a:prstGeom>
          <a:noFill/>
        </p:spPr>
        <p:txBody>
          <a:bodyPr wrap="square" anchor="t" lIns="0" rIns="0" tIns="0" bIns="0">
            <a:spAutoFit/>
          </a:bodyPr>
          <a:lstStyle/>
          <a:p>
            <a:pPr algn="ctr">
              <a:lnSpc>
                <a:spcPct val="115000"/>
              </a:lnSpc>
            </a:pPr>
            <a:r>
              <a:rPr sz="3200" b="1">
                <a:solidFill>
                  <a:srgbClr val="FFFFFF"/>
                </a:solidFill>
                <a:latin typeface="Helvetica Neue"/>
                <a:ea typeface="Helvetica Neue"/>
                <a:cs typeface="Helvetica Neue"/>
              </a:rPr>
              <a:t>30%</a:t>
            </a:r>
          </a:p>
        </p:txBody>
      </p:sp>
      <p:sp>
        <p:nvSpPr>
          <p:cNvPr id="14" name="TextBox 13"/>
          <p:cNvSpPr txBox="1"/>
          <p:nvPr/>
        </p:nvSpPr>
        <p:spPr>
          <a:xfrm>
            <a:off x="8092440" y="2240280"/>
            <a:ext cx="3383280" cy="365760"/>
          </a:xfrm>
          <a:prstGeom prst="rect">
            <a:avLst/>
          </a:prstGeom>
          <a:noFill/>
        </p:spPr>
        <p:txBody>
          <a:bodyPr wrap="square" anchor="t" lIns="0" rIns="0" tIns="0" bIns="0">
            <a:spAutoFit/>
          </a:bodyPr>
          <a:lstStyle/>
          <a:p>
            <a:pPr algn="ctr">
              <a:lnSpc>
                <a:spcPct val="115000"/>
              </a:lnSpc>
            </a:pPr>
            <a:r>
              <a:rPr sz="1100" b="0">
                <a:solidFill>
                  <a:srgbClr val="D7DDE8"/>
                </a:solidFill>
                <a:latin typeface="Hiragino Sans"/>
                <a:ea typeface="Hiragino Sans"/>
                <a:cs typeface="Hiragino Sans"/>
              </a:rPr>
              <a:t>B2B社会広告予算 (2026予測)</a:t>
            </a:r>
          </a:p>
        </p:txBody>
      </p:sp>
      <p:sp>
        <p:nvSpPr>
          <p:cNvPr id="15" name="TextBox 14"/>
          <p:cNvSpPr txBox="1"/>
          <p:nvPr/>
        </p:nvSpPr>
        <p:spPr>
          <a:xfrm>
            <a:off x="548640" y="2926080"/>
            <a:ext cx="1097280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なぜLinkedInか</a:t>
            </a:r>
          </a:p>
        </p:txBody>
      </p:sp>
      <p:sp>
        <p:nvSpPr>
          <p:cNvPr id="16" name="Rounded Rectangle 15"/>
          <p:cNvSpPr/>
          <p:nvPr/>
        </p:nvSpPr>
        <p:spPr>
          <a:xfrm>
            <a:off x="548640" y="3337560"/>
            <a:ext cx="5440680" cy="14173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337560"/>
            <a:ext cx="91440" cy="14173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3502152"/>
            <a:ext cx="507492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職業データの精度</a:t>
            </a:r>
          </a:p>
        </p:txBody>
      </p:sp>
      <p:sp>
        <p:nvSpPr>
          <p:cNvPr id="19" name="TextBox 18"/>
          <p:cNvSpPr txBox="1"/>
          <p:nvPr/>
        </p:nvSpPr>
        <p:spPr>
          <a:xfrm>
            <a:off x="777240" y="3931920"/>
            <a:ext cx="5074920" cy="77724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役職・業界・会社規模・経験で精緻ターゲ</a:t>
            </a:r>
          </a:p>
        </p:txBody>
      </p:sp>
      <p:sp>
        <p:nvSpPr>
          <p:cNvPr id="20" name="Rounded Rectangle 19"/>
          <p:cNvSpPr/>
          <p:nvPr/>
        </p:nvSpPr>
        <p:spPr>
          <a:xfrm>
            <a:off x="6172200" y="3337560"/>
            <a:ext cx="5440680" cy="14173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72200" y="3337560"/>
            <a:ext cx="91440" cy="14173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3502152"/>
            <a:ext cx="507492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B2B意思決定者リーチ</a:t>
            </a:r>
          </a:p>
        </p:txBody>
      </p:sp>
      <p:sp>
        <p:nvSpPr>
          <p:cNvPr id="23" name="TextBox 22"/>
          <p:cNvSpPr txBox="1"/>
          <p:nvPr/>
        </p:nvSpPr>
        <p:spPr>
          <a:xfrm>
            <a:off x="6400800" y="3931920"/>
            <a:ext cx="5074920" cy="77724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経営層・購買担当層への直接配信</a:t>
            </a:r>
          </a:p>
        </p:txBody>
      </p:sp>
      <p:sp>
        <p:nvSpPr>
          <p:cNvPr id="24" name="Rounded Rectangle 23"/>
          <p:cNvSpPr/>
          <p:nvPr/>
        </p:nvSpPr>
        <p:spPr>
          <a:xfrm>
            <a:off x="548640" y="4892040"/>
            <a:ext cx="5440680" cy="14173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892040"/>
            <a:ext cx="91440" cy="14173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5056632"/>
            <a:ext cx="507492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ABM 連携</a:t>
            </a:r>
          </a:p>
        </p:txBody>
      </p:sp>
      <p:sp>
        <p:nvSpPr>
          <p:cNvPr id="27" name="TextBox 26"/>
          <p:cNvSpPr txBox="1"/>
          <p:nvPr/>
        </p:nvSpPr>
        <p:spPr>
          <a:xfrm>
            <a:off x="777240" y="5486400"/>
            <a:ext cx="5074920" cy="77724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Account-Based Marketing で重要顧客攻略</a:t>
            </a:r>
          </a:p>
        </p:txBody>
      </p:sp>
      <p:sp>
        <p:nvSpPr>
          <p:cNvPr id="28" name="Rounded Rectangle 27"/>
          <p:cNvSpPr/>
          <p:nvPr/>
        </p:nvSpPr>
        <p:spPr>
          <a:xfrm>
            <a:off x="6172200" y="4892040"/>
            <a:ext cx="5440680" cy="14173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72200" y="4892040"/>
            <a:ext cx="91440" cy="14173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0" y="5056632"/>
            <a:ext cx="507492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Thought Leader Ads</a:t>
            </a:r>
          </a:p>
        </p:txBody>
      </p:sp>
      <p:sp>
        <p:nvSpPr>
          <p:cNvPr id="31" name="TextBox 30"/>
          <p:cNvSpPr txBox="1"/>
          <p:nvPr/>
        </p:nvSpPr>
        <p:spPr>
          <a:xfrm>
            <a:off x="6400800" y="5486400"/>
            <a:ext cx="5074920" cy="77724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個人プロフからの広告 → コーポレートより 30-50% 高効果</a:t>
            </a:r>
          </a:p>
        </p:txBody>
      </p:sp>
      <p:sp>
        <p:nvSpPr>
          <p:cNvPr id="32" name="TextBox 31"/>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LinkedIn 広告フォーマット</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Sponsored Content + Thought Leader が主流</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P132 / 250</a:t>
            </a:r>
          </a:p>
        </p:txBody>
      </p:sp>
      <p:sp>
        <p:nvSpPr>
          <p:cNvPr id="8" name="Rounded Rectangle 7"/>
          <p:cNvSpPr/>
          <p:nvPr/>
        </p:nvSpPr>
        <p:spPr>
          <a:xfrm>
            <a:off x="548640" y="1417320"/>
            <a:ext cx="2697480" cy="2286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2697480" cy="64008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36192"/>
            <a:ext cx="2423160" cy="365760"/>
          </a:xfrm>
          <a:prstGeom prst="rect">
            <a:avLst/>
          </a:prstGeom>
          <a:noFill/>
        </p:spPr>
        <p:txBody>
          <a:bodyPr wrap="square" anchor="t" lIns="0" rIns="0" tIns="0" bIns="0">
            <a:spAutoFit/>
          </a:bodyPr>
          <a:lstStyle/>
          <a:p>
            <a:pPr algn="ctr">
              <a:lnSpc>
                <a:spcPct val="120000"/>
              </a:lnSpc>
            </a:pPr>
            <a:r>
              <a:rPr sz="1200" b="1">
                <a:solidFill>
                  <a:srgbClr val="FFFFFF"/>
                </a:solidFill>
                <a:latin typeface="Hiragino Sans"/>
                <a:ea typeface="Hiragino Sans"/>
                <a:cs typeface="Hiragino Sans"/>
              </a:rPr>
              <a:t>Sponsored Content</a:t>
            </a:r>
          </a:p>
        </p:txBody>
      </p:sp>
      <p:sp>
        <p:nvSpPr>
          <p:cNvPr id="11" name="TextBox 10"/>
          <p:cNvSpPr txBox="1"/>
          <p:nvPr/>
        </p:nvSpPr>
        <p:spPr>
          <a:xfrm>
            <a:off x="685800" y="1920240"/>
            <a:ext cx="242316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elvetica Neue"/>
                <a:ea typeface="Helvetica Neue"/>
                <a:cs typeface="Helvetica Neue"/>
              </a:rPr>
              <a:t>$4-8 CPC</a:t>
            </a:r>
          </a:p>
        </p:txBody>
      </p:sp>
      <p:sp>
        <p:nvSpPr>
          <p:cNvPr id="12" name="TextBox 11"/>
          <p:cNvSpPr txBox="1"/>
          <p:nvPr/>
        </p:nvSpPr>
        <p:spPr>
          <a:xfrm>
            <a:off x="731520" y="2331720"/>
            <a:ext cx="2331720" cy="1280160"/>
          </a:xfrm>
          <a:prstGeom prst="rect">
            <a:avLst/>
          </a:prstGeom>
          <a:noFill/>
        </p:spPr>
        <p:txBody>
          <a:bodyPr wrap="square" anchor="t" lIns="0" rIns="0" tIns="0" bIns="0">
            <a:spAutoFit/>
          </a:bodyPr>
          <a:lstStyle/>
          <a:p>
            <a:pPr algn="ctr">
              <a:lnSpc>
                <a:spcPct val="155000"/>
              </a:lnSpc>
            </a:pPr>
            <a:r>
              <a:rPr sz="1000" b="0">
                <a:solidFill>
                  <a:srgbClr val="1A1A1A"/>
                </a:solidFill>
                <a:latin typeface="Hiragino Sans"/>
                <a:ea typeface="Hiragino Sans"/>
                <a:cs typeface="Hiragino Sans"/>
              </a:rPr>
              <a:t>フィード型 静止画/動画/カルーセル</a:t>
            </a:r>
          </a:p>
          <a:p>
            <a:pPr algn="ctr">
              <a:lnSpc>
                <a:spcPct val="155000"/>
              </a:lnSpc>
            </a:pPr>
            <a:r>
              <a:rPr sz="1000" b="0">
                <a:solidFill>
                  <a:srgbClr val="1A1A1A"/>
                </a:solidFill>
                <a:latin typeface="Hiragino Sans"/>
                <a:ea typeface="Hiragino Sans"/>
                <a:cs typeface="Hiragino Sans"/>
              </a:rPr>
              <a:t>B2B鉄板フォーマット</a:t>
            </a:r>
          </a:p>
        </p:txBody>
      </p:sp>
      <p:sp>
        <p:nvSpPr>
          <p:cNvPr id="13" name="Rounded Rectangle 12"/>
          <p:cNvSpPr/>
          <p:nvPr/>
        </p:nvSpPr>
        <p:spPr>
          <a:xfrm>
            <a:off x="3337560" y="1417320"/>
            <a:ext cx="2697480" cy="2286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37560" y="1417320"/>
            <a:ext cx="2697480" cy="64008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74720" y="1536192"/>
            <a:ext cx="2423160" cy="365760"/>
          </a:xfrm>
          <a:prstGeom prst="rect">
            <a:avLst/>
          </a:prstGeom>
          <a:noFill/>
        </p:spPr>
        <p:txBody>
          <a:bodyPr wrap="square" anchor="t" lIns="0" rIns="0" tIns="0" bIns="0">
            <a:spAutoFit/>
          </a:bodyPr>
          <a:lstStyle/>
          <a:p>
            <a:pPr algn="ctr">
              <a:lnSpc>
                <a:spcPct val="120000"/>
              </a:lnSpc>
            </a:pPr>
            <a:r>
              <a:rPr sz="1200" b="1">
                <a:solidFill>
                  <a:srgbClr val="FFFFFF"/>
                </a:solidFill>
                <a:latin typeface="Hiragino Sans"/>
                <a:ea typeface="Hiragino Sans"/>
                <a:cs typeface="Hiragino Sans"/>
              </a:rPr>
              <a:t>Thought Leader Ads</a:t>
            </a:r>
          </a:p>
        </p:txBody>
      </p:sp>
      <p:sp>
        <p:nvSpPr>
          <p:cNvPr id="16" name="TextBox 15"/>
          <p:cNvSpPr txBox="1"/>
          <p:nvPr/>
        </p:nvSpPr>
        <p:spPr>
          <a:xfrm>
            <a:off x="3474720" y="1920240"/>
            <a:ext cx="242316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elvetica Neue"/>
                <a:ea typeface="Helvetica Neue"/>
                <a:cs typeface="Helvetica Neue"/>
              </a:rPr>
              <a:t>$1-3 CPC</a:t>
            </a:r>
          </a:p>
        </p:txBody>
      </p:sp>
      <p:sp>
        <p:nvSpPr>
          <p:cNvPr id="17" name="TextBox 16"/>
          <p:cNvSpPr txBox="1"/>
          <p:nvPr/>
        </p:nvSpPr>
        <p:spPr>
          <a:xfrm>
            <a:off x="3520440" y="2331720"/>
            <a:ext cx="2331720" cy="1280160"/>
          </a:xfrm>
          <a:prstGeom prst="rect">
            <a:avLst/>
          </a:prstGeom>
          <a:noFill/>
        </p:spPr>
        <p:txBody>
          <a:bodyPr wrap="square" anchor="t" lIns="0" rIns="0" tIns="0" bIns="0">
            <a:spAutoFit/>
          </a:bodyPr>
          <a:lstStyle/>
          <a:p>
            <a:pPr algn="ctr">
              <a:lnSpc>
                <a:spcPct val="155000"/>
              </a:lnSpc>
            </a:pPr>
            <a:r>
              <a:rPr sz="1000" b="0">
                <a:solidFill>
                  <a:srgbClr val="1A1A1A"/>
                </a:solidFill>
                <a:latin typeface="Hiragino Sans"/>
                <a:ea typeface="Hiragino Sans"/>
                <a:cs typeface="Hiragino Sans"/>
              </a:rPr>
              <a:t>個人プロフ投稿の広告化</a:t>
            </a:r>
          </a:p>
          <a:p>
            <a:pPr algn="ctr">
              <a:lnSpc>
                <a:spcPct val="155000"/>
              </a:lnSpc>
            </a:pPr>
            <a:r>
              <a:rPr sz="1000" b="0">
                <a:solidFill>
                  <a:srgbClr val="1A1A1A"/>
                </a:solidFill>
                <a:latin typeface="Hiragino Sans"/>
                <a:ea typeface="Hiragino Sans"/>
                <a:cs typeface="Hiragino Sans"/>
              </a:rPr>
              <a:t>2026プッシュ機能、コーポレート比+30-50%</a:t>
            </a:r>
          </a:p>
        </p:txBody>
      </p:sp>
      <p:sp>
        <p:nvSpPr>
          <p:cNvPr id="18" name="Rounded Rectangle 17"/>
          <p:cNvSpPr/>
          <p:nvPr/>
        </p:nvSpPr>
        <p:spPr>
          <a:xfrm>
            <a:off x="6126480" y="1417320"/>
            <a:ext cx="2697480" cy="2286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0" y="1417320"/>
            <a:ext cx="2697480" cy="64008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3640" y="1536192"/>
            <a:ext cx="2423160" cy="365760"/>
          </a:xfrm>
          <a:prstGeom prst="rect">
            <a:avLst/>
          </a:prstGeom>
          <a:noFill/>
        </p:spPr>
        <p:txBody>
          <a:bodyPr wrap="square" anchor="t" lIns="0" rIns="0" tIns="0" bIns="0">
            <a:spAutoFit/>
          </a:bodyPr>
          <a:lstStyle/>
          <a:p>
            <a:pPr algn="ctr">
              <a:lnSpc>
                <a:spcPct val="120000"/>
              </a:lnSpc>
            </a:pPr>
            <a:r>
              <a:rPr sz="1200" b="1">
                <a:solidFill>
                  <a:srgbClr val="FFFFFF"/>
                </a:solidFill>
                <a:latin typeface="Hiragino Sans"/>
                <a:ea typeface="Hiragino Sans"/>
                <a:cs typeface="Hiragino Sans"/>
              </a:rPr>
              <a:t>Message Ads (旧InMail)</a:t>
            </a:r>
          </a:p>
        </p:txBody>
      </p:sp>
      <p:sp>
        <p:nvSpPr>
          <p:cNvPr id="21" name="TextBox 20"/>
          <p:cNvSpPr txBox="1"/>
          <p:nvPr/>
        </p:nvSpPr>
        <p:spPr>
          <a:xfrm>
            <a:off x="6263640" y="1920240"/>
            <a:ext cx="242316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elvetica Neue"/>
                <a:ea typeface="Helvetica Neue"/>
                <a:cs typeface="Helvetica Neue"/>
              </a:rPr>
              <a:t>受信箱配信</a:t>
            </a:r>
          </a:p>
        </p:txBody>
      </p:sp>
      <p:sp>
        <p:nvSpPr>
          <p:cNvPr id="22" name="TextBox 21"/>
          <p:cNvSpPr txBox="1"/>
          <p:nvPr/>
        </p:nvSpPr>
        <p:spPr>
          <a:xfrm>
            <a:off x="6309360" y="2331720"/>
            <a:ext cx="2331720" cy="1280160"/>
          </a:xfrm>
          <a:prstGeom prst="rect">
            <a:avLst/>
          </a:prstGeom>
          <a:noFill/>
        </p:spPr>
        <p:txBody>
          <a:bodyPr wrap="square" anchor="t" lIns="0" rIns="0" tIns="0" bIns="0">
            <a:spAutoFit/>
          </a:bodyPr>
          <a:lstStyle/>
          <a:p>
            <a:pPr algn="ctr">
              <a:lnSpc>
                <a:spcPct val="155000"/>
              </a:lnSpc>
            </a:pPr>
            <a:r>
              <a:rPr sz="1000" b="0">
                <a:solidFill>
                  <a:srgbClr val="1A1A1A"/>
                </a:solidFill>
                <a:latin typeface="Hiragino Sans"/>
                <a:ea typeface="Hiragino Sans"/>
                <a:cs typeface="Hiragino Sans"/>
              </a:rPr>
              <a:t>DMボックスへ広告</a:t>
            </a:r>
          </a:p>
          <a:p>
            <a:pPr algn="ctr">
              <a:lnSpc>
                <a:spcPct val="155000"/>
              </a:lnSpc>
            </a:pPr>
            <a:r>
              <a:rPr sz="1000" b="0">
                <a:solidFill>
                  <a:srgbClr val="1A1A1A"/>
                </a:solidFill>
                <a:latin typeface="Hiragino Sans"/>
                <a:ea typeface="Hiragino Sans"/>
                <a:cs typeface="Hiragino Sans"/>
              </a:rPr>
              <a:t>精度高い分単価高め</a:t>
            </a:r>
          </a:p>
        </p:txBody>
      </p:sp>
      <p:sp>
        <p:nvSpPr>
          <p:cNvPr id="23" name="Rounded Rectangle 22"/>
          <p:cNvSpPr/>
          <p:nvPr/>
        </p:nvSpPr>
        <p:spPr>
          <a:xfrm>
            <a:off x="8915400" y="1417320"/>
            <a:ext cx="2697480" cy="2286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15400" y="1417320"/>
            <a:ext cx="2697480" cy="64008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52560" y="1536192"/>
            <a:ext cx="2423160" cy="365760"/>
          </a:xfrm>
          <a:prstGeom prst="rect">
            <a:avLst/>
          </a:prstGeom>
          <a:noFill/>
        </p:spPr>
        <p:txBody>
          <a:bodyPr wrap="square" anchor="t" lIns="0" rIns="0" tIns="0" bIns="0">
            <a:spAutoFit/>
          </a:bodyPr>
          <a:lstStyle/>
          <a:p>
            <a:pPr algn="ctr">
              <a:lnSpc>
                <a:spcPct val="120000"/>
              </a:lnSpc>
            </a:pPr>
            <a:r>
              <a:rPr sz="1200" b="1">
                <a:solidFill>
                  <a:srgbClr val="FFFFFF"/>
                </a:solidFill>
                <a:latin typeface="Hiragino Sans"/>
                <a:ea typeface="Hiragino Sans"/>
                <a:cs typeface="Hiragino Sans"/>
              </a:rPr>
              <a:t>Document Ads</a:t>
            </a:r>
          </a:p>
        </p:txBody>
      </p:sp>
      <p:sp>
        <p:nvSpPr>
          <p:cNvPr id="26" name="TextBox 25"/>
          <p:cNvSpPr txBox="1"/>
          <p:nvPr/>
        </p:nvSpPr>
        <p:spPr>
          <a:xfrm>
            <a:off x="9052560" y="1920240"/>
            <a:ext cx="242316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elvetica Neue"/>
                <a:ea typeface="Helvetica Neue"/>
                <a:cs typeface="Helvetica Neue"/>
              </a:rPr>
              <a:t>PDF/Slideダウンロード</a:t>
            </a:r>
          </a:p>
        </p:txBody>
      </p:sp>
      <p:sp>
        <p:nvSpPr>
          <p:cNvPr id="27" name="TextBox 26"/>
          <p:cNvSpPr txBox="1"/>
          <p:nvPr/>
        </p:nvSpPr>
        <p:spPr>
          <a:xfrm>
            <a:off x="9098280" y="2331720"/>
            <a:ext cx="2331720" cy="1280160"/>
          </a:xfrm>
          <a:prstGeom prst="rect">
            <a:avLst/>
          </a:prstGeom>
          <a:noFill/>
        </p:spPr>
        <p:txBody>
          <a:bodyPr wrap="square" anchor="t" lIns="0" rIns="0" tIns="0" bIns="0">
            <a:spAutoFit/>
          </a:bodyPr>
          <a:lstStyle/>
          <a:p>
            <a:pPr algn="ctr">
              <a:lnSpc>
                <a:spcPct val="155000"/>
              </a:lnSpc>
            </a:pPr>
            <a:r>
              <a:rPr sz="1000" b="0">
                <a:solidFill>
                  <a:srgbClr val="1A1A1A"/>
                </a:solidFill>
                <a:latin typeface="Hiragino Sans"/>
                <a:ea typeface="Hiragino Sans"/>
                <a:cs typeface="Hiragino Sans"/>
              </a:rPr>
              <a:t>ホワイトペーパー配布</a:t>
            </a:r>
          </a:p>
          <a:p>
            <a:pPr algn="ctr">
              <a:lnSpc>
                <a:spcPct val="155000"/>
              </a:lnSpc>
            </a:pPr>
            <a:r>
              <a:rPr sz="1000" b="0">
                <a:solidFill>
                  <a:srgbClr val="1A1A1A"/>
                </a:solidFill>
                <a:latin typeface="Hiragino Sans"/>
                <a:ea typeface="Hiragino Sans"/>
                <a:cs typeface="Hiragino Sans"/>
              </a:rPr>
              <a:t>リードジェネレーション</a:t>
            </a:r>
          </a:p>
        </p:txBody>
      </p:sp>
      <p:sp>
        <p:nvSpPr>
          <p:cNvPr id="28" name="Rounded Rectangle 27"/>
          <p:cNvSpPr/>
          <p:nvPr/>
        </p:nvSpPr>
        <p:spPr>
          <a:xfrm>
            <a:off x="548640" y="3931920"/>
            <a:ext cx="11109960" cy="242316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4069080"/>
            <a:ext cx="100584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 副業代行で押さえるフォーマット選択</a:t>
            </a:r>
          </a:p>
        </p:txBody>
      </p:sp>
      <p:sp>
        <p:nvSpPr>
          <p:cNvPr id="30" name="TextBox 29"/>
          <p:cNvSpPr txBox="1"/>
          <p:nvPr/>
        </p:nvSpPr>
        <p:spPr>
          <a:xfrm>
            <a:off x="777240" y="4389120"/>
            <a:ext cx="10972800" cy="1874519"/>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 認知獲得 : Sponsored Content (静止画 + 動画)</a:t>
            </a:r>
          </a:p>
          <a:p>
            <a:pPr algn="l">
              <a:lnSpc>
                <a:spcPct val="160000"/>
              </a:lnSpc>
            </a:pPr>
            <a:r>
              <a:rPr sz="1100" b="0">
                <a:solidFill>
                  <a:srgbClr val="1A1A1A"/>
                </a:solidFill>
                <a:latin typeface="Hiragino Sans"/>
                <a:ea typeface="Hiragino Sans"/>
                <a:cs typeface="Hiragino Sans"/>
              </a:rPr>
              <a:t>• ABM (重要顧客攻略) : Thought Leader Ads (経営者投稿の広告化)</a:t>
            </a:r>
          </a:p>
          <a:p>
            <a:pPr algn="l">
              <a:lnSpc>
                <a:spcPct val="160000"/>
              </a:lnSpc>
            </a:pPr>
            <a:r>
              <a:rPr sz="1100" b="0">
                <a:solidFill>
                  <a:srgbClr val="1A1A1A"/>
                </a:solidFill>
                <a:latin typeface="Hiragino Sans"/>
                <a:ea typeface="Hiragino Sans"/>
                <a:cs typeface="Hiragino Sans"/>
              </a:rPr>
              <a:t>• リード獲得 : Document Ads (ホワイトペーパー) + LinkedIn Lead Gen Form</a:t>
            </a:r>
          </a:p>
          <a:p>
            <a:pPr algn="l">
              <a:lnSpc>
                <a:spcPct val="160000"/>
              </a:lnSpc>
            </a:pPr>
            <a:r>
              <a:rPr sz="1100" b="0">
                <a:solidFill>
                  <a:srgbClr val="1A1A1A"/>
                </a:solidFill>
                <a:latin typeface="Hiragino Sans"/>
                <a:ea typeface="Hiragino Sans"/>
                <a:cs typeface="Hiragino Sans"/>
              </a:rPr>
              <a:t>• 個別アプローチ : Message Ads (DM枠 / 既存接点ある相手向け)</a:t>
            </a:r>
          </a:p>
          <a:p>
            <a:pPr algn="l">
              <a:lnSpc>
                <a:spcPct val="160000"/>
              </a:lnSpc>
            </a:pPr>
            <a:r>
              <a:rPr sz="1100" b="0">
                <a:solidFill>
                  <a:srgbClr val="1A1A1A"/>
                </a:solidFill>
                <a:latin typeface="Hiragino Sans"/>
                <a:ea typeface="Hiragino Sans"/>
                <a:cs typeface="Hiragino Sans"/>
              </a:rPr>
              <a:t>• 2026年押し : Thought Leader Ads が 30-50% 高効果なため最優先で提案</a:t>
            </a:r>
          </a:p>
        </p:txBody>
      </p:sp>
      <p:sp>
        <p:nvSpPr>
          <p:cNvPr id="31" name="TextBox 30"/>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 ABM (Account-Based Marketing)</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B2B戦略の主戦場 + Buying Group Targeting (2026/02)</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P133 / 250</a:t>
            </a:r>
          </a:p>
        </p:txBody>
      </p:sp>
      <p:sp>
        <p:nvSpPr>
          <p:cNvPr id="8" name="Rounded Rectangle 7"/>
          <p:cNvSpPr/>
          <p:nvPr/>
        </p:nvSpPr>
        <p:spPr>
          <a:xfrm>
            <a:off x="548640" y="1371600"/>
            <a:ext cx="11109960" cy="91440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08760"/>
            <a:ext cx="10972800" cy="731520"/>
          </a:xfrm>
          <a:prstGeom prst="rect">
            <a:avLst/>
          </a:prstGeom>
          <a:noFill/>
        </p:spPr>
        <p:txBody>
          <a:bodyPr wrap="square" anchor="t" lIns="0" rIns="0" tIns="0" bIns="0">
            <a:spAutoFit/>
          </a:bodyPr>
          <a:lstStyle/>
          <a:p>
            <a:pPr algn="l">
              <a:lnSpc>
                <a:spcPct val="150000"/>
              </a:lnSpc>
            </a:pPr>
            <a:r>
              <a:rPr sz="1200" b="0">
                <a:solidFill>
                  <a:srgbClr val="FFFFFF"/>
                </a:solidFill>
                <a:latin typeface="Hiragino Sans"/>
                <a:ea typeface="Hiragino Sans"/>
                <a:cs typeface="Hiragino Sans"/>
              </a:rPr>
              <a:t>ABM : 特定の企業 (Account) を狙い撃ちで攻略するB2B手法。</a:t>
            </a:r>
          </a:p>
          <a:p>
            <a:pPr algn="l">
              <a:lnSpc>
                <a:spcPct val="150000"/>
              </a:lnSpc>
            </a:pPr>
            <a:r>
              <a:rPr sz="1200" b="0">
                <a:solidFill>
                  <a:srgbClr val="FFFFFF"/>
                </a:solidFill>
                <a:latin typeface="Hiragino Sans"/>
                <a:ea typeface="Hiragino Sans"/>
                <a:cs typeface="Hiragino Sans"/>
              </a:rPr>
              <a:t>LinkedIn は企業データの粒度で他媒体を凌駕、ABM で200%のROI改善</a:t>
            </a:r>
          </a:p>
        </p:txBody>
      </p:sp>
      <p:sp>
        <p:nvSpPr>
          <p:cNvPr id="10" name="TextBox 9"/>
          <p:cNvSpPr txBox="1"/>
          <p:nvPr/>
        </p:nvSpPr>
        <p:spPr>
          <a:xfrm>
            <a:off x="548640" y="2423160"/>
            <a:ext cx="1097280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ABM 3つのアプローチ</a:t>
            </a:r>
          </a:p>
        </p:txBody>
      </p:sp>
      <p:sp>
        <p:nvSpPr>
          <p:cNvPr id="11" name="Rounded Rectangle 10"/>
          <p:cNvSpPr/>
          <p:nvPr/>
        </p:nvSpPr>
        <p:spPr>
          <a:xfrm>
            <a:off x="548640" y="2834640"/>
            <a:ext cx="3611880" cy="219456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834640"/>
            <a:ext cx="361188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971800"/>
            <a:ext cx="3246120" cy="411480"/>
          </a:xfrm>
          <a:prstGeom prst="rect">
            <a:avLst/>
          </a:prstGeom>
          <a:noFill/>
        </p:spPr>
        <p:txBody>
          <a:bodyPr wrap="square" anchor="t" lIns="0" rIns="0" tIns="0" bIns="0">
            <a:spAutoFit/>
          </a:bodyPr>
          <a:lstStyle/>
          <a:p>
            <a:pPr algn="l">
              <a:lnSpc>
                <a:spcPct val="115000"/>
              </a:lnSpc>
            </a:pPr>
            <a:r>
              <a:rPr sz="1400" b="1">
                <a:solidFill>
                  <a:srgbClr val="FFFFFF"/>
                </a:solidFill>
                <a:latin typeface="Hiragino Sans"/>
                <a:ea typeface="Hiragino Sans"/>
                <a:cs typeface="Hiragino Sans"/>
              </a:rPr>
              <a:t>企業リスト ターゲ</a:t>
            </a:r>
          </a:p>
        </p:txBody>
      </p:sp>
      <p:sp>
        <p:nvSpPr>
          <p:cNvPr id="14" name="TextBox 13"/>
          <p:cNvSpPr txBox="1"/>
          <p:nvPr/>
        </p:nvSpPr>
        <p:spPr>
          <a:xfrm>
            <a:off x="777240" y="3383280"/>
            <a:ext cx="3246120" cy="274320"/>
          </a:xfrm>
          <a:prstGeom prst="rect">
            <a:avLst/>
          </a:prstGeom>
          <a:noFill/>
        </p:spPr>
        <p:txBody>
          <a:bodyPr wrap="square" anchor="t" lIns="0" rIns="0" tIns="0" bIns="0">
            <a:spAutoFit/>
          </a:bodyPr>
          <a:lstStyle/>
          <a:p>
            <a:pPr algn="l">
              <a:lnSpc>
                <a:spcPct val="115000"/>
              </a:lnSpc>
            </a:pPr>
            <a:r>
              <a:rPr sz="1000" b="0">
                <a:solidFill>
                  <a:srgbClr val="FFFFFF"/>
                </a:solidFill>
                <a:latin typeface="Hiragino Sans"/>
                <a:ea typeface="Hiragino Sans"/>
                <a:cs typeface="Hiragino Sans"/>
              </a:rPr>
              <a:t>ABMリスト (CSV) アップロード</a:t>
            </a:r>
          </a:p>
        </p:txBody>
      </p:sp>
      <p:sp>
        <p:nvSpPr>
          <p:cNvPr id="15" name="TextBox 14"/>
          <p:cNvSpPr txBox="1"/>
          <p:nvPr/>
        </p:nvSpPr>
        <p:spPr>
          <a:xfrm>
            <a:off x="777240" y="3840480"/>
            <a:ext cx="3246120" cy="114300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10-100社の重要顧客リストを</a:t>
            </a:r>
          </a:p>
          <a:p>
            <a:pPr algn="l">
              <a:lnSpc>
                <a:spcPct val="160000"/>
              </a:lnSpc>
            </a:pPr>
            <a:r>
              <a:rPr sz="1100" b="0">
                <a:solidFill>
                  <a:srgbClr val="1A1A1A"/>
                </a:solidFill>
                <a:latin typeface="Hiragino Sans"/>
                <a:ea typeface="Hiragino Sans"/>
                <a:cs typeface="Hiragino Sans"/>
              </a:rPr>
              <a:t>企業名でターゲ。</a:t>
            </a:r>
          </a:p>
          <a:p>
            <a:pPr algn="l">
              <a:lnSpc>
                <a:spcPct val="160000"/>
              </a:lnSpc>
            </a:pPr>
            <a:r>
              <a:rPr sz="1100" b="0">
                <a:solidFill>
                  <a:srgbClr val="1A1A1A"/>
                </a:solidFill>
                <a:latin typeface="Hiragino Sans"/>
                <a:ea typeface="Hiragino Sans"/>
                <a:cs typeface="Hiragino Sans"/>
              </a:rPr>
              <a:t>大型案件向け</a:t>
            </a:r>
          </a:p>
        </p:txBody>
      </p:sp>
      <p:sp>
        <p:nvSpPr>
          <p:cNvPr id="16" name="Rounded Rectangle 15"/>
          <p:cNvSpPr/>
          <p:nvPr/>
        </p:nvSpPr>
        <p:spPr>
          <a:xfrm>
            <a:off x="4297680" y="2834640"/>
            <a:ext cx="3611880" cy="219456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297680" y="2834640"/>
            <a:ext cx="361188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26280" y="2971800"/>
            <a:ext cx="3246120" cy="411480"/>
          </a:xfrm>
          <a:prstGeom prst="rect">
            <a:avLst/>
          </a:prstGeom>
          <a:noFill/>
        </p:spPr>
        <p:txBody>
          <a:bodyPr wrap="square" anchor="t" lIns="0" rIns="0" tIns="0" bIns="0">
            <a:spAutoFit/>
          </a:bodyPr>
          <a:lstStyle/>
          <a:p>
            <a:pPr algn="l">
              <a:lnSpc>
                <a:spcPct val="115000"/>
              </a:lnSpc>
            </a:pPr>
            <a:r>
              <a:rPr sz="1400" b="1">
                <a:solidFill>
                  <a:srgbClr val="FFFFFF"/>
                </a:solidFill>
                <a:latin typeface="Hiragino Sans"/>
                <a:ea typeface="Hiragino Sans"/>
                <a:cs typeface="Hiragino Sans"/>
              </a:rPr>
              <a:t>Buying Group</a:t>
            </a:r>
          </a:p>
        </p:txBody>
      </p:sp>
      <p:sp>
        <p:nvSpPr>
          <p:cNvPr id="19" name="TextBox 18"/>
          <p:cNvSpPr txBox="1"/>
          <p:nvPr/>
        </p:nvSpPr>
        <p:spPr>
          <a:xfrm>
            <a:off x="4526280" y="3383280"/>
            <a:ext cx="3246120" cy="274320"/>
          </a:xfrm>
          <a:prstGeom prst="rect">
            <a:avLst/>
          </a:prstGeom>
          <a:noFill/>
        </p:spPr>
        <p:txBody>
          <a:bodyPr wrap="square" anchor="t" lIns="0" rIns="0" tIns="0" bIns="0">
            <a:spAutoFit/>
          </a:bodyPr>
          <a:lstStyle/>
          <a:p>
            <a:pPr algn="l">
              <a:lnSpc>
                <a:spcPct val="115000"/>
              </a:lnSpc>
            </a:pPr>
            <a:r>
              <a:rPr sz="1000" b="0">
                <a:solidFill>
                  <a:srgbClr val="FFFFFF"/>
                </a:solidFill>
                <a:latin typeface="Hiragino Sans"/>
                <a:ea typeface="Hiragino Sans"/>
                <a:cs typeface="Hiragino Sans"/>
              </a:rPr>
              <a:t>🔥 2026/02 新機能</a:t>
            </a:r>
          </a:p>
        </p:txBody>
      </p:sp>
      <p:sp>
        <p:nvSpPr>
          <p:cNvPr id="20" name="TextBox 19"/>
          <p:cNvSpPr txBox="1"/>
          <p:nvPr/>
        </p:nvSpPr>
        <p:spPr>
          <a:xfrm>
            <a:off x="4526280" y="3840480"/>
            <a:ext cx="3246120" cy="114300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事前定義された意思決定者クラスター</a:t>
            </a:r>
          </a:p>
          <a:p>
            <a:pPr algn="l">
              <a:lnSpc>
                <a:spcPct val="160000"/>
              </a:lnSpc>
            </a:pPr>
            <a:r>
              <a:rPr sz="1100" b="0">
                <a:solidFill>
                  <a:srgbClr val="1A1A1A"/>
                </a:solidFill>
                <a:latin typeface="Hiragino Sans"/>
                <a:ea typeface="Hiragino Sans"/>
                <a:cs typeface="Hiragino Sans"/>
              </a:rPr>
              <a:t>(役職+権限) を一括選択。</a:t>
            </a:r>
          </a:p>
          <a:p>
            <a:pPr algn="l">
              <a:lnSpc>
                <a:spcPct val="160000"/>
              </a:lnSpc>
            </a:pPr>
            <a:r>
              <a:rPr sz="1100" b="0">
                <a:solidFill>
                  <a:srgbClr val="1A1A1A"/>
                </a:solidFill>
                <a:latin typeface="Hiragino Sans"/>
                <a:ea typeface="Hiragino Sans"/>
                <a:cs typeface="Hiragino Sans"/>
              </a:rPr>
              <a:t>手動組合せの代替</a:t>
            </a:r>
          </a:p>
        </p:txBody>
      </p:sp>
      <p:sp>
        <p:nvSpPr>
          <p:cNvPr id="21" name="Rounded Rectangle 20"/>
          <p:cNvSpPr/>
          <p:nvPr/>
        </p:nvSpPr>
        <p:spPr>
          <a:xfrm>
            <a:off x="8046720" y="2834640"/>
            <a:ext cx="3611880" cy="219456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46720" y="2834640"/>
            <a:ext cx="361188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320" y="2971800"/>
            <a:ext cx="3246120" cy="411480"/>
          </a:xfrm>
          <a:prstGeom prst="rect">
            <a:avLst/>
          </a:prstGeom>
          <a:noFill/>
        </p:spPr>
        <p:txBody>
          <a:bodyPr wrap="square" anchor="t" lIns="0" rIns="0" tIns="0" bIns="0">
            <a:spAutoFit/>
          </a:bodyPr>
          <a:lstStyle/>
          <a:p>
            <a:pPr algn="l">
              <a:lnSpc>
                <a:spcPct val="115000"/>
              </a:lnSpc>
            </a:pPr>
            <a:r>
              <a:rPr sz="1400" b="1">
                <a:solidFill>
                  <a:srgbClr val="FFFFFF"/>
                </a:solidFill>
                <a:latin typeface="Hiragino Sans"/>
                <a:ea typeface="Hiragino Sans"/>
                <a:cs typeface="Hiragino Sans"/>
              </a:rPr>
              <a:t>Industry + Job Title</a:t>
            </a:r>
          </a:p>
        </p:txBody>
      </p:sp>
      <p:sp>
        <p:nvSpPr>
          <p:cNvPr id="24" name="TextBox 23"/>
          <p:cNvSpPr txBox="1"/>
          <p:nvPr/>
        </p:nvSpPr>
        <p:spPr>
          <a:xfrm>
            <a:off x="8275320" y="3383280"/>
            <a:ext cx="3246120" cy="274320"/>
          </a:xfrm>
          <a:prstGeom prst="rect">
            <a:avLst/>
          </a:prstGeom>
          <a:noFill/>
        </p:spPr>
        <p:txBody>
          <a:bodyPr wrap="square" anchor="t" lIns="0" rIns="0" tIns="0" bIns="0">
            <a:spAutoFit/>
          </a:bodyPr>
          <a:lstStyle/>
          <a:p>
            <a:pPr algn="l">
              <a:lnSpc>
                <a:spcPct val="115000"/>
              </a:lnSpc>
            </a:pPr>
            <a:r>
              <a:rPr sz="1000" b="0">
                <a:solidFill>
                  <a:srgbClr val="FFFFFF"/>
                </a:solidFill>
                <a:latin typeface="Hiragino Sans"/>
                <a:ea typeface="Hiragino Sans"/>
                <a:cs typeface="Hiragino Sans"/>
              </a:rPr>
              <a:t>業界 + 役職組合せ</a:t>
            </a:r>
          </a:p>
        </p:txBody>
      </p:sp>
      <p:sp>
        <p:nvSpPr>
          <p:cNvPr id="25" name="TextBox 24"/>
          <p:cNvSpPr txBox="1"/>
          <p:nvPr/>
        </p:nvSpPr>
        <p:spPr>
          <a:xfrm>
            <a:off x="8275320" y="3840480"/>
            <a:ext cx="3246120" cy="114300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業界 (例: SaaS) × 役職 (CTO/VPE)</a:t>
            </a:r>
          </a:p>
          <a:p>
            <a:pPr algn="l">
              <a:lnSpc>
                <a:spcPct val="160000"/>
              </a:lnSpc>
            </a:pPr>
            <a:r>
              <a:rPr sz="1100" b="0">
                <a:solidFill>
                  <a:srgbClr val="1A1A1A"/>
                </a:solidFill>
                <a:latin typeface="Hiragino Sans"/>
                <a:ea typeface="Hiragino Sans"/>
                <a:cs typeface="Hiragino Sans"/>
              </a:rPr>
              <a:t>を組合せて配信。</a:t>
            </a:r>
          </a:p>
          <a:p>
            <a:pPr algn="l">
              <a:lnSpc>
                <a:spcPct val="160000"/>
              </a:lnSpc>
            </a:pPr>
            <a:r>
              <a:rPr sz="1100" b="0">
                <a:solidFill>
                  <a:srgbClr val="1A1A1A"/>
                </a:solidFill>
                <a:latin typeface="Hiragino Sans"/>
                <a:ea typeface="Hiragino Sans"/>
                <a:cs typeface="Hiragino Sans"/>
              </a:rPr>
              <a:t>中堅向け</a:t>
            </a:r>
          </a:p>
        </p:txBody>
      </p:sp>
      <p:sp>
        <p:nvSpPr>
          <p:cNvPr id="26" name="Rounded Rectangle 25"/>
          <p:cNvSpPr/>
          <p:nvPr/>
        </p:nvSpPr>
        <p:spPr>
          <a:xfrm>
            <a:off x="548640" y="5166360"/>
            <a:ext cx="11109960" cy="118872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5257800"/>
            <a:ext cx="10058400" cy="274320"/>
          </a:xfrm>
          <a:prstGeom prst="rect">
            <a:avLst/>
          </a:prstGeom>
          <a:noFill/>
        </p:spPr>
        <p:txBody>
          <a:bodyPr wrap="square" anchor="t" lIns="0" rIns="0" tIns="0" bIns="0">
            <a:spAutoFit/>
          </a:bodyPr>
          <a:lstStyle/>
          <a:p>
            <a:pPr algn="l">
              <a:lnSpc>
                <a:spcPct val="115000"/>
              </a:lnSpc>
            </a:pPr>
            <a:r>
              <a:rPr sz="1100" b="1">
                <a:solidFill>
                  <a:srgbClr val="B85E1A"/>
                </a:solidFill>
                <a:latin typeface="Hiragino Sans"/>
                <a:ea typeface="Hiragino Sans"/>
                <a:cs typeface="Hiragino Sans"/>
              </a:rPr>
              <a:t>💡 CRM連携 (2025/06~) — Closed-Loop Reporting</a:t>
            </a:r>
          </a:p>
        </p:txBody>
      </p:sp>
      <p:sp>
        <p:nvSpPr>
          <p:cNvPr id="28" name="TextBox 27"/>
          <p:cNvSpPr txBox="1"/>
          <p:nvPr/>
        </p:nvSpPr>
        <p:spPr>
          <a:xfrm>
            <a:off x="777240" y="5532120"/>
            <a:ext cx="10972800" cy="777240"/>
          </a:xfrm>
          <a:prstGeom prst="rect">
            <a:avLst/>
          </a:prstGeom>
          <a:noFill/>
        </p:spPr>
        <p:txBody>
          <a:bodyPr wrap="square" anchor="t" lIns="0" rIns="0" tIns="0" bIns="0">
            <a:spAutoFit/>
          </a:bodyPr>
          <a:lstStyle/>
          <a:p>
            <a:pPr algn="l">
              <a:lnSpc>
                <a:spcPct val="155000"/>
              </a:lnSpc>
            </a:pPr>
            <a:r>
              <a:rPr sz="1000" b="0">
                <a:solidFill>
                  <a:srgbClr val="1A1A1A"/>
                </a:solidFill>
                <a:latin typeface="Hiragino Sans"/>
                <a:ea typeface="Hiragino Sans"/>
                <a:cs typeface="Hiragino Sans"/>
              </a:rPr>
              <a:t>Salesforce / HubSpot と Campaign Manager がリアルタイム連携。ABM 配信 → CRMで Closed-won → LinkedIn にROAS が戻る。</a:t>
            </a:r>
          </a:p>
          <a:p>
            <a:pPr algn="l">
              <a:lnSpc>
                <a:spcPct val="155000"/>
              </a:lnSpc>
            </a:pPr>
            <a:r>
              <a:rPr sz="1000" b="0">
                <a:solidFill>
                  <a:srgbClr val="1A1A1A"/>
                </a:solidFill>
                <a:latin typeface="Hiragino Sans"/>
                <a:ea typeface="Hiragino Sans"/>
                <a:cs typeface="Hiragino Sans"/>
              </a:rPr>
              <a:t>副業代行 : B2B案件では ABM + CRM連携 で『商談まで』を可視化、ROIで圧倒</a:t>
            </a:r>
          </a:p>
        </p:txBody>
      </p:sp>
      <p:sp>
        <p:nvSpPr>
          <p:cNvPr id="29" name="TextBox 28"/>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LinkedIn 計測 + Lead Gen Form</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Insight Tag + LeadGen Form で B2B計測完結</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P134 / 250</a:t>
            </a:r>
          </a:p>
        </p:txBody>
      </p:sp>
      <p:sp>
        <p:nvSpPr>
          <p:cNvPr id="8" name="Rounded Rectangle 7"/>
          <p:cNvSpPr/>
          <p:nvPr/>
        </p:nvSpPr>
        <p:spPr>
          <a:xfrm>
            <a:off x="548640" y="1417320"/>
            <a:ext cx="3611880" cy="27432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361188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554480"/>
            <a:ext cx="3246120" cy="411480"/>
          </a:xfrm>
          <a:prstGeom prst="rect">
            <a:avLst/>
          </a:prstGeom>
          <a:noFill/>
        </p:spPr>
        <p:txBody>
          <a:bodyPr wrap="square" anchor="t" lIns="0" rIns="0" tIns="0" bIns="0">
            <a:spAutoFit/>
          </a:bodyPr>
          <a:lstStyle/>
          <a:p>
            <a:pPr algn="l">
              <a:lnSpc>
                <a:spcPct val="115000"/>
              </a:lnSpc>
            </a:pPr>
            <a:r>
              <a:rPr sz="1500" b="1">
                <a:solidFill>
                  <a:srgbClr val="E87722"/>
                </a:solidFill>
                <a:latin typeface="Hiragino Sans"/>
                <a:ea typeface="Hiragino Sans"/>
                <a:cs typeface="Hiragino Sans"/>
              </a:rPr>
              <a:t>Insight Tag</a:t>
            </a:r>
          </a:p>
        </p:txBody>
      </p:sp>
      <p:sp>
        <p:nvSpPr>
          <p:cNvPr id="11" name="TextBox 10"/>
          <p:cNvSpPr txBox="1"/>
          <p:nvPr/>
        </p:nvSpPr>
        <p:spPr>
          <a:xfrm>
            <a:off x="777240" y="1965960"/>
            <a:ext cx="3246120" cy="274320"/>
          </a:xfrm>
          <a:prstGeom prst="rect">
            <a:avLst/>
          </a:prstGeom>
          <a:noFill/>
        </p:spPr>
        <p:txBody>
          <a:bodyPr wrap="square" anchor="t" lIns="0" rIns="0" tIns="0" bIns="0">
            <a:spAutoFit/>
          </a:bodyPr>
          <a:lstStyle/>
          <a:p>
            <a:pPr algn="l">
              <a:lnSpc>
                <a:spcPct val="115000"/>
              </a:lnSpc>
            </a:pPr>
            <a:r>
              <a:rPr sz="1000" b="0">
                <a:solidFill>
                  <a:srgbClr val="FFFFFF"/>
                </a:solidFill>
                <a:latin typeface="Hiragino Sans"/>
                <a:ea typeface="Hiragino Sans"/>
                <a:cs typeface="Hiragino Sans"/>
              </a:rPr>
              <a:t>Webコンバージョン計測</a:t>
            </a:r>
          </a:p>
        </p:txBody>
      </p:sp>
      <p:sp>
        <p:nvSpPr>
          <p:cNvPr id="12" name="TextBox 11"/>
          <p:cNvSpPr txBox="1"/>
          <p:nvPr/>
        </p:nvSpPr>
        <p:spPr>
          <a:xfrm>
            <a:off x="777240" y="2423160"/>
            <a:ext cx="3246120" cy="169164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全ページに JavaScript設置</a:t>
            </a:r>
          </a:p>
          <a:p>
            <a:pPr algn="l">
              <a:lnSpc>
                <a:spcPct val="160000"/>
              </a:lnSpc>
            </a:pPr>
            <a:r>
              <a:rPr sz="1100" b="0">
                <a:solidFill>
                  <a:srgbClr val="1A1A1A"/>
                </a:solidFill>
                <a:latin typeface="Hiragino Sans"/>
                <a:ea typeface="Hiragino Sans"/>
                <a:cs typeface="Hiragino Sans"/>
              </a:rPr>
              <a:t>Webサイト訪問・CV計測の基盤</a:t>
            </a:r>
          </a:p>
          <a:p>
            <a:pPr algn="l">
              <a:lnSpc>
                <a:spcPct val="160000"/>
              </a:lnSpc>
            </a:pPr>
            <a:r>
              <a:rPr sz="1100" b="0">
                <a:solidFill>
                  <a:srgbClr val="1A1A1A"/>
                </a:solidFill>
                <a:latin typeface="Hiragino Sans"/>
                <a:ea typeface="Hiragino Sans"/>
                <a:cs typeface="Hiragino Sans"/>
              </a:rPr>
              <a:t>Custom Audience の元データ</a:t>
            </a:r>
          </a:p>
        </p:txBody>
      </p:sp>
      <p:sp>
        <p:nvSpPr>
          <p:cNvPr id="13" name="Rounded Rectangle 12"/>
          <p:cNvSpPr/>
          <p:nvPr/>
        </p:nvSpPr>
        <p:spPr>
          <a:xfrm>
            <a:off x="4297680" y="1417320"/>
            <a:ext cx="3611880" cy="27432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7680" y="1417320"/>
            <a:ext cx="361188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26280" y="1554480"/>
            <a:ext cx="3246120" cy="411480"/>
          </a:xfrm>
          <a:prstGeom prst="rect">
            <a:avLst/>
          </a:prstGeom>
          <a:noFill/>
        </p:spPr>
        <p:txBody>
          <a:bodyPr wrap="square" anchor="t" lIns="0" rIns="0" tIns="0" bIns="0">
            <a:spAutoFit/>
          </a:bodyPr>
          <a:lstStyle/>
          <a:p>
            <a:pPr algn="l">
              <a:lnSpc>
                <a:spcPct val="115000"/>
              </a:lnSpc>
            </a:pPr>
            <a:r>
              <a:rPr sz="1500" b="1">
                <a:solidFill>
                  <a:srgbClr val="E87722"/>
                </a:solidFill>
                <a:latin typeface="Hiragino Sans"/>
                <a:ea typeface="Hiragino Sans"/>
                <a:cs typeface="Hiragino Sans"/>
              </a:rPr>
              <a:t>LeadGen Form</a:t>
            </a:r>
          </a:p>
        </p:txBody>
      </p:sp>
      <p:sp>
        <p:nvSpPr>
          <p:cNvPr id="16" name="TextBox 15"/>
          <p:cNvSpPr txBox="1"/>
          <p:nvPr/>
        </p:nvSpPr>
        <p:spPr>
          <a:xfrm>
            <a:off x="4526280" y="1965960"/>
            <a:ext cx="3246120" cy="274320"/>
          </a:xfrm>
          <a:prstGeom prst="rect">
            <a:avLst/>
          </a:prstGeom>
          <a:noFill/>
        </p:spPr>
        <p:txBody>
          <a:bodyPr wrap="square" anchor="t" lIns="0" rIns="0" tIns="0" bIns="0">
            <a:spAutoFit/>
          </a:bodyPr>
          <a:lstStyle/>
          <a:p>
            <a:pPr algn="l">
              <a:lnSpc>
                <a:spcPct val="115000"/>
              </a:lnSpc>
            </a:pPr>
            <a:r>
              <a:rPr sz="1000" b="0">
                <a:solidFill>
                  <a:srgbClr val="FFFFFF"/>
                </a:solidFill>
                <a:latin typeface="Hiragino Sans"/>
                <a:ea typeface="Hiragino Sans"/>
                <a:cs typeface="Hiragino Sans"/>
              </a:rPr>
              <a:t>リード獲得フォーム</a:t>
            </a:r>
          </a:p>
        </p:txBody>
      </p:sp>
      <p:sp>
        <p:nvSpPr>
          <p:cNvPr id="17" name="TextBox 16"/>
          <p:cNvSpPr txBox="1"/>
          <p:nvPr/>
        </p:nvSpPr>
        <p:spPr>
          <a:xfrm>
            <a:off x="4526280" y="2423160"/>
            <a:ext cx="3246120" cy="169164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LinkedIn内で完結する</a:t>
            </a:r>
          </a:p>
          <a:p>
            <a:pPr algn="l">
              <a:lnSpc>
                <a:spcPct val="160000"/>
              </a:lnSpc>
            </a:pPr>
            <a:r>
              <a:rPr sz="1100" b="0">
                <a:solidFill>
                  <a:srgbClr val="1A1A1A"/>
                </a:solidFill>
                <a:latin typeface="Hiragino Sans"/>
                <a:ea typeface="Hiragino Sans"/>
                <a:cs typeface="Hiragino Sans"/>
              </a:rPr>
              <a:t>事前入力済フォーム</a:t>
            </a:r>
          </a:p>
          <a:p>
            <a:pPr algn="l">
              <a:lnSpc>
                <a:spcPct val="160000"/>
              </a:lnSpc>
            </a:pPr>
            <a:r>
              <a:rPr sz="1100" b="0">
                <a:solidFill>
                  <a:srgbClr val="1A1A1A"/>
                </a:solidFill>
                <a:latin typeface="Hiragino Sans"/>
                <a:ea typeface="Hiragino Sans"/>
                <a:cs typeface="Hiragino Sans"/>
              </a:rPr>
              <a:t>プロフィール情報が自動入力 → CV率高</a:t>
            </a:r>
          </a:p>
        </p:txBody>
      </p:sp>
      <p:sp>
        <p:nvSpPr>
          <p:cNvPr id="18" name="Rounded Rectangle 17"/>
          <p:cNvSpPr/>
          <p:nvPr/>
        </p:nvSpPr>
        <p:spPr>
          <a:xfrm>
            <a:off x="8046720" y="1417320"/>
            <a:ext cx="3611880" cy="27432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6720" y="1417320"/>
            <a:ext cx="361188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1554480"/>
            <a:ext cx="3246120" cy="411480"/>
          </a:xfrm>
          <a:prstGeom prst="rect">
            <a:avLst/>
          </a:prstGeom>
          <a:noFill/>
        </p:spPr>
        <p:txBody>
          <a:bodyPr wrap="square" anchor="t" lIns="0" rIns="0" tIns="0" bIns="0">
            <a:spAutoFit/>
          </a:bodyPr>
          <a:lstStyle/>
          <a:p>
            <a:pPr algn="l">
              <a:lnSpc>
                <a:spcPct val="115000"/>
              </a:lnSpc>
            </a:pPr>
            <a:r>
              <a:rPr sz="1500" b="1">
                <a:solidFill>
                  <a:srgbClr val="E87722"/>
                </a:solidFill>
                <a:latin typeface="Hiragino Sans"/>
                <a:ea typeface="Hiragino Sans"/>
                <a:cs typeface="Hiragino Sans"/>
              </a:rPr>
              <a:t>Conversion API</a:t>
            </a:r>
          </a:p>
        </p:txBody>
      </p:sp>
      <p:sp>
        <p:nvSpPr>
          <p:cNvPr id="21" name="TextBox 20"/>
          <p:cNvSpPr txBox="1"/>
          <p:nvPr/>
        </p:nvSpPr>
        <p:spPr>
          <a:xfrm>
            <a:off x="8275320" y="1965960"/>
            <a:ext cx="3246120" cy="274320"/>
          </a:xfrm>
          <a:prstGeom prst="rect">
            <a:avLst/>
          </a:prstGeom>
          <a:noFill/>
        </p:spPr>
        <p:txBody>
          <a:bodyPr wrap="square" anchor="t" lIns="0" rIns="0" tIns="0" bIns="0">
            <a:spAutoFit/>
          </a:bodyPr>
          <a:lstStyle/>
          <a:p>
            <a:pPr algn="l">
              <a:lnSpc>
                <a:spcPct val="115000"/>
              </a:lnSpc>
            </a:pPr>
            <a:r>
              <a:rPr sz="1000" b="0">
                <a:solidFill>
                  <a:srgbClr val="FFFFFF"/>
                </a:solidFill>
                <a:latin typeface="Hiragino Sans"/>
                <a:ea typeface="Hiragino Sans"/>
                <a:cs typeface="Hiragino Sans"/>
              </a:rPr>
              <a:t>サーバーサイド計測</a:t>
            </a:r>
          </a:p>
        </p:txBody>
      </p:sp>
      <p:sp>
        <p:nvSpPr>
          <p:cNvPr id="22" name="TextBox 21"/>
          <p:cNvSpPr txBox="1"/>
          <p:nvPr/>
        </p:nvSpPr>
        <p:spPr>
          <a:xfrm>
            <a:off x="8275320" y="2423160"/>
            <a:ext cx="3246120" cy="169164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iOS / ITP対策</a:t>
            </a:r>
          </a:p>
          <a:p>
            <a:pPr algn="l">
              <a:lnSpc>
                <a:spcPct val="160000"/>
              </a:lnSpc>
            </a:pPr>
            <a:r>
              <a:rPr sz="1100" b="0">
                <a:solidFill>
                  <a:srgbClr val="1A1A1A"/>
                </a:solidFill>
                <a:latin typeface="Hiragino Sans"/>
                <a:ea typeface="Hiragino Sans"/>
                <a:cs typeface="Hiragino Sans"/>
              </a:rPr>
              <a:t>CRM側のクロージング情報も統合</a:t>
            </a:r>
          </a:p>
          <a:p>
            <a:pPr algn="l">
              <a:lnSpc>
                <a:spcPct val="160000"/>
              </a:lnSpc>
            </a:pPr>
            <a:r>
              <a:rPr sz="1100" b="0">
                <a:solidFill>
                  <a:srgbClr val="1A1A1A"/>
                </a:solidFill>
                <a:latin typeface="Hiragino Sans"/>
                <a:ea typeface="Hiragino Sans"/>
                <a:cs typeface="Hiragino Sans"/>
              </a:rPr>
              <a:t>Closed-Loop の前提</a:t>
            </a:r>
          </a:p>
        </p:txBody>
      </p:sp>
      <p:sp>
        <p:nvSpPr>
          <p:cNvPr id="23" name="Rounded Rectangle 22"/>
          <p:cNvSpPr/>
          <p:nvPr/>
        </p:nvSpPr>
        <p:spPr>
          <a:xfrm>
            <a:off x="548640" y="4297680"/>
            <a:ext cx="11109960" cy="205740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4434840"/>
            <a:ext cx="10058400" cy="320040"/>
          </a:xfrm>
          <a:prstGeom prst="rect">
            <a:avLst/>
          </a:prstGeom>
          <a:noFill/>
        </p:spPr>
        <p:txBody>
          <a:bodyPr wrap="square" anchor="t" lIns="0" rIns="0" tIns="0" bIns="0">
            <a:spAutoFit/>
          </a:bodyPr>
          <a:lstStyle/>
          <a:p>
            <a:pPr algn="l">
              <a:lnSpc>
                <a:spcPct val="115000"/>
              </a:lnSpc>
            </a:pPr>
            <a:r>
              <a:rPr sz="1200" b="1">
                <a:solidFill>
                  <a:srgbClr val="E87722"/>
                </a:solidFill>
                <a:latin typeface="Hiragino Sans"/>
                <a:ea typeface="Hiragino Sans"/>
                <a:cs typeface="Hiragino Sans"/>
              </a:rPr>
              <a:t>💡 LinkedIn 計測実装の優先順位</a:t>
            </a:r>
          </a:p>
        </p:txBody>
      </p:sp>
      <p:sp>
        <p:nvSpPr>
          <p:cNvPr id="25" name="TextBox 24"/>
          <p:cNvSpPr txBox="1"/>
          <p:nvPr/>
        </p:nvSpPr>
        <p:spPr>
          <a:xfrm>
            <a:off x="777240" y="4754880"/>
            <a:ext cx="10972800" cy="1554480"/>
          </a:xfrm>
          <a:prstGeom prst="rect">
            <a:avLst/>
          </a:prstGeom>
          <a:noFill/>
        </p:spPr>
        <p:txBody>
          <a:bodyPr wrap="square" anchor="t" lIns="0" rIns="0" tIns="0" bIns="0">
            <a:spAutoFit/>
          </a:bodyPr>
          <a:lstStyle/>
          <a:p>
            <a:pPr algn="l">
              <a:lnSpc>
                <a:spcPct val="155000"/>
              </a:lnSpc>
            </a:pPr>
            <a:r>
              <a:rPr sz="1100" b="0">
                <a:solidFill>
                  <a:srgbClr val="FFFFFF"/>
                </a:solidFill>
                <a:latin typeface="Hiragino Sans"/>
                <a:ea typeface="Hiragino Sans"/>
                <a:cs typeface="Hiragino Sans"/>
              </a:rPr>
              <a:t>1. Insight Tag を全ページに設置 (GTM経由可)</a:t>
            </a:r>
          </a:p>
          <a:p>
            <a:pPr algn="l">
              <a:lnSpc>
                <a:spcPct val="155000"/>
              </a:lnSpc>
            </a:pPr>
            <a:r>
              <a:rPr sz="1100" b="0">
                <a:solidFill>
                  <a:srgbClr val="FFFFFF"/>
                </a:solidFill>
                <a:latin typeface="Hiragino Sans"/>
                <a:ea typeface="Hiragino Sans"/>
                <a:cs typeface="Hiragino Sans"/>
              </a:rPr>
              <a:t>2. CV発生ページで Conversion設定</a:t>
            </a:r>
          </a:p>
          <a:p>
            <a:pPr algn="l">
              <a:lnSpc>
                <a:spcPct val="155000"/>
              </a:lnSpc>
            </a:pPr>
            <a:r>
              <a:rPr sz="1100" b="0">
                <a:solidFill>
                  <a:srgbClr val="FFFFFF"/>
                </a:solidFill>
                <a:latin typeface="Hiragino Sans"/>
                <a:ea typeface="Hiragino Sans"/>
                <a:cs typeface="Hiragino Sans"/>
              </a:rPr>
              <a:t>3. LeadGen Form を Lead Gen キャンペーンで活用 (CV率 +30-50%)</a:t>
            </a:r>
          </a:p>
          <a:p>
            <a:pPr algn="l">
              <a:lnSpc>
                <a:spcPct val="155000"/>
              </a:lnSpc>
            </a:pPr>
            <a:r>
              <a:rPr sz="1100" b="0">
                <a:solidFill>
                  <a:srgbClr val="FFFFFF"/>
                </a:solidFill>
                <a:latin typeface="Hiragino Sans"/>
                <a:ea typeface="Hiragino Sans"/>
                <a:cs typeface="Hiragino Sans"/>
              </a:rPr>
              <a:t>4. Conversion API で CRM データ統合 (B2B案件は商談 → 受注まで追う)</a:t>
            </a:r>
          </a:p>
          <a:p>
            <a:pPr algn="l">
              <a:lnSpc>
                <a:spcPct val="155000"/>
              </a:lnSpc>
            </a:pPr>
            <a:r>
              <a:rPr sz="1100" b="0">
                <a:solidFill>
                  <a:srgbClr val="FFFFFF"/>
                </a:solidFill>
                <a:latin typeface="Hiragino Sans"/>
                <a:ea typeface="Hiragino Sans"/>
                <a:cs typeface="Hiragino Sans"/>
              </a:rPr>
              <a:t>5. Campaign Manager で ROAS / CPL を継続レビュー</a:t>
            </a:r>
          </a:p>
        </p:txBody>
      </p:sp>
      <p:sp>
        <p:nvSpPr>
          <p:cNvPr id="26" name="TextBox 25"/>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LinkedIn : 鉄板運用 + よくある失敗</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B2B案件の30日プラン + pitfalls</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P135 / 250</a:t>
            </a:r>
          </a:p>
        </p:txBody>
      </p:sp>
      <p:sp>
        <p:nvSpPr>
          <p:cNvPr id="8" name="TextBox 7"/>
          <p:cNvSpPr txBox="1"/>
          <p:nvPr/>
        </p:nvSpPr>
        <p:spPr>
          <a:xfrm>
            <a:off x="548640" y="1417320"/>
            <a:ext cx="548640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30日鉄板プラン</a:t>
            </a:r>
          </a:p>
        </p:txBody>
      </p:sp>
      <p:sp>
        <p:nvSpPr>
          <p:cNvPr id="9" name="Rectangle 8"/>
          <p:cNvSpPr/>
          <p:nvPr/>
        </p:nvSpPr>
        <p:spPr>
          <a:xfrm>
            <a:off x="548640" y="1783080"/>
            <a:ext cx="548640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1965960"/>
            <a:ext cx="5486400" cy="54864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965960"/>
            <a:ext cx="1188720" cy="5486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130552"/>
            <a:ext cx="1188720" cy="274320"/>
          </a:xfrm>
          <a:prstGeom prst="rect">
            <a:avLst/>
          </a:prstGeom>
          <a:noFill/>
        </p:spPr>
        <p:txBody>
          <a:bodyPr wrap="square" anchor="t" lIns="0" rIns="0" tIns="0" bIns="0">
            <a:spAutoFit/>
          </a:bodyPr>
          <a:lstStyle/>
          <a:p>
            <a:pPr algn="ctr">
              <a:lnSpc>
                <a:spcPct val="115000"/>
              </a:lnSpc>
            </a:pPr>
            <a:r>
              <a:rPr sz="1100" b="1">
                <a:solidFill>
                  <a:srgbClr val="E87722"/>
                </a:solidFill>
                <a:latin typeface="Helvetica Neue"/>
                <a:ea typeface="Helvetica Neue"/>
                <a:cs typeface="Helvetica Neue"/>
              </a:rPr>
              <a:t>Day 0-3</a:t>
            </a:r>
          </a:p>
        </p:txBody>
      </p:sp>
      <p:sp>
        <p:nvSpPr>
          <p:cNvPr id="13" name="TextBox 12"/>
          <p:cNvSpPr txBox="1"/>
          <p:nvPr/>
        </p:nvSpPr>
        <p:spPr>
          <a:xfrm>
            <a:off x="1874519" y="2130552"/>
            <a:ext cx="402336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Insight Tag + LeadGen Form 設定</a:t>
            </a:r>
          </a:p>
        </p:txBody>
      </p:sp>
      <p:sp>
        <p:nvSpPr>
          <p:cNvPr id="14" name="Rounded Rectangle 13"/>
          <p:cNvSpPr/>
          <p:nvPr/>
        </p:nvSpPr>
        <p:spPr>
          <a:xfrm>
            <a:off x="548640" y="2606040"/>
            <a:ext cx="5486400" cy="54864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606040"/>
            <a:ext cx="1188720" cy="5486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2770632"/>
            <a:ext cx="1188720" cy="274320"/>
          </a:xfrm>
          <a:prstGeom prst="rect">
            <a:avLst/>
          </a:prstGeom>
          <a:noFill/>
        </p:spPr>
        <p:txBody>
          <a:bodyPr wrap="square" anchor="t" lIns="0" rIns="0" tIns="0" bIns="0">
            <a:spAutoFit/>
          </a:bodyPr>
          <a:lstStyle/>
          <a:p>
            <a:pPr algn="ctr">
              <a:lnSpc>
                <a:spcPct val="115000"/>
              </a:lnSpc>
            </a:pPr>
            <a:r>
              <a:rPr sz="1100" b="1">
                <a:solidFill>
                  <a:srgbClr val="E87722"/>
                </a:solidFill>
                <a:latin typeface="Helvetica Neue"/>
                <a:ea typeface="Helvetica Neue"/>
                <a:cs typeface="Helvetica Neue"/>
              </a:rPr>
              <a:t>Day 4-7</a:t>
            </a:r>
          </a:p>
        </p:txBody>
      </p:sp>
      <p:sp>
        <p:nvSpPr>
          <p:cNvPr id="17" name="TextBox 16"/>
          <p:cNvSpPr txBox="1"/>
          <p:nvPr/>
        </p:nvSpPr>
        <p:spPr>
          <a:xfrm>
            <a:off x="1874519" y="2770632"/>
            <a:ext cx="402336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Sponsored + Thought Leader でテスト</a:t>
            </a:r>
          </a:p>
        </p:txBody>
      </p:sp>
      <p:sp>
        <p:nvSpPr>
          <p:cNvPr id="18" name="Rounded Rectangle 17"/>
          <p:cNvSpPr/>
          <p:nvPr/>
        </p:nvSpPr>
        <p:spPr>
          <a:xfrm>
            <a:off x="548640" y="3246120"/>
            <a:ext cx="5486400" cy="54864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246120"/>
            <a:ext cx="1188720" cy="5486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3410712"/>
            <a:ext cx="1188720" cy="274320"/>
          </a:xfrm>
          <a:prstGeom prst="rect">
            <a:avLst/>
          </a:prstGeom>
          <a:noFill/>
        </p:spPr>
        <p:txBody>
          <a:bodyPr wrap="square" anchor="t" lIns="0" rIns="0" tIns="0" bIns="0">
            <a:spAutoFit/>
          </a:bodyPr>
          <a:lstStyle/>
          <a:p>
            <a:pPr algn="ctr">
              <a:lnSpc>
                <a:spcPct val="115000"/>
              </a:lnSpc>
            </a:pPr>
            <a:r>
              <a:rPr sz="1100" b="1">
                <a:solidFill>
                  <a:srgbClr val="E87722"/>
                </a:solidFill>
                <a:latin typeface="Helvetica Neue"/>
                <a:ea typeface="Helvetica Neue"/>
                <a:cs typeface="Helvetica Neue"/>
              </a:rPr>
              <a:t>Day 8-21</a:t>
            </a:r>
          </a:p>
        </p:txBody>
      </p:sp>
      <p:sp>
        <p:nvSpPr>
          <p:cNvPr id="21" name="TextBox 20"/>
          <p:cNvSpPr txBox="1"/>
          <p:nvPr/>
        </p:nvSpPr>
        <p:spPr>
          <a:xfrm>
            <a:off x="1874519" y="3410712"/>
            <a:ext cx="402336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ABM (Buying Group) + CRM 連携</a:t>
            </a:r>
          </a:p>
        </p:txBody>
      </p:sp>
      <p:sp>
        <p:nvSpPr>
          <p:cNvPr id="22" name="Rounded Rectangle 21"/>
          <p:cNvSpPr/>
          <p:nvPr/>
        </p:nvSpPr>
        <p:spPr>
          <a:xfrm>
            <a:off x="548640" y="3886200"/>
            <a:ext cx="5486400" cy="54864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48640" y="3886200"/>
            <a:ext cx="1188720" cy="5486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4050792"/>
            <a:ext cx="1188720" cy="274320"/>
          </a:xfrm>
          <a:prstGeom prst="rect">
            <a:avLst/>
          </a:prstGeom>
          <a:noFill/>
        </p:spPr>
        <p:txBody>
          <a:bodyPr wrap="square" anchor="t" lIns="0" rIns="0" tIns="0" bIns="0">
            <a:spAutoFit/>
          </a:bodyPr>
          <a:lstStyle/>
          <a:p>
            <a:pPr algn="ctr">
              <a:lnSpc>
                <a:spcPct val="115000"/>
              </a:lnSpc>
            </a:pPr>
            <a:r>
              <a:rPr sz="1100" b="1">
                <a:solidFill>
                  <a:srgbClr val="E87722"/>
                </a:solidFill>
                <a:latin typeface="Helvetica Neue"/>
                <a:ea typeface="Helvetica Neue"/>
                <a:cs typeface="Helvetica Neue"/>
              </a:rPr>
              <a:t>Day 22-30</a:t>
            </a:r>
          </a:p>
        </p:txBody>
      </p:sp>
      <p:sp>
        <p:nvSpPr>
          <p:cNvPr id="25" name="TextBox 24"/>
          <p:cNvSpPr txBox="1"/>
          <p:nvPr/>
        </p:nvSpPr>
        <p:spPr>
          <a:xfrm>
            <a:off x="1874519" y="4050792"/>
            <a:ext cx="402336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ROAS分析 + 月次レポート</a:t>
            </a:r>
          </a:p>
        </p:txBody>
      </p:sp>
      <p:sp>
        <p:nvSpPr>
          <p:cNvPr id="26" name="TextBox 25"/>
          <p:cNvSpPr txBox="1"/>
          <p:nvPr/>
        </p:nvSpPr>
        <p:spPr>
          <a:xfrm>
            <a:off x="6400800" y="1417320"/>
            <a:ext cx="5486400" cy="365760"/>
          </a:xfrm>
          <a:prstGeom prst="rect">
            <a:avLst/>
          </a:prstGeom>
          <a:noFill/>
        </p:spPr>
        <p:txBody>
          <a:bodyPr wrap="square" anchor="t" lIns="0" rIns="0" tIns="0" bIns="0">
            <a:spAutoFit/>
          </a:bodyPr>
          <a:lstStyle/>
          <a:p>
            <a:pPr algn="l">
              <a:lnSpc>
                <a:spcPct val="115000"/>
              </a:lnSpc>
            </a:pPr>
            <a:r>
              <a:rPr sz="1300" b="1">
                <a:solidFill>
                  <a:srgbClr val="C6452D"/>
                </a:solidFill>
                <a:latin typeface="Hiragino Sans"/>
                <a:ea typeface="Hiragino Sans"/>
                <a:cs typeface="Hiragino Sans"/>
              </a:rPr>
              <a:t>よくある失敗</a:t>
            </a:r>
          </a:p>
        </p:txBody>
      </p:sp>
      <p:sp>
        <p:nvSpPr>
          <p:cNvPr id="27" name="Rectangle 26"/>
          <p:cNvSpPr/>
          <p:nvPr/>
        </p:nvSpPr>
        <p:spPr>
          <a:xfrm>
            <a:off x="6400800" y="1783080"/>
            <a:ext cx="525780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400800" y="1965960"/>
            <a:ext cx="5257800" cy="5486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400800" y="1965960"/>
            <a:ext cx="91440" cy="548640"/>
          </a:xfrm>
          <a:prstGeom prst="rect">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0" y="2039112"/>
            <a:ext cx="493776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低単価CPCで運用</a:t>
            </a:r>
          </a:p>
        </p:txBody>
      </p:sp>
      <p:sp>
        <p:nvSpPr>
          <p:cNvPr id="31" name="TextBox 30"/>
          <p:cNvSpPr txBox="1"/>
          <p:nvPr/>
        </p:nvSpPr>
        <p:spPr>
          <a:xfrm>
            <a:off x="6583680" y="2258568"/>
            <a:ext cx="4937760" cy="228600"/>
          </a:xfrm>
          <a:prstGeom prst="rect">
            <a:avLst/>
          </a:prstGeom>
          <a:noFill/>
        </p:spPr>
        <p:txBody>
          <a:bodyPr wrap="square" anchor="t" lIns="0" rIns="0" tIns="0" bIns="0">
            <a:spAutoFit/>
          </a:bodyPr>
          <a:lstStyle/>
          <a:p>
            <a:pPr algn="l">
              <a:lnSpc>
                <a:spcPct val="115000"/>
              </a:lnSpc>
            </a:pPr>
            <a:r>
              <a:rPr sz="900" b="0">
                <a:solidFill>
                  <a:srgbClr val="5A6A80"/>
                </a:solidFill>
                <a:latin typeface="Hiragino Sans"/>
                <a:ea typeface="Hiragino Sans"/>
                <a:cs typeface="Hiragino Sans"/>
              </a:rPr>
              <a:t>B2Bは高単価が前提 ($4-8 CPC)</a:t>
            </a:r>
          </a:p>
        </p:txBody>
      </p:sp>
      <p:sp>
        <p:nvSpPr>
          <p:cNvPr id="32" name="Rounded Rectangle 31"/>
          <p:cNvSpPr/>
          <p:nvPr/>
        </p:nvSpPr>
        <p:spPr>
          <a:xfrm>
            <a:off x="6400800" y="2606040"/>
            <a:ext cx="5257800" cy="5486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400800" y="2606040"/>
            <a:ext cx="91440" cy="548640"/>
          </a:xfrm>
          <a:prstGeom prst="rect">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0" y="2679192"/>
            <a:ext cx="493776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Thought Leader Ads 未活用</a:t>
            </a:r>
          </a:p>
        </p:txBody>
      </p:sp>
      <p:sp>
        <p:nvSpPr>
          <p:cNvPr id="35" name="TextBox 34"/>
          <p:cNvSpPr txBox="1"/>
          <p:nvPr/>
        </p:nvSpPr>
        <p:spPr>
          <a:xfrm>
            <a:off x="6583680" y="2898648"/>
            <a:ext cx="4937760" cy="228600"/>
          </a:xfrm>
          <a:prstGeom prst="rect">
            <a:avLst/>
          </a:prstGeom>
          <a:noFill/>
        </p:spPr>
        <p:txBody>
          <a:bodyPr wrap="square" anchor="t" lIns="0" rIns="0" tIns="0" bIns="0">
            <a:spAutoFit/>
          </a:bodyPr>
          <a:lstStyle/>
          <a:p>
            <a:pPr algn="l">
              <a:lnSpc>
                <a:spcPct val="115000"/>
              </a:lnSpc>
            </a:pPr>
            <a:r>
              <a:rPr sz="900" b="0">
                <a:solidFill>
                  <a:srgbClr val="5A6A80"/>
                </a:solidFill>
                <a:latin typeface="Hiragino Sans"/>
                <a:ea typeface="Hiragino Sans"/>
                <a:cs typeface="Hiragino Sans"/>
              </a:rPr>
              <a:t>コーポレート比+30-50%効果を逃す</a:t>
            </a:r>
          </a:p>
        </p:txBody>
      </p:sp>
      <p:sp>
        <p:nvSpPr>
          <p:cNvPr id="36" name="Rounded Rectangle 35"/>
          <p:cNvSpPr/>
          <p:nvPr/>
        </p:nvSpPr>
        <p:spPr>
          <a:xfrm>
            <a:off x="6400800" y="3246120"/>
            <a:ext cx="5257800" cy="5486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400800" y="3246120"/>
            <a:ext cx="91440" cy="548640"/>
          </a:xfrm>
          <a:prstGeom prst="rect">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83680" y="3319272"/>
            <a:ext cx="493776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CRM連携を後回し</a:t>
            </a:r>
          </a:p>
        </p:txBody>
      </p:sp>
      <p:sp>
        <p:nvSpPr>
          <p:cNvPr id="39" name="TextBox 38"/>
          <p:cNvSpPr txBox="1"/>
          <p:nvPr/>
        </p:nvSpPr>
        <p:spPr>
          <a:xfrm>
            <a:off x="6583680" y="3538728"/>
            <a:ext cx="4937760" cy="228600"/>
          </a:xfrm>
          <a:prstGeom prst="rect">
            <a:avLst/>
          </a:prstGeom>
          <a:noFill/>
        </p:spPr>
        <p:txBody>
          <a:bodyPr wrap="square" anchor="t" lIns="0" rIns="0" tIns="0" bIns="0">
            <a:spAutoFit/>
          </a:bodyPr>
          <a:lstStyle/>
          <a:p>
            <a:pPr algn="l">
              <a:lnSpc>
                <a:spcPct val="115000"/>
              </a:lnSpc>
            </a:pPr>
            <a:r>
              <a:rPr sz="900" b="0">
                <a:solidFill>
                  <a:srgbClr val="5A6A80"/>
                </a:solidFill>
                <a:latin typeface="Hiragino Sans"/>
                <a:ea typeface="Hiragino Sans"/>
                <a:cs typeface="Hiragino Sans"/>
              </a:rPr>
              <a:t>Closed-Loop なしで ROIが見えない</a:t>
            </a:r>
          </a:p>
        </p:txBody>
      </p:sp>
      <p:sp>
        <p:nvSpPr>
          <p:cNvPr id="40" name="Rounded Rectangle 39"/>
          <p:cNvSpPr/>
          <p:nvPr/>
        </p:nvSpPr>
        <p:spPr>
          <a:xfrm>
            <a:off x="6400800" y="3886200"/>
            <a:ext cx="5257800" cy="5486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400800" y="3886200"/>
            <a:ext cx="91440" cy="548640"/>
          </a:xfrm>
          <a:prstGeom prst="rect">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583680" y="3959352"/>
            <a:ext cx="493776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広告セットを細かく分割</a:t>
            </a:r>
          </a:p>
        </p:txBody>
      </p:sp>
      <p:sp>
        <p:nvSpPr>
          <p:cNvPr id="43" name="TextBox 42"/>
          <p:cNvSpPr txBox="1"/>
          <p:nvPr/>
        </p:nvSpPr>
        <p:spPr>
          <a:xfrm>
            <a:off x="6583680" y="4178808"/>
            <a:ext cx="4937760" cy="228600"/>
          </a:xfrm>
          <a:prstGeom prst="rect">
            <a:avLst/>
          </a:prstGeom>
          <a:noFill/>
        </p:spPr>
        <p:txBody>
          <a:bodyPr wrap="square" anchor="t" lIns="0" rIns="0" tIns="0" bIns="0">
            <a:spAutoFit/>
          </a:bodyPr>
          <a:lstStyle/>
          <a:p>
            <a:pPr algn="l">
              <a:lnSpc>
                <a:spcPct val="115000"/>
              </a:lnSpc>
            </a:pPr>
            <a:r>
              <a:rPr sz="900" b="0">
                <a:solidFill>
                  <a:srgbClr val="5A6A80"/>
                </a:solidFill>
                <a:latin typeface="Hiragino Sans"/>
                <a:ea typeface="Hiragino Sans"/>
                <a:cs typeface="Hiragino Sans"/>
              </a:rPr>
              <a:t>B2Bはサンプルサイズが小さく学習困難</a:t>
            </a:r>
          </a:p>
        </p:txBody>
      </p:sp>
      <p:sp>
        <p:nvSpPr>
          <p:cNvPr id="44" name="Rounded Rectangle 43"/>
          <p:cNvSpPr/>
          <p:nvPr/>
        </p:nvSpPr>
        <p:spPr>
          <a:xfrm>
            <a:off x="548640" y="4937760"/>
            <a:ext cx="11109960" cy="141732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77240" y="5074920"/>
            <a:ext cx="100584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 LinkedIn 案件の予算設計</a:t>
            </a:r>
          </a:p>
        </p:txBody>
      </p:sp>
      <p:sp>
        <p:nvSpPr>
          <p:cNvPr id="46" name="TextBox 45"/>
          <p:cNvSpPr txBox="1"/>
          <p:nvPr/>
        </p:nvSpPr>
        <p:spPr>
          <a:xfrm>
            <a:off x="777240" y="5394960"/>
            <a:ext cx="10972800" cy="960120"/>
          </a:xfrm>
          <a:prstGeom prst="rect">
            <a:avLst/>
          </a:prstGeom>
          <a:noFill/>
        </p:spPr>
        <p:txBody>
          <a:bodyPr wrap="square" anchor="t" lIns="0" rIns="0" tIns="0" bIns="0">
            <a:spAutoFit/>
          </a:bodyPr>
          <a:lstStyle/>
          <a:p>
            <a:pPr algn="l">
              <a:lnSpc>
                <a:spcPct val="155000"/>
              </a:lnSpc>
            </a:pPr>
            <a:r>
              <a:rPr sz="1100" b="0">
                <a:solidFill>
                  <a:srgbClr val="1A1A1A"/>
                </a:solidFill>
                <a:latin typeface="Hiragino Sans"/>
                <a:ea typeface="Hiragino Sans"/>
                <a:cs typeface="Hiragino Sans"/>
              </a:rPr>
              <a:t>• B2B認知獲得 : 月50-200万円 (Sponsored + Thought Leader)</a:t>
            </a:r>
          </a:p>
          <a:p>
            <a:pPr algn="l">
              <a:lnSpc>
                <a:spcPct val="155000"/>
              </a:lnSpc>
            </a:pPr>
            <a:r>
              <a:rPr sz="1100" b="0">
                <a:solidFill>
                  <a:srgbClr val="1A1A1A"/>
                </a:solidFill>
                <a:latin typeface="Hiragino Sans"/>
                <a:ea typeface="Hiragino Sans"/>
                <a:cs typeface="Hiragino Sans"/>
              </a:rPr>
              <a:t>• ABM案件 : 月100-500万円 (Account-list + Buying Group)</a:t>
            </a:r>
          </a:p>
          <a:p>
            <a:pPr algn="l">
              <a:lnSpc>
                <a:spcPct val="155000"/>
              </a:lnSpc>
            </a:pPr>
            <a:r>
              <a:rPr sz="1100" b="0">
                <a:solidFill>
                  <a:srgbClr val="1A1A1A"/>
                </a:solidFill>
                <a:latin typeface="Hiragino Sans"/>
                <a:ea typeface="Hiragino Sans"/>
                <a:cs typeface="Hiragino Sans"/>
              </a:rPr>
              <a:t>• 副業代行スイートスポット : 月50-100万円 ABMライト案件 (10-30社のターゲ)</a:t>
            </a:r>
          </a:p>
        </p:txBody>
      </p:sp>
      <p:sp>
        <p:nvSpPr>
          <p:cNvPr id="47" name="TextBox 46"/>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Amazon Ads ─ リテールメディア標準</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EC事業者の必修媒体 + AMC で1PD活用</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P136 / 250</a:t>
            </a:r>
          </a:p>
        </p:txBody>
      </p:sp>
      <p:sp>
        <p:nvSpPr>
          <p:cNvPr id="8" name="Rounded Rectangle 7"/>
          <p:cNvSpPr/>
          <p:nvPr/>
        </p:nvSpPr>
        <p:spPr>
          <a:xfrm>
            <a:off x="548640" y="1371600"/>
            <a:ext cx="11109960" cy="118872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08760"/>
            <a:ext cx="10058400" cy="365760"/>
          </a:xfrm>
          <a:prstGeom prst="rect">
            <a:avLst/>
          </a:prstGeom>
          <a:noFill/>
        </p:spPr>
        <p:txBody>
          <a:bodyPr wrap="square" anchor="t" lIns="0" rIns="0" tIns="0" bIns="0">
            <a:spAutoFit/>
          </a:bodyPr>
          <a:lstStyle/>
          <a:p>
            <a:pPr algn="l">
              <a:lnSpc>
                <a:spcPct val="115000"/>
              </a:lnSpc>
            </a:pPr>
            <a:r>
              <a:rPr sz="1200" b="1">
                <a:solidFill>
                  <a:srgbClr val="E87722"/>
                </a:solidFill>
                <a:latin typeface="Hiragino Sans"/>
                <a:ea typeface="Hiragino Sans"/>
                <a:cs typeface="Hiragino Sans"/>
              </a:rPr>
              <a:t>Amazon Ads 世界広告売上 (2024)</a:t>
            </a:r>
          </a:p>
        </p:txBody>
      </p:sp>
      <p:sp>
        <p:nvSpPr>
          <p:cNvPr id="10" name="TextBox 9"/>
          <p:cNvSpPr txBox="1"/>
          <p:nvPr/>
        </p:nvSpPr>
        <p:spPr>
          <a:xfrm>
            <a:off x="777240" y="1828800"/>
            <a:ext cx="3657600" cy="777240"/>
          </a:xfrm>
          <a:prstGeom prst="rect">
            <a:avLst/>
          </a:prstGeom>
          <a:noFill/>
        </p:spPr>
        <p:txBody>
          <a:bodyPr wrap="square" anchor="t" lIns="0" rIns="0" tIns="0" bIns="0">
            <a:spAutoFit/>
          </a:bodyPr>
          <a:lstStyle/>
          <a:p>
            <a:pPr algn="l">
              <a:lnSpc>
                <a:spcPct val="115000"/>
              </a:lnSpc>
            </a:pPr>
            <a:r>
              <a:rPr sz="4400" b="1">
                <a:solidFill>
                  <a:srgbClr val="FFFFFF"/>
                </a:solidFill>
                <a:latin typeface="Helvetica Neue"/>
                <a:ea typeface="Helvetica Neue"/>
                <a:cs typeface="Helvetica Neue"/>
              </a:rPr>
              <a:t>$56.9B</a:t>
            </a:r>
          </a:p>
        </p:txBody>
      </p:sp>
      <p:sp>
        <p:nvSpPr>
          <p:cNvPr id="11" name="TextBox 10"/>
          <p:cNvSpPr txBox="1"/>
          <p:nvPr/>
        </p:nvSpPr>
        <p:spPr>
          <a:xfrm>
            <a:off x="5029200" y="2011680"/>
            <a:ext cx="6400800" cy="457200"/>
          </a:xfrm>
          <a:prstGeom prst="rect">
            <a:avLst/>
          </a:prstGeom>
          <a:noFill/>
        </p:spPr>
        <p:txBody>
          <a:bodyPr wrap="square" anchor="t" lIns="0" rIns="0" tIns="0" bIns="0">
            <a:spAutoFit/>
          </a:bodyPr>
          <a:lstStyle/>
          <a:p>
            <a:pPr algn="l">
              <a:lnSpc>
                <a:spcPct val="115000"/>
              </a:lnSpc>
            </a:pPr>
            <a:r>
              <a:rPr sz="1200" b="0">
                <a:solidFill>
                  <a:srgbClr val="D7DDE8"/>
                </a:solidFill>
                <a:latin typeface="Hiragino Sans"/>
                <a:ea typeface="Hiragino Sans"/>
                <a:cs typeface="Hiragino Sans"/>
              </a:rPr>
              <a:t>Google・Meta に次ぐ世界3位 ※要確認</a:t>
            </a:r>
          </a:p>
        </p:txBody>
      </p:sp>
      <p:sp>
        <p:nvSpPr>
          <p:cNvPr id="12" name="TextBox 11"/>
          <p:cNvSpPr txBox="1"/>
          <p:nvPr/>
        </p:nvSpPr>
        <p:spPr>
          <a:xfrm>
            <a:off x="548640" y="2697480"/>
            <a:ext cx="1097280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Amazon Ads プロダクトライン</a:t>
            </a:r>
          </a:p>
        </p:txBody>
      </p:sp>
      <p:sp>
        <p:nvSpPr>
          <p:cNvPr id="13" name="Rounded Rectangle 12"/>
          <p:cNvSpPr/>
          <p:nvPr/>
        </p:nvSpPr>
        <p:spPr>
          <a:xfrm>
            <a:off x="548640" y="3108960"/>
            <a:ext cx="3611880" cy="2286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108960"/>
            <a:ext cx="361188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3246120"/>
            <a:ext cx="3246120" cy="411480"/>
          </a:xfrm>
          <a:prstGeom prst="rect">
            <a:avLst/>
          </a:prstGeom>
          <a:noFill/>
        </p:spPr>
        <p:txBody>
          <a:bodyPr wrap="square" anchor="t" lIns="0" rIns="0" tIns="0" bIns="0">
            <a:spAutoFit/>
          </a:bodyPr>
          <a:lstStyle/>
          <a:p>
            <a:pPr algn="l">
              <a:lnSpc>
                <a:spcPct val="115000"/>
              </a:lnSpc>
            </a:pPr>
            <a:r>
              <a:rPr sz="1400" b="1">
                <a:solidFill>
                  <a:srgbClr val="FFFFFF"/>
                </a:solidFill>
                <a:latin typeface="Hiragino Sans"/>
                <a:ea typeface="Hiragino Sans"/>
                <a:cs typeface="Hiragino Sans"/>
              </a:rPr>
              <a:t>Sponsored Ads</a:t>
            </a:r>
          </a:p>
        </p:txBody>
      </p:sp>
      <p:sp>
        <p:nvSpPr>
          <p:cNvPr id="16" name="TextBox 15"/>
          <p:cNvSpPr txBox="1"/>
          <p:nvPr/>
        </p:nvSpPr>
        <p:spPr>
          <a:xfrm>
            <a:off x="777240" y="3657600"/>
            <a:ext cx="3246120" cy="274320"/>
          </a:xfrm>
          <a:prstGeom prst="rect">
            <a:avLst/>
          </a:prstGeom>
          <a:noFill/>
        </p:spPr>
        <p:txBody>
          <a:bodyPr wrap="square" anchor="t" lIns="0" rIns="0" tIns="0" bIns="0">
            <a:spAutoFit/>
          </a:bodyPr>
          <a:lstStyle/>
          <a:p>
            <a:pPr algn="l">
              <a:lnSpc>
                <a:spcPct val="115000"/>
              </a:lnSpc>
            </a:pPr>
            <a:r>
              <a:rPr sz="1000" b="0">
                <a:solidFill>
                  <a:srgbClr val="FFFFFF"/>
                </a:solidFill>
                <a:latin typeface="Hiragino Sans"/>
                <a:ea typeface="Hiragino Sans"/>
                <a:cs typeface="Hiragino Sans"/>
              </a:rPr>
              <a:t>Amazon内検索・商品ページ</a:t>
            </a:r>
          </a:p>
        </p:txBody>
      </p:sp>
      <p:sp>
        <p:nvSpPr>
          <p:cNvPr id="17" name="TextBox 16"/>
          <p:cNvSpPr txBox="1"/>
          <p:nvPr/>
        </p:nvSpPr>
        <p:spPr>
          <a:xfrm>
            <a:off x="777240" y="4114800"/>
            <a:ext cx="3246120" cy="123444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Sponsored Products / Brands /</a:t>
            </a:r>
          </a:p>
          <a:p>
            <a:pPr algn="l">
              <a:lnSpc>
                <a:spcPct val="160000"/>
              </a:lnSpc>
            </a:pPr>
            <a:r>
              <a:rPr sz="1100" b="0">
                <a:solidFill>
                  <a:srgbClr val="1A1A1A"/>
                </a:solidFill>
                <a:latin typeface="Hiragino Sans"/>
                <a:ea typeface="Hiragino Sans"/>
                <a:cs typeface="Hiragino Sans"/>
              </a:rPr>
              <a:t>Display の3タイプ</a:t>
            </a:r>
          </a:p>
          <a:p>
            <a:pPr algn="l">
              <a:lnSpc>
                <a:spcPct val="160000"/>
              </a:lnSpc>
            </a:pPr>
            <a:r>
              <a:rPr sz="1100" b="0">
                <a:solidFill>
                  <a:srgbClr val="1A1A1A"/>
                </a:solidFill>
                <a:latin typeface="Hiragino Sans"/>
                <a:ea typeface="Hiragino Sans"/>
                <a:cs typeface="Hiragino Sans"/>
              </a:rPr>
              <a:t>出店者向け基本</a:t>
            </a:r>
          </a:p>
        </p:txBody>
      </p:sp>
      <p:sp>
        <p:nvSpPr>
          <p:cNvPr id="18" name="Rounded Rectangle 17"/>
          <p:cNvSpPr/>
          <p:nvPr/>
        </p:nvSpPr>
        <p:spPr>
          <a:xfrm>
            <a:off x="4297680" y="3108960"/>
            <a:ext cx="3611880" cy="2286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297680" y="3108960"/>
            <a:ext cx="361188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26280" y="3246120"/>
            <a:ext cx="3246120" cy="411480"/>
          </a:xfrm>
          <a:prstGeom prst="rect">
            <a:avLst/>
          </a:prstGeom>
          <a:noFill/>
        </p:spPr>
        <p:txBody>
          <a:bodyPr wrap="square" anchor="t" lIns="0" rIns="0" tIns="0" bIns="0">
            <a:spAutoFit/>
          </a:bodyPr>
          <a:lstStyle/>
          <a:p>
            <a:pPr algn="l">
              <a:lnSpc>
                <a:spcPct val="115000"/>
              </a:lnSpc>
            </a:pPr>
            <a:r>
              <a:rPr sz="1400" b="1">
                <a:solidFill>
                  <a:srgbClr val="FFFFFF"/>
                </a:solidFill>
                <a:latin typeface="Hiragino Sans"/>
                <a:ea typeface="Hiragino Sans"/>
                <a:cs typeface="Hiragino Sans"/>
              </a:rPr>
              <a:t>Amazon DSP</a:t>
            </a:r>
          </a:p>
        </p:txBody>
      </p:sp>
      <p:sp>
        <p:nvSpPr>
          <p:cNvPr id="21" name="TextBox 20"/>
          <p:cNvSpPr txBox="1"/>
          <p:nvPr/>
        </p:nvSpPr>
        <p:spPr>
          <a:xfrm>
            <a:off x="4526280" y="3657600"/>
            <a:ext cx="3246120" cy="274320"/>
          </a:xfrm>
          <a:prstGeom prst="rect">
            <a:avLst/>
          </a:prstGeom>
          <a:noFill/>
        </p:spPr>
        <p:txBody>
          <a:bodyPr wrap="square" anchor="t" lIns="0" rIns="0" tIns="0" bIns="0">
            <a:spAutoFit/>
          </a:bodyPr>
          <a:lstStyle/>
          <a:p>
            <a:pPr algn="l">
              <a:lnSpc>
                <a:spcPct val="115000"/>
              </a:lnSpc>
            </a:pPr>
            <a:r>
              <a:rPr sz="1000" b="0">
                <a:solidFill>
                  <a:srgbClr val="FFFFFF"/>
                </a:solidFill>
                <a:latin typeface="Hiragino Sans"/>
                <a:ea typeface="Hiragino Sans"/>
                <a:cs typeface="Hiragino Sans"/>
              </a:rPr>
              <a:t>Amazon外サイトもリーチ</a:t>
            </a:r>
          </a:p>
        </p:txBody>
      </p:sp>
      <p:sp>
        <p:nvSpPr>
          <p:cNvPr id="22" name="TextBox 21"/>
          <p:cNvSpPr txBox="1"/>
          <p:nvPr/>
        </p:nvSpPr>
        <p:spPr>
          <a:xfrm>
            <a:off x="4526280" y="4114800"/>
            <a:ext cx="3246120" cy="123444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Amazon内 + 提携サイト</a:t>
            </a:r>
          </a:p>
          <a:p>
            <a:pPr algn="l">
              <a:lnSpc>
                <a:spcPct val="160000"/>
              </a:lnSpc>
            </a:pPr>
            <a:r>
              <a:rPr sz="1100" b="0">
                <a:solidFill>
                  <a:srgbClr val="1A1A1A"/>
                </a:solidFill>
                <a:latin typeface="Hiragino Sans"/>
                <a:ea typeface="Hiragino Sans"/>
                <a:cs typeface="Hiragino Sans"/>
              </a:rPr>
              <a:t>動画・ディスプレイ広告</a:t>
            </a:r>
          </a:p>
          <a:p>
            <a:pPr algn="l">
              <a:lnSpc>
                <a:spcPct val="160000"/>
              </a:lnSpc>
            </a:pPr>
            <a:r>
              <a:rPr sz="1100" b="0">
                <a:solidFill>
                  <a:srgbClr val="1A1A1A"/>
                </a:solidFill>
                <a:latin typeface="Hiragino Sans"/>
                <a:ea typeface="Hiragino Sans"/>
                <a:cs typeface="Hiragino Sans"/>
              </a:rPr>
              <a:t>大型予算向け</a:t>
            </a:r>
          </a:p>
        </p:txBody>
      </p:sp>
      <p:sp>
        <p:nvSpPr>
          <p:cNvPr id="23" name="Rounded Rectangle 22"/>
          <p:cNvSpPr/>
          <p:nvPr/>
        </p:nvSpPr>
        <p:spPr>
          <a:xfrm>
            <a:off x="8046720" y="3108960"/>
            <a:ext cx="3611880" cy="2286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046720" y="3108960"/>
            <a:ext cx="361188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75320" y="3246120"/>
            <a:ext cx="3246120" cy="411480"/>
          </a:xfrm>
          <a:prstGeom prst="rect">
            <a:avLst/>
          </a:prstGeom>
          <a:noFill/>
        </p:spPr>
        <p:txBody>
          <a:bodyPr wrap="square" anchor="t" lIns="0" rIns="0" tIns="0" bIns="0">
            <a:spAutoFit/>
          </a:bodyPr>
          <a:lstStyle/>
          <a:p>
            <a:pPr algn="l">
              <a:lnSpc>
                <a:spcPct val="115000"/>
              </a:lnSpc>
            </a:pPr>
            <a:r>
              <a:rPr sz="1400" b="1">
                <a:solidFill>
                  <a:srgbClr val="FFFFFF"/>
                </a:solidFill>
                <a:latin typeface="Hiragino Sans"/>
                <a:ea typeface="Hiragino Sans"/>
                <a:cs typeface="Hiragino Sans"/>
              </a:rPr>
              <a:t>AMC</a:t>
            </a:r>
          </a:p>
        </p:txBody>
      </p:sp>
      <p:sp>
        <p:nvSpPr>
          <p:cNvPr id="26" name="TextBox 25"/>
          <p:cNvSpPr txBox="1"/>
          <p:nvPr/>
        </p:nvSpPr>
        <p:spPr>
          <a:xfrm>
            <a:off x="8275320" y="3657600"/>
            <a:ext cx="3246120" cy="274320"/>
          </a:xfrm>
          <a:prstGeom prst="rect">
            <a:avLst/>
          </a:prstGeom>
          <a:noFill/>
        </p:spPr>
        <p:txBody>
          <a:bodyPr wrap="square" anchor="t" lIns="0" rIns="0" tIns="0" bIns="0">
            <a:spAutoFit/>
          </a:bodyPr>
          <a:lstStyle/>
          <a:p>
            <a:pPr algn="l">
              <a:lnSpc>
                <a:spcPct val="115000"/>
              </a:lnSpc>
            </a:pPr>
            <a:r>
              <a:rPr sz="1000" b="0">
                <a:solidFill>
                  <a:srgbClr val="FFFFFF"/>
                </a:solidFill>
                <a:latin typeface="Hiragino Sans"/>
                <a:ea typeface="Hiragino Sans"/>
                <a:cs typeface="Hiragino Sans"/>
              </a:rPr>
              <a:t>Marketing Cloud (Clean Room)</a:t>
            </a:r>
          </a:p>
        </p:txBody>
      </p:sp>
      <p:sp>
        <p:nvSpPr>
          <p:cNvPr id="27" name="TextBox 26"/>
          <p:cNvSpPr txBox="1"/>
          <p:nvPr/>
        </p:nvSpPr>
        <p:spPr>
          <a:xfrm>
            <a:off x="8275320" y="4114800"/>
            <a:ext cx="3246120" cy="123444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1PD + Amazon 1PDの統合分析</a:t>
            </a:r>
          </a:p>
          <a:p>
            <a:pPr algn="l">
              <a:lnSpc>
                <a:spcPct val="160000"/>
              </a:lnSpc>
            </a:pPr>
            <a:r>
              <a:rPr sz="1100" b="0">
                <a:solidFill>
                  <a:srgbClr val="1A1A1A"/>
                </a:solidFill>
                <a:latin typeface="Hiragino Sans"/>
                <a:ea typeface="Hiragino Sans"/>
                <a:cs typeface="Hiragino Sans"/>
              </a:rPr>
              <a:t>12.5ヶ月のevent-level data</a:t>
            </a:r>
          </a:p>
          <a:p>
            <a:pPr algn="l">
              <a:lnSpc>
                <a:spcPct val="160000"/>
              </a:lnSpc>
            </a:pPr>
            <a:r>
              <a:rPr sz="1100" b="0">
                <a:solidFill>
                  <a:srgbClr val="1A1A1A"/>
                </a:solidFill>
                <a:latin typeface="Hiragino Sans"/>
                <a:ea typeface="Hiragino Sans"/>
                <a:cs typeface="Hiragino Sans"/>
              </a:rPr>
              <a:t>2026 No-code 化</a:t>
            </a:r>
          </a:p>
        </p:txBody>
      </p:sp>
      <p:sp>
        <p:nvSpPr>
          <p:cNvPr id="28" name="TextBox 27"/>
          <p:cNvSpPr txBox="1"/>
          <p:nvPr/>
        </p:nvSpPr>
        <p:spPr>
          <a:xfrm>
            <a:off x="548640" y="5532120"/>
            <a:ext cx="1097280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 副業代行 : Amazon出店者クライアント = Sponsored Ads必須、中規模以上はAMCで1PD活用</a:t>
            </a:r>
          </a:p>
        </p:txBody>
      </p:sp>
      <p:sp>
        <p:nvSpPr>
          <p:cNvPr id="29" name="TextBox 28"/>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Sponsored Products / Brands / Display</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Amazon内3つの広告タイプ</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P137 / 250</a:t>
            </a:r>
          </a:p>
        </p:txBody>
      </p:sp>
      <p:sp>
        <p:nvSpPr>
          <p:cNvPr id="8" name="Rounded Rectangle 7"/>
          <p:cNvSpPr/>
          <p:nvPr/>
        </p:nvSpPr>
        <p:spPr>
          <a:xfrm>
            <a:off x="548640" y="1417320"/>
            <a:ext cx="3611880" cy="27432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361188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581912"/>
            <a:ext cx="3246120" cy="411480"/>
          </a:xfrm>
          <a:prstGeom prst="rect">
            <a:avLst/>
          </a:prstGeom>
          <a:noFill/>
        </p:spPr>
        <p:txBody>
          <a:bodyPr wrap="square" anchor="t" lIns="0" rIns="0" tIns="0" bIns="0">
            <a:spAutoFit/>
          </a:bodyPr>
          <a:lstStyle/>
          <a:p>
            <a:pPr algn="l">
              <a:lnSpc>
                <a:spcPct val="120000"/>
              </a:lnSpc>
            </a:pPr>
            <a:r>
              <a:rPr sz="1400" b="1">
                <a:solidFill>
                  <a:srgbClr val="E87722"/>
                </a:solidFill>
                <a:latin typeface="Hiragino Sans"/>
                <a:ea typeface="Hiragino Sans"/>
                <a:cs typeface="Hiragino Sans"/>
              </a:rPr>
              <a:t>Sponsored Products</a:t>
            </a:r>
          </a:p>
        </p:txBody>
      </p:sp>
      <p:sp>
        <p:nvSpPr>
          <p:cNvPr id="11" name="TextBox 10"/>
          <p:cNvSpPr txBox="1"/>
          <p:nvPr/>
        </p:nvSpPr>
        <p:spPr>
          <a:xfrm>
            <a:off x="777240" y="1965960"/>
            <a:ext cx="3246120" cy="274320"/>
          </a:xfrm>
          <a:prstGeom prst="rect">
            <a:avLst/>
          </a:prstGeom>
          <a:noFill/>
        </p:spPr>
        <p:txBody>
          <a:bodyPr wrap="square" anchor="t" lIns="0" rIns="0" tIns="0" bIns="0">
            <a:spAutoFit/>
          </a:bodyPr>
          <a:lstStyle/>
          <a:p>
            <a:pPr algn="l">
              <a:lnSpc>
                <a:spcPct val="115000"/>
              </a:lnSpc>
            </a:pPr>
            <a:r>
              <a:rPr sz="1000" b="0">
                <a:solidFill>
                  <a:srgbClr val="FFFFFF"/>
                </a:solidFill>
                <a:latin typeface="Hiragino Sans"/>
                <a:ea typeface="Hiragino Sans"/>
                <a:cs typeface="Hiragino Sans"/>
              </a:rPr>
              <a:t>検索結果 + 商品ページ</a:t>
            </a:r>
          </a:p>
        </p:txBody>
      </p:sp>
      <p:sp>
        <p:nvSpPr>
          <p:cNvPr id="12" name="TextBox 11"/>
          <p:cNvSpPr txBox="1"/>
          <p:nvPr/>
        </p:nvSpPr>
        <p:spPr>
          <a:xfrm>
            <a:off x="777240" y="2423160"/>
            <a:ext cx="3246120" cy="169164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個別商品プロモーション</a:t>
            </a:r>
          </a:p>
          <a:p>
            <a:pPr algn="l">
              <a:lnSpc>
                <a:spcPct val="160000"/>
              </a:lnSpc>
            </a:pPr>
            <a:r>
              <a:rPr sz="1100" b="0">
                <a:solidFill>
                  <a:srgbClr val="1A1A1A"/>
                </a:solidFill>
                <a:latin typeface="Hiragino Sans"/>
                <a:ea typeface="Hiragino Sans"/>
                <a:cs typeface="Hiragino Sans"/>
              </a:rPr>
              <a:t>キーワードベース or 自動</a:t>
            </a:r>
          </a:p>
          <a:p>
            <a:pPr algn="l">
              <a:lnSpc>
                <a:spcPct val="160000"/>
              </a:lnSpc>
            </a:pPr>
            <a:r>
              <a:rPr sz="1100" b="0">
                <a:solidFill>
                  <a:srgbClr val="1A1A1A"/>
                </a:solidFill>
                <a:latin typeface="Hiragino Sans"/>
                <a:ea typeface="Hiragino Sans"/>
                <a:cs typeface="Hiragino Sans"/>
              </a:rPr>
              <a:t>ASIN単位で配信</a:t>
            </a:r>
          </a:p>
        </p:txBody>
      </p:sp>
      <p:sp>
        <p:nvSpPr>
          <p:cNvPr id="13" name="Rounded Rectangle 12"/>
          <p:cNvSpPr/>
          <p:nvPr/>
        </p:nvSpPr>
        <p:spPr>
          <a:xfrm>
            <a:off x="4297680" y="1417320"/>
            <a:ext cx="3611880" cy="27432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7680" y="1417320"/>
            <a:ext cx="361188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26280" y="1581912"/>
            <a:ext cx="3246120" cy="411480"/>
          </a:xfrm>
          <a:prstGeom prst="rect">
            <a:avLst/>
          </a:prstGeom>
          <a:noFill/>
        </p:spPr>
        <p:txBody>
          <a:bodyPr wrap="square" anchor="t" lIns="0" rIns="0" tIns="0" bIns="0">
            <a:spAutoFit/>
          </a:bodyPr>
          <a:lstStyle/>
          <a:p>
            <a:pPr algn="l">
              <a:lnSpc>
                <a:spcPct val="120000"/>
              </a:lnSpc>
            </a:pPr>
            <a:r>
              <a:rPr sz="1400" b="1">
                <a:solidFill>
                  <a:srgbClr val="E87722"/>
                </a:solidFill>
                <a:latin typeface="Hiragino Sans"/>
                <a:ea typeface="Hiragino Sans"/>
                <a:cs typeface="Hiragino Sans"/>
              </a:rPr>
              <a:t>Sponsored Brands</a:t>
            </a:r>
          </a:p>
        </p:txBody>
      </p:sp>
      <p:sp>
        <p:nvSpPr>
          <p:cNvPr id="16" name="TextBox 15"/>
          <p:cNvSpPr txBox="1"/>
          <p:nvPr/>
        </p:nvSpPr>
        <p:spPr>
          <a:xfrm>
            <a:off x="4526280" y="1965960"/>
            <a:ext cx="3246120" cy="274320"/>
          </a:xfrm>
          <a:prstGeom prst="rect">
            <a:avLst/>
          </a:prstGeom>
          <a:noFill/>
        </p:spPr>
        <p:txBody>
          <a:bodyPr wrap="square" anchor="t" lIns="0" rIns="0" tIns="0" bIns="0">
            <a:spAutoFit/>
          </a:bodyPr>
          <a:lstStyle/>
          <a:p>
            <a:pPr algn="l">
              <a:lnSpc>
                <a:spcPct val="115000"/>
              </a:lnSpc>
            </a:pPr>
            <a:r>
              <a:rPr sz="1000" b="0">
                <a:solidFill>
                  <a:srgbClr val="FFFFFF"/>
                </a:solidFill>
                <a:latin typeface="Hiragino Sans"/>
                <a:ea typeface="Hiragino Sans"/>
                <a:cs typeface="Hiragino Sans"/>
              </a:rPr>
              <a:t>ブランドストア誘導</a:t>
            </a:r>
          </a:p>
        </p:txBody>
      </p:sp>
      <p:sp>
        <p:nvSpPr>
          <p:cNvPr id="17" name="TextBox 16"/>
          <p:cNvSpPr txBox="1"/>
          <p:nvPr/>
        </p:nvSpPr>
        <p:spPr>
          <a:xfrm>
            <a:off x="4526280" y="2423160"/>
            <a:ext cx="3246120" cy="169164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ブランドロゴ + 複数商品</a:t>
            </a:r>
          </a:p>
          <a:p>
            <a:pPr algn="l">
              <a:lnSpc>
                <a:spcPct val="160000"/>
              </a:lnSpc>
            </a:pPr>
            <a:r>
              <a:rPr sz="1100" b="0">
                <a:solidFill>
                  <a:srgbClr val="1A1A1A"/>
                </a:solidFill>
                <a:latin typeface="Hiragino Sans"/>
                <a:ea typeface="Hiragino Sans"/>
                <a:cs typeface="Hiragino Sans"/>
              </a:rPr>
              <a:t>ヘッドライン広告</a:t>
            </a:r>
          </a:p>
          <a:p>
            <a:pPr algn="l">
              <a:lnSpc>
                <a:spcPct val="160000"/>
              </a:lnSpc>
            </a:pPr>
            <a:r>
              <a:rPr sz="1100" b="0">
                <a:solidFill>
                  <a:srgbClr val="1A1A1A"/>
                </a:solidFill>
                <a:latin typeface="Hiragino Sans"/>
                <a:ea typeface="Hiragino Sans"/>
                <a:cs typeface="Hiragino Sans"/>
              </a:rPr>
              <a:t>ストアページへ誘導</a:t>
            </a:r>
          </a:p>
        </p:txBody>
      </p:sp>
      <p:sp>
        <p:nvSpPr>
          <p:cNvPr id="18" name="Rounded Rectangle 17"/>
          <p:cNvSpPr/>
          <p:nvPr/>
        </p:nvSpPr>
        <p:spPr>
          <a:xfrm>
            <a:off x="8046720" y="1417320"/>
            <a:ext cx="3611880" cy="27432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6720" y="1417320"/>
            <a:ext cx="361188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1581912"/>
            <a:ext cx="3246120" cy="411480"/>
          </a:xfrm>
          <a:prstGeom prst="rect">
            <a:avLst/>
          </a:prstGeom>
          <a:noFill/>
        </p:spPr>
        <p:txBody>
          <a:bodyPr wrap="square" anchor="t" lIns="0" rIns="0" tIns="0" bIns="0">
            <a:spAutoFit/>
          </a:bodyPr>
          <a:lstStyle/>
          <a:p>
            <a:pPr algn="l">
              <a:lnSpc>
                <a:spcPct val="120000"/>
              </a:lnSpc>
            </a:pPr>
            <a:r>
              <a:rPr sz="1400" b="1">
                <a:solidFill>
                  <a:srgbClr val="E87722"/>
                </a:solidFill>
                <a:latin typeface="Hiragino Sans"/>
                <a:ea typeface="Hiragino Sans"/>
                <a:cs typeface="Hiragino Sans"/>
              </a:rPr>
              <a:t>Sponsored Display</a:t>
            </a:r>
          </a:p>
        </p:txBody>
      </p:sp>
      <p:sp>
        <p:nvSpPr>
          <p:cNvPr id="21" name="TextBox 20"/>
          <p:cNvSpPr txBox="1"/>
          <p:nvPr/>
        </p:nvSpPr>
        <p:spPr>
          <a:xfrm>
            <a:off x="8275320" y="1965960"/>
            <a:ext cx="3246120" cy="274320"/>
          </a:xfrm>
          <a:prstGeom prst="rect">
            <a:avLst/>
          </a:prstGeom>
          <a:noFill/>
        </p:spPr>
        <p:txBody>
          <a:bodyPr wrap="square" anchor="t" lIns="0" rIns="0" tIns="0" bIns="0">
            <a:spAutoFit/>
          </a:bodyPr>
          <a:lstStyle/>
          <a:p>
            <a:pPr algn="l">
              <a:lnSpc>
                <a:spcPct val="115000"/>
              </a:lnSpc>
            </a:pPr>
            <a:r>
              <a:rPr sz="1000" b="0">
                <a:solidFill>
                  <a:srgbClr val="FFFFFF"/>
                </a:solidFill>
                <a:latin typeface="Hiragino Sans"/>
                <a:ea typeface="Hiragino Sans"/>
                <a:cs typeface="Hiragino Sans"/>
              </a:rPr>
              <a:t>Amazon内+外への配信</a:t>
            </a:r>
          </a:p>
        </p:txBody>
      </p:sp>
      <p:sp>
        <p:nvSpPr>
          <p:cNvPr id="22" name="TextBox 21"/>
          <p:cNvSpPr txBox="1"/>
          <p:nvPr/>
        </p:nvSpPr>
        <p:spPr>
          <a:xfrm>
            <a:off x="8275320" y="2423160"/>
            <a:ext cx="3246120" cy="169164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閲覧履歴 / 購入履歴ベース</a:t>
            </a:r>
          </a:p>
          <a:p>
            <a:pPr algn="l">
              <a:lnSpc>
                <a:spcPct val="160000"/>
              </a:lnSpc>
            </a:pPr>
            <a:r>
              <a:rPr sz="1100" b="0">
                <a:solidFill>
                  <a:srgbClr val="1A1A1A"/>
                </a:solidFill>
                <a:latin typeface="Hiragino Sans"/>
                <a:ea typeface="Hiragino Sans"/>
                <a:cs typeface="Hiragino Sans"/>
              </a:rPr>
              <a:t>リマケ + 類似商品配信</a:t>
            </a:r>
          </a:p>
          <a:p>
            <a:pPr algn="l">
              <a:lnSpc>
                <a:spcPct val="160000"/>
              </a:lnSpc>
            </a:pPr>
            <a:r>
              <a:rPr sz="1100" b="0">
                <a:solidFill>
                  <a:srgbClr val="1A1A1A"/>
                </a:solidFill>
                <a:latin typeface="Hiragino Sans"/>
                <a:ea typeface="Hiragino Sans"/>
                <a:cs typeface="Hiragino Sans"/>
              </a:rPr>
              <a:t>Amazon DSP の入口</a:t>
            </a:r>
          </a:p>
        </p:txBody>
      </p:sp>
      <p:sp>
        <p:nvSpPr>
          <p:cNvPr id="23" name="Rounded Rectangle 22"/>
          <p:cNvSpPr/>
          <p:nvPr/>
        </p:nvSpPr>
        <p:spPr>
          <a:xfrm>
            <a:off x="548640" y="4297680"/>
            <a:ext cx="11109960" cy="205740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4434840"/>
            <a:ext cx="100584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 副業代行で押さえる順番</a:t>
            </a:r>
          </a:p>
        </p:txBody>
      </p:sp>
      <p:sp>
        <p:nvSpPr>
          <p:cNvPr id="25" name="TextBox 24"/>
          <p:cNvSpPr txBox="1"/>
          <p:nvPr/>
        </p:nvSpPr>
        <p:spPr>
          <a:xfrm>
            <a:off x="777240" y="4754880"/>
            <a:ext cx="10972800" cy="1554480"/>
          </a:xfrm>
          <a:prstGeom prst="rect">
            <a:avLst/>
          </a:prstGeom>
          <a:noFill/>
        </p:spPr>
        <p:txBody>
          <a:bodyPr wrap="square" anchor="t" lIns="0" rIns="0" tIns="0" bIns="0">
            <a:spAutoFit/>
          </a:bodyPr>
          <a:lstStyle/>
          <a:p>
            <a:pPr algn="l">
              <a:lnSpc>
                <a:spcPct val="155000"/>
              </a:lnSpc>
            </a:pPr>
            <a:r>
              <a:rPr sz="1100" b="0">
                <a:solidFill>
                  <a:srgbClr val="1A1A1A"/>
                </a:solidFill>
                <a:latin typeface="Hiragino Sans"/>
                <a:ea typeface="Hiragino Sans"/>
                <a:cs typeface="Hiragino Sans"/>
              </a:rPr>
              <a:t>1. Sponsored Products = 全 Amazon出店者で必須、最初に始めるべき</a:t>
            </a:r>
          </a:p>
          <a:p>
            <a:pPr algn="l">
              <a:lnSpc>
                <a:spcPct val="155000"/>
              </a:lnSpc>
            </a:pPr>
            <a:r>
              <a:rPr sz="1100" b="0">
                <a:solidFill>
                  <a:srgbClr val="1A1A1A"/>
                </a:solidFill>
                <a:latin typeface="Hiragino Sans"/>
                <a:ea typeface="Hiragino Sans"/>
                <a:cs typeface="Hiragino Sans"/>
              </a:rPr>
              <a:t>2. Sponsored Brands = ブランドストア持ちブランドで活用、ブランディング+CV</a:t>
            </a:r>
          </a:p>
          <a:p>
            <a:pPr algn="l">
              <a:lnSpc>
                <a:spcPct val="155000"/>
              </a:lnSpc>
            </a:pPr>
            <a:r>
              <a:rPr sz="1100" b="0">
                <a:solidFill>
                  <a:srgbClr val="1A1A1A"/>
                </a:solidFill>
                <a:latin typeface="Hiragino Sans"/>
                <a:ea typeface="Hiragino Sans"/>
                <a:cs typeface="Hiragino Sans"/>
              </a:rPr>
              <a:t>3. Sponsored Display = リマケ用、Amazon外も拡張可能</a:t>
            </a:r>
          </a:p>
          <a:p>
            <a:pPr algn="l">
              <a:lnSpc>
                <a:spcPct val="155000"/>
              </a:lnSpc>
            </a:pPr>
            <a:r>
              <a:rPr sz="1100" b="0">
                <a:solidFill>
                  <a:srgbClr val="1A1A1A"/>
                </a:solidFill>
                <a:latin typeface="Hiragino Sans"/>
                <a:ea typeface="Hiragino Sans"/>
                <a:cs typeface="Hiragino Sans"/>
              </a:rPr>
              <a:t>4. 自動キャンペーン (オートターゲ) からスタート → 7日後にマニュアル拡張</a:t>
            </a:r>
          </a:p>
          <a:p>
            <a:pPr algn="l">
              <a:lnSpc>
                <a:spcPct val="155000"/>
              </a:lnSpc>
            </a:pPr>
            <a:r>
              <a:rPr sz="1100" b="0">
                <a:solidFill>
                  <a:srgbClr val="1A1A1A"/>
                </a:solidFill>
                <a:latin typeface="Hiragino Sans"/>
                <a:ea typeface="Hiragino Sans"/>
                <a:cs typeface="Hiragino Sans"/>
              </a:rPr>
              <a:t>5. ACOS (Advertising Cost of Sales) を業界平均と比較してKPI管理</a:t>
            </a:r>
          </a:p>
        </p:txBody>
      </p:sp>
      <p:sp>
        <p:nvSpPr>
          <p:cNvPr id="26" name="TextBox 25"/>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Amazon DSP — Amazon外も含むDSP</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Programmatic広告のリテールメディア統合版</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P138 / 250</a:t>
            </a:r>
          </a:p>
        </p:txBody>
      </p:sp>
      <p:sp>
        <p:nvSpPr>
          <p:cNvPr id="8" name="Rounded Rectangle 7"/>
          <p:cNvSpPr/>
          <p:nvPr/>
        </p:nvSpPr>
        <p:spPr>
          <a:xfrm>
            <a:off x="548640" y="1371600"/>
            <a:ext cx="11109960" cy="91440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08760"/>
            <a:ext cx="10972800" cy="731520"/>
          </a:xfrm>
          <a:prstGeom prst="rect">
            <a:avLst/>
          </a:prstGeom>
          <a:noFill/>
        </p:spPr>
        <p:txBody>
          <a:bodyPr wrap="square" anchor="t" lIns="0" rIns="0" tIns="0" bIns="0">
            <a:spAutoFit/>
          </a:bodyPr>
          <a:lstStyle/>
          <a:p>
            <a:pPr algn="l">
              <a:lnSpc>
                <a:spcPct val="150000"/>
              </a:lnSpc>
            </a:pPr>
            <a:r>
              <a:rPr sz="1200" b="0">
                <a:solidFill>
                  <a:srgbClr val="FFFFFF"/>
                </a:solidFill>
                <a:latin typeface="Hiragino Sans"/>
                <a:ea typeface="Hiragino Sans"/>
                <a:cs typeface="Hiragino Sans"/>
              </a:rPr>
              <a:t>Amazon DSP : Amazon内+外 (提携サイト・アプリ・FireTV・Twitch・IMDb等) への</a:t>
            </a:r>
          </a:p>
          <a:p>
            <a:pPr algn="l">
              <a:lnSpc>
                <a:spcPct val="150000"/>
              </a:lnSpc>
            </a:pPr>
            <a:r>
              <a:rPr sz="1200" b="0">
                <a:solidFill>
                  <a:srgbClr val="FFFFFF"/>
                </a:solidFill>
                <a:latin typeface="Hiragino Sans"/>
                <a:ea typeface="Hiragino Sans"/>
                <a:cs typeface="Hiragino Sans"/>
              </a:rPr>
              <a:t>Programmatic 広告。Amazon の購買データを活用したターゲティングが強み</a:t>
            </a:r>
          </a:p>
        </p:txBody>
      </p:sp>
      <p:sp>
        <p:nvSpPr>
          <p:cNvPr id="10" name="TextBox 9"/>
          <p:cNvSpPr txBox="1"/>
          <p:nvPr/>
        </p:nvSpPr>
        <p:spPr>
          <a:xfrm>
            <a:off x="548640" y="2423160"/>
            <a:ext cx="1097280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DSP在庫・配信面</a:t>
            </a:r>
          </a:p>
        </p:txBody>
      </p:sp>
      <p:sp>
        <p:nvSpPr>
          <p:cNvPr id="11" name="Rounded Rectangle 10"/>
          <p:cNvSpPr/>
          <p:nvPr/>
        </p:nvSpPr>
        <p:spPr>
          <a:xfrm>
            <a:off x="548640" y="2834640"/>
            <a:ext cx="2697480" cy="16916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834640"/>
            <a:ext cx="26974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063240"/>
            <a:ext cx="2331720" cy="365760"/>
          </a:xfrm>
          <a:prstGeom prst="rect">
            <a:avLst/>
          </a:prstGeom>
          <a:noFill/>
        </p:spPr>
        <p:txBody>
          <a:bodyPr wrap="square" anchor="t" lIns="0" rIns="0" tIns="0" bIns="0">
            <a:spAutoFit/>
          </a:bodyPr>
          <a:lstStyle/>
          <a:p>
            <a:pPr algn="ctr">
              <a:lnSpc>
                <a:spcPct val="115000"/>
              </a:lnSpc>
            </a:pPr>
            <a:r>
              <a:rPr sz="1300" b="1">
                <a:solidFill>
                  <a:srgbClr val="0F2A4F"/>
                </a:solidFill>
                <a:latin typeface="Hiragino Sans"/>
                <a:ea typeface="Hiragino Sans"/>
                <a:cs typeface="Hiragino Sans"/>
              </a:rPr>
              <a:t>Amazon Owned</a:t>
            </a:r>
          </a:p>
        </p:txBody>
      </p:sp>
      <p:sp>
        <p:nvSpPr>
          <p:cNvPr id="14" name="TextBox 13"/>
          <p:cNvSpPr txBox="1"/>
          <p:nvPr/>
        </p:nvSpPr>
        <p:spPr>
          <a:xfrm>
            <a:off x="731520" y="3474720"/>
            <a:ext cx="2331720" cy="960120"/>
          </a:xfrm>
          <a:prstGeom prst="rect">
            <a:avLst/>
          </a:prstGeom>
          <a:noFill/>
        </p:spPr>
        <p:txBody>
          <a:bodyPr wrap="square" anchor="t" lIns="0" rIns="0" tIns="0" bIns="0">
            <a:spAutoFit/>
          </a:bodyPr>
          <a:lstStyle/>
          <a:p>
            <a:pPr algn="ctr">
              <a:lnSpc>
                <a:spcPct val="155000"/>
              </a:lnSpc>
            </a:pPr>
            <a:r>
              <a:rPr sz="1000" b="0">
                <a:solidFill>
                  <a:srgbClr val="1A1A1A"/>
                </a:solidFill>
                <a:latin typeface="Hiragino Sans"/>
                <a:ea typeface="Hiragino Sans"/>
                <a:cs typeface="Hiragino Sans"/>
              </a:rPr>
              <a:t>Amazon.com / Fire TV / IMDb /</a:t>
            </a:r>
          </a:p>
          <a:p>
            <a:pPr algn="ctr">
              <a:lnSpc>
                <a:spcPct val="155000"/>
              </a:lnSpc>
            </a:pPr>
            <a:r>
              <a:rPr sz="1000" b="0">
                <a:solidFill>
                  <a:srgbClr val="1A1A1A"/>
                </a:solidFill>
                <a:latin typeface="Hiragino Sans"/>
                <a:ea typeface="Hiragino Sans"/>
                <a:cs typeface="Hiragino Sans"/>
              </a:rPr>
              <a:t>Twitch / Audible</a:t>
            </a:r>
          </a:p>
        </p:txBody>
      </p:sp>
      <p:sp>
        <p:nvSpPr>
          <p:cNvPr id="15" name="Rounded Rectangle 14"/>
          <p:cNvSpPr/>
          <p:nvPr/>
        </p:nvSpPr>
        <p:spPr>
          <a:xfrm>
            <a:off x="3337560" y="2834640"/>
            <a:ext cx="2697480" cy="16916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37560" y="2834640"/>
            <a:ext cx="26974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20440" y="3063240"/>
            <a:ext cx="2331720" cy="365760"/>
          </a:xfrm>
          <a:prstGeom prst="rect">
            <a:avLst/>
          </a:prstGeom>
          <a:noFill/>
        </p:spPr>
        <p:txBody>
          <a:bodyPr wrap="square" anchor="t" lIns="0" rIns="0" tIns="0" bIns="0">
            <a:spAutoFit/>
          </a:bodyPr>
          <a:lstStyle/>
          <a:p>
            <a:pPr algn="ctr">
              <a:lnSpc>
                <a:spcPct val="115000"/>
              </a:lnSpc>
            </a:pPr>
            <a:r>
              <a:rPr sz="1300" b="1">
                <a:solidFill>
                  <a:srgbClr val="0F2A4F"/>
                </a:solidFill>
                <a:latin typeface="Hiragino Sans"/>
                <a:ea typeface="Hiragino Sans"/>
                <a:cs typeface="Hiragino Sans"/>
              </a:rPr>
              <a:t>Amazon Publisher</a:t>
            </a:r>
          </a:p>
        </p:txBody>
      </p:sp>
      <p:sp>
        <p:nvSpPr>
          <p:cNvPr id="18" name="TextBox 17"/>
          <p:cNvSpPr txBox="1"/>
          <p:nvPr/>
        </p:nvSpPr>
        <p:spPr>
          <a:xfrm>
            <a:off x="3520440" y="3474720"/>
            <a:ext cx="2331720" cy="960120"/>
          </a:xfrm>
          <a:prstGeom prst="rect">
            <a:avLst/>
          </a:prstGeom>
          <a:noFill/>
        </p:spPr>
        <p:txBody>
          <a:bodyPr wrap="square" anchor="t" lIns="0" rIns="0" tIns="0" bIns="0">
            <a:spAutoFit/>
          </a:bodyPr>
          <a:lstStyle/>
          <a:p>
            <a:pPr algn="ctr">
              <a:lnSpc>
                <a:spcPct val="155000"/>
              </a:lnSpc>
            </a:pPr>
            <a:r>
              <a:rPr sz="1000" b="0">
                <a:solidFill>
                  <a:srgbClr val="1A1A1A"/>
                </a:solidFill>
                <a:latin typeface="Hiragino Sans"/>
                <a:ea typeface="Hiragino Sans"/>
                <a:cs typeface="Hiragino Sans"/>
              </a:rPr>
              <a:t>Amazon Publisher Services 経由</a:t>
            </a:r>
          </a:p>
          <a:p>
            <a:pPr algn="ctr">
              <a:lnSpc>
                <a:spcPct val="155000"/>
              </a:lnSpc>
            </a:pPr>
            <a:r>
              <a:rPr sz="1000" b="0">
                <a:solidFill>
                  <a:srgbClr val="1A1A1A"/>
                </a:solidFill>
                <a:latin typeface="Hiragino Sans"/>
                <a:ea typeface="Hiragino Sans"/>
                <a:cs typeface="Hiragino Sans"/>
              </a:rPr>
              <a:t>3rd party publishers</a:t>
            </a:r>
          </a:p>
        </p:txBody>
      </p:sp>
      <p:sp>
        <p:nvSpPr>
          <p:cNvPr id="19" name="Rounded Rectangle 18"/>
          <p:cNvSpPr/>
          <p:nvPr/>
        </p:nvSpPr>
        <p:spPr>
          <a:xfrm>
            <a:off x="6126480" y="2834640"/>
            <a:ext cx="2697480" cy="16916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26480" y="2834640"/>
            <a:ext cx="26974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9360" y="3063240"/>
            <a:ext cx="2331720" cy="365760"/>
          </a:xfrm>
          <a:prstGeom prst="rect">
            <a:avLst/>
          </a:prstGeom>
          <a:noFill/>
        </p:spPr>
        <p:txBody>
          <a:bodyPr wrap="square" anchor="t" lIns="0" rIns="0" tIns="0" bIns="0">
            <a:spAutoFit/>
          </a:bodyPr>
          <a:lstStyle/>
          <a:p>
            <a:pPr algn="ctr">
              <a:lnSpc>
                <a:spcPct val="115000"/>
              </a:lnSpc>
            </a:pPr>
            <a:r>
              <a:rPr sz="1300" b="1">
                <a:solidFill>
                  <a:srgbClr val="0F2A4F"/>
                </a:solidFill>
                <a:latin typeface="Hiragino Sans"/>
                <a:ea typeface="Hiragino Sans"/>
                <a:cs typeface="Hiragino Sans"/>
              </a:rPr>
              <a:t>Connected TV</a:t>
            </a:r>
          </a:p>
        </p:txBody>
      </p:sp>
      <p:sp>
        <p:nvSpPr>
          <p:cNvPr id="22" name="TextBox 21"/>
          <p:cNvSpPr txBox="1"/>
          <p:nvPr/>
        </p:nvSpPr>
        <p:spPr>
          <a:xfrm>
            <a:off x="6309360" y="3474720"/>
            <a:ext cx="2331720" cy="960120"/>
          </a:xfrm>
          <a:prstGeom prst="rect">
            <a:avLst/>
          </a:prstGeom>
          <a:noFill/>
        </p:spPr>
        <p:txBody>
          <a:bodyPr wrap="square" anchor="t" lIns="0" rIns="0" tIns="0" bIns="0">
            <a:spAutoFit/>
          </a:bodyPr>
          <a:lstStyle/>
          <a:p>
            <a:pPr algn="ctr">
              <a:lnSpc>
                <a:spcPct val="155000"/>
              </a:lnSpc>
            </a:pPr>
            <a:r>
              <a:rPr sz="1000" b="0">
                <a:solidFill>
                  <a:srgbClr val="1A1A1A"/>
                </a:solidFill>
                <a:latin typeface="Hiragino Sans"/>
                <a:ea typeface="Hiragino Sans"/>
                <a:cs typeface="Hiragino Sans"/>
              </a:rPr>
              <a:t>FireTV広告 / Smart TV配信</a:t>
            </a:r>
          </a:p>
          <a:p>
            <a:pPr algn="ctr">
              <a:lnSpc>
                <a:spcPct val="155000"/>
              </a:lnSpc>
            </a:pPr>
            <a:r>
              <a:rPr sz="1000" b="0">
                <a:solidFill>
                  <a:srgbClr val="1A1A1A"/>
                </a:solidFill>
                <a:latin typeface="Hiragino Sans"/>
                <a:ea typeface="Hiragino Sans"/>
                <a:cs typeface="Hiragino Sans"/>
              </a:rPr>
              <a:t>CTV市場急成長中</a:t>
            </a:r>
          </a:p>
        </p:txBody>
      </p:sp>
      <p:sp>
        <p:nvSpPr>
          <p:cNvPr id="23" name="Rounded Rectangle 22"/>
          <p:cNvSpPr/>
          <p:nvPr/>
        </p:nvSpPr>
        <p:spPr>
          <a:xfrm>
            <a:off x="8915400" y="2834640"/>
            <a:ext cx="2697480" cy="16916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15400" y="2834640"/>
            <a:ext cx="26974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98280" y="3063240"/>
            <a:ext cx="2331720" cy="365760"/>
          </a:xfrm>
          <a:prstGeom prst="rect">
            <a:avLst/>
          </a:prstGeom>
          <a:noFill/>
        </p:spPr>
        <p:txBody>
          <a:bodyPr wrap="square" anchor="t" lIns="0" rIns="0" tIns="0" bIns="0">
            <a:spAutoFit/>
          </a:bodyPr>
          <a:lstStyle/>
          <a:p>
            <a:pPr algn="ctr">
              <a:lnSpc>
                <a:spcPct val="115000"/>
              </a:lnSpc>
            </a:pPr>
            <a:r>
              <a:rPr sz="1300" b="1">
                <a:solidFill>
                  <a:srgbClr val="0F2A4F"/>
                </a:solidFill>
                <a:latin typeface="Hiragino Sans"/>
                <a:ea typeface="Hiragino Sans"/>
                <a:cs typeface="Hiragino Sans"/>
              </a:rPr>
              <a:t>Mobile / Web</a:t>
            </a:r>
          </a:p>
        </p:txBody>
      </p:sp>
      <p:sp>
        <p:nvSpPr>
          <p:cNvPr id="26" name="TextBox 25"/>
          <p:cNvSpPr txBox="1"/>
          <p:nvPr/>
        </p:nvSpPr>
        <p:spPr>
          <a:xfrm>
            <a:off x="9098280" y="3474720"/>
            <a:ext cx="2331720" cy="960120"/>
          </a:xfrm>
          <a:prstGeom prst="rect">
            <a:avLst/>
          </a:prstGeom>
          <a:noFill/>
        </p:spPr>
        <p:txBody>
          <a:bodyPr wrap="square" anchor="t" lIns="0" rIns="0" tIns="0" bIns="0">
            <a:spAutoFit/>
          </a:bodyPr>
          <a:lstStyle/>
          <a:p>
            <a:pPr algn="ctr">
              <a:lnSpc>
                <a:spcPct val="155000"/>
              </a:lnSpc>
            </a:pPr>
            <a:r>
              <a:rPr sz="1000" b="0">
                <a:solidFill>
                  <a:srgbClr val="1A1A1A"/>
                </a:solidFill>
                <a:latin typeface="Hiragino Sans"/>
                <a:ea typeface="Hiragino Sans"/>
                <a:cs typeface="Hiragino Sans"/>
              </a:rPr>
              <a:t>デスクトップ / モバイル</a:t>
            </a:r>
          </a:p>
          <a:p>
            <a:pPr algn="ctr">
              <a:lnSpc>
                <a:spcPct val="155000"/>
              </a:lnSpc>
            </a:pPr>
            <a:r>
              <a:rPr sz="1000" b="0">
                <a:solidFill>
                  <a:srgbClr val="1A1A1A"/>
                </a:solidFill>
                <a:latin typeface="Hiragino Sans"/>
                <a:ea typeface="Hiragino Sans"/>
                <a:cs typeface="Hiragino Sans"/>
              </a:rPr>
              <a:t>App内広告</a:t>
            </a:r>
          </a:p>
        </p:txBody>
      </p:sp>
      <p:sp>
        <p:nvSpPr>
          <p:cNvPr id="27" name="Rounded Rectangle 26"/>
          <p:cNvSpPr/>
          <p:nvPr/>
        </p:nvSpPr>
        <p:spPr>
          <a:xfrm>
            <a:off x="548640" y="4709160"/>
            <a:ext cx="11109960" cy="164592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4846320"/>
            <a:ext cx="100584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 DSP の使いどころ</a:t>
            </a:r>
          </a:p>
        </p:txBody>
      </p:sp>
      <p:sp>
        <p:nvSpPr>
          <p:cNvPr id="29" name="TextBox 28"/>
          <p:cNvSpPr txBox="1"/>
          <p:nvPr/>
        </p:nvSpPr>
        <p:spPr>
          <a:xfrm>
            <a:off x="777240" y="5166360"/>
            <a:ext cx="10972800" cy="1143000"/>
          </a:xfrm>
          <a:prstGeom prst="rect">
            <a:avLst/>
          </a:prstGeom>
          <a:noFill/>
        </p:spPr>
        <p:txBody>
          <a:bodyPr wrap="square" anchor="t" lIns="0" rIns="0" tIns="0" bIns="0">
            <a:spAutoFit/>
          </a:bodyPr>
          <a:lstStyle/>
          <a:p>
            <a:pPr algn="l">
              <a:lnSpc>
                <a:spcPct val="155000"/>
              </a:lnSpc>
            </a:pPr>
            <a:r>
              <a:rPr sz="1100" b="0">
                <a:solidFill>
                  <a:srgbClr val="1A1A1A"/>
                </a:solidFill>
                <a:latin typeface="Hiragino Sans"/>
                <a:ea typeface="Hiragino Sans"/>
                <a:cs typeface="Hiragino Sans"/>
              </a:rPr>
              <a:t>• 月予算 200万円以上 のブランド向け (DSPは管理工数が高い)</a:t>
            </a:r>
          </a:p>
          <a:p>
            <a:pPr algn="l">
              <a:lnSpc>
                <a:spcPct val="155000"/>
              </a:lnSpc>
            </a:pPr>
            <a:r>
              <a:rPr sz="1100" b="0">
                <a:solidFill>
                  <a:srgbClr val="1A1A1A"/>
                </a:solidFill>
                <a:latin typeface="Hiragino Sans"/>
                <a:ea typeface="Hiragino Sans"/>
                <a:cs typeface="Hiragino Sans"/>
              </a:rPr>
              <a:t>• Amazon内Sponsored で限界に達したらDSP拡張で外面リーチ</a:t>
            </a:r>
          </a:p>
          <a:p>
            <a:pPr algn="l">
              <a:lnSpc>
                <a:spcPct val="155000"/>
              </a:lnSpc>
            </a:pPr>
            <a:r>
              <a:rPr sz="1100" b="0">
                <a:solidFill>
                  <a:srgbClr val="1A1A1A"/>
                </a:solidFill>
                <a:latin typeface="Hiragino Sans"/>
                <a:ea typeface="Hiragino Sans"/>
                <a:cs typeface="Hiragino Sans"/>
              </a:rPr>
              <a:t>• CTV (FireTV) 配信は 認知獲得型ブランドで効果大</a:t>
            </a:r>
          </a:p>
          <a:p>
            <a:pPr algn="l">
              <a:lnSpc>
                <a:spcPct val="155000"/>
              </a:lnSpc>
            </a:pPr>
            <a:r>
              <a:rPr sz="1100" b="0">
                <a:solidFill>
                  <a:srgbClr val="1A1A1A"/>
                </a:solidFill>
                <a:latin typeface="Hiragino Sans"/>
                <a:ea typeface="Hiragino Sans"/>
                <a:cs typeface="Hiragino Sans"/>
              </a:rPr>
              <a:t>• Audible / Twitch は エンタメ系ブランドで親和性高い</a:t>
            </a:r>
          </a:p>
          <a:p>
            <a:pPr algn="l">
              <a:lnSpc>
                <a:spcPct val="155000"/>
              </a:lnSpc>
            </a:pPr>
            <a:r>
              <a:rPr sz="1100" b="0">
                <a:solidFill>
                  <a:srgbClr val="1A1A1A"/>
                </a:solidFill>
                <a:latin typeface="Hiragino Sans"/>
                <a:ea typeface="Hiragino Sans"/>
                <a:cs typeface="Hiragino Sans"/>
              </a:rPr>
              <a:t>• 副業代行スイートスポット : Sponsored Ads が中心、DSPは大手出店者向け</a:t>
            </a:r>
          </a:p>
        </p:txBody>
      </p:sp>
      <p:sp>
        <p:nvSpPr>
          <p:cNvPr id="30" name="TextBox 29"/>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 AMC (Amazon Marketing Cloud)</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プライバシー安全なクリーンルーム + 2026 No-code化</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P139 / 250</a:t>
            </a:r>
          </a:p>
        </p:txBody>
      </p:sp>
      <p:sp>
        <p:nvSpPr>
          <p:cNvPr id="8" name="Rounded Rectangle 7"/>
          <p:cNvSpPr/>
          <p:nvPr/>
        </p:nvSpPr>
        <p:spPr>
          <a:xfrm>
            <a:off x="548640" y="1371600"/>
            <a:ext cx="11109960" cy="91440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08760"/>
            <a:ext cx="10972800" cy="731520"/>
          </a:xfrm>
          <a:prstGeom prst="rect">
            <a:avLst/>
          </a:prstGeom>
          <a:noFill/>
        </p:spPr>
        <p:txBody>
          <a:bodyPr wrap="square" anchor="t" lIns="0" rIns="0" tIns="0" bIns="0">
            <a:spAutoFit/>
          </a:bodyPr>
          <a:lstStyle/>
          <a:p>
            <a:pPr algn="l">
              <a:lnSpc>
                <a:spcPct val="150000"/>
              </a:lnSpc>
            </a:pPr>
            <a:r>
              <a:rPr sz="1200" b="0">
                <a:solidFill>
                  <a:srgbClr val="FFFFFF"/>
                </a:solidFill>
                <a:latin typeface="Hiragino Sans"/>
                <a:ea typeface="Hiragino Sans"/>
                <a:cs typeface="Hiragino Sans"/>
              </a:rPr>
              <a:t>AMC : 広告主の 1PD + Amazon の 擬似化シグナル を SQL で分析できるクリーンルーム。</a:t>
            </a:r>
          </a:p>
          <a:p>
            <a:pPr algn="l">
              <a:lnSpc>
                <a:spcPct val="150000"/>
              </a:lnSpc>
            </a:pPr>
            <a:r>
              <a:rPr sz="1200" b="0">
                <a:solidFill>
                  <a:srgbClr val="FFFFFF"/>
                </a:solidFill>
                <a:latin typeface="Hiragino Sans"/>
                <a:ea typeface="Hiragino Sans"/>
                <a:cs typeface="Hiragino Sans"/>
              </a:rPr>
              <a:t>Amazon Ads 全チャネルの impression / click / conversion を統合分析</a:t>
            </a:r>
          </a:p>
        </p:txBody>
      </p:sp>
      <p:sp>
        <p:nvSpPr>
          <p:cNvPr id="10" name="TextBox 9"/>
          <p:cNvSpPr txBox="1"/>
          <p:nvPr/>
        </p:nvSpPr>
        <p:spPr>
          <a:xfrm>
            <a:off x="548640" y="2423160"/>
            <a:ext cx="1097280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AMC 主要機能 (2025-2026)</a:t>
            </a:r>
          </a:p>
        </p:txBody>
      </p:sp>
      <p:sp>
        <p:nvSpPr>
          <p:cNvPr id="11" name="Rounded Rectangle 10"/>
          <p:cNvSpPr/>
          <p:nvPr/>
        </p:nvSpPr>
        <p:spPr>
          <a:xfrm>
            <a:off x="548640" y="2834640"/>
            <a:ext cx="2697480" cy="18288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834640"/>
            <a:ext cx="26974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063240"/>
            <a:ext cx="2331720" cy="365760"/>
          </a:xfrm>
          <a:prstGeom prst="rect">
            <a:avLst/>
          </a:prstGeom>
          <a:noFill/>
        </p:spPr>
        <p:txBody>
          <a:bodyPr wrap="square" anchor="t" lIns="0" rIns="0" tIns="0" bIns="0">
            <a:spAutoFit/>
          </a:bodyPr>
          <a:lstStyle/>
          <a:p>
            <a:pPr algn="ctr">
              <a:lnSpc>
                <a:spcPct val="115000"/>
              </a:lnSpc>
            </a:pPr>
            <a:r>
              <a:rPr sz="1300" b="1">
                <a:solidFill>
                  <a:srgbClr val="0F2A4F"/>
                </a:solidFill>
                <a:latin typeface="Hiragino Sans"/>
                <a:ea typeface="Hiragino Sans"/>
                <a:cs typeface="Hiragino Sans"/>
              </a:rPr>
              <a:t>Event-Level Data</a:t>
            </a:r>
          </a:p>
        </p:txBody>
      </p:sp>
      <p:sp>
        <p:nvSpPr>
          <p:cNvPr id="14" name="TextBox 13"/>
          <p:cNvSpPr txBox="1"/>
          <p:nvPr/>
        </p:nvSpPr>
        <p:spPr>
          <a:xfrm>
            <a:off x="731520" y="3474720"/>
            <a:ext cx="2331720" cy="1097280"/>
          </a:xfrm>
          <a:prstGeom prst="rect">
            <a:avLst/>
          </a:prstGeom>
          <a:noFill/>
        </p:spPr>
        <p:txBody>
          <a:bodyPr wrap="square" anchor="t" lIns="0" rIns="0" tIns="0" bIns="0">
            <a:spAutoFit/>
          </a:bodyPr>
          <a:lstStyle/>
          <a:p>
            <a:pPr algn="ctr">
              <a:lnSpc>
                <a:spcPct val="155000"/>
              </a:lnSpc>
            </a:pPr>
            <a:r>
              <a:rPr sz="1000" b="0">
                <a:solidFill>
                  <a:srgbClr val="1A1A1A"/>
                </a:solidFill>
                <a:latin typeface="Hiragino Sans"/>
                <a:ea typeface="Hiragino Sans"/>
                <a:cs typeface="Hiragino Sans"/>
              </a:rPr>
              <a:t>12.5ヶ月の詳細データ</a:t>
            </a:r>
          </a:p>
          <a:p>
            <a:pPr algn="ctr">
              <a:lnSpc>
                <a:spcPct val="155000"/>
              </a:lnSpc>
            </a:pPr>
            <a:r>
              <a:rPr sz="1000" b="0">
                <a:solidFill>
                  <a:srgbClr val="1A1A1A"/>
                </a:solidFill>
                <a:latin typeface="Hiragino Sans"/>
                <a:ea typeface="Hiragino Sans"/>
                <a:cs typeface="Hiragino Sans"/>
              </a:rPr>
              <a:t>25ヶ月の広告トラフィック</a:t>
            </a:r>
          </a:p>
        </p:txBody>
      </p:sp>
      <p:sp>
        <p:nvSpPr>
          <p:cNvPr id="15" name="Rounded Rectangle 14"/>
          <p:cNvSpPr/>
          <p:nvPr/>
        </p:nvSpPr>
        <p:spPr>
          <a:xfrm>
            <a:off x="3337560" y="2834640"/>
            <a:ext cx="2697480" cy="18288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37560" y="2834640"/>
            <a:ext cx="26974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20440" y="3063240"/>
            <a:ext cx="2331720" cy="365760"/>
          </a:xfrm>
          <a:prstGeom prst="rect">
            <a:avLst/>
          </a:prstGeom>
          <a:noFill/>
        </p:spPr>
        <p:txBody>
          <a:bodyPr wrap="square" anchor="t" lIns="0" rIns="0" tIns="0" bIns="0">
            <a:spAutoFit/>
          </a:bodyPr>
          <a:lstStyle/>
          <a:p>
            <a:pPr algn="ctr">
              <a:lnSpc>
                <a:spcPct val="115000"/>
              </a:lnSpc>
            </a:pPr>
            <a:r>
              <a:rPr sz="1300" b="1">
                <a:solidFill>
                  <a:srgbClr val="0F2A4F"/>
                </a:solidFill>
                <a:latin typeface="Hiragino Sans"/>
                <a:ea typeface="Hiragino Sans"/>
                <a:cs typeface="Hiragino Sans"/>
              </a:rPr>
              <a:t>No-code Hub (2026)</a:t>
            </a:r>
          </a:p>
        </p:txBody>
      </p:sp>
      <p:sp>
        <p:nvSpPr>
          <p:cNvPr id="18" name="TextBox 17"/>
          <p:cNvSpPr txBox="1"/>
          <p:nvPr/>
        </p:nvSpPr>
        <p:spPr>
          <a:xfrm>
            <a:off x="3520440" y="3474720"/>
            <a:ext cx="2331720" cy="1097280"/>
          </a:xfrm>
          <a:prstGeom prst="rect">
            <a:avLst/>
          </a:prstGeom>
          <a:noFill/>
        </p:spPr>
        <p:txBody>
          <a:bodyPr wrap="square" anchor="t" lIns="0" rIns="0" tIns="0" bIns="0">
            <a:spAutoFit/>
          </a:bodyPr>
          <a:lstStyle/>
          <a:p>
            <a:pPr algn="ctr">
              <a:lnSpc>
                <a:spcPct val="155000"/>
              </a:lnSpc>
            </a:pPr>
            <a:r>
              <a:rPr sz="1000" b="0">
                <a:solidFill>
                  <a:srgbClr val="1A1A1A"/>
                </a:solidFill>
                <a:latin typeface="Hiragino Sans"/>
                <a:ea typeface="Hiragino Sans"/>
                <a:cs typeface="Hiragino Sans"/>
              </a:rPr>
              <a:t>SQL不要、テンプレート活用</a:t>
            </a:r>
          </a:p>
          <a:p>
            <a:pPr algn="ctr">
              <a:lnSpc>
                <a:spcPct val="155000"/>
              </a:lnSpc>
            </a:pPr>
            <a:r>
              <a:rPr sz="1000" b="0">
                <a:solidFill>
                  <a:srgbClr val="1A1A1A"/>
                </a:solidFill>
                <a:latin typeface="Hiragino Sans"/>
                <a:ea typeface="Hiragino Sans"/>
                <a:cs typeface="Hiragino Sans"/>
              </a:rPr>
              <a:t>Ads Agent (AI) で分析支援</a:t>
            </a:r>
          </a:p>
        </p:txBody>
      </p:sp>
      <p:sp>
        <p:nvSpPr>
          <p:cNvPr id="19" name="Rounded Rectangle 18"/>
          <p:cNvSpPr/>
          <p:nvPr/>
        </p:nvSpPr>
        <p:spPr>
          <a:xfrm>
            <a:off x="6126480" y="2834640"/>
            <a:ext cx="2697480" cy="18288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26480" y="2834640"/>
            <a:ext cx="26974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9360" y="3063240"/>
            <a:ext cx="2331720" cy="365760"/>
          </a:xfrm>
          <a:prstGeom prst="rect">
            <a:avLst/>
          </a:prstGeom>
          <a:noFill/>
        </p:spPr>
        <p:txBody>
          <a:bodyPr wrap="square" anchor="t" lIns="0" rIns="0" tIns="0" bIns="0">
            <a:spAutoFit/>
          </a:bodyPr>
          <a:lstStyle/>
          <a:p>
            <a:pPr algn="ctr">
              <a:lnSpc>
                <a:spcPct val="115000"/>
              </a:lnSpc>
            </a:pPr>
            <a:r>
              <a:rPr sz="1300" b="1">
                <a:solidFill>
                  <a:srgbClr val="0F2A4F"/>
                </a:solidFill>
                <a:latin typeface="Hiragino Sans"/>
                <a:ea typeface="Hiragino Sans"/>
                <a:cs typeface="Hiragino Sans"/>
              </a:rPr>
              <a:t>AWS Clean Rooms</a:t>
            </a:r>
          </a:p>
        </p:txBody>
      </p:sp>
      <p:sp>
        <p:nvSpPr>
          <p:cNvPr id="22" name="TextBox 21"/>
          <p:cNvSpPr txBox="1"/>
          <p:nvPr/>
        </p:nvSpPr>
        <p:spPr>
          <a:xfrm>
            <a:off x="6309360" y="3474720"/>
            <a:ext cx="2331720" cy="1097280"/>
          </a:xfrm>
          <a:prstGeom prst="rect">
            <a:avLst/>
          </a:prstGeom>
          <a:noFill/>
        </p:spPr>
        <p:txBody>
          <a:bodyPr wrap="square" anchor="t" lIns="0" rIns="0" tIns="0" bIns="0">
            <a:spAutoFit/>
          </a:bodyPr>
          <a:lstStyle/>
          <a:p>
            <a:pPr algn="ctr">
              <a:lnSpc>
                <a:spcPct val="155000"/>
              </a:lnSpc>
            </a:pPr>
            <a:r>
              <a:rPr sz="1000" b="0">
                <a:solidFill>
                  <a:srgbClr val="1A1A1A"/>
                </a:solidFill>
                <a:latin typeface="Hiragino Sans"/>
                <a:ea typeface="Hiragino Sans"/>
                <a:cs typeface="Hiragino Sans"/>
              </a:rPr>
              <a:t>AWSのクリーンルームと統合</a:t>
            </a:r>
          </a:p>
          <a:p>
            <a:pPr algn="ctr">
              <a:lnSpc>
                <a:spcPct val="155000"/>
              </a:lnSpc>
            </a:pPr>
            <a:r>
              <a:rPr sz="1000" b="0">
                <a:solidFill>
                  <a:srgbClr val="1A1A1A"/>
                </a:solidFill>
                <a:latin typeface="Hiragino Sans"/>
                <a:ea typeface="Hiragino Sans"/>
                <a:cs typeface="Hiragino Sans"/>
              </a:rPr>
              <a:t>データ移動なしで分析</a:t>
            </a:r>
          </a:p>
        </p:txBody>
      </p:sp>
      <p:sp>
        <p:nvSpPr>
          <p:cNvPr id="23" name="Rounded Rectangle 22"/>
          <p:cNvSpPr/>
          <p:nvPr/>
        </p:nvSpPr>
        <p:spPr>
          <a:xfrm>
            <a:off x="8915400" y="2834640"/>
            <a:ext cx="2697480" cy="18288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15400" y="2834640"/>
            <a:ext cx="26974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98280" y="3063240"/>
            <a:ext cx="2331720" cy="365760"/>
          </a:xfrm>
          <a:prstGeom prst="rect">
            <a:avLst/>
          </a:prstGeom>
          <a:noFill/>
        </p:spPr>
        <p:txBody>
          <a:bodyPr wrap="square" anchor="t" lIns="0" rIns="0" tIns="0" bIns="0">
            <a:spAutoFit/>
          </a:bodyPr>
          <a:lstStyle/>
          <a:p>
            <a:pPr algn="ctr">
              <a:lnSpc>
                <a:spcPct val="115000"/>
              </a:lnSpc>
            </a:pPr>
            <a:r>
              <a:rPr sz="1300" b="1">
                <a:solidFill>
                  <a:srgbClr val="0F2A4F"/>
                </a:solidFill>
                <a:latin typeface="Hiragino Sans"/>
                <a:ea typeface="Hiragino Sans"/>
                <a:cs typeface="Hiragino Sans"/>
              </a:rPr>
              <a:t>Custom Models</a:t>
            </a:r>
          </a:p>
        </p:txBody>
      </p:sp>
      <p:sp>
        <p:nvSpPr>
          <p:cNvPr id="26" name="TextBox 25"/>
          <p:cNvSpPr txBox="1"/>
          <p:nvPr/>
        </p:nvSpPr>
        <p:spPr>
          <a:xfrm>
            <a:off x="9098280" y="3474720"/>
            <a:ext cx="2331720" cy="1097280"/>
          </a:xfrm>
          <a:prstGeom prst="rect">
            <a:avLst/>
          </a:prstGeom>
          <a:noFill/>
        </p:spPr>
        <p:txBody>
          <a:bodyPr wrap="square" anchor="t" lIns="0" rIns="0" tIns="0" bIns="0">
            <a:spAutoFit/>
          </a:bodyPr>
          <a:lstStyle/>
          <a:p>
            <a:pPr algn="ctr">
              <a:lnSpc>
                <a:spcPct val="155000"/>
              </a:lnSpc>
            </a:pPr>
            <a:r>
              <a:rPr sz="1000" b="0">
                <a:solidFill>
                  <a:srgbClr val="1A1A1A"/>
                </a:solidFill>
                <a:latin typeface="Hiragino Sans"/>
                <a:ea typeface="Hiragino Sans"/>
                <a:cs typeface="Hiragino Sans"/>
              </a:rPr>
              <a:t>ML モデルを AMC内で訓練</a:t>
            </a:r>
          </a:p>
          <a:p>
            <a:pPr algn="ctr">
              <a:lnSpc>
                <a:spcPct val="155000"/>
              </a:lnSpc>
            </a:pPr>
            <a:r>
              <a:rPr sz="1000" b="0">
                <a:solidFill>
                  <a:srgbClr val="1A1A1A"/>
                </a:solidFill>
                <a:latin typeface="Hiragino Sans"/>
                <a:ea typeface="Hiragino Sans"/>
                <a:cs typeface="Hiragino Sans"/>
              </a:rPr>
              <a:t>プライバシー保持しつつ予測</a:t>
            </a:r>
          </a:p>
        </p:txBody>
      </p:sp>
      <p:sp>
        <p:nvSpPr>
          <p:cNvPr id="27" name="Rounded Rectangle 26"/>
          <p:cNvSpPr/>
          <p:nvPr/>
        </p:nvSpPr>
        <p:spPr>
          <a:xfrm>
            <a:off x="548640" y="4846320"/>
            <a:ext cx="11109960" cy="150876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4983480"/>
            <a:ext cx="100584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 副業代行で AMC を活用するシナリオ</a:t>
            </a:r>
          </a:p>
        </p:txBody>
      </p:sp>
      <p:sp>
        <p:nvSpPr>
          <p:cNvPr id="29" name="TextBox 28"/>
          <p:cNvSpPr txBox="1"/>
          <p:nvPr/>
        </p:nvSpPr>
        <p:spPr>
          <a:xfrm>
            <a:off x="777240" y="5303520"/>
            <a:ext cx="10972800" cy="1005840"/>
          </a:xfrm>
          <a:prstGeom prst="rect">
            <a:avLst/>
          </a:prstGeom>
          <a:noFill/>
        </p:spPr>
        <p:txBody>
          <a:bodyPr wrap="square" anchor="t" lIns="0" rIns="0" tIns="0" bIns="0">
            <a:spAutoFit/>
          </a:bodyPr>
          <a:lstStyle/>
          <a:p>
            <a:pPr algn="l">
              <a:lnSpc>
                <a:spcPct val="155000"/>
              </a:lnSpc>
            </a:pPr>
            <a:r>
              <a:rPr sz="1100" b="0">
                <a:solidFill>
                  <a:srgbClr val="1A1A1A"/>
                </a:solidFill>
                <a:latin typeface="Hiragino Sans"/>
                <a:ea typeface="Hiragino Sans"/>
                <a:cs typeface="Hiragino Sans"/>
              </a:rPr>
              <a:t>• 中規模以上 (月予算300万円以上) のAmazon出店者で標準活用</a:t>
            </a:r>
          </a:p>
          <a:p>
            <a:pPr algn="l">
              <a:lnSpc>
                <a:spcPct val="155000"/>
              </a:lnSpc>
            </a:pPr>
            <a:r>
              <a:rPr sz="1100" b="0">
                <a:solidFill>
                  <a:srgbClr val="1A1A1A"/>
                </a:solidFill>
                <a:latin typeface="Hiragino Sans"/>
                <a:ea typeface="Hiragino Sans"/>
                <a:cs typeface="Hiragino Sans"/>
              </a:rPr>
              <a:t>• 1PD (CRM顧客リスト) を Amazon 1PDと組合せて分析 → 高LTV顧客発掘</a:t>
            </a:r>
          </a:p>
          <a:p>
            <a:pPr algn="l">
              <a:lnSpc>
                <a:spcPct val="155000"/>
              </a:lnSpc>
            </a:pPr>
            <a:r>
              <a:rPr sz="1100" b="0">
                <a:solidFill>
                  <a:srgbClr val="1A1A1A"/>
                </a:solidFill>
                <a:latin typeface="Hiragino Sans"/>
                <a:ea typeface="Hiragino Sans"/>
                <a:cs typeface="Hiragino Sans"/>
              </a:rPr>
              <a:t>• 2026 No-code化で SMB (中小事業者) でも利用可能に → 副業代行の差別化要素</a:t>
            </a:r>
          </a:p>
        </p:txBody>
      </p:sp>
      <p:sp>
        <p:nvSpPr>
          <p:cNvPr id="30" name="TextBox 29"/>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Amazon鉄板 + Part 3 (110p) 完了 → Part 4 へ</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媒体別キャッチアップ章のまとめ</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P140 / 250</a:t>
            </a:r>
          </a:p>
        </p:txBody>
      </p:sp>
      <p:sp>
        <p:nvSpPr>
          <p:cNvPr id="8" name="TextBox 7"/>
          <p:cNvSpPr txBox="1"/>
          <p:nvPr/>
        </p:nvSpPr>
        <p:spPr>
          <a:xfrm>
            <a:off x="548640" y="1417320"/>
            <a:ext cx="548640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Amazon Ads 30日鉄板</a:t>
            </a:r>
          </a:p>
        </p:txBody>
      </p:sp>
      <p:sp>
        <p:nvSpPr>
          <p:cNvPr id="9" name="Rectangle 8"/>
          <p:cNvSpPr/>
          <p:nvPr/>
        </p:nvSpPr>
        <p:spPr>
          <a:xfrm>
            <a:off x="548640" y="1783080"/>
            <a:ext cx="548640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1965960"/>
            <a:ext cx="5486400" cy="41148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965960"/>
            <a:ext cx="1188720" cy="41148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057400"/>
            <a:ext cx="1188720" cy="274320"/>
          </a:xfrm>
          <a:prstGeom prst="rect">
            <a:avLst/>
          </a:prstGeom>
          <a:noFill/>
        </p:spPr>
        <p:txBody>
          <a:bodyPr wrap="square" anchor="t" lIns="0" rIns="0" tIns="0" bIns="0">
            <a:spAutoFit/>
          </a:bodyPr>
          <a:lstStyle/>
          <a:p>
            <a:pPr algn="ctr">
              <a:lnSpc>
                <a:spcPct val="115000"/>
              </a:lnSpc>
            </a:pPr>
            <a:r>
              <a:rPr sz="1100" b="1">
                <a:solidFill>
                  <a:srgbClr val="E87722"/>
                </a:solidFill>
                <a:latin typeface="Helvetica Neue"/>
                <a:ea typeface="Helvetica Neue"/>
                <a:cs typeface="Helvetica Neue"/>
              </a:rPr>
              <a:t>Day 0-3</a:t>
            </a:r>
          </a:p>
        </p:txBody>
      </p:sp>
      <p:sp>
        <p:nvSpPr>
          <p:cNvPr id="13" name="TextBox 12"/>
          <p:cNvSpPr txBox="1"/>
          <p:nvPr/>
        </p:nvSpPr>
        <p:spPr>
          <a:xfrm>
            <a:off x="1874519" y="2057400"/>
            <a:ext cx="402336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出店者アカウント連携 + Sponsored Products</a:t>
            </a:r>
          </a:p>
        </p:txBody>
      </p:sp>
      <p:sp>
        <p:nvSpPr>
          <p:cNvPr id="14" name="Rounded Rectangle 13"/>
          <p:cNvSpPr/>
          <p:nvPr/>
        </p:nvSpPr>
        <p:spPr>
          <a:xfrm>
            <a:off x="548640" y="2468880"/>
            <a:ext cx="5486400" cy="41148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68880"/>
            <a:ext cx="1188720" cy="41148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2560320"/>
            <a:ext cx="1188720" cy="274320"/>
          </a:xfrm>
          <a:prstGeom prst="rect">
            <a:avLst/>
          </a:prstGeom>
          <a:noFill/>
        </p:spPr>
        <p:txBody>
          <a:bodyPr wrap="square" anchor="t" lIns="0" rIns="0" tIns="0" bIns="0">
            <a:spAutoFit/>
          </a:bodyPr>
          <a:lstStyle/>
          <a:p>
            <a:pPr algn="ctr">
              <a:lnSpc>
                <a:spcPct val="115000"/>
              </a:lnSpc>
            </a:pPr>
            <a:r>
              <a:rPr sz="1100" b="1">
                <a:solidFill>
                  <a:srgbClr val="E87722"/>
                </a:solidFill>
                <a:latin typeface="Helvetica Neue"/>
                <a:ea typeface="Helvetica Neue"/>
                <a:cs typeface="Helvetica Neue"/>
              </a:rPr>
              <a:t>Day 4-7</a:t>
            </a:r>
          </a:p>
        </p:txBody>
      </p:sp>
      <p:sp>
        <p:nvSpPr>
          <p:cNvPr id="17" name="TextBox 16"/>
          <p:cNvSpPr txBox="1"/>
          <p:nvPr/>
        </p:nvSpPr>
        <p:spPr>
          <a:xfrm>
            <a:off x="1874519" y="2560320"/>
            <a:ext cx="402336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Auto + Manual キャンペーン併存</a:t>
            </a:r>
          </a:p>
        </p:txBody>
      </p:sp>
      <p:sp>
        <p:nvSpPr>
          <p:cNvPr id="18" name="Rounded Rectangle 17"/>
          <p:cNvSpPr/>
          <p:nvPr/>
        </p:nvSpPr>
        <p:spPr>
          <a:xfrm>
            <a:off x="548640" y="2971800"/>
            <a:ext cx="5486400" cy="41148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2971800"/>
            <a:ext cx="1188720" cy="41148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3063240"/>
            <a:ext cx="1188720" cy="274320"/>
          </a:xfrm>
          <a:prstGeom prst="rect">
            <a:avLst/>
          </a:prstGeom>
          <a:noFill/>
        </p:spPr>
        <p:txBody>
          <a:bodyPr wrap="square" anchor="t" lIns="0" rIns="0" tIns="0" bIns="0">
            <a:spAutoFit/>
          </a:bodyPr>
          <a:lstStyle/>
          <a:p>
            <a:pPr algn="ctr">
              <a:lnSpc>
                <a:spcPct val="115000"/>
              </a:lnSpc>
            </a:pPr>
            <a:r>
              <a:rPr sz="1100" b="1">
                <a:solidFill>
                  <a:srgbClr val="E87722"/>
                </a:solidFill>
                <a:latin typeface="Helvetica Neue"/>
                <a:ea typeface="Helvetica Neue"/>
                <a:cs typeface="Helvetica Neue"/>
              </a:rPr>
              <a:t>Day 8-21</a:t>
            </a:r>
          </a:p>
        </p:txBody>
      </p:sp>
      <p:sp>
        <p:nvSpPr>
          <p:cNvPr id="21" name="TextBox 20"/>
          <p:cNvSpPr txBox="1"/>
          <p:nvPr/>
        </p:nvSpPr>
        <p:spPr>
          <a:xfrm>
            <a:off x="1874519" y="3063240"/>
            <a:ext cx="402336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Sponsored Brands + Display 拡張</a:t>
            </a:r>
          </a:p>
        </p:txBody>
      </p:sp>
      <p:sp>
        <p:nvSpPr>
          <p:cNvPr id="22" name="Rounded Rectangle 21"/>
          <p:cNvSpPr/>
          <p:nvPr/>
        </p:nvSpPr>
        <p:spPr>
          <a:xfrm>
            <a:off x="548640" y="3474720"/>
            <a:ext cx="5486400" cy="41148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48640" y="3474720"/>
            <a:ext cx="1188720" cy="41148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3566160"/>
            <a:ext cx="1188720" cy="274320"/>
          </a:xfrm>
          <a:prstGeom prst="rect">
            <a:avLst/>
          </a:prstGeom>
          <a:noFill/>
        </p:spPr>
        <p:txBody>
          <a:bodyPr wrap="square" anchor="t" lIns="0" rIns="0" tIns="0" bIns="0">
            <a:spAutoFit/>
          </a:bodyPr>
          <a:lstStyle/>
          <a:p>
            <a:pPr algn="ctr">
              <a:lnSpc>
                <a:spcPct val="115000"/>
              </a:lnSpc>
            </a:pPr>
            <a:r>
              <a:rPr sz="1100" b="1">
                <a:solidFill>
                  <a:srgbClr val="E87722"/>
                </a:solidFill>
                <a:latin typeface="Helvetica Neue"/>
                <a:ea typeface="Helvetica Neue"/>
                <a:cs typeface="Helvetica Neue"/>
              </a:rPr>
              <a:t>Day 22-30</a:t>
            </a:r>
          </a:p>
        </p:txBody>
      </p:sp>
      <p:sp>
        <p:nvSpPr>
          <p:cNvPr id="25" name="TextBox 24"/>
          <p:cNvSpPr txBox="1"/>
          <p:nvPr/>
        </p:nvSpPr>
        <p:spPr>
          <a:xfrm>
            <a:off x="1874519" y="3566160"/>
            <a:ext cx="402336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ACOS 分析 + DSP/AMC 検討</a:t>
            </a:r>
          </a:p>
        </p:txBody>
      </p:sp>
      <p:sp>
        <p:nvSpPr>
          <p:cNvPr id="26" name="TextBox 25"/>
          <p:cNvSpPr txBox="1"/>
          <p:nvPr/>
        </p:nvSpPr>
        <p:spPr>
          <a:xfrm>
            <a:off x="6400800" y="1417320"/>
            <a:ext cx="5486400" cy="365760"/>
          </a:xfrm>
          <a:prstGeom prst="rect">
            <a:avLst/>
          </a:prstGeom>
          <a:noFill/>
        </p:spPr>
        <p:txBody>
          <a:bodyPr wrap="square" anchor="t" lIns="0" rIns="0" tIns="0" bIns="0">
            <a:spAutoFit/>
          </a:bodyPr>
          <a:lstStyle/>
          <a:p>
            <a:pPr algn="l">
              <a:lnSpc>
                <a:spcPct val="115000"/>
              </a:lnSpc>
            </a:pPr>
            <a:r>
              <a:rPr sz="1300" b="1">
                <a:solidFill>
                  <a:srgbClr val="C6452D"/>
                </a:solidFill>
                <a:latin typeface="Hiragino Sans"/>
                <a:ea typeface="Hiragino Sans"/>
                <a:cs typeface="Hiragino Sans"/>
              </a:rPr>
              <a:t>Amazon よくある失敗</a:t>
            </a:r>
          </a:p>
        </p:txBody>
      </p:sp>
      <p:sp>
        <p:nvSpPr>
          <p:cNvPr id="27" name="Rectangle 26"/>
          <p:cNvSpPr/>
          <p:nvPr/>
        </p:nvSpPr>
        <p:spPr>
          <a:xfrm>
            <a:off x="6400800" y="1783080"/>
            <a:ext cx="525780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400800" y="1965960"/>
            <a:ext cx="5257800" cy="4114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400800" y="1965960"/>
            <a:ext cx="91440" cy="411480"/>
          </a:xfrm>
          <a:prstGeom prst="rect">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0" y="2011680"/>
            <a:ext cx="210312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ACOS 一律目標</a:t>
            </a:r>
          </a:p>
        </p:txBody>
      </p:sp>
      <p:sp>
        <p:nvSpPr>
          <p:cNvPr id="31" name="TextBox 30"/>
          <p:cNvSpPr txBox="1"/>
          <p:nvPr/>
        </p:nvSpPr>
        <p:spPr>
          <a:xfrm>
            <a:off x="8778240" y="2029968"/>
            <a:ext cx="2834640" cy="274320"/>
          </a:xfrm>
          <a:prstGeom prst="rect">
            <a:avLst/>
          </a:prstGeom>
          <a:noFill/>
        </p:spPr>
        <p:txBody>
          <a:bodyPr wrap="square" anchor="t" lIns="0" rIns="0" tIns="0" bIns="0">
            <a:spAutoFit/>
          </a:bodyPr>
          <a:lstStyle/>
          <a:p>
            <a:pPr algn="l">
              <a:lnSpc>
                <a:spcPct val="115000"/>
              </a:lnSpc>
            </a:pPr>
            <a:r>
              <a:rPr sz="900" b="0">
                <a:solidFill>
                  <a:srgbClr val="5A6A80"/>
                </a:solidFill>
                <a:latin typeface="Hiragino Sans"/>
                <a:ea typeface="Hiragino Sans"/>
                <a:cs typeface="Hiragino Sans"/>
              </a:rPr>
              <a:t>業種・商品で差大、商材別に設定</a:t>
            </a:r>
          </a:p>
        </p:txBody>
      </p:sp>
      <p:sp>
        <p:nvSpPr>
          <p:cNvPr id="32" name="Rounded Rectangle 31"/>
          <p:cNvSpPr/>
          <p:nvPr/>
        </p:nvSpPr>
        <p:spPr>
          <a:xfrm>
            <a:off x="6400800" y="2468880"/>
            <a:ext cx="5257800" cy="4114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400800" y="2468880"/>
            <a:ext cx="91440" cy="411480"/>
          </a:xfrm>
          <a:prstGeom prst="rect">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0" y="2514600"/>
            <a:ext cx="210312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Sponsored Products のみ</a:t>
            </a:r>
          </a:p>
        </p:txBody>
      </p:sp>
      <p:sp>
        <p:nvSpPr>
          <p:cNvPr id="35" name="TextBox 34"/>
          <p:cNvSpPr txBox="1"/>
          <p:nvPr/>
        </p:nvSpPr>
        <p:spPr>
          <a:xfrm>
            <a:off x="8778240" y="2532888"/>
            <a:ext cx="2834640" cy="274320"/>
          </a:xfrm>
          <a:prstGeom prst="rect">
            <a:avLst/>
          </a:prstGeom>
          <a:noFill/>
        </p:spPr>
        <p:txBody>
          <a:bodyPr wrap="square" anchor="t" lIns="0" rIns="0" tIns="0" bIns="0">
            <a:spAutoFit/>
          </a:bodyPr>
          <a:lstStyle/>
          <a:p>
            <a:pPr algn="l">
              <a:lnSpc>
                <a:spcPct val="115000"/>
              </a:lnSpc>
            </a:pPr>
            <a:r>
              <a:rPr sz="900" b="0">
                <a:solidFill>
                  <a:srgbClr val="5A6A80"/>
                </a:solidFill>
                <a:latin typeface="Hiragino Sans"/>
                <a:ea typeface="Hiragino Sans"/>
                <a:cs typeface="Hiragino Sans"/>
              </a:rPr>
              <a:t>Brand/Display で機会損失</a:t>
            </a:r>
          </a:p>
        </p:txBody>
      </p:sp>
      <p:sp>
        <p:nvSpPr>
          <p:cNvPr id="36" name="Rounded Rectangle 35"/>
          <p:cNvSpPr/>
          <p:nvPr/>
        </p:nvSpPr>
        <p:spPr>
          <a:xfrm>
            <a:off x="6400800" y="2971800"/>
            <a:ext cx="5257800" cy="4114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400800" y="2971800"/>
            <a:ext cx="91440" cy="411480"/>
          </a:xfrm>
          <a:prstGeom prst="rect">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83680" y="3017520"/>
            <a:ext cx="210312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自動入札を放置</a:t>
            </a:r>
          </a:p>
        </p:txBody>
      </p:sp>
      <p:sp>
        <p:nvSpPr>
          <p:cNvPr id="39" name="TextBox 38"/>
          <p:cNvSpPr txBox="1"/>
          <p:nvPr/>
        </p:nvSpPr>
        <p:spPr>
          <a:xfrm>
            <a:off x="8778240" y="3035808"/>
            <a:ext cx="2834640" cy="274320"/>
          </a:xfrm>
          <a:prstGeom prst="rect">
            <a:avLst/>
          </a:prstGeom>
          <a:noFill/>
        </p:spPr>
        <p:txBody>
          <a:bodyPr wrap="square" anchor="t" lIns="0" rIns="0" tIns="0" bIns="0">
            <a:spAutoFit/>
          </a:bodyPr>
          <a:lstStyle/>
          <a:p>
            <a:pPr algn="l">
              <a:lnSpc>
                <a:spcPct val="115000"/>
              </a:lnSpc>
            </a:pPr>
            <a:r>
              <a:rPr sz="900" b="0">
                <a:solidFill>
                  <a:srgbClr val="5A6A80"/>
                </a:solidFill>
                <a:latin typeface="Hiragino Sans"/>
                <a:ea typeface="Hiragino Sans"/>
                <a:cs typeface="Hiragino Sans"/>
              </a:rPr>
              <a:t>週次で入札調整必要</a:t>
            </a:r>
          </a:p>
        </p:txBody>
      </p:sp>
      <p:sp>
        <p:nvSpPr>
          <p:cNvPr id="40" name="Rounded Rectangle 39"/>
          <p:cNvSpPr/>
          <p:nvPr/>
        </p:nvSpPr>
        <p:spPr>
          <a:xfrm>
            <a:off x="6400800" y="3474720"/>
            <a:ext cx="5257800" cy="4114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400800" y="3474720"/>
            <a:ext cx="91440" cy="411480"/>
          </a:xfrm>
          <a:prstGeom prst="rect">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583680" y="3520440"/>
            <a:ext cx="210312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AMC を SMB で諦め</a:t>
            </a:r>
          </a:p>
        </p:txBody>
      </p:sp>
      <p:sp>
        <p:nvSpPr>
          <p:cNvPr id="43" name="TextBox 42"/>
          <p:cNvSpPr txBox="1"/>
          <p:nvPr/>
        </p:nvSpPr>
        <p:spPr>
          <a:xfrm>
            <a:off x="8778240" y="3538728"/>
            <a:ext cx="2834640" cy="274320"/>
          </a:xfrm>
          <a:prstGeom prst="rect">
            <a:avLst/>
          </a:prstGeom>
          <a:noFill/>
        </p:spPr>
        <p:txBody>
          <a:bodyPr wrap="square" anchor="t" lIns="0" rIns="0" tIns="0" bIns="0">
            <a:spAutoFit/>
          </a:bodyPr>
          <a:lstStyle/>
          <a:p>
            <a:pPr algn="l">
              <a:lnSpc>
                <a:spcPct val="115000"/>
              </a:lnSpc>
            </a:pPr>
            <a:r>
              <a:rPr sz="900" b="0">
                <a:solidFill>
                  <a:srgbClr val="5A6A80"/>
                </a:solidFill>
                <a:latin typeface="Hiragino Sans"/>
                <a:ea typeface="Hiragino Sans"/>
                <a:cs typeface="Hiragino Sans"/>
              </a:rPr>
              <a:t>2026 No-code化で活用可</a:t>
            </a:r>
          </a:p>
        </p:txBody>
      </p:sp>
      <p:sp>
        <p:nvSpPr>
          <p:cNvPr id="44" name="Rounded Rectangle 43"/>
          <p:cNvSpPr/>
          <p:nvPr/>
        </p:nvSpPr>
        <p:spPr>
          <a:xfrm>
            <a:off x="548640" y="4206240"/>
            <a:ext cx="11109960" cy="214884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77240" y="4343400"/>
            <a:ext cx="10972800" cy="411480"/>
          </a:xfrm>
          <a:prstGeom prst="rect">
            <a:avLst/>
          </a:prstGeom>
          <a:noFill/>
        </p:spPr>
        <p:txBody>
          <a:bodyPr wrap="square" anchor="t" lIns="0" rIns="0" tIns="0" bIns="0">
            <a:spAutoFit/>
          </a:bodyPr>
          <a:lstStyle/>
          <a:p>
            <a:pPr algn="l">
              <a:lnSpc>
                <a:spcPct val="115000"/>
              </a:lnSpc>
            </a:pPr>
            <a:r>
              <a:rPr sz="1800" b="1">
                <a:solidFill>
                  <a:srgbClr val="E87722"/>
                </a:solidFill>
                <a:latin typeface="Helvetica Neue"/>
                <a:ea typeface="Helvetica Neue"/>
                <a:cs typeface="Helvetica Neue"/>
              </a:rPr>
              <a:t>🎉 Part 3 (媒体別キャッチアップ 110p) 完了</a:t>
            </a:r>
          </a:p>
        </p:txBody>
      </p:sp>
      <p:sp>
        <p:nvSpPr>
          <p:cNvPr id="46" name="TextBox 45"/>
          <p:cNvSpPr txBox="1"/>
          <p:nvPr/>
        </p:nvSpPr>
        <p:spPr>
          <a:xfrm>
            <a:off x="777240" y="4800600"/>
            <a:ext cx="10972800" cy="1554480"/>
          </a:xfrm>
          <a:prstGeom prst="rect">
            <a:avLst/>
          </a:prstGeom>
          <a:noFill/>
        </p:spPr>
        <p:txBody>
          <a:bodyPr wrap="square" anchor="t" lIns="0" rIns="0" tIns="0" bIns="0">
            <a:spAutoFit/>
          </a:bodyPr>
          <a:lstStyle/>
          <a:p>
            <a:pPr algn="l">
              <a:lnSpc>
                <a:spcPct val="160000"/>
              </a:lnSpc>
            </a:pPr>
            <a:r>
              <a:rPr sz="1200" b="0">
                <a:solidFill>
                  <a:srgbClr val="FFFFFF"/>
                </a:solidFill>
                <a:latin typeface="Hiragino Sans"/>
                <a:ea typeface="Hiragino Sans"/>
                <a:cs typeface="Hiragino Sans"/>
              </a:rPr>
              <a:t>Google Ads 25p / Meta 22p / YouTube 12p / Yahoo! 10p / TikTok 15p / LINE 10p / X 6p / LinkedIn 5p / Amazon 5p</a:t>
            </a:r>
          </a:p>
          <a:p>
            <a:pPr algn="l">
              <a:lnSpc>
                <a:spcPct val="160000"/>
              </a:lnSpc>
            </a:pPr>
            <a:r>
              <a:rPr sz="1200" b="0">
                <a:solidFill>
                  <a:srgbClr val="FFFFFF"/>
                </a:solidFill>
                <a:latin typeface="Hiragino Sans"/>
                <a:ea typeface="Hiragino Sans"/>
                <a:cs typeface="Hiragino Sans"/>
              </a:rPr>
              <a:t/>
            </a:r>
          </a:p>
          <a:p>
            <a:pPr algn="l">
              <a:lnSpc>
                <a:spcPct val="160000"/>
              </a:lnSpc>
            </a:pPr>
            <a:r>
              <a:rPr sz="1200" b="0">
                <a:solidFill>
                  <a:srgbClr val="FFFFFF"/>
                </a:solidFill>
                <a:latin typeface="Hiragino Sans"/>
                <a:ea typeface="Hiragino Sans"/>
                <a:cs typeface="Hiragino Sans"/>
              </a:rPr>
              <a:t>NEXT →  Part 4  計測・データ基盤の激変 (25p, P141-P165)</a:t>
            </a:r>
          </a:p>
          <a:p>
            <a:pPr algn="l">
              <a:lnSpc>
                <a:spcPct val="160000"/>
              </a:lnSpc>
            </a:pPr>
            <a:r>
              <a:rPr sz="1200" b="0">
                <a:solidFill>
                  <a:srgbClr val="FFFFFF"/>
                </a:solidFill>
                <a:latin typeface="Hiragino Sans"/>
                <a:ea typeface="Hiragino Sans"/>
                <a:cs typeface="Hiragino Sans"/>
              </a:rPr>
              <a:t>  Cookie なき計測の現代 / SGTM / CAPI / Enhanced Conversions / MMM / Incrementality /</a:t>
            </a:r>
          </a:p>
          <a:p>
            <a:pPr algn="l">
              <a:lnSpc>
                <a:spcPct val="160000"/>
              </a:lnSpc>
            </a:pPr>
            <a:r>
              <a:rPr sz="1200" b="0">
                <a:solidFill>
                  <a:srgbClr val="FFFFFF"/>
                </a:solidFill>
                <a:latin typeface="Hiragino Sans"/>
                <a:ea typeface="Hiragino Sans"/>
                <a:cs typeface="Hiragino Sans"/>
              </a:rPr>
              <a:t>  GA4 2024-2026アップデート / Looker Studio 進化 / AMC型クリーンルーム</a:t>
            </a:r>
          </a:p>
        </p:txBody>
      </p:sp>
      <p:sp>
        <p:nvSpPr>
          <p:cNvPr id="47" name="TextBox 46"/>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37160" cy="46634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097280"/>
            <a:ext cx="3657600" cy="457200"/>
          </a:xfrm>
          <a:prstGeom prst="rect">
            <a:avLst/>
          </a:prstGeom>
          <a:noFill/>
        </p:spPr>
        <p:txBody>
          <a:bodyPr wrap="square" anchor="t" lIns="0" rIns="0" tIns="0" bIns="0">
            <a:spAutoFit/>
          </a:bodyPr>
          <a:lstStyle/>
          <a:p>
            <a:pPr algn="l">
              <a:lnSpc>
                <a:spcPct val="115000"/>
              </a:lnSpc>
            </a:pPr>
            <a:r>
              <a:rPr sz="1800" b="1">
                <a:solidFill>
                  <a:srgbClr val="E87722"/>
                </a:solidFill>
                <a:latin typeface="Helvetica Neue"/>
                <a:ea typeface="Helvetica Neue"/>
                <a:cs typeface="Helvetica Neue"/>
              </a:rPr>
              <a:t>PART 4</a:t>
            </a:r>
          </a:p>
        </p:txBody>
      </p:sp>
      <p:sp>
        <p:nvSpPr>
          <p:cNvPr id="5" name="TextBox 4"/>
          <p:cNvSpPr txBox="1"/>
          <p:nvPr/>
        </p:nvSpPr>
        <p:spPr>
          <a:xfrm>
            <a:off x="1097280" y="1737360"/>
            <a:ext cx="10058400" cy="1371600"/>
          </a:xfrm>
          <a:prstGeom prst="rect">
            <a:avLst/>
          </a:prstGeom>
          <a:noFill/>
        </p:spPr>
        <p:txBody>
          <a:bodyPr wrap="square" anchor="t" lIns="0" rIns="0" tIns="0" bIns="0">
            <a:spAutoFit/>
          </a:bodyPr>
          <a:lstStyle/>
          <a:p>
            <a:pPr algn="l">
              <a:lnSpc>
                <a:spcPct val="110000"/>
              </a:lnSpc>
            </a:pPr>
            <a:r>
              <a:rPr sz="5400" b="1">
                <a:solidFill>
                  <a:srgbClr val="FFFFFF"/>
                </a:solidFill>
                <a:latin typeface="Hiragino Sans"/>
                <a:ea typeface="Hiragino Sans"/>
                <a:cs typeface="Hiragino Sans"/>
              </a:rPr>
              <a:t>計測・データ基盤の激変</a:t>
            </a:r>
          </a:p>
        </p:txBody>
      </p:sp>
      <p:sp>
        <p:nvSpPr>
          <p:cNvPr id="6" name="TextBox 5"/>
          <p:cNvSpPr txBox="1"/>
          <p:nvPr/>
        </p:nvSpPr>
        <p:spPr>
          <a:xfrm>
            <a:off x="1097280" y="3291840"/>
            <a:ext cx="10058400" cy="548640"/>
          </a:xfrm>
          <a:prstGeom prst="rect">
            <a:avLst/>
          </a:prstGeom>
          <a:noFill/>
        </p:spPr>
        <p:txBody>
          <a:bodyPr wrap="square" anchor="t" lIns="0" rIns="0" tIns="0" bIns="0">
            <a:spAutoFit/>
          </a:bodyPr>
          <a:lstStyle/>
          <a:p>
            <a:pPr algn="l">
              <a:lnSpc>
                <a:spcPct val="130000"/>
              </a:lnSpc>
            </a:pPr>
            <a:r>
              <a:rPr sz="1800" b="0">
                <a:solidFill>
                  <a:srgbClr val="D7DDE8"/>
                </a:solidFill>
                <a:latin typeface="Hiragino Sans"/>
                <a:ea typeface="Hiragino Sans"/>
                <a:cs typeface="Hiragino Sans"/>
              </a:rPr>
              <a:t>Cookie終焉時代の計測標準は CAPI / SGTM / 1PD</a:t>
            </a:r>
          </a:p>
        </p:txBody>
      </p:sp>
      <p:sp>
        <p:nvSpPr>
          <p:cNvPr id="7" name="Rectangle 6"/>
          <p:cNvSpPr/>
          <p:nvPr/>
        </p:nvSpPr>
        <p:spPr>
          <a:xfrm>
            <a:off x="1097280" y="4114800"/>
            <a:ext cx="914400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97680"/>
            <a:ext cx="10058400" cy="822960"/>
          </a:xfrm>
          <a:prstGeom prst="rect">
            <a:avLst/>
          </a:prstGeom>
          <a:noFill/>
        </p:spPr>
        <p:txBody>
          <a:bodyPr wrap="square" anchor="t" lIns="0" rIns="0" tIns="0" bIns="0">
            <a:spAutoFit/>
          </a:bodyPr>
          <a:lstStyle/>
          <a:p>
            <a:pPr algn="l">
              <a:lnSpc>
                <a:spcPct val="150000"/>
              </a:lnSpc>
            </a:pPr>
            <a:r>
              <a:rPr sz="1300" b="0">
                <a:solidFill>
                  <a:srgbClr val="D7DDE8"/>
                </a:solidFill>
                <a:latin typeface="Hiragino Sans"/>
                <a:ea typeface="Hiragino Sans"/>
                <a:cs typeface="Hiragino Sans"/>
              </a:rPr>
              <a:t>GA4移行後の現代、サーバーサイドが標準。MMM の復活、Incrementality Test の民主化、</a:t>
            </a:r>
          </a:p>
          <a:p>
            <a:pPr algn="l">
              <a:lnSpc>
                <a:spcPct val="150000"/>
              </a:lnSpc>
            </a:pPr>
            <a:r>
              <a:rPr sz="1300" b="0">
                <a:solidFill>
                  <a:srgbClr val="D7DDE8"/>
                </a:solidFill>
                <a:latin typeface="Hiragino Sans"/>
                <a:ea typeface="Hiragino Sans"/>
                <a:cs typeface="Hiragino Sans"/>
              </a:rPr>
              <a:t>Identity Solutions の台頭、AI Analytics への移行 — 運用代行で『計測ができる人』が価値を持つ時代</a:t>
            </a:r>
          </a:p>
        </p:txBody>
      </p:sp>
      <p:sp>
        <p:nvSpPr>
          <p:cNvPr id="9" name="TextBox 8"/>
          <p:cNvSpPr txBox="1"/>
          <p:nvPr/>
        </p:nvSpPr>
        <p:spPr>
          <a:xfrm>
            <a:off x="1097280" y="539496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計測パラダイム TL;DR</a:t>
            </a:r>
          </a:p>
        </p:txBody>
      </p:sp>
      <p:sp>
        <p:nvSpPr>
          <p:cNvPr id="10" name="TextBox 9"/>
          <p:cNvSpPr txBox="1"/>
          <p:nvPr/>
        </p:nvSpPr>
        <p:spPr>
          <a:xfrm>
            <a:off x="4297680" y="539496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GA4 完全移行後</a:t>
            </a:r>
          </a:p>
        </p:txBody>
      </p:sp>
      <p:sp>
        <p:nvSpPr>
          <p:cNvPr id="11" name="TextBox 10"/>
          <p:cNvSpPr txBox="1"/>
          <p:nvPr/>
        </p:nvSpPr>
        <p:spPr>
          <a:xfrm>
            <a:off x="7498080" y="539496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GA4 2024-2026 update</a:t>
            </a:r>
          </a:p>
        </p:txBody>
      </p:sp>
      <p:sp>
        <p:nvSpPr>
          <p:cNvPr id="12" name="TextBox 11"/>
          <p:cNvSpPr txBox="1"/>
          <p:nvPr/>
        </p:nvSpPr>
        <p:spPr>
          <a:xfrm>
            <a:off x="1097280" y="576072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SGTM (Server-side GTM)</a:t>
            </a:r>
          </a:p>
        </p:txBody>
      </p:sp>
      <p:sp>
        <p:nvSpPr>
          <p:cNvPr id="13" name="TextBox 12"/>
          <p:cNvSpPr txBox="1"/>
          <p:nvPr/>
        </p:nvSpPr>
        <p:spPr>
          <a:xfrm>
            <a:off x="4297680" y="576072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CAPI 全媒体標準化</a:t>
            </a:r>
          </a:p>
        </p:txBody>
      </p:sp>
      <p:sp>
        <p:nvSpPr>
          <p:cNvPr id="14" name="TextBox 13"/>
          <p:cNvSpPr txBox="1"/>
          <p:nvPr/>
        </p:nvSpPr>
        <p:spPr>
          <a:xfrm>
            <a:off x="7498080" y="576072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Enhanced Conv / AEM</a:t>
            </a:r>
          </a:p>
        </p:txBody>
      </p:sp>
      <p:sp>
        <p:nvSpPr>
          <p:cNvPr id="15" name="TextBox 14"/>
          <p:cNvSpPr txBox="1"/>
          <p:nvPr/>
        </p:nvSpPr>
        <p:spPr>
          <a:xfrm>
            <a:off x="1097280" y="612648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Consent Mode v2 + CMP</a:t>
            </a:r>
          </a:p>
        </p:txBody>
      </p:sp>
      <p:sp>
        <p:nvSpPr>
          <p:cNvPr id="16" name="TextBox 15"/>
          <p:cNvSpPr txBox="1"/>
          <p:nvPr/>
        </p:nvSpPr>
        <p:spPr>
          <a:xfrm>
            <a:off x="4297680" y="612648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First-Party Data 戦略</a:t>
            </a:r>
          </a:p>
        </p:txBody>
      </p:sp>
      <p:sp>
        <p:nvSpPr>
          <p:cNvPr id="17" name="TextBox 16"/>
          <p:cNvSpPr txBox="1"/>
          <p:nvPr/>
        </p:nvSpPr>
        <p:spPr>
          <a:xfrm>
            <a:off x="7498080" y="612648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CDP の進化</a:t>
            </a:r>
          </a:p>
        </p:txBody>
      </p:sp>
      <p:sp>
        <p:nvSpPr>
          <p:cNvPr id="18" name="TextBox 17"/>
          <p:cNvSpPr txBox="1"/>
          <p:nvPr/>
        </p:nvSpPr>
        <p:spPr>
          <a:xfrm>
            <a:off x="1097280" y="649224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MMM の復活</a:t>
            </a:r>
          </a:p>
        </p:txBody>
      </p:sp>
      <p:sp>
        <p:nvSpPr>
          <p:cNvPr id="19" name="TextBox 18"/>
          <p:cNvSpPr txBox="1"/>
          <p:nvPr/>
        </p:nvSpPr>
        <p:spPr>
          <a:xfrm>
            <a:off x="4297680" y="649224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Robyn / Meridian</a:t>
            </a:r>
          </a:p>
        </p:txBody>
      </p:sp>
      <p:sp>
        <p:nvSpPr>
          <p:cNvPr id="20" name="TextBox 19"/>
          <p:cNvSpPr txBox="1"/>
          <p:nvPr/>
        </p:nvSpPr>
        <p:spPr>
          <a:xfrm>
            <a:off x="7498080" y="649224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Incrementality Test</a:t>
            </a:r>
          </a:p>
        </p:txBody>
      </p:sp>
      <p:sp>
        <p:nvSpPr>
          <p:cNvPr id="21" name="TextBox 20"/>
          <p:cNvSpPr txBox="1"/>
          <p:nvPr/>
        </p:nvSpPr>
        <p:spPr>
          <a:xfrm>
            <a:off x="1097280" y="685800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Conversion / Brand Lift</a:t>
            </a:r>
          </a:p>
        </p:txBody>
      </p:sp>
      <p:sp>
        <p:nvSpPr>
          <p:cNvPr id="22" name="TextBox 21"/>
          <p:cNvSpPr txBox="1"/>
          <p:nvPr/>
        </p:nvSpPr>
        <p:spPr>
          <a:xfrm>
            <a:off x="4297680" y="685800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Identity Solutions</a:t>
            </a:r>
          </a:p>
        </p:txBody>
      </p:sp>
      <p:sp>
        <p:nvSpPr>
          <p:cNvPr id="23" name="TextBox 22"/>
          <p:cNvSpPr txBox="1"/>
          <p:nvPr/>
        </p:nvSpPr>
        <p:spPr>
          <a:xfrm>
            <a:off x="7498080" y="685800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Looker / BigQuery</a:t>
            </a:r>
          </a:p>
        </p:txBody>
      </p:sp>
      <p:sp>
        <p:nvSpPr>
          <p:cNvPr id="24" name="TextBox 23"/>
          <p:cNvSpPr txBox="1"/>
          <p:nvPr/>
        </p:nvSpPr>
        <p:spPr>
          <a:xfrm>
            <a:off x="1097280" y="722376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Clean Rooms</a:t>
            </a:r>
          </a:p>
        </p:txBody>
      </p:sp>
      <p:sp>
        <p:nvSpPr>
          <p:cNvPr id="25" name="TextBox 24"/>
          <p:cNvSpPr txBox="1"/>
          <p:nvPr/>
        </p:nvSpPr>
        <p:spPr>
          <a:xfrm>
            <a:off x="4297680" y="722376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AI Analytics</a:t>
            </a:r>
          </a:p>
        </p:txBody>
      </p:sp>
      <p:sp>
        <p:nvSpPr>
          <p:cNvPr id="26" name="TextBox 25"/>
          <p:cNvSpPr txBox="1"/>
          <p:nvPr/>
        </p:nvSpPr>
        <p:spPr>
          <a:xfrm>
            <a:off x="7498080" y="722376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副業代行 計測ベスプラ</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計測パラダイムの変化 TL;DR</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2023年9月 → 2026年4月 / 5つの大変化</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P142 / 250</a:t>
            </a:r>
          </a:p>
        </p:txBody>
      </p:sp>
      <p:sp>
        <p:nvSpPr>
          <p:cNvPr id="8" name="Rounded Rectangle 7"/>
          <p:cNvSpPr/>
          <p:nvPr/>
        </p:nvSpPr>
        <p:spPr>
          <a:xfrm>
            <a:off x="548640" y="1325880"/>
            <a:ext cx="11109960" cy="9601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25880"/>
            <a:ext cx="109728" cy="9601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508760"/>
            <a:ext cx="731520" cy="640080"/>
          </a:xfrm>
          <a:prstGeom prst="rect">
            <a:avLst/>
          </a:prstGeom>
          <a:noFill/>
        </p:spPr>
        <p:txBody>
          <a:bodyPr wrap="square" anchor="t" lIns="0" rIns="0" tIns="0" bIns="0">
            <a:spAutoFit/>
          </a:bodyPr>
          <a:lstStyle/>
          <a:p>
            <a:pPr algn="l">
              <a:lnSpc>
                <a:spcPct val="115000"/>
              </a:lnSpc>
            </a:pPr>
            <a:r>
              <a:rPr sz="3200" b="1">
                <a:solidFill>
                  <a:srgbClr val="E87722"/>
                </a:solidFill>
                <a:latin typeface="Helvetica Neue"/>
                <a:ea typeface="Helvetica Neue"/>
                <a:cs typeface="Helvetica Neue"/>
              </a:rPr>
              <a:t>01</a:t>
            </a:r>
          </a:p>
        </p:txBody>
      </p:sp>
      <p:sp>
        <p:nvSpPr>
          <p:cNvPr id="11" name="TextBox 10"/>
          <p:cNvSpPr txBox="1"/>
          <p:nvPr/>
        </p:nvSpPr>
        <p:spPr>
          <a:xfrm>
            <a:off x="1737360" y="1490472"/>
            <a:ext cx="9601200" cy="365760"/>
          </a:xfrm>
          <a:prstGeom prst="rect">
            <a:avLst/>
          </a:prstGeom>
          <a:noFill/>
        </p:spPr>
        <p:txBody>
          <a:bodyPr wrap="square" anchor="t" lIns="0" rIns="0" tIns="0" bIns="0">
            <a:spAutoFit/>
          </a:bodyPr>
          <a:lstStyle/>
          <a:p>
            <a:pPr algn="l">
              <a:lnSpc>
                <a:spcPct val="115000"/>
              </a:lnSpc>
            </a:pPr>
            <a:r>
              <a:rPr sz="1500" b="1">
                <a:solidFill>
                  <a:srgbClr val="0F2A4F"/>
                </a:solidFill>
                <a:latin typeface="Hiragino Sans"/>
                <a:ea typeface="Hiragino Sans"/>
                <a:cs typeface="Hiragino Sans"/>
              </a:rPr>
              <a:t>ブラウザ計測 → サーバーサイド計測へ</a:t>
            </a:r>
          </a:p>
        </p:txBody>
      </p:sp>
      <p:sp>
        <p:nvSpPr>
          <p:cNvPr id="12" name="TextBox 11"/>
          <p:cNvSpPr txBox="1"/>
          <p:nvPr/>
        </p:nvSpPr>
        <p:spPr>
          <a:xfrm>
            <a:off x="1737360" y="1828800"/>
            <a:ext cx="9692640" cy="457200"/>
          </a:xfrm>
          <a:prstGeom prst="rect">
            <a:avLst/>
          </a:prstGeom>
          <a:noFill/>
        </p:spPr>
        <p:txBody>
          <a:bodyPr wrap="square" anchor="t" lIns="0" rIns="0" tIns="0" bIns="0">
            <a:spAutoFit/>
          </a:bodyPr>
          <a:lstStyle/>
          <a:p>
            <a:pPr algn="l">
              <a:lnSpc>
                <a:spcPct val="150000"/>
              </a:lnSpc>
            </a:pPr>
            <a:r>
              <a:rPr sz="1000" b="0">
                <a:solidFill>
                  <a:srgbClr val="1A1A1A"/>
                </a:solidFill>
                <a:latin typeface="Hiragino Sans"/>
                <a:ea typeface="Hiragino Sans"/>
                <a:cs typeface="Hiragino Sans"/>
              </a:rPr>
              <a:t>iOS/ATT / ITP / Cookie制限により Pixel単独では計測ロス -30〜50%。</a:t>
            </a:r>
          </a:p>
          <a:p>
            <a:pPr algn="l">
              <a:lnSpc>
                <a:spcPct val="150000"/>
              </a:lnSpc>
            </a:pPr>
            <a:r>
              <a:rPr sz="1000" b="0">
                <a:solidFill>
                  <a:srgbClr val="1A1A1A"/>
                </a:solidFill>
                <a:latin typeface="Hiragino Sans"/>
                <a:ea typeface="Hiragino Sans"/>
                <a:cs typeface="Hiragino Sans"/>
              </a:rPr>
              <a:t>SGTM + CAPI / Enhanced Conversions / Events API がハイブリッド標準</a:t>
            </a:r>
          </a:p>
        </p:txBody>
      </p:sp>
      <p:sp>
        <p:nvSpPr>
          <p:cNvPr id="13" name="Rounded Rectangle 12"/>
          <p:cNvSpPr/>
          <p:nvPr/>
        </p:nvSpPr>
        <p:spPr>
          <a:xfrm>
            <a:off x="548640" y="2313432"/>
            <a:ext cx="11109960" cy="9601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2313432"/>
            <a:ext cx="109728" cy="9601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2496312"/>
            <a:ext cx="731520" cy="640080"/>
          </a:xfrm>
          <a:prstGeom prst="rect">
            <a:avLst/>
          </a:prstGeom>
          <a:noFill/>
        </p:spPr>
        <p:txBody>
          <a:bodyPr wrap="square" anchor="t" lIns="0" rIns="0" tIns="0" bIns="0">
            <a:spAutoFit/>
          </a:bodyPr>
          <a:lstStyle/>
          <a:p>
            <a:pPr algn="l">
              <a:lnSpc>
                <a:spcPct val="115000"/>
              </a:lnSpc>
            </a:pPr>
            <a:r>
              <a:rPr sz="3200" b="1">
                <a:solidFill>
                  <a:srgbClr val="E87722"/>
                </a:solidFill>
                <a:latin typeface="Helvetica Neue"/>
                <a:ea typeface="Helvetica Neue"/>
                <a:cs typeface="Helvetica Neue"/>
              </a:rPr>
              <a:t>02</a:t>
            </a:r>
          </a:p>
        </p:txBody>
      </p:sp>
      <p:sp>
        <p:nvSpPr>
          <p:cNvPr id="16" name="TextBox 15"/>
          <p:cNvSpPr txBox="1"/>
          <p:nvPr/>
        </p:nvSpPr>
        <p:spPr>
          <a:xfrm>
            <a:off x="1737360" y="2478024"/>
            <a:ext cx="9601200" cy="365760"/>
          </a:xfrm>
          <a:prstGeom prst="rect">
            <a:avLst/>
          </a:prstGeom>
          <a:noFill/>
        </p:spPr>
        <p:txBody>
          <a:bodyPr wrap="square" anchor="t" lIns="0" rIns="0" tIns="0" bIns="0">
            <a:spAutoFit/>
          </a:bodyPr>
          <a:lstStyle/>
          <a:p>
            <a:pPr algn="l">
              <a:lnSpc>
                <a:spcPct val="115000"/>
              </a:lnSpc>
            </a:pPr>
            <a:r>
              <a:rPr sz="1500" b="1">
                <a:solidFill>
                  <a:srgbClr val="0F2A4F"/>
                </a:solidFill>
                <a:latin typeface="Hiragino Sans"/>
                <a:ea typeface="Hiragino Sans"/>
                <a:cs typeface="Hiragino Sans"/>
              </a:rPr>
              <a:t>ラストクリック → DDA / Incrementality へ</a:t>
            </a:r>
          </a:p>
        </p:txBody>
      </p:sp>
      <p:sp>
        <p:nvSpPr>
          <p:cNvPr id="17" name="TextBox 16"/>
          <p:cNvSpPr txBox="1"/>
          <p:nvPr/>
        </p:nvSpPr>
        <p:spPr>
          <a:xfrm>
            <a:off x="1737360" y="2816352"/>
            <a:ext cx="9692640" cy="457200"/>
          </a:xfrm>
          <a:prstGeom prst="rect">
            <a:avLst/>
          </a:prstGeom>
          <a:noFill/>
        </p:spPr>
        <p:txBody>
          <a:bodyPr wrap="square" anchor="t" lIns="0" rIns="0" tIns="0" bIns="0">
            <a:spAutoFit/>
          </a:bodyPr>
          <a:lstStyle/>
          <a:p>
            <a:pPr algn="l">
              <a:lnSpc>
                <a:spcPct val="150000"/>
              </a:lnSpc>
            </a:pPr>
            <a:r>
              <a:rPr sz="1000" b="0">
                <a:solidFill>
                  <a:srgbClr val="1A1A1A"/>
                </a:solidFill>
                <a:latin typeface="Hiragino Sans"/>
                <a:ea typeface="Hiragino Sans"/>
                <a:cs typeface="Hiragino Sans"/>
              </a:rPr>
              <a:t>Data-Driven Attribution (DDA) がGoogle/GA4 デフォルト (2022~)。</a:t>
            </a:r>
          </a:p>
          <a:p>
            <a:pPr algn="l">
              <a:lnSpc>
                <a:spcPct val="150000"/>
              </a:lnSpc>
            </a:pPr>
            <a:r>
              <a:rPr sz="1000" b="0">
                <a:solidFill>
                  <a:srgbClr val="1A1A1A"/>
                </a:solidFill>
                <a:latin typeface="Hiragino Sans"/>
                <a:ea typeface="Hiragino Sans"/>
                <a:cs typeface="Hiragino Sans"/>
              </a:rPr>
              <a:t>Conversion Lift Test が民主化、Incremental ROAS で意思決定</a:t>
            </a:r>
          </a:p>
        </p:txBody>
      </p:sp>
      <p:sp>
        <p:nvSpPr>
          <p:cNvPr id="18" name="Rounded Rectangle 17"/>
          <p:cNvSpPr/>
          <p:nvPr/>
        </p:nvSpPr>
        <p:spPr>
          <a:xfrm>
            <a:off x="548640" y="3300984"/>
            <a:ext cx="11109960" cy="9601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300984"/>
            <a:ext cx="109728" cy="9601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3483864"/>
            <a:ext cx="731520" cy="640080"/>
          </a:xfrm>
          <a:prstGeom prst="rect">
            <a:avLst/>
          </a:prstGeom>
          <a:noFill/>
        </p:spPr>
        <p:txBody>
          <a:bodyPr wrap="square" anchor="t" lIns="0" rIns="0" tIns="0" bIns="0">
            <a:spAutoFit/>
          </a:bodyPr>
          <a:lstStyle/>
          <a:p>
            <a:pPr algn="l">
              <a:lnSpc>
                <a:spcPct val="115000"/>
              </a:lnSpc>
            </a:pPr>
            <a:r>
              <a:rPr sz="3200" b="1">
                <a:solidFill>
                  <a:srgbClr val="E87722"/>
                </a:solidFill>
                <a:latin typeface="Helvetica Neue"/>
                <a:ea typeface="Helvetica Neue"/>
                <a:cs typeface="Helvetica Neue"/>
              </a:rPr>
              <a:t>03</a:t>
            </a:r>
          </a:p>
        </p:txBody>
      </p:sp>
      <p:sp>
        <p:nvSpPr>
          <p:cNvPr id="21" name="TextBox 20"/>
          <p:cNvSpPr txBox="1"/>
          <p:nvPr/>
        </p:nvSpPr>
        <p:spPr>
          <a:xfrm>
            <a:off x="1737360" y="3465576"/>
            <a:ext cx="9601200" cy="365760"/>
          </a:xfrm>
          <a:prstGeom prst="rect">
            <a:avLst/>
          </a:prstGeom>
          <a:noFill/>
        </p:spPr>
        <p:txBody>
          <a:bodyPr wrap="square" anchor="t" lIns="0" rIns="0" tIns="0" bIns="0">
            <a:spAutoFit/>
          </a:bodyPr>
          <a:lstStyle/>
          <a:p>
            <a:pPr algn="l">
              <a:lnSpc>
                <a:spcPct val="115000"/>
              </a:lnSpc>
            </a:pPr>
            <a:r>
              <a:rPr sz="1500" b="1">
                <a:solidFill>
                  <a:srgbClr val="0F2A4F"/>
                </a:solidFill>
                <a:latin typeface="Hiragino Sans"/>
                <a:ea typeface="Hiragino Sans"/>
                <a:cs typeface="Hiragino Sans"/>
              </a:rPr>
              <a:t>MMM が復活 (Robyn / Meridian の民主化)</a:t>
            </a:r>
          </a:p>
        </p:txBody>
      </p:sp>
      <p:sp>
        <p:nvSpPr>
          <p:cNvPr id="22" name="TextBox 21"/>
          <p:cNvSpPr txBox="1"/>
          <p:nvPr/>
        </p:nvSpPr>
        <p:spPr>
          <a:xfrm>
            <a:off x="1737360" y="3803904"/>
            <a:ext cx="9692640" cy="457200"/>
          </a:xfrm>
          <a:prstGeom prst="rect">
            <a:avLst/>
          </a:prstGeom>
          <a:noFill/>
        </p:spPr>
        <p:txBody>
          <a:bodyPr wrap="square" anchor="t" lIns="0" rIns="0" tIns="0" bIns="0">
            <a:spAutoFit/>
          </a:bodyPr>
          <a:lstStyle/>
          <a:p>
            <a:pPr algn="l">
              <a:lnSpc>
                <a:spcPct val="150000"/>
              </a:lnSpc>
            </a:pPr>
            <a:r>
              <a:rPr sz="1000" b="0">
                <a:solidFill>
                  <a:srgbClr val="1A1A1A"/>
                </a:solidFill>
                <a:latin typeface="Hiragino Sans"/>
                <a:ea typeface="Hiragino Sans"/>
                <a:cs typeface="Hiragino Sans"/>
              </a:rPr>
              <a:t>Meta Robyn (R/Ridge) + Google Meridian (Python/Bayesian) のオープンソース。</a:t>
            </a:r>
          </a:p>
          <a:p>
            <a:pPr algn="l">
              <a:lnSpc>
                <a:spcPct val="150000"/>
              </a:lnSpc>
            </a:pPr>
            <a:r>
              <a:rPr sz="1000" b="0">
                <a:solidFill>
                  <a:srgbClr val="1A1A1A"/>
                </a:solidFill>
                <a:latin typeface="Hiragino Sans"/>
                <a:ea typeface="Hiragino Sans"/>
                <a:cs typeface="Hiragino Sans"/>
              </a:rPr>
              <a:t>中小ブランドでも MMMで Cross-channel 評価可能に</a:t>
            </a:r>
          </a:p>
        </p:txBody>
      </p:sp>
      <p:sp>
        <p:nvSpPr>
          <p:cNvPr id="23" name="Rounded Rectangle 22"/>
          <p:cNvSpPr/>
          <p:nvPr/>
        </p:nvSpPr>
        <p:spPr>
          <a:xfrm>
            <a:off x="548640" y="4288536"/>
            <a:ext cx="11109960" cy="9601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4288536"/>
            <a:ext cx="109728" cy="9601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 y="4471416"/>
            <a:ext cx="731520" cy="640080"/>
          </a:xfrm>
          <a:prstGeom prst="rect">
            <a:avLst/>
          </a:prstGeom>
          <a:noFill/>
        </p:spPr>
        <p:txBody>
          <a:bodyPr wrap="square" anchor="t" lIns="0" rIns="0" tIns="0" bIns="0">
            <a:spAutoFit/>
          </a:bodyPr>
          <a:lstStyle/>
          <a:p>
            <a:pPr algn="l">
              <a:lnSpc>
                <a:spcPct val="115000"/>
              </a:lnSpc>
            </a:pPr>
            <a:r>
              <a:rPr sz="3200" b="1">
                <a:solidFill>
                  <a:srgbClr val="E87722"/>
                </a:solidFill>
                <a:latin typeface="Helvetica Neue"/>
                <a:ea typeface="Helvetica Neue"/>
                <a:cs typeface="Helvetica Neue"/>
              </a:rPr>
              <a:t>04</a:t>
            </a:r>
          </a:p>
        </p:txBody>
      </p:sp>
      <p:sp>
        <p:nvSpPr>
          <p:cNvPr id="26" name="TextBox 25"/>
          <p:cNvSpPr txBox="1"/>
          <p:nvPr/>
        </p:nvSpPr>
        <p:spPr>
          <a:xfrm>
            <a:off x="1737360" y="4453128"/>
            <a:ext cx="9601200" cy="365760"/>
          </a:xfrm>
          <a:prstGeom prst="rect">
            <a:avLst/>
          </a:prstGeom>
          <a:noFill/>
        </p:spPr>
        <p:txBody>
          <a:bodyPr wrap="square" anchor="t" lIns="0" rIns="0" tIns="0" bIns="0">
            <a:spAutoFit/>
          </a:bodyPr>
          <a:lstStyle/>
          <a:p>
            <a:pPr algn="l">
              <a:lnSpc>
                <a:spcPct val="115000"/>
              </a:lnSpc>
            </a:pPr>
            <a:r>
              <a:rPr sz="1500" b="1">
                <a:solidFill>
                  <a:srgbClr val="0F2A4F"/>
                </a:solidFill>
                <a:latin typeface="Hiragino Sans"/>
                <a:ea typeface="Hiragino Sans"/>
                <a:cs typeface="Hiragino Sans"/>
              </a:rPr>
              <a:t>Identity Solutions の台頭</a:t>
            </a:r>
          </a:p>
        </p:txBody>
      </p:sp>
      <p:sp>
        <p:nvSpPr>
          <p:cNvPr id="27" name="TextBox 26"/>
          <p:cNvSpPr txBox="1"/>
          <p:nvPr/>
        </p:nvSpPr>
        <p:spPr>
          <a:xfrm>
            <a:off x="1737360" y="4791456"/>
            <a:ext cx="9692640" cy="457200"/>
          </a:xfrm>
          <a:prstGeom prst="rect">
            <a:avLst/>
          </a:prstGeom>
          <a:noFill/>
        </p:spPr>
        <p:txBody>
          <a:bodyPr wrap="square" anchor="t" lIns="0" rIns="0" tIns="0" bIns="0">
            <a:spAutoFit/>
          </a:bodyPr>
          <a:lstStyle/>
          <a:p>
            <a:pPr algn="l">
              <a:lnSpc>
                <a:spcPct val="150000"/>
              </a:lnSpc>
            </a:pPr>
            <a:r>
              <a:rPr sz="1000" b="0">
                <a:solidFill>
                  <a:srgbClr val="1A1A1A"/>
                </a:solidFill>
                <a:latin typeface="Hiragino Sans"/>
                <a:ea typeface="Hiragino Sans"/>
                <a:cs typeface="Hiragino Sans"/>
              </a:rPr>
              <a:t>Cookieless計測の柱として UID2.0 / RampID / Privacy Sandbox 等。</a:t>
            </a:r>
          </a:p>
          <a:p>
            <a:pPr algn="l">
              <a:lnSpc>
                <a:spcPct val="150000"/>
              </a:lnSpc>
            </a:pPr>
            <a:r>
              <a:rPr sz="1000" b="0">
                <a:solidFill>
                  <a:srgbClr val="1A1A1A"/>
                </a:solidFill>
                <a:latin typeface="Hiragino Sans"/>
                <a:ea typeface="Hiragino Sans"/>
                <a:cs typeface="Hiragino Sans"/>
              </a:rPr>
              <a:t>ただし 2025/10 Privacy Sandbox 終了で勢力図が再編</a:t>
            </a:r>
          </a:p>
        </p:txBody>
      </p:sp>
      <p:sp>
        <p:nvSpPr>
          <p:cNvPr id="28" name="Rounded Rectangle 27"/>
          <p:cNvSpPr/>
          <p:nvPr/>
        </p:nvSpPr>
        <p:spPr>
          <a:xfrm>
            <a:off x="548640" y="5276088"/>
            <a:ext cx="11109960" cy="9601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5276088"/>
            <a:ext cx="109728" cy="9601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5458968"/>
            <a:ext cx="731520" cy="640080"/>
          </a:xfrm>
          <a:prstGeom prst="rect">
            <a:avLst/>
          </a:prstGeom>
          <a:noFill/>
        </p:spPr>
        <p:txBody>
          <a:bodyPr wrap="square" anchor="t" lIns="0" rIns="0" tIns="0" bIns="0">
            <a:spAutoFit/>
          </a:bodyPr>
          <a:lstStyle/>
          <a:p>
            <a:pPr algn="l">
              <a:lnSpc>
                <a:spcPct val="115000"/>
              </a:lnSpc>
            </a:pPr>
            <a:r>
              <a:rPr sz="3200" b="1">
                <a:solidFill>
                  <a:srgbClr val="E87722"/>
                </a:solidFill>
                <a:latin typeface="Helvetica Neue"/>
                <a:ea typeface="Helvetica Neue"/>
                <a:cs typeface="Helvetica Neue"/>
              </a:rPr>
              <a:t>05</a:t>
            </a:r>
          </a:p>
        </p:txBody>
      </p:sp>
      <p:sp>
        <p:nvSpPr>
          <p:cNvPr id="31" name="TextBox 30"/>
          <p:cNvSpPr txBox="1"/>
          <p:nvPr/>
        </p:nvSpPr>
        <p:spPr>
          <a:xfrm>
            <a:off x="1737360" y="5440680"/>
            <a:ext cx="9601200" cy="365760"/>
          </a:xfrm>
          <a:prstGeom prst="rect">
            <a:avLst/>
          </a:prstGeom>
          <a:noFill/>
        </p:spPr>
        <p:txBody>
          <a:bodyPr wrap="square" anchor="t" lIns="0" rIns="0" tIns="0" bIns="0">
            <a:spAutoFit/>
          </a:bodyPr>
          <a:lstStyle/>
          <a:p>
            <a:pPr algn="l">
              <a:lnSpc>
                <a:spcPct val="115000"/>
              </a:lnSpc>
            </a:pPr>
            <a:r>
              <a:rPr sz="1500" b="1">
                <a:solidFill>
                  <a:srgbClr val="0F2A4F"/>
                </a:solidFill>
                <a:latin typeface="Hiragino Sans"/>
                <a:ea typeface="Hiragino Sans"/>
                <a:cs typeface="Hiragino Sans"/>
              </a:rPr>
              <a:t>AI Analytics への移行</a:t>
            </a:r>
          </a:p>
        </p:txBody>
      </p:sp>
      <p:sp>
        <p:nvSpPr>
          <p:cNvPr id="32" name="TextBox 31"/>
          <p:cNvSpPr txBox="1"/>
          <p:nvPr/>
        </p:nvSpPr>
        <p:spPr>
          <a:xfrm>
            <a:off x="1737360" y="5779008"/>
            <a:ext cx="9692640" cy="457200"/>
          </a:xfrm>
          <a:prstGeom prst="rect">
            <a:avLst/>
          </a:prstGeom>
          <a:noFill/>
        </p:spPr>
        <p:txBody>
          <a:bodyPr wrap="square" anchor="t" lIns="0" rIns="0" tIns="0" bIns="0">
            <a:spAutoFit/>
          </a:bodyPr>
          <a:lstStyle/>
          <a:p>
            <a:pPr algn="l">
              <a:lnSpc>
                <a:spcPct val="150000"/>
              </a:lnSpc>
            </a:pPr>
            <a:r>
              <a:rPr sz="1000" b="0">
                <a:solidFill>
                  <a:srgbClr val="1A1A1A"/>
                </a:solidFill>
                <a:latin typeface="Hiragino Sans"/>
                <a:ea typeface="Hiragino Sans"/>
                <a:cs typeface="Hiragino Sans"/>
              </a:rPr>
              <a:t>GA4 Insights (AI 自動分析)、Looker AI、Conversational Analytics。</a:t>
            </a:r>
          </a:p>
          <a:p>
            <a:pPr algn="l">
              <a:lnSpc>
                <a:spcPct val="150000"/>
              </a:lnSpc>
            </a:pPr>
            <a:r>
              <a:rPr sz="1000" b="0">
                <a:solidFill>
                  <a:srgbClr val="1A1A1A"/>
                </a:solidFill>
                <a:latin typeface="Hiragino Sans"/>
                <a:ea typeface="Hiragino Sans"/>
                <a:cs typeface="Hiragino Sans"/>
              </a:rPr>
              <a:t>『SQLわからない人でもクリック分析』時代に</a:t>
            </a:r>
          </a:p>
        </p:txBody>
      </p:sp>
      <p:sp>
        <p:nvSpPr>
          <p:cNvPr id="33" name="TextBox 32"/>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GA4 完全移行後の現在地</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UA終了 (2023/07/01) → GA4が事実上唯一の標準</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P143 / 250</a:t>
            </a:r>
          </a:p>
        </p:txBody>
      </p:sp>
      <p:sp>
        <p:nvSpPr>
          <p:cNvPr id="8" name="TextBox 7"/>
          <p:cNvSpPr txBox="1"/>
          <p:nvPr/>
        </p:nvSpPr>
        <p:spPr>
          <a:xfrm>
            <a:off x="548640" y="1417320"/>
            <a:ext cx="1097280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GA4 移行のタイムライン</a:t>
            </a:r>
          </a:p>
        </p:txBody>
      </p:sp>
      <p:sp>
        <p:nvSpPr>
          <p:cNvPr id="9" name="Rounded Rectangle 8"/>
          <p:cNvSpPr/>
          <p:nvPr/>
        </p:nvSpPr>
        <p:spPr>
          <a:xfrm>
            <a:off x="548640" y="1828800"/>
            <a:ext cx="11109960" cy="41148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828800"/>
            <a:ext cx="1828800" cy="41148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20240"/>
            <a:ext cx="1828800" cy="274320"/>
          </a:xfrm>
          <a:prstGeom prst="rect">
            <a:avLst/>
          </a:prstGeom>
          <a:noFill/>
        </p:spPr>
        <p:txBody>
          <a:bodyPr wrap="square" anchor="t" lIns="0" rIns="0" tIns="0" bIns="0">
            <a:spAutoFit/>
          </a:bodyPr>
          <a:lstStyle/>
          <a:p>
            <a:pPr algn="ctr">
              <a:lnSpc>
                <a:spcPct val="115000"/>
              </a:lnSpc>
            </a:pPr>
            <a:r>
              <a:rPr sz="1100" b="1">
                <a:solidFill>
                  <a:srgbClr val="E87722"/>
                </a:solidFill>
                <a:latin typeface="Helvetica Neue"/>
                <a:ea typeface="Helvetica Neue"/>
                <a:cs typeface="Helvetica Neue"/>
              </a:rPr>
              <a:t>2020/10</a:t>
            </a:r>
          </a:p>
        </p:txBody>
      </p:sp>
      <p:sp>
        <p:nvSpPr>
          <p:cNvPr id="12" name="TextBox 11"/>
          <p:cNvSpPr txBox="1"/>
          <p:nvPr/>
        </p:nvSpPr>
        <p:spPr>
          <a:xfrm>
            <a:off x="2606040" y="1947672"/>
            <a:ext cx="8229600" cy="274320"/>
          </a:xfrm>
          <a:prstGeom prst="rect">
            <a:avLst/>
          </a:prstGeom>
          <a:noFill/>
        </p:spPr>
        <p:txBody>
          <a:bodyPr wrap="square" anchor="t" lIns="0" rIns="0" tIns="0" bIns="0">
            <a:spAutoFit/>
          </a:bodyPr>
          <a:lstStyle/>
          <a:p>
            <a:pPr algn="l">
              <a:lnSpc>
                <a:spcPct val="115000"/>
              </a:lnSpc>
            </a:pPr>
            <a:r>
              <a:rPr sz="1100" b="0">
                <a:solidFill>
                  <a:srgbClr val="1A1A1A"/>
                </a:solidFill>
                <a:latin typeface="Hiragino Sans"/>
                <a:ea typeface="Hiragino Sans"/>
                <a:cs typeface="Hiragino Sans"/>
              </a:rPr>
              <a:t>GA4 リリース (β)</a:t>
            </a:r>
          </a:p>
        </p:txBody>
      </p:sp>
      <p:sp>
        <p:nvSpPr>
          <p:cNvPr id="13" name="Rounded Rectangle 12"/>
          <p:cNvSpPr/>
          <p:nvPr/>
        </p:nvSpPr>
        <p:spPr>
          <a:xfrm>
            <a:off x="548640" y="2331720"/>
            <a:ext cx="11109960" cy="4114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2331720"/>
            <a:ext cx="1828800" cy="41148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2423160"/>
            <a:ext cx="1828800" cy="274320"/>
          </a:xfrm>
          <a:prstGeom prst="rect">
            <a:avLst/>
          </a:prstGeom>
          <a:noFill/>
        </p:spPr>
        <p:txBody>
          <a:bodyPr wrap="square" anchor="t" lIns="0" rIns="0" tIns="0" bIns="0">
            <a:spAutoFit/>
          </a:bodyPr>
          <a:lstStyle/>
          <a:p>
            <a:pPr algn="ctr">
              <a:lnSpc>
                <a:spcPct val="115000"/>
              </a:lnSpc>
            </a:pPr>
            <a:r>
              <a:rPr sz="1100" b="1">
                <a:solidFill>
                  <a:srgbClr val="E87722"/>
                </a:solidFill>
                <a:latin typeface="Helvetica Neue"/>
                <a:ea typeface="Helvetica Neue"/>
                <a:cs typeface="Helvetica Neue"/>
              </a:rPr>
              <a:t>2022/03</a:t>
            </a:r>
          </a:p>
        </p:txBody>
      </p:sp>
      <p:sp>
        <p:nvSpPr>
          <p:cNvPr id="16" name="TextBox 15"/>
          <p:cNvSpPr txBox="1"/>
          <p:nvPr/>
        </p:nvSpPr>
        <p:spPr>
          <a:xfrm>
            <a:off x="2606040" y="2450592"/>
            <a:ext cx="8229600" cy="274320"/>
          </a:xfrm>
          <a:prstGeom prst="rect">
            <a:avLst/>
          </a:prstGeom>
          <a:noFill/>
        </p:spPr>
        <p:txBody>
          <a:bodyPr wrap="square" anchor="t" lIns="0" rIns="0" tIns="0" bIns="0">
            <a:spAutoFit/>
          </a:bodyPr>
          <a:lstStyle/>
          <a:p>
            <a:pPr algn="l">
              <a:lnSpc>
                <a:spcPct val="115000"/>
              </a:lnSpc>
            </a:pPr>
            <a:r>
              <a:rPr sz="1100" b="0">
                <a:solidFill>
                  <a:srgbClr val="1A1A1A"/>
                </a:solidFill>
                <a:latin typeface="Hiragino Sans"/>
                <a:ea typeface="Hiragino Sans"/>
                <a:cs typeface="Hiragino Sans"/>
              </a:rPr>
              <a:t>UA → GA4 移行アナウンス</a:t>
            </a:r>
          </a:p>
        </p:txBody>
      </p:sp>
      <p:sp>
        <p:nvSpPr>
          <p:cNvPr id="17" name="Rounded Rectangle 16"/>
          <p:cNvSpPr/>
          <p:nvPr/>
        </p:nvSpPr>
        <p:spPr>
          <a:xfrm>
            <a:off x="548640" y="2834640"/>
            <a:ext cx="11109960" cy="41148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2834640"/>
            <a:ext cx="1828800" cy="41148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2926080"/>
            <a:ext cx="1828800" cy="274320"/>
          </a:xfrm>
          <a:prstGeom prst="rect">
            <a:avLst/>
          </a:prstGeom>
          <a:noFill/>
        </p:spPr>
        <p:txBody>
          <a:bodyPr wrap="square" anchor="t" lIns="0" rIns="0" tIns="0" bIns="0">
            <a:spAutoFit/>
          </a:bodyPr>
          <a:lstStyle/>
          <a:p>
            <a:pPr algn="ctr">
              <a:lnSpc>
                <a:spcPct val="115000"/>
              </a:lnSpc>
            </a:pPr>
            <a:r>
              <a:rPr sz="1100" b="1">
                <a:solidFill>
                  <a:srgbClr val="E87722"/>
                </a:solidFill>
                <a:latin typeface="Helvetica Neue"/>
                <a:ea typeface="Helvetica Neue"/>
                <a:cs typeface="Helvetica Neue"/>
              </a:rPr>
              <a:t>2023/07/01</a:t>
            </a:r>
          </a:p>
        </p:txBody>
      </p:sp>
      <p:sp>
        <p:nvSpPr>
          <p:cNvPr id="20" name="TextBox 19"/>
          <p:cNvSpPr txBox="1"/>
          <p:nvPr/>
        </p:nvSpPr>
        <p:spPr>
          <a:xfrm>
            <a:off x="2606040" y="2953512"/>
            <a:ext cx="8229600" cy="274320"/>
          </a:xfrm>
          <a:prstGeom prst="rect">
            <a:avLst/>
          </a:prstGeom>
          <a:noFill/>
        </p:spPr>
        <p:txBody>
          <a:bodyPr wrap="square" anchor="t" lIns="0" rIns="0" tIns="0" bIns="0">
            <a:spAutoFit/>
          </a:bodyPr>
          <a:lstStyle/>
          <a:p>
            <a:pPr algn="l">
              <a:lnSpc>
                <a:spcPct val="115000"/>
              </a:lnSpc>
            </a:pPr>
            <a:r>
              <a:rPr sz="1100" b="0">
                <a:solidFill>
                  <a:srgbClr val="1A1A1A"/>
                </a:solidFill>
                <a:latin typeface="Hiragino Sans"/>
                <a:ea typeface="Hiragino Sans"/>
                <a:cs typeface="Hiragino Sans"/>
              </a:rPr>
              <a:t>UA データ収集停止</a:t>
            </a:r>
          </a:p>
        </p:txBody>
      </p:sp>
      <p:sp>
        <p:nvSpPr>
          <p:cNvPr id="21" name="Rounded Rectangle 20"/>
          <p:cNvSpPr/>
          <p:nvPr/>
        </p:nvSpPr>
        <p:spPr>
          <a:xfrm>
            <a:off x="548640" y="3337560"/>
            <a:ext cx="11109960" cy="4114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3337560"/>
            <a:ext cx="1828800" cy="41148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3429000"/>
            <a:ext cx="1828800" cy="274320"/>
          </a:xfrm>
          <a:prstGeom prst="rect">
            <a:avLst/>
          </a:prstGeom>
          <a:noFill/>
        </p:spPr>
        <p:txBody>
          <a:bodyPr wrap="square" anchor="t" lIns="0" rIns="0" tIns="0" bIns="0">
            <a:spAutoFit/>
          </a:bodyPr>
          <a:lstStyle/>
          <a:p>
            <a:pPr algn="ctr">
              <a:lnSpc>
                <a:spcPct val="115000"/>
              </a:lnSpc>
            </a:pPr>
            <a:r>
              <a:rPr sz="1100" b="1">
                <a:solidFill>
                  <a:srgbClr val="E87722"/>
                </a:solidFill>
                <a:latin typeface="Helvetica Neue"/>
                <a:ea typeface="Helvetica Neue"/>
                <a:cs typeface="Helvetica Neue"/>
              </a:rPr>
              <a:t>2024/07/01</a:t>
            </a:r>
          </a:p>
        </p:txBody>
      </p:sp>
      <p:sp>
        <p:nvSpPr>
          <p:cNvPr id="24" name="TextBox 23"/>
          <p:cNvSpPr txBox="1"/>
          <p:nvPr/>
        </p:nvSpPr>
        <p:spPr>
          <a:xfrm>
            <a:off x="2606040" y="3456432"/>
            <a:ext cx="8229600" cy="274320"/>
          </a:xfrm>
          <a:prstGeom prst="rect">
            <a:avLst/>
          </a:prstGeom>
          <a:noFill/>
        </p:spPr>
        <p:txBody>
          <a:bodyPr wrap="square" anchor="t" lIns="0" rIns="0" tIns="0" bIns="0">
            <a:spAutoFit/>
          </a:bodyPr>
          <a:lstStyle/>
          <a:p>
            <a:pPr algn="l">
              <a:lnSpc>
                <a:spcPct val="115000"/>
              </a:lnSpc>
            </a:pPr>
            <a:r>
              <a:rPr sz="1100" b="0">
                <a:solidFill>
                  <a:srgbClr val="1A1A1A"/>
                </a:solidFill>
                <a:latin typeface="Hiragino Sans"/>
                <a:ea typeface="Hiragino Sans"/>
                <a:cs typeface="Hiragino Sans"/>
              </a:rPr>
              <a:t>UA 完全廃止 (データアクセス不可)</a:t>
            </a:r>
          </a:p>
        </p:txBody>
      </p:sp>
      <p:sp>
        <p:nvSpPr>
          <p:cNvPr id="25" name="Rounded Rectangle 24"/>
          <p:cNvSpPr/>
          <p:nvPr/>
        </p:nvSpPr>
        <p:spPr>
          <a:xfrm>
            <a:off x="548640" y="3840480"/>
            <a:ext cx="11109960" cy="41148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3840480"/>
            <a:ext cx="1828800" cy="41148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3931920"/>
            <a:ext cx="1828800" cy="274320"/>
          </a:xfrm>
          <a:prstGeom prst="rect">
            <a:avLst/>
          </a:prstGeom>
          <a:noFill/>
        </p:spPr>
        <p:txBody>
          <a:bodyPr wrap="square" anchor="t" lIns="0" rIns="0" tIns="0" bIns="0">
            <a:spAutoFit/>
          </a:bodyPr>
          <a:lstStyle/>
          <a:p>
            <a:pPr algn="ctr">
              <a:lnSpc>
                <a:spcPct val="115000"/>
              </a:lnSpc>
            </a:pPr>
            <a:r>
              <a:rPr sz="1100" b="1">
                <a:solidFill>
                  <a:srgbClr val="E87722"/>
                </a:solidFill>
                <a:latin typeface="Helvetica Neue"/>
                <a:ea typeface="Helvetica Neue"/>
                <a:cs typeface="Helvetica Neue"/>
              </a:rPr>
              <a:t>2024-2026</a:t>
            </a:r>
          </a:p>
        </p:txBody>
      </p:sp>
      <p:sp>
        <p:nvSpPr>
          <p:cNvPr id="28" name="TextBox 27"/>
          <p:cNvSpPr txBox="1"/>
          <p:nvPr/>
        </p:nvSpPr>
        <p:spPr>
          <a:xfrm>
            <a:off x="2606040" y="3959352"/>
            <a:ext cx="8229600" cy="274320"/>
          </a:xfrm>
          <a:prstGeom prst="rect">
            <a:avLst/>
          </a:prstGeom>
          <a:noFill/>
        </p:spPr>
        <p:txBody>
          <a:bodyPr wrap="square" anchor="t" lIns="0" rIns="0" tIns="0" bIns="0">
            <a:spAutoFit/>
          </a:bodyPr>
          <a:lstStyle/>
          <a:p>
            <a:pPr algn="l">
              <a:lnSpc>
                <a:spcPct val="115000"/>
              </a:lnSpc>
            </a:pPr>
            <a:r>
              <a:rPr sz="1100" b="0">
                <a:solidFill>
                  <a:srgbClr val="1A1A1A"/>
                </a:solidFill>
                <a:latin typeface="Hiragino Sans"/>
                <a:ea typeface="Hiragino Sans"/>
                <a:cs typeface="Hiragino Sans"/>
              </a:rPr>
              <a:t>GA4 機能強化期間 (Insights / Predictive)</a:t>
            </a:r>
          </a:p>
        </p:txBody>
      </p:sp>
      <p:sp>
        <p:nvSpPr>
          <p:cNvPr id="29" name="Rounded Rectangle 28"/>
          <p:cNvSpPr/>
          <p:nvPr/>
        </p:nvSpPr>
        <p:spPr>
          <a:xfrm>
            <a:off x="548640" y="4572000"/>
            <a:ext cx="11109960" cy="178308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4709160"/>
            <a:ext cx="100584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 GA4 と UA の根本的な違い</a:t>
            </a:r>
          </a:p>
        </p:txBody>
      </p:sp>
      <p:sp>
        <p:nvSpPr>
          <p:cNvPr id="31" name="TextBox 30"/>
          <p:cNvSpPr txBox="1"/>
          <p:nvPr/>
        </p:nvSpPr>
        <p:spPr>
          <a:xfrm>
            <a:off x="777240" y="5029200"/>
            <a:ext cx="10972800" cy="1280160"/>
          </a:xfrm>
          <a:prstGeom prst="rect">
            <a:avLst/>
          </a:prstGeom>
          <a:noFill/>
        </p:spPr>
        <p:txBody>
          <a:bodyPr wrap="square" anchor="t" lIns="0" rIns="0" tIns="0" bIns="0">
            <a:spAutoFit/>
          </a:bodyPr>
          <a:lstStyle/>
          <a:p>
            <a:pPr algn="l">
              <a:lnSpc>
                <a:spcPct val="155000"/>
              </a:lnSpc>
            </a:pPr>
            <a:r>
              <a:rPr sz="1100" b="0">
                <a:solidFill>
                  <a:srgbClr val="1A1A1A"/>
                </a:solidFill>
                <a:latin typeface="Hiragino Sans"/>
                <a:ea typeface="Hiragino Sans"/>
                <a:cs typeface="Hiragino Sans"/>
              </a:rPr>
              <a:t>• 計測モデル : セッションベース → イベントベース</a:t>
            </a:r>
          </a:p>
          <a:p>
            <a:pPr algn="l">
              <a:lnSpc>
                <a:spcPct val="155000"/>
              </a:lnSpc>
            </a:pPr>
            <a:r>
              <a:rPr sz="1100" b="0">
                <a:solidFill>
                  <a:srgbClr val="1A1A1A"/>
                </a:solidFill>
                <a:latin typeface="Hiragino Sans"/>
                <a:ea typeface="Hiragino Sans"/>
                <a:cs typeface="Hiragino Sans"/>
              </a:rPr>
              <a:t>• データモデル : ヒット型 → エンティティ型 (User / Session / Event)</a:t>
            </a:r>
          </a:p>
          <a:p>
            <a:pPr algn="l">
              <a:lnSpc>
                <a:spcPct val="155000"/>
              </a:lnSpc>
            </a:pPr>
            <a:r>
              <a:rPr sz="1100" b="0">
                <a:solidFill>
                  <a:srgbClr val="1A1A1A"/>
                </a:solidFill>
                <a:latin typeface="Hiragino Sans"/>
                <a:ea typeface="Hiragino Sans"/>
                <a:cs typeface="Hiragino Sans"/>
              </a:rPr>
              <a:t>• クロスデバイス : Cookie前提 → User-ID + Signals (PII不要)</a:t>
            </a:r>
          </a:p>
          <a:p>
            <a:pPr algn="l">
              <a:lnSpc>
                <a:spcPct val="155000"/>
              </a:lnSpc>
            </a:pPr>
            <a:r>
              <a:rPr sz="1100" b="0">
                <a:solidFill>
                  <a:srgbClr val="1A1A1A"/>
                </a:solidFill>
                <a:latin typeface="Hiragino Sans"/>
                <a:ea typeface="Hiragino Sans"/>
                <a:cs typeface="Hiragino Sans"/>
              </a:rPr>
              <a:t>• データ保持 : 14ヶ月制限 (GA4 360 は 50ヶ月) / BigQuery エクスポートで永久保存</a:t>
            </a:r>
          </a:p>
          <a:p>
            <a:pPr algn="l">
              <a:lnSpc>
                <a:spcPct val="155000"/>
              </a:lnSpc>
            </a:pPr>
            <a:r>
              <a:rPr sz="1100" b="0">
                <a:solidFill>
                  <a:srgbClr val="1A1A1A"/>
                </a:solidFill>
                <a:latin typeface="Hiragino Sans"/>
                <a:ea typeface="Hiragino Sans"/>
                <a:cs typeface="Hiragino Sans"/>
              </a:rPr>
              <a:t>• レポート : 標準レポート減 / カスタムExploration が中心</a:t>
            </a:r>
          </a:p>
        </p:txBody>
      </p:sp>
      <p:sp>
        <p:nvSpPr>
          <p:cNvPr id="32" name="TextBox 31"/>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GA4 2024-2026 アップデート</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AI Insights + Predictive + BigQuery 統合</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P144 / 250</a:t>
            </a:r>
          </a:p>
        </p:txBody>
      </p:sp>
      <p:sp>
        <p:nvSpPr>
          <p:cNvPr id="8" name="Rounded Rectangle 7"/>
          <p:cNvSpPr/>
          <p:nvPr/>
        </p:nvSpPr>
        <p:spPr>
          <a:xfrm>
            <a:off x="548640" y="1417320"/>
            <a:ext cx="2697480" cy="24688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269748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581912"/>
            <a:ext cx="2331720" cy="411480"/>
          </a:xfrm>
          <a:prstGeom prst="rect">
            <a:avLst/>
          </a:prstGeom>
          <a:noFill/>
        </p:spPr>
        <p:txBody>
          <a:bodyPr wrap="square" anchor="t" lIns="0" rIns="0" tIns="0" bIns="0">
            <a:spAutoFit/>
          </a:bodyPr>
          <a:lstStyle/>
          <a:p>
            <a:pPr algn="ctr">
              <a:lnSpc>
                <a:spcPct val="120000"/>
              </a:lnSpc>
            </a:pPr>
            <a:r>
              <a:rPr sz="1400" b="1">
                <a:solidFill>
                  <a:srgbClr val="FFFFFF"/>
                </a:solidFill>
                <a:latin typeface="Hiragino Sans"/>
                <a:ea typeface="Hiragino Sans"/>
                <a:cs typeface="Hiragino Sans"/>
              </a:rPr>
              <a:t>AI Insights</a:t>
            </a:r>
          </a:p>
        </p:txBody>
      </p:sp>
      <p:sp>
        <p:nvSpPr>
          <p:cNvPr id="11" name="TextBox 10"/>
          <p:cNvSpPr txBox="1"/>
          <p:nvPr/>
        </p:nvSpPr>
        <p:spPr>
          <a:xfrm>
            <a:off x="731520" y="1965960"/>
            <a:ext cx="233172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自動異常検知 + 解釈</a:t>
            </a:r>
          </a:p>
        </p:txBody>
      </p:sp>
      <p:sp>
        <p:nvSpPr>
          <p:cNvPr id="12" name="TextBox 11"/>
          <p:cNvSpPr txBox="1"/>
          <p:nvPr/>
        </p:nvSpPr>
        <p:spPr>
          <a:xfrm>
            <a:off x="731520" y="2377440"/>
            <a:ext cx="2331720" cy="1463040"/>
          </a:xfrm>
          <a:prstGeom prst="rect">
            <a:avLst/>
          </a:prstGeom>
          <a:noFill/>
        </p:spPr>
        <p:txBody>
          <a:bodyPr wrap="square" anchor="t" lIns="0" rIns="0" tIns="0" bIns="0">
            <a:spAutoFit/>
          </a:bodyPr>
          <a:lstStyle/>
          <a:p>
            <a:pPr algn="ctr">
              <a:lnSpc>
                <a:spcPct val="160000"/>
              </a:lnSpc>
            </a:pPr>
            <a:r>
              <a:rPr sz="1000" b="0">
                <a:solidFill>
                  <a:srgbClr val="1A1A1A"/>
                </a:solidFill>
                <a:latin typeface="Hiragino Sans"/>
                <a:ea typeface="Hiragino Sans"/>
                <a:cs typeface="Hiragino Sans"/>
              </a:rPr>
              <a:t>AIが日次でデータ異常を検知し</a:t>
            </a:r>
          </a:p>
          <a:p>
            <a:pPr algn="ctr">
              <a:lnSpc>
                <a:spcPct val="160000"/>
              </a:lnSpc>
            </a:pPr>
            <a:r>
              <a:rPr sz="1000" b="0">
                <a:solidFill>
                  <a:srgbClr val="1A1A1A"/>
                </a:solidFill>
                <a:latin typeface="Hiragino Sans"/>
                <a:ea typeface="Hiragino Sans"/>
                <a:cs typeface="Hiragino Sans"/>
              </a:rPr>
              <a:t>『なぜ起きたか』を自然言語で解説</a:t>
            </a:r>
          </a:p>
          <a:p>
            <a:pPr algn="ctr">
              <a:lnSpc>
                <a:spcPct val="160000"/>
              </a:lnSpc>
            </a:pPr>
            <a:r>
              <a:rPr sz="1000" b="0">
                <a:solidFill>
                  <a:srgbClr val="1A1A1A"/>
                </a:solidFill>
                <a:latin typeface="Hiragino Sans"/>
                <a:ea typeface="Hiragino Sans"/>
                <a:cs typeface="Hiragino Sans"/>
              </a:rPr>
              <a:t>GA4 ホーム画面で表示</a:t>
            </a:r>
          </a:p>
        </p:txBody>
      </p:sp>
      <p:sp>
        <p:nvSpPr>
          <p:cNvPr id="13" name="Rounded Rectangle 12"/>
          <p:cNvSpPr/>
          <p:nvPr/>
        </p:nvSpPr>
        <p:spPr>
          <a:xfrm>
            <a:off x="3337560" y="1417320"/>
            <a:ext cx="2697480" cy="24688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37560" y="1417320"/>
            <a:ext cx="269748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20440" y="1581912"/>
            <a:ext cx="2331720" cy="411480"/>
          </a:xfrm>
          <a:prstGeom prst="rect">
            <a:avLst/>
          </a:prstGeom>
          <a:noFill/>
        </p:spPr>
        <p:txBody>
          <a:bodyPr wrap="square" anchor="t" lIns="0" rIns="0" tIns="0" bIns="0">
            <a:spAutoFit/>
          </a:bodyPr>
          <a:lstStyle/>
          <a:p>
            <a:pPr algn="ctr">
              <a:lnSpc>
                <a:spcPct val="120000"/>
              </a:lnSpc>
            </a:pPr>
            <a:r>
              <a:rPr sz="1400" b="1">
                <a:solidFill>
                  <a:srgbClr val="FFFFFF"/>
                </a:solidFill>
                <a:latin typeface="Hiragino Sans"/>
                <a:ea typeface="Hiragino Sans"/>
                <a:cs typeface="Hiragino Sans"/>
              </a:rPr>
              <a:t>Predictive Audiences</a:t>
            </a:r>
          </a:p>
        </p:txBody>
      </p:sp>
      <p:sp>
        <p:nvSpPr>
          <p:cNvPr id="16" name="TextBox 15"/>
          <p:cNvSpPr txBox="1"/>
          <p:nvPr/>
        </p:nvSpPr>
        <p:spPr>
          <a:xfrm>
            <a:off x="3520440" y="1965960"/>
            <a:ext cx="233172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購入予測 / 離脱予測</a:t>
            </a:r>
          </a:p>
        </p:txBody>
      </p:sp>
      <p:sp>
        <p:nvSpPr>
          <p:cNvPr id="17" name="TextBox 16"/>
          <p:cNvSpPr txBox="1"/>
          <p:nvPr/>
        </p:nvSpPr>
        <p:spPr>
          <a:xfrm>
            <a:off x="3520440" y="2377440"/>
            <a:ext cx="2331720" cy="1463040"/>
          </a:xfrm>
          <a:prstGeom prst="rect">
            <a:avLst/>
          </a:prstGeom>
          <a:noFill/>
        </p:spPr>
        <p:txBody>
          <a:bodyPr wrap="square" anchor="t" lIns="0" rIns="0" tIns="0" bIns="0">
            <a:spAutoFit/>
          </a:bodyPr>
          <a:lstStyle/>
          <a:p>
            <a:pPr algn="ctr">
              <a:lnSpc>
                <a:spcPct val="160000"/>
              </a:lnSpc>
            </a:pPr>
            <a:r>
              <a:rPr sz="1000" b="0">
                <a:solidFill>
                  <a:srgbClr val="1A1A1A"/>
                </a:solidFill>
                <a:latin typeface="Hiragino Sans"/>
                <a:ea typeface="Hiragino Sans"/>
                <a:cs typeface="Hiragino Sans"/>
              </a:rPr>
              <a:t>MLで7日購入見込みユーザー /</a:t>
            </a:r>
          </a:p>
          <a:p>
            <a:pPr algn="ctr">
              <a:lnSpc>
                <a:spcPct val="160000"/>
              </a:lnSpc>
            </a:pPr>
            <a:r>
              <a:rPr sz="1000" b="0">
                <a:solidFill>
                  <a:srgbClr val="1A1A1A"/>
                </a:solidFill>
                <a:latin typeface="Hiragino Sans"/>
                <a:ea typeface="Hiragino Sans"/>
                <a:cs typeface="Hiragino Sans"/>
              </a:rPr>
              <a:t>離脱見込みユーザーを自動セグメント</a:t>
            </a:r>
          </a:p>
          <a:p>
            <a:pPr algn="ctr">
              <a:lnSpc>
                <a:spcPct val="160000"/>
              </a:lnSpc>
            </a:pPr>
            <a:r>
              <a:rPr sz="1000" b="0">
                <a:solidFill>
                  <a:srgbClr val="1A1A1A"/>
                </a:solidFill>
                <a:latin typeface="Hiragino Sans"/>
                <a:ea typeface="Hiragino Sans"/>
                <a:cs typeface="Hiragino Sans"/>
              </a:rPr>
              <a:t>Google Adsへ自動連携</a:t>
            </a:r>
          </a:p>
        </p:txBody>
      </p:sp>
      <p:sp>
        <p:nvSpPr>
          <p:cNvPr id="18" name="Rounded Rectangle 17"/>
          <p:cNvSpPr/>
          <p:nvPr/>
        </p:nvSpPr>
        <p:spPr>
          <a:xfrm>
            <a:off x="6126480" y="1417320"/>
            <a:ext cx="2697480" cy="24688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0" y="1417320"/>
            <a:ext cx="269748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1581912"/>
            <a:ext cx="2331720" cy="411480"/>
          </a:xfrm>
          <a:prstGeom prst="rect">
            <a:avLst/>
          </a:prstGeom>
          <a:noFill/>
        </p:spPr>
        <p:txBody>
          <a:bodyPr wrap="square" anchor="t" lIns="0" rIns="0" tIns="0" bIns="0">
            <a:spAutoFit/>
          </a:bodyPr>
          <a:lstStyle/>
          <a:p>
            <a:pPr algn="ctr">
              <a:lnSpc>
                <a:spcPct val="120000"/>
              </a:lnSpc>
            </a:pPr>
            <a:r>
              <a:rPr sz="1400" b="1">
                <a:solidFill>
                  <a:srgbClr val="FFFFFF"/>
                </a:solidFill>
                <a:latin typeface="Hiragino Sans"/>
                <a:ea typeface="Hiragino Sans"/>
                <a:cs typeface="Hiragino Sans"/>
              </a:rPr>
              <a:t>Conversational Analytics</a:t>
            </a:r>
          </a:p>
        </p:txBody>
      </p:sp>
      <p:sp>
        <p:nvSpPr>
          <p:cNvPr id="21" name="TextBox 20"/>
          <p:cNvSpPr txBox="1"/>
          <p:nvPr/>
        </p:nvSpPr>
        <p:spPr>
          <a:xfrm>
            <a:off x="6309360" y="1965960"/>
            <a:ext cx="233172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自然言語でデータ分析</a:t>
            </a:r>
          </a:p>
        </p:txBody>
      </p:sp>
      <p:sp>
        <p:nvSpPr>
          <p:cNvPr id="22" name="TextBox 21"/>
          <p:cNvSpPr txBox="1"/>
          <p:nvPr/>
        </p:nvSpPr>
        <p:spPr>
          <a:xfrm>
            <a:off x="6309360" y="2377440"/>
            <a:ext cx="2331720" cy="1463040"/>
          </a:xfrm>
          <a:prstGeom prst="rect">
            <a:avLst/>
          </a:prstGeom>
          <a:noFill/>
        </p:spPr>
        <p:txBody>
          <a:bodyPr wrap="square" anchor="t" lIns="0" rIns="0" tIns="0" bIns="0">
            <a:spAutoFit/>
          </a:bodyPr>
          <a:lstStyle/>
          <a:p>
            <a:pPr algn="ctr">
              <a:lnSpc>
                <a:spcPct val="160000"/>
              </a:lnSpc>
            </a:pPr>
            <a:r>
              <a:rPr sz="1000" b="0">
                <a:solidFill>
                  <a:srgbClr val="1A1A1A"/>
                </a:solidFill>
                <a:latin typeface="Hiragino Sans"/>
                <a:ea typeface="Hiragino Sans"/>
                <a:cs typeface="Hiragino Sans"/>
              </a:rPr>
              <a:t>Gemini連携で『先月の売上は?』</a:t>
            </a:r>
          </a:p>
          <a:p>
            <a:pPr algn="ctr">
              <a:lnSpc>
                <a:spcPct val="160000"/>
              </a:lnSpc>
            </a:pPr>
            <a:r>
              <a:rPr sz="1000" b="0">
                <a:solidFill>
                  <a:srgbClr val="1A1A1A"/>
                </a:solidFill>
                <a:latin typeface="Hiragino Sans"/>
                <a:ea typeface="Hiragino Sans"/>
                <a:cs typeface="Hiragino Sans"/>
              </a:rPr>
              <a:t>等の質問に自然言語で回答</a:t>
            </a:r>
          </a:p>
          <a:p>
            <a:pPr algn="ctr">
              <a:lnSpc>
                <a:spcPct val="160000"/>
              </a:lnSpc>
            </a:pPr>
            <a:r>
              <a:rPr sz="1000" b="0">
                <a:solidFill>
                  <a:srgbClr val="1A1A1A"/>
                </a:solidFill>
                <a:latin typeface="Hiragino Sans"/>
                <a:ea typeface="Hiragino Sans"/>
                <a:cs typeface="Hiragino Sans"/>
              </a:rPr>
              <a:t>GA4内の新UI</a:t>
            </a:r>
          </a:p>
        </p:txBody>
      </p:sp>
      <p:sp>
        <p:nvSpPr>
          <p:cNvPr id="23" name="Rounded Rectangle 22"/>
          <p:cNvSpPr/>
          <p:nvPr/>
        </p:nvSpPr>
        <p:spPr>
          <a:xfrm>
            <a:off x="8915400" y="1417320"/>
            <a:ext cx="2697480" cy="24688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15400" y="1417320"/>
            <a:ext cx="269748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98280" y="1581912"/>
            <a:ext cx="2331720" cy="411480"/>
          </a:xfrm>
          <a:prstGeom prst="rect">
            <a:avLst/>
          </a:prstGeom>
          <a:noFill/>
        </p:spPr>
        <p:txBody>
          <a:bodyPr wrap="square" anchor="t" lIns="0" rIns="0" tIns="0" bIns="0">
            <a:spAutoFit/>
          </a:bodyPr>
          <a:lstStyle/>
          <a:p>
            <a:pPr algn="ctr">
              <a:lnSpc>
                <a:spcPct val="120000"/>
              </a:lnSpc>
            </a:pPr>
            <a:r>
              <a:rPr sz="1400" b="1">
                <a:solidFill>
                  <a:srgbClr val="FFFFFF"/>
                </a:solidFill>
                <a:latin typeface="Hiragino Sans"/>
                <a:ea typeface="Hiragino Sans"/>
                <a:cs typeface="Hiragino Sans"/>
              </a:rPr>
              <a:t>Enhanced Measurement</a:t>
            </a:r>
          </a:p>
        </p:txBody>
      </p:sp>
      <p:sp>
        <p:nvSpPr>
          <p:cNvPr id="26" name="TextBox 25"/>
          <p:cNvSpPr txBox="1"/>
          <p:nvPr/>
        </p:nvSpPr>
        <p:spPr>
          <a:xfrm>
            <a:off x="9098280" y="1965960"/>
            <a:ext cx="233172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標準で多くを自動計測</a:t>
            </a:r>
          </a:p>
        </p:txBody>
      </p:sp>
      <p:sp>
        <p:nvSpPr>
          <p:cNvPr id="27" name="TextBox 26"/>
          <p:cNvSpPr txBox="1"/>
          <p:nvPr/>
        </p:nvSpPr>
        <p:spPr>
          <a:xfrm>
            <a:off x="9098280" y="2377440"/>
            <a:ext cx="2331720" cy="1463040"/>
          </a:xfrm>
          <a:prstGeom prst="rect">
            <a:avLst/>
          </a:prstGeom>
          <a:noFill/>
        </p:spPr>
        <p:txBody>
          <a:bodyPr wrap="square" anchor="t" lIns="0" rIns="0" tIns="0" bIns="0">
            <a:spAutoFit/>
          </a:bodyPr>
          <a:lstStyle/>
          <a:p>
            <a:pPr algn="ctr">
              <a:lnSpc>
                <a:spcPct val="160000"/>
              </a:lnSpc>
            </a:pPr>
            <a:r>
              <a:rPr sz="1000" b="0">
                <a:solidFill>
                  <a:srgbClr val="1A1A1A"/>
                </a:solidFill>
                <a:latin typeface="Hiragino Sans"/>
                <a:ea typeface="Hiragino Sans"/>
                <a:cs typeface="Hiragino Sans"/>
              </a:rPr>
              <a:t>PageView / Scroll / Outbound Click /</a:t>
            </a:r>
          </a:p>
          <a:p>
            <a:pPr algn="ctr">
              <a:lnSpc>
                <a:spcPct val="160000"/>
              </a:lnSpc>
            </a:pPr>
            <a:r>
              <a:rPr sz="1000" b="0">
                <a:solidFill>
                  <a:srgbClr val="1A1A1A"/>
                </a:solidFill>
                <a:latin typeface="Hiragino Sans"/>
                <a:ea typeface="Hiragino Sans"/>
                <a:cs typeface="Hiragino Sans"/>
              </a:rPr>
              <a:t>Site Search / Video等が自動取得</a:t>
            </a:r>
          </a:p>
          <a:p>
            <a:pPr algn="ctr">
              <a:lnSpc>
                <a:spcPct val="160000"/>
              </a:lnSpc>
            </a:pPr>
            <a:r>
              <a:rPr sz="1000" b="0">
                <a:solidFill>
                  <a:srgbClr val="1A1A1A"/>
                </a:solidFill>
                <a:latin typeface="Hiragino Sans"/>
                <a:ea typeface="Hiragino Sans"/>
                <a:cs typeface="Hiragino Sans"/>
              </a:rPr>
              <a:t>実装工数を削減</a:t>
            </a:r>
          </a:p>
        </p:txBody>
      </p:sp>
      <p:sp>
        <p:nvSpPr>
          <p:cNvPr id="28" name="Rounded Rectangle 27"/>
          <p:cNvSpPr/>
          <p:nvPr/>
        </p:nvSpPr>
        <p:spPr>
          <a:xfrm>
            <a:off x="548640" y="4069080"/>
            <a:ext cx="11109960" cy="228600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4206240"/>
            <a:ext cx="10058400" cy="320040"/>
          </a:xfrm>
          <a:prstGeom prst="rect">
            <a:avLst/>
          </a:prstGeom>
          <a:noFill/>
        </p:spPr>
        <p:txBody>
          <a:bodyPr wrap="square" anchor="t" lIns="0" rIns="0" tIns="0" bIns="0">
            <a:spAutoFit/>
          </a:bodyPr>
          <a:lstStyle/>
          <a:p>
            <a:pPr algn="l">
              <a:lnSpc>
                <a:spcPct val="115000"/>
              </a:lnSpc>
            </a:pPr>
            <a:r>
              <a:rPr sz="1200" b="1">
                <a:solidFill>
                  <a:srgbClr val="E87722"/>
                </a:solidFill>
                <a:latin typeface="Hiragino Sans"/>
                <a:ea typeface="Hiragino Sans"/>
                <a:cs typeface="Hiragino Sans"/>
              </a:rPr>
              <a:t>💡 副業代行で GA4 を活用するシナリオ</a:t>
            </a:r>
          </a:p>
        </p:txBody>
      </p:sp>
      <p:sp>
        <p:nvSpPr>
          <p:cNvPr id="30" name="TextBox 29"/>
          <p:cNvSpPr txBox="1"/>
          <p:nvPr/>
        </p:nvSpPr>
        <p:spPr>
          <a:xfrm>
            <a:off x="777240" y="4526280"/>
            <a:ext cx="10972800" cy="1783080"/>
          </a:xfrm>
          <a:prstGeom prst="rect">
            <a:avLst/>
          </a:prstGeom>
          <a:noFill/>
        </p:spPr>
        <p:txBody>
          <a:bodyPr wrap="square" anchor="t" lIns="0" rIns="0" tIns="0" bIns="0">
            <a:spAutoFit/>
          </a:bodyPr>
          <a:lstStyle/>
          <a:p>
            <a:pPr algn="l">
              <a:lnSpc>
                <a:spcPct val="160000"/>
              </a:lnSpc>
            </a:pPr>
            <a:r>
              <a:rPr sz="1100" b="0">
                <a:solidFill>
                  <a:srgbClr val="FFFFFF"/>
                </a:solidFill>
                <a:latin typeface="Hiragino Sans"/>
                <a:ea typeface="Hiragino Sans"/>
                <a:cs typeface="Hiragino Sans"/>
              </a:rPr>
              <a:t>• 初回ヒアリング : GA4 設置・Enhanced Measurement・eコマース計測の状況確認</a:t>
            </a:r>
          </a:p>
          <a:p>
            <a:pPr algn="l">
              <a:lnSpc>
                <a:spcPct val="160000"/>
              </a:lnSpc>
            </a:pPr>
            <a:r>
              <a:rPr sz="1100" b="0">
                <a:solidFill>
                  <a:srgbClr val="FFFFFF"/>
                </a:solidFill>
                <a:latin typeface="Hiragino Sans"/>
                <a:ea typeface="Hiragino Sans"/>
                <a:cs typeface="Hiragino Sans"/>
              </a:rPr>
              <a:t>• Predictive Audiences を Google Ads にimport → 高LTV / Churn対策に活用</a:t>
            </a:r>
          </a:p>
          <a:p>
            <a:pPr algn="l">
              <a:lnSpc>
                <a:spcPct val="160000"/>
              </a:lnSpc>
            </a:pPr>
            <a:r>
              <a:rPr sz="1100" b="0">
                <a:solidFill>
                  <a:srgbClr val="FFFFFF"/>
                </a:solidFill>
                <a:latin typeface="Hiragino Sans"/>
                <a:ea typeface="Hiragino Sans"/>
                <a:cs typeface="Hiragino Sans"/>
              </a:rPr>
              <a:t>• Conversational Analytics でクライアント向けレポート作成を効率化</a:t>
            </a:r>
          </a:p>
          <a:p>
            <a:pPr algn="l">
              <a:lnSpc>
                <a:spcPct val="160000"/>
              </a:lnSpc>
            </a:pPr>
            <a:r>
              <a:rPr sz="1100" b="0">
                <a:solidFill>
                  <a:srgbClr val="FFFFFF"/>
                </a:solidFill>
                <a:latin typeface="Hiragino Sans"/>
                <a:ea typeface="Hiragino Sans"/>
                <a:cs typeface="Hiragino Sans"/>
              </a:rPr>
              <a:t>• BigQuery export を有効化 → Looker Studio で自由設計のダッシュボード</a:t>
            </a:r>
          </a:p>
          <a:p>
            <a:pPr algn="l">
              <a:lnSpc>
                <a:spcPct val="160000"/>
              </a:lnSpc>
            </a:pPr>
            <a:r>
              <a:rPr sz="1100" b="0">
                <a:solidFill>
                  <a:srgbClr val="FFFFFF"/>
                </a:solidFill>
                <a:latin typeface="Hiragino Sans"/>
                <a:ea typeface="Hiragino Sans"/>
                <a:cs typeface="Hiragino Sans"/>
              </a:rPr>
              <a:t>• AI Insights で月次の異常検知を自動化、レポートに添付</a:t>
            </a:r>
          </a:p>
        </p:txBody>
      </p:sp>
      <p:sp>
        <p:nvSpPr>
          <p:cNvPr id="31" name="TextBox 30"/>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イベントベース計測の思想</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GA4の根幹 : すべてが『イベント』</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P145 / 250</a:t>
            </a:r>
          </a:p>
        </p:txBody>
      </p:sp>
      <p:sp>
        <p:nvSpPr>
          <p:cNvPr id="8" name="Rounded Rectangle 7"/>
          <p:cNvSpPr/>
          <p:nvPr/>
        </p:nvSpPr>
        <p:spPr>
          <a:xfrm>
            <a:off x="548640" y="1371600"/>
            <a:ext cx="11109960" cy="91440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08760"/>
            <a:ext cx="10972800" cy="731520"/>
          </a:xfrm>
          <a:prstGeom prst="rect">
            <a:avLst/>
          </a:prstGeom>
          <a:noFill/>
        </p:spPr>
        <p:txBody>
          <a:bodyPr wrap="square" anchor="t" lIns="0" rIns="0" tIns="0" bIns="0">
            <a:spAutoFit/>
          </a:bodyPr>
          <a:lstStyle/>
          <a:p>
            <a:pPr algn="l">
              <a:lnSpc>
                <a:spcPct val="150000"/>
              </a:lnSpc>
            </a:pPr>
            <a:r>
              <a:rPr sz="1200" b="0">
                <a:solidFill>
                  <a:srgbClr val="FFFFFF"/>
                </a:solidFill>
                <a:latin typeface="Hiragino Sans"/>
                <a:ea typeface="Hiragino Sans"/>
                <a:cs typeface="Hiragino Sans"/>
              </a:rPr>
              <a:t>GA4ではユーザー行動 (PageView / Scroll / Click / Purchase等) すべてを『イベント』として記録。</a:t>
            </a:r>
          </a:p>
          <a:p>
            <a:pPr algn="l">
              <a:lnSpc>
                <a:spcPct val="150000"/>
              </a:lnSpc>
            </a:pPr>
            <a:r>
              <a:rPr sz="1200" b="0">
                <a:solidFill>
                  <a:srgbClr val="FFFFFF"/>
                </a:solidFill>
                <a:latin typeface="Hiragino Sans"/>
                <a:ea typeface="Hiragino Sans"/>
                <a:cs typeface="Hiragino Sans"/>
              </a:rPr>
              <a:t>イベント名 + パラメータ (key-value) の柔軟なスキーマで、計測したいものを定義できる</a:t>
            </a:r>
          </a:p>
        </p:txBody>
      </p:sp>
      <p:sp>
        <p:nvSpPr>
          <p:cNvPr id="10" name="Rounded Rectangle 9"/>
          <p:cNvSpPr/>
          <p:nvPr/>
        </p:nvSpPr>
        <p:spPr>
          <a:xfrm>
            <a:off x="548640" y="2468880"/>
            <a:ext cx="2697480" cy="2286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468880"/>
            <a:ext cx="2697480" cy="64008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587752"/>
            <a:ext cx="2423160" cy="365760"/>
          </a:xfrm>
          <a:prstGeom prst="rect">
            <a:avLst/>
          </a:prstGeom>
          <a:noFill/>
        </p:spPr>
        <p:txBody>
          <a:bodyPr wrap="square" anchor="t" lIns="0" rIns="0" tIns="0" bIns="0">
            <a:spAutoFit/>
          </a:bodyPr>
          <a:lstStyle/>
          <a:p>
            <a:pPr algn="ctr">
              <a:lnSpc>
                <a:spcPct val="120000"/>
              </a:lnSpc>
            </a:pPr>
            <a:r>
              <a:rPr sz="1300" b="1">
                <a:solidFill>
                  <a:srgbClr val="FFFFFF"/>
                </a:solidFill>
                <a:latin typeface="Hiragino Sans"/>
                <a:ea typeface="Hiragino Sans"/>
                <a:cs typeface="Hiragino Sans"/>
              </a:rPr>
              <a:t>自動計測イベント</a:t>
            </a:r>
          </a:p>
        </p:txBody>
      </p:sp>
      <p:sp>
        <p:nvSpPr>
          <p:cNvPr id="13" name="TextBox 12"/>
          <p:cNvSpPr txBox="1"/>
          <p:nvPr/>
        </p:nvSpPr>
        <p:spPr>
          <a:xfrm>
            <a:off x="685800" y="2971800"/>
            <a:ext cx="242316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GA4が自動で取得</a:t>
            </a:r>
          </a:p>
        </p:txBody>
      </p:sp>
      <p:sp>
        <p:nvSpPr>
          <p:cNvPr id="14" name="TextBox 13"/>
          <p:cNvSpPr txBox="1"/>
          <p:nvPr/>
        </p:nvSpPr>
        <p:spPr>
          <a:xfrm>
            <a:off x="731520" y="3383280"/>
            <a:ext cx="2331720" cy="1280160"/>
          </a:xfrm>
          <a:prstGeom prst="rect">
            <a:avLst/>
          </a:prstGeom>
          <a:noFill/>
        </p:spPr>
        <p:txBody>
          <a:bodyPr wrap="square" anchor="t" lIns="0" rIns="0" tIns="0" bIns="0">
            <a:spAutoFit/>
          </a:bodyPr>
          <a:lstStyle/>
          <a:p>
            <a:pPr algn="ctr">
              <a:lnSpc>
                <a:spcPct val="155000"/>
              </a:lnSpc>
            </a:pPr>
            <a:r>
              <a:rPr sz="1000" b="0">
                <a:solidFill>
                  <a:srgbClr val="1A1A1A"/>
                </a:solidFill>
                <a:latin typeface="Helvetica Neue"/>
                <a:ea typeface="Helvetica Neue"/>
                <a:cs typeface="Helvetica Neue"/>
              </a:rPr>
              <a:t>page_view / first_visit /</a:t>
            </a:r>
          </a:p>
          <a:p>
            <a:pPr algn="ctr">
              <a:lnSpc>
                <a:spcPct val="155000"/>
              </a:lnSpc>
            </a:pPr>
            <a:r>
              <a:rPr sz="1000" b="0">
                <a:solidFill>
                  <a:srgbClr val="1A1A1A"/>
                </a:solidFill>
                <a:latin typeface="Helvetica Neue"/>
                <a:ea typeface="Helvetica Neue"/>
                <a:cs typeface="Helvetica Neue"/>
              </a:rPr>
              <a:t>user_engagement / session_start</a:t>
            </a:r>
          </a:p>
        </p:txBody>
      </p:sp>
      <p:sp>
        <p:nvSpPr>
          <p:cNvPr id="15" name="Rounded Rectangle 14"/>
          <p:cNvSpPr/>
          <p:nvPr/>
        </p:nvSpPr>
        <p:spPr>
          <a:xfrm>
            <a:off x="3337560" y="2468880"/>
            <a:ext cx="2697480" cy="2286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37560" y="2468880"/>
            <a:ext cx="2697480" cy="64008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74720" y="2587752"/>
            <a:ext cx="2423160" cy="365760"/>
          </a:xfrm>
          <a:prstGeom prst="rect">
            <a:avLst/>
          </a:prstGeom>
          <a:noFill/>
        </p:spPr>
        <p:txBody>
          <a:bodyPr wrap="square" anchor="t" lIns="0" rIns="0" tIns="0" bIns="0">
            <a:spAutoFit/>
          </a:bodyPr>
          <a:lstStyle/>
          <a:p>
            <a:pPr algn="ctr">
              <a:lnSpc>
                <a:spcPct val="120000"/>
              </a:lnSpc>
            </a:pPr>
            <a:r>
              <a:rPr sz="1300" b="1">
                <a:solidFill>
                  <a:srgbClr val="FFFFFF"/>
                </a:solidFill>
                <a:latin typeface="Hiragino Sans"/>
                <a:ea typeface="Hiragino Sans"/>
                <a:cs typeface="Hiragino Sans"/>
              </a:rPr>
              <a:t>拡張計測イベント</a:t>
            </a:r>
          </a:p>
        </p:txBody>
      </p:sp>
      <p:sp>
        <p:nvSpPr>
          <p:cNvPr id="18" name="TextBox 17"/>
          <p:cNvSpPr txBox="1"/>
          <p:nvPr/>
        </p:nvSpPr>
        <p:spPr>
          <a:xfrm>
            <a:off x="3474720" y="2971800"/>
            <a:ext cx="242316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Enhanced Measurement で取得</a:t>
            </a:r>
          </a:p>
        </p:txBody>
      </p:sp>
      <p:sp>
        <p:nvSpPr>
          <p:cNvPr id="19" name="TextBox 18"/>
          <p:cNvSpPr txBox="1"/>
          <p:nvPr/>
        </p:nvSpPr>
        <p:spPr>
          <a:xfrm>
            <a:off x="3520440" y="3383280"/>
            <a:ext cx="2331720" cy="1280160"/>
          </a:xfrm>
          <a:prstGeom prst="rect">
            <a:avLst/>
          </a:prstGeom>
          <a:noFill/>
        </p:spPr>
        <p:txBody>
          <a:bodyPr wrap="square" anchor="t" lIns="0" rIns="0" tIns="0" bIns="0">
            <a:spAutoFit/>
          </a:bodyPr>
          <a:lstStyle/>
          <a:p>
            <a:pPr algn="ctr">
              <a:lnSpc>
                <a:spcPct val="155000"/>
              </a:lnSpc>
            </a:pPr>
            <a:r>
              <a:rPr sz="1000" b="0">
                <a:solidFill>
                  <a:srgbClr val="1A1A1A"/>
                </a:solidFill>
                <a:latin typeface="Helvetica Neue"/>
                <a:ea typeface="Helvetica Neue"/>
                <a:cs typeface="Helvetica Neue"/>
              </a:rPr>
              <a:t>scroll / click / video_play /</a:t>
            </a:r>
          </a:p>
          <a:p>
            <a:pPr algn="ctr">
              <a:lnSpc>
                <a:spcPct val="155000"/>
              </a:lnSpc>
            </a:pPr>
            <a:r>
              <a:rPr sz="1000" b="0">
                <a:solidFill>
                  <a:srgbClr val="1A1A1A"/>
                </a:solidFill>
                <a:latin typeface="Helvetica Neue"/>
                <a:ea typeface="Helvetica Neue"/>
                <a:cs typeface="Helvetica Neue"/>
              </a:rPr>
              <a:t>file_download / view_search_results</a:t>
            </a:r>
          </a:p>
        </p:txBody>
      </p:sp>
      <p:sp>
        <p:nvSpPr>
          <p:cNvPr id="20" name="Rounded Rectangle 19"/>
          <p:cNvSpPr/>
          <p:nvPr/>
        </p:nvSpPr>
        <p:spPr>
          <a:xfrm>
            <a:off x="6126480" y="2468880"/>
            <a:ext cx="2697480" cy="2286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26480" y="2468880"/>
            <a:ext cx="2697480" cy="64008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63640" y="2587752"/>
            <a:ext cx="2423160" cy="365760"/>
          </a:xfrm>
          <a:prstGeom prst="rect">
            <a:avLst/>
          </a:prstGeom>
          <a:noFill/>
        </p:spPr>
        <p:txBody>
          <a:bodyPr wrap="square" anchor="t" lIns="0" rIns="0" tIns="0" bIns="0">
            <a:spAutoFit/>
          </a:bodyPr>
          <a:lstStyle/>
          <a:p>
            <a:pPr algn="ctr">
              <a:lnSpc>
                <a:spcPct val="120000"/>
              </a:lnSpc>
            </a:pPr>
            <a:r>
              <a:rPr sz="1300" b="1">
                <a:solidFill>
                  <a:srgbClr val="FFFFFF"/>
                </a:solidFill>
                <a:latin typeface="Hiragino Sans"/>
                <a:ea typeface="Hiragino Sans"/>
                <a:cs typeface="Hiragino Sans"/>
              </a:rPr>
              <a:t>推奨イベント</a:t>
            </a:r>
          </a:p>
        </p:txBody>
      </p:sp>
      <p:sp>
        <p:nvSpPr>
          <p:cNvPr id="23" name="TextBox 22"/>
          <p:cNvSpPr txBox="1"/>
          <p:nvPr/>
        </p:nvSpPr>
        <p:spPr>
          <a:xfrm>
            <a:off x="6263640" y="2971800"/>
            <a:ext cx="242316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業種別の名前付き</a:t>
            </a:r>
          </a:p>
        </p:txBody>
      </p:sp>
      <p:sp>
        <p:nvSpPr>
          <p:cNvPr id="24" name="TextBox 23"/>
          <p:cNvSpPr txBox="1"/>
          <p:nvPr/>
        </p:nvSpPr>
        <p:spPr>
          <a:xfrm>
            <a:off x="6309360" y="3383280"/>
            <a:ext cx="2331720" cy="1280160"/>
          </a:xfrm>
          <a:prstGeom prst="rect">
            <a:avLst/>
          </a:prstGeom>
          <a:noFill/>
        </p:spPr>
        <p:txBody>
          <a:bodyPr wrap="square" anchor="t" lIns="0" rIns="0" tIns="0" bIns="0">
            <a:spAutoFit/>
          </a:bodyPr>
          <a:lstStyle/>
          <a:p>
            <a:pPr algn="ctr">
              <a:lnSpc>
                <a:spcPct val="155000"/>
              </a:lnSpc>
            </a:pPr>
            <a:r>
              <a:rPr sz="1000" b="0">
                <a:solidFill>
                  <a:srgbClr val="1A1A1A"/>
                </a:solidFill>
                <a:latin typeface="Helvetica Neue"/>
                <a:ea typeface="Helvetica Neue"/>
                <a:cs typeface="Helvetica Neue"/>
              </a:rPr>
              <a:t>EC: purchase / add_to_cart</a:t>
            </a:r>
          </a:p>
          <a:p>
            <a:pPr algn="ctr">
              <a:lnSpc>
                <a:spcPct val="155000"/>
              </a:lnSpc>
            </a:pPr>
            <a:r>
              <a:rPr sz="1000" b="0">
                <a:solidFill>
                  <a:srgbClr val="1A1A1A"/>
                </a:solidFill>
                <a:latin typeface="Helvetica Neue"/>
                <a:ea typeface="Helvetica Neue"/>
                <a:cs typeface="Helvetica Neue"/>
              </a:rPr>
              <a:t>リード: generate_lead / signup</a:t>
            </a:r>
          </a:p>
        </p:txBody>
      </p:sp>
      <p:sp>
        <p:nvSpPr>
          <p:cNvPr id="25" name="Rounded Rectangle 24"/>
          <p:cNvSpPr/>
          <p:nvPr/>
        </p:nvSpPr>
        <p:spPr>
          <a:xfrm>
            <a:off x="8915400" y="2468880"/>
            <a:ext cx="2697480" cy="2286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15400" y="2468880"/>
            <a:ext cx="2697480" cy="64008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052560" y="2587752"/>
            <a:ext cx="2423160" cy="365760"/>
          </a:xfrm>
          <a:prstGeom prst="rect">
            <a:avLst/>
          </a:prstGeom>
          <a:noFill/>
        </p:spPr>
        <p:txBody>
          <a:bodyPr wrap="square" anchor="t" lIns="0" rIns="0" tIns="0" bIns="0">
            <a:spAutoFit/>
          </a:bodyPr>
          <a:lstStyle/>
          <a:p>
            <a:pPr algn="ctr">
              <a:lnSpc>
                <a:spcPct val="120000"/>
              </a:lnSpc>
            </a:pPr>
            <a:r>
              <a:rPr sz="1300" b="1">
                <a:solidFill>
                  <a:srgbClr val="FFFFFF"/>
                </a:solidFill>
                <a:latin typeface="Hiragino Sans"/>
                <a:ea typeface="Hiragino Sans"/>
                <a:cs typeface="Hiragino Sans"/>
              </a:rPr>
              <a:t>カスタムイベント</a:t>
            </a:r>
          </a:p>
        </p:txBody>
      </p:sp>
      <p:sp>
        <p:nvSpPr>
          <p:cNvPr id="28" name="TextBox 27"/>
          <p:cNvSpPr txBox="1"/>
          <p:nvPr/>
        </p:nvSpPr>
        <p:spPr>
          <a:xfrm>
            <a:off x="9052560" y="2971800"/>
            <a:ext cx="242316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独自定義</a:t>
            </a:r>
          </a:p>
        </p:txBody>
      </p:sp>
      <p:sp>
        <p:nvSpPr>
          <p:cNvPr id="29" name="TextBox 28"/>
          <p:cNvSpPr txBox="1"/>
          <p:nvPr/>
        </p:nvSpPr>
        <p:spPr>
          <a:xfrm>
            <a:off x="9098280" y="3383280"/>
            <a:ext cx="2331720" cy="1280160"/>
          </a:xfrm>
          <a:prstGeom prst="rect">
            <a:avLst/>
          </a:prstGeom>
          <a:noFill/>
        </p:spPr>
        <p:txBody>
          <a:bodyPr wrap="square" anchor="t" lIns="0" rIns="0" tIns="0" bIns="0">
            <a:spAutoFit/>
          </a:bodyPr>
          <a:lstStyle/>
          <a:p>
            <a:pPr algn="ctr">
              <a:lnSpc>
                <a:spcPct val="155000"/>
              </a:lnSpc>
            </a:pPr>
            <a:r>
              <a:rPr sz="1000" b="0">
                <a:solidFill>
                  <a:srgbClr val="1A1A1A"/>
                </a:solidFill>
                <a:latin typeface="Helvetica Neue"/>
                <a:ea typeface="Helvetica Neue"/>
                <a:cs typeface="Helvetica Neue"/>
              </a:rPr>
              <a:t>業種固有のCV (例: 内見申込)</a:t>
            </a:r>
          </a:p>
          <a:p>
            <a:pPr algn="ctr">
              <a:lnSpc>
                <a:spcPct val="155000"/>
              </a:lnSpc>
            </a:pPr>
            <a:r>
              <a:rPr sz="1000" b="0">
                <a:solidFill>
                  <a:srgbClr val="1A1A1A"/>
                </a:solidFill>
                <a:latin typeface="Helvetica Neue"/>
                <a:ea typeface="Helvetica Neue"/>
                <a:cs typeface="Helvetica Neue"/>
              </a:rPr>
              <a:t>GTM/gtag で実装</a:t>
            </a:r>
          </a:p>
        </p:txBody>
      </p:sp>
      <p:sp>
        <p:nvSpPr>
          <p:cNvPr id="30" name="Rounded Rectangle 29"/>
          <p:cNvSpPr/>
          <p:nvPr/>
        </p:nvSpPr>
        <p:spPr>
          <a:xfrm>
            <a:off x="548640" y="4983480"/>
            <a:ext cx="11109960" cy="137160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7240" y="5120640"/>
            <a:ext cx="100584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 副業代行のイベント設計</a:t>
            </a:r>
          </a:p>
        </p:txBody>
      </p:sp>
      <p:sp>
        <p:nvSpPr>
          <p:cNvPr id="32" name="TextBox 31"/>
          <p:cNvSpPr txBox="1"/>
          <p:nvPr/>
        </p:nvSpPr>
        <p:spPr>
          <a:xfrm>
            <a:off x="777240" y="5440680"/>
            <a:ext cx="10972800" cy="868680"/>
          </a:xfrm>
          <a:prstGeom prst="rect">
            <a:avLst/>
          </a:prstGeom>
          <a:noFill/>
        </p:spPr>
        <p:txBody>
          <a:bodyPr wrap="square" anchor="t" lIns="0" rIns="0" tIns="0" bIns="0">
            <a:spAutoFit/>
          </a:bodyPr>
          <a:lstStyle/>
          <a:p>
            <a:pPr algn="l">
              <a:lnSpc>
                <a:spcPct val="155000"/>
              </a:lnSpc>
            </a:pPr>
            <a:r>
              <a:rPr sz="1100" b="0">
                <a:solidFill>
                  <a:srgbClr val="1A1A1A"/>
                </a:solidFill>
                <a:latin typeface="Hiragino Sans"/>
                <a:ea typeface="Hiragino Sans"/>
                <a:cs typeface="Hiragino Sans"/>
              </a:rPr>
              <a:t>• 初期実装 : Enhanced Measurement ON で大半カバー</a:t>
            </a:r>
          </a:p>
          <a:p>
            <a:pPr algn="l">
              <a:lnSpc>
                <a:spcPct val="155000"/>
              </a:lnSpc>
            </a:pPr>
            <a:r>
              <a:rPr sz="1100" b="0">
                <a:solidFill>
                  <a:srgbClr val="1A1A1A"/>
                </a:solidFill>
                <a:latin typeface="Hiragino Sans"/>
                <a:ea typeface="Hiragino Sans"/>
                <a:cs typeface="Hiragino Sans"/>
              </a:rPr>
              <a:t>• EC : 推奨イベントの eコマースセット (purchase / view_item / begin_checkout 等) を完備</a:t>
            </a:r>
          </a:p>
          <a:p>
            <a:pPr algn="l">
              <a:lnSpc>
                <a:spcPct val="155000"/>
              </a:lnSpc>
            </a:pPr>
            <a:r>
              <a:rPr sz="1100" b="0">
                <a:solidFill>
                  <a:srgbClr val="1A1A1A"/>
                </a:solidFill>
                <a:latin typeface="Hiragino Sans"/>
                <a:ea typeface="Hiragino Sans"/>
                <a:cs typeface="Hiragino Sans"/>
              </a:rPr>
              <a:t>• リード/問合せ : 推奨イベント generate_lead と カスタムイベント (例: 資料DL) の組合せ</a:t>
            </a:r>
          </a:p>
        </p:txBody>
      </p:sp>
      <p:sp>
        <p:nvSpPr>
          <p:cNvPr id="33" name="TextBox 32"/>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SGTM (Server-side GTM) 全貌</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計測タグをサーバーで発火する標準構成</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P146 / 250</a:t>
            </a:r>
          </a:p>
        </p:txBody>
      </p:sp>
      <p:sp>
        <p:nvSpPr>
          <p:cNvPr id="8" name="Rounded Rectangle 7"/>
          <p:cNvSpPr/>
          <p:nvPr/>
        </p:nvSpPr>
        <p:spPr>
          <a:xfrm>
            <a:off x="548640" y="1371600"/>
            <a:ext cx="11109960" cy="91440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08760"/>
            <a:ext cx="10972800" cy="731520"/>
          </a:xfrm>
          <a:prstGeom prst="rect">
            <a:avLst/>
          </a:prstGeom>
          <a:noFill/>
        </p:spPr>
        <p:txBody>
          <a:bodyPr wrap="square" anchor="t" lIns="0" rIns="0" tIns="0" bIns="0">
            <a:spAutoFit/>
          </a:bodyPr>
          <a:lstStyle/>
          <a:p>
            <a:pPr algn="l">
              <a:lnSpc>
                <a:spcPct val="150000"/>
              </a:lnSpc>
            </a:pPr>
            <a:r>
              <a:rPr sz="1200" b="0">
                <a:solidFill>
                  <a:srgbClr val="FFFFFF"/>
                </a:solidFill>
                <a:latin typeface="Hiragino Sans"/>
                <a:ea typeface="Hiragino Sans"/>
                <a:cs typeface="Hiragino Sans"/>
              </a:rPr>
              <a:t>Server-side Google Tag Manager : ブラウザのGTMコンテナを</a:t>
            </a:r>
          </a:p>
          <a:p>
            <a:pPr algn="l">
              <a:lnSpc>
                <a:spcPct val="150000"/>
              </a:lnSpc>
            </a:pPr>
            <a:r>
              <a:rPr sz="1200" b="0">
                <a:solidFill>
                  <a:srgbClr val="FFFFFF"/>
                </a:solidFill>
                <a:latin typeface="Hiragino Sans"/>
                <a:ea typeface="Hiragino Sans"/>
                <a:cs typeface="Hiragino Sans"/>
              </a:rPr>
              <a:t>クラウドサーバー (GCP / AWS / Cloudflare等) に置き、計測タグをサーバーで処理する構成</a:t>
            </a:r>
          </a:p>
        </p:txBody>
      </p:sp>
      <p:sp>
        <p:nvSpPr>
          <p:cNvPr id="10" name="Rounded Rectangle 9"/>
          <p:cNvSpPr/>
          <p:nvPr/>
        </p:nvSpPr>
        <p:spPr>
          <a:xfrm>
            <a:off x="548640" y="2468880"/>
            <a:ext cx="2697480" cy="18288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468880"/>
            <a:ext cx="26974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697480"/>
            <a:ext cx="2331720" cy="365760"/>
          </a:xfrm>
          <a:prstGeom prst="rect">
            <a:avLst/>
          </a:prstGeom>
          <a:noFill/>
        </p:spPr>
        <p:txBody>
          <a:bodyPr wrap="square" anchor="t" lIns="0" rIns="0" tIns="0" bIns="0">
            <a:spAutoFit/>
          </a:bodyPr>
          <a:lstStyle/>
          <a:p>
            <a:pPr algn="ctr">
              <a:lnSpc>
                <a:spcPct val="115000"/>
              </a:lnSpc>
            </a:pPr>
            <a:r>
              <a:rPr sz="1300" b="1">
                <a:solidFill>
                  <a:srgbClr val="0F2A4F"/>
                </a:solidFill>
                <a:latin typeface="Hiragino Sans"/>
                <a:ea typeface="Hiragino Sans"/>
                <a:cs typeface="Hiragino Sans"/>
              </a:rPr>
              <a:t>計測精度向上</a:t>
            </a:r>
          </a:p>
        </p:txBody>
      </p:sp>
      <p:sp>
        <p:nvSpPr>
          <p:cNvPr id="13" name="TextBox 12"/>
          <p:cNvSpPr txBox="1"/>
          <p:nvPr/>
        </p:nvSpPr>
        <p:spPr>
          <a:xfrm>
            <a:off x="731520" y="3108960"/>
            <a:ext cx="2331720" cy="1097280"/>
          </a:xfrm>
          <a:prstGeom prst="rect">
            <a:avLst/>
          </a:prstGeom>
          <a:noFill/>
        </p:spPr>
        <p:txBody>
          <a:bodyPr wrap="square" anchor="t" lIns="0" rIns="0" tIns="0" bIns="0">
            <a:spAutoFit/>
          </a:bodyPr>
          <a:lstStyle/>
          <a:p>
            <a:pPr algn="ctr">
              <a:lnSpc>
                <a:spcPct val="155000"/>
              </a:lnSpc>
            </a:pPr>
            <a:r>
              <a:rPr sz="1100" b="0">
                <a:solidFill>
                  <a:srgbClr val="1A1A1A"/>
                </a:solidFill>
                <a:latin typeface="Hiragino Sans"/>
                <a:ea typeface="Hiragino Sans"/>
                <a:cs typeface="Hiragino Sans"/>
              </a:rPr>
              <a:t>ITP/ATT/Cookie制限を</a:t>
            </a:r>
          </a:p>
          <a:p>
            <a:pPr algn="ctr">
              <a:lnSpc>
                <a:spcPct val="155000"/>
              </a:lnSpc>
            </a:pPr>
            <a:r>
              <a:rPr sz="1100" b="0">
                <a:solidFill>
                  <a:srgbClr val="1A1A1A"/>
                </a:solidFill>
                <a:latin typeface="Hiragino Sans"/>
                <a:ea typeface="Hiragino Sans"/>
                <a:cs typeface="Hiragino Sans"/>
              </a:rPr>
              <a:t>バイパスし計測ロス削減</a:t>
            </a:r>
          </a:p>
        </p:txBody>
      </p:sp>
      <p:sp>
        <p:nvSpPr>
          <p:cNvPr id="14" name="Rounded Rectangle 13"/>
          <p:cNvSpPr/>
          <p:nvPr/>
        </p:nvSpPr>
        <p:spPr>
          <a:xfrm>
            <a:off x="3337560" y="2468880"/>
            <a:ext cx="2697480" cy="18288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37560" y="2468880"/>
            <a:ext cx="26974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20440" y="2697480"/>
            <a:ext cx="2331720" cy="365760"/>
          </a:xfrm>
          <a:prstGeom prst="rect">
            <a:avLst/>
          </a:prstGeom>
          <a:noFill/>
        </p:spPr>
        <p:txBody>
          <a:bodyPr wrap="square" anchor="t" lIns="0" rIns="0" tIns="0" bIns="0">
            <a:spAutoFit/>
          </a:bodyPr>
          <a:lstStyle/>
          <a:p>
            <a:pPr algn="ctr">
              <a:lnSpc>
                <a:spcPct val="115000"/>
              </a:lnSpc>
            </a:pPr>
            <a:r>
              <a:rPr sz="1300" b="1">
                <a:solidFill>
                  <a:srgbClr val="0F2A4F"/>
                </a:solidFill>
                <a:latin typeface="Hiragino Sans"/>
                <a:ea typeface="Hiragino Sans"/>
                <a:cs typeface="Hiragino Sans"/>
              </a:rPr>
              <a:t>ページパフォーマンス</a:t>
            </a:r>
          </a:p>
        </p:txBody>
      </p:sp>
      <p:sp>
        <p:nvSpPr>
          <p:cNvPr id="17" name="TextBox 16"/>
          <p:cNvSpPr txBox="1"/>
          <p:nvPr/>
        </p:nvSpPr>
        <p:spPr>
          <a:xfrm>
            <a:off x="3520440" y="3108960"/>
            <a:ext cx="2331720" cy="1097280"/>
          </a:xfrm>
          <a:prstGeom prst="rect">
            <a:avLst/>
          </a:prstGeom>
          <a:noFill/>
        </p:spPr>
        <p:txBody>
          <a:bodyPr wrap="square" anchor="t" lIns="0" rIns="0" tIns="0" bIns="0">
            <a:spAutoFit/>
          </a:bodyPr>
          <a:lstStyle/>
          <a:p>
            <a:pPr algn="ctr">
              <a:lnSpc>
                <a:spcPct val="155000"/>
              </a:lnSpc>
            </a:pPr>
            <a:r>
              <a:rPr sz="1100" b="0">
                <a:solidFill>
                  <a:srgbClr val="1A1A1A"/>
                </a:solidFill>
                <a:latin typeface="Hiragino Sans"/>
                <a:ea typeface="Hiragino Sans"/>
                <a:cs typeface="Hiragino Sans"/>
              </a:rPr>
              <a:t>ブラウザのJSタグ削減で</a:t>
            </a:r>
          </a:p>
          <a:p>
            <a:pPr algn="ctr">
              <a:lnSpc>
                <a:spcPct val="155000"/>
              </a:lnSpc>
            </a:pPr>
            <a:r>
              <a:rPr sz="1100" b="0">
                <a:solidFill>
                  <a:srgbClr val="1A1A1A"/>
                </a:solidFill>
                <a:latin typeface="Hiragino Sans"/>
                <a:ea typeface="Hiragino Sans"/>
                <a:cs typeface="Hiragino Sans"/>
              </a:rPr>
              <a:t>LCP/FID/CLS が改善</a:t>
            </a:r>
          </a:p>
        </p:txBody>
      </p:sp>
      <p:sp>
        <p:nvSpPr>
          <p:cNvPr id="18" name="Rounded Rectangle 17"/>
          <p:cNvSpPr/>
          <p:nvPr/>
        </p:nvSpPr>
        <p:spPr>
          <a:xfrm>
            <a:off x="6126480" y="2468880"/>
            <a:ext cx="2697480" cy="18288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0" y="2468880"/>
            <a:ext cx="26974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2697480"/>
            <a:ext cx="2331720" cy="365760"/>
          </a:xfrm>
          <a:prstGeom prst="rect">
            <a:avLst/>
          </a:prstGeom>
          <a:noFill/>
        </p:spPr>
        <p:txBody>
          <a:bodyPr wrap="square" anchor="t" lIns="0" rIns="0" tIns="0" bIns="0">
            <a:spAutoFit/>
          </a:bodyPr>
          <a:lstStyle/>
          <a:p>
            <a:pPr algn="ctr">
              <a:lnSpc>
                <a:spcPct val="115000"/>
              </a:lnSpc>
            </a:pPr>
            <a:r>
              <a:rPr sz="1300" b="1">
                <a:solidFill>
                  <a:srgbClr val="0F2A4F"/>
                </a:solidFill>
                <a:latin typeface="Hiragino Sans"/>
                <a:ea typeface="Hiragino Sans"/>
                <a:cs typeface="Hiragino Sans"/>
              </a:rPr>
              <a:t>データガバナンス</a:t>
            </a:r>
          </a:p>
        </p:txBody>
      </p:sp>
      <p:sp>
        <p:nvSpPr>
          <p:cNvPr id="21" name="TextBox 20"/>
          <p:cNvSpPr txBox="1"/>
          <p:nvPr/>
        </p:nvSpPr>
        <p:spPr>
          <a:xfrm>
            <a:off x="6309360" y="3108960"/>
            <a:ext cx="2331720" cy="1097280"/>
          </a:xfrm>
          <a:prstGeom prst="rect">
            <a:avLst/>
          </a:prstGeom>
          <a:noFill/>
        </p:spPr>
        <p:txBody>
          <a:bodyPr wrap="square" anchor="t" lIns="0" rIns="0" tIns="0" bIns="0">
            <a:spAutoFit/>
          </a:bodyPr>
          <a:lstStyle/>
          <a:p>
            <a:pPr algn="ctr">
              <a:lnSpc>
                <a:spcPct val="155000"/>
              </a:lnSpc>
            </a:pPr>
            <a:r>
              <a:rPr sz="1100" b="0">
                <a:solidFill>
                  <a:srgbClr val="1A1A1A"/>
                </a:solidFill>
                <a:latin typeface="Hiragino Sans"/>
                <a:ea typeface="Hiragino Sans"/>
                <a:cs typeface="Hiragino Sans"/>
              </a:rPr>
              <a:t>サーバーで PII を除去</a:t>
            </a:r>
          </a:p>
          <a:p>
            <a:pPr algn="ctr">
              <a:lnSpc>
                <a:spcPct val="155000"/>
              </a:lnSpc>
            </a:pPr>
            <a:r>
              <a:rPr sz="1100" b="0">
                <a:solidFill>
                  <a:srgbClr val="1A1A1A"/>
                </a:solidFill>
                <a:latin typeface="Hiragino Sans"/>
                <a:ea typeface="Hiragino Sans"/>
                <a:cs typeface="Hiragino Sans"/>
              </a:rPr>
              <a:t>プライバシー保護</a:t>
            </a:r>
          </a:p>
        </p:txBody>
      </p:sp>
      <p:sp>
        <p:nvSpPr>
          <p:cNvPr id="22" name="Rounded Rectangle 21"/>
          <p:cNvSpPr/>
          <p:nvPr/>
        </p:nvSpPr>
        <p:spPr>
          <a:xfrm>
            <a:off x="8915400" y="2468880"/>
            <a:ext cx="2697480" cy="18288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915400" y="2468880"/>
            <a:ext cx="26974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98280" y="2697480"/>
            <a:ext cx="2331720" cy="365760"/>
          </a:xfrm>
          <a:prstGeom prst="rect">
            <a:avLst/>
          </a:prstGeom>
          <a:noFill/>
        </p:spPr>
        <p:txBody>
          <a:bodyPr wrap="square" anchor="t" lIns="0" rIns="0" tIns="0" bIns="0">
            <a:spAutoFit/>
          </a:bodyPr>
          <a:lstStyle/>
          <a:p>
            <a:pPr algn="ctr">
              <a:lnSpc>
                <a:spcPct val="115000"/>
              </a:lnSpc>
            </a:pPr>
            <a:r>
              <a:rPr sz="1300" b="1">
                <a:solidFill>
                  <a:srgbClr val="0F2A4F"/>
                </a:solidFill>
                <a:latin typeface="Hiragino Sans"/>
                <a:ea typeface="Hiragino Sans"/>
                <a:cs typeface="Hiragino Sans"/>
              </a:rPr>
              <a:t>マルチタグ統合</a:t>
            </a:r>
          </a:p>
        </p:txBody>
      </p:sp>
      <p:sp>
        <p:nvSpPr>
          <p:cNvPr id="25" name="TextBox 24"/>
          <p:cNvSpPr txBox="1"/>
          <p:nvPr/>
        </p:nvSpPr>
        <p:spPr>
          <a:xfrm>
            <a:off x="9098280" y="3108960"/>
            <a:ext cx="2331720" cy="1097280"/>
          </a:xfrm>
          <a:prstGeom prst="rect">
            <a:avLst/>
          </a:prstGeom>
          <a:noFill/>
        </p:spPr>
        <p:txBody>
          <a:bodyPr wrap="square" anchor="t" lIns="0" rIns="0" tIns="0" bIns="0">
            <a:spAutoFit/>
          </a:bodyPr>
          <a:lstStyle/>
          <a:p>
            <a:pPr algn="ctr">
              <a:lnSpc>
                <a:spcPct val="155000"/>
              </a:lnSpc>
            </a:pPr>
            <a:r>
              <a:rPr sz="1100" b="0">
                <a:solidFill>
                  <a:srgbClr val="1A1A1A"/>
                </a:solidFill>
                <a:latin typeface="Hiragino Sans"/>
                <a:ea typeface="Hiragino Sans"/>
                <a:cs typeface="Hiragino Sans"/>
              </a:rPr>
              <a:t>GA4 / GAds / Meta CAPI 等</a:t>
            </a:r>
          </a:p>
          <a:p>
            <a:pPr algn="ctr">
              <a:lnSpc>
                <a:spcPct val="155000"/>
              </a:lnSpc>
            </a:pPr>
            <a:r>
              <a:rPr sz="1100" b="0">
                <a:solidFill>
                  <a:srgbClr val="1A1A1A"/>
                </a:solidFill>
                <a:latin typeface="Hiragino Sans"/>
                <a:ea typeface="Hiragino Sans"/>
                <a:cs typeface="Hiragino Sans"/>
              </a:rPr>
              <a:t>を一元管理</a:t>
            </a:r>
          </a:p>
        </p:txBody>
      </p:sp>
      <p:sp>
        <p:nvSpPr>
          <p:cNvPr id="26" name="Rounded Rectangle 25"/>
          <p:cNvSpPr/>
          <p:nvPr/>
        </p:nvSpPr>
        <p:spPr>
          <a:xfrm>
            <a:off x="548640" y="4526280"/>
            <a:ext cx="11109960" cy="182880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4663440"/>
            <a:ext cx="100584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 副業代行で SGTM を導入する判断基準</a:t>
            </a:r>
          </a:p>
        </p:txBody>
      </p:sp>
      <p:sp>
        <p:nvSpPr>
          <p:cNvPr id="28" name="TextBox 27"/>
          <p:cNvSpPr txBox="1"/>
          <p:nvPr/>
        </p:nvSpPr>
        <p:spPr>
          <a:xfrm>
            <a:off x="777240" y="4983480"/>
            <a:ext cx="10972800" cy="1325880"/>
          </a:xfrm>
          <a:prstGeom prst="rect">
            <a:avLst/>
          </a:prstGeom>
          <a:noFill/>
        </p:spPr>
        <p:txBody>
          <a:bodyPr wrap="square" anchor="t" lIns="0" rIns="0" tIns="0" bIns="0">
            <a:spAutoFit/>
          </a:bodyPr>
          <a:lstStyle/>
          <a:p>
            <a:pPr algn="l">
              <a:lnSpc>
                <a:spcPct val="155000"/>
              </a:lnSpc>
            </a:pPr>
            <a:r>
              <a:rPr sz="1100" b="0">
                <a:solidFill>
                  <a:srgbClr val="1A1A1A"/>
                </a:solidFill>
                <a:latin typeface="Hiragino Sans"/>
                <a:ea typeface="Hiragino Sans"/>
                <a:cs typeface="Hiragino Sans"/>
              </a:rPr>
              <a:t>• 月予算 50万円以上のクライアント = SGTM 導入検討推奨</a:t>
            </a:r>
          </a:p>
          <a:p>
            <a:pPr algn="l">
              <a:lnSpc>
                <a:spcPct val="155000"/>
              </a:lnSpc>
            </a:pPr>
            <a:r>
              <a:rPr sz="1100" b="0">
                <a:solidFill>
                  <a:srgbClr val="1A1A1A"/>
                </a:solidFill>
                <a:latin typeface="Hiragino Sans"/>
                <a:ea typeface="Hiragino Sans"/>
                <a:cs typeface="Hiragino Sans"/>
              </a:rPr>
              <a:t>• Cloudflare Workers なら月100円〜で開始可能、Google Cloud Run でも月1,000円程度</a:t>
            </a:r>
          </a:p>
          <a:p>
            <a:pPr algn="l">
              <a:lnSpc>
                <a:spcPct val="155000"/>
              </a:lnSpc>
            </a:pPr>
            <a:r>
              <a:rPr sz="1100" b="0">
                <a:solidFill>
                  <a:srgbClr val="1A1A1A"/>
                </a:solidFill>
                <a:latin typeface="Hiragino Sans"/>
                <a:ea typeface="Hiragino Sans"/>
                <a:cs typeface="Hiragino Sans"/>
              </a:rPr>
              <a:t>• 計測ロスが大きい (Safari割合高い) サイトでは効果絶大</a:t>
            </a:r>
          </a:p>
          <a:p>
            <a:pPr algn="l">
              <a:lnSpc>
                <a:spcPct val="155000"/>
              </a:lnSpc>
            </a:pPr>
            <a:r>
              <a:rPr sz="1100" b="0">
                <a:solidFill>
                  <a:srgbClr val="1A1A1A"/>
                </a:solidFill>
                <a:latin typeface="Hiragino Sans"/>
                <a:ea typeface="Hiragino Sans"/>
                <a:cs typeface="Hiragino Sans"/>
              </a:rPr>
              <a:t>• 副業代行スイートスポット : 月予算100万以上 + iOS率 50%以上 のEC案件</a:t>
            </a:r>
          </a:p>
        </p:txBody>
      </p:sp>
      <p:sp>
        <p:nvSpPr>
          <p:cNvPr id="29" name="TextBox 28"/>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SGTM 実装パス3つ</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ホスティング先の選択</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P147 / 250</a:t>
            </a:r>
          </a:p>
        </p:txBody>
      </p:sp>
      <p:sp>
        <p:nvSpPr>
          <p:cNvPr id="8" name="Rounded Rectangle 7"/>
          <p:cNvSpPr/>
          <p:nvPr/>
        </p:nvSpPr>
        <p:spPr>
          <a:xfrm>
            <a:off x="548640" y="1417320"/>
            <a:ext cx="3611880" cy="27432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361188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581912"/>
            <a:ext cx="3246120" cy="411480"/>
          </a:xfrm>
          <a:prstGeom prst="rect">
            <a:avLst/>
          </a:prstGeom>
          <a:noFill/>
        </p:spPr>
        <p:txBody>
          <a:bodyPr wrap="square" anchor="t" lIns="0" rIns="0" tIns="0" bIns="0">
            <a:spAutoFit/>
          </a:bodyPr>
          <a:lstStyle/>
          <a:p>
            <a:pPr algn="l">
              <a:lnSpc>
                <a:spcPct val="115000"/>
              </a:lnSpc>
            </a:pPr>
            <a:r>
              <a:rPr sz="1400" b="1">
                <a:solidFill>
                  <a:srgbClr val="FFFFFF"/>
                </a:solidFill>
                <a:latin typeface="Hiragino Sans"/>
                <a:ea typeface="Hiragino Sans"/>
                <a:cs typeface="Hiragino Sans"/>
              </a:rPr>
              <a:t>Google Cloud Run</a:t>
            </a:r>
          </a:p>
        </p:txBody>
      </p:sp>
      <p:sp>
        <p:nvSpPr>
          <p:cNvPr id="11" name="TextBox 10"/>
          <p:cNvSpPr txBox="1"/>
          <p:nvPr/>
        </p:nvSpPr>
        <p:spPr>
          <a:xfrm>
            <a:off x="777240" y="1965960"/>
            <a:ext cx="3246120" cy="27432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公式推奨 / GCP</a:t>
            </a:r>
          </a:p>
        </p:txBody>
      </p:sp>
      <p:sp>
        <p:nvSpPr>
          <p:cNvPr id="12" name="TextBox 11"/>
          <p:cNvSpPr txBox="1"/>
          <p:nvPr/>
        </p:nvSpPr>
        <p:spPr>
          <a:xfrm>
            <a:off x="777240" y="2423160"/>
            <a:ext cx="3246120" cy="169164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Google公式マニュアル完備</a:t>
            </a:r>
          </a:p>
          <a:p>
            <a:pPr algn="l">
              <a:lnSpc>
                <a:spcPct val="160000"/>
              </a:lnSpc>
            </a:pPr>
            <a:r>
              <a:rPr sz="1100" b="0">
                <a:solidFill>
                  <a:srgbClr val="1A1A1A"/>
                </a:solidFill>
                <a:latin typeface="Hiragino Sans"/>
                <a:ea typeface="Hiragino Sans"/>
                <a:cs typeface="Hiragino Sans"/>
              </a:rPr>
              <a:t>1サーバー約US$120/月</a:t>
            </a:r>
          </a:p>
          <a:p>
            <a:pPr algn="l">
              <a:lnSpc>
                <a:spcPct val="160000"/>
              </a:lnSpc>
            </a:pPr>
            <a:r>
              <a:rPr sz="1100" b="0">
                <a:solidFill>
                  <a:srgbClr val="1A1A1A"/>
                </a:solidFill>
                <a:latin typeface="Hiragino Sans"/>
                <a:ea typeface="Hiragino Sans"/>
                <a:cs typeface="Hiragino Sans"/>
              </a:rPr>
              <a:t>2026 Always Free 範囲拡大</a:t>
            </a:r>
          </a:p>
        </p:txBody>
      </p:sp>
      <p:sp>
        <p:nvSpPr>
          <p:cNvPr id="13" name="Rounded Rectangle 12"/>
          <p:cNvSpPr/>
          <p:nvPr/>
        </p:nvSpPr>
        <p:spPr>
          <a:xfrm>
            <a:off x="4297680" y="1417320"/>
            <a:ext cx="3611880" cy="27432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7680" y="1417320"/>
            <a:ext cx="361188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26280" y="1581912"/>
            <a:ext cx="3246120" cy="411480"/>
          </a:xfrm>
          <a:prstGeom prst="rect">
            <a:avLst/>
          </a:prstGeom>
          <a:noFill/>
        </p:spPr>
        <p:txBody>
          <a:bodyPr wrap="square" anchor="t" lIns="0" rIns="0" tIns="0" bIns="0">
            <a:spAutoFit/>
          </a:bodyPr>
          <a:lstStyle/>
          <a:p>
            <a:pPr algn="l">
              <a:lnSpc>
                <a:spcPct val="115000"/>
              </a:lnSpc>
            </a:pPr>
            <a:r>
              <a:rPr sz="1400" b="1">
                <a:solidFill>
                  <a:srgbClr val="FFFFFF"/>
                </a:solidFill>
                <a:latin typeface="Hiragino Sans"/>
                <a:ea typeface="Hiragino Sans"/>
                <a:cs typeface="Hiragino Sans"/>
              </a:rPr>
              <a:t>Cloudflare Workers</a:t>
            </a:r>
          </a:p>
        </p:txBody>
      </p:sp>
      <p:sp>
        <p:nvSpPr>
          <p:cNvPr id="16" name="TextBox 15"/>
          <p:cNvSpPr txBox="1"/>
          <p:nvPr/>
        </p:nvSpPr>
        <p:spPr>
          <a:xfrm>
            <a:off x="4526280" y="1965960"/>
            <a:ext cx="3246120" cy="27432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コスパ最強</a:t>
            </a:r>
          </a:p>
        </p:txBody>
      </p:sp>
      <p:sp>
        <p:nvSpPr>
          <p:cNvPr id="17" name="TextBox 16"/>
          <p:cNvSpPr txBox="1"/>
          <p:nvPr/>
        </p:nvSpPr>
        <p:spPr>
          <a:xfrm>
            <a:off x="4526280" y="2423160"/>
            <a:ext cx="3246120" cy="169164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月100円〜で開始可</a:t>
            </a:r>
          </a:p>
          <a:p>
            <a:pPr algn="l">
              <a:lnSpc>
                <a:spcPct val="160000"/>
              </a:lnSpc>
            </a:pPr>
            <a:r>
              <a:rPr sz="1100" b="0">
                <a:solidFill>
                  <a:srgbClr val="1A1A1A"/>
                </a:solidFill>
                <a:latin typeface="Hiragino Sans"/>
                <a:ea typeface="Hiragino Sans"/>
                <a:cs typeface="Hiragino Sans"/>
              </a:rPr>
              <a:t>エッジ配信で高速</a:t>
            </a:r>
          </a:p>
          <a:p>
            <a:pPr algn="l">
              <a:lnSpc>
                <a:spcPct val="160000"/>
              </a:lnSpc>
            </a:pPr>
            <a:r>
              <a:rPr sz="1100" b="0">
                <a:solidFill>
                  <a:srgbClr val="1A1A1A"/>
                </a:solidFill>
                <a:latin typeface="Hiragino Sans"/>
                <a:ea typeface="Hiragino Sans"/>
                <a:cs typeface="Hiragino Sans"/>
              </a:rPr>
              <a:t>GTM公式テンプレートあり</a:t>
            </a:r>
          </a:p>
        </p:txBody>
      </p:sp>
      <p:sp>
        <p:nvSpPr>
          <p:cNvPr id="18" name="Rounded Rectangle 17"/>
          <p:cNvSpPr/>
          <p:nvPr/>
        </p:nvSpPr>
        <p:spPr>
          <a:xfrm>
            <a:off x="8046720" y="1417320"/>
            <a:ext cx="3611880" cy="27432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6720" y="1417320"/>
            <a:ext cx="3611880" cy="777240"/>
          </a:xfrm>
          <a:prstGeom prst="rect">
            <a:avLst/>
          </a:prstGeom>
          <a:solidFill>
            <a:srgbClr val="2B44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1581912"/>
            <a:ext cx="3246120" cy="411480"/>
          </a:xfrm>
          <a:prstGeom prst="rect">
            <a:avLst/>
          </a:prstGeom>
          <a:noFill/>
        </p:spPr>
        <p:txBody>
          <a:bodyPr wrap="square" anchor="t" lIns="0" rIns="0" tIns="0" bIns="0">
            <a:spAutoFit/>
          </a:bodyPr>
          <a:lstStyle/>
          <a:p>
            <a:pPr algn="l">
              <a:lnSpc>
                <a:spcPct val="115000"/>
              </a:lnSpc>
            </a:pPr>
            <a:r>
              <a:rPr sz="1400" b="1">
                <a:solidFill>
                  <a:srgbClr val="FFFFFF"/>
                </a:solidFill>
                <a:latin typeface="Hiragino Sans"/>
                <a:ea typeface="Hiragino Sans"/>
                <a:cs typeface="Hiragino Sans"/>
              </a:rPr>
              <a:t>Stape.io / DataLayer.io</a:t>
            </a:r>
          </a:p>
        </p:txBody>
      </p:sp>
      <p:sp>
        <p:nvSpPr>
          <p:cNvPr id="21" name="TextBox 20"/>
          <p:cNvSpPr txBox="1"/>
          <p:nvPr/>
        </p:nvSpPr>
        <p:spPr>
          <a:xfrm>
            <a:off x="8275320" y="1965960"/>
            <a:ext cx="3246120" cy="27432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マネージドサービス</a:t>
            </a:r>
          </a:p>
        </p:txBody>
      </p:sp>
      <p:sp>
        <p:nvSpPr>
          <p:cNvPr id="22" name="TextBox 21"/>
          <p:cNvSpPr txBox="1"/>
          <p:nvPr/>
        </p:nvSpPr>
        <p:spPr>
          <a:xfrm>
            <a:off x="8275320" y="2423160"/>
            <a:ext cx="3246120" cy="169164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セットアップ済 SGTM</a:t>
            </a:r>
          </a:p>
          <a:p>
            <a:pPr algn="l">
              <a:lnSpc>
                <a:spcPct val="160000"/>
              </a:lnSpc>
            </a:pPr>
            <a:r>
              <a:rPr sz="1100" b="0">
                <a:solidFill>
                  <a:srgbClr val="1A1A1A"/>
                </a:solidFill>
                <a:latin typeface="Hiragino Sans"/>
                <a:ea typeface="Hiragino Sans"/>
                <a:cs typeface="Hiragino Sans"/>
              </a:rPr>
              <a:t>月US$20-200程度</a:t>
            </a:r>
          </a:p>
          <a:p>
            <a:pPr algn="l">
              <a:lnSpc>
                <a:spcPct val="160000"/>
              </a:lnSpc>
            </a:pPr>
            <a:r>
              <a:rPr sz="1100" b="0">
                <a:solidFill>
                  <a:srgbClr val="1A1A1A"/>
                </a:solidFill>
                <a:latin typeface="Hiragino Sans"/>
                <a:ea typeface="Hiragino Sans"/>
                <a:cs typeface="Hiragino Sans"/>
              </a:rPr>
              <a:t>副業代行で利用増</a:t>
            </a:r>
          </a:p>
        </p:txBody>
      </p:sp>
      <p:sp>
        <p:nvSpPr>
          <p:cNvPr id="23" name="Rounded Rectangle 22"/>
          <p:cNvSpPr/>
          <p:nvPr/>
        </p:nvSpPr>
        <p:spPr>
          <a:xfrm>
            <a:off x="548640" y="4297680"/>
            <a:ext cx="11109960" cy="205740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4434840"/>
            <a:ext cx="10058400" cy="320040"/>
          </a:xfrm>
          <a:prstGeom prst="rect">
            <a:avLst/>
          </a:prstGeom>
          <a:noFill/>
        </p:spPr>
        <p:txBody>
          <a:bodyPr wrap="square" anchor="t" lIns="0" rIns="0" tIns="0" bIns="0">
            <a:spAutoFit/>
          </a:bodyPr>
          <a:lstStyle/>
          <a:p>
            <a:pPr algn="l">
              <a:lnSpc>
                <a:spcPct val="115000"/>
              </a:lnSpc>
            </a:pPr>
            <a:r>
              <a:rPr sz="1200" b="1">
                <a:solidFill>
                  <a:srgbClr val="E87722"/>
                </a:solidFill>
                <a:latin typeface="Hiragino Sans"/>
                <a:ea typeface="Hiragino Sans"/>
                <a:cs typeface="Hiragino Sans"/>
              </a:rPr>
              <a:t>💡 副業代行のおすすめ</a:t>
            </a:r>
          </a:p>
        </p:txBody>
      </p:sp>
      <p:sp>
        <p:nvSpPr>
          <p:cNvPr id="25" name="TextBox 24"/>
          <p:cNvSpPr txBox="1"/>
          <p:nvPr/>
        </p:nvSpPr>
        <p:spPr>
          <a:xfrm>
            <a:off x="777240" y="4754880"/>
            <a:ext cx="10972800" cy="1554480"/>
          </a:xfrm>
          <a:prstGeom prst="rect">
            <a:avLst/>
          </a:prstGeom>
          <a:noFill/>
        </p:spPr>
        <p:txBody>
          <a:bodyPr wrap="square" anchor="t" lIns="0" rIns="0" tIns="0" bIns="0">
            <a:spAutoFit/>
          </a:bodyPr>
          <a:lstStyle/>
          <a:p>
            <a:pPr algn="l">
              <a:lnSpc>
                <a:spcPct val="155000"/>
              </a:lnSpc>
            </a:pPr>
            <a:r>
              <a:rPr sz="1100" b="0">
                <a:solidFill>
                  <a:srgbClr val="FFFFFF"/>
                </a:solidFill>
                <a:latin typeface="Hiragino Sans"/>
                <a:ea typeface="Hiragino Sans"/>
                <a:cs typeface="Hiragino Sans"/>
              </a:rPr>
              <a:t>• 月予算 50万 - 200万 のクライアント = Cloudflare Workers (コスパ最強・SSL/TLS含む)</a:t>
            </a:r>
          </a:p>
          <a:p>
            <a:pPr algn="l">
              <a:lnSpc>
                <a:spcPct val="155000"/>
              </a:lnSpc>
            </a:pPr>
            <a:r>
              <a:rPr sz="1100" b="0">
                <a:solidFill>
                  <a:srgbClr val="FFFFFF"/>
                </a:solidFill>
                <a:latin typeface="Hiragino Sans"/>
                <a:ea typeface="Hiragino Sans"/>
                <a:cs typeface="Hiragino Sans"/>
              </a:rPr>
              <a:t>• 月予算 200万円以上 + GCP既に利用 = Google Cloud Run (公式マニュアル充実)</a:t>
            </a:r>
          </a:p>
          <a:p>
            <a:pPr algn="l">
              <a:lnSpc>
                <a:spcPct val="155000"/>
              </a:lnSpc>
            </a:pPr>
            <a:r>
              <a:rPr sz="1100" b="0">
                <a:solidFill>
                  <a:srgbClr val="FFFFFF"/>
                </a:solidFill>
                <a:latin typeface="Hiragino Sans"/>
                <a:ea typeface="Hiragino Sans"/>
                <a:cs typeface="Hiragino Sans"/>
              </a:rPr>
              <a:t>• 副業代行で工数削減したい = Stape.io 等のマネージドサービス</a:t>
            </a:r>
          </a:p>
          <a:p>
            <a:pPr algn="l">
              <a:lnSpc>
                <a:spcPct val="155000"/>
              </a:lnSpc>
            </a:pPr>
            <a:r>
              <a:rPr sz="1100" b="0">
                <a:solidFill>
                  <a:srgbClr val="FFFFFF"/>
                </a:solidFill>
                <a:latin typeface="Hiragino Sans"/>
                <a:ea typeface="Hiragino Sans"/>
                <a:cs typeface="Hiragino Sans"/>
              </a:rPr>
              <a:t>• 学習目的 = Cloudflare無料枠 (1日 100,000リクエスト) で実験</a:t>
            </a:r>
          </a:p>
        </p:txBody>
      </p:sp>
      <p:sp>
        <p:nvSpPr>
          <p:cNvPr id="26" name="TextBox 25"/>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CAPI (Conversion API) 全媒体標準化</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サーバーサイド計測の業界デファクト</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P148 / 250</a:t>
            </a:r>
          </a:p>
        </p:txBody>
      </p:sp>
      <p:sp>
        <p:nvSpPr>
          <p:cNvPr id="8" name="Rounded Rectangle 7"/>
          <p:cNvSpPr/>
          <p:nvPr/>
        </p:nvSpPr>
        <p:spPr>
          <a:xfrm>
            <a:off x="548640" y="1371600"/>
            <a:ext cx="11109960" cy="91440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08760"/>
            <a:ext cx="10972800" cy="731520"/>
          </a:xfrm>
          <a:prstGeom prst="rect">
            <a:avLst/>
          </a:prstGeom>
          <a:noFill/>
        </p:spPr>
        <p:txBody>
          <a:bodyPr wrap="square" anchor="t" lIns="0" rIns="0" tIns="0" bIns="0">
            <a:spAutoFit/>
          </a:bodyPr>
          <a:lstStyle/>
          <a:p>
            <a:pPr algn="l">
              <a:lnSpc>
                <a:spcPct val="150000"/>
              </a:lnSpc>
            </a:pPr>
            <a:r>
              <a:rPr sz="1200" b="0">
                <a:solidFill>
                  <a:srgbClr val="FFFFFF"/>
                </a:solidFill>
                <a:latin typeface="Hiragino Sans"/>
                <a:ea typeface="Hiragino Sans"/>
                <a:cs typeface="Hiragino Sans"/>
              </a:rPr>
              <a:t>iOS/ATT・ITP・Cookie制限で Pixel単独 -30〜50% の計測ロス。</a:t>
            </a:r>
          </a:p>
          <a:p>
            <a:pPr algn="l">
              <a:lnSpc>
                <a:spcPct val="150000"/>
              </a:lnSpc>
            </a:pPr>
            <a:r>
              <a:rPr sz="1200" b="0">
                <a:solidFill>
                  <a:srgbClr val="FFFFFF"/>
                </a:solidFill>
                <a:latin typeface="Hiragino Sans"/>
                <a:ea typeface="Hiragino Sans"/>
                <a:cs typeface="Hiragino Sans"/>
              </a:rPr>
              <a:t>CAPI 実装で Event Match Quality (EMQ) 向上 → 配信精度・CV復元が劇的改善</a:t>
            </a:r>
          </a:p>
        </p:txBody>
      </p:sp>
      <p:sp>
        <p:nvSpPr>
          <p:cNvPr id="10" name="TextBox 9"/>
          <p:cNvSpPr txBox="1"/>
          <p:nvPr/>
        </p:nvSpPr>
        <p:spPr>
          <a:xfrm>
            <a:off x="548640" y="2423160"/>
            <a:ext cx="1097280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CAPI 対応媒体 (2026年現在)</a:t>
            </a:r>
          </a:p>
        </p:txBody>
      </p:sp>
      <p:sp>
        <p:nvSpPr>
          <p:cNvPr id="11" name="Rounded Rectangle 10"/>
          <p:cNvSpPr/>
          <p:nvPr/>
        </p:nvSpPr>
        <p:spPr>
          <a:xfrm>
            <a:off x="548640" y="2834640"/>
            <a:ext cx="2697480" cy="9601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834640"/>
            <a:ext cx="91440" cy="9601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953512"/>
            <a:ext cx="2331720" cy="27432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Meta</a:t>
            </a:r>
          </a:p>
        </p:txBody>
      </p:sp>
      <p:sp>
        <p:nvSpPr>
          <p:cNvPr id="14" name="TextBox 13"/>
          <p:cNvSpPr txBox="1"/>
          <p:nvPr/>
        </p:nvSpPr>
        <p:spPr>
          <a:xfrm>
            <a:off x="777240" y="3246120"/>
            <a:ext cx="2331720" cy="50292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Conversion API</a:t>
            </a:r>
          </a:p>
          <a:p>
            <a:pPr algn="l">
              <a:lnSpc>
                <a:spcPct val="140000"/>
              </a:lnSpc>
            </a:pPr>
            <a:r>
              <a:rPr sz="1000" b="0">
                <a:solidFill>
                  <a:srgbClr val="1A1A1A"/>
                </a:solidFill>
                <a:latin typeface="Hiragino Sans"/>
                <a:ea typeface="Hiragino Sans"/>
                <a:cs typeface="Hiragino Sans"/>
              </a:rPr>
              <a:t>+ CAPI Gateway</a:t>
            </a:r>
          </a:p>
        </p:txBody>
      </p:sp>
      <p:sp>
        <p:nvSpPr>
          <p:cNvPr id="15" name="Rounded Rectangle 14"/>
          <p:cNvSpPr/>
          <p:nvPr/>
        </p:nvSpPr>
        <p:spPr>
          <a:xfrm>
            <a:off x="3337560" y="2834640"/>
            <a:ext cx="2697480" cy="9601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37560" y="2834640"/>
            <a:ext cx="91440" cy="9601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66160" y="2953512"/>
            <a:ext cx="2331720" cy="27432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TikTok</a:t>
            </a:r>
          </a:p>
        </p:txBody>
      </p:sp>
      <p:sp>
        <p:nvSpPr>
          <p:cNvPr id="18" name="TextBox 17"/>
          <p:cNvSpPr txBox="1"/>
          <p:nvPr/>
        </p:nvSpPr>
        <p:spPr>
          <a:xfrm>
            <a:off x="3566160" y="3246120"/>
            <a:ext cx="2331720" cy="50292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Events API</a:t>
            </a:r>
          </a:p>
          <a:p>
            <a:pPr algn="l">
              <a:lnSpc>
                <a:spcPct val="140000"/>
              </a:lnSpc>
            </a:pPr>
            <a:r>
              <a:rPr sz="1000" b="0">
                <a:solidFill>
                  <a:srgbClr val="1A1A1A"/>
                </a:solidFill>
                <a:latin typeface="Hiragino Sans"/>
                <a:ea typeface="Hiragino Sans"/>
                <a:cs typeface="Hiragino Sans"/>
              </a:rPr>
              <a:t>+ Server-side</a:t>
            </a:r>
          </a:p>
        </p:txBody>
      </p:sp>
      <p:sp>
        <p:nvSpPr>
          <p:cNvPr id="19" name="Rounded Rectangle 18"/>
          <p:cNvSpPr/>
          <p:nvPr/>
        </p:nvSpPr>
        <p:spPr>
          <a:xfrm>
            <a:off x="6126480" y="2834640"/>
            <a:ext cx="2697480" cy="9601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26480" y="2834640"/>
            <a:ext cx="91440" cy="96012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55080" y="2953512"/>
            <a:ext cx="2331720" cy="27432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Google</a:t>
            </a:r>
          </a:p>
        </p:txBody>
      </p:sp>
      <p:sp>
        <p:nvSpPr>
          <p:cNvPr id="22" name="TextBox 21"/>
          <p:cNvSpPr txBox="1"/>
          <p:nvPr/>
        </p:nvSpPr>
        <p:spPr>
          <a:xfrm>
            <a:off x="6355080" y="3246120"/>
            <a:ext cx="2331720" cy="50292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Enhanced Conv</a:t>
            </a:r>
          </a:p>
          <a:p>
            <a:pPr algn="l">
              <a:lnSpc>
                <a:spcPct val="140000"/>
              </a:lnSpc>
            </a:pPr>
            <a:r>
              <a:rPr sz="1000" b="0">
                <a:solidFill>
                  <a:srgbClr val="1A1A1A"/>
                </a:solidFill>
                <a:latin typeface="Hiragino Sans"/>
                <a:ea typeface="Hiragino Sans"/>
                <a:cs typeface="Hiragino Sans"/>
              </a:rPr>
              <a:t>+ EC for Leads</a:t>
            </a:r>
          </a:p>
        </p:txBody>
      </p:sp>
      <p:sp>
        <p:nvSpPr>
          <p:cNvPr id="23" name="Rounded Rectangle 22"/>
          <p:cNvSpPr/>
          <p:nvPr/>
        </p:nvSpPr>
        <p:spPr>
          <a:xfrm>
            <a:off x="8915400" y="2834640"/>
            <a:ext cx="2697480" cy="9601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15400" y="2834640"/>
            <a:ext cx="91440" cy="9601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0" y="2953512"/>
            <a:ext cx="2331720" cy="27432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LINE</a:t>
            </a:r>
          </a:p>
        </p:txBody>
      </p:sp>
      <p:sp>
        <p:nvSpPr>
          <p:cNvPr id="26" name="TextBox 25"/>
          <p:cNvSpPr txBox="1"/>
          <p:nvPr/>
        </p:nvSpPr>
        <p:spPr>
          <a:xfrm>
            <a:off x="9144000" y="3246120"/>
            <a:ext cx="2331720" cy="50292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Conversion API</a:t>
            </a:r>
          </a:p>
          <a:p>
            <a:pPr algn="l">
              <a:lnSpc>
                <a:spcPct val="140000"/>
              </a:lnSpc>
            </a:pPr>
            <a:r>
              <a:rPr sz="1000" b="0">
                <a:solidFill>
                  <a:srgbClr val="1A1A1A"/>
                </a:solidFill>
                <a:latin typeface="Hiragino Sans"/>
                <a:ea typeface="Hiragino Sans"/>
                <a:cs typeface="Hiragino Sans"/>
              </a:rPr>
              <a:t>2024〜</a:t>
            </a:r>
          </a:p>
        </p:txBody>
      </p:sp>
      <p:sp>
        <p:nvSpPr>
          <p:cNvPr id="27" name="Rounded Rectangle 26"/>
          <p:cNvSpPr/>
          <p:nvPr/>
        </p:nvSpPr>
        <p:spPr>
          <a:xfrm>
            <a:off x="548640" y="3886200"/>
            <a:ext cx="2697480" cy="9601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0" y="3886200"/>
            <a:ext cx="91440" cy="96012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4005072"/>
            <a:ext cx="2331720" cy="27432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X (Twitter)</a:t>
            </a:r>
          </a:p>
        </p:txBody>
      </p:sp>
      <p:sp>
        <p:nvSpPr>
          <p:cNvPr id="30" name="TextBox 29"/>
          <p:cNvSpPr txBox="1"/>
          <p:nvPr/>
        </p:nvSpPr>
        <p:spPr>
          <a:xfrm>
            <a:off x="777240" y="4297680"/>
            <a:ext cx="2331720" cy="50292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Conversion API</a:t>
            </a:r>
          </a:p>
          <a:p>
            <a:pPr algn="l">
              <a:lnSpc>
                <a:spcPct val="140000"/>
              </a:lnSpc>
            </a:pPr>
            <a:r>
              <a:rPr sz="1000" b="0">
                <a:solidFill>
                  <a:srgbClr val="1A1A1A"/>
                </a:solidFill>
                <a:latin typeface="Hiragino Sans"/>
                <a:ea typeface="Hiragino Sans"/>
                <a:cs typeface="Hiragino Sans"/>
              </a:rPr>
              <a:t>Web + App</a:t>
            </a:r>
          </a:p>
        </p:txBody>
      </p:sp>
      <p:sp>
        <p:nvSpPr>
          <p:cNvPr id="31" name="Rounded Rectangle 30"/>
          <p:cNvSpPr/>
          <p:nvPr/>
        </p:nvSpPr>
        <p:spPr>
          <a:xfrm>
            <a:off x="3337560" y="3886200"/>
            <a:ext cx="2697480" cy="9601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337560" y="3886200"/>
            <a:ext cx="91440" cy="96012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566160" y="4005072"/>
            <a:ext cx="2331720" cy="27432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Pinterest</a:t>
            </a:r>
          </a:p>
        </p:txBody>
      </p:sp>
      <p:sp>
        <p:nvSpPr>
          <p:cNvPr id="34" name="TextBox 33"/>
          <p:cNvSpPr txBox="1"/>
          <p:nvPr/>
        </p:nvSpPr>
        <p:spPr>
          <a:xfrm>
            <a:off x="3566160" y="4297680"/>
            <a:ext cx="2331720" cy="50292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Conversions API</a:t>
            </a:r>
          </a:p>
          <a:p>
            <a:pPr algn="l">
              <a:lnSpc>
                <a:spcPct val="140000"/>
              </a:lnSpc>
            </a:pPr>
            <a:r>
              <a:rPr sz="1000" b="0">
                <a:solidFill>
                  <a:srgbClr val="1A1A1A"/>
                </a:solidFill>
                <a:latin typeface="Hiragino Sans"/>
                <a:ea typeface="Hiragino Sans"/>
                <a:cs typeface="Hiragino Sans"/>
              </a:rPr>
              <a:t>+ Pixel</a:t>
            </a:r>
          </a:p>
        </p:txBody>
      </p:sp>
      <p:sp>
        <p:nvSpPr>
          <p:cNvPr id="35" name="Rounded Rectangle 34"/>
          <p:cNvSpPr/>
          <p:nvPr/>
        </p:nvSpPr>
        <p:spPr>
          <a:xfrm>
            <a:off x="6126480" y="3886200"/>
            <a:ext cx="2697480" cy="9601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126480" y="3886200"/>
            <a:ext cx="91440" cy="96012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55080" y="4005072"/>
            <a:ext cx="2331720" cy="27432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Snap</a:t>
            </a:r>
          </a:p>
        </p:txBody>
      </p:sp>
      <p:sp>
        <p:nvSpPr>
          <p:cNvPr id="38" name="TextBox 37"/>
          <p:cNvSpPr txBox="1"/>
          <p:nvPr/>
        </p:nvSpPr>
        <p:spPr>
          <a:xfrm>
            <a:off x="6355080" y="4297680"/>
            <a:ext cx="2331720" cy="50292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CAPI</a:t>
            </a:r>
          </a:p>
          <a:p>
            <a:pPr algn="l">
              <a:lnSpc>
                <a:spcPct val="140000"/>
              </a:lnSpc>
            </a:pPr>
            <a:r>
              <a:rPr sz="1000" b="0">
                <a:solidFill>
                  <a:srgbClr val="1A1A1A"/>
                </a:solidFill>
                <a:latin typeface="Hiragino Sans"/>
                <a:ea typeface="Hiragino Sans"/>
                <a:cs typeface="Hiragino Sans"/>
              </a:rPr>
              <a:t>+ Pixel</a:t>
            </a:r>
          </a:p>
        </p:txBody>
      </p:sp>
      <p:sp>
        <p:nvSpPr>
          <p:cNvPr id="39" name="Rounded Rectangle 38"/>
          <p:cNvSpPr/>
          <p:nvPr/>
        </p:nvSpPr>
        <p:spPr>
          <a:xfrm>
            <a:off x="8915400" y="3886200"/>
            <a:ext cx="2697480" cy="9601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915400" y="3886200"/>
            <a:ext cx="91440" cy="96012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0" y="4005072"/>
            <a:ext cx="2331720" cy="27432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LinkedIn</a:t>
            </a:r>
          </a:p>
        </p:txBody>
      </p:sp>
      <p:sp>
        <p:nvSpPr>
          <p:cNvPr id="42" name="TextBox 41"/>
          <p:cNvSpPr txBox="1"/>
          <p:nvPr/>
        </p:nvSpPr>
        <p:spPr>
          <a:xfrm>
            <a:off x="9144000" y="4297680"/>
            <a:ext cx="2331720" cy="50292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Conversions API</a:t>
            </a:r>
          </a:p>
          <a:p>
            <a:pPr algn="l">
              <a:lnSpc>
                <a:spcPct val="140000"/>
              </a:lnSpc>
            </a:pPr>
            <a:r>
              <a:rPr sz="1000" b="0">
                <a:solidFill>
                  <a:srgbClr val="1A1A1A"/>
                </a:solidFill>
                <a:latin typeface="Hiragino Sans"/>
                <a:ea typeface="Hiragino Sans"/>
                <a:cs typeface="Hiragino Sans"/>
              </a:rPr>
              <a:t>2024〜</a:t>
            </a:r>
          </a:p>
        </p:txBody>
      </p:sp>
      <p:sp>
        <p:nvSpPr>
          <p:cNvPr id="43" name="TextBox 42"/>
          <p:cNvSpPr txBox="1"/>
          <p:nvPr/>
        </p:nvSpPr>
        <p:spPr>
          <a:xfrm>
            <a:off x="548640" y="5120640"/>
            <a:ext cx="10972800" cy="123444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 SGTM経由で全媒体の CAPI を一元実装 = 工数最大削減 + 重複排除も簡潔</a:t>
            </a:r>
          </a:p>
        </p:txBody>
      </p:sp>
      <p:sp>
        <p:nvSpPr>
          <p:cNvPr id="44" name="TextBox 43"/>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Enhanced Conversions (Google) + AEM (Meta)</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ハッシュ化1PDで計測補強する2大手法</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P149 / 250</a:t>
            </a:r>
          </a:p>
        </p:txBody>
      </p:sp>
      <p:sp>
        <p:nvSpPr>
          <p:cNvPr id="8" name="Rounded Rectangle 7"/>
          <p:cNvSpPr/>
          <p:nvPr/>
        </p:nvSpPr>
        <p:spPr>
          <a:xfrm>
            <a:off x="548640" y="1417320"/>
            <a:ext cx="5486400" cy="32004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548640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581912"/>
            <a:ext cx="4937760" cy="411480"/>
          </a:xfrm>
          <a:prstGeom prst="rect">
            <a:avLst/>
          </a:prstGeom>
          <a:noFill/>
        </p:spPr>
        <p:txBody>
          <a:bodyPr wrap="square" anchor="t" lIns="0" rIns="0" tIns="0" bIns="0">
            <a:spAutoFit/>
          </a:bodyPr>
          <a:lstStyle/>
          <a:p>
            <a:pPr algn="l">
              <a:lnSpc>
                <a:spcPct val="120000"/>
              </a:lnSpc>
            </a:pPr>
            <a:r>
              <a:rPr sz="1500" b="1">
                <a:solidFill>
                  <a:srgbClr val="FFFFFF"/>
                </a:solidFill>
                <a:latin typeface="Hiragino Sans"/>
                <a:ea typeface="Hiragino Sans"/>
                <a:cs typeface="Hiragino Sans"/>
              </a:rPr>
              <a:t>Google Enhanced Conversions</a:t>
            </a:r>
          </a:p>
        </p:txBody>
      </p:sp>
      <p:sp>
        <p:nvSpPr>
          <p:cNvPr id="11" name="TextBox 10"/>
          <p:cNvSpPr txBox="1"/>
          <p:nvPr/>
        </p:nvSpPr>
        <p:spPr>
          <a:xfrm>
            <a:off x="822960" y="1965960"/>
            <a:ext cx="4937760" cy="27432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Web / Leads</a:t>
            </a:r>
          </a:p>
        </p:txBody>
      </p:sp>
      <p:sp>
        <p:nvSpPr>
          <p:cNvPr id="12" name="TextBox 11"/>
          <p:cNvSpPr txBox="1"/>
          <p:nvPr/>
        </p:nvSpPr>
        <p:spPr>
          <a:xfrm>
            <a:off x="822960" y="2423160"/>
            <a:ext cx="4937760" cy="210312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CV発生時のEmail/電話を</a:t>
            </a:r>
          </a:p>
          <a:p>
            <a:pPr algn="l">
              <a:lnSpc>
                <a:spcPct val="160000"/>
              </a:lnSpc>
            </a:pPr>
            <a:r>
              <a:rPr sz="1100" b="0">
                <a:solidFill>
                  <a:srgbClr val="1A1A1A"/>
                </a:solidFill>
                <a:latin typeface="Hiragino Sans"/>
                <a:ea typeface="Hiragino Sans"/>
                <a:cs typeface="Hiragino Sans"/>
              </a:rPr>
              <a:t>ハッシュ化してGoogleへ送信。</a:t>
            </a:r>
          </a:p>
          <a:p>
            <a:pPr algn="l">
              <a:lnSpc>
                <a:spcPct val="160000"/>
              </a:lnSpc>
            </a:pPr>
            <a:r>
              <a:rPr sz="1100" b="0">
                <a:solidFill>
                  <a:srgbClr val="1A1A1A"/>
                </a:solidFill>
                <a:latin typeface="Hiragino Sans"/>
                <a:ea typeface="Hiragino Sans"/>
                <a:cs typeface="Hiragino Sans"/>
              </a:rPr>
              <a:t>Cookie計測ロスを補完。</a:t>
            </a:r>
          </a:p>
          <a:p>
            <a:pPr algn="l">
              <a:lnSpc>
                <a:spcPct val="160000"/>
              </a:lnSpc>
            </a:pPr>
            <a:r>
              <a:rPr sz="1100" b="0">
                <a:solidFill>
                  <a:srgbClr val="1A1A1A"/>
                </a:solidFill>
                <a:latin typeface="Hiragino Sans"/>
                <a:ea typeface="Hiragino Sans"/>
                <a:cs typeface="Hiragino Sans"/>
              </a:rPr>
              <a:t>+5〜15% の CV復元事例多数</a:t>
            </a:r>
          </a:p>
        </p:txBody>
      </p:sp>
      <p:sp>
        <p:nvSpPr>
          <p:cNvPr id="13" name="Rounded Rectangle 12"/>
          <p:cNvSpPr/>
          <p:nvPr/>
        </p:nvSpPr>
        <p:spPr>
          <a:xfrm>
            <a:off x="6172200" y="1417320"/>
            <a:ext cx="5486400" cy="32004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1417320"/>
            <a:ext cx="548640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1581912"/>
            <a:ext cx="4937760" cy="411480"/>
          </a:xfrm>
          <a:prstGeom prst="rect">
            <a:avLst/>
          </a:prstGeom>
          <a:noFill/>
        </p:spPr>
        <p:txBody>
          <a:bodyPr wrap="square" anchor="t" lIns="0" rIns="0" tIns="0" bIns="0">
            <a:spAutoFit/>
          </a:bodyPr>
          <a:lstStyle/>
          <a:p>
            <a:pPr algn="l">
              <a:lnSpc>
                <a:spcPct val="120000"/>
              </a:lnSpc>
            </a:pPr>
            <a:r>
              <a:rPr sz="1500" b="1">
                <a:solidFill>
                  <a:srgbClr val="FFFFFF"/>
                </a:solidFill>
                <a:latin typeface="Hiragino Sans"/>
                <a:ea typeface="Hiragino Sans"/>
                <a:cs typeface="Hiragino Sans"/>
              </a:rPr>
              <a:t>Meta AEM</a:t>
            </a:r>
          </a:p>
        </p:txBody>
      </p:sp>
      <p:sp>
        <p:nvSpPr>
          <p:cNvPr id="16" name="TextBox 15"/>
          <p:cNvSpPr txBox="1"/>
          <p:nvPr/>
        </p:nvSpPr>
        <p:spPr>
          <a:xfrm>
            <a:off x="6446520" y="1965960"/>
            <a:ext cx="4937760" cy="27432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Aggregated Event Measurement</a:t>
            </a:r>
          </a:p>
        </p:txBody>
      </p:sp>
      <p:sp>
        <p:nvSpPr>
          <p:cNvPr id="17" name="TextBox 16"/>
          <p:cNvSpPr txBox="1"/>
          <p:nvPr/>
        </p:nvSpPr>
        <p:spPr>
          <a:xfrm>
            <a:off x="6446520" y="2423160"/>
            <a:ext cx="4937760" cy="210312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iOS 14.5以降のATTオプトアウトユーザー向け。</a:t>
            </a:r>
          </a:p>
          <a:p>
            <a:pPr algn="l">
              <a:lnSpc>
                <a:spcPct val="160000"/>
              </a:lnSpc>
            </a:pPr>
            <a:r>
              <a:rPr sz="1100" b="0">
                <a:solidFill>
                  <a:srgbClr val="1A1A1A"/>
                </a:solidFill>
                <a:latin typeface="Hiragino Sans"/>
                <a:ea typeface="Hiragino Sans"/>
                <a:cs typeface="Hiragino Sans"/>
              </a:rPr>
              <a:t>8つの優先イベントを設定し、</a:t>
            </a:r>
          </a:p>
          <a:p>
            <a:pPr algn="l">
              <a:lnSpc>
                <a:spcPct val="160000"/>
              </a:lnSpc>
            </a:pPr>
            <a:r>
              <a:rPr sz="1100" b="0">
                <a:solidFill>
                  <a:srgbClr val="1A1A1A"/>
                </a:solidFill>
                <a:latin typeface="Hiragino Sans"/>
                <a:ea typeface="Hiragino Sans"/>
                <a:cs typeface="Hiragino Sans"/>
              </a:rPr>
              <a:t>上位優先度CVを差分プライバシーで集約。</a:t>
            </a:r>
          </a:p>
          <a:p>
            <a:pPr algn="l">
              <a:lnSpc>
                <a:spcPct val="160000"/>
              </a:lnSpc>
            </a:pPr>
            <a:r>
              <a:rPr sz="1100" b="0">
                <a:solidFill>
                  <a:srgbClr val="1A1A1A"/>
                </a:solidFill>
                <a:latin typeface="Hiragino Sans"/>
                <a:ea typeface="Hiragino Sans"/>
                <a:cs typeface="Hiragino Sans"/>
              </a:rPr>
              <a:t>EC: Purchase最優先が定石</a:t>
            </a:r>
          </a:p>
        </p:txBody>
      </p:sp>
      <p:sp>
        <p:nvSpPr>
          <p:cNvPr id="18" name="Rounded Rectangle 17"/>
          <p:cNvSpPr/>
          <p:nvPr/>
        </p:nvSpPr>
        <p:spPr>
          <a:xfrm>
            <a:off x="548640" y="4800600"/>
            <a:ext cx="11109960" cy="155448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937760"/>
            <a:ext cx="100584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 副業代行 : 必須 + デフォルト実装</a:t>
            </a:r>
          </a:p>
        </p:txBody>
      </p:sp>
      <p:sp>
        <p:nvSpPr>
          <p:cNvPr id="20" name="TextBox 19"/>
          <p:cNvSpPr txBox="1"/>
          <p:nvPr/>
        </p:nvSpPr>
        <p:spPr>
          <a:xfrm>
            <a:off x="777240" y="5257800"/>
            <a:ext cx="10972800" cy="1051560"/>
          </a:xfrm>
          <a:prstGeom prst="rect">
            <a:avLst/>
          </a:prstGeom>
          <a:noFill/>
        </p:spPr>
        <p:txBody>
          <a:bodyPr wrap="square" anchor="t" lIns="0" rIns="0" tIns="0" bIns="0">
            <a:spAutoFit/>
          </a:bodyPr>
          <a:lstStyle/>
          <a:p>
            <a:pPr algn="l">
              <a:lnSpc>
                <a:spcPct val="155000"/>
              </a:lnSpc>
            </a:pPr>
            <a:r>
              <a:rPr sz="1100" b="0">
                <a:solidFill>
                  <a:srgbClr val="1A1A1A"/>
                </a:solidFill>
                <a:latin typeface="Hiragino Sans"/>
                <a:ea typeface="Hiragino Sans"/>
                <a:cs typeface="Hiragino Sans"/>
              </a:rPr>
              <a:t>• Enhanced Conversions = Google Ads配信があれば必須実装 (ON にするだけで効果)</a:t>
            </a:r>
          </a:p>
          <a:p>
            <a:pPr algn="l">
              <a:lnSpc>
                <a:spcPct val="155000"/>
              </a:lnSpc>
            </a:pPr>
            <a:r>
              <a:rPr sz="1100" b="0">
                <a:solidFill>
                  <a:srgbClr val="1A1A1A"/>
                </a:solidFill>
                <a:latin typeface="Hiragino Sans"/>
                <a:ea typeface="Hiragino Sans"/>
                <a:cs typeface="Hiragino Sans"/>
              </a:rPr>
              <a:t>• AEM = Meta配信 + iOS集客比率高い案件で 8イベント優先順位を業種別に設計</a:t>
            </a:r>
          </a:p>
          <a:p>
            <a:pPr algn="l">
              <a:lnSpc>
                <a:spcPct val="155000"/>
              </a:lnSpc>
            </a:pPr>
            <a:r>
              <a:rPr sz="1100" b="0">
                <a:solidFill>
                  <a:srgbClr val="1A1A1A"/>
                </a:solidFill>
                <a:latin typeface="Hiragino Sans"/>
                <a:ea typeface="Hiragino Sans"/>
                <a:cs typeface="Hiragino Sans"/>
              </a:rPr>
              <a:t>• ハッシュ化処理 = SGTM経由で実装、PII処理を一元化</a:t>
            </a:r>
          </a:p>
        </p:txBody>
      </p:sp>
      <p:sp>
        <p:nvSpPr>
          <p:cNvPr id="21" name="TextBox 20"/>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Consent Mode v2 + CMP の実装</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EEA義務化 (2024/03) → グローバル標準化</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P150 / 250</a:t>
            </a:r>
          </a:p>
        </p:txBody>
      </p:sp>
      <p:sp>
        <p:nvSpPr>
          <p:cNvPr id="8" name="TextBox 7"/>
          <p:cNvSpPr txBox="1"/>
          <p:nvPr/>
        </p:nvSpPr>
        <p:spPr>
          <a:xfrm>
            <a:off x="548640" y="1417320"/>
            <a:ext cx="1097280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4つの同意パラメータ</a:t>
            </a:r>
          </a:p>
        </p:txBody>
      </p:sp>
      <p:sp>
        <p:nvSpPr>
          <p:cNvPr id="9" name="Rounded Rectangle 8"/>
          <p:cNvSpPr/>
          <p:nvPr/>
        </p:nvSpPr>
        <p:spPr>
          <a:xfrm>
            <a:off x="548640" y="1828800"/>
            <a:ext cx="2697480" cy="9144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828800"/>
            <a:ext cx="91440" cy="91440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65960"/>
            <a:ext cx="2331720" cy="320040"/>
          </a:xfrm>
          <a:prstGeom prst="rect">
            <a:avLst/>
          </a:prstGeom>
          <a:noFill/>
        </p:spPr>
        <p:txBody>
          <a:bodyPr wrap="square" anchor="t" lIns="0" rIns="0" tIns="0" bIns="0">
            <a:spAutoFit/>
          </a:bodyPr>
          <a:lstStyle/>
          <a:p>
            <a:pPr algn="l">
              <a:lnSpc>
                <a:spcPct val="115000"/>
              </a:lnSpc>
            </a:pPr>
            <a:r>
              <a:rPr sz="1200" b="1">
                <a:solidFill>
                  <a:srgbClr val="0F2A4F"/>
                </a:solidFill>
                <a:latin typeface="Helvetica Neue"/>
                <a:ea typeface="Helvetica Neue"/>
                <a:cs typeface="Helvetica Neue"/>
              </a:rPr>
              <a:t>ad_storage</a:t>
            </a:r>
          </a:p>
        </p:txBody>
      </p:sp>
      <p:sp>
        <p:nvSpPr>
          <p:cNvPr id="12" name="TextBox 11"/>
          <p:cNvSpPr txBox="1"/>
          <p:nvPr/>
        </p:nvSpPr>
        <p:spPr>
          <a:xfrm>
            <a:off x="777240" y="2331720"/>
            <a:ext cx="2331720" cy="36576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広告Cookie使用</a:t>
            </a:r>
          </a:p>
        </p:txBody>
      </p:sp>
      <p:sp>
        <p:nvSpPr>
          <p:cNvPr id="13" name="Rounded Rectangle 12"/>
          <p:cNvSpPr/>
          <p:nvPr/>
        </p:nvSpPr>
        <p:spPr>
          <a:xfrm>
            <a:off x="3337560" y="1828800"/>
            <a:ext cx="2697480" cy="9144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37560" y="1828800"/>
            <a:ext cx="91440" cy="91440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66160" y="1965960"/>
            <a:ext cx="2331720" cy="320040"/>
          </a:xfrm>
          <a:prstGeom prst="rect">
            <a:avLst/>
          </a:prstGeom>
          <a:noFill/>
        </p:spPr>
        <p:txBody>
          <a:bodyPr wrap="square" anchor="t" lIns="0" rIns="0" tIns="0" bIns="0">
            <a:spAutoFit/>
          </a:bodyPr>
          <a:lstStyle/>
          <a:p>
            <a:pPr algn="l">
              <a:lnSpc>
                <a:spcPct val="115000"/>
              </a:lnSpc>
            </a:pPr>
            <a:r>
              <a:rPr sz="1200" b="1">
                <a:solidFill>
                  <a:srgbClr val="0F2A4F"/>
                </a:solidFill>
                <a:latin typeface="Helvetica Neue"/>
                <a:ea typeface="Helvetica Neue"/>
                <a:cs typeface="Helvetica Neue"/>
              </a:rPr>
              <a:t>ad_user_data</a:t>
            </a:r>
          </a:p>
        </p:txBody>
      </p:sp>
      <p:sp>
        <p:nvSpPr>
          <p:cNvPr id="16" name="TextBox 15"/>
          <p:cNvSpPr txBox="1"/>
          <p:nvPr/>
        </p:nvSpPr>
        <p:spPr>
          <a:xfrm>
            <a:off x="3566160" y="2331720"/>
            <a:ext cx="2331720" cy="36576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ユーザーデータの共有</a:t>
            </a:r>
          </a:p>
        </p:txBody>
      </p:sp>
      <p:sp>
        <p:nvSpPr>
          <p:cNvPr id="17" name="Rounded Rectangle 16"/>
          <p:cNvSpPr/>
          <p:nvPr/>
        </p:nvSpPr>
        <p:spPr>
          <a:xfrm>
            <a:off x="6126480" y="1828800"/>
            <a:ext cx="2697480" cy="9144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26480" y="1828800"/>
            <a:ext cx="91440" cy="91440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80" y="1965960"/>
            <a:ext cx="2331720" cy="320040"/>
          </a:xfrm>
          <a:prstGeom prst="rect">
            <a:avLst/>
          </a:prstGeom>
          <a:noFill/>
        </p:spPr>
        <p:txBody>
          <a:bodyPr wrap="square" anchor="t" lIns="0" rIns="0" tIns="0" bIns="0">
            <a:spAutoFit/>
          </a:bodyPr>
          <a:lstStyle/>
          <a:p>
            <a:pPr algn="l">
              <a:lnSpc>
                <a:spcPct val="115000"/>
              </a:lnSpc>
            </a:pPr>
            <a:r>
              <a:rPr sz="1200" b="1">
                <a:solidFill>
                  <a:srgbClr val="0F2A4F"/>
                </a:solidFill>
                <a:latin typeface="Helvetica Neue"/>
                <a:ea typeface="Helvetica Neue"/>
                <a:cs typeface="Helvetica Neue"/>
              </a:rPr>
              <a:t>ad_personalization</a:t>
            </a:r>
          </a:p>
        </p:txBody>
      </p:sp>
      <p:sp>
        <p:nvSpPr>
          <p:cNvPr id="20" name="TextBox 19"/>
          <p:cNvSpPr txBox="1"/>
          <p:nvPr/>
        </p:nvSpPr>
        <p:spPr>
          <a:xfrm>
            <a:off x="6355080" y="2331720"/>
            <a:ext cx="2331720" cy="36576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広告パーソナライズ</a:t>
            </a:r>
          </a:p>
        </p:txBody>
      </p:sp>
      <p:sp>
        <p:nvSpPr>
          <p:cNvPr id="21" name="Rounded Rectangle 20"/>
          <p:cNvSpPr/>
          <p:nvPr/>
        </p:nvSpPr>
        <p:spPr>
          <a:xfrm>
            <a:off x="8915400" y="1828800"/>
            <a:ext cx="2697480" cy="9144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915400" y="1828800"/>
            <a:ext cx="91440" cy="91440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0" y="1965960"/>
            <a:ext cx="2331720" cy="320040"/>
          </a:xfrm>
          <a:prstGeom prst="rect">
            <a:avLst/>
          </a:prstGeom>
          <a:noFill/>
        </p:spPr>
        <p:txBody>
          <a:bodyPr wrap="square" anchor="t" lIns="0" rIns="0" tIns="0" bIns="0">
            <a:spAutoFit/>
          </a:bodyPr>
          <a:lstStyle/>
          <a:p>
            <a:pPr algn="l">
              <a:lnSpc>
                <a:spcPct val="115000"/>
              </a:lnSpc>
            </a:pPr>
            <a:r>
              <a:rPr sz="1200" b="1">
                <a:solidFill>
                  <a:srgbClr val="0F2A4F"/>
                </a:solidFill>
                <a:latin typeface="Helvetica Neue"/>
                <a:ea typeface="Helvetica Neue"/>
                <a:cs typeface="Helvetica Neue"/>
              </a:rPr>
              <a:t>analytics_storage</a:t>
            </a:r>
          </a:p>
        </p:txBody>
      </p:sp>
      <p:sp>
        <p:nvSpPr>
          <p:cNvPr id="24" name="TextBox 23"/>
          <p:cNvSpPr txBox="1"/>
          <p:nvPr/>
        </p:nvSpPr>
        <p:spPr>
          <a:xfrm>
            <a:off x="9144000" y="2331720"/>
            <a:ext cx="2331720" cy="36576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分析Cookie使用</a:t>
            </a:r>
          </a:p>
        </p:txBody>
      </p:sp>
      <p:sp>
        <p:nvSpPr>
          <p:cNvPr id="25" name="TextBox 24"/>
          <p:cNvSpPr txBox="1"/>
          <p:nvPr/>
        </p:nvSpPr>
        <p:spPr>
          <a:xfrm>
            <a:off x="548640" y="2971800"/>
            <a:ext cx="1097280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主要 CMP (Consent Management Platform)</a:t>
            </a:r>
          </a:p>
        </p:txBody>
      </p:sp>
      <p:sp>
        <p:nvSpPr>
          <p:cNvPr id="26" name="Rounded Rectangle 25"/>
          <p:cNvSpPr/>
          <p:nvPr/>
        </p:nvSpPr>
        <p:spPr>
          <a:xfrm>
            <a:off x="548640" y="3383280"/>
            <a:ext cx="2697480" cy="14173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3383280"/>
            <a:ext cx="26974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 y="3611880"/>
            <a:ext cx="2331720" cy="32004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Cookiebot</a:t>
            </a:r>
          </a:p>
        </p:txBody>
      </p:sp>
      <p:sp>
        <p:nvSpPr>
          <p:cNvPr id="29" name="TextBox 28"/>
          <p:cNvSpPr txBox="1"/>
          <p:nvPr/>
        </p:nvSpPr>
        <p:spPr>
          <a:xfrm>
            <a:off x="731520" y="3977640"/>
            <a:ext cx="2331720" cy="274320"/>
          </a:xfrm>
          <a:prstGeom prst="rect">
            <a:avLst/>
          </a:prstGeom>
          <a:noFill/>
        </p:spPr>
        <p:txBody>
          <a:bodyPr wrap="square" anchor="t" lIns="0" rIns="0" tIns="0" bIns="0">
            <a:spAutoFit/>
          </a:bodyPr>
          <a:lstStyle/>
          <a:p>
            <a:pPr algn="l">
              <a:lnSpc>
                <a:spcPct val="115000"/>
              </a:lnSpc>
            </a:pPr>
            <a:r>
              <a:rPr sz="1000" b="1">
                <a:solidFill>
                  <a:srgbClr val="B85E1A"/>
                </a:solidFill>
                <a:latin typeface="Hiragino Sans"/>
                <a:ea typeface="Hiragino Sans"/>
                <a:cs typeface="Hiragino Sans"/>
              </a:rPr>
              <a:t>中小〜中堅向け</a:t>
            </a:r>
          </a:p>
        </p:txBody>
      </p:sp>
      <p:sp>
        <p:nvSpPr>
          <p:cNvPr id="30" name="TextBox 29"/>
          <p:cNvSpPr txBox="1"/>
          <p:nvPr/>
        </p:nvSpPr>
        <p:spPr>
          <a:xfrm>
            <a:off x="731520" y="4297680"/>
            <a:ext cx="2331720" cy="457200"/>
          </a:xfrm>
          <a:prstGeom prst="rect">
            <a:avLst/>
          </a:prstGeom>
          <a:noFill/>
        </p:spPr>
        <p:txBody>
          <a:bodyPr wrap="square" anchor="t" lIns="0" rIns="0" tIns="0" bIns="0">
            <a:spAutoFit/>
          </a:bodyPr>
          <a:lstStyle/>
          <a:p>
            <a:pPr algn="l">
              <a:lnSpc>
                <a:spcPct val="145000"/>
              </a:lnSpc>
            </a:pPr>
            <a:r>
              <a:rPr sz="1000" b="0">
                <a:solidFill>
                  <a:srgbClr val="1A1A1A"/>
                </a:solidFill>
                <a:latin typeface="Hiragino Sans"/>
                <a:ea typeface="Hiragino Sans"/>
                <a:cs typeface="Hiragino Sans"/>
              </a:rPr>
              <a:t>月€9〜  /  日本語UI</a:t>
            </a:r>
          </a:p>
        </p:txBody>
      </p:sp>
      <p:sp>
        <p:nvSpPr>
          <p:cNvPr id="31" name="Rounded Rectangle 30"/>
          <p:cNvSpPr/>
          <p:nvPr/>
        </p:nvSpPr>
        <p:spPr>
          <a:xfrm>
            <a:off x="3337560" y="3383280"/>
            <a:ext cx="2697480" cy="14173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337560" y="3383280"/>
            <a:ext cx="26974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520440" y="3611880"/>
            <a:ext cx="2331720" cy="32004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OneTrust</a:t>
            </a:r>
          </a:p>
        </p:txBody>
      </p:sp>
      <p:sp>
        <p:nvSpPr>
          <p:cNvPr id="34" name="TextBox 33"/>
          <p:cNvSpPr txBox="1"/>
          <p:nvPr/>
        </p:nvSpPr>
        <p:spPr>
          <a:xfrm>
            <a:off x="3520440" y="3977640"/>
            <a:ext cx="2331720" cy="274320"/>
          </a:xfrm>
          <a:prstGeom prst="rect">
            <a:avLst/>
          </a:prstGeom>
          <a:noFill/>
        </p:spPr>
        <p:txBody>
          <a:bodyPr wrap="square" anchor="t" lIns="0" rIns="0" tIns="0" bIns="0">
            <a:spAutoFit/>
          </a:bodyPr>
          <a:lstStyle/>
          <a:p>
            <a:pPr algn="l">
              <a:lnSpc>
                <a:spcPct val="115000"/>
              </a:lnSpc>
            </a:pPr>
            <a:r>
              <a:rPr sz="1000" b="1">
                <a:solidFill>
                  <a:srgbClr val="B85E1A"/>
                </a:solidFill>
                <a:latin typeface="Hiragino Sans"/>
                <a:ea typeface="Hiragino Sans"/>
                <a:cs typeface="Hiragino Sans"/>
              </a:rPr>
              <a:t>エンタープライズ</a:t>
            </a:r>
          </a:p>
        </p:txBody>
      </p:sp>
      <p:sp>
        <p:nvSpPr>
          <p:cNvPr id="35" name="TextBox 34"/>
          <p:cNvSpPr txBox="1"/>
          <p:nvPr/>
        </p:nvSpPr>
        <p:spPr>
          <a:xfrm>
            <a:off x="3520440" y="4297680"/>
            <a:ext cx="2331720" cy="457200"/>
          </a:xfrm>
          <a:prstGeom prst="rect">
            <a:avLst/>
          </a:prstGeom>
          <a:noFill/>
        </p:spPr>
        <p:txBody>
          <a:bodyPr wrap="square" anchor="t" lIns="0" rIns="0" tIns="0" bIns="0">
            <a:spAutoFit/>
          </a:bodyPr>
          <a:lstStyle/>
          <a:p>
            <a:pPr algn="l">
              <a:lnSpc>
                <a:spcPct val="145000"/>
              </a:lnSpc>
            </a:pPr>
            <a:r>
              <a:rPr sz="1000" b="0">
                <a:solidFill>
                  <a:srgbClr val="1A1A1A"/>
                </a:solidFill>
                <a:latin typeface="Hiragino Sans"/>
                <a:ea typeface="Hiragino Sans"/>
                <a:cs typeface="Hiragino Sans"/>
              </a:rPr>
              <a:t>高機能 / 高価格 (要見積)</a:t>
            </a:r>
          </a:p>
        </p:txBody>
      </p:sp>
      <p:sp>
        <p:nvSpPr>
          <p:cNvPr id="36" name="Rounded Rectangle 35"/>
          <p:cNvSpPr/>
          <p:nvPr/>
        </p:nvSpPr>
        <p:spPr>
          <a:xfrm>
            <a:off x="6126480" y="3383280"/>
            <a:ext cx="2697480" cy="14173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126480" y="3383280"/>
            <a:ext cx="26974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09360" y="3611880"/>
            <a:ext cx="2331720" cy="32004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usercentrics</a:t>
            </a:r>
          </a:p>
        </p:txBody>
      </p:sp>
      <p:sp>
        <p:nvSpPr>
          <p:cNvPr id="39" name="TextBox 38"/>
          <p:cNvSpPr txBox="1"/>
          <p:nvPr/>
        </p:nvSpPr>
        <p:spPr>
          <a:xfrm>
            <a:off x="6309360" y="3977640"/>
            <a:ext cx="2331720" cy="274320"/>
          </a:xfrm>
          <a:prstGeom prst="rect">
            <a:avLst/>
          </a:prstGeom>
          <a:noFill/>
        </p:spPr>
        <p:txBody>
          <a:bodyPr wrap="square" anchor="t" lIns="0" rIns="0" tIns="0" bIns="0">
            <a:spAutoFit/>
          </a:bodyPr>
          <a:lstStyle/>
          <a:p>
            <a:pPr algn="l">
              <a:lnSpc>
                <a:spcPct val="115000"/>
              </a:lnSpc>
            </a:pPr>
            <a:r>
              <a:rPr sz="1000" b="1">
                <a:solidFill>
                  <a:srgbClr val="B85E1A"/>
                </a:solidFill>
                <a:latin typeface="Hiragino Sans"/>
                <a:ea typeface="Hiragino Sans"/>
                <a:cs typeface="Hiragino Sans"/>
              </a:rPr>
              <a:t>ドイツ系統合</a:t>
            </a:r>
          </a:p>
        </p:txBody>
      </p:sp>
      <p:sp>
        <p:nvSpPr>
          <p:cNvPr id="40" name="TextBox 39"/>
          <p:cNvSpPr txBox="1"/>
          <p:nvPr/>
        </p:nvSpPr>
        <p:spPr>
          <a:xfrm>
            <a:off x="6309360" y="4297680"/>
            <a:ext cx="2331720" cy="457200"/>
          </a:xfrm>
          <a:prstGeom prst="rect">
            <a:avLst/>
          </a:prstGeom>
          <a:noFill/>
        </p:spPr>
        <p:txBody>
          <a:bodyPr wrap="square" anchor="t" lIns="0" rIns="0" tIns="0" bIns="0">
            <a:spAutoFit/>
          </a:bodyPr>
          <a:lstStyle/>
          <a:p>
            <a:pPr algn="l">
              <a:lnSpc>
                <a:spcPct val="145000"/>
              </a:lnSpc>
            </a:pPr>
            <a:r>
              <a:rPr sz="1000" b="0">
                <a:solidFill>
                  <a:srgbClr val="1A1A1A"/>
                </a:solidFill>
                <a:latin typeface="Hiragino Sans"/>
                <a:ea typeface="Hiragino Sans"/>
                <a:cs typeface="Hiragino Sans"/>
              </a:rPr>
              <a:t>GDPR完全準拠 / 月€39〜</a:t>
            </a:r>
          </a:p>
        </p:txBody>
      </p:sp>
      <p:sp>
        <p:nvSpPr>
          <p:cNvPr id="41" name="Rounded Rectangle 40"/>
          <p:cNvSpPr/>
          <p:nvPr/>
        </p:nvSpPr>
        <p:spPr>
          <a:xfrm>
            <a:off x="8915400" y="3383280"/>
            <a:ext cx="2697480" cy="14173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915400" y="3383280"/>
            <a:ext cx="26974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098280" y="3611880"/>
            <a:ext cx="2331720" cy="32004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TrustArc</a:t>
            </a:r>
          </a:p>
        </p:txBody>
      </p:sp>
      <p:sp>
        <p:nvSpPr>
          <p:cNvPr id="44" name="TextBox 43"/>
          <p:cNvSpPr txBox="1"/>
          <p:nvPr/>
        </p:nvSpPr>
        <p:spPr>
          <a:xfrm>
            <a:off x="9098280" y="3977640"/>
            <a:ext cx="2331720" cy="274320"/>
          </a:xfrm>
          <a:prstGeom prst="rect">
            <a:avLst/>
          </a:prstGeom>
          <a:noFill/>
        </p:spPr>
        <p:txBody>
          <a:bodyPr wrap="square" anchor="t" lIns="0" rIns="0" tIns="0" bIns="0">
            <a:spAutoFit/>
          </a:bodyPr>
          <a:lstStyle/>
          <a:p>
            <a:pPr algn="l">
              <a:lnSpc>
                <a:spcPct val="115000"/>
              </a:lnSpc>
            </a:pPr>
            <a:r>
              <a:rPr sz="1000" b="1">
                <a:solidFill>
                  <a:srgbClr val="B85E1A"/>
                </a:solidFill>
                <a:latin typeface="Hiragino Sans"/>
                <a:ea typeface="Hiragino Sans"/>
                <a:cs typeface="Hiragino Sans"/>
              </a:rPr>
              <a:t>米国エンタープライズ</a:t>
            </a:r>
          </a:p>
        </p:txBody>
      </p:sp>
      <p:sp>
        <p:nvSpPr>
          <p:cNvPr id="45" name="TextBox 44"/>
          <p:cNvSpPr txBox="1"/>
          <p:nvPr/>
        </p:nvSpPr>
        <p:spPr>
          <a:xfrm>
            <a:off x="9098280" y="4297680"/>
            <a:ext cx="2331720" cy="457200"/>
          </a:xfrm>
          <a:prstGeom prst="rect">
            <a:avLst/>
          </a:prstGeom>
          <a:noFill/>
        </p:spPr>
        <p:txBody>
          <a:bodyPr wrap="square" anchor="t" lIns="0" rIns="0" tIns="0" bIns="0">
            <a:spAutoFit/>
          </a:bodyPr>
          <a:lstStyle/>
          <a:p>
            <a:pPr algn="l">
              <a:lnSpc>
                <a:spcPct val="145000"/>
              </a:lnSpc>
            </a:pPr>
            <a:r>
              <a:rPr sz="1000" b="0">
                <a:solidFill>
                  <a:srgbClr val="1A1A1A"/>
                </a:solidFill>
                <a:latin typeface="Hiragino Sans"/>
                <a:ea typeface="Hiragino Sans"/>
                <a:cs typeface="Hiragino Sans"/>
              </a:rPr>
              <a:t>プライバシーガバナンス特化</a:t>
            </a:r>
          </a:p>
        </p:txBody>
      </p:sp>
      <p:sp>
        <p:nvSpPr>
          <p:cNvPr id="46" name="TextBox 45"/>
          <p:cNvSpPr txBox="1"/>
          <p:nvPr/>
        </p:nvSpPr>
        <p:spPr>
          <a:xfrm>
            <a:off x="548640" y="5029200"/>
            <a:ext cx="1097280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 副業代行 : 中小は Cookiebot がコスパ最強。月€9〜で完備、設定30分</a:t>
            </a:r>
          </a:p>
        </p:txBody>
      </p:sp>
      <p:sp>
        <p:nvSpPr>
          <p:cNvPr id="47" name="TextBox 46"/>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First-Party Data (1PD) 戦略</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Cookieに頼らない自社データ資産</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P151 / 250</a:t>
            </a:r>
          </a:p>
        </p:txBody>
      </p:sp>
      <p:sp>
        <p:nvSpPr>
          <p:cNvPr id="8" name="Rounded Rectangle 7"/>
          <p:cNvSpPr/>
          <p:nvPr/>
        </p:nvSpPr>
        <p:spPr>
          <a:xfrm>
            <a:off x="548640" y="1417320"/>
            <a:ext cx="2697480" cy="24688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269748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581912"/>
            <a:ext cx="2331720" cy="365760"/>
          </a:xfrm>
          <a:prstGeom prst="rect">
            <a:avLst/>
          </a:prstGeom>
          <a:noFill/>
        </p:spPr>
        <p:txBody>
          <a:bodyPr wrap="square" anchor="t" lIns="0" rIns="0" tIns="0" bIns="0">
            <a:spAutoFit/>
          </a:bodyPr>
          <a:lstStyle/>
          <a:p>
            <a:pPr algn="ctr">
              <a:lnSpc>
                <a:spcPct val="115000"/>
              </a:lnSpc>
            </a:pPr>
            <a:r>
              <a:rPr sz="1400" b="1">
                <a:solidFill>
                  <a:srgbClr val="E87722"/>
                </a:solidFill>
                <a:latin typeface="Hiragino Sans"/>
                <a:ea typeface="Hiragino Sans"/>
                <a:cs typeface="Hiragino Sans"/>
              </a:rPr>
              <a:t>CRM データ</a:t>
            </a:r>
          </a:p>
        </p:txBody>
      </p:sp>
      <p:sp>
        <p:nvSpPr>
          <p:cNvPr id="11" name="TextBox 10"/>
          <p:cNvSpPr txBox="1"/>
          <p:nvPr/>
        </p:nvSpPr>
        <p:spPr>
          <a:xfrm>
            <a:off x="731520" y="1965960"/>
            <a:ext cx="233172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顧客リスト / 購買履歴</a:t>
            </a:r>
          </a:p>
        </p:txBody>
      </p:sp>
      <p:sp>
        <p:nvSpPr>
          <p:cNvPr id="12" name="TextBox 11"/>
          <p:cNvSpPr txBox="1"/>
          <p:nvPr/>
        </p:nvSpPr>
        <p:spPr>
          <a:xfrm>
            <a:off x="731520" y="2423160"/>
            <a:ext cx="2331720" cy="1417320"/>
          </a:xfrm>
          <a:prstGeom prst="rect">
            <a:avLst/>
          </a:prstGeom>
          <a:noFill/>
        </p:spPr>
        <p:txBody>
          <a:bodyPr wrap="square" anchor="t" lIns="0" rIns="0" tIns="0" bIns="0">
            <a:spAutoFit/>
          </a:bodyPr>
          <a:lstStyle/>
          <a:p>
            <a:pPr algn="ctr">
              <a:lnSpc>
                <a:spcPct val="160000"/>
              </a:lnSpc>
            </a:pPr>
            <a:r>
              <a:rPr sz="1100" b="0">
                <a:solidFill>
                  <a:srgbClr val="1A1A1A"/>
                </a:solidFill>
                <a:latin typeface="Hiragino Sans"/>
                <a:ea typeface="Hiragino Sans"/>
                <a:cs typeface="Hiragino Sans"/>
              </a:rPr>
              <a:t>Customer Match (Google/Meta)</a:t>
            </a:r>
          </a:p>
          <a:p>
            <a:pPr algn="ctr">
              <a:lnSpc>
                <a:spcPct val="160000"/>
              </a:lnSpc>
            </a:pPr>
            <a:r>
              <a:rPr sz="1100" b="0">
                <a:solidFill>
                  <a:srgbClr val="1A1A1A"/>
                </a:solidFill>
                <a:latin typeface="Hiragino Sans"/>
                <a:ea typeface="Hiragino Sans"/>
                <a:cs typeface="Hiragino Sans"/>
              </a:rPr>
              <a:t>Lookalike のシード</a:t>
            </a:r>
          </a:p>
          <a:p>
            <a:pPr algn="ctr">
              <a:lnSpc>
                <a:spcPct val="160000"/>
              </a:lnSpc>
            </a:pPr>
            <a:r>
              <a:rPr sz="1100" b="0">
                <a:solidFill>
                  <a:srgbClr val="1A1A1A"/>
                </a:solidFill>
                <a:latin typeface="Hiragino Sans"/>
                <a:ea typeface="Hiragino Sans"/>
                <a:cs typeface="Hiragino Sans"/>
              </a:rPr>
              <a:t>LTV予測の基盤</a:t>
            </a:r>
          </a:p>
        </p:txBody>
      </p:sp>
      <p:sp>
        <p:nvSpPr>
          <p:cNvPr id="13" name="Rounded Rectangle 12"/>
          <p:cNvSpPr/>
          <p:nvPr/>
        </p:nvSpPr>
        <p:spPr>
          <a:xfrm>
            <a:off x="3337560" y="1417320"/>
            <a:ext cx="2697480" cy="24688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37560" y="1417320"/>
            <a:ext cx="269748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20440" y="1581912"/>
            <a:ext cx="2331720" cy="365760"/>
          </a:xfrm>
          <a:prstGeom prst="rect">
            <a:avLst/>
          </a:prstGeom>
          <a:noFill/>
        </p:spPr>
        <p:txBody>
          <a:bodyPr wrap="square" anchor="t" lIns="0" rIns="0" tIns="0" bIns="0">
            <a:spAutoFit/>
          </a:bodyPr>
          <a:lstStyle/>
          <a:p>
            <a:pPr algn="ctr">
              <a:lnSpc>
                <a:spcPct val="115000"/>
              </a:lnSpc>
            </a:pPr>
            <a:r>
              <a:rPr sz="1400" b="1">
                <a:solidFill>
                  <a:srgbClr val="E87722"/>
                </a:solidFill>
                <a:latin typeface="Hiragino Sans"/>
                <a:ea typeface="Hiragino Sans"/>
                <a:cs typeface="Hiragino Sans"/>
              </a:rPr>
              <a:t>Web行動データ</a:t>
            </a:r>
          </a:p>
        </p:txBody>
      </p:sp>
      <p:sp>
        <p:nvSpPr>
          <p:cNvPr id="16" name="TextBox 15"/>
          <p:cNvSpPr txBox="1"/>
          <p:nvPr/>
        </p:nvSpPr>
        <p:spPr>
          <a:xfrm>
            <a:off x="3520440" y="1965960"/>
            <a:ext cx="233172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GA4 / 1st Party Cookie</a:t>
            </a:r>
          </a:p>
        </p:txBody>
      </p:sp>
      <p:sp>
        <p:nvSpPr>
          <p:cNvPr id="17" name="TextBox 16"/>
          <p:cNvSpPr txBox="1"/>
          <p:nvPr/>
        </p:nvSpPr>
        <p:spPr>
          <a:xfrm>
            <a:off x="3520440" y="2423160"/>
            <a:ext cx="2331720" cy="1417320"/>
          </a:xfrm>
          <a:prstGeom prst="rect">
            <a:avLst/>
          </a:prstGeom>
          <a:noFill/>
        </p:spPr>
        <p:txBody>
          <a:bodyPr wrap="square" anchor="t" lIns="0" rIns="0" tIns="0" bIns="0">
            <a:spAutoFit/>
          </a:bodyPr>
          <a:lstStyle/>
          <a:p>
            <a:pPr algn="ctr">
              <a:lnSpc>
                <a:spcPct val="160000"/>
              </a:lnSpc>
            </a:pPr>
            <a:r>
              <a:rPr sz="1100" b="0">
                <a:solidFill>
                  <a:srgbClr val="1A1A1A"/>
                </a:solidFill>
                <a:latin typeface="Hiragino Sans"/>
                <a:ea typeface="Hiragino Sans"/>
                <a:cs typeface="Hiragino Sans"/>
              </a:rPr>
              <a:t>サイト内導線・離脱・CV</a:t>
            </a:r>
          </a:p>
          <a:p>
            <a:pPr algn="ctr">
              <a:lnSpc>
                <a:spcPct val="160000"/>
              </a:lnSpc>
            </a:pPr>
            <a:r>
              <a:rPr sz="1100" b="0">
                <a:solidFill>
                  <a:srgbClr val="1A1A1A"/>
                </a:solidFill>
                <a:latin typeface="Hiragino Sans"/>
                <a:ea typeface="Hiragino Sans"/>
                <a:cs typeface="Hiragino Sans"/>
              </a:rPr>
              <a:t>ファネル分析の素材</a:t>
            </a:r>
          </a:p>
          <a:p>
            <a:pPr algn="ctr">
              <a:lnSpc>
                <a:spcPct val="160000"/>
              </a:lnSpc>
            </a:pPr>
            <a:r>
              <a:rPr sz="1100" b="0">
                <a:solidFill>
                  <a:srgbClr val="1A1A1A"/>
                </a:solidFill>
                <a:latin typeface="Hiragino Sans"/>
                <a:ea typeface="Hiragino Sans"/>
                <a:cs typeface="Hiragino Sans"/>
              </a:rPr>
              <a:t>リマーケティング元</a:t>
            </a:r>
          </a:p>
        </p:txBody>
      </p:sp>
      <p:sp>
        <p:nvSpPr>
          <p:cNvPr id="18" name="Rounded Rectangle 17"/>
          <p:cNvSpPr/>
          <p:nvPr/>
        </p:nvSpPr>
        <p:spPr>
          <a:xfrm>
            <a:off x="6126480" y="1417320"/>
            <a:ext cx="2697480" cy="24688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0" y="1417320"/>
            <a:ext cx="269748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1581912"/>
            <a:ext cx="2331720" cy="365760"/>
          </a:xfrm>
          <a:prstGeom prst="rect">
            <a:avLst/>
          </a:prstGeom>
          <a:noFill/>
        </p:spPr>
        <p:txBody>
          <a:bodyPr wrap="square" anchor="t" lIns="0" rIns="0" tIns="0" bIns="0">
            <a:spAutoFit/>
          </a:bodyPr>
          <a:lstStyle/>
          <a:p>
            <a:pPr algn="ctr">
              <a:lnSpc>
                <a:spcPct val="115000"/>
              </a:lnSpc>
            </a:pPr>
            <a:r>
              <a:rPr sz="1400" b="1">
                <a:solidFill>
                  <a:srgbClr val="E87722"/>
                </a:solidFill>
                <a:latin typeface="Hiragino Sans"/>
                <a:ea typeface="Hiragino Sans"/>
                <a:cs typeface="Hiragino Sans"/>
              </a:rPr>
              <a:t>メール/LINE 行動</a:t>
            </a:r>
          </a:p>
        </p:txBody>
      </p:sp>
      <p:sp>
        <p:nvSpPr>
          <p:cNvPr id="21" name="TextBox 20"/>
          <p:cNvSpPr txBox="1"/>
          <p:nvPr/>
        </p:nvSpPr>
        <p:spPr>
          <a:xfrm>
            <a:off x="6309360" y="1965960"/>
            <a:ext cx="233172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開封・クリック・購読</a:t>
            </a:r>
          </a:p>
        </p:txBody>
      </p:sp>
      <p:sp>
        <p:nvSpPr>
          <p:cNvPr id="22" name="TextBox 21"/>
          <p:cNvSpPr txBox="1"/>
          <p:nvPr/>
        </p:nvSpPr>
        <p:spPr>
          <a:xfrm>
            <a:off x="6309360" y="2423160"/>
            <a:ext cx="2331720" cy="1417320"/>
          </a:xfrm>
          <a:prstGeom prst="rect">
            <a:avLst/>
          </a:prstGeom>
          <a:noFill/>
        </p:spPr>
        <p:txBody>
          <a:bodyPr wrap="square" anchor="t" lIns="0" rIns="0" tIns="0" bIns="0">
            <a:spAutoFit/>
          </a:bodyPr>
          <a:lstStyle/>
          <a:p>
            <a:pPr algn="ctr">
              <a:lnSpc>
                <a:spcPct val="160000"/>
              </a:lnSpc>
            </a:pPr>
            <a:r>
              <a:rPr sz="1100" b="0">
                <a:solidFill>
                  <a:srgbClr val="1A1A1A"/>
                </a:solidFill>
                <a:latin typeface="Hiragino Sans"/>
                <a:ea typeface="Hiragino Sans"/>
                <a:cs typeface="Hiragino Sans"/>
              </a:rPr>
              <a:t>メルマガ / LINE公式の行動</a:t>
            </a:r>
          </a:p>
          <a:p>
            <a:pPr algn="ctr">
              <a:lnSpc>
                <a:spcPct val="160000"/>
              </a:lnSpc>
            </a:pPr>
            <a:r>
              <a:rPr sz="1100" b="0">
                <a:solidFill>
                  <a:srgbClr val="1A1A1A"/>
                </a:solidFill>
                <a:latin typeface="Hiragino Sans"/>
                <a:ea typeface="Hiragino Sans"/>
                <a:cs typeface="Hiragino Sans"/>
              </a:rPr>
              <a:t>セグメント別配信</a:t>
            </a:r>
          </a:p>
          <a:p>
            <a:pPr algn="ctr">
              <a:lnSpc>
                <a:spcPct val="160000"/>
              </a:lnSpc>
            </a:pPr>
            <a:r>
              <a:rPr sz="1100" b="0">
                <a:solidFill>
                  <a:srgbClr val="1A1A1A"/>
                </a:solidFill>
                <a:latin typeface="Hiragino Sans"/>
                <a:ea typeface="Hiragino Sans"/>
                <a:cs typeface="Hiragino Sans"/>
              </a:rPr>
              <a:t>友だちステータス</a:t>
            </a:r>
          </a:p>
        </p:txBody>
      </p:sp>
      <p:sp>
        <p:nvSpPr>
          <p:cNvPr id="23" name="Rounded Rectangle 22"/>
          <p:cNvSpPr/>
          <p:nvPr/>
        </p:nvSpPr>
        <p:spPr>
          <a:xfrm>
            <a:off x="8915400" y="1417320"/>
            <a:ext cx="2697480" cy="24688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15400" y="1417320"/>
            <a:ext cx="269748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98280" y="1581912"/>
            <a:ext cx="2331720" cy="365760"/>
          </a:xfrm>
          <a:prstGeom prst="rect">
            <a:avLst/>
          </a:prstGeom>
          <a:noFill/>
        </p:spPr>
        <p:txBody>
          <a:bodyPr wrap="square" anchor="t" lIns="0" rIns="0" tIns="0" bIns="0">
            <a:spAutoFit/>
          </a:bodyPr>
          <a:lstStyle/>
          <a:p>
            <a:pPr algn="ctr">
              <a:lnSpc>
                <a:spcPct val="115000"/>
              </a:lnSpc>
            </a:pPr>
            <a:r>
              <a:rPr sz="1400" b="1">
                <a:solidFill>
                  <a:srgbClr val="E87722"/>
                </a:solidFill>
                <a:latin typeface="Hiragino Sans"/>
                <a:ea typeface="Hiragino Sans"/>
                <a:cs typeface="Hiragino Sans"/>
              </a:rPr>
              <a:t>オフライン行動</a:t>
            </a:r>
          </a:p>
        </p:txBody>
      </p:sp>
      <p:sp>
        <p:nvSpPr>
          <p:cNvPr id="26" name="TextBox 25"/>
          <p:cNvSpPr txBox="1"/>
          <p:nvPr/>
        </p:nvSpPr>
        <p:spPr>
          <a:xfrm>
            <a:off x="9098280" y="1965960"/>
            <a:ext cx="233172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POS / 来店 / コール</a:t>
            </a:r>
          </a:p>
        </p:txBody>
      </p:sp>
      <p:sp>
        <p:nvSpPr>
          <p:cNvPr id="27" name="TextBox 26"/>
          <p:cNvSpPr txBox="1"/>
          <p:nvPr/>
        </p:nvSpPr>
        <p:spPr>
          <a:xfrm>
            <a:off x="9098280" y="2423160"/>
            <a:ext cx="2331720" cy="1417320"/>
          </a:xfrm>
          <a:prstGeom prst="rect">
            <a:avLst/>
          </a:prstGeom>
          <a:noFill/>
        </p:spPr>
        <p:txBody>
          <a:bodyPr wrap="square" anchor="t" lIns="0" rIns="0" tIns="0" bIns="0">
            <a:spAutoFit/>
          </a:bodyPr>
          <a:lstStyle/>
          <a:p>
            <a:pPr algn="ctr">
              <a:lnSpc>
                <a:spcPct val="160000"/>
              </a:lnSpc>
            </a:pPr>
            <a:r>
              <a:rPr sz="1100" b="0">
                <a:solidFill>
                  <a:srgbClr val="1A1A1A"/>
                </a:solidFill>
                <a:latin typeface="Hiragino Sans"/>
                <a:ea typeface="Hiragino Sans"/>
                <a:cs typeface="Hiragino Sans"/>
              </a:rPr>
              <a:t>オフラインCV取り込み</a:t>
            </a:r>
          </a:p>
          <a:p>
            <a:pPr algn="ctr">
              <a:lnSpc>
                <a:spcPct val="160000"/>
              </a:lnSpc>
            </a:pPr>
            <a:r>
              <a:rPr sz="1100" b="0">
                <a:solidFill>
                  <a:srgbClr val="1A1A1A"/>
                </a:solidFill>
                <a:latin typeface="Hiragino Sans"/>
                <a:ea typeface="Hiragino Sans"/>
                <a:cs typeface="Hiragino Sans"/>
              </a:rPr>
              <a:t>Offline Conversion Import</a:t>
            </a:r>
          </a:p>
          <a:p>
            <a:pPr algn="ctr">
              <a:lnSpc>
                <a:spcPct val="160000"/>
              </a:lnSpc>
            </a:pPr>
            <a:r>
              <a:rPr sz="1100" b="0">
                <a:solidFill>
                  <a:srgbClr val="1A1A1A"/>
                </a:solidFill>
                <a:latin typeface="Hiragino Sans"/>
                <a:ea typeface="Hiragino Sans"/>
                <a:cs typeface="Hiragino Sans"/>
              </a:rPr>
              <a:t>MMM のインプット</a:t>
            </a:r>
          </a:p>
        </p:txBody>
      </p:sp>
      <p:sp>
        <p:nvSpPr>
          <p:cNvPr id="28" name="Rounded Rectangle 27"/>
          <p:cNvSpPr/>
          <p:nvPr/>
        </p:nvSpPr>
        <p:spPr>
          <a:xfrm>
            <a:off x="548640" y="4069080"/>
            <a:ext cx="11109960" cy="228600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4206240"/>
            <a:ext cx="100584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 副業代行 : 1PD 整備の優先順位</a:t>
            </a:r>
          </a:p>
        </p:txBody>
      </p:sp>
      <p:sp>
        <p:nvSpPr>
          <p:cNvPr id="30" name="TextBox 29"/>
          <p:cNvSpPr txBox="1"/>
          <p:nvPr/>
        </p:nvSpPr>
        <p:spPr>
          <a:xfrm>
            <a:off x="777240" y="4526280"/>
            <a:ext cx="10972800" cy="178308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1. Customer Match = 全クライアントで CRM顧客リストを月次アップロード</a:t>
            </a:r>
          </a:p>
          <a:p>
            <a:pPr algn="l">
              <a:lnSpc>
                <a:spcPct val="160000"/>
              </a:lnSpc>
            </a:pPr>
            <a:r>
              <a:rPr sz="1100" b="0">
                <a:solidFill>
                  <a:srgbClr val="1A1A1A"/>
                </a:solidFill>
                <a:latin typeface="Hiragino Sans"/>
                <a:ea typeface="Hiragino Sans"/>
                <a:cs typeface="Hiragino Sans"/>
              </a:rPr>
              <a:t>2. Enhanced Conversions / AEM = ハッシュ化1PDで計測補強</a:t>
            </a:r>
          </a:p>
          <a:p>
            <a:pPr algn="l">
              <a:lnSpc>
                <a:spcPct val="160000"/>
              </a:lnSpc>
            </a:pPr>
            <a:r>
              <a:rPr sz="1100" b="0">
                <a:solidFill>
                  <a:srgbClr val="1A1A1A"/>
                </a:solidFill>
                <a:latin typeface="Hiragino Sans"/>
                <a:ea typeface="Hiragino Sans"/>
                <a:cs typeface="Hiragino Sans"/>
              </a:rPr>
              <a:t>3. Lookalike = Customer Match をシードに新規獲得</a:t>
            </a:r>
          </a:p>
          <a:p>
            <a:pPr algn="l">
              <a:lnSpc>
                <a:spcPct val="160000"/>
              </a:lnSpc>
            </a:pPr>
            <a:r>
              <a:rPr sz="1100" b="0">
                <a:solidFill>
                  <a:srgbClr val="1A1A1A"/>
                </a:solidFill>
                <a:latin typeface="Hiragino Sans"/>
                <a:ea typeface="Hiragino Sans"/>
                <a:cs typeface="Hiragino Sans"/>
              </a:rPr>
              <a:t>4. Offline CV Import = 来店・電話・商談クローズなど Web外の行動を取り込み</a:t>
            </a:r>
          </a:p>
          <a:p>
            <a:pPr algn="l">
              <a:lnSpc>
                <a:spcPct val="160000"/>
              </a:lnSpc>
            </a:pPr>
            <a:r>
              <a:rPr sz="1100" b="0">
                <a:solidFill>
                  <a:srgbClr val="1A1A1A"/>
                </a:solidFill>
                <a:latin typeface="Hiragino Sans"/>
                <a:ea typeface="Hiragino Sans"/>
                <a:cs typeface="Hiragino Sans"/>
              </a:rPr>
              <a:t>5. CDP導入 = 月予算500万以上の中規模以上で検討 (Treasure Data / Tealium / Segment 等)</a:t>
            </a:r>
          </a:p>
        </p:txBody>
      </p:sp>
      <p:sp>
        <p:nvSpPr>
          <p:cNvPr id="31" name="TextBox 30"/>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Customer Data Platform (CDP) の進化</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1PDの統合・セグメント・配信を一元化</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P152 / 250</a:t>
            </a:r>
          </a:p>
        </p:txBody>
      </p:sp>
      <p:sp>
        <p:nvSpPr>
          <p:cNvPr id="8" name="Rounded Rectangle 7"/>
          <p:cNvSpPr/>
          <p:nvPr/>
        </p:nvSpPr>
        <p:spPr>
          <a:xfrm>
            <a:off x="548640" y="1371600"/>
            <a:ext cx="11109960" cy="91440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08760"/>
            <a:ext cx="10972800" cy="731520"/>
          </a:xfrm>
          <a:prstGeom prst="rect">
            <a:avLst/>
          </a:prstGeom>
          <a:noFill/>
        </p:spPr>
        <p:txBody>
          <a:bodyPr wrap="square" anchor="t" lIns="0" rIns="0" tIns="0" bIns="0">
            <a:spAutoFit/>
          </a:bodyPr>
          <a:lstStyle/>
          <a:p>
            <a:pPr algn="l">
              <a:lnSpc>
                <a:spcPct val="150000"/>
              </a:lnSpc>
            </a:pPr>
            <a:r>
              <a:rPr sz="1200" b="0">
                <a:solidFill>
                  <a:srgbClr val="FFFFFF"/>
                </a:solidFill>
                <a:latin typeface="Hiragino Sans"/>
                <a:ea typeface="Hiragino Sans"/>
                <a:cs typeface="Hiragino Sans"/>
              </a:rPr>
              <a:t>CDP : 顧客の Web / アプリ / オフライン行動を統合した『顧客マスター』を作り、</a:t>
            </a:r>
          </a:p>
          <a:p>
            <a:pPr algn="l">
              <a:lnSpc>
                <a:spcPct val="150000"/>
              </a:lnSpc>
            </a:pPr>
            <a:r>
              <a:rPr sz="1200" b="0">
                <a:solidFill>
                  <a:srgbClr val="FFFFFF"/>
                </a:solidFill>
                <a:latin typeface="Hiragino Sans"/>
                <a:ea typeface="Hiragino Sans"/>
                <a:cs typeface="Hiragino Sans"/>
              </a:rPr>
              <a:t>セグメント化 → 配信先 (広告 / メール / LINE等) に一元配信するプラットフォーム</a:t>
            </a:r>
          </a:p>
        </p:txBody>
      </p:sp>
      <p:sp>
        <p:nvSpPr>
          <p:cNvPr id="10" name="Rounded Rectangle 9"/>
          <p:cNvSpPr/>
          <p:nvPr/>
        </p:nvSpPr>
        <p:spPr>
          <a:xfrm>
            <a:off x="548640" y="2468880"/>
            <a:ext cx="2697480" cy="128016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468880"/>
            <a:ext cx="26974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697480"/>
            <a:ext cx="2331720" cy="365760"/>
          </a:xfrm>
          <a:prstGeom prst="rect">
            <a:avLst/>
          </a:prstGeom>
          <a:noFill/>
        </p:spPr>
        <p:txBody>
          <a:bodyPr wrap="square" anchor="t" lIns="0" rIns="0" tIns="0" bIns="0">
            <a:spAutoFit/>
          </a:bodyPr>
          <a:lstStyle/>
          <a:p>
            <a:pPr algn="ctr">
              <a:lnSpc>
                <a:spcPct val="115000"/>
              </a:lnSpc>
            </a:pPr>
            <a:r>
              <a:rPr sz="1300" b="1">
                <a:solidFill>
                  <a:srgbClr val="0F2A4F"/>
                </a:solidFill>
                <a:latin typeface="Helvetica Neue"/>
                <a:ea typeface="Helvetica Neue"/>
                <a:cs typeface="Helvetica Neue"/>
              </a:rPr>
              <a:t>Treasure Data</a:t>
            </a:r>
          </a:p>
        </p:txBody>
      </p:sp>
      <p:sp>
        <p:nvSpPr>
          <p:cNvPr id="13" name="TextBox 12"/>
          <p:cNvSpPr txBox="1"/>
          <p:nvPr/>
        </p:nvSpPr>
        <p:spPr>
          <a:xfrm>
            <a:off x="731520" y="3108960"/>
            <a:ext cx="2331720" cy="594360"/>
          </a:xfrm>
          <a:prstGeom prst="rect">
            <a:avLst/>
          </a:prstGeom>
          <a:noFill/>
        </p:spPr>
        <p:txBody>
          <a:bodyPr wrap="square" anchor="t" lIns="0" rIns="0" tIns="0" bIns="0">
            <a:spAutoFit/>
          </a:bodyPr>
          <a:lstStyle/>
          <a:p>
            <a:pPr algn="ctr">
              <a:lnSpc>
                <a:spcPct val="150000"/>
              </a:lnSpc>
            </a:pPr>
            <a:r>
              <a:rPr sz="1000" b="0">
                <a:solidFill>
                  <a:srgbClr val="1A1A1A"/>
                </a:solidFill>
                <a:latin typeface="Hiragino Sans"/>
                <a:ea typeface="Hiragino Sans"/>
                <a:cs typeface="Hiragino Sans"/>
              </a:rPr>
              <a:t>日本でシェア1位</a:t>
            </a:r>
          </a:p>
          <a:p>
            <a:pPr algn="ctr">
              <a:lnSpc>
                <a:spcPct val="150000"/>
              </a:lnSpc>
            </a:pPr>
            <a:r>
              <a:rPr sz="1000" b="0">
                <a:solidFill>
                  <a:srgbClr val="1A1A1A"/>
                </a:solidFill>
                <a:latin typeface="Hiragino Sans"/>
                <a:ea typeface="Hiragino Sans"/>
                <a:cs typeface="Hiragino Sans"/>
              </a:rPr>
              <a:t>大手企業向け</a:t>
            </a:r>
          </a:p>
        </p:txBody>
      </p:sp>
      <p:sp>
        <p:nvSpPr>
          <p:cNvPr id="14" name="Rounded Rectangle 13"/>
          <p:cNvSpPr/>
          <p:nvPr/>
        </p:nvSpPr>
        <p:spPr>
          <a:xfrm>
            <a:off x="3337560" y="2468880"/>
            <a:ext cx="2697480" cy="128016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37560" y="2468880"/>
            <a:ext cx="26974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20440" y="2697480"/>
            <a:ext cx="2331720" cy="365760"/>
          </a:xfrm>
          <a:prstGeom prst="rect">
            <a:avLst/>
          </a:prstGeom>
          <a:noFill/>
        </p:spPr>
        <p:txBody>
          <a:bodyPr wrap="square" anchor="t" lIns="0" rIns="0" tIns="0" bIns="0">
            <a:spAutoFit/>
          </a:bodyPr>
          <a:lstStyle/>
          <a:p>
            <a:pPr algn="ctr">
              <a:lnSpc>
                <a:spcPct val="115000"/>
              </a:lnSpc>
            </a:pPr>
            <a:r>
              <a:rPr sz="1300" b="1">
                <a:solidFill>
                  <a:srgbClr val="0F2A4F"/>
                </a:solidFill>
                <a:latin typeface="Helvetica Neue"/>
                <a:ea typeface="Helvetica Neue"/>
                <a:cs typeface="Helvetica Neue"/>
              </a:rPr>
              <a:t>Segment (Twilio)</a:t>
            </a:r>
          </a:p>
        </p:txBody>
      </p:sp>
      <p:sp>
        <p:nvSpPr>
          <p:cNvPr id="17" name="TextBox 16"/>
          <p:cNvSpPr txBox="1"/>
          <p:nvPr/>
        </p:nvSpPr>
        <p:spPr>
          <a:xfrm>
            <a:off x="3520440" y="3108960"/>
            <a:ext cx="2331720" cy="594360"/>
          </a:xfrm>
          <a:prstGeom prst="rect">
            <a:avLst/>
          </a:prstGeom>
          <a:noFill/>
        </p:spPr>
        <p:txBody>
          <a:bodyPr wrap="square" anchor="t" lIns="0" rIns="0" tIns="0" bIns="0">
            <a:spAutoFit/>
          </a:bodyPr>
          <a:lstStyle/>
          <a:p>
            <a:pPr algn="ctr">
              <a:lnSpc>
                <a:spcPct val="150000"/>
              </a:lnSpc>
            </a:pPr>
            <a:r>
              <a:rPr sz="1000" b="0">
                <a:solidFill>
                  <a:srgbClr val="1A1A1A"/>
                </a:solidFill>
                <a:latin typeface="Hiragino Sans"/>
                <a:ea typeface="Hiragino Sans"/>
                <a:cs typeface="Hiragino Sans"/>
              </a:rPr>
              <a:t>開発者向け</a:t>
            </a:r>
          </a:p>
          <a:p>
            <a:pPr algn="ctr">
              <a:lnSpc>
                <a:spcPct val="150000"/>
              </a:lnSpc>
            </a:pPr>
            <a:r>
              <a:rPr sz="1000" b="0">
                <a:solidFill>
                  <a:srgbClr val="1A1A1A"/>
                </a:solidFill>
                <a:latin typeface="Hiragino Sans"/>
                <a:ea typeface="Hiragino Sans"/>
                <a:cs typeface="Hiragino Sans"/>
              </a:rPr>
              <a:t>グローバル標準</a:t>
            </a:r>
          </a:p>
        </p:txBody>
      </p:sp>
      <p:sp>
        <p:nvSpPr>
          <p:cNvPr id="18" name="Rounded Rectangle 17"/>
          <p:cNvSpPr/>
          <p:nvPr/>
        </p:nvSpPr>
        <p:spPr>
          <a:xfrm>
            <a:off x="6126480" y="2468880"/>
            <a:ext cx="2697480" cy="128016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0" y="2468880"/>
            <a:ext cx="26974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2697480"/>
            <a:ext cx="2331720" cy="365760"/>
          </a:xfrm>
          <a:prstGeom prst="rect">
            <a:avLst/>
          </a:prstGeom>
          <a:noFill/>
        </p:spPr>
        <p:txBody>
          <a:bodyPr wrap="square" anchor="t" lIns="0" rIns="0" tIns="0" bIns="0">
            <a:spAutoFit/>
          </a:bodyPr>
          <a:lstStyle/>
          <a:p>
            <a:pPr algn="ctr">
              <a:lnSpc>
                <a:spcPct val="115000"/>
              </a:lnSpc>
            </a:pPr>
            <a:r>
              <a:rPr sz="1300" b="1">
                <a:solidFill>
                  <a:srgbClr val="0F2A4F"/>
                </a:solidFill>
                <a:latin typeface="Helvetica Neue"/>
                <a:ea typeface="Helvetica Neue"/>
                <a:cs typeface="Helvetica Neue"/>
              </a:rPr>
              <a:t>Tealium</a:t>
            </a:r>
          </a:p>
        </p:txBody>
      </p:sp>
      <p:sp>
        <p:nvSpPr>
          <p:cNvPr id="21" name="TextBox 20"/>
          <p:cNvSpPr txBox="1"/>
          <p:nvPr/>
        </p:nvSpPr>
        <p:spPr>
          <a:xfrm>
            <a:off x="6309360" y="3108960"/>
            <a:ext cx="2331720" cy="594360"/>
          </a:xfrm>
          <a:prstGeom prst="rect">
            <a:avLst/>
          </a:prstGeom>
          <a:noFill/>
        </p:spPr>
        <p:txBody>
          <a:bodyPr wrap="square" anchor="t" lIns="0" rIns="0" tIns="0" bIns="0">
            <a:spAutoFit/>
          </a:bodyPr>
          <a:lstStyle/>
          <a:p>
            <a:pPr algn="ctr">
              <a:lnSpc>
                <a:spcPct val="150000"/>
              </a:lnSpc>
            </a:pPr>
            <a:r>
              <a:rPr sz="1000" b="0">
                <a:solidFill>
                  <a:srgbClr val="1A1A1A"/>
                </a:solidFill>
                <a:latin typeface="Hiragino Sans"/>
                <a:ea typeface="Hiragino Sans"/>
                <a:cs typeface="Hiragino Sans"/>
              </a:rPr>
              <a:t>エンタープライズ</a:t>
            </a:r>
          </a:p>
          <a:p>
            <a:pPr algn="ctr">
              <a:lnSpc>
                <a:spcPct val="150000"/>
              </a:lnSpc>
            </a:pPr>
            <a:r>
              <a:rPr sz="1000" b="0">
                <a:solidFill>
                  <a:srgbClr val="1A1A1A"/>
                </a:solidFill>
                <a:latin typeface="Hiragino Sans"/>
                <a:ea typeface="Hiragino Sans"/>
                <a:cs typeface="Hiragino Sans"/>
              </a:rPr>
              <a:t>グローバル展開</a:t>
            </a:r>
          </a:p>
        </p:txBody>
      </p:sp>
      <p:sp>
        <p:nvSpPr>
          <p:cNvPr id="22" name="Rounded Rectangle 21"/>
          <p:cNvSpPr/>
          <p:nvPr/>
        </p:nvSpPr>
        <p:spPr>
          <a:xfrm>
            <a:off x="8915400" y="2468880"/>
            <a:ext cx="2697480" cy="128016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915400" y="2468880"/>
            <a:ext cx="26974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98280" y="2697480"/>
            <a:ext cx="2331720" cy="365760"/>
          </a:xfrm>
          <a:prstGeom prst="rect">
            <a:avLst/>
          </a:prstGeom>
          <a:noFill/>
        </p:spPr>
        <p:txBody>
          <a:bodyPr wrap="square" anchor="t" lIns="0" rIns="0" tIns="0" bIns="0">
            <a:spAutoFit/>
          </a:bodyPr>
          <a:lstStyle/>
          <a:p>
            <a:pPr algn="ctr">
              <a:lnSpc>
                <a:spcPct val="115000"/>
              </a:lnSpc>
            </a:pPr>
            <a:r>
              <a:rPr sz="1300" b="1">
                <a:solidFill>
                  <a:srgbClr val="0F2A4F"/>
                </a:solidFill>
                <a:latin typeface="Helvetica Neue"/>
                <a:ea typeface="Helvetica Neue"/>
                <a:cs typeface="Helvetica Neue"/>
              </a:rPr>
              <a:t>HubSpot</a:t>
            </a:r>
          </a:p>
        </p:txBody>
      </p:sp>
      <p:sp>
        <p:nvSpPr>
          <p:cNvPr id="25" name="TextBox 24"/>
          <p:cNvSpPr txBox="1"/>
          <p:nvPr/>
        </p:nvSpPr>
        <p:spPr>
          <a:xfrm>
            <a:off x="9098280" y="3108960"/>
            <a:ext cx="2331720" cy="594360"/>
          </a:xfrm>
          <a:prstGeom prst="rect">
            <a:avLst/>
          </a:prstGeom>
          <a:noFill/>
        </p:spPr>
        <p:txBody>
          <a:bodyPr wrap="square" anchor="t" lIns="0" rIns="0" tIns="0" bIns="0">
            <a:spAutoFit/>
          </a:bodyPr>
          <a:lstStyle/>
          <a:p>
            <a:pPr algn="ctr">
              <a:lnSpc>
                <a:spcPct val="150000"/>
              </a:lnSpc>
            </a:pPr>
            <a:r>
              <a:rPr sz="1000" b="0">
                <a:solidFill>
                  <a:srgbClr val="1A1A1A"/>
                </a:solidFill>
                <a:latin typeface="Hiragino Sans"/>
                <a:ea typeface="Hiragino Sans"/>
                <a:cs typeface="Hiragino Sans"/>
              </a:rPr>
              <a:t>中堅向け</a:t>
            </a:r>
          </a:p>
          <a:p>
            <a:pPr algn="ctr">
              <a:lnSpc>
                <a:spcPct val="150000"/>
              </a:lnSpc>
            </a:pPr>
            <a:r>
              <a:rPr sz="1000" b="0">
                <a:solidFill>
                  <a:srgbClr val="1A1A1A"/>
                </a:solidFill>
                <a:latin typeface="Hiragino Sans"/>
                <a:ea typeface="Hiragino Sans"/>
                <a:cs typeface="Hiragino Sans"/>
              </a:rPr>
              <a:t>MA/CRM一体型</a:t>
            </a:r>
          </a:p>
        </p:txBody>
      </p:sp>
      <p:sp>
        <p:nvSpPr>
          <p:cNvPr id="26" name="Rounded Rectangle 25"/>
          <p:cNvSpPr/>
          <p:nvPr/>
        </p:nvSpPr>
        <p:spPr>
          <a:xfrm>
            <a:off x="548640" y="4023360"/>
            <a:ext cx="11109960" cy="233172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4160520"/>
            <a:ext cx="100584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 中小予算でCDPの代替手段 (Light-CDP)</a:t>
            </a:r>
          </a:p>
        </p:txBody>
      </p:sp>
      <p:sp>
        <p:nvSpPr>
          <p:cNvPr id="28" name="TextBox 27"/>
          <p:cNvSpPr txBox="1"/>
          <p:nvPr/>
        </p:nvSpPr>
        <p:spPr>
          <a:xfrm>
            <a:off x="777240" y="4480560"/>
            <a:ext cx="10972800" cy="182880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 GA4 + BigQuery + Google Ads = 無料で 簡易CDP相当 (1PDの統合・セグメント化)</a:t>
            </a:r>
          </a:p>
          <a:p>
            <a:pPr algn="l">
              <a:lnSpc>
                <a:spcPct val="160000"/>
              </a:lnSpc>
            </a:pPr>
            <a:r>
              <a:rPr sz="1100" b="0">
                <a:solidFill>
                  <a:srgbClr val="1A1A1A"/>
                </a:solidFill>
                <a:latin typeface="Hiragino Sans"/>
                <a:ea typeface="Hiragino Sans"/>
                <a:cs typeface="Hiragino Sans"/>
              </a:rPr>
              <a:t>• Shopify + Klaviyo / KARTE = ECならCDP込みのMA で運用可能</a:t>
            </a:r>
          </a:p>
          <a:p>
            <a:pPr algn="l">
              <a:lnSpc>
                <a:spcPct val="160000"/>
              </a:lnSpc>
            </a:pPr>
            <a:r>
              <a:rPr sz="1100" b="0">
                <a:solidFill>
                  <a:srgbClr val="1A1A1A"/>
                </a:solidFill>
                <a:latin typeface="Hiragino Sans"/>
                <a:ea typeface="Hiragino Sans"/>
                <a:cs typeface="Hiragino Sans"/>
              </a:rPr>
              <a:t>• Notion / Airtable + Zapier = 案件規模が小さい時はノーコード組合せ</a:t>
            </a:r>
          </a:p>
          <a:p>
            <a:pPr algn="l">
              <a:lnSpc>
                <a:spcPct val="160000"/>
              </a:lnSpc>
            </a:pPr>
            <a:r>
              <a:rPr sz="1100" b="0">
                <a:solidFill>
                  <a:srgbClr val="1A1A1A"/>
                </a:solidFill>
                <a:latin typeface="Hiragino Sans"/>
                <a:ea typeface="Hiragino Sans"/>
                <a:cs typeface="Hiragino Sans"/>
              </a:rPr>
              <a:t>• 副業代行 : 月予算100万円以下のクライアントでは CDP導入は不要、Light-CDPで十分</a:t>
            </a:r>
          </a:p>
          <a:p>
            <a:pPr algn="l">
              <a:lnSpc>
                <a:spcPct val="160000"/>
              </a:lnSpc>
            </a:pPr>
            <a:r>
              <a:rPr sz="1100" b="0">
                <a:solidFill>
                  <a:srgbClr val="1A1A1A"/>
                </a:solidFill>
                <a:latin typeface="Hiragino Sans"/>
                <a:ea typeface="Hiragino Sans"/>
                <a:cs typeface="Hiragino Sans"/>
              </a:rPr>
              <a:t>• 月予算500万円以上 = Treasure Data / Segment 等の本格CDP導入を提案</a:t>
            </a:r>
          </a:p>
        </p:txBody>
      </p:sp>
      <p:sp>
        <p:nvSpPr>
          <p:cNvPr id="29" name="TextBox 28"/>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 MMM (Media Mix Modeling) の復活</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ラストクリック計測崩壊の反動として民主化</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P153 / 250</a:t>
            </a:r>
          </a:p>
        </p:txBody>
      </p:sp>
      <p:sp>
        <p:nvSpPr>
          <p:cNvPr id="8" name="Rounded Rectangle 7"/>
          <p:cNvSpPr/>
          <p:nvPr/>
        </p:nvSpPr>
        <p:spPr>
          <a:xfrm>
            <a:off x="548640" y="1371600"/>
            <a:ext cx="11109960" cy="91440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08760"/>
            <a:ext cx="10972800" cy="731520"/>
          </a:xfrm>
          <a:prstGeom prst="rect">
            <a:avLst/>
          </a:prstGeom>
          <a:noFill/>
        </p:spPr>
        <p:txBody>
          <a:bodyPr wrap="square" anchor="t" lIns="0" rIns="0" tIns="0" bIns="0">
            <a:spAutoFit/>
          </a:bodyPr>
          <a:lstStyle/>
          <a:p>
            <a:pPr algn="l">
              <a:lnSpc>
                <a:spcPct val="150000"/>
              </a:lnSpc>
            </a:pPr>
            <a:r>
              <a:rPr sz="1200" b="0">
                <a:solidFill>
                  <a:srgbClr val="FFFFFF"/>
                </a:solidFill>
                <a:latin typeface="Hiragino Sans"/>
                <a:ea typeface="Hiragino Sans"/>
                <a:cs typeface="Hiragino Sans"/>
              </a:rPr>
              <a:t>MMM : 統計モデルで広告予算と売上の関係を推定し、媒体別の貢献度・最適配分を求める。</a:t>
            </a:r>
          </a:p>
          <a:p>
            <a:pPr algn="l">
              <a:lnSpc>
                <a:spcPct val="150000"/>
              </a:lnSpc>
            </a:pPr>
            <a:r>
              <a:rPr sz="1200" b="0">
                <a:solidFill>
                  <a:srgbClr val="FFFFFF"/>
                </a:solidFill>
                <a:latin typeface="Hiragino Sans"/>
                <a:ea typeface="Hiragino Sans"/>
                <a:cs typeface="Hiragino Sans"/>
              </a:rPr>
              <a:t>Cookie計測の限界 + Cross-channel計測の難しさへの対策として 2023-2026 で再評価</a:t>
            </a:r>
          </a:p>
        </p:txBody>
      </p:sp>
      <p:sp>
        <p:nvSpPr>
          <p:cNvPr id="10" name="TextBox 9"/>
          <p:cNvSpPr txBox="1"/>
          <p:nvPr/>
        </p:nvSpPr>
        <p:spPr>
          <a:xfrm>
            <a:off x="548640" y="2423160"/>
            <a:ext cx="1097280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なぜ今MMMが復活したか</a:t>
            </a:r>
          </a:p>
        </p:txBody>
      </p:sp>
      <p:sp>
        <p:nvSpPr>
          <p:cNvPr id="11" name="Rounded Rectangle 10"/>
          <p:cNvSpPr/>
          <p:nvPr/>
        </p:nvSpPr>
        <p:spPr>
          <a:xfrm>
            <a:off x="548640" y="2834640"/>
            <a:ext cx="5440680" cy="8686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834640"/>
            <a:ext cx="91440" cy="86868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944368"/>
            <a:ext cx="5074920" cy="32004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計測シグナル減少</a:t>
            </a:r>
          </a:p>
        </p:txBody>
      </p:sp>
      <p:sp>
        <p:nvSpPr>
          <p:cNvPr id="14" name="TextBox 13"/>
          <p:cNvSpPr txBox="1"/>
          <p:nvPr/>
        </p:nvSpPr>
        <p:spPr>
          <a:xfrm>
            <a:off x="777240" y="3291840"/>
            <a:ext cx="5074920" cy="365760"/>
          </a:xfrm>
          <a:prstGeom prst="rect">
            <a:avLst/>
          </a:prstGeom>
          <a:noFill/>
        </p:spPr>
        <p:txBody>
          <a:bodyPr wrap="square" anchor="t" lIns="0" rIns="0" tIns="0" bIns="0">
            <a:spAutoFit/>
          </a:bodyPr>
          <a:lstStyle/>
          <a:p>
            <a:pPr algn="l">
              <a:lnSpc>
                <a:spcPct val="145000"/>
              </a:lnSpc>
            </a:pPr>
            <a:r>
              <a:rPr sz="1000" b="0">
                <a:solidFill>
                  <a:srgbClr val="1A1A1A"/>
                </a:solidFill>
                <a:latin typeface="Hiragino Sans"/>
                <a:ea typeface="Hiragino Sans"/>
                <a:cs typeface="Hiragino Sans"/>
              </a:rPr>
              <a:t>ATT / Cookie制限 / 規制でラストクリック計測が信頼できない</a:t>
            </a:r>
          </a:p>
        </p:txBody>
      </p:sp>
      <p:sp>
        <p:nvSpPr>
          <p:cNvPr id="15" name="Rounded Rectangle 14"/>
          <p:cNvSpPr/>
          <p:nvPr/>
        </p:nvSpPr>
        <p:spPr>
          <a:xfrm>
            <a:off x="6172200" y="2834640"/>
            <a:ext cx="5440680" cy="8686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2834640"/>
            <a:ext cx="91440" cy="86868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2944368"/>
            <a:ext cx="5074920" cy="32004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Cross-channel評価</a:t>
            </a:r>
          </a:p>
        </p:txBody>
      </p:sp>
      <p:sp>
        <p:nvSpPr>
          <p:cNvPr id="18" name="TextBox 17"/>
          <p:cNvSpPr txBox="1"/>
          <p:nvPr/>
        </p:nvSpPr>
        <p:spPr>
          <a:xfrm>
            <a:off x="6400800" y="3291840"/>
            <a:ext cx="5074920" cy="365760"/>
          </a:xfrm>
          <a:prstGeom prst="rect">
            <a:avLst/>
          </a:prstGeom>
          <a:noFill/>
        </p:spPr>
        <p:txBody>
          <a:bodyPr wrap="square" anchor="t" lIns="0" rIns="0" tIns="0" bIns="0">
            <a:spAutoFit/>
          </a:bodyPr>
          <a:lstStyle/>
          <a:p>
            <a:pPr algn="l">
              <a:lnSpc>
                <a:spcPct val="145000"/>
              </a:lnSpc>
            </a:pPr>
            <a:r>
              <a:rPr sz="1000" b="0">
                <a:solidFill>
                  <a:srgbClr val="1A1A1A"/>
                </a:solidFill>
                <a:latin typeface="Hiragino Sans"/>
                <a:ea typeface="Hiragino Sans"/>
                <a:cs typeface="Hiragino Sans"/>
              </a:rPr>
              <a:t>Google / Meta / TV / OOH を横断評価する手段が他にない</a:t>
            </a:r>
          </a:p>
        </p:txBody>
      </p:sp>
      <p:sp>
        <p:nvSpPr>
          <p:cNvPr id="19" name="Rounded Rectangle 18"/>
          <p:cNvSpPr/>
          <p:nvPr/>
        </p:nvSpPr>
        <p:spPr>
          <a:xfrm>
            <a:off x="548640" y="3794760"/>
            <a:ext cx="5440680" cy="8686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794760"/>
            <a:ext cx="91440" cy="86868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3904488"/>
            <a:ext cx="5074920" cy="32004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オープンソース化</a:t>
            </a:r>
          </a:p>
        </p:txBody>
      </p:sp>
      <p:sp>
        <p:nvSpPr>
          <p:cNvPr id="22" name="TextBox 21"/>
          <p:cNvSpPr txBox="1"/>
          <p:nvPr/>
        </p:nvSpPr>
        <p:spPr>
          <a:xfrm>
            <a:off x="777240" y="4251960"/>
            <a:ext cx="5074920" cy="365760"/>
          </a:xfrm>
          <a:prstGeom prst="rect">
            <a:avLst/>
          </a:prstGeom>
          <a:noFill/>
        </p:spPr>
        <p:txBody>
          <a:bodyPr wrap="square" anchor="t" lIns="0" rIns="0" tIns="0" bIns="0">
            <a:spAutoFit/>
          </a:bodyPr>
          <a:lstStyle/>
          <a:p>
            <a:pPr algn="l">
              <a:lnSpc>
                <a:spcPct val="145000"/>
              </a:lnSpc>
            </a:pPr>
            <a:r>
              <a:rPr sz="1000" b="0">
                <a:solidFill>
                  <a:srgbClr val="1A1A1A"/>
                </a:solidFill>
                <a:latin typeface="Hiragino Sans"/>
                <a:ea typeface="Hiragino Sans"/>
                <a:cs typeface="Hiragino Sans"/>
              </a:rPr>
              <a:t>Robyn (Meta) / Meridian (Google) で技術的ハードル激減</a:t>
            </a:r>
          </a:p>
        </p:txBody>
      </p:sp>
      <p:sp>
        <p:nvSpPr>
          <p:cNvPr id="23" name="Rounded Rectangle 22"/>
          <p:cNvSpPr/>
          <p:nvPr/>
        </p:nvSpPr>
        <p:spPr>
          <a:xfrm>
            <a:off x="6172200" y="3794760"/>
            <a:ext cx="5440680" cy="8686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72200" y="3794760"/>
            <a:ext cx="91440" cy="86868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0" y="3904488"/>
            <a:ext cx="5074920" cy="32004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中小ブランドにも到達</a:t>
            </a:r>
          </a:p>
        </p:txBody>
      </p:sp>
      <p:sp>
        <p:nvSpPr>
          <p:cNvPr id="26" name="TextBox 25"/>
          <p:cNvSpPr txBox="1"/>
          <p:nvPr/>
        </p:nvSpPr>
        <p:spPr>
          <a:xfrm>
            <a:off x="6400800" y="4251960"/>
            <a:ext cx="5074920" cy="365760"/>
          </a:xfrm>
          <a:prstGeom prst="rect">
            <a:avLst/>
          </a:prstGeom>
          <a:noFill/>
        </p:spPr>
        <p:txBody>
          <a:bodyPr wrap="square" anchor="t" lIns="0" rIns="0" tIns="0" bIns="0">
            <a:spAutoFit/>
          </a:bodyPr>
          <a:lstStyle/>
          <a:p>
            <a:pPr algn="l">
              <a:lnSpc>
                <a:spcPct val="145000"/>
              </a:lnSpc>
            </a:pPr>
            <a:r>
              <a:rPr sz="1000" b="0">
                <a:solidFill>
                  <a:srgbClr val="1A1A1A"/>
                </a:solidFill>
                <a:latin typeface="Hiragino Sans"/>
                <a:ea typeface="Hiragino Sans"/>
                <a:cs typeface="Hiragino Sans"/>
              </a:rPr>
              <a:t>数千万円予算のブランドでも MMM運用が現実的に</a:t>
            </a:r>
          </a:p>
        </p:txBody>
      </p:sp>
      <p:sp>
        <p:nvSpPr>
          <p:cNvPr id="27" name="Rounded Rectangle 26"/>
          <p:cNvSpPr/>
          <p:nvPr/>
        </p:nvSpPr>
        <p:spPr>
          <a:xfrm>
            <a:off x="548640" y="4937760"/>
            <a:ext cx="11109960" cy="141732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5074920"/>
            <a:ext cx="100584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 副業代行で MMM を提案するシナリオ</a:t>
            </a:r>
          </a:p>
        </p:txBody>
      </p:sp>
      <p:sp>
        <p:nvSpPr>
          <p:cNvPr id="29" name="TextBox 28"/>
          <p:cNvSpPr txBox="1"/>
          <p:nvPr/>
        </p:nvSpPr>
        <p:spPr>
          <a:xfrm>
            <a:off x="777240" y="5394960"/>
            <a:ext cx="10972800" cy="914400"/>
          </a:xfrm>
          <a:prstGeom prst="rect">
            <a:avLst/>
          </a:prstGeom>
          <a:noFill/>
        </p:spPr>
        <p:txBody>
          <a:bodyPr wrap="square" anchor="t" lIns="0" rIns="0" tIns="0" bIns="0">
            <a:spAutoFit/>
          </a:bodyPr>
          <a:lstStyle/>
          <a:p>
            <a:pPr algn="l">
              <a:lnSpc>
                <a:spcPct val="155000"/>
              </a:lnSpc>
            </a:pPr>
            <a:r>
              <a:rPr sz="1100" b="0">
                <a:solidFill>
                  <a:srgbClr val="1A1A1A"/>
                </a:solidFill>
                <a:latin typeface="Hiragino Sans"/>
                <a:ea typeface="Hiragino Sans"/>
                <a:cs typeface="Hiragino Sans"/>
              </a:rPr>
              <a:t>• 月予算 500万円以上 + 複数媒体運用 = MMMで予算配分の精度が劇的向上</a:t>
            </a:r>
          </a:p>
          <a:p>
            <a:pPr algn="l">
              <a:lnSpc>
                <a:spcPct val="155000"/>
              </a:lnSpc>
            </a:pPr>
            <a:r>
              <a:rPr sz="1100" b="0">
                <a:solidFill>
                  <a:srgbClr val="1A1A1A"/>
                </a:solidFill>
                <a:latin typeface="Hiragino Sans"/>
                <a:ea typeface="Hiragino Sans"/>
                <a:cs typeface="Hiragino Sans"/>
              </a:rPr>
              <a:t>• 大型キャンペーン (TV CM併用等) = MMMで TV と デジタルの相互効果を測定</a:t>
            </a:r>
          </a:p>
          <a:p>
            <a:pPr algn="l">
              <a:lnSpc>
                <a:spcPct val="155000"/>
              </a:lnSpc>
            </a:pPr>
            <a:r>
              <a:rPr sz="1100" b="0">
                <a:solidFill>
                  <a:srgbClr val="1A1A1A"/>
                </a:solidFill>
                <a:latin typeface="Hiragino Sans"/>
                <a:ea typeface="Hiragino Sans"/>
                <a:cs typeface="Hiragino Sans"/>
              </a:rPr>
              <a:t>• 単独媒体だけ = MMM不要、Conversion Lift Test で十分</a:t>
            </a:r>
          </a:p>
        </p:txBody>
      </p:sp>
      <p:sp>
        <p:nvSpPr>
          <p:cNvPr id="30" name="TextBox 29"/>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Meta Robyn vs Google Meridian</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オープンソース MMM 2大プラットフォーム</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P154 / 250</a:t>
            </a:r>
          </a:p>
        </p:txBody>
      </p:sp>
      <p:sp>
        <p:nvSpPr>
          <p:cNvPr id="8" name="Rounded Rectangle 7"/>
          <p:cNvSpPr/>
          <p:nvPr/>
        </p:nvSpPr>
        <p:spPr>
          <a:xfrm>
            <a:off x="548640" y="1417320"/>
            <a:ext cx="5486400" cy="32918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548640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581912"/>
            <a:ext cx="4937760" cy="411480"/>
          </a:xfrm>
          <a:prstGeom prst="rect">
            <a:avLst/>
          </a:prstGeom>
          <a:noFill/>
        </p:spPr>
        <p:txBody>
          <a:bodyPr wrap="square" anchor="t" lIns="0" rIns="0" tIns="0" bIns="0">
            <a:spAutoFit/>
          </a:bodyPr>
          <a:lstStyle/>
          <a:p>
            <a:pPr algn="l">
              <a:lnSpc>
                <a:spcPct val="115000"/>
              </a:lnSpc>
            </a:pPr>
            <a:r>
              <a:rPr sz="1600" b="1">
                <a:solidFill>
                  <a:srgbClr val="FFFFFF"/>
                </a:solidFill>
                <a:latin typeface="Helvetica Neue"/>
                <a:ea typeface="Helvetica Neue"/>
                <a:cs typeface="Helvetica Neue"/>
              </a:rPr>
              <a:t>Meta Robyn</a:t>
            </a:r>
          </a:p>
        </p:txBody>
      </p:sp>
      <p:sp>
        <p:nvSpPr>
          <p:cNvPr id="11" name="TextBox 10"/>
          <p:cNvSpPr txBox="1"/>
          <p:nvPr/>
        </p:nvSpPr>
        <p:spPr>
          <a:xfrm>
            <a:off x="822960" y="1965960"/>
            <a:ext cx="4937760" cy="274320"/>
          </a:xfrm>
          <a:prstGeom prst="rect">
            <a:avLst/>
          </a:prstGeom>
          <a:noFill/>
        </p:spPr>
        <p:txBody>
          <a:bodyPr wrap="square" anchor="t" lIns="0" rIns="0" tIns="0" bIns="0">
            <a:spAutoFit/>
          </a:bodyPr>
          <a:lstStyle/>
          <a:p>
            <a:pPr algn="l">
              <a:lnSpc>
                <a:spcPct val="115000"/>
              </a:lnSpc>
            </a:pPr>
            <a:r>
              <a:rPr sz="1100" b="0">
                <a:solidFill>
                  <a:srgbClr val="FFFFFF"/>
                </a:solidFill>
                <a:latin typeface="Helvetica Neue"/>
                <a:ea typeface="Helvetica Neue"/>
                <a:cs typeface="Helvetica Neue"/>
              </a:rPr>
              <a:t>R言語 / Ridge Regression</a:t>
            </a:r>
          </a:p>
        </p:txBody>
      </p:sp>
      <p:sp>
        <p:nvSpPr>
          <p:cNvPr id="12" name="TextBox 11"/>
          <p:cNvSpPr txBox="1"/>
          <p:nvPr/>
        </p:nvSpPr>
        <p:spPr>
          <a:xfrm>
            <a:off x="822960" y="2423160"/>
            <a:ext cx="4937760" cy="2194560"/>
          </a:xfrm>
          <a:prstGeom prst="rect">
            <a:avLst/>
          </a:prstGeom>
          <a:noFill/>
        </p:spPr>
        <p:txBody>
          <a:bodyPr wrap="square" anchor="t" lIns="0" rIns="0" tIns="0" bIns="0">
            <a:spAutoFit/>
          </a:bodyPr>
          <a:lstStyle/>
          <a:p>
            <a:pPr algn="l">
              <a:lnSpc>
                <a:spcPct val="165000"/>
              </a:lnSpc>
            </a:pPr>
            <a:r>
              <a:rPr sz="1100" b="0">
                <a:solidFill>
                  <a:srgbClr val="1A1A1A"/>
                </a:solidFill>
                <a:latin typeface="Hiragino Sans"/>
                <a:ea typeface="Hiragino Sans"/>
                <a:cs typeface="Hiragino Sans"/>
              </a:rPr>
              <a:t>・2023〜オープンソース化</a:t>
            </a:r>
          </a:p>
          <a:p>
            <a:pPr algn="l">
              <a:lnSpc>
                <a:spcPct val="165000"/>
              </a:lnSpc>
            </a:pPr>
            <a:r>
              <a:rPr sz="1100" b="0">
                <a:solidFill>
                  <a:srgbClr val="1A1A1A"/>
                </a:solidFill>
                <a:latin typeface="Hiragino Sans"/>
                <a:ea typeface="Hiragino Sans"/>
                <a:cs typeface="Hiragino Sans"/>
              </a:rPr>
              <a:t>・R に慣れた統計家・データサイエンティスト向け</a:t>
            </a:r>
          </a:p>
          <a:p>
            <a:pPr algn="l">
              <a:lnSpc>
                <a:spcPct val="165000"/>
              </a:lnSpc>
            </a:pPr>
            <a:r>
              <a:rPr sz="1100" b="0">
                <a:solidFill>
                  <a:srgbClr val="1A1A1A"/>
                </a:solidFill>
                <a:latin typeface="Hiragino Sans"/>
                <a:ea typeface="Hiragino Sans"/>
                <a:cs typeface="Hiragino Sans"/>
              </a:rPr>
              <a:t>・Ridge回帰で多重共線性に強い</a:t>
            </a:r>
          </a:p>
          <a:p>
            <a:pPr algn="l">
              <a:lnSpc>
                <a:spcPct val="165000"/>
              </a:lnSpc>
            </a:pPr>
            <a:r>
              <a:rPr sz="1100" b="0">
                <a:solidFill>
                  <a:srgbClr val="1A1A1A"/>
                </a:solidFill>
                <a:latin typeface="Hiragino Sans"/>
                <a:ea typeface="Hiragino Sans"/>
                <a:cs typeface="Hiragino Sans"/>
              </a:rPr>
              <a:t>・Meta Pixelデータと相性良</a:t>
            </a:r>
          </a:p>
        </p:txBody>
      </p:sp>
      <p:sp>
        <p:nvSpPr>
          <p:cNvPr id="13" name="Rounded Rectangle 12"/>
          <p:cNvSpPr/>
          <p:nvPr/>
        </p:nvSpPr>
        <p:spPr>
          <a:xfrm>
            <a:off x="6172200" y="1417320"/>
            <a:ext cx="5486400" cy="32918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1417320"/>
            <a:ext cx="548640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1581912"/>
            <a:ext cx="4937760" cy="411480"/>
          </a:xfrm>
          <a:prstGeom prst="rect">
            <a:avLst/>
          </a:prstGeom>
          <a:noFill/>
        </p:spPr>
        <p:txBody>
          <a:bodyPr wrap="square" anchor="t" lIns="0" rIns="0" tIns="0" bIns="0">
            <a:spAutoFit/>
          </a:bodyPr>
          <a:lstStyle/>
          <a:p>
            <a:pPr algn="l">
              <a:lnSpc>
                <a:spcPct val="115000"/>
              </a:lnSpc>
            </a:pPr>
            <a:r>
              <a:rPr sz="1600" b="1">
                <a:solidFill>
                  <a:srgbClr val="FFFFFF"/>
                </a:solidFill>
                <a:latin typeface="Helvetica Neue"/>
                <a:ea typeface="Helvetica Neue"/>
                <a:cs typeface="Helvetica Neue"/>
              </a:rPr>
              <a:t>Google Meridian</a:t>
            </a:r>
          </a:p>
        </p:txBody>
      </p:sp>
      <p:sp>
        <p:nvSpPr>
          <p:cNvPr id="16" name="TextBox 15"/>
          <p:cNvSpPr txBox="1"/>
          <p:nvPr/>
        </p:nvSpPr>
        <p:spPr>
          <a:xfrm>
            <a:off x="6446520" y="1965960"/>
            <a:ext cx="4937760" cy="274320"/>
          </a:xfrm>
          <a:prstGeom prst="rect">
            <a:avLst/>
          </a:prstGeom>
          <a:noFill/>
        </p:spPr>
        <p:txBody>
          <a:bodyPr wrap="square" anchor="t" lIns="0" rIns="0" tIns="0" bIns="0">
            <a:spAutoFit/>
          </a:bodyPr>
          <a:lstStyle/>
          <a:p>
            <a:pPr algn="l">
              <a:lnSpc>
                <a:spcPct val="115000"/>
              </a:lnSpc>
            </a:pPr>
            <a:r>
              <a:rPr sz="1100" b="0">
                <a:solidFill>
                  <a:srgbClr val="FFFFFF"/>
                </a:solidFill>
                <a:latin typeface="Helvetica Neue"/>
                <a:ea typeface="Helvetica Neue"/>
                <a:cs typeface="Helvetica Neue"/>
              </a:rPr>
              <a:t>Python / Bayesian Regression</a:t>
            </a:r>
          </a:p>
        </p:txBody>
      </p:sp>
      <p:sp>
        <p:nvSpPr>
          <p:cNvPr id="17" name="TextBox 16"/>
          <p:cNvSpPr txBox="1"/>
          <p:nvPr/>
        </p:nvSpPr>
        <p:spPr>
          <a:xfrm>
            <a:off x="6446520" y="2423160"/>
            <a:ext cx="4937760" cy="2194560"/>
          </a:xfrm>
          <a:prstGeom prst="rect">
            <a:avLst/>
          </a:prstGeom>
          <a:noFill/>
        </p:spPr>
        <p:txBody>
          <a:bodyPr wrap="square" anchor="t" lIns="0" rIns="0" tIns="0" bIns="0">
            <a:spAutoFit/>
          </a:bodyPr>
          <a:lstStyle/>
          <a:p>
            <a:pPr algn="l">
              <a:lnSpc>
                <a:spcPct val="165000"/>
              </a:lnSpc>
            </a:pPr>
            <a:r>
              <a:rPr sz="1100" b="0">
                <a:solidFill>
                  <a:srgbClr val="1A1A1A"/>
                </a:solidFill>
                <a:latin typeface="Hiragino Sans"/>
                <a:ea typeface="Hiragino Sans"/>
                <a:cs typeface="Hiragino Sans"/>
              </a:rPr>
              <a:t>・2024年 オープンソース化</a:t>
            </a:r>
          </a:p>
          <a:p>
            <a:pPr algn="l">
              <a:lnSpc>
                <a:spcPct val="165000"/>
              </a:lnSpc>
            </a:pPr>
            <a:r>
              <a:rPr sz="1100" b="0">
                <a:solidFill>
                  <a:srgbClr val="1A1A1A"/>
                </a:solidFill>
                <a:latin typeface="Hiragino Sans"/>
                <a:ea typeface="Hiragino Sans"/>
                <a:cs typeface="Hiragino Sans"/>
              </a:rPr>
              <a:t>・Python (マーケター・開発者に親和性)</a:t>
            </a:r>
          </a:p>
          <a:p>
            <a:pPr algn="l">
              <a:lnSpc>
                <a:spcPct val="165000"/>
              </a:lnSpc>
            </a:pPr>
            <a:r>
              <a:rPr sz="1100" b="0">
                <a:solidFill>
                  <a:srgbClr val="1A1A1A"/>
                </a:solidFill>
                <a:latin typeface="Hiragino Sans"/>
                <a:ea typeface="Hiragino Sans"/>
                <a:cs typeface="Hiragino Sans"/>
              </a:rPr>
              <a:t>・Bayesian で不確実性を扱える</a:t>
            </a:r>
          </a:p>
          <a:p>
            <a:pPr algn="l">
              <a:lnSpc>
                <a:spcPct val="165000"/>
              </a:lnSpc>
            </a:pPr>
            <a:r>
              <a:rPr sz="1100" b="0">
                <a:solidFill>
                  <a:srgbClr val="1A1A1A"/>
                </a:solidFill>
                <a:latin typeface="Hiragino Sans"/>
                <a:ea typeface="Hiragino Sans"/>
                <a:cs typeface="Hiragino Sans"/>
              </a:rPr>
              <a:t>・Geo-level data + YouTube reach/freq対応</a:t>
            </a:r>
          </a:p>
        </p:txBody>
      </p:sp>
      <p:sp>
        <p:nvSpPr>
          <p:cNvPr id="18" name="Rounded Rectangle 17"/>
          <p:cNvSpPr/>
          <p:nvPr/>
        </p:nvSpPr>
        <p:spPr>
          <a:xfrm>
            <a:off x="548640" y="4892040"/>
            <a:ext cx="11109960" cy="146304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5029200"/>
            <a:ext cx="100584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 どちらを選ぶか</a:t>
            </a:r>
          </a:p>
        </p:txBody>
      </p:sp>
      <p:sp>
        <p:nvSpPr>
          <p:cNvPr id="20" name="TextBox 19"/>
          <p:cNvSpPr txBox="1"/>
          <p:nvPr/>
        </p:nvSpPr>
        <p:spPr>
          <a:xfrm>
            <a:off x="777240" y="5349240"/>
            <a:ext cx="10972800" cy="960120"/>
          </a:xfrm>
          <a:prstGeom prst="rect">
            <a:avLst/>
          </a:prstGeom>
          <a:noFill/>
        </p:spPr>
        <p:txBody>
          <a:bodyPr wrap="square" anchor="t" lIns="0" rIns="0" tIns="0" bIns="0">
            <a:spAutoFit/>
          </a:bodyPr>
          <a:lstStyle/>
          <a:p>
            <a:pPr algn="l">
              <a:lnSpc>
                <a:spcPct val="155000"/>
              </a:lnSpc>
            </a:pPr>
            <a:r>
              <a:rPr sz="1100" b="0">
                <a:solidFill>
                  <a:srgbClr val="1A1A1A"/>
                </a:solidFill>
                <a:latin typeface="Hiragino Sans"/>
                <a:ea typeface="Hiragino Sans"/>
                <a:cs typeface="Hiragino Sans"/>
              </a:rPr>
              <a:t>• Google Ads / GA4 / YouTube中心 = Meridian (統合がスムーズ)</a:t>
            </a:r>
          </a:p>
          <a:p>
            <a:pPr algn="l">
              <a:lnSpc>
                <a:spcPct val="155000"/>
              </a:lnSpc>
            </a:pPr>
            <a:r>
              <a:rPr sz="1100" b="0">
                <a:solidFill>
                  <a:srgbClr val="1A1A1A"/>
                </a:solidFill>
                <a:latin typeface="Hiragino Sans"/>
                <a:ea typeface="Hiragino Sans"/>
                <a:cs typeface="Hiragino Sans"/>
              </a:rPr>
              <a:t>• Meta中心 / 既にRエンジニア在籍 = Robyn</a:t>
            </a:r>
          </a:p>
          <a:p>
            <a:pPr algn="l">
              <a:lnSpc>
                <a:spcPct val="155000"/>
              </a:lnSpc>
            </a:pPr>
            <a:r>
              <a:rPr sz="1100" b="0">
                <a:solidFill>
                  <a:srgbClr val="1A1A1A"/>
                </a:solidFill>
                <a:latin typeface="Hiragino Sans"/>
                <a:ea typeface="Hiragino Sans"/>
                <a:cs typeface="Hiragino Sans"/>
              </a:rPr>
              <a:t>• 副業代行 : Pythonの方が使える人が多いので Meridian がおすすめ</a:t>
            </a:r>
          </a:p>
          <a:p>
            <a:pPr algn="l">
              <a:lnSpc>
                <a:spcPct val="155000"/>
              </a:lnSpc>
            </a:pPr>
            <a:r>
              <a:rPr sz="1100" b="0">
                <a:solidFill>
                  <a:srgbClr val="1A1A1A"/>
                </a:solidFill>
                <a:latin typeface="Hiragino Sans"/>
                <a:ea typeface="Hiragino Sans"/>
                <a:cs typeface="Hiragino Sans"/>
              </a:rPr>
              <a:t>• 商用版 = Nielsen / Analytic Partners / MarketShare 等が高機能版を提供 (大型予算向け)</a:t>
            </a:r>
          </a:p>
        </p:txBody>
      </p:sp>
      <p:sp>
        <p:nvSpPr>
          <p:cNvPr id="21" name="TextBox 20"/>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Incrementality Testing 標準化</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『広告がなければ起きなかったCV』を測る</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P155 / 250</a:t>
            </a:r>
          </a:p>
        </p:txBody>
      </p:sp>
      <p:sp>
        <p:nvSpPr>
          <p:cNvPr id="8" name="Rounded Rectangle 7"/>
          <p:cNvSpPr/>
          <p:nvPr/>
        </p:nvSpPr>
        <p:spPr>
          <a:xfrm>
            <a:off x="548640" y="1371600"/>
            <a:ext cx="11109960" cy="91440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08760"/>
            <a:ext cx="10972800" cy="731520"/>
          </a:xfrm>
          <a:prstGeom prst="rect">
            <a:avLst/>
          </a:prstGeom>
          <a:noFill/>
        </p:spPr>
        <p:txBody>
          <a:bodyPr wrap="square" anchor="t" lIns="0" rIns="0" tIns="0" bIns="0">
            <a:spAutoFit/>
          </a:bodyPr>
          <a:lstStyle/>
          <a:p>
            <a:pPr algn="l">
              <a:lnSpc>
                <a:spcPct val="150000"/>
              </a:lnSpc>
            </a:pPr>
            <a:r>
              <a:rPr sz="1200" b="0">
                <a:solidFill>
                  <a:srgbClr val="FFFFFF"/>
                </a:solidFill>
                <a:latin typeface="Hiragino Sans"/>
                <a:ea typeface="Hiragino Sans"/>
                <a:cs typeface="Hiragino Sans"/>
              </a:rPr>
              <a:t>ユーザーをランダムに Test (広告配信) と Control (非配信) 群に分け、CV発生率の差を計測。</a:t>
            </a:r>
          </a:p>
          <a:p>
            <a:pPr algn="l">
              <a:lnSpc>
                <a:spcPct val="150000"/>
              </a:lnSpc>
            </a:pPr>
            <a:r>
              <a:rPr sz="1200" b="0">
                <a:solidFill>
                  <a:srgbClr val="FFFFFF"/>
                </a:solidFill>
                <a:latin typeface="Hiragino Sans"/>
                <a:ea typeface="Hiragino Sans"/>
                <a:cs typeface="Hiragino Sans"/>
              </a:rPr>
              <a:t>オーガニック / 既存顧客 / 自然流入を排除した『純増分』を見極める</a:t>
            </a:r>
          </a:p>
        </p:txBody>
      </p:sp>
      <p:sp>
        <p:nvSpPr>
          <p:cNvPr id="10" name="Rounded Rectangle 9"/>
          <p:cNvSpPr/>
          <p:nvPr/>
        </p:nvSpPr>
        <p:spPr>
          <a:xfrm>
            <a:off x="548640" y="2468880"/>
            <a:ext cx="3611880" cy="2286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468880"/>
            <a:ext cx="361188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633472"/>
            <a:ext cx="3246120" cy="411480"/>
          </a:xfrm>
          <a:prstGeom prst="rect">
            <a:avLst/>
          </a:prstGeom>
          <a:noFill/>
        </p:spPr>
        <p:txBody>
          <a:bodyPr wrap="square" anchor="t" lIns="0" rIns="0" tIns="0" bIns="0">
            <a:spAutoFit/>
          </a:bodyPr>
          <a:lstStyle/>
          <a:p>
            <a:pPr algn="l">
              <a:lnSpc>
                <a:spcPct val="115000"/>
              </a:lnSpc>
            </a:pPr>
            <a:r>
              <a:rPr sz="1400" b="1">
                <a:solidFill>
                  <a:srgbClr val="FFFFFF"/>
                </a:solidFill>
                <a:latin typeface="Hiragino Sans"/>
                <a:ea typeface="Hiragino Sans"/>
                <a:cs typeface="Hiragino Sans"/>
              </a:rPr>
              <a:t>媒体内 Lift Test</a:t>
            </a:r>
          </a:p>
        </p:txBody>
      </p:sp>
      <p:sp>
        <p:nvSpPr>
          <p:cNvPr id="13" name="TextBox 12"/>
          <p:cNvSpPr txBox="1"/>
          <p:nvPr/>
        </p:nvSpPr>
        <p:spPr>
          <a:xfrm>
            <a:off x="777240" y="3017520"/>
            <a:ext cx="3246120" cy="274320"/>
          </a:xfrm>
          <a:prstGeom prst="rect">
            <a:avLst/>
          </a:prstGeom>
          <a:noFill/>
        </p:spPr>
        <p:txBody>
          <a:bodyPr wrap="square" anchor="t" lIns="0" rIns="0" tIns="0" bIns="0">
            <a:spAutoFit/>
          </a:bodyPr>
          <a:lstStyle/>
          <a:p>
            <a:pPr algn="l">
              <a:lnSpc>
                <a:spcPct val="115000"/>
              </a:lnSpc>
            </a:pPr>
            <a:r>
              <a:rPr sz="1000" b="0">
                <a:solidFill>
                  <a:srgbClr val="FFFFFF"/>
                </a:solidFill>
                <a:latin typeface="Hiragino Sans"/>
                <a:ea typeface="Hiragino Sans"/>
                <a:cs typeface="Hiragino Sans"/>
              </a:rPr>
              <a:t>Meta / Google / TikTok</a:t>
            </a:r>
          </a:p>
        </p:txBody>
      </p:sp>
      <p:sp>
        <p:nvSpPr>
          <p:cNvPr id="14" name="TextBox 13"/>
          <p:cNvSpPr txBox="1"/>
          <p:nvPr/>
        </p:nvSpPr>
        <p:spPr>
          <a:xfrm>
            <a:off x="777240" y="3474720"/>
            <a:ext cx="3246120" cy="123444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媒体公式機能</a:t>
            </a:r>
          </a:p>
          <a:p>
            <a:pPr algn="l">
              <a:lnSpc>
                <a:spcPct val="160000"/>
              </a:lnSpc>
            </a:pPr>
            <a:r>
              <a:rPr sz="1100" b="0">
                <a:solidFill>
                  <a:srgbClr val="1A1A1A"/>
                </a:solidFill>
                <a:latin typeface="Hiragino Sans"/>
                <a:ea typeface="Hiragino Sans"/>
                <a:cs typeface="Hiragino Sans"/>
              </a:rPr>
              <a:t>無料で利用可</a:t>
            </a:r>
          </a:p>
          <a:p>
            <a:pPr algn="l">
              <a:lnSpc>
                <a:spcPct val="160000"/>
              </a:lnSpc>
            </a:pPr>
            <a:r>
              <a:rPr sz="1100" b="0">
                <a:solidFill>
                  <a:srgbClr val="1A1A1A"/>
                </a:solidFill>
                <a:latin typeface="Hiragino Sans"/>
                <a:ea typeface="Hiragino Sans"/>
                <a:cs typeface="Hiragino Sans"/>
              </a:rPr>
              <a:t>GeoでなくUserベース</a:t>
            </a:r>
          </a:p>
        </p:txBody>
      </p:sp>
      <p:sp>
        <p:nvSpPr>
          <p:cNvPr id="15" name="Rounded Rectangle 14"/>
          <p:cNvSpPr/>
          <p:nvPr/>
        </p:nvSpPr>
        <p:spPr>
          <a:xfrm>
            <a:off x="4297680" y="2468880"/>
            <a:ext cx="3611880" cy="2286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97680" y="2468880"/>
            <a:ext cx="361188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26280" y="2633472"/>
            <a:ext cx="3246120" cy="411480"/>
          </a:xfrm>
          <a:prstGeom prst="rect">
            <a:avLst/>
          </a:prstGeom>
          <a:noFill/>
        </p:spPr>
        <p:txBody>
          <a:bodyPr wrap="square" anchor="t" lIns="0" rIns="0" tIns="0" bIns="0">
            <a:spAutoFit/>
          </a:bodyPr>
          <a:lstStyle/>
          <a:p>
            <a:pPr algn="l">
              <a:lnSpc>
                <a:spcPct val="115000"/>
              </a:lnSpc>
            </a:pPr>
            <a:r>
              <a:rPr sz="1400" b="1">
                <a:solidFill>
                  <a:srgbClr val="FFFFFF"/>
                </a:solidFill>
                <a:latin typeface="Hiragino Sans"/>
                <a:ea typeface="Hiragino Sans"/>
                <a:cs typeface="Hiragino Sans"/>
              </a:rPr>
              <a:t>Geo Lift Test</a:t>
            </a:r>
          </a:p>
        </p:txBody>
      </p:sp>
      <p:sp>
        <p:nvSpPr>
          <p:cNvPr id="18" name="TextBox 17"/>
          <p:cNvSpPr txBox="1"/>
          <p:nvPr/>
        </p:nvSpPr>
        <p:spPr>
          <a:xfrm>
            <a:off x="4526280" y="3017520"/>
            <a:ext cx="3246120" cy="274320"/>
          </a:xfrm>
          <a:prstGeom prst="rect">
            <a:avLst/>
          </a:prstGeom>
          <a:noFill/>
        </p:spPr>
        <p:txBody>
          <a:bodyPr wrap="square" anchor="t" lIns="0" rIns="0" tIns="0" bIns="0">
            <a:spAutoFit/>
          </a:bodyPr>
          <a:lstStyle/>
          <a:p>
            <a:pPr algn="l">
              <a:lnSpc>
                <a:spcPct val="115000"/>
              </a:lnSpc>
            </a:pPr>
            <a:r>
              <a:rPr sz="1000" b="0">
                <a:solidFill>
                  <a:srgbClr val="FFFFFF"/>
                </a:solidFill>
                <a:latin typeface="Hiragino Sans"/>
                <a:ea typeface="Hiragino Sans"/>
                <a:cs typeface="Hiragino Sans"/>
              </a:rPr>
              <a:t>地域別広告非配信</a:t>
            </a:r>
          </a:p>
        </p:txBody>
      </p:sp>
      <p:sp>
        <p:nvSpPr>
          <p:cNvPr id="19" name="TextBox 18"/>
          <p:cNvSpPr txBox="1"/>
          <p:nvPr/>
        </p:nvSpPr>
        <p:spPr>
          <a:xfrm>
            <a:off x="4526280" y="3474720"/>
            <a:ext cx="3246120" cy="123444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ある地域で配信停止し売上比較</a:t>
            </a:r>
          </a:p>
          <a:p>
            <a:pPr algn="l">
              <a:lnSpc>
                <a:spcPct val="160000"/>
              </a:lnSpc>
            </a:pPr>
            <a:r>
              <a:rPr sz="1100" b="0">
                <a:solidFill>
                  <a:srgbClr val="1A1A1A"/>
                </a:solidFill>
                <a:latin typeface="Hiragino Sans"/>
                <a:ea typeface="Hiragino Sans"/>
                <a:cs typeface="Hiragino Sans"/>
              </a:rPr>
              <a:t>TV CM の効果測定にも使う</a:t>
            </a:r>
          </a:p>
          <a:p>
            <a:pPr algn="l">
              <a:lnSpc>
                <a:spcPct val="160000"/>
              </a:lnSpc>
            </a:pPr>
            <a:r>
              <a:rPr sz="1100" b="0">
                <a:solidFill>
                  <a:srgbClr val="1A1A1A"/>
                </a:solidFill>
                <a:latin typeface="Hiragino Sans"/>
                <a:ea typeface="Hiragino Sans"/>
                <a:cs typeface="Hiragino Sans"/>
              </a:rPr>
              <a:t>商用ツール (Geolift / Noogata) も</a:t>
            </a:r>
          </a:p>
        </p:txBody>
      </p:sp>
      <p:sp>
        <p:nvSpPr>
          <p:cNvPr id="20" name="Rounded Rectangle 19"/>
          <p:cNvSpPr/>
          <p:nvPr/>
        </p:nvSpPr>
        <p:spPr>
          <a:xfrm>
            <a:off x="8046720" y="2468880"/>
            <a:ext cx="3611880" cy="2286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46720" y="2468880"/>
            <a:ext cx="361188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75320" y="2633472"/>
            <a:ext cx="3246120" cy="411480"/>
          </a:xfrm>
          <a:prstGeom prst="rect">
            <a:avLst/>
          </a:prstGeom>
          <a:noFill/>
        </p:spPr>
        <p:txBody>
          <a:bodyPr wrap="square" anchor="t" lIns="0" rIns="0" tIns="0" bIns="0">
            <a:spAutoFit/>
          </a:bodyPr>
          <a:lstStyle/>
          <a:p>
            <a:pPr algn="l">
              <a:lnSpc>
                <a:spcPct val="115000"/>
              </a:lnSpc>
            </a:pPr>
            <a:r>
              <a:rPr sz="1400" b="1">
                <a:solidFill>
                  <a:srgbClr val="FFFFFF"/>
                </a:solidFill>
                <a:latin typeface="Hiragino Sans"/>
                <a:ea typeface="Hiragino Sans"/>
                <a:cs typeface="Hiragino Sans"/>
              </a:rPr>
              <a:t>Switchback Test</a:t>
            </a:r>
          </a:p>
        </p:txBody>
      </p:sp>
      <p:sp>
        <p:nvSpPr>
          <p:cNvPr id="23" name="TextBox 22"/>
          <p:cNvSpPr txBox="1"/>
          <p:nvPr/>
        </p:nvSpPr>
        <p:spPr>
          <a:xfrm>
            <a:off x="8275320" y="3017520"/>
            <a:ext cx="3246120" cy="274320"/>
          </a:xfrm>
          <a:prstGeom prst="rect">
            <a:avLst/>
          </a:prstGeom>
          <a:noFill/>
        </p:spPr>
        <p:txBody>
          <a:bodyPr wrap="square" anchor="t" lIns="0" rIns="0" tIns="0" bIns="0">
            <a:spAutoFit/>
          </a:bodyPr>
          <a:lstStyle/>
          <a:p>
            <a:pPr algn="l">
              <a:lnSpc>
                <a:spcPct val="115000"/>
              </a:lnSpc>
            </a:pPr>
            <a:r>
              <a:rPr sz="1000" b="0">
                <a:solidFill>
                  <a:srgbClr val="FFFFFF"/>
                </a:solidFill>
                <a:latin typeface="Hiragino Sans"/>
                <a:ea typeface="Hiragino Sans"/>
                <a:cs typeface="Hiragino Sans"/>
              </a:rPr>
              <a:t>時間帯別配信</a:t>
            </a:r>
          </a:p>
        </p:txBody>
      </p:sp>
      <p:sp>
        <p:nvSpPr>
          <p:cNvPr id="24" name="TextBox 23"/>
          <p:cNvSpPr txBox="1"/>
          <p:nvPr/>
        </p:nvSpPr>
        <p:spPr>
          <a:xfrm>
            <a:off x="8275320" y="3474720"/>
            <a:ext cx="3246120" cy="123444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時間帯で配信ON/OFFを切替</a:t>
            </a:r>
          </a:p>
          <a:p>
            <a:pPr algn="l">
              <a:lnSpc>
                <a:spcPct val="160000"/>
              </a:lnSpc>
            </a:pPr>
            <a:r>
              <a:rPr sz="1100" b="0">
                <a:solidFill>
                  <a:srgbClr val="1A1A1A"/>
                </a:solidFill>
                <a:latin typeface="Hiragino Sans"/>
                <a:ea typeface="Hiragino Sans"/>
                <a:cs typeface="Hiragino Sans"/>
              </a:rPr>
              <a:t>比較。</a:t>
            </a:r>
          </a:p>
          <a:p>
            <a:pPr algn="l">
              <a:lnSpc>
                <a:spcPct val="160000"/>
              </a:lnSpc>
            </a:pPr>
            <a:r>
              <a:rPr sz="1100" b="0">
                <a:solidFill>
                  <a:srgbClr val="1A1A1A"/>
                </a:solidFill>
                <a:latin typeface="Hiragino Sans"/>
                <a:ea typeface="Hiragino Sans"/>
                <a:cs typeface="Hiragino Sans"/>
              </a:rPr>
              <a:t>短期の検証に向く</a:t>
            </a:r>
          </a:p>
        </p:txBody>
      </p:sp>
      <p:sp>
        <p:nvSpPr>
          <p:cNvPr id="25" name="Rounded Rectangle 24"/>
          <p:cNvSpPr/>
          <p:nvPr/>
        </p:nvSpPr>
        <p:spPr>
          <a:xfrm>
            <a:off x="548640" y="4983480"/>
            <a:ext cx="11109960" cy="137160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5120640"/>
            <a:ext cx="100584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 副業代行のアプローチ</a:t>
            </a:r>
          </a:p>
        </p:txBody>
      </p:sp>
      <p:sp>
        <p:nvSpPr>
          <p:cNvPr id="27" name="TextBox 26"/>
          <p:cNvSpPr txBox="1"/>
          <p:nvPr/>
        </p:nvSpPr>
        <p:spPr>
          <a:xfrm>
            <a:off x="777240" y="5440680"/>
            <a:ext cx="10972800" cy="868680"/>
          </a:xfrm>
          <a:prstGeom prst="rect">
            <a:avLst/>
          </a:prstGeom>
          <a:noFill/>
        </p:spPr>
        <p:txBody>
          <a:bodyPr wrap="square" anchor="t" lIns="0" rIns="0" tIns="0" bIns="0">
            <a:spAutoFit/>
          </a:bodyPr>
          <a:lstStyle/>
          <a:p>
            <a:pPr algn="l">
              <a:lnSpc>
                <a:spcPct val="155000"/>
              </a:lnSpc>
            </a:pPr>
            <a:r>
              <a:rPr sz="1100" b="0">
                <a:solidFill>
                  <a:srgbClr val="1A1A1A"/>
                </a:solidFill>
                <a:latin typeface="Hiragino Sans"/>
                <a:ea typeface="Hiragino Sans"/>
                <a:cs typeface="Hiragino Sans"/>
              </a:rPr>
              <a:t>• 月予算100万円以上のクライアントは媒体内 Lift Test を月次で実施 (無料)</a:t>
            </a:r>
          </a:p>
          <a:p>
            <a:pPr algn="l">
              <a:lnSpc>
                <a:spcPct val="155000"/>
              </a:lnSpc>
            </a:pPr>
            <a:r>
              <a:rPr sz="1100" b="0">
                <a:solidFill>
                  <a:srgbClr val="1A1A1A"/>
                </a:solidFill>
                <a:latin typeface="Hiragino Sans"/>
                <a:ea typeface="Hiragino Sans"/>
                <a:cs typeface="Hiragino Sans"/>
              </a:rPr>
              <a:t>• Incremental ROAS をクライアントレポートに必須記載 → 信頼性飛躍</a:t>
            </a:r>
          </a:p>
          <a:p>
            <a:pPr algn="l">
              <a:lnSpc>
                <a:spcPct val="155000"/>
              </a:lnSpc>
            </a:pPr>
            <a:r>
              <a:rPr sz="1100" b="0">
                <a:solidFill>
                  <a:srgbClr val="1A1A1A"/>
                </a:solidFill>
                <a:latin typeface="Hiragino Sans"/>
                <a:ea typeface="Hiragino Sans"/>
                <a:cs typeface="Hiragino Sans"/>
              </a:rPr>
              <a:t>• Geo Test は数百万予算以上 + TVCM併用ブランドで提案</a:t>
            </a:r>
          </a:p>
        </p:txBody>
      </p:sp>
      <p:sp>
        <p:nvSpPr>
          <p:cNvPr id="28" name="TextBox 27"/>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Conversion / Brand / Search Lift Studies</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媒体公式の3大Lift Test</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P156 / 250</a:t>
            </a:r>
          </a:p>
        </p:txBody>
      </p:sp>
      <p:sp>
        <p:nvSpPr>
          <p:cNvPr id="8" name="Rounded Rectangle 7"/>
          <p:cNvSpPr/>
          <p:nvPr/>
        </p:nvSpPr>
        <p:spPr>
          <a:xfrm>
            <a:off x="548640" y="1417320"/>
            <a:ext cx="3611880" cy="2286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361188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581912"/>
            <a:ext cx="3246120" cy="411480"/>
          </a:xfrm>
          <a:prstGeom prst="rect">
            <a:avLst/>
          </a:prstGeom>
          <a:noFill/>
        </p:spPr>
        <p:txBody>
          <a:bodyPr wrap="square" anchor="t" lIns="0" rIns="0" tIns="0" bIns="0">
            <a:spAutoFit/>
          </a:bodyPr>
          <a:lstStyle/>
          <a:p>
            <a:pPr algn="l">
              <a:lnSpc>
                <a:spcPct val="115000"/>
              </a:lnSpc>
            </a:pPr>
            <a:r>
              <a:rPr sz="1500" b="1">
                <a:solidFill>
                  <a:srgbClr val="E87722"/>
                </a:solidFill>
                <a:latin typeface="Hiragino Sans"/>
                <a:ea typeface="Hiragino Sans"/>
                <a:cs typeface="Hiragino Sans"/>
              </a:rPr>
              <a:t>Conversion Lift</a:t>
            </a:r>
          </a:p>
        </p:txBody>
      </p:sp>
      <p:sp>
        <p:nvSpPr>
          <p:cNvPr id="11" name="TextBox 10"/>
          <p:cNvSpPr txBox="1"/>
          <p:nvPr/>
        </p:nvSpPr>
        <p:spPr>
          <a:xfrm>
            <a:off x="777240" y="1965960"/>
            <a:ext cx="3246120" cy="27432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Incremental CV測定</a:t>
            </a:r>
          </a:p>
        </p:txBody>
      </p:sp>
      <p:sp>
        <p:nvSpPr>
          <p:cNvPr id="12" name="TextBox 11"/>
          <p:cNvSpPr txBox="1"/>
          <p:nvPr/>
        </p:nvSpPr>
        <p:spPr>
          <a:xfrm>
            <a:off x="777240" y="2423160"/>
            <a:ext cx="3246120" cy="123444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配信群と非配信群でCV率比較</a:t>
            </a:r>
          </a:p>
          <a:p>
            <a:pPr algn="l">
              <a:lnSpc>
                <a:spcPct val="160000"/>
              </a:lnSpc>
            </a:pPr>
            <a:r>
              <a:rPr sz="1100" b="0">
                <a:solidFill>
                  <a:srgbClr val="1A1A1A"/>
                </a:solidFill>
                <a:latin typeface="Hiragino Sans"/>
                <a:ea typeface="Hiragino Sans"/>
                <a:cs typeface="Hiragino Sans"/>
              </a:rPr>
              <a:t>下流CV (購入/リード)</a:t>
            </a:r>
          </a:p>
        </p:txBody>
      </p:sp>
      <p:sp>
        <p:nvSpPr>
          <p:cNvPr id="13" name="Rounded Rectangle 12"/>
          <p:cNvSpPr/>
          <p:nvPr/>
        </p:nvSpPr>
        <p:spPr>
          <a:xfrm>
            <a:off x="4297680" y="1417320"/>
            <a:ext cx="3611880" cy="2286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7680" y="1417320"/>
            <a:ext cx="361188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26280" y="1581912"/>
            <a:ext cx="3246120" cy="411480"/>
          </a:xfrm>
          <a:prstGeom prst="rect">
            <a:avLst/>
          </a:prstGeom>
          <a:noFill/>
        </p:spPr>
        <p:txBody>
          <a:bodyPr wrap="square" anchor="t" lIns="0" rIns="0" tIns="0" bIns="0">
            <a:spAutoFit/>
          </a:bodyPr>
          <a:lstStyle/>
          <a:p>
            <a:pPr algn="l">
              <a:lnSpc>
                <a:spcPct val="115000"/>
              </a:lnSpc>
            </a:pPr>
            <a:r>
              <a:rPr sz="1500" b="1">
                <a:solidFill>
                  <a:srgbClr val="E87722"/>
                </a:solidFill>
                <a:latin typeface="Hiragino Sans"/>
                <a:ea typeface="Hiragino Sans"/>
                <a:cs typeface="Hiragino Sans"/>
              </a:rPr>
              <a:t>Brand Lift</a:t>
            </a:r>
          </a:p>
        </p:txBody>
      </p:sp>
      <p:sp>
        <p:nvSpPr>
          <p:cNvPr id="16" name="TextBox 15"/>
          <p:cNvSpPr txBox="1"/>
          <p:nvPr/>
        </p:nvSpPr>
        <p:spPr>
          <a:xfrm>
            <a:off x="4526280" y="1965960"/>
            <a:ext cx="3246120" cy="27432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認知・想起・購入意向</a:t>
            </a:r>
          </a:p>
        </p:txBody>
      </p:sp>
      <p:sp>
        <p:nvSpPr>
          <p:cNvPr id="17" name="TextBox 16"/>
          <p:cNvSpPr txBox="1"/>
          <p:nvPr/>
        </p:nvSpPr>
        <p:spPr>
          <a:xfrm>
            <a:off x="4526280" y="2423160"/>
            <a:ext cx="3246120" cy="123444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アンケートで認知系指標を測定</a:t>
            </a:r>
          </a:p>
          <a:p>
            <a:pPr algn="l">
              <a:lnSpc>
                <a:spcPct val="160000"/>
              </a:lnSpc>
            </a:pPr>
            <a:r>
              <a:rPr sz="1100" b="0">
                <a:solidFill>
                  <a:srgbClr val="1A1A1A"/>
                </a:solidFill>
                <a:latin typeface="Hiragino Sans"/>
                <a:ea typeface="Hiragino Sans"/>
                <a:cs typeface="Hiragino Sans"/>
              </a:rPr>
              <a:t>Meta / Google YouTube / TikTok</a:t>
            </a:r>
          </a:p>
        </p:txBody>
      </p:sp>
      <p:sp>
        <p:nvSpPr>
          <p:cNvPr id="18" name="Rounded Rectangle 17"/>
          <p:cNvSpPr/>
          <p:nvPr/>
        </p:nvSpPr>
        <p:spPr>
          <a:xfrm>
            <a:off x="8046720" y="1417320"/>
            <a:ext cx="3611880" cy="2286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6720" y="1417320"/>
            <a:ext cx="361188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1581912"/>
            <a:ext cx="3246120" cy="411480"/>
          </a:xfrm>
          <a:prstGeom prst="rect">
            <a:avLst/>
          </a:prstGeom>
          <a:noFill/>
        </p:spPr>
        <p:txBody>
          <a:bodyPr wrap="square" anchor="t" lIns="0" rIns="0" tIns="0" bIns="0">
            <a:spAutoFit/>
          </a:bodyPr>
          <a:lstStyle/>
          <a:p>
            <a:pPr algn="l">
              <a:lnSpc>
                <a:spcPct val="115000"/>
              </a:lnSpc>
            </a:pPr>
            <a:r>
              <a:rPr sz="1500" b="1">
                <a:solidFill>
                  <a:srgbClr val="E87722"/>
                </a:solidFill>
                <a:latin typeface="Hiragino Sans"/>
                <a:ea typeface="Hiragino Sans"/>
                <a:cs typeface="Hiragino Sans"/>
              </a:rPr>
              <a:t>Search Lift</a:t>
            </a:r>
          </a:p>
        </p:txBody>
      </p:sp>
      <p:sp>
        <p:nvSpPr>
          <p:cNvPr id="21" name="TextBox 20"/>
          <p:cNvSpPr txBox="1"/>
          <p:nvPr/>
        </p:nvSpPr>
        <p:spPr>
          <a:xfrm>
            <a:off x="8275320" y="1965960"/>
            <a:ext cx="3246120" cy="27432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ブランド検索の上昇</a:t>
            </a:r>
          </a:p>
        </p:txBody>
      </p:sp>
      <p:sp>
        <p:nvSpPr>
          <p:cNvPr id="22" name="TextBox 21"/>
          <p:cNvSpPr txBox="1"/>
          <p:nvPr/>
        </p:nvSpPr>
        <p:spPr>
          <a:xfrm>
            <a:off x="8275320" y="2423160"/>
            <a:ext cx="3246120" cy="123444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広告接触群と非接触群で</a:t>
            </a:r>
          </a:p>
          <a:p>
            <a:pPr algn="l">
              <a:lnSpc>
                <a:spcPct val="160000"/>
              </a:lnSpc>
            </a:pPr>
            <a:r>
              <a:rPr sz="1100" b="0">
                <a:solidFill>
                  <a:srgbClr val="1A1A1A"/>
                </a:solidFill>
                <a:latin typeface="Hiragino Sans"/>
                <a:ea typeface="Hiragino Sans"/>
                <a:cs typeface="Hiragino Sans"/>
              </a:rPr>
              <a:t>ブランド検索数比較</a:t>
            </a:r>
          </a:p>
          <a:p>
            <a:pPr algn="l">
              <a:lnSpc>
                <a:spcPct val="160000"/>
              </a:lnSpc>
            </a:pPr>
            <a:r>
              <a:rPr sz="1100" b="0">
                <a:solidFill>
                  <a:srgbClr val="1A1A1A"/>
                </a:solidFill>
                <a:latin typeface="Hiragino Sans"/>
                <a:ea typeface="Hiragino Sans"/>
                <a:cs typeface="Hiragino Sans"/>
              </a:rPr>
              <a:t>Google YouTube独自</a:t>
            </a:r>
          </a:p>
        </p:txBody>
      </p:sp>
      <p:sp>
        <p:nvSpPr>
          <p:cNvPr id="23" name="TextBox 22"/>
          <p:cNvSpPr txBox="1"/>
          <p:nvPr/>
        </p:nvSpPr>
        <p:spPr>
          <a:xfrm>
            <a:off x="548640" y="3931920"/>
            <a:ext cx="1097280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目的別の使い分け</a:t>
            </a:r>
          </a:p>
        </p:txBody>
      </p:sp>
      <p:sp>
        <p:nvSpPr>
          <p:cNvPr id="24" name="Rectangle 23"/>
          <p:cNvSpPr/>
          <p:nvPr/>
        </p:nvSpPr>
        <p:spPr>
          <a:xfrm>
            <a:off x="548640" y="4297680"/>
            <a:ext cx="1110996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4480560"/>
            <a:ext cx="27432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a:t>
            </a:r>
          </a:p>
        </p:txBody>
      </p:sp>
      <p:sp>
        <p:nvSpPr>
          <p:cNvPr id="26" name="TextBox 25"/>
          <p:cNvSpPr txBox="1"/>
          <p:nvPr/>
        </p:nvSpPr>
        <p:spPr>
          <a:xfrm>
            <a:off x="914400" y="4498848"/>
            <a:ext cx="228600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CV系/EC</a:t>
            </a:r>
          </a:p>
        </p:txBody>
      </p:sp>
      <p:sp>
        <p:nvSpPr>
          <p:cNvPr id="27" name="TextBox 26"/>
          <p:cNvSpPr txBox="1"/>
          <p:nvPr/>
        </p:nvSpPr>
        <p:spPr>
          <a:xfrm>
            <a:off x="3200400" y="4498848"/>
            <a:ext cx="8229600" cy="274320"/>
          </a:xfrm>
          <a:prstGeom prst="rect">
            <a:avLst/>
          </a:prstGeom>
          <a:noFill/>
        </p:spPr>
        <p:txBody>
          <a:bodyPr wrap="square" anchor="t" lIns="0" rIns="0" tIns="0" bIns="0">
            <a:spAutoFit/>
          </a:bodyPr>
          <a:lstStyle/>
          <a:p>
            <a:pPr algn="l">
              <a:lnSpc>
                <a:spcPct val="115000"/>
              </a:lnSpc>
            </a:pPr>
            <a:r>
              <a:rPr sz="1100" b="0">
                <a:solidFill>
                  <a:srgbClr val="1A1A1A"/>
                </a:solidFill>
                <a:latin typeface="Hiragino Sans"/>
                <a:ea typeface="Hiragino Sans"/>
                <a:cs typeface="Hiragino Sans"/>
              </a:rPr>
              <a:t>Conversion Lift (Meta/Google) で Incremental ROAS</a:t>
            </a:r>
          </a:p>
        </p:txBody>
      </p:sp>
      <p:sp>
        <p:nvSpPr>
          <p:cNvPr id="28" name="TextBox 27"/>
          <p:cNvSpPr txBox="1"/>
          <p:nvPr/>
        </p:nvSpPr>
        <p:spPr>
          <a:xfrm>
            <a:off x="640080" y="4864608"/>
            <a:ext cx="27432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a:t>
            </a:r>
          </a:p>
        </p:txBody>
      </p:sp>
      <p:sp>
        <p:nvSpPr>
          <p:cNvPr id="29" name="TextBox 28"/>
          <p:cNvSpPr txBox="1"/>
          <p:nvPr/>
        </p:nvSpPr>
        <p:spPr>
          <a:xfrm>
            <a:off x="914400" y="4882896"/>
            <a:ext cx="228600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ブランディング</a:t>
            </a:r>
          </a:p>
        </p:txBody>
      </p:sp>
      <p:sp>
        <p:nvSpPr>
          <p:cNvPr id="30" name="TextBox 29"/>
          <p:cNvSpPr txBox="1"/>
          <p:nvPr/>
        </p:nvSpPr>
        <p:spPr>
          <a:xfrm>
            <a:off x="3200400" y="4882896"/>
            <a:ext cx="8229600" cy="274320"/>
          </a:xfrm>
          <a:prstGeom prst="rect">
            <a:avLst/>
          </a:prstGeom>
          <a:noFill/>
        </p:spPr>
        <p:txBody>
          <a:bodyPr wrap="square" anchor="t" lIns="0" rIns="0" tIns="0" bIns="0">
            <a:spAutoFit/>
          </a:bodyPr>
          <a:lstStyle/>
          <a:p>
            <a:pPr algn="l">
              <a:lnSpc>
                <a:spcPct val="115000"/>
              </a:lnSpc>
            </a:pPr>
            <a:r>
              <a:rPr sz="1100" b="0">
                <a:solidFill>
                  <a:srgbClr val="1A1A1A"/>
                </a:solidFill>
                <a:latin typeface="Hiragino Sans"/>
                <a:ea typeface="Hiragino Sans"/>
                <a:cs typeface="Hiragino Sans"/>
              </a:rPr>
              <a:t>Brand Lift Study で認知系4指標</a:t>
            </a:r>
          </a:p>
        </p:txBody>
      </p:sp>
      <p:sp>
        <p:nvSpPr>
          <p:cNvPr id="31" name="TextBox 30"/>
          <p:cNvSpPr txBox="1"/>
          <p:nvPr/>
        </p:nvSpPr>
        <p:spPr>
          <a:xfrm>
            <a:off x="640080" y="5248656"/>
            <a:ext cx="27432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a:t>
            </a:r>
          </a:p>
        </p:txBody>
      </p:sp>
      <p:sp>
        <p:nvSpPr>
          <p:cNvPr id="32" name="TextBox 31"/>
          <p:cNvSpPr txBox="1"/>
          <p:nvPr/>
        </p:nvSpPr>
        <p:spPr>
          <a:xfrm>
            <a:off x="914400" y="5266944"/>
            <a:ext cx="228600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YouTube認知</a:t>
            </a:r>
          </a:p>
        </p:txBody>
      </p:sp>
      <p:sp>
        <p:nvSpPr>
          <p:cNvPr id="33" name="TextBox 32"/>
          <p:cNvSpPr txBox="1"/>
          <p:nvPr/>
        </p:nvSpPr>
        <p:spPr>
          <a:xfrm>
            <a:off x="3200400" y="5266944"/>
            <a:ext cx="8229600" cy="274320"/>
          </a:xfrm>
          <a:prstGeom prst="rect">
            <a:avLst/>
          </a:prstGeom>
          <a:noFill/>
        </p:spPr>
        <p:txBody>
          <a:bodyPr wrap="square" anchor="t" lIns="0" rIns="0" tIns="0" bIns="0">
            <a:spAutoFit/>
          </a:bodyPr>
          <a:lstStyle/>
          <a:p>
            <a:pPr algn="l">
              <a:lnSpc>
                <a:spcPct val="115000"/>
              </a:lnSpc>
            </a:pPr>
            <a:r>
              <a:rPr sz="1100" b="0">
                <a:solidFill>
                  <a:srgbClr val="1A1A1A"/>
                </a:solidFill>
                <a:latin typeface="Hiragino Sans"/>
                <a:ea typeface="Hiragino Sans"/>
                <a:cs typeface="Hiragino Sans"/>
              </a:rPr>
              <a:t>Brand Lift + Search Lift で『認知 → 検索』導線確認</a:t>
            </a:r>
          </a:p>
        </p:txBody>
      </p:sp>
      <p:sp>
        <p:nvSpPr>
          <p:cNvPr id="34" name="TextBox 33"/>
          <p:cNvSpPr txBox="1"/>
          <p:nvPr/>
        </p:nvSpPr>
        <p:spPr>
          <a:xfrm>
            <a:off x="640080" y="5632704"/>
            <a:ext cx="27432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a:t>
            </a:r>
          </a:p>
        </p:txBody>
      </p:sp>
      <p:sp>
        <p:nvSpPr>
          <p:cNvPr id="35" name="TextBox 34"/>
          <p:cNvSpPr txBox="1"/>
          <p:nvPr/>
        </p:nvSpPr>
        <p:spPr>
          <a:xfrm>
            <a:off x="914400" y="5650992"/>
            <a:ext cx="228600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予算最適化</a:t>
            </a:r>
          </a:p>
        </p:txBody>
      </p:sp>
      <p:sp>
        <p:nvSpPr>
          <p:cNvPr id="36" name="TextBox 35"/>
          <p:cNvSpPr txBox="1"/>
          <p:nvPr/>
        </p:nvSpPr>
        <p:spPr>
          <a:xfrm>
            <a:off x="3200400" y="5650992"/>
            <a:ext cx="8229600" cy="274320"/>
          </a:xfrm>
          <a:prstGeom prst="rect">
            <a:avLst/>
          </a:prstGeom>
          <a:noFill/>
        </p:spPr>
        <p:txBody>
          <a:bodyPr wrap="square" anchor="t" lIns="0" rIns="0" tIns="0" bIns="0">
            <a:spAutoFit/>
          </a:bodyPr>
          <a:lstStyle/>
          <a:p>
            <a:pPr algn="l">
              <a:lnSpc>
                <a:spcPct val="115000"/>
              </a:lnSpc>
            </a:pPr>
            <a:r>
              <a:rPr sz="1100" b="0">
                <a:solidFill>
                  <a:srgbClr val="1A1A1A"/>
                </a:solidFill>
                <a:latin typeface="Hiragino Sans"/>
                <a:ea typeface="Hiragino Sans"/>
                <a:cs typeface="Hiragino Sans"/>
              </a:rPr>
              <a:t>上記+ MMM で全体配分検証</a:t>
            </a:r>
          </a:p>
        </p:txBody>
      </p:sp>
      <p:sp>
        <p:nvSpPr>
          <p:cNvPr id="37" name="TextBox 36"/>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Cookieless 計測の現代</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Privacy Sandbox 終了後の現実解</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P157 / 250</a:t>
            </a:r>
          </a:p>
        </p:txBody>
      </p:sp>
      <p:sp>
        <p:nvSpPr>
          <p:cNvPr id="8" name="Rounded Rectangle 7"/>
          <p:cNvSpPr/>
          <p:nvPr/>
        </p:nvSpPr>
        <p:spPr>
          <a:xfrm>
            <a:off x="548640" y="1371600"/>
            <a:ext cx="11109960" cy="1188720"/>
          </a:xfrm>
          <a:prstGeom prst="roundRect">
            <a:avLst>
              <a:gd name="adj" fmla="val 6000"/>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08760"/>
            <a:ext cx="10058400" cy="365760"/>
          </a:xfrm>
          <a:prstGeom prst="rect">
            <a:avLst/>
          </a:prstGeom>
          <a:noFill/>
        </p:spPr>
        <p:txBody>
          <a:bodyPr wrap="square" anchor="t" lIns="0" rIns="0" tIns="0" bIns="0">
            <a:spAutoFit/>
          </a:bodyPr>
          <a:lstStyle/>
          <a:p>
            <a:pPr algn="l">
              <a:lnSpc>
                <a:spcPct val="115000"/>
              </a:lnSpc>
            </a:pPr>
            <a:r>
              <a:rPr sz="1400" b="1">
                <a:solidFill>
                  <a:srgbClr val="FFFFFF"/>
                </a:solidFill>
                <a:latin typeface="Hiragino Sans"/>
                <a:ea typeface="Hiragino Sans"/>
                <a:cs typeface="Hiragino Sans"/>
              </a:rPr>
              <a:t>🔥 重要な事実</a:t>
            </a:r>
          </a:p>
        </p:txBody>
      </p:sp>
      <p:sp>
        <p:nvSpPr>
          <p:cNvPr id="10" name="TextBox 9"/>
          <p:cNvSpPr txBox="1"/>
          <p:nvPr/>
        </p:nvSpPr>
        <p:spPr>
          <a:xfrm>
            <a:off x="777240" y="1874519"/>
            <a:ext cx="10972800" cy="640080"/>
          </a:xfrm>
          <a:prstGeom prst="rect">
            <a:avLst/>
          </a:prstGeom>
          <a:noFill/>
        </p:spPr>
        <p:txBody>
          <a:bodyPr wrap="square" anchor="t" lIns="0" rIns="0" tIns="0" bIns="0">
            <a:spAutoFit/>
          </a:bodyPr>
          <a:lstStyle/>
          <a:p>
            <a:pPr algn="l">
              <a:lnSpc>
                <a:spcPct val="150000"/>
              </a:lnSpc>
            </a:pPr>
            <a:r>
              <a:rPr sz="1200" b="0">
                <a:solidFill>
                  <a:srgbClr val="FFFFFF"/>
                </a:solidFill>
                <a:latin typeface="Hiragino Sans"/>
                <a:ea typeface="Hiragino Sans"/>
                <a:cs typeface="Hiragino Sans"/>
              </a:rPr>
              <a:t>Privacy Sandbox 大半の技術は 2025/10/17 に廃止。</a:t>
            </a:r>
          </a:p>
          <a:p>
            <a:pPr algn="l">
              <a:lnSpc>
                <a:spcPct val="150000"/>
              </a:lnSpc>
            </a:pPr>
            <a:r>
              <a:rPr sz="1200" b="0">
                <a:solidFill>
                  <a:srgbClr val="FFFFFF"/>
                </a:solidFill>
                <a:latin typeface="Hiragino Sans"/>
                <a:ea typeface="Hiragino Sans"/>
                <a:cs typeface="Hiragino Sans"/>
              </a:rPr>
              <a:t>3rd Party Cookie は Chrome に無期限残存 — しかし業界は『Cookieless前提』に既に移行済</a:t>
            </a:r>
          </a:p>
        </p:txBody>
      </p:sp>
      <p:sp>
        <p:nvSpPr>
          <p:cNvPr id="11" name="Rounded Rectangle 10"/>
          <p:cNvSpPr/>
          <p:nvPr/>
        </p:nvSpPr>
        <p:spPr>
          <a:xfrm>
            <a:off x="548640" y="2834640"/>
            <a:ext cx="2697480" cy="16916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834640"/>
            <a:ext cx="26974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063240"/>
            <a:ext cx="2331720" cy="365760"/>
          </a:xfrm>
          <a:prstGeom prst="rect">
            <a:avLst/>
          </a:prstGeom>
          <a:noFill/>
        </p:spPr>
        <p:txBody>
          <a:bodyPr wrap="square" anchor="t" lIns="0" rIns="0" tIns="0" bIns="0">
            <a:spAutoFit/>
          </a:bodyPr>
          <a:lstStyle/>
          <a:p>
            <a:pPr algn="ctr">
              <a:lnSpc>
                <a:spcPct val="115000"/>
              </a:lnSpc>
            </a:pPr>
            <a:r>
              <a:rPr sz="1300" b="1">
                <a:solidFill>
                  <a:srgbClr val="0F2A4F"/>
                </a:solidFill>
                <a:latin typeface="Hiragino Sans"/>
                <a:ea typeface="Hiragino Sans"/>
                <a:cs typeface="Hiragino Sans"/>
              </a:rPr>
              <a:t>1st Party Cookie</a:t>
            </a:r>
          </a:p>
        </p:txBody>
      </p:sp>
      <p:sp>
        <p:nvSpPr>
          <p:cNvPr id="14" name="TextBox 13"/>
          <p:cNvSpPr txBox="1"/>
          <p:nvPr/>
        </p:nvSpPr>
        <p:spPr>
          <a:xfrm>
            <a:off x="731520" y="3474720"/>
            <a:ext cx="2331720" cy="960120"/>
          </a:xfrm>
          <a:prstGeom prst="rect">
            <a:avLst/>
          </a:prstGeom>
          <a:noFill/>
        </p:spPr>
        <p:txBody>
          <a:bodyPr wrap="square" anchor="t" lIns="0" rIns="0" tIns="0" bIns="0">
            <a:spAutoFit/>
          </a:bodyPr>
          <a:lstStyle/>
          <a:p>
            <a:pPr algn="ctr">
              <a:lnSpc>
                <a:spcPct val="155000"/>
              </a:lnSpc>
            </a:pPr>
            <a:r>
              <a:rPr sz="1000" b="0">
                <a:solidFill>
                  <a:srgbClr val="1A1A1A"/>
                </a:solidFill>
                <a:latin typeface="Hiragino Sans"/>
                <a:ea typeface="Hiragino Sans"/>
                <a:cs typeface="Hiragino Sans"/>
              </a:rPr>
              <a:t>ITP/ATTでも残る</a:t>
            </a:r>
          </a:p>
          <a:p>
            <a:pPr algn="ctr">
              <a:lnSpc>
                <a:spcPct val="155000"/>
              </a:lnSpc>
            </a:pPr>
            <a:r>
              <a:rPr sz="1000" b="0">
                <a:solidFill>
                  <a:srgbClr val="1A1A1A"/>
                </a:solidFill>
                <a:latin typeface="Hiragino Sans"/>
                <a:ea typeface="Hiragino Sans"/>
                <a:cs typeface="Hiragino Sans"/>
              </a:rPr>
              <a:t>自社ドメインのCookie</a:t>
            </a:r>
          </a:p>
        </p:txBody>
      </p:sp>
      <p:sp>
        <p:nvSpPr>
          <p:cNvPr id="15" name="Rounded Rectangle 14"/>
          <p:cNvSpPr/>
          <p:nvPr/>
        </p:nvSpPr>
        <p:spPr>
          <a:xfrm>
            <a:off x="3337560" y="2834640"/>
            <a:ext cx="2697480" cy="16916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37560" y="2834640"/>
            <a:ext cx="26974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20440" y="3063240"/>
            <a:ext cx="2331720" cy="365760"/>
          </a:xfrm>
          <a:prstGeom prst="rect">
            <a:avLst/>
          </a:prstGeom>
          <a:noFill/>
        </p:spPr>
        <p:txBody>
          <a:bodyPr wrap="square" anchor="t" lIns="0" rIns="0" tIns="0" bIns="0">
            <a:spAutoFit/>
          </a:bodyPr>
          <a:lstStyle/>
          <a:p>
            <a:pPr algn="ctr">
              <a:lnSpc>
                <a:spcPct val="115000"/>
              </a:lnSpc>
            </a:pPr>
            <a:r>
              <a:rPr sz="1300" b="1">
                <a:solidFill>
                  <a:srgbClr val="0F2A4F"/>
                </a:solidFill>
                <a:latin typeface="Hiragino Sans"/>
                <a:ea typeface="Hiragino Sans"/>
                <a:cs typeface="Hiragino Sans"/>
              </a:rPr>
              <a:t>Hashed PII</a:t>
            </a:r>
          </a:p>
        </p:txBody>
      </p:sp>
      <p:sp>
        <p:nvSpPr>
          <p:cNvPr id="18" name="TextBox 17"/>
          <p:cNvSpPr txBox="1"/>
          <p:nvPr/>
        </p:nvSpPr>
        <p:spPr>
          <a:xfrm>
            <a:off x="3520440" y="3474720"/>
            <a:ext cx="2331720" cy="960120"/>
          </a:xfrm>
          <a:prstGeom prst="rect">
            <a:avLst/>
          </a:prstGeom>
          <a:noFill/>
        </p:spPr>
        <p:txBody>
          <a:bodyPr wrap="square" anchor="t" lIns="0" rIns="0" tIns="0" bIns="0">
            <a:spAutoFit/>
          </a:bodyPr>
          <a:lstStyle/>
          <a:p>
            <a:pPr algn="ctr">
              <a:lnSpc>
                <a:spcPct val="155000"/>
              </a:lnSpc>
            </a:pPr>
            <a:r>
              <a:rPr sz="1000" b="0">
                <a:solidFill>
                  <a:srgbClr val="1A1A1A"/>
                </a:solidFill>
                <a:latin typeface="Hiragino Sans"/>
                <a:ea typeface="Hiragino Sans"/>
                <a:cs typeface="Hiragino Sans"/>
              </a:rPr>
              <a:t>Email/電話のSHA-256</a:t>
            </a:r>
          </a:p>
          <a:p>
            <a:pPr algn="ctr">
              <a:lnSpc>
                <a:spcPct val="155000"/>
              </a:lnSpc>
            </a:pPr>
            <a:r>
              <a:rPr sz="1000" b="0">
                <a:solidFill>
                  <a:srgbClr val="1A1A1A"/>
                </a:solidFill>
                <a:latin typeface="Hiragino Sans"/>
                <a:ea typeface="Hiragino Sans"/>
                <a:cs typeface="Hiragino Sans"/>
              </a:rPr>
              <a:t>Customer Match / EMQ</a:t>
            </a:r>
          </a:p>
        </p:txBody>
      </p:sp>
      <p:sp>
        <p:nvSpPr>
          <p:cNvPr id="19" name="Rounded Rectangle 18"/>
          <p:cNvSpPr/>
          <p:nvPr/>
        </p:nvSpPr>
        <p:spPr>
          <a:xfrm>
            <a:off x="6126480" y="2834640"/>
            <a:ext cx="2697480" cy="16916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26480" y="2834640"/>
            <a:ext cx="26974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9360" y="3063240"/>
            <a:ext cx="2331720" cy="365760"/>
          </a:xfrm>
          <a:prstGeom prst="rect">
            <a:avLst/>
          </a:prstGeom>
          <a:noFill/>
        </p:spPr>
        <p:txBody>
          <a:bodyPr wrap="square" anchor="t" lIns="0" rIns="0" tIns="0" bIns="0">
            <a:spAutoFit/>
          </a:bodyPr>
          <a:lstStyle/>
          <a:p>
            <a:pPr algn="ctr">
              <a:lnSpc>
                <a:spcPct val="115000"/>
              </a:lnSpc>
            </a:pPr>
            <a:r>
              <a:rPr sz="1300" b="1">
                <a:solidFill>
                  <a:srgbClr val="0F2A4F"/>
                </a:solidFill>
                <a:latin typeface="Hiragino Sans"/>
                <a:ea typeface="Hiragino Sans"/>
                <a:cs typeface="Hiragino Sans"/>
              </a:rPr>
              <a:t>Probabilistic ID</a:t>
            </a:r>
          </a:p>
        </p:txBody>
      </p:sp>
      <p:sp>
        <p:nvSpPr>
          <p:cNvPr id="22" name="TextBox 21"/>
          <p:cNvSpPr txBox="1"/>
          <p:nvPr/>
        </p:nvSpPr>
        <p:spPr>
          <a:xfrm>
            <a:off x="6309360" y="3474720"/>
            <a:ext cx="2331720" cy="960120"/>
          </a:xfrm>
          <a:prstGeom prst="rect">
            <a:avLst/>
          </a:prstGeom>
          <a:noFill/>
        </p:spPr>
        <p:txBody>
          <a:bodyPr wrap="square" anchor="t" lIns="0" rIns="0" tIns="0" bIns="0">
            <a:spAutoFit/>
          </a:bodyPr>
          <a:lstStyle/>
          <a:p>
            <a:pPr algn="ctr">
              <a:lnSpc>
                <a:spcPct val="155000"/>
              </a:lnSpc>
            </a:pPr>
            <a:r>
              <a:rPr sz="1000" b="0">
                <a:solidFill>
                  <a:srgbClr val="1A1A1A"/>
                </a:solidFill>
                <a:latin typeface="Hiragino Sans"/>
                <a:ea typeface="Hiragino Sans"/>
                <a:cs typeface="Hiragino Sans"/>
              </a:rPr>
              <a:t>デバイス指紋・行動から</a:t>
            </a:r>
          </a:p>
          <a:p>
            <a:pPr algn="ctr">
              <a:lnSpc>
                <a:spcPct val="155000"/>
              </a:lnSpc>
            </a:pPr>
            <a:r>
              <a:rPr sz="1000" b="0">
                <a:solidFill>
                  <a:srgbClr val="1A1A1A"/>
                </a:solidFill>
                <a:latin typeface="Hiragino Sans"/>
                <a:ea typeface="Hiragino Sans"/>
                <a:cs typeface="Hiragino Sans"/>
              </a:rPr>
              <a:t>推定 (UID2.0 / RampID)</a:t>
            </a:r>
          </a:p>
        </p:txBody>
      </p:sp>
      <p:sp>
        <p:nvSpPr>
          <p:cNvPr id="23" name="Rounded Rectangle 22"/>
          <p:cNvSpPr/>
          <p:nvPr/>
        </p:nvSpPr>
        <p:spPr>
          <a:xfrm>
            <a:off x="8915400" y="2834640"/>
            <a:ext cx="2697480" cy="16916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15400" y="2834640"/>
            <a:ext cx="26974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98280" y="3063240"/>
            <a:ext cx="2331720" cy="365760"/>
          </a:xfrm>
          <a:prstGeom prst="rect">
            <a:avLst/>
          </a:prstGeom>
          <a:noFill/>
        </p:spPr>
        <p:txBody>
          <a:bodyPr wrap="square" anchor="t" lIns="0" rIns="0" tIns="0" bIns="0">
            <a:spAutoFit/>
          </a:bodyPr>
          <a:lstStyle/>
          <a:p>
            <a:pPr algn="ctr">
              <a:lnSpc>
                <a:spcPct val="115000"/>
              </a:lnSpc>
            </a:pPr>
            <a:r>
              <a:rPr sz="1300" b="1">
                <a:solidFill>
                  <a:srgbClr val="0F2A4F"/>
                </a:solidFill>
                <a:latin typeface="Hiragino Sans"/>
                <a:ea typeface="Hiragino Sans"/>
                <a:cs typeface="Hiragino Sans"/>
              </a:rPr>
              <a:t>Modeling</a:t>
            </a:r>
          </a:p>
        </p:txBody>
      </p:sp>
      <p:sp>
        <p:nvSpPr>
          <p:cNvPr id="26" name="TextBox 25"/>
          <p:cNvSpPr txBox="1"/>
          <p:nvPr/>
        </p:nvSpPr>
        <p:spPr>
          <a:xfrm>
            <a:off x="9098280" y="3474720"/>
            <a:ext cx="2331720" cy="960120"/>
          </a:xfrm>
          <a:prstGeom prst="rect">
            <a:avLst/>
          </a:prstGeom>
          <a:noFill/>
        </p:spPr>
        <p:txBody>
          <a:bodyPr wrap="square" anchor="t" lIns="0" rIns="0" tIns="0" bIns="0">
            <a:spAutoFit/>
          </a:bodyPr>
          <a:lstStyle/>
          <a:p>
            <a:pPr algn="ctr">
              <a:lnSpc>
                <a:spcPct val="155000"/>
              </a:lnSpc>
            </a:pPr>
            <a:r>
              <a:rPr sz="1000" b="0">
                <a:solidFill>
                  <a:srgbClr val="1A1A1A"/>
                </a:solidFill>
                <a:latin typeface="Hiragino Sans"/>
                <a:ea typeface="Hiragino Sans"/>
                <a:cs typeface="Hiragino Sans"/>
              </a:rPr>
              <a:t>MLで配信効果推定</a:t>
            </a:r>
          </a:p>
          <a:p>
            <a:pPr algn="ctr">
              <a:lnSpc>
                <a:spcPct val="155000"/>
              </a:lnSpc>
            </a:pPr>
            <a:r>
              <a:rPr sz="1000" b="0">
                <a:solidFill>
                  <a:srgbClr val="1A1A1A"/>
                </a:solidFill>
                <a:latin typeface="Hiragino Sans"/>
                <a:ea typeface="Hiragino Sans"/>
                <a:cs typeface="Hiragino Sans"/>
              </a:rPr>
              <a:t>Consent Mode / DDA</a:t>
            </a:r>
          </a:p>
        </p:txBody>
      </p:sp>
      <p:sp>
        <p:nvSpPr>
          <p:cNvPr id="27" name="Rounded Rectangle 26"/>
          <p:cNvSpPr/>
          <p:nvPr/>
        </p:nvSpPr>
        <p:spPr>
          <a:xfrm>
            <a:off x="548640" y="4709160"/>
            <a:ext cx="11109960" cy="164592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4846320"/>
            <a:ext cx="10058400" cy="320040"/>
          </a:xfrm>
          <a:prstGeom prst="rect">
            <a:avLst/>
          </a:prstGeom>
          <a:noFill/>
        </p:spPr>
        <p:txBody>
          <a:bodyPr wrap="square" anchor="t" lIns="0" rIns="0" tIns="0" bIns="0">
            <a:spAutoFit/>
          </a:bodyPr>
          <a:lstStyle/>
          <a:p>
            <a:pPr algn="l">
              <a:lnSpc>
                <a:spcPct val="115000"/>
              </a:lnSpc>
            </a:pPr>
            <a:r>
              <a:rPr sz="1200" b="1">
                <a:solidFill>
                  <a:srgbClr val="E87722"/>
                </a:solidFill>
                <a:latin typeface="Hiragino Sans"/>
                <a:ea typeface="Hiragino Sans"/>
                <a:cs typeface="Hiragino Sans"/>
              </a:rPr>
              <a:t>💡 副業代行で実装する優先順位</a:t>
            </a:r>
          </a:p>
        </p:txBody>
      </p:sp>
      <p:sp>
        <p:nvSpPr>
          <p:cNvPr id="29" name="TextBox 28"/>
          <p:cNvSpPr txBox="1"/>
          <p:nvPr/>
        </p:nvSpPr>
        <p:spPr>
          <a:xfrm>
            <a:off x="777240" y="5166360"/>
            <a:ext cx="10972800" cy="1143000"/>
          </a:xfrm>
          <a:prstGeom prst="rect">
            <a:avLst/>
          </a:prstGeom>
          <a:noFill/>
        </p:spPr>
        <p:txBody>
          <a:bodyPr wrap="square" anchor="t" lIns="0" rIns="0" tIns="0" bIns="0">
            <a:spAutoFit/>
          </a:bodyPr>
          <a:lstStyle/>
          <a:p>
            <a:pPr algn="l">
              <a:lnSpc>
                <a:spcPct val="155000"/>
              </a:lnSpc>
            </a:pPr>
            <a:r>
              <a:rPr sz="1100" b="0">
                <a:solidFill>
                  <a:srgbClr val="FFFFFF"/>
                </a:solidFill>
                <a:latin typeface="Hiragino Sans"/>
                <a:ea typeface="Hiragino Sans"/>
                <a:cs typeface="Hiragino Sans"/>
              </a:rPr>
              <a:t>1. 1st Party Cookie前提のセットアップ (GA4 + GTM/SGTM)</a:t>
            </a:r>
          </a:p>
          <a:p>
            <a:pPr algn="l">
              <a:lnSpc>
                <a:spcPct val="155000"/>
              </a:lnSpc>
            </a:pPr>
            <a:r>
              <a:rPr sz="1100" b="0">
                <a:solidFill>
                  <a:srgbClr val="FFFFFF"/>
                </a:solidFill>
                <a:latin typeface="Hiragino Sans"/>
                <a:ea typeface="Hiragino Sans"/>
                <a:cs typeface="Hiragino Sans"/>
              </a:rPr>
              <a:t>2. Hashed PII (Customer Match / Enhanced Conversions / EMQ) を全媒体で</a:t>
            </a:r>
          </a:p>
          <a:p>
            <a:pPr algn="l">
              <a:lnSpc>
                <a:spcPct val="155000"/>
              </a:lnSpc>
            </a:pPr>
            <a:r>
              <a:rPr sz="1100" b="0">
                <a:solidFill>
                  <a:srgbClr val="FFFFFF"/>
                </a:solidFill>
                <a:latin typeface="Hiragino Sans"/>
                <a:ea typeface="Hiragino Sans"/>
                <a:cs typeface="Hiragino Sans"/>
              </a:rPr>
              <a:t>3. Modeling (Consent Mode v2 + DDA + 媒体ML) で計測ロスをカバー</a:t>
            </a:r>
          </a:p>
          <a:p>
            <a:pPr algn="l">
              <a:lnSpc>
                <a:spcPct val="155000"/>
              </a:lnSpc>
            </a:pPr>
            <a:r>
              <a:rPr sz="1100" b="0">
                <a:solidFill>
                  <a:srgbClr val="FFFFFF"/>
                </a:solidFill>
                <a:latin typeface="Hiragino Sans"/>
                <a:ea typeface="Hiragino Sans"/>
                <a:cs typeface="Hiragino Sans"/>
              </a:rPr>
              <a:t>4. Probabilistic ID は B2B / 大型予算で検討、Privacy Sandbox 終了後は限定的</a:t>
            </a:r>
          </a:p>
        </p:txBody>
      </p:sp>
      <p:sp>
        <p:nvSpPr>
          <p:cNvPr id="30" name="TextBox 29"/>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Identity Solutions の現在</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UID2.0 / RampID 等のCookieless ID</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P158 / 250</a:t>
            </a:r>
          </a:p>
        </p:txBody>
      </p:sp>
      <p:sp>
        <p:nvSpPr>
          <p:cNvPr id="8" name="Rounded Rectangle 7"/>
          <p:cNvSpPr/>
          <p:nvPr/>
        </p:nvSpPr>
        <p:spPr>
          <a:xfrm>
            <a:off x="548640" y="1417320"/>
            <a:ext cx="3611880" cy="27432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361188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581912"/>
            <a:ext cx="3246120" cy="411480"/>
          </a:xfrm>
          <a:prstGeom prst="rect">
            <a:avLst/>
          </a:prstGeom>
          <a:noFill/>
        </p:spPr>
        <p:txBody>
          <a:bodyPr wrap="square" anchor="t" lIns="0" rIns="0" tIns="0" bIns="0">
            <a:spAutoFit/>
          </a:bodyPr>
          <a:lstStyle/>
          <a:p>
            <a:pPr algn="l">
              <a:lnSpc>
                <a:spcPct val="115000"/>
              </a:lnSpc>
            </a:pPr>
            <a:r>
              <a:rPr sz="1500" b="1">
                <a:solidFill>
                  <a:srgbClr val="FFFFFF"/>
                </a:solidFill>
                <a:latin typeface="Helvetica Neue"/>
                <a:ea typeface="Helvetica Neue"/>
                <a:cs typeface="Helvetica Neue"/>
              </a:rPr>
              <a:t>UID 2.0</a:t>
            </a:r>
          </a:p>
        </p:txBody>
      </p:sp>
      <p:sp>
        <p:nvSpPr>
          <p:cNvPr id="11" name="TextBox 10"/>
          <p:cNvSpPr txBox="1"/>
          <p:nvPr/>
        </p:nvSpPr>
        <p:spPr>
          <a:xfrm>
            <a:off x="777240" y="1965960"/>
            <a:ext cx="3246120" cy="274320"/>
          </a:xfrm>
          <a:prstGeom prst="rect">
            <a:avLst/>
          </a:prstGeom>
          <a:noFill/>
        </p:spPr>
        <p:txBody>
          <a:bodyPr wrap="square" anchor="t" lIns="0" rIns="0" tIns="0" bIns="0">
            <a:spAutoFit/>
          </a:bodyPr>
          <a:lstStyle/>
          <a:p>
            <a:pPr algn="l">
              <a:lnSpc>
                <a:spcPct val="115000"/>
              </a:lnSpc>
            </a:pPr>
            <a:r>
              <a:rPr sz="1000" b="0">
                <a:solidFill>
                  <a:srgbClr val="FFFFFF"/>
                </a:solidFill>
                <a:latin typeface="Hiragino Sans"/>
                <a:ea typeface="Hiragino Sans"/>
                <a:cs typeface="Hiragino Sans"/>
              </a:rPr>
              <a:t>The Trade Desk主導</a:t>
            </a:r>
          </a:p>
        </p:txBody>
      </p:sp>
      <p:sp>
        <p:nvSpPr>
          <p:cNvPr id="12" name="TextBox 11"/>
          <p:cNvSpPr txBox="1"/>
          <p:nvPr/>
        </p:nvSpPr>
        <p:spPr>
          <a:xfrm>
            <a:off x="777240" y="2423160"/>
            <a:ext cx="3246120" cy="169164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Email/電話 (ハッシュ化) ベース</a:t>
            </a:r>
          </a:p>
          <a:p>
            <a:pPr algn="l">
              <a:lnSpc>
                <a:spcPct val="160000"/>
              </a:lnSpc>
            </a:pPr>
            <a:r>
              <a:rPr sz="1100" b="0">
                <a:solidFill>
                  <a:srgbClr val="1A1A1A"/>
                </a:solidFill>
                <a:latin typeface="Hiragino Sans"/>
                <a:ea typeface="Hiragino Sans"/>
                <a:cs typeface="Hiragino Sans"/>
              </a:rPr>
              <a:t>オープンソース / 業界標準目指す</a:t>
            </a:r>
          </a:p>
          <a:p>
            <a:pPr algn="l">
              <a:lnSpc>
                <a:spcPct val="160000"/>
              </a:lnSpc>
            </a:pPr>
            <a:r>
              <a:rPr sz="1100" b="0">
                <a:solidFill>
                  <a:srgbClr val="1A1A1A"/>
                </a:solidFill>
                <a:latin typeface="Hiragino Sans"/>
                <a:ea typeface="Hiragino Sans"/>
                <a:cs typeface="Hiragino Sans"/>
              </a:rPr>
              <a:t>OpenPath / The Current で標準化</a:t>
            </a:r>
          </a:p>
        </p:txBody>
      </p:sp>
      <p:sp>
        <p:nvSpPr>
          <p:cNvPr id="13" name="Rounded Rectangle 12"/>
          <p:cNvSpPr/>
          <p:nvPr/>
        </p:nvSpPr>
        <p:spPr>
          <a:xfrm>
            <a:off x="4297680" y="1417320"/>
            <a:ext cx="3611880" cy="27432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7680" y="1417320"/>
            <a:ext cx="361188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26280" y="1581912"/>
            <a:ext cx="3246120" cy="411480"/>
          </a:xfrm>
          <a:prstGeom prst="rect">
            <a:avLst/>
          </a:prstGeom>
          <a:noFill/>
        </p:spPr>
        <p:txBody>
          <a:bodyPr wrap="square" anchor="t" lIns="0" rIns="0" tIns="0" bIns="0">
            <a:spAutoFit/>
          </a:bodyPr>
          <a:lstStyle/>
          <a:p>
            <a:pPr algn="l">
              <a:lnSpc>
                <a:spcPct val="115000"/>
              </a:lnSpc>
            </a:pPr>
            <a:r>
              <a:rPr sz="1500" b="1">
                <a:solidFill>
                  <a:srgbClr val="FFFFFF"/>
                </a:solidFill>
                <a:latin typeface="Helvetica Neue"/>
                <a:ea typeface="Helvetica Neue"/>
                <a:cs typeface="Helvetica Neue"/>
              </a:rPr>
              <a:t>RampID</a:t>
            </a:r>
          </a:p>
        </p:txBody>
      </p:sp>
      <p:sp>
        <p:nvSpPr>
          <p:cNvPr id="16" name="TextBox 15"/>
          <p:cNvSpPr txBox="1"/>
          <p:nvPr/>
        </p:nvSpPr>
        <p:spPr>
          <a:xfrm>
            <a:off x="4526280" y="1965960"/>
            <a:ext cx="3246120" cy="274320"/>
          </a:xfrm>
          <a:prstGeom prst="rect">
            <a:avLst/>
          </a:prstGeom>
          <a:noFill/>
        </p:spPr>
        <p:txBody>
          <a:bodyPr wrap="square" anchor="t" lIns="0" rIns="0" tIns="0" bIns="0">
            <a:spAutoFit/>
          </a:bodyPr>
          <a:lstStyle/>
          <a:p>
            <a:pPr algn="l">
              <a:lnSpc>
                <a:spcPct val="115000"/>
              </a:lnSpc>
            </a:pPr>
            <a:r>
              <a:rPr sz="1000" b="0">
                <a:solidFill>
                  <a:srgbClr val="FFFFFF"/>
                </a:solidFill>
                <a:latin typeface="Hiragino Sans"/>
                <a:ea typeface="Hiragino Sans"/>
                <a:cs typeface="Hiragino Sans"/>
              </a:rPr>
              <a:t>LiveRamp</a:t>
            </a:r>
          </a:p>
        </p:txBody>
      </p:sp>
      <p:sp>
        <p:nvSpPr>
          <p:cNvPr id="17" name="TextBox 16"/>
          <p:cNvSpPr txBox="1"/>
          <p:nvPr/>
        </p:nvSpPr>
        <p:spPr>
          <a:xfrm>
            <a:off x="4526280" y="2423160"/>
            <a:ext cx="3246120" cy="169164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AbiliTec ベースの統合ID</a:t>
            </a:r>
          </a:p>
          <a:p>
            <a:pPr algn="l">
              <a:lnSpc>
                <a:spcPct val="160000"/>
              </a:lnSpc>
            </a:pPr>
            <a:r>
              <a:rPr sz="1100" b="0">
                <a:solidFill>
                  <a:srgbClr val="1A1A1A"/>
                </a:solidFill>
                <a:latin typeface="Hiragino Sans"/>
                <a:ea typeface="Hiragino Sans"/>
                <a:cs typeface="Hiragino Sans"/>
              </a:rPr>
              <a:t>プライバシー安全な統合</a:t>
            </a:r>
          </a:p>
          <a:p>
            <a:pPr algn="l">
              <a:lnSpc>
                <a:spcPct val="160000"/>
              </a:lnSpc>
            </a:pPr>
            <a:r>
              <a:rPr sz="1100" b="0">
                <a:solidFill>
                  <a:srgbClr val="1A1A1A"/>
                </a:solidFill>
                <a:latin typeface="Hiragino Sans"/>
                <a:ea typeface="Hiragino Sans"/>
                <a:cs typeface="Hiragino Sans"/>
              </a:rPr>
              <a:t>DSP / DMP との連携豊富</a:t>
            </a:r>
          </a:p>
        </p:txBody>
      </p:sp>
      <p:sp>
        <p:nvSpPr>
          <p:cNvPr id="18" name="Rounded Rectangle 17"/>
          <p:cNvSpPr/>
          <p:nvPr/>
        </p:nvSpPr>
        <p:spPr>
          <a:xfrm>
            <a:off x="8046720" y="1417320"/>
            <a:ext cx="3611880" cy="27432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6720" y="1417320"/>
            <a:ext cx="361188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1581912"/>
            <a:ext cx="3246120" cy="411480"/>
          </a:xfrm>
          <a:prstGeom prst="rect">
            <a:avLst/>
          </a:prstGeom>
          <a:noFill/>
        </p:spPr>
        <p:txBody>
          <a:bodyPr wrap="square" anchor="t" lIns="0" rIns="0" tIns="0" bIns="0">
            <a:spAutoFit/>
          </a:bodyPr>
          <a:lstStyle/>
          <a:p>
            <a:pPr algn="l">
              <a:lnSpc>
                <a:spcPct val="115000"/>
              </a:lnSpc>
            </a:pPr>
            <a:r>
              <a:rPr sz="1500" b="1">
                <a:solidFill>
                  <a:srgbClr val="FFFFFF"/>
                </a:solidFill>
                <a:latin typeface="Helvetica Neue"/>
                <a:ea typeface="Helvetica Neue"/>
                <a:cs typeface="Helvetica Neue"/>
              </a:rPr>
              <a:t>ID5</a:t>
            </a:r>
          </a:p>
        </p:txBody>
      </p:sp>
      <p:sp>
        <p:nvSpPr>
          <p:cNvPr id="21" name="TextBox 20"/>
          <p:cNvSpPr txBox="1"/>
          <p:nvPr/>
        </p:nvSpPr>
        <p:spPr>
          <a:xfrm>
            <a:off x="8275320" y="1965960"/>
            <a:ext cx="3246120" cy="274320"/>
          </a:xfrm>
          <a:prstGeom prst="rect">
            <a:avLst/>
          </a:prstGeom>
          <a:noFill/>
        </p:spPr>
        <p:txBody>
          <a:bodyPr wrap="square" anchor="t" lIns="0" rIns="0" tIns="0" bIns="0">
            <a:spAutoFit/>
          </a:bodyPr>
          <a:lstStyle/>
          <a:p>
            <a:pPr algn="l">
              <a:lnSpc>
                <a:spcPct val="115000"/>
              </a:lnSpc>
            </a:pPr>
            <a:r>
              <a:rPr sz="1000" b="0">
                <a:solidFill>
                  <a:srgbClr val="FFFFFF"/>
                </a:solidFill>
                <a:latin typeface="Hiragino Sans"/>
                <a:ea typeface="Hiragino Sans"/>
                <a:cs typeface="Hiragino Sans"/>
              </a:rPr>
              <a:t>Cookieless ID 専業</a:t>
            </a:r>
          </a:p>
        </p:txBody>
      </p:sp>
      <p:sp>
        <p:nvSpPr>
          <p:cNvPr id="22" name="TextBox 21"/>
          <p:cNvSpPr txBox="1"/>
          <p:nvPr/>
        </p:nvSpPr>
        <p:spPr>
          <a:xfrm>
            <a:off x="8275320" y="2423160"/>
            <a:ext cx="3246120" cy="169164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Privacy-first ID</a:t>
            </a:r>
          </a:p>
          <a:p>
            <a:pPr algn="l">
              <a:lnSpc>
                <a:spcPct val="160000"/>
              </a:lnSpc>
            </a:pPr>
            <a:r>
              <a:rPr sz="1100" b="0">
                <a:solidFill>
                  <a:srgbClr val="1A1A1A"/>
                </a:solidFill>
                <a:latin typeface="Hiragino Sans"/>
                <a:ea typeface="Hiragino Sans"/>
                <a:cs typeface="Hiragino Sans"/>
              </a:rPr>
              <a:t>Deterministic + Probabilistic</a:t>
            </a:r>
          </a:p>
          <a:p>
            <a:pPr algn="l">
              <a:lnSpc>
                <a:spcPct val="160000"/>
              </a:lnSpc>
            </a:pPr>
            <a:r>
              <a:rPr sz="1100" b="0">
                <a:solidFill>
                  <a:srgbClr val="1A1A1A"/>
                </a:solidFill>
                <a:latin typeface="Hiragino Sans"/>
                <a:ea typeface="Hiragino Sans"/>
                <a:cs typeface="Hiragino Sans"/>
              </a:rPr>
              <a:t>EU市場でシェア高い</a:t>
            </a:r>
          </a:p>
        </p:txBody>
      </p:sp>
      <p:sp>
        <p:nvSpPr>
          <p:cNvPr id="23" name="Rounded Rectangle 22"/>
          <p:cNvSpPr/>
          <p:nvPr/>
        </p:nvSpPr>
        <p:spPr>
          <a:xfrm>
            <a:off x="548640" y="4297680"/>
            <a:ext cx="11109960" cy="205740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4434840"/>
            <a:ext cx="100584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 副業代行で押さえる現実</a:t>
            </a:r>
          </a:p>
        </p:txBody>
      </p:sp>
      <p:sp>
        <p:nvSpPr>
          <p:cNvPr id="25" name="TextBox 24"/>
          <p:cNvSpPr txBox="1"/>
          <p:nvPr/>
        </p:nvSpPr>
        <p:spPr>
          <a:xfrm>
            <a:off x="777240" y="4754880"/>
            <a:ext cx="10972800" cy="155448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 中小予算では Identity Solutions 直接利用は不要 (Customer Match / Lookalikeで十分)</a:t>
            </a:r>
          </a:p>
          <a:p>
            <a:pPr algn="l">
              <a:lnSpc>
                <a:spcPct val="160000"/>
              </a:lnSpc>
            </a:pPr>
            <a:r>
              <a:rPr sz="1100" b="0">
                <a:solidFill>
                  <a:srgbClr val="1A1A1A"/>
                </a:solidFill>
                <a:latin typeface="Hiragino Sans"/>
                <a:ea typeface="Hiragino Sans"/>
                <a:cs typeface="Hiragino Sans"/>
              </a:rPr>
              <a:t>• 月予算 1,000万以上の大型 Programmatic 案件で UID2.0 / RampID 導入検討</a:t>
            </a:r>
          </a:p>
          <a:p>
            <a:pPr algn="l">
              <a:lnSpc>
                <a:spcPct val="160000"/>
              </a:lnSpc>
            </a:pPr>
            <a:r>
              <a:rPr sz="1100" b="0">
                <a:solidFill>
                  <a:srgbClr val="1A1A1A"/>
                </a:solidFill>
                <a:latin typeface="Hiragino Sans"/>
                <a:ea typeface="Hiragino Sans"/>
                <a:cs typeface="Hiragino Sans"/>
              </a:rPr>
              <a:t>• 日本市場ではまだ普及中、Yahoo!JAPAN の Yahoo!ID (≒ LINEヤフー ID) が事実上の主流</a:t>
            </a:r>
          </a:p>
          <a:p>
            <a:pPr algn="l">
              <a:lnSpc>
                <a:spcPct val="160000"/>
              </a:lnSpc>
            </a:pPr>
            <a:r>
              <a:rPr sz="1100" b="0">
                <a:solidFill>
                  <a:srgbClr val="1A1A1A"/>
                </a:solidFill>
                <a:latin typeface="Hiragino Sans"/>
                <a:ea typeface="Hiragino Sans"/>
                <a:cs typeface="Hiragino Sans"/>
              </a:rPr>
              <a:t>• 2026年は Privacy Sandbox 終了後の再編期、注視は必要だが緊急性低</a:t>
            </a:r>
          </a:p>
        </p:txBody>
      </p:sp>
      <p:sp>
        <p:nvSpPr>
          <p:cNvPr id="26" name="TextBox 25"/>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Looker Studio (旧Data Studio) の進化</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BIツールから AI Analytics プラットフォームへ</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P159 / 250</a:t>
            </a:r>
          </a:p>
        </p:txBody>
      </p:sp>
      <p:sp>
        <p:nvSpPr>
          <p:cNvPr id="8" name="Rounded Rectangle 7"/>
          <p:cNvSpPr/>
          <p:nvPr/>
        </p:nvSpPr>
        <p:spPr>
          <a:xfrm>
            <a:off x="548640" y="1417320"/>
            <a:ext cx="2697480" cy="24688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269748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581912"/>
            <a:ext cx="2331720" cy="411480"/>
          </a:xfrm>
          <a:prstGeom prst="rect">
            <a:avLst/>
          </a:prstGeom>
          <a:noFill/>
        </p:spPr>
        <p:txBody>
          <a:bodyPr wrap="square" anchor="t" lIns="0" rIns="0" tIns="0" bIns="0">
            <a:spAutoFit/>
          </a:bodyPr>
          <a:lstStyle/>
          <a:p>
            <a:pPr algn="ctr">
              <a:lnSpc>
                <a:spcPct val="120000"/>
              </a:lnSpc>
            </a:pPr>
            <a:r>
              <a:rPr sz="1300" b="1">
                <a:solidFill>
                  <a:srgbClr val="E87722"/>
                </a:solidFill>
                <a:latin typeface="Hiragino Sans"/>
                <a:ea typeface="Hiragino Sans"/>
                <a:cs typeface="Hiragino Sans"/>
              </a:rPr>
              <a:t>Looker Studio</a:t>
            </a:r>
          </a:p>
        </p:txBody>
      </p:sp>
      <p:sp>
        <p:nvSpPr>
          <p:cNvPr id="11" name="TextBox 10"/>
          <p:cNvSpPr txBox="1"/>
          <p:nvPr/>
        </p:nvSpPr>
        <p:spPr>
          <a:xfrm>
            <a:off x="731520" y="1965960"/>
            <a:ext cx="233172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無料BIツール</a:t>
            </a:r>
          </a:p>
        </p:txBody>
      </p:sp>
      <p:sp>
        <p:nvSpPr>
          <p:cNvPr id="12" name="TextBox 11"/>
          <p:cNvSpPr txBox="1"/>
          <p:nvPr/>
        </p:nvSpPr>
        <p:spPr>
          <a:xfrm>
            <a:off x="731520" y="2423160"/>
            <a:ext cx="2331720" cy="1417320"/>
          </a:xfrm>
          <a:prstGeom prst="rect">
            <a:avLst/>
          </a:prstGeom>
          <a:noFill/>
        </p:spPr>
        <p:txBody>
          <a:bodyPr wrap="square" anchor="t" lIns="0" rIns="0" tIns="0" bIns="0">
            <a:spAutoFit/>
          </a:bodyPr>
          <a:lstStyle/>
          <a:p>
            <a:pPr algn="ctr">
              <a:lnSpc>
                <a:spcPct val="160000"/>
              </a:lnSpc>
            </a:pPr>
            <a:r>
              <a:rPr sz="1100" b="0">
                <a:solidFill>
                  <a:srgbClr val="1A1A1A"/>
                </a:solidFill>
                <a:latin typeface="Hiragino Sans"/>
                <a:ea typeface="Hiragino Sans"/>
                <a:cs typeface="Hiragino Sans"/>
              </a:rPr>
              <a:t>Google Ads / GA4 / BigQuery /</a:t>
            </a:r>
          </a:p>
          <a:p>
            <a:pPr algn="ctr">
              <a:lnSpc>
                <a:spcPct val="160000"/>
              </a:lnSpc>
            </a:pPr>
            <a:r>
              <a:rPr sz="1100" b="0">
                <a:solidFill>
                  <a:srgbClr val="1A1A1A"/>
                </a:solidFill>
                <a:latin typeface="Hiragino Sans"/>
                <a:ea typeface="Hiragino Sans"/>
                <a:cs typeface="Hiragino Sans"/>
              </a:rPr>
              <a:t>Spreadsheet 等を可視化</a:t>
            </a:r>
          </a:p>
          <a:p>
            <a:pPr algn="ctr">
              <a:lnSpc>
                <a:spcPct val="160000"/>
              </a:lnSpc>
            </a:pPr>
            <a:r>
              <a:rPr sz="1100" b="0">
                <a:solidFill>
                  <a:srgbClr val="1A1A1A"/>
                </a:solidFill>
                <a:latin typeface="Hiragino Sans"/>
                <a:ea typeface="Hiragino Sans"/>
                <a:cs typeface="Hiragino Sans"/>
              </a:rPr>
              <a:t>副業代行レポート定番</a:t>
            </a:r>
          </a:p>
        </p:txBody>
      </p:sp>
      <p:sp>
        <p:nvSpPr>
          <p:cNvPr id="13" name="Rounded Rectangle 12"/>
          <p:cNvSpPr/>
          <p:nvPr/>
        </p:nvSpPr>
        <p:spPr>
          <a:xfrm>
            <a:off x="3337560" y="1417320"/>
            <a:ext cx="2697480" cy="24688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37560" y="1417320"/>
            <a:ext cx="269748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20440" y="1581912"/>
            <a:ext cx="2331720" cy="411480"/>
          </a:xfrm>
          <a:prstGeom prst="rect">
            <a:avLst/>
          </a:prstGeom>
          <a:noFill/>
        </p:spPr>
        <p:txBody>
          <a:bodyPr wrap="square" anchor="t" lIns="0" rIns="0" tIns="0" bIns="0">
            <a:spAutoFit/>
          </a:bodyPr>
          <a:lstStyle/>
          <a:p>
            <a:pPr algn="ctr">
              <a:lnSpc>
                <a:spcPct val="120000"/>
              </a:lnSpc>
            </a:pPr>
            <a:r>
              <a:rPr sz="1300" b="1">
                <a:solidFill>
                  <a:srgbClr val="E87722"/>
                </a:solidFill>
                <a:latin typeface="Hiragino Sans"/>
                <a:ea typeface="Hiragino Sans"/>
                <a:cs typeface="Hiragino Sans"/>
              </a:rPr>
              <a:t>Looker Studio Pro</a:t>
            </a:r>
          </a:p>
        </p:txBody>
      </p:sp>
      <p:sp>
        <p:nvSpPr>
          <p:cNvPr id="16" name="TextBox 15"/>
          <p:cNvSpPr txBox="1"/>
          <p:nvPr/>
        </p:nvSpPr>
        <p:spPr>
          <a:xfrm>
            <a:off x="3520440" y="1965960"/>
            <a:ext cx="233172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エンタープライズ版</a:t>
            </a:r>
          </a:p>
        </p:txBody>
      </p:sp>
      <p:sp>
        <p:nvSpPr>
          <p:cNvPr id="17" name="TextBox 16"/>
          <p:cNvSpPr txBox="1"/>
          <p:nvPr/>
        </p:nvSpPr>
        <p:spPr>
          <a:xfrm>
            <a:off x="3520440" y="2423160"/>
            <a:ext cx="2331720" cy="1417320"/>
          </a:xfrm>
          <a:prstGeom prst="rect">
            <a:avLst/>
          </a:prstGeom>
          <a:noFill/>
        </p:spPr>
        <p:txBody>
          <a:bodyPr wrap="square" anchor="t" lIns="0" rIns="0" tIns="0" bIns="0">
            <a:spAutoFit/>
          </a:bodyPr>
          <a:lstStyle/>
          <a:p>
            <a:pPr algn="ctr">
              <a:lnSpc>
                <a:spcPct val="160000"/>
              </a:lnSpc>
            </a:pPr>
            <a:r>
              <a:rPr sz="1100" b="0">
                <a:solidFill>
                  <a:srgbClr val="1A1A1A"/>
                </a:solidFill>
                <a:latin typeface="Hiragino Sans"/>
                <a:ea typeface="Hiragino Sans"/>
                <a:cs typeface="Hiragino Sans"/>
              </a:rPr>
              <a:t>Looker (元エンタープライズBI) と統合</a:t>
            </a:r>
          </a:p>
          <a:p>
            <a:pPr algn="ctr">
              <a:lnSpc>
                <a:spcPct val="160000"/>
              </a:lnSpc>
            </a:pPr>
            <a:r>
              <a:rPr sz="1100" b="0">
                <a:solidFill>
                  <a:srgbClr val="1A1A1A"/>
                </a:solidFill>
                <a:latin typeface="Hiragino Sans"/>
                <a:ea typeface="Hiragino Sans"/>
                <a:cs typeface="Hiragino Sans"/>
              </a:rPr>
              <a:t>組織管理 / カスタマイズ</a:t>
            </a:r>
          </a:p>
          <a:p>
            <a:pPr algn="ctr">
              <a:lnSpc>
                <a:spcPct val="160000"/>
              </a:lnSpc>
            </a:pPr>
            <a:r>
              <a:rPr sz="1100" b="0">
                <a:solidFill>
                  <a:srgbClr val="1A1A1A"/>
                </a:solidFill>
                <a:latin typeface="Hiragino Sans"/>
                <a:ea typeface="Hiragino Sans"/>
                <a:cs typeface="Hiragino Sans"/>
              </a:rPr>
              <a:t>Google Cloud 連携強化</a:t>
            </a:r>
          </a:p>
        </p:txBody>
      </p:sp>
      <p:sp>
        <p:nvSpPr>
          <p:cNvPr id="18" name="Rounded Rectangle 17"/>
          <p:cNvSpPr/>
          <p:nvPr/>
        </p:nvSpPr>
        <p:spPr>
          <a:xfrm>
            <a:off x="6126480" y="1417320"/>
            <a:ext cx="2697480" cy="24688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0" y="1417320"/>
            <a:ext cx="269748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1581912"/>
            <a:ext cx="2331720" cy="411480"/>
          </a:xfrm>
          <a:prstGeom prst="rect">
            <a:avLst/>
          </a:prstGeom>
          <a:noFill/>
        </p:spPr>
        <p:txBody>
          <a:bodyPr wrap="square" anchor="t" lIns="0" rIns="0" tIns="0" bIns="0">
            <a:spAutoFit/>
          </a:bodyPr>
          <a:lstStyle/>
          <a:p>
            <a:pPr algn="ctr">
              <a:lnSpc>
                <a:spcPct val="120000"/>
              </a:lnSpc>
            </a:pPr>
            <a:r>
              <a:rPr sz="1300" b="1">
                <a:solidFill>
                  <a:srgbClr val="E87722"/>
                </a:solidFill>
                <a:latin typeface="Hiragino Sans"/>
                <a:ea typeface="Hiragino Sans"/>
                <a:cs typeface="Hiragino Sans"/>
              </a:rPr>
              <a:t>Conversational Analytics</a:t>
            </a:r>
          </a:p>
        </p:txBody>
      </p:sp>
      <p:sp>
        <p:nvSpPr>
          <p:cNvPr id="21" name="TextBox 20"/>
          <p:cNvSpPr txBox="1"/>
          <p:nvPr/>
        </p:nvSpPr>
        <p:spPr>
          <a:xfrm>
            <a:off x="6309360" y="1965960"/>
            <a:ext cx="233172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Gemini連携で自然言語</a:t>
            </a:r>
          </a:p>
        </p:txBody>
      </p:sp>
      <p:sp>
        <p:nvSpPr>
          <p:cNvPr id="22" name="TextBox 21"/>
          <p:cNvSpPr txBox="1"/>
          <p:nvPr/>
        </p:nvSpPr>
        <p:spPr>
          <a:xfrm>
            <a:off x="6309360" y="2423160"/>
            <a:ext cx="2331720" cy="1417320"/>
          </a:xfrm>
          <a:prstGeom prst="rect">
            <a:avLst/>
          </a:prstGeom>
          <a:noFill/>
        </p:spPr>
        <p:txBody>
          <a:bodyPr wrap="square" anchor="t" lIns="0" rIns="0" tIns="0" bIns="0">
            <a:spAutoFit/>
          </a:bodyPr>
          <a:lstStyle/>
          <a:p>
            <a:pPr algn="ctr">
              <a:lnSpc>
                <a:spcPct val="160000"/>
              </a:lnSpc>
            </a:pPr>
            <a:r>
              <a:rPr sz="1100" b="0">
                <a:solidFill>
                  <a:srgbClr val="1A1A1A"/>
                </a:solidFill>
                <a:latin typeface="Hiragino Sans"/>
                <a:ea typeface="Hiragino Sans"/>
                <a:cs typeface="Hiragino Sans"/>
              </a:rPr>
              <a:t>『今月の流入元別CV数は?』</a:t>
            </a:r>
          </a:p>
          <a:p>
            <a:pPr algn="ctr">
              <a:lnSpc>
                <a:spcPct val="160000"/>
              </a:lnSpc>
            </a:pPr>
            <a:r>
              <a:rPr sz="1100" b="0">
                <a:solidFill>
                  <a:srgbClr val="1A1A1A"/>
                </a:solidFill>
                <a:latin typeface="Hiragino Sans"/>
                <a:ea typeface="Hiragino Sans"/>
                <a:cs typeface="Hiragino Sans"/>
              </a:rPr>
              <a:t>等の質問に自動回答</a:t>
            </a:r>
          </a:p>
          <a:p>
            <a:pPr algn="ctr">
              <a:lnSpc>
                <a:spcPct val="160000"/>
              </a:lnSpc>
            </a:pPr>
            <a:r>
              <a:rPr sz="1100" b="0">
                <a:solidFill>
                  <a:srgbClr val="1A1A1A"/>
                </a:solidFill>
                <a:latin typeface="Hiragino Sans"/>
                <a:ea typeface="Hiragino Sans"/>
                <a:cs typeface="Hiragino Sans"/>
              </a:rPr>
              <a:t>ダッシュボード自動生成</a:t>
            </a:r>
          </a:p>
        </p:txBody>
      </p:sp>
      <p:sp>
        <p:nvSpPr>
          <p:cNvPr id="23" name="Rounded Rectangle 22"/>
          <p:cNvSpPr/>
          <p:nvPr/>
        </p:nvSpPr>
        <p:spPr>
          <a:xfrm>
            <a:off x="8915400" y="1417320"/>
            <a:ext cx="2697480" cy="24688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15400" y="1417320"/>
            <a:ext cx="269748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98280" y="1581912"/>
            <a:ext cx="2331720" cy="411480"/>
          </a:xfrm>
          <a:prstGeom prst="rect">
            <a:avLst/>
          </a:prstGeom>
          <a:noFill/>
        </p:spPr>
        <p:txBody>
          <a:bodyPr wrap="square" anchor="t" lIns="0" rIns="0" tIns="0" bIns="0">
            <a:spAutoFit/>
          </a:bodyPr>
          <a:lstStyle/>
          <a:p>
            <a:pPr algn="ctr">
              <a:lnSpc>
                <a:spcPct val="120000"/>
              </a:lnSpc>
            </a:pPr>
            <a:r>
              <a:rPr sz="1300" b="1">
                <a:solidFill>
                  <a:srgbClr val="E87722"/>
                </a:solidFill>
                <a:latin typeface="Hiragino Sans"/>
                <a:ea typeface="Hiragino Sans"/>
                <a:cs typeface="Hiragino Sans"/>
              </a:rPr>
              <a:t>AI Insights</a:t>
            </a:r>
          </a:p>
        </p:txBody>
      </p:sp>
      <p:sp>
        <p:nvSpPr>
          <p:cNvPr id="26" name="TextBox 25"/>
          <p:cNvSpPr txBox="1"/>
          <p:nvPr/>
        </p:nvSpPr>
        <p:spPr>
          <a:xfrm>
            <a:off x="9098280" y="1965960"/>
            <a:ext cx="233172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異常検知 + 解釈</a:t>
            </a:r>
          </a:p>
        </p:txBody>
      </p:sp>
      <p:sp>
        <p:nvSpPr>
          <p:cNvPr id="27" name="TextBox 26"/>
          <p:cNvSpPr txBox="1"/>
          <p:nvPr/>
        </p:nvSpPr>
        <p:spPr>
          <a:xfrm>
            <a:off x="9098280" y="2423160"/>
            <a:ext cx="2331720" cy="1417320"/>
          </a:xfrm>
          <a:prstGeom prst="rect">
            <a:avLst/>
          </a:prstGeom>
          <a:noFill/>
        </p:spPr>
        <p:txBody>
          <a:bodyPr wrap="square" anchor="t" lIns="0" rIns="0" tIns="0" bIns="0">
            <a:spAutoFit/>
          </a:bodyPr>
          <a:lstStyle/>
          <a:p>
            <a:pPr algn="ctr">
              <a:lnSpc>
                <a:spcPct val="160000"/>
              </a:lnSpc>
            </a:pPr>
            <a:r>
              <a:rPr sz="1100" b="0">
                <a:solidFill>
                  <a:srgbClr val="1A1A1A"/>
                </a:solidFill>
                <a:latin typeface="Hiragino Sans"/>
                <a:ea typeface="Hiragino Sans"/>
                <a:cs typeface="Hiragino Sans"/>
              </a:rPr>
              <a:t>ダッシュボード上で</a:t>
            </a:r>
          </a:p>
          <a:p>
            <a:pPr algn="ctr">
              <a:lnSpc>
                <a:spcPct val="160000"/>
              </a:lnSpc>
            </a:pPr>
            <a:r>
              <a:rPr sz="1100" b="0">
                <a:solidFill>
                  <a:srgbClr val="1A1A1A"/>
                </a:solidFill>
                <a:latin typeface="Hiragino Sans"/>
                <a:ea typeface="Hiragino Sans"/>
                <a:cs typeface="Hiragino Sans"/>
              </a:rPr>
              <a:t>MLが異常データを検知</a:t>
            </a:r>
          </a:p>
          <a:p>
            <a:pPr algn="ctr">
              <a:lnSpc>
                <a:spcPct val="160000"/>
              </a:lnSpc>
            </a:pPr>
            <a:r>
              <a:rPr sz="1100" b="0">
                <a:solidFill>
                  <a:srgbClr val="1A1A1A"/>
                </a:solidFill>
                <a:latin typeface="Hiragino Sans"/>
                <a:ea typeface="Hiragino Sans"/>
                <a:cs typeface="Hiragino Sans"/>
              </a:rPr>
              <a:t>自然言語でなぜを解説</a:t>
            </a:r>
          </a:p>
        </p:txBody>
      </p:sp>
      <p:sp>
        <p:nvSpPr>
          <p:cNvPr id="28" name="Rounded Rectangle 27"/>
          <p:cNvSpPr/>
          <p:nvPr/>
        </p:nvSpPr>
        <p:spPr>
          <a:xfrm>
            <a:off x="548640" y="4069080"/>
            <a:ext cx="11109960" cy="228600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4206240"/>
            <a:ext cx="100584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 副業代行のレポート構成</a:t>
            </a:r>
          </a:p>
        </p:txBody>
      </p:sp>
      <p:sp>
        <p:nvSpPr>
          <p:cNvPr id="30" name="TextBox 29"/>
          <p:cNvSpPr txBox="1"/>
          <p:nvPr/>
        </p:nvSpPr>
        <p:spPr>
          <a:xfrm>
            <a:off x="777240" y="4526280"/>
            <a:ext cx="10972800" cy="178308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 月次レポートは Looker Studio (無料) で自動更新ダッシュボード</a:t>
            </a:r>
          </a:p>
          <a:p>
            <a:pPr algn="l">
              <a:lnSpc>
                <a:spcPct val="160000"/>
              </a:lnSpc>
            </a:pPr>
            <a:r>
              <a:rPr sz="1100" b="0">
                <a:solidFill>
                  <a:srgbClr val="1A1A1A"/>
                </a:solidFill>
                <a:latin typeface="Hiragino Sans"/>
                <a:ea typeface="Hiragino Sans"/>
                <a:cs typeface="Hiragino Sans"/>
              </a:rPr>
              <a:t>• テンプレート化 : KGI / KPI / 媒体別パフォーマンス / クリエイティブ別 の4セクション</a:t>
            </a:r>
          </a:p>
          <a:p>
            <a:pPr algn="l">
              <a:lnSpc>
                <a:spcPct val="160000"/>
              </a:lnSpc>
            </a:pPr>
            <a:r>
              <a:rPr sz="1100" b="0">
                <a:solidFill>
                  <a:srgbClr val="1A1A1A"/>
                </a:solidFill>
                <a:latin typeface="Hiragino Sans"/>
                <a:ea typeface="Hiragino Sans"/>
                <a:cs typeface="Hiragino Sans"/>
              </a:rPr>
              <a:t>• Conversational Analytics でクライアントが自分で深掘り → 副業代行の負荷削減</a:t>
            </a:r>
          </a:p>
          <a:p>
            <a:pPr algn="l">
              <a:lnSpc>
                <a:spcPct val="160000"/>
              </a:lnSpc>
            </a:pPr>
            <a:r>
              <a:rPr sz="1100" b="0">
                <a:solidFill>
                  <a:srgbClr val="1A1A1A"/>
                </a:solidFill>
                <a:latin typeface="Hiragino Sans"/>
                <a:ea typeface="Hiragino Sans"/>
                <a:cs typeface="Hiragino Sans"/>
              </a:rPr>
              <a:t>• Looker Studio + AI Insights = 異常検知をスケジュール送信、メールで通知</a:t>
            </a:r>
          </a:p>
        </p:txBody>
      </p:sp>
      <p:sp>
        <p:nvSpPr>
          <p:cNvPr id="31" name="TextBox 30"/>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BigQuery 連携 — GA4 → BigQuery</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中規模以上の必須スキル</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P160 / 250</a:t>
            </a:r>
          </a:p>
        </p:txBody>
      </p:sp>
      <p:sp>
        <p:nvSpPr>
          <p:cNvPr id="8" name="Rounded Rectangle 7"/>
          <p:cNvSpPr/>
          <p:nvPr/>
        </p:nvSpPr>
        <p:spPr>
          <a:xfrm>
            <a:off x="548640" y="1371600"/>
            <a:ext cx="11109960" cy="91440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08760"/>
            <a:ext cx="10972800" cy="731520"/>
          </a:xfrm>
          <a:prstGeom prst="rect">
            <a:avLst/>
          </a:prstGeom>
          <a:noFill/>
        </p:spPr>
        <p:txBody>
          <a:bodyPr wrap="square" anchor="t" lIns="0" rIns="0" tIns="0" bIns="0">
            <a:spAutoFit/>
          </a:bodyPr>
          <a:lstStyle/>
          <a:p>
            <a:pPr algn="l">
              <a:lnSpc>
                <a:spcPct val="150000"/>
              </a:lnSpc>
            </a:pPr>
            <a:r>
              <a:rPr sz="1200" b="0">
                <a:solidFill>
                  <a:srgbClr val="FFFFFF"/>
                </a:solidFill>
                <a:latin typeface="Hiragino Sans"/>
                <a:ea typeface="Hiragino Sans"/>
                <a:cs typeface="Hiragino Sans"/>
              </a:rPr>
              <a:t>GA4 のEvent データを BigQuery に自動エクスポート (無料機能)。</a:t>
            </a:r>
          </a:p>
          <a:p>
            <a:pPr algn="l">
              <a:lnSpc>
                <a:spcPct val="150000"/>
              </a:lnSpc>
            </a:pPr>
            <a:r>
              <a:rPr sz="1200" b="0">
                <a:solidFill>
                  <a:srgbClr val="FFFFFF"/>
                </a:solidFill>
                <a:latin typeface="Hiragino Sans"/>
                <a:ea typeface="Hiragino Sans"/>
                <a:cs typeface="Hiragino Sans"/>
              </a:rPr>
              <a:t>GA4 UI上の制限 (14ヶ月保持・Sampling・カスタム集計) を完全に回避できる</a:t>
            </a:r>
          </a:p>
        </p:txBody>
      </p:sp>
      <p:sp>
        <p:nvSpPr>
          <p:cNvPr id="10" name="Rounded Rectangle 9"/>
          <p:cNvSpPr/>
          <p:nvPr/>
        </p:nvSpPr>
        <p:spPr>
          <a:xfrm>
            <a:off x="548640" y="2468880"/>
            <a:ext cx="2697480" cy="18288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468880"/>
            <a:ext cx="26974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697480"/>
            <a:ext cx="2331720" cy="365760"/>
          </a:xfrm>
          <a:prstGeom prst="rect">
            <a:avLst/>
          </a:prstGeom>
          <a:noFill/>
        </p:spPr>
        <p:txBody>
          <a:bodyPr wrap="square" anchor="t" lIns="0" rIns="0" tIns="0" bIns="0">
            <a:spAutoFit/>
          </a:bodyPr>
          <a:lstStyle/>
          <a:p>
            <a:pPr algn="ctr">
              <a:lnSpc>
                <a:spcPct val="115000"/>
              </a:lnSpc>
            </a:pPr>
            <a:r>
              <a:rPr sz="1300" b="1">
                <a:solidFill>
                  <a:srgbClr val="0F2A4F"/>
                </a:solidFill>
                <a:latin typeface="Hiragino Sans"/>
                <a:ea typeface="Hiragino Sans"/>
                <a:cs typeface="Hiragino Sans"/>
              </a:rPr>
              <a:t>無制限データ保持</a:t>
            </a:r>
          </a:p>
        </p:txBody>
      </p:sp>
      <p:sp>
        <p:nvSpPr>
          <p:cNvPr id="13" name="TextBox 12"/>
          <p:cNvSpPr txBox="1"/>
          <p:nvPr/>
        </p:nvSpPr>
        <p:spPr>
          <a:xfrm>
            <a:off x="731520" y="3108960"/>
            <a:ext cx="2331720" cy="1097280"/>
          </a:xfrm>
          <a:prstGeom prst="rect">
            <a:avLst/>
          </a:prstGeom>
          <a:noFill/>
        </p:spPr>
        <p:txBody>
          <a:bodyPr wrap="square" anchor="t" lIns="0" rIns="0" tIns="0" bIns="0">
            <a:spAutoFit/>
          </a:bodyPr>
          <a:lstStyle/>
          <a:p>
            <a:pPr algn="ctr">
              <a:lnSpc>
                <a:spcPct val="155000"/>
              </a:lnSpc>
            </a:pPr>
            <a:r>
              <a:rPr sz="1000" b="0">
                <a:solidFill>
                  <a:srgbClr val="1A1A1A"/>
                </a:solidFill>
                <a:latin typeface="Hiragino Sans"/>
                <a:ea typeface="Hiragino Sans"/>
                <a:cs typeface="Hiragino Sans"/>
              </a:rPr>
              <a:t>GA4 14ヶ月制限を超えた</a:t>
            </a:r>
          </a:p>
          <a:p>
            <a:pPr algn="ctr">
              <a:lnSpc>
                <a:spcPct val="155000"/>
              </a:lnSpc>
            </a:pPr>
            <a:r>
              <a:rPr sz="1000" b="0">
                <a:solidFill>
                  <a:srgbClr val="1A1A1A"/>
                </a:solidFill>
                <a:latin typeface="Hiragino Sans"/>
                <a:ea typeface="Hiragino Sans"/>
                <a:cs typeface="Hiragino Sans"/>
              </a:rPr>
              <a:t>長期分析 (年比較等)</a:t>
            </a:r>
          </a:p>
        </p:txBody>
      </p:sp>
      <p:sp>
        <p:nvSpPr>
          <p:cNvPr id="14" name="Rounded Rectangle 13"/>
          <p:cNvSpPr/>
          <p:nvPr/>
        </p:nvSpPr>
        <p:spPr>
          <a:xfrm>
            <a:off x="3337560" y="2468880"/>
            <a:ext cx="2697480" cy="18288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37560" y="2468880"/>
            <a:ext cx="26974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20440" y="2697480"/>
            <a:ext cx="2331720" cy="365760"/>
          </a:xfrm>
          <a:prstGeom prst="rect">
            <a:avLst/>
          </a:prstGeom>
          <a:noFill/>
        </p:spPr>
        <p:txBody>
          <a:bodyPr wrap="square" anchor="t" lIns="0" rIns="0" tIns="0" bIns="0">
            <a:spAutoFit/>
          </a:bodyPr>
          <a:lstStyle/>
          <a:p>
            <a:pPr algn="ctr">
              <a:lnSpc>
                <a:spcPct val="115000"/>
              </a:lnSpc>
            </a:pPr>
            <a:r>
              <a:rPr sz="1300" b="1">
                <a:solidFill>
                  <a:srgbClr val="0F2A4F"/>
                </a:solidFill>
                <a:latin typeface="Hiragino Sans"/>
                <a:ea typeface="Hiragino Sans"/>
                <a:cs typeface="Hiragino Sans"/>
              </a:rPr>
              <a:t>カスタム集計</a:t>
            </a:r>
          </a:p>
        </p:txBody>
      </p:sp>
      <p:sp>
        <p:nvSpPr>
          <p:cNvPr id="17" name="TextBox 16"/>
          <p:cNvSpPr txBox="1"/>
          <p:nvPr/>
        </p:nvSpPr>
        <p:spPr>
          <a:xfrm>
            <a:off x="3520440" y="3108960"/>
            <a:ext cx="2331720" cy="1097280"/>
          </a:xfrm>
          <a:prstGeom prst="rect">
            <a:avLst/>
          </a:prstGeom>
          <a:noFill/>
        </p:spPr>
        <p:txBody>
          <a:bodyPr wrap="square" anchor="t" lIns="0" rIns="0" tIns="0" bIns="0">
            <a:spAutoFit/>
          </a:bodyPr>
          <a:lstStyle/>
          <a:p>
            <a:pPr algn="ctr">
              <a:lnSpc>
                <a:spcPct val="155000"/>
              </a:lnSpc>
            </a:pPr>
            <a:r>
              <a:rPr sz="1000" b="0">
                <a:solidFill>
                  <a:srgbClr val="1A1A1A"/>
                </a:solidFill>
                <a:latin typeface="Hiragino Sans"/>
                <a:ea typeface="Hiragino Sans"/>
                <a:cs typeface="Hiragino Sans"/>
              </a:rPr>
              <a:t>GA4 UIで不可能な</a:t>
            </a:r>
          </a:p>
          <a:p>
            <a:pPr algn="ctr">
              <a:lnSpc>
                <a:spcPct val="155000"/>
              </a:lnSpc>
            </a:pPr>
            <a:r>
              <a:rPr sz="1000" b="0">
                <a:solidFill>
                  <a:srgbClr val="1A1A1A"/>
                </a:solidFill>
                <a:latin typeface="Hiragino Sans"/>
                <a:ea typeface="Hiragino Sans"/>
                <a:cs typeface="Hiragino Sans"/>
              </a:rPr>
              <a:t>SQLによる自由集計</a:t>
            </a:r>
          </a:p>
        </p:txBody>
      </p:sp>
      <p:sp>
        <p:nvSpPr>
          <p:cNvPr id="18" name="Rounded Rectangle 17"/>
          <p:cNvSpPr/>
          <p:nvPr/>
        </p:nvSpPr>
        <p:spPr>
          <a:xfrm>
            <a:off x="6126480" y="2468880"/>
            <a:ext cx="2697480" cy="18288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0" y="2468880"/>
            <a:ext cx="26974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2697480"/>
            <a:ext cx="2331720" cy="365760"/>
          </a:xfrm>
          <a:prstGeom prst="rect">
            <a:avLst/>
          </a:prstGeom>
          <a:noFill/>
        </p:spPr>
        <p:txBody>
          <a:bodyPr wrap="square" anchor="t" lIns="0" rIns="0" tIns="0" bIns="0">
            <a:spAutoFit/>
          </a:bodyPr>
          <a:lstStyle/>
          <a:p>
            <a:pPr algn="ctr">
              <a:lnSpc>
                <a:spcPct val="115000"/>
              </a:lnSpc>
            </a:pPr>
            <a:r>
              <a:rPr sz="1300" b="1">
                <a:solidFill>
                  <a:srgbClr val="0F2A4F"/>
                </a:solidFill>
                <a:latin typeface="Hiragino Sans"/>
                <a:ea typeface="Hiragino Sans"/>
                <a:cs typeface="Hiragino Sans"/>
              </a:rPr>
              <a:t>Cross-channel統合</a:t>
            </a:r>
          </a:p>
        </p:txBody>
      </p:sp>
      <p:sp>
        <p:nvSpPr>
          <p:cNvPr id="21" name="TextBox 20"/>
          <p:cNvSpPr txBox="1"/>
          <p:nvPr/>
        </p:nvSpPr>
        <p:spPr>
          <a:xfrm>
            <a:off x="6309360" y="3108960"/>
            <a:ext cx="2331720" cy="1097280"/>
          </a:xfrm>
          <a:prstGeom prst="rect">
            <a:avLst/>
          </a:prstGeom>
          <a:noFill/>
        </p:spPr>
        <p:txBody>
          <a:bodyPr wrap="square" anchor="t" lIns="0" rIns="0" tIns="0" bIns="0">
            <a:spAutoFit/>
          </a:bodyPr>
          <a:lstStyle/>
          <a:p>
            <a:pPr algn="ctr">
              <a:lnSpc>
                <a:spcPct val="155000"/>
              </a:lnSpc>
            </a:pPr>
            <a:r>
              <a:rPr sz="1000" b="0">
                <a:solidFill>
                  <a:srgbClr val="1A1A1A"/>
                </a:solidFill>
                <a:latin typeface="Hiragino Sans"/>
                <a:ea typeface="Hiragino Sans"/>
                <a:cs typeface="Hiragino Sans"/>
              </a:rPr>
              <a:t>GA4 + GAds + Meta /</a:t>
            </a:r>
          </a:p>
          <a:p>
            <a:pPr algn="ctr">
              <a:lnSpc>
                <a:spcPct val="155000"/>
              </a:lnSpc>
            </a:pPr>
            <a:r>
              <a:rPr sz="1000" b="0">
                <a:solidFill>
                  <a:srgbClr val="1A1A1A"/>
                </a:solidFill>
                <a:latin typeface="Hiragino Sans"/>
                <a:ea typeface="Hiragino Sans"/>
                <a:cs typeface="Hiragino Sans"/>
              </a:rPr>
              <a:t>オフラインCV 統合</a:t>
            </a:r>
          </a:p>
        </p:txBody>
      </p:sp>
      <p:sp>
        <p:nvSpPr>
          <p:cNvPr id="22" name="Rounded Rectangle 21"/>
          <p:cNvSpPr/>
          <p:nvPr/>
        </p:nvSpPr>
        <p:spPr>
          <a:xfrm>
            <a:off x="8915400" y="2468880"/>
            <a:ext cx="2697480" cy="18288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915400" y="2468880"/>
            <a:ext cx="26974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98280" y="2697480"/>
            <a:ext cx="2331720" cy="365760"/>
          </a:xfrm>
          <a:prstGeom prst="rect">
            <a:avLst/>
          </a:prstGeom>
          <a:noFill/>
        </p:spPr>
        <p:txBody>
          <a:bodyPr wrap="square" anchor="t" lIns="0" rIns="0" tIns="0" bIns="0">
            <a:spAutoFit/>
          </a:bodyPr>
          <a:lstStyle/>
          <a:p>
            <a:pPr algn="ctr">
              <a:lnSpc>
                <a:spcPct val="115000"/>
              </a:lnSpc>
            </a:pPr>
            <a:r>
              <a:rPr sz="1300" b="1">
                <a:solidFill>
                  <a:srgbClr val="0F2A4F"/>
                </a:solidFill>
                <a:latin typeface="Hiragino Sans"/>
                <a:ea typeface="Hiragino Sans"/>
                <a:cs typeface="Hiragino Sans"/>
              </a:rPr>
              <a:t>MLモデル連携</a:t>
            </a:r>
          </a:p>
        </p:txBody>
      </p:sp>
      <p:sp>
        <p:nvSpPr>
          <p:cNvPr id="25" name="TextBox 24"/>
          <p:cNvSpPr txBox="1"/>
          <p:nvPr/>
        </p:nvSpPr>
        <p:spPr>
          <a:xfrm>
            <a:off x="9098280" y="3108960"/>
            <a:ext cx="2331720" cy="1097280"/>
          </a:xfrm>
          <a:prstGeom prst="rect">
            <a:avLst/>
          </a:prstGeom>
          <a:noFill/>
        </p:spPr>
        <p:txBody>
          <a:bodyPr wrap="square" anchor="t" lIns="0" rIns="0" tIns="0" bIns="0">
            <a:spAutoFit/>
          </a:bodyPr>
          <a:lstStyle/>
          <a:p>
            <a:pPr algn="ctr">
              <a:lnSpc>
                <a:spcPct val="155000"/>
              </a:lnSpc>
            </a:pPr>
            <a:r>
              <a:rPr sz="1000" b="0">
                <a:solidFill>
                  <a:srgbClr val="1A1A1A"/>
                </a:solidFill>
                <a:latin typeface="Hiragino Sans"/>
                <a:ea typeface="Hiragino Sans"/>
                <a:cs typeface="Hiragino Sans"/>
              </a:rPr>
              <a:t>BigQuery ML / Vertex AI</a:t>
            </a:r>
          </a:p>
          <a:p>
            <a:pPr algn="ctr">
              <a:lnSpc>
                <a:spcPct val="155000"/>
              </a:lnSpc>
            </a:pPr>
            <a:r>
              <a:rPr sz="1000" b="0">
                <a:solidFill>
                  <a:srgbClr val="1A1A1A"/>
                </a:solidFill>
                <a:latin typeface="Hiragino Sans"/>
                <a:ea typeface="Hiragino Sans"/>
                <a:cs typeface="Hiragino Sans"/>
              </a:rPr>
              <a:t>で予測モデル構築</a:t>
            </a:r>
          </a:p>
        </p:txBody>
      </p:sp>
      <p:sp>
        <p:nvSpPr>
          <p:cNvPr id="26" name="Rounded Rectangle 25"/>
          <p:cNvSpPr/>
          <p:nvPr/>
        </p:nvSpPr>
        <p:spPr>
          <a:xfrm>
            <a:off x="548640" y="4526280"/>
            <a:ext cx="11109960" cy="182880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4663440"/>
            <a:ext cx="100584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 BigQuery のコスト感</a:t>
            </a:r>
          </a:p>
        </p:txBody>
      </p:sp>
      <p:sp>
        <p:nvSpPr>
          <p:cNvPr id="28" name="TextBox 27"/>
          <p:cNvSpPr txBox="1"/>
          <p:nvPr/>
        </p:nvSpPr>
        <p:spPr>
          <a:xfrm>
            <a:off x="777240" y="4983480"/>
            <a:ext cx="10972800" cy="1325880"/>
          </a:xfrm>
          <a:prstGeom prst="rect">
            <a:avLst/>
          </a:prstGeom>
          <a:noFill/>
        </p:spPr>
        <p:txBody>
          <a:bodyPr wrap="square" anchor="t" lIns="0" rIns="0" tIns="0" bIns="0">
            <a:spAutoFit/>
          </a:bodyPr>
          <a:lstStyle/>
          <a:p>
            <a:pPr algn="l">
              <a:lnSpc>
                <a:spcPct val="155000"/>
              </a:lnSpc>
            </a:pPr>
            <a:r>
              <a:rPr sz="1100" b="0">
                <a:solidFill>
                  <a:srgbClr val="1A1A1A"/>
                </a:solidFill>
                <a:latin typeface="Hiragino Sans"/>
                <a:ea typeface="Hiragino Sans"/>
                <a:cs typeface="Hiragino Sans"/>
              </a:rPr>
              <a:t>• ストレージ : 月10GB無料、それ以上は約 US$0.02/GB/月 (中小規模なら月数百円)</a:t>
            </a:r>
          </a:p>
          <a:p>
            <a:pPr algn="l">
              <a:lnSpc>
                <a:spcPct val="155000"/>
              </a:lnSpc>
            </a:pPr>
            <a:r>
              <a:rPr sz="1100" b="0">
                <a:solidFill>
                  <a:srgbClr val="1A1A1A"/>
                </a:solidFill>
                <a:latin typeface="Hiragino Sans"/>
                <a:ea typeface="Hiragino Sans"/>
                <a:cs typeface="Hiragino Sans"/>
              </a:rPr>
              <a:t>• クエリ実行 : 月1TB無料、それ以上は約 US$5/TB (適切に設計すれば負担小)</a:t>
            </a:r>
          </a:p>
          <a:p>
            <a:pPr algn="l">
              <a:lnSpc>
                <a:spcPct val="155000"/>
              </a:lnSpc>
            </a:pPr>
            <a:r>
              <a:rPr sz="1100" b="0">
                <a:solidFill>
                  <a:srgbClr val="1A1A1A"/>
                </a:solidFill>
                <a:latin typeface="Hiragino Sans"/>
                <a:ea typeface="Hiragino Sans"/>
                <a:cs typeface="Hiragino Sans"/>
              </a:rPr>
              <a:t>• 副業代行 : 月予算300万円以上のクライアントで GA4 → BigQuery を有効化</a:t>
            </a:r>
          </a:p>
          <a:p>
            <a:pPr algn="l">
              <a:lnSpc>
                <a:spcPct val="155000"/>
              </a:lnSpc>
            </a:pPr>
            <a:r>
              <a:rPr sz="1100" b="0">
                <a:solidFill>
                  <a:srgbClr val="1A1A1A"/>
                </a:solidFill>
                <a:latin typeface="Hiragino Sans"/>
                <a:ea typeface="Hiragino Sans"/>
                <a:cs typeface="Hiragino Sans"/>
              </a:rPr>
              <a:t>• Looker Studio から直接BigQuery参照可能 → SQL書ければ自由設計可能</a:t>
            </a:r>
          </a:p>
        </p:txBody>
      </p:sp>
      <p:sp>
        <p:nvSpPr>
          <p:cNvPr id="29" name="TextBox 28"/>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Clean Rooms — プライバシー安全なデータ協業</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AMC / Ads Data Hub / Habu / LiveRamp等</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P161 / 250</a:t>
            </a:r>
          </a:p>
        </p:txBody>
      </p:sp>
      <p:sp>
        <p:nvSpPr>
          <p:cNvPr id="8" name="Rounded Rectangle 7"/>
          <p:cNvSpPr/>
          <p:nvPr/>
        </p:nvSpPr>
        <p:spPr>
          <a:xfrm>
            <a:off x="548640" y="1371600"/>
            <a:ext cx="11109960" cy="91440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08760"/>
            <a:ext cx="10972800" cy="731520"/>
          </a:xfrm>
          <a:prstGeom prst="rect">
            <a:avLst/>
          </a:prstGeom>
          <a:noFill/>
        </p:spPr>
        <p:txBody>
          <a:bodyPr wrap="square" anchor="t" lIns="0" rIns="0" tIns="0" bIns="0">
            <a:spAutoFit/>
          </a:bodyPr>
          <a:lstStyle/>
          <a:p>
            <a:pPr algn="l">
              <a:lnSpc>
                <a:spcPct val="150000"/>
              </a:lnSpc>
            </a:pPr>
            <a:r>
              <a:rPr sz="1200" b="0">
                <a:solidFill>
                  <a:srgbClr val="FFFFFF"/>
                </a:solidFill>
                <a:latin typeface="Hiragino Sans"/>
                <a:ea typeface="Hiragino Sans"/>
                <a:cs typeface="Hiragino Sans"/>
              </a:rPr>
              <a:t>Clean Room : 複数組織のデータを統合分析できる プライバシー安全な環境。</a:t>
            </a:r>
          </a:p>
          <a:p>
            <a:pPr algn="l">
              <a:lnSpc>
                <a:spcPct val="150000"/>
              </a:lnSpc>
            </a:pPr>
            <a:r>
              <a:rPr sz="1200" b="0">
                <a:solidFill>
                  <a:srgbClr val="FFFFFF"/>
                </a:solidFill>
                <a:latin typeface="Hiragino Sans"/>
                <a:ea typeface="Hiragino Sans"/>
                <a:cs typeface="Hiragino Sans"/>
              </a:rPr>
              <a:t>個人特定不可な集約データのみを出力 → GDPR/CCPA等の規制下でも合法</a:t>
            </a:r>
          </a:p>
        </p:txBody>
      </p:sp>
      <p:sp>
        <p:nvSpPr>
          <p:cNvPr id="10" name="Rounded Rectangle 9"/>
          <p:cNvSpPr/>
          <p:nvPr/>
        </p:nvSpPr>
        <p:spPr>
          <a:xfrm>
            <a:off x="548640" y="2468880"/>
            <a:ext cx="2697480" cy="20116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468880"/>
            <a:ext cx="26974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697480"/>
            <a:ext cx="2331720" cy="457200"/>
          </a:xfrm>
          <a:prstGeom prst="rect">
            <a:avLst/>
          </a:prstGeom>
          <a:noFill/>
        </p:spPr>
        <p:txBody>
          <a:bodyPr wrap="square" anchor="t" lIns="0" rIns="0" tIns="0" bIns="0">
            <a:spAutoFit/>
          </a:bodyPr>
          <a:lstStyle/>
          <a:p>
            <a:pPr algn="ctr">
              <a:lnSpc>
                <a:spcPct val="125000"/>
              </a:lnSpc>
            </a:pPr>
            <a:r>
              <a:rPr sz="1300" b="1">
                <a:solidFill>
                  <a:srgbClr val="0F2A4F"/>
                </a:solidFill>
                <a:latin typeface="Hiragino Sans"/>
                <a:ea typeface="Hiragino Sans"/>
                <a:cs typeface="Hiragino Sans"/>
              </a:rPr>
              <a:t>Amazon Marketing Cloud</a:t>
            </a:r>
          </a:p>
        </p:txBody>
      </p:sp>
      <p:sp>
        <p:nvSpPr>
          <p:cNvPr id="13" name="TextBox 12"/>
          <p:cNvSpPr txBox="1"/>
          <p:nvPr/>
        </p:nvSpPr>
        <p:spPr>
          <a:xfrm>
            <a:off x="731520" y="3246120"/>
            <a:ext cx="2331720" cy="1188720"/>
          </a:xfrm>
          <a:prstGeom prst="rect">
            <a:avLst/>
          </a:prstGeom>
          <a:noFill/>
        </p:spPr>
        <p:txBody>
          <a:bodyPr wrap="square" anchor="t" lIns="0" rIns="0" tIns="0" bIns="0">
            <a:spAutoFit/>
          </a:bodyPr>
          <a:lstStyle/>
          <a:p>
            <a:pPr algn="ctr">
              <a:lnSpc>
                <a:spcPct val="160000"/>
              </a:lnSpc>
            </a:pPr>
            <a:r>
              <a:rPr sz="1000" b="0">
                <a:solidFill>
                  <a:srgbClr val="1A1A1A"/>
                </a:solidFill>
                <a:latin typeface="Hiragino Sans"/>
                <a:ea typeface="Hiragino Sans"/>
                <a:cs typeface="Hiragino Sans"/>
              </a:rPr>
              <a:t>Amazon広告主向け</a:t>
            </a:r>
          </a:p>
          <a:p>
            <a:pPr algn="ctr">
              <a:lnSpc>
                <a:spcPct val="160000"/>
              </a:lnSpc>
            </a:pPr>
            <a:r>
              <a:rPr sz="1000" b="0">
                <a:solidFill>
                  <a:srgbClr val="1A1A1A"/>
                </a:solidFill>
                <a:latin typeface="Hiragino Sans"/>
                <a:ea typeface="Hiragino Sans"/>
                <a:cs typeface="Hiragino Sans"/>
              </a:rPr>
              <a:t>12.5ヶ月のevent-level</a:t>
            </a:r>
          </a:p>
          <a:p>
            <a:pPr algn="ctr">
              <a:lnSpc>
                <a:spcPct val="160000"/>
              </a:lnSpc>
            </a:pPr>
            <a:r>
              <a:rPr sz="1000" b="0">
                <a:solidFill>
                  <a:srgbClr val="1A1A1A"/>
                </a:solidFill>
                <a:latin typeface="Hiragino Sans"/>
                <a:ea typeface="Hiragino Sans"/>
                <a:cs typeface="Hiragino Sans"/>
              </a:rPr>
              <a:t>2026 No-code化</a:t>
            </a:r>
          </a:p>
        </p:txBody>
      </p:sp>
      <p:sp>
        <p:nvSpPr>
          <p:cNvPr id="14" name="Rounded Rectangle 13"/>
          <p:cNvSpPr/>
          <p:nvPr/>
        </p:nvSpPr>
        <p:spPr>
          <a:xfrm>
            <a:off x="3337560" y="2468880"/>
            <a:ext cx="2697480" cy="20116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37560" y="2468880"/>
            <a:ext cx="26974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20440" y="2697480"/>
            <a:ext cx="2331720" cy="457200"/>
          </a:xfrm>
          <a:prstGeom prst="rect">
            <a:avLst/>
          </a:prstGeom>
          <a:noFill/>
        </p:spPr>
        <p:txBody>
          <a:bodyPr wrap="square" anchor="t" lIns="0" rIns="0" tIns="0" bIns="0">
            <a:spAutoFit/>
          </a:bodyPr>
          <a:lstStyle/>
          <a:p>
            <a:pPr algn="ctr">
              <a:lnSpc>
                <a:spcPct val="125000"/>
              </a:lnSpc>
            </a:pPr>
            <a:r>
              <a:rPr sz="1300" b="1">
                <a:solidFill>
                  <a:srgbClr val="0F2A4F"/>
                </a:solidFill>
                <a:latin typeface="Hiragino Sans"/>
                <a:ea typeface="Hiragino Sans"/>
                <a:cs typeface="Hiragino Sans"/>
              </a:rPr>
              <a:t>Google Ads Data Hub</a:t>
            </a:r>
          </a:p>
        </p:txBody>
      </p:sp>
      <p:sp>
        <p:nvSpPr>
          <p:cNvPr id="17" name="TextBox 16"/>
          <p:cNvSpPr txBox="1"/>
          <p:nvPr/>
        </p:nvSpPr>
        <p:spPr>
          <a:xfrm>
            <a:off x="3520440" y="3246120"/>
            <a:ext cx="2331720" cy="1188720"/>
          </a:xfrm>
          <a:prstGeom prst="rect">
            <a:avLst/>
          </a:prstGeom>
          <a:noFill/>
        </p:spPr>
        <p:txBody>
          <a:bodyPr wrap="square" anchor="t" lIns="0" rIns="0" tIns="0" bIns="0">
            <a:spAutoFit/>
          </a:bodyPr>
          <a:lstStyle/>
          <a:p>
            <a:pPr algn="ctr">
              <a:lnSpc>
                <a:spcPct val="160000"/>
              </a:lnSpc>
            </a:pPr>
            <a:r>
              <a:rPr sz="1000" b="0">
                <a:solidFill>
                  <a:srgbClr val="1A1A1A"/>
                </a:solidFill>
                <a:latin typeface="Hiragino Sans"/>
                <a:ea typeface="Hiragino Sans"/>
                <a:cs typeface="Hiragino Sans"/>
              </a:rPr>
              <a:t>Google広告主向け</a:t>
            </a:r>
          </a:p>
          <a:p>
            <a:pPr algn="ctr">
              <a:lnSpc>
                <a:spcPct val="160000"/>
              </a:lnSpc>
            </a:pPr>
            <a:r>
              <a:rPr sz="1000" b="0">
                <a:solidFill>
                  <a:srgbClr val="1A1A1A"/>
                </a:solidFill>
                <a:latin typeface="Hiragino Sans"/>
                <a:ea typeface="Hiragino Sans"/>
                <a:cs typeface="Hiragino Sans"/>
              </a:rPr>
              <a:t>BigQuery基盤</a:t>
            </a:r>
          </a:p>
          <a:p>
            <a:pPr algn="ctr">
              <a:lnSpc>
                <a:spcPct val="160000"/>
              </a:lnSpc>
            </a:pPr>
            <a:r>
              <a:rPr sz="1000" b="0">
                <a:solidFill>
                  <a:srgbClr val="1A1A1A"/>
                </a:solidFill>
                <a:latin typeface="Hiragino Sans"/>
                <a:ea typeface="Hiragino Sans"/>
                <a:cs typeface="Hiragino Sans"/>
              </a:rPr>
              <a:t>エンタープライズ</a:t>
            </a:r>
          </a:p>
        </p:txBody>
      </p:sp>
      <p:sp>
        <p:nvSpPr>
          <p:cNvPr id="18" name="Rounded Rectangle 17"/>
          <p:cNvSpPr/>
          <p:nvPr/>
        </p:nvSpPr>
        <p:spPr>
          <a:xfrm>
            <a:off x="6126480" y="2468880"/>
            <a:ext cx="2697480" cy="20116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0" y="2468880"/>
            <a:ext cx="26974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2697480"/>
            <a:ext cx="2331720" cy="457200"/>
          </a:xfrm>
          <a:prstGeom prst="rect">
            <a:avLst/>
          </a:prstGeom>
          <a:noFill/>
        </p:spPr>
        <p:txBody>
          <a:bodyPr wrap="square" anchor="t" lIns="0" rIns="0" tIns="0" bIns="0">
            <a:spAutoFit/>
          </a:bodyPr>
          <a:lstStyle/>
          <a:p>
            <a:pPr algn="ctr">
              <a:lnSpc>
                <a:spcPct val="125000"/>
              </a:lnSpc>
            </a:pPr>
            <a:r>
              <a:rPr sz="1300" b="1">
                <a:solidFill>
                  <a:srgbClr val="0F2A4F"/>
                </a:solidFill>
                <a:latin typeface="Hiragino Sans"/>
                <a:ea typeface="Hiragino Sans"/>
                <a:cs typeface="Hiragino Sans"/>
              </a:rPr>
              <a:t>Habu</a:t>
            </a:r>
          </a:p>
        </p:txBody>
      </p:sp>
      <p:sp>
        <p:nvSpPr>
          <p:cNvPr id="21" name="TextBox 20"/>
          <p:cNvSpPr txBox="1"/>
          <p:nvPr/>
        </p:nvSpPr>
        <p:spPr>
          <a:xfrm>
            <a:off x="6309360" y="3246120"/>
            <a:ext cx="2331720" cy="1188720"/>
          </a:xfrm>
          <a:prstGeom prst="rect">
            <a:avLst/>
          </a:prstGeom>
          <a:noFill/>
        </p:spPr>
        <p:txBody>
          <a:bodyPr wrap="square" anchor="t" lIns="0" rIns="0" tIns="0" bIns="0">
            <a:spAutoFit/>
          </a:bodyPr>
          <a:lstStyle/>
          <a:p>
            <a:pPr algn="ctr">
              <a:lnSpc>
                <a:spcPct val="160000"/>
              </a:lnSpc>
            </a:pPr>
            <a:r>
              <a:rPr sz="1000" b="0">
                <a:solidFill>
                  <a:srgbClr val="1A1A1A"/>
                </a:solidFill>
                <a:latin typeface="Hiragino Sans"/>
                <a:ea typeface="Hiragino Sans"/>
                <a:cs typeface="Hiragino Sans"/>
              </a:rPr>
              <a:t>中立Clean Room</a:t>
            </a:r>
          </a:p>
          <a:p>
            <a:pPr algn="ctr">
              <a:lnSpc>
                <a:spcPct val="160000"/>
              </a:lnSpc>
            </a:pPr>
            <a:r>
              <a:rPr sz="1000" b="0">
                <a:solidFill>
                  <a:srgbClr val="1A1A1A"/>
                </a:solidFill>
                <a:latin typeface="Hiragino Sans"/>
                <a:ea typeface="Hiragino Sans"/>
                <a:cs typeface="Hiragino Sans"/>
              </a:rPr>
              <a:t>複数Walled Garden統合</a:t>
            </a:r>
          </a:p>
          <a:p>
            <a:pPr algn="ctr">
              <a:lnSpc>
                <a:spcPct val="160000"/>
              </a:lnSpc>
            </a:pPr>
            <a:r>
              <a:rPr sz="1000" b="0">
                <a:solidFill>
                  <a:srgbClr val="1A1A1A"/>
                </a:solidFill>
                <a:latin typeface="Hiragino Sans"/>
                <a:ea typeface="Hiragino Sans"/>
                <a:cs typeface="Hiragino Sans"/>
              </a:rPr>
              <a:t>メタCDP的</a:t>
            </a:r>
          </a:p>
        </p:txBody>
      </p:sp>
      <p:sp>
        <p:nvSpPr>
          <p:cNvPr id="22" name="Rounded Rectangle 21"/>
          <p:cNvSpPr/>
          <p:nvPr/>
        </p:nvSpPr>
        <p:spPr>
          <a:xfrm>
            <a:off x="8915400" y="2468880"/>
            <a:ext cx="2697480" cy="20116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915400" y="2468880"/>
            <a:ext cx="26974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98280" y="2697480"/>
            <a:ext cx="2331720" cy="457200"/>
          </a:xfrm>
          <a:prstGeom prst="rect">
            <a:avLst/>
          </a:prstGeom>
          <a:noFill/>
        </p:spPr>
        <p:txBody>
          <a:bodyPr wrap="square" anchor="t" lIns="0" rIns="0" tIns="0" bIns="0">
            <a:spAutoFit/>
          </a:bodyPr>
          <a:lstStyle/>
          <a:p>
            <a:pPr algn="ctr">
              <a:lnSpc>
                <a:spcPct val="125000"/>
              </a:lnSpc>
            </a:pPr>
            <a:r>
              <a:rPr sz="1300" b="1">
                <a:solidFill>
                  <a:srgbClr val="0F2A4F"/>
                </a:solidFill>
                <a:latin typeface="Hiragino Sans"/>
                <a:ea typeface="Hiragino Sans"/>
                <a:cs typeface="Hiragino Sans"/>
              </a:rPr>
              <a:t>LiveRamp Safe Haven</a:t>
            </a:r>
          </a:p>
        </p:txBody>
      </p:sp>
      <p:sp>
        <p:nvSpPr>
          <p:cNvPr id="25" name="TextBox 24"/>
          <p:cNvSpPr txBox="1"/>
          <p:nvPr/>
        </p:nvSpPr>
        <p:spPr>
          <a:xfrm>
            <a:off x="9098280" y="3246120"/>
            <a:ext cx="2331720" cy="1188720"/>
          </a:xfrm>
          <a:prstGeom prst="rect">
            <a:avLst/>
          </a:prstGeom>
          <a:noFill/>
        </p:spPr>
        <p:txBody>
          <a:bodyPr wrap="square" anchor="t" lIns="0" rIns="0" tIns="0" bIns="0">
            <a:spAutoFit/>
          </a:bodyPr>
          <a:lstStyle/>
          <a:p>
            <a:pPr algn="ctr">
              <a:lnSpc>
                <a:spcPct val="160000"/>
              </a:lnSpc>
            </a:pPr>
            <a:r>
              <a:rPr sz="1000" b="0">
                <a:solidFill>
                  <a:srgbClr val="1A1A1A"/>
                </a:solidFill>
                <a:latin typeface="Hiragino Sans"/>
                <a:ea typeface="Hiragino Sans"/>
                <a:cs typeface="Hiragino Sans"/>
              </a:rPr>
              <a:t>RampID統合</a:t>
            </a:r>
          </a:p>
          <a:p>
            <a:pPr algn="ctr">
              <a:lnSpc>
                <a:spcPct val="160000"/>
              </a:lnSpc>
            </a:pPr>
            <a:r>
              <a:rPr sz="1000" b="0">
                <a:solidFill>
                  <a:srgbClr val="1A1A1A"/>
                </a:solidFill>
                <a:latin typeface="Hiragino Sans"/>
                <a:ea typeface="Hiragino Sans"/>
                <a:cs typeface="Hiragino Sans"/>
              </a:rPr>
              <a:t>Fortune 500主導</a:t>
            </a:r>
          </a:p>
          <a:p>
            <a:pPr algn="ctr">
              <a:lnSpc>
                <a:spcPct val="160000"/>
              </a:lnSpc>
            </a:pPr>
            <a:r>
              <a:rPr sz="1000" b="0">
                <a:solidFill>
                  <a:srgbClr val="1A1A1A"/>
                </a:solidFill>
                <a:latin typeface="Hiragino Sans"/>
                <a:ea typeface="Hiragino Sans"/>
                <a:cs typeface="Hiragino Sans"/>
              </a:rPr>
              <a:t>リテールメディア対応</a:t>
            </a:r>
          </a:p>
        </p:txBody>
      </p:sp>
      <p:sp>
        <p:nvSpPr>
          <p:cNvPr id="26" name="TextBox 25"/>
          <p:cNvSpPr txBox="1"/>
          <p:nvPr/>
        </p:nvSpPr>
        <p:spPr>
          <a:xfrm>
            <a:off x="548640" y="4709160"/>
            <a:ext cx="10972800" cy="1645920"/>
          </a:xfrm>
          <a:prstGeom prst="rect">
            <a:avLst/>
          </a:prstGeom>
          <a:noFill/>
        </p:spPr>
        <p:txBody>
          <a:bodyPr wrap="square" anchor="t" lIns="0" rIns="0" tIns="0" bIns="0">
            <a:spAutoFit/>
          </a:bodyPr>
          <a:lstStyle/>
          <a:p>
            <a:pPr algn="l">
              <a:lnSpc>
                <a:spcPct val="155000"/>
              </a:lnSpc>
            </a:pPr>
            <a:r>
              <a:rPr sz="1100" b="0">
                <a:solidFill>
                  <a:srgbClr val="0F2A4F"/>
                </a:solidFill>
                <a:latin typeface="Hiragino Sans"/>
                <a:ea typeface="Hiragino Sans"/>
                <a:cs typeface="Hiragino Sans"/>
              </a:rPr>
              <a:t>💡 中小予算 (月1,000万円未満) では Clean Room 直接利用は対象外。Amazon AMC のNo-code化が最初の入口に</a:t>
            </a:r>
          </a:p>
        </p:txBody>
      </p:sp>
      <p:sp>
        <p:nvSpPr>
          <p:cNvPr id="27" name="TextBox 26"/>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Privacy-Preserving Computation</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差分プライバシー・連邦学習・MPC</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P162 / 250</a:t>
            </a:r>
          </a:p>
        </p:txBody>
      </p:sp>
      <p:sp>
        <p:nvSpPr>
          <p:cNvPr id="8" name="Rounded Rectangle 7"/>
          <p:cNvSpPr/>
          <p:nvPr/>
        </p:nvSpPr>
        <p:spPr>
          <a:xfrm>
            <a:off x="548640" y="1417320"/>
            <a:ext cx="3611880" cy="27432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361188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581912"/>
            <a:ext cx="3246120" cy="365760"/>
          </a:xfrm>
          <a:prstGeom prst="rect">
            <a:avLst/>
          </a:prstGeom>
          <a:noFill/>
        </p:spPr>
        <p:txBody>
          <a:bodyPr wrap="square" anchor="t" lIns="0" rIns="0" tIns="0" bIns="0">
            <a:spAutoFit/>
          </a:bodyPr>
          <a:lstStyle/>
          <a:p>
            <a:pPr algn="l">
              <a:lnSpc>
                <a:spcPct val="115000"/>
              </a:lnSpc>
            </a:pPr>
            <a:r>
              <a:rPr sz="1400" b="1">
                <a:solidFill>
                  <a:srgbClr val="E87722"/>
                </a:solidFill>
                <a:latin typeface="Helvetica Neue"/>
                <a:ea typeface="Helvetica Neue"/>
                <a:cs typeface="Helvetica Neue"/>
              </a:rPr>
              <a:t>Differential Privacy</a:t>
            </a:r>
          </a:p>
        </p:txBody>
      </p:sp>
      <p:sp>
        <p:nvSpPr>
          <p:cNvPr id="11" name="TextBox 10"/>
          <p:cNvSpPr txBox="1"/>
          <p:nvPr/>
        </p:nvSpPr>
        <p:spPr>
          <a:xfrm>
            <a:off x="777240" y="1947672"/>
            <a:ext cx="3246120" cy="27432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差分プライバシー</a:t>
            </a:r>
          </a:p>
        </p:txBody>
      </p:sp>
      <p:sp>
        <p:nvSpPr>
          <p:cNvPr id="12" name="TextBox 11"/>
          <p:cNvSpPr txBox="1"/>
          <p:nvPr/>
        </p:nvSpPr>
        <p:spPr>
          <a:xfrm>
            <a:off x="777240" y="2423160"/>
            <a:ext cx="3246120" cy="169164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個人特定不可なノイズを加算</a:t>
            </a:r>
          </a:p>
          <a:p>
            <a:pPr algn="l">
              <a:lnSpc>
                <a:spcPct val="160000"/>
              </a:lnSpc>
            </a:pPr>
            <a:r>
              <a:rPr sz="1100" b="0">
                <a:solidFill>
                  <a:srgbClr val="1A1A1A"/>
                </a:solidFill>
                <a:latin typeface="Hiragino Sans"/>
                <a:ea typeface="Hiragino Sans"/>
                <a:cs typeface="Hiragino Sans"/>
              </a:rPr>
              <a:t>統計値は保持しつつ匿名化</a:t>
            </a:r>
          </a:p>
          <a:p>
            <a:pPr algn="l">
              <a:lnSpc>
                <a:spcPct val="160000"/>
              </a:lnSpc>
            </a:pPr>
            <a:r>
              <a:rPr sz="1100" b="0">
                <a:solidFill>
                  <a:srgbClr val="1A1A1A"/>
                </a:solidFill>
                <a:latin typeface="Hiragino Sans"/>
                <a:ea typeface="Hiragino Sans"/>
                <a:cs typeface="Hiragino Sans"/>
              </a:rPr>
              <a:t>Google / Apple が標準採用</a:t>
            </a:r>
          </a:p>
        </p:txBody>
      </p:sp>
      <p:sp>
        <p:nvSpPr>
          <p:cNvPr id="13" name="Rounded Rectangle 12"/>
          <p:cNvSpPr/>
          <p:nvPr/>
        </p:nvSpPr>
        <p:spPr>
          <a:xfrm>
            <a:off x="4297680" y="1417320"/>
            <a:ext cx="3611880" cy="27432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7680" y="1417320"/>
            <a:ext cx="361188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26280" y="1581912"/>
            <a:ext cx="3246120" cy="365760"/>
          </a:xfrm>
          <a:prstGeom prst="rect">
            <a:avLst/>
          </a:prstGeom>
          <a:noFill/>
        </p:spPr>
        <p:txBody>
          <a:bodyPr wrap="square" anchor="t" lIns="0" rIns="0" tIns="0" bIns="0">
            <a:spAutoFit/>
          </a:bodyPr>
          <a:lstStyle/>
          <a:p>
            <a:pPr algn="l">
              <a:lnSpc>
                <a:spcPct val="115000"/>
              </a:lnSpc>
            </a:pPr>
            <a:r>
              <a:rPr sz="1400" b="1">
                <a:solidFill>
                  <a:srgbClr val="E87722"/>
                </a:solidFill>
                <a:latin typeface="Helvetica Neue"/>
                <a:ea typeface="Helvetica Neue"/>
                <a:cs typeface="Helvetica Neue"/>
              </a:rPr>
              <a:t>Federated Learning</a:t>
            </a:r>
          </a:p>
        </p:txBody>
      </p:sp>
      <p:sp>
        <p:nvSpPr>
          <p:cNvPr id="16" name="TextBox 15"/>
          <p:cNvSpPr txBox="1"/>
          <p:nvPr/>
        </p:nvSpPr>
        <p:spPr>
          <a:xfrm>
            <a:off x="4526280" y="1947672"/>
            <a:ext cx="3246120" cy="27432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連邦学習</a:t>
            </a:r>
          </a:p>
        </p:txBody>
      </p:sp>
      <p:sp>
        <p:nvSpPr>
          <p:cNvPr id="17" name="TextBox 16"/>
          <p:cNvSpPr txBox="1"/>
          <p:nvPr/>
        </p:nvSpPr>
        <p:spPr>
          <a:xfrm>
            <a:off x="4526280" y="2423160"/>
            <a:ext cx="3246120" cy="169164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デバイス側でMLモデル訓練</a:t>
            </a:r>
          </a:p>
          <a:p>
            <a:pPr algn="l">
              <a:lnSpc>
                <a:spcPct val="160000"/>
              </a:lnSpc>
            </a:pPr>
            <a:r>
              <a:rPr sz="1100" b="0">
                <a:solidFill>
                  <a:srgbClr val="1A1A1A"/>
                </a:solidFill>
                <a:latin typeface="Hiragino Sans"/>
                <a:ea typeface="Hiragino Sans"/>
                <a:cs typeface="Hiragino Sans"/>
              </a:rPr>
              <a:t>データをサーバーに送らない</a:t>
            </a:r>
          </a:p>
          <a:p>
            <a:pPr algn="l">
              <a:lnSpc>
                <a:spcPct val="160000"/>
              </a:lnSpc>
            </a:pPr>
            <a:r>
              <a:rPr sz="1100" b="0">
                <a:solidFill>
                  <a:srgbClr val="1A1A1A"/>
                </a:solidFill>
                <a:latin typeface="Hiragino Sans"/>
                <a:ea typeface="Hiragino Sans"/>
                <a:cs typeface="Hiragino Sans"/>
              </a:rPr>
              <a:t>Gboard / Siri 等で実用</a:t>
            </a:r>
          </a:p>
        </p:txBody>
      </p:sp>
      <p:sp>
        <p:nvSpPr>
          <p:cNvPr id="18" name="Rounded Rectangle 17"/>
          <p:cNvSpPr/>
          <p:nvPr/>
        </p:nvSpPr>
        <p:spPr>
          <a:xfrm>
            <a:off x="8046720" y="1417320"/>
            <a:ext cx="3611880" cy="27432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6720" y="1417320"/>
            <a:ext cx="361188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1581912"/>
            <a:ext cx="3246120" cy="365760"/>
          </a:xfrm>
          <a:prstGeom prst="rect">
            <a:avLst/>
          </a:prstGeom>
          <a:noFill/>
        </p:spPr>
        <p:txBody>
          <a:bodyPr wrap="square" anchor="t" lIns="0" rIns="0" tIns="0" bIns="0">
            <a:spAutoFit/>
          </a:bodyPr>
          <a:lstStyle/>
          <a:p>
            <a:pPr algn="l">
              <a:lnSpc>
                <a:spcPct val="115000"/>
              </a:lnSpc>
            </a:pPr>
            <a:r>
              <a:rPr sz="1400" b="1">
                <a:solidFill>
                  <a:srgbClr val="E87722"/>
                </a:solidFill>
                <a:latin typeface="Helvetica Neue"/>
                <a:ea typeface="Helvetica Neue"/>
                <a:cs typeface="Helvetica Neue"/>
              </a:rPr>
              <a:t>Multi-Party Computation</a:t>
            </a:r>
          </a:p>
        </p:txBody>
      </p:sp>
      <p:sp>
        <p:nvSpPr>
          <p:cNvPr id="21" name="TextBox 20"/>
          <p:cNvSpPr txBox="1"/>
          <p:nvPr/>
        </p:nvSpPr>
        <p:spPr>
          <a:xfrm>
            <a:off x="8275320" y="1947672"/>
            <a:ext cx="3246120" cy="27432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MPC (秘密計算)</a:t>
            </a:r>
          </a:p>
        </p:txBody>
      </p:sp>
      <p:sp>
        <p:nvSpPr>
          <p:cNvPr id="22" name="TextBox 21"/>
          <p:cNvSpPr txBox="1"/>
          <p:nvPr/>
        </p:nvSpPr>
        <p:spPr>
          <a:xfrm>
            <a:off x="8275320" y="2423160"/>
            <a:ext cx="3246120" cy="169164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複数組織で暗号化データ計算</a:t>
            </a:r>
          </a:p>
          <a:p>
            <a:pPr algn="l">
              <a:lnSpc>
                <a:spcPct val="160000"/>
              </a:lnSpc>
            </a:pPr>
            <a:r>
              <a:rPr sz="1100" b="0">
                <a:solidFill>
                  <a:srgbClr val="1A1A1A"/>
                </a:solidFill>
                <a:latin typeface="Hiragino Sans"/>
                <a:ea typeface="Hiragino Sans"/>
                <a:cs typeface="Hiragino Sans"/>
              </a:rPr>
              <a:t>Clean Roomの基盤技術</a:t>
            </a:r>
          </a:p>
          <a:p>
            <a:pPr algn="l">
              <a:lnSpc>
                <a:spcPct val="160000"/>
              </a:lnSpc>
            </a:pPr>
            <a:r>
              <a:rPr sz="1100" b="0">
                <a:solidFill>
                  <a:srgbClr val="1A1A1A"/>
                </a:solidFill>
                <a:latin typeface="Hiragino Sans"/>
                <a:ea typeface="Hiragino Sans"/>
                <a:cs typeface="Hiragino Sans"/>
              </a:rPr>
              <a:t>FinTech / Adtech で活用</a:t>
            </a:r>
          </a:p>
        </p:txBody>
      </p:sp>
      <p:sp>
        <p:nvSpPr>
          <p:cNvPr id="23" name="Rounded Rectangle 22"/>
          <p:cNvSpPr/>
          <p:nvPr/>
        </p:nvSpPr>
        <p:spPr>
          <a:xfrm>
            <a:off x="548640" y="4297680"/>
            <a:ext cx="11109960" cy="205740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4434840"/>
            <a:ext cx="100584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 知識として持っておく程度でOK</a:t>
            </a:r>
          </a:p>
        </p:txBody>
      </p:sp>
      <p:sp>
        <p:nvSpPr>
          <p:cNvPr id="25" name="TextBox 24"/>
          <p:cNvSpPr txBox="1"/>
          <p:nvPr/>
        </p:nvSpPr>
        <p:spPr>
          <a:xfrm>
            <a:off x="777240" y="4754880"/>
            <a:ext cx="10972800" cy="155448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 副業代行レベルでは直接実装することは少ない (大手の専門領域)</a:t>
            </a:r>
          </a:p>
          <a:p>
            <a:pPr algn="l">
              <a:lnSpc>
                <a:spcPct val="160000"/>
              </a:lnSpc>
            </a:pPr>
            <a:r>
              <a:rPr sz="1100" b="0">
                <a:solidFill>
                  <a:srgbClr val="1A1A1A"/>
                </a:solidFill>
                <a:latin typeface="Hiragino Sans"/>
                <a:ea typeface="Hiragino Sans"/>
                <a:cs typeface="Hiragino Sans"/>
              </a:rPr>
              <a:t>• 媒体プラットフォームの中で透過的に動作 (Meta AEM・Google Privacy Sandbox 等)</a:t>
            </a:r>
          </a:p>
          <a:p>
            <a:pPr algn="l">
              <a:lnSpc>
                <a:spcPct val="160000"/>
              </a:lnSpc>
            </a:pPr>
            <a:r>
              <a:rPr sz="1100" b="0">
                <a:solidFill>
                  <a:srgbClr val="1A1A1A"/>
                </a:solidFill>
                <a:latin typeface="Hiragino Sans"/>
                <a:ea typeface="Hiragino Sans"/>
                <a:cs typeface="Hiragino Sans"/>
              </a:rPr>
              <a:t>• クライアントへの説明 : 『プライバシー安全な集約データで広告効果を測定可能』と知っておけば十分</a:t>
            </a:r>
          </a:p>
          <a:p>
            <a:pPr algn="l">
              <a:lnSpc>
                <a:spcPct val="160000"/>
              </a:lnSpc>
            </a:pPr>
            <a:r>
              <a:rPr sz="1100" b="0">
                <a:solidFill>
                  <a:srgbClr val="1A1A1A"/>
                </a:solidFill>
                <a:latin typeface="Hiragino Sans"/>
                <a:ea typeface="Hiragino Sans"/>
                <a:cs typeface="Hiragino Sans"/>
              </a:rPr>
              <a:t>• 規制対応・大型クライアント向け説明資料に簡潔記載があると差別化</a:t>
            </a:r>
          </a:p>
        </p:txBody>
      </p:sp>
      <p:sp>
        <p:nvSpPr>
          <p:cNvPr id="26" name="TextBox 25"/>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AI in Analytics</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Conversational Analytics と Auto-Insights の時代</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P163 / 250</a:t>
            </a:r>
          </a:p>
        </p:txBody>
      </p:sp>
      <p:sp>
        <p:nvSpPr>
          <p:cNvPr id="8" name="Rounded Rectangle 7"/>
          <p:cNvSpPr/>
          <p:nvPr/>
        </p:nvSpPr>
        <p:spPr>
          <a:xfrm>
            <a:off x="548640" y="1417320"/>
            <a:ext cx="2697480" cy="24688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269748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581912"/>
            <a:ext cx="2331720" cy="411480"/>
          </a:xfrm>
          <a:prstGeom prst="rect">
            <a:avLst/>
          </a:prstGeom>
          <a:noFill/>
        </p:spPr>
        <p:txBody>
          <a:bodyPr wrap="square" anchor="t" lIns="0" rIns="0" tIns="0" bIns="0">
            <a:spAutoFit/>
          </a:bodyPr>
          <a:lstStyle/>
          <a:p>
            <a:pPr algn="ctr">
              <a:lnSpc>
                <a:spcPct val="120000"/>
              </a:lnSpc>
            </a:pPr>
            <a:r>
              <a:rPr sz="1300" b="1">
                <a:solidFill>
                  <a:srgbClr val="FFFFFF"/>
                </a:solidFill>
                <a:latin typeface="Hiragino Sans"/>
                <a:ea typeface="Hiragino Sans"/>
                <a:cs typeface="Hiragino Sans"/>
              </a:rPr>
              <a:t>GA4 Insights</a:t>
            </a:r>
          </a:p>
        </p:txBody>
      </p:sp>
      <p:sp>
        <p:nvSpPr>
          <p:cNvPr id="11" name="TextBox 10"/>
          <p:cNvSpPr txBox="1"/>
          <p:nvPr/>
        </p:nvSpPr>
        <p:spPr>
          <a:xfrm>
            <a:off x="731520" y="1965960"/>
            <a:ext cx="233172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自動異常検知</a:t>
            </a:r>
          </a:p>
        </p:txBody>
      </p:sp>
      <p:sp>
        <p:nvSpPr>
          <p:cNvPr id="12" name="TextBox 11"/>
          <p:cNvSpPr txBox="1"/>
          <p:nvPr/>
        </p:nvSpPr>
        <p:spPr>
          <a:xfrm>
            <a:off x="731520" y="2423160"/>
            <a:ext cx="2331720" cy="1417320"/>
          </a:xfrm>
          <a:prstGeom prst="rect">
            <a:avLst/>
          </a:prstGeom>
          <a:noFill/>
        </p:spPr>
        <p:txBody>
          <a:bodyPr wrap="square" anchor="t" lIns="0" rIns="0" tIns="0" bIns="0">
            <a:spAutoFit/>
          </a:bodyPr>
          <a:lstStyle/>
          <a:p>
            <a:pPr algn="ctr">
              <a:lnSpc>
                <a:spcPct val="160000"/>
              </a:lnSpc>
            </a:pPr>
            <a:r>
              <a:rPr sz="1100" b="0">
                <a:solidFill>
                  <a:srgbClr val="1A1A1A"/>
                </a:solidFill>
                <a:latin typeface="Hiragino Sans"/>
                <a:ea typeface="Hiragino Sans"/>
                <a:cs typeface="Hiragino Sans"/>
              </a:rPr>
              <a:t>MLが日次データ異常を検知</a:t>
            </a:r>
          </a:p>
          <a:p>
            <a:pPr algn="ctr">
              <a:lnSpc>
                <a:spcPct val="160000"/>
              </a:lnSpc>
            </a:pPr>
            <a:r>
              <a:rPr sz="1100" b="0">
                <a:solidFill>
                  <a:srgbClr val="1A1A1A"/>
                </a:solidFill>
                <a:latin typeface="Hiragino Sans"/>
                <a:ea typeface="Hiragino Sans"/>
                <a:cs typeface="Hiragino Sans"/>
              </a:rPr>
              <a:t>『なぜ』を自然言語で解説</a:t>
            </a:r>
          </a:p>
          <a:p>
            <a:pPr algn="ctr">
              <a:lnSpc>
                <a:spcPct val="160000"/>
              </a:lnSpc>
            </a:pPr>
            <a:r>
              <a:rPr sz="1100" b="0">
                <a:solidFill>
                  <a:srgbClr val="1A1A1A"/>
                </a:solidFill>
                <a:latin typeface="Hiragino Sans"/>
                <a:ea typeface="Hiragino Sans"/>
                <a:cs typeface="Hiragino Sans"/>
              </a:rPr>
              <a:t>GA4ホーム画面で表示</a:t>
            </a:r>
          </a:p>
        </p:txBody>
      </p:sp>
      <p:sp>
        <p:nvSpPr>
          <p:cNvPr id="13" name="Rounded Rectangle 12"/>
          <p:cNvSpPr/>
          <p:nvPr/>
        </p:nvSpPr>
        <p:spPr>
          <a:xfrm>
            <a:off x="3337560" y="1417320"/>
            <a:ext cx="2697480" cy="24688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37560" y="1417320"/>
            <a:ext cx="269748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20440" y="1581912"/>
            <a:ext cx="2331720" cy="411480"/>
          </a:xfrm>
          <a:prstGeom prst="rect">
            <a:avLst/>
          </a:prstGeom>
          <a:noFill/>
        </p:spPr>
        <p:txBody>
          <a:bodyPr wrap="square" anchor="t" lIns="0" rIns="0" tIns="0" bIns="0">
            <a:spAutoFit/>
          </a:bodyPr>
          <a:lstStyle/>
          <a:p>
            <a:pPr algn="ctr">
              <a:lnSpc>
                <a:spcPct val="120000"/>
              </a:lnSpc>
            </a:pPr>
            <a:r>
              <a:rPr sz="1300" b="1">
                <a:solidFill>
                  <a:srgbClr val="FFFFFF"/>
                </a:solidFill>
                <a:latin typeface="Hiragino Sans"/>
                <a:ea typeface="Hiragino Sans"/>
                <a:cs typeface="Hiragino Sans"/>
              </a:rPr>
              <a:t>Looker Studio AI</a:t>
            </a:r>
          </a:p>
        </p:txBody>
      </p:sp>
      <p:sp>
        <p:nvSpPr>
          <p:cNvPr id="16" name="TextBox 15"/>
          <p:cNvSpPr txBox="1"/>
          <p:nvPr/>
        </p:nvSpPr>
        <p:spPr>
          <a:xfrm>
            <a:off x="3520440" y="1965960"/>
            <a:ext cx="233172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ダッシュボード上のAI</a:t>
            </a:r>
          </a:p>
        </p:txBody>
      </p:sp>
      <p:sp>
        <p:nvSpPr>
          <p:cNvPr id="17" name="TextBox 16"/>
          <p:cNvSpPr txBox="1"/>
          <p:nvPr/>
        </p:nvSpPr>
        <p:spPr>
          <a:xfrm>
            <a:off x="3520440" y="2423160"/>
            <a:ext cx="2331720" cy="1417320"/>
          </a:xfrm>
          <a:prstGeom prst="rect">
            <a:avLst/>
          </a:prstGeom>
          <a:noFill/>
        </p:spPr>
        <p:txBody>
          <a:bodyPr wrap="square" anchor="t" lIns="0" rIns="0" tIns="0" bIns="0">
            <a:spAutoFit/>
          </a:bodyPr>
          <a:lstStyle/>
          <a:p>
            <a:pPr algn="ctr">
              <a:lnSpc>
                <a:spcPct val="160000"/>
              </a:lnSpc>
            </a:pPr>
            <a:r>
              <a:rPr sz="1100" b="0">
                <a:solidFill>
                  <a:srgbClr val="1A1A1A"/>
                </a:solidFill>
                <a:latin typeface="Hiragino Sans"/>
                <a:ea typeface="Hiragino Sans"/>
                <a:cs typeface="Hiragino Sans"/>
              </a:rPr>
              <a:t>Geminiでクエリ自動生成</a:t>
            </a:r>
          </a:p>
          <a:p>
            <a:pPr algn="ctr">
              <a:lnSpc>
                <a:spcPct val="160000"/>
              </a:lnSpc>
            </a:pPr>
            <a:r>
              <a:rPr sz="1100" b="0">
                <a:solidFill>
                  <a:srgbClr val="1A1A1A"/>
                </a:solidFill>
                <a:latin typeface="Hiragino Sans"/>
                <a:ea typeface="Hiragino Sans"/>
                <a:cs typeface="Hiragino Sans"/>
              </a:rPr>
              <a:t>グラフ作成も自動化</a:t>
            </a:r>
          </a:p>
          <a:p>
            <a:pPr algn="ctr">
              <a:lnSpc>
                <a:spcPct val="160000"/>
              </a:lnSpc>
            </a:pPr>
            <a:r>
              <a:rPr sz="1100" b="0">
                <a:solidFill>
                  <a:srgbClr val="1A1A1A"/>
                </a:solidFill>
                <a:latin typeface="Hiragino Sans"/>
                <a:ea typeface="Hiragino Sans"/>
                <a:cs typeface="Hiragino Sans"/>
              </a:rPr>
              <a:t>2025-2026 段階展開</a:t>
            </a:r>
          </a:p>
        </p:txBody>
      </p:sp>
      <p:sp>
        <p:nvSpPr>
          <p:cNvPr id="18" name="Rounded Rectangle 17"/>
          <p:cNvSpPr/>
          <p:nvPr/>
        </p:nvSpPr>
        <p:spPr>
          <a:xfrm>
            <a:off x="6126480" y="1417320"/>
            <a:ext cx="2697480" cy="24688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0" y="1417320"/>
            <a:ext cx="269748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1581912"/>
            <a:ext cx="2331720" cy="411480"/>
          </a:xfrm>
          <a:prstGeom prst="rect">
            <a:avLst/>
          </a:prstGeom>
          <a:noFill/>
        </p:spPr>
        <p:txBody>
          <a:bodyPr wrap="square" anchor="t" lIns="0" rIns="0" tIns="0" bIns="0">
            <a:spAutoFit/>
          </a:bodyPr>
          <a:lstStyle/>
          <a:p>
            <a:pPr algn="ctr">
              <a:lnSpc>
                <a:spcPct val="120000"/>
              </a:lnSpc>
            </a:pPr>
            <a:r>
              <a:rPr sz="1300" b="1">
                <a:solidFill>
                  <a:srgbClr val="FFFFFF"/>
                </a:solidFill>
                <a:latin typeface="Hiragino Sans"/>
                <a:ea typeface="Hiragino Sans"/>
                <a:cs typeface="Hiragino Sans"/>
              </a:rPr>
              <a:t>Conversational Analytics</a:t>
            </a:r>
          </a:p>
        </p:txBody>
      </p:sp>
      <p:sp>
        <p:nvSpPr>
          <p:cNvPr id="21" name="TextBox 20"/>
          <p:cNvSpPr txBox="1"/>
          <p:nvPr/>
        </p:nvSpPr>
        <p:spPr>
          <a:xfrm>
            <a:off x="6309360" y="1965960"/>
            <a:ext cx="233172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自然言語データ分析</a:t>
            </a:r>
          </a:p>
        </p:txBody>
      </p:sp>
      <p:sp>
        <p:nvSpPr>
          <p:cNvPr id="22" name="TextBox 21"/>
          <p:cNvSpPr txBox="1"/>
          <p:nvPr/>
        </p:nvSpPr>
        <p:spPr>
          <a:xfrm>
            <a:off x="6309360" y="2423160"/>
            <a:ext cx="2331720" cy="1417320"/>
          </a:xfrm>
          <a:prstGeom prst="rect">
            <a:avLst/>
          </a:prstGeom>
          <a:noFill/>
        </p:spPr>
        <p:txBody>
          <a:bodyPr wrap="square" anchor="t" lIns="0" rIns="0" tIns="0" bIns="0">
            <a:spAutoFit/>
          </a:bodyPr>
          <a:lstStyle/>
          <a:p>
            <a:pPr algn="ctr">
              <a:lnSpc>
                <a:spcPct val="160000"/>
              </a:lnSpc>
            </a:pPr>
            <a:r>
              <a:rPr sz="1100" b="0">
                <a:solidFill>
                  <a:srgbClr val="1A1A1A"/>
                </a:solidFill>
                <a:latin typeface="Hiragino Sans"/>
                <a:ea typeface="Hiragino Sans"/>
                <a:cs typeface="Hiragino Sans"/>
              </a:rPr>
              <a:t>『先月の売上は?』等を</a:t>
            </a:r>
          </a:p>
          <a:p>
            <a:pPr algn="ctr">
              <a:lnSpc>
                <a:spcPct val="160000"/>
              </a:lnSpc>
            </a:pPr>
            <a:r>
              <a:rPr sz="1100" b="0">
                <a:solidFill>
                  <a:srgbClr val="1A1A1A"/>
                </a:solidFill>
                <a:latin typeface="Hiragino Sans"/>
                <a:ea typeface="Hiragino Sans"/>
                <a:cs typeface="Hiragino Sans"/>
              </a:rPr>
              <a:t>自然言語で質問→回答</a:t>
            </a:r>
          </a:p>
          <a:p>
            <a:pPr algn="ctr">
              <a:lnSpc>
                <a:spcPct val="160000"/>
              </a:lnSpc>
            </a:pPr>
            <a:r>
              <a:rPr sz="1100" b="0">
                <a:solidFill>
                  <a:srgbClr val="1A1A1A"/>
                </a:solidFill>
                <a:latin typeface="Hiragino Sans"/>
                <a:ea typeface="Hiragino Sans"/>
                <a:cs typeface="Hiragino Sans"/>
              </a:rPr>
              <a:t>SQLわからなくてもOK</a:t>
            </a:r>
          </a:p>
        </p:txBody>
      </p:sp>
      <p:sp>
        <p:nvSpPr>
          <p:cNvPr id="23" name="Rounded Rectangle 22"/>
          <p:cNvSpPr/>
          <p:nvPr/>
        </p:nvSpPr>
        <p:spPr>
          <a:xfrm>
            <a:off x="8915400" y="1417320"/>
            <a:ext cx="2697480" cy="24688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15400" y="1417320"/>
            <a:ext cx="269748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98280" y="1581912"/>
            <a:ext cx="2331720" cy="411480"/>
          </a:xfrm>
          <a:prstGeom prst="rect">
            <a:avLst/>
          </a:prstGeom>
          <a:noFill/>
        </p:spPr>
        <p:txBody>
          <a:bodyPr wrap="square" anchor="t" lIns="0" rIns="0" tIns="0" bIns="0">
            <a:spAutoFit/>
          </a:bodyPr>
          <a:lstStyle/>
          <a:p>
            <a:pPr algn="ctr">
              <a:lnSpc>
                <a:spcPct val="120000"/>
              </a:lnSpc>
            </a:pPr>
            <a:r>
              <a:rPr sz="1300" b="1">
                <a:solidFill>
                  <a:srgbClr val="FFFFFF"/>
                </a:solidFill>
                <a:latin typeface="Hiragino Sans"/>
                <a:ea typeface="Hiragino Sans"/>
                <a:cs typeface="Hiragino Sans"/>
              </a:rPr>
              <a:t>Adobe Analytics AI</a:t>
            </a:r>
          </a:p>
        </p:txBody>
      </p:sp>
      <p:sp>
        <p:nvSpPr>
          <p:cNvPr id="26" name="TextBox 25"/>
          <p:cNvSpPr txBox="1"/>
          <p:nvPr/>
        </p:nvSpPr>
        <p:spPr>
          <a:xfrm>
            <a:off x="9098280" y="1965960"/>
            <a:ext cx="233172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Marketo Engage統合</a:t>
            </a:r>
          </a:p>
        </p:txBody>
      </p:sp>
      <p:sp>
        <p:nvSpPr>
          <p:cNvPr id="27" name="TextBox 26"/>
          <p:cNvSpPr txBox="1"/>
          <p:nvPr/>
        </p:nvSpPr>
        <p:spPr>
          <a:xfrm>
            <a:off x="9098280" y="2423160"/>
            <a:ext cx="2331720" cy="1417320"/>
          </a:xfrm>
          <a:prstGeom prst="rect">
            <a:avLst/>
          </a:prstGeom>
          <a:noFill/>
        </p:spPr>
        <p:txBody>
          <a:bodyPr wrap="square" anchor="t" lIns="0" rIns="0" tIns="0" bIns="0">
            <a:spAutoFit/>
          </a:bodyPr>
          <a:lstStyle/>
          <a:p>
            <a:pPr algn="ctr">
              <a:lnSpc>
                <a:spcPct val="160000"/>
              </a:lnSpc>
            </a:pPr>
            <a:r>
              <a:rPr sz="1100" b="0">
                <a:solidFill>
                  <a:srgbClr val="1A1A1A"/>
                </a:solidFill>
                <a:latin typeface="Hiragino Sans"/>
                <a:ea typeface="Hiragino Sans"/>
                <a:cs typeface="Hiragino Sans"/>
              </a:rPr>
              <a:t>顧客ジャーニー予測</a:t>
            </a:r>
          </a:p>
          <a:p>
            <a:pPr algn="ctr">
              <a:lnSpc>
                <a:spcPct val="160000"/>
              </a:lnSpc>
            </a:pPr>
            <a:r>
              <a:rPr sz="1100" b="0">
                <a:solidFill>
                  <a:srgbClr val="1A1A1A"/>
                </a:solidFill>
                <a:latin typeface="Hiragino Sans"/>
                <a:ea typeface="Hiragino Sans"/>
                <a:cs typeface="Hiragino Sans"/>
              </a:rPr>
              <a:t>マルチチャネル統合分析</a:t>
            </a:r>
          </a:p>
          <a:p>
            <a:pPr algn="ctr">
              <a:lnSpc>
                <a:spcPct val="160000"/>
              </a:lnSpc>
            </a:pPr>
            <a:r>
              <a:rPr sz="1100" b="0">
                <a:solidFill>
                  <a:srgbClr val="1A1A1A"/>
                </a:solidFill>
                <a:latin typeface="Hiragino Sans"/>
                <a:ea typeface="Hiragino Sans"/>
                <a:cs typeface="Hiragino Sans"/>
              </a:rPr>
              <a:t>エンタープライズ向け</a:t>
            </a:r>
          </a:p>
        </p:txBody>
      </p:sp>
      <p:sp>
        <p:nvSpPr>
          <p:cNvPr id="28" name="Rounded Rectangle 27"/>
          <p:cNvSpPr/>
          <p:nvPr/>
        </p:nvSpPr>
        <p:spPr>
          <a:xfrm>
            <a:off x="548640" y="4069080"/>
            <a:ext cx="11109960" cy="228600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4206240"/>
            <a:ext cx="10058400" cy="320040"/>
          </a:xfrm>
          <a:prstGeom prst="rect">
            <a:avLst/>
          </a:prstGeom>
          <a:noFill/>
        </p:spPr>
        <p:txBody>
          <a:bodyPr wrap="square" anchor="t" lIns="0" rIns="0" tIns="0" bIns="0">
            <a:spAutoFit/>
          </a:bodyPr>
          <a:lstStyle/>
          <a:p>
            <a:pPr algn="l">
              <a:lnSpc>
                <a:spcPct val="115000"/>
              </a:lnSpc>
            </a:pPr>
            <a:r>
              <a:rPr sz="1200" b="1">
                <a:solidFill>
                  <a:srgbClr val="E87722"/>
                </a:solidFill>
                <a:latin typeface="Hiragino Sans"/>
                <a:ea typeface="Hiragino Sans"/>
                <a:cs typeface="Hiragino Sans"/>
              </a:rPr>
              <a:t>💡 副業代行のワークフロー革新</a:t>
            </a:r>
          </a:p>
        </p:txBody>
      </p:sp>
      <p:sp>
        <p:nvSpPr>
          <p:cNvPr id="30" name="TextBox 29"/>
          <p:cNvSpPr txBox="1"/>
          <p:nvPr/>
        </p:nvSpPr>
        <p:spPr>
          <a:xfrm>
            <a:off x="777240" y="4526280"/>
            <a:ext cx="10972800" cy="1783080"/>
          </a:xfrm>
          <a:prstGeom prst="rect">
            <a:avLst/>
          </a:prstGeom>
          <a:noFill/>
        </p:spPr>
        <p:txBody>
          <a:bodyPr wrap="square" anchor="t" lIns="0" rIns="0" tIns="0" bIns="0">
            <a:spAutoFit/>
          </a:bodyPr>
          <a:lstStyle/>
          <a:p>
            <a:pPr algn="l">
              <a:lnSpc>
                <a:spcPct val="160000"/>
              </a:lnSpc>
            </a:pPr>
            <a:r>
              <a:rPr sz="1100" b="0">
                <a:solidFill>
                  <a:srgbClr val="FFFFFF"/>
                </a:solidFill>
                <a:latin typeface="Hiragino Sans"/>
                <a:ea typeface="Hiragino Sans"/>
                <a:cs typeface="Hiragino Sans"/>
              </a:rPr>
              <a:t>• 月次レポート作成 = Conversational Analytics で要約 → Looker Studio で可視化</a:t>
            </a:r>
          </a:p>
          <a:p>
            <a:pPr algn="l">
              <a:lnSpc>
                <a:spcPct val="160000"/>
              </a:lnSpc>
            </a:pPr>
            <a:r>
              <a:rPr sz="1100" b="0">
                <a:solidFill>
                  <a:srgbClr val="FFFFFF"/>
                </a:solidFill>
                <a:latin typeface="Hiragino Sans"/>
                <a:ea typeface="Hiragino Sans"/>
                <a:cs typeface="Hiragino Sans"/>
              </a:rPr>
              <a:t>• 異常検知 = GA4 Insights を月次レポートに添付 → 数字の意味づけまで自動</a:t>
            </a:r>
          </a:p>
          <a:p>
            <a:pPr algn="l">
              <a:lnSpc>
                <a:spcPct val="160000"/>
              </a:lnSpc>
            </a:pPr>
            <a:r>
              <a:rPr sz="1100" b="0">
                <a:solidFill>
                  <a:srgbClr val="FFFFFF"/>
                </a:solidFill>
                <a:latin typeface="Hiragino Sans"/>
                <a:ea typeface="Hiragino Sans"/>
                <a:cs typeface="Hiragino Sans"/>
              </a:rPr>
              <a:t>• クライアントの『なぜ?』対応 = ダッシュボード上で自然言語質問可能に → 工数削減</a:t>
            </a:r>
          </a:p>
          <a:p>
            <a:pPr algn="l">
              <a:lnSpc>
                <a:spcPct val="160000"/>
              </a:lnSpc>
            </a:pPr>
            <a:r>
              <a:rPr sz="1100" b="0">
                <a:solidFill>
                  <a:srgbClr val="FFFFFF"/>
                </a:solidFill>
                <a:latin typeface="Hiragino Sans"/>
                <a:ea typeface="Hiragino Sans"/>
                <a:cs typeface="Hiragino Sans"/>
              </a:rPr>
              <a:t>• 副業代行の差別化 : AI Analytics を駆使する人は1人でクライアント月10社以上対応可能に</a:t>
            </a:r>
          </a:p>
        </p:txBody>
      </p:sp>
      <p:sp>
        <p:nvSpPr>
          <p:cNvPr id="31" name="TextBox 30"/>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副業代行 計測ベスプラ 30日プラン</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新規案件で計測基盤を整える</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P164 / 250</a:t>
            </a:r>
          </a:p>
        </p:txBody>
      </p:sp>
      <p:sp>
        <p:nvSpPr>
          <p:cNvPr id="8" name="Rounded Rectangle 7"/>
          <p:cNvSpPr/>
          <p:nvPr/>
        </p:nvSpPr>
        <p:spPr>
          <a:xfrm>
            <a:off x="548640" y="1371600"/>
            <a:ext cx="11109960" cy="11887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71600"/>
            <a:ext cx="137160" cy="11887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508760"/>
            <a:ext cx="10515600" cy="32004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Day 0-3 : 現状診断</a:t>
            </a:r>
          </a:p>
        </p:txBody>
      </p:sp>
      <p:sp>
        <p:nvSpPr>
          <p:cNvPr id="11" name="TextBox 10"/>
          <p:cNvSpPr txBox="1"/>
          <p:nvPr/>
        </p:nvSpPr>
        <p:spPr>
          <a:xfrm>
            <a:off x="868680" y="182880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12" name="TextBox 11"/>
          <p:cNvSpPr txBox="1"/>
          <p:nvPr/>
        </p:nvSpPr>
        <p:spPr>
          <a:xfrm>
            <a:off x="1097280" y="185623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GA4 / GTM / Pixel / CAPI 状況確認</a:t>
            </a:r>
          </a:p>
        </p:txBody>
      </p:sp>
      <p:sp>
        <p:nvSpPr>
          <p:cNvPr id="13" name="TextBox 12"/>
          <p:cNvSpPr txBox="1"/>
          <p:nvPr/>
        </p:nvSpPr>
        <p:spPr>
          <a:xfrm>
            <a:off x="6309360" y="182880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14" name="TextBox 13"/>
          <p:cNvSpPr txBox="1"/>
          <p:nvPr/>
        </p:nvSpPr>
        <p:spPr>
          <a:xfrm>
            <a:off x="6537960" y="185623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Consent Mode v2 / CMP 状況確認</a:t>
            </a:r>
          </a:p>
        </p:txBody>
      </p:sp>
      <p:sp>
        <p:nvSpPr>
          <p:cNvPr id="15" name="TextBox 14"/>
          <p:cNvSpPr txBox="1"/>
          <p:nvPr/>
        </p:nvSpPr>
        <p:spPr>
          <a:xfrm>
            <a:off x="868680" y="214884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16" name="TextBox 15"/>
          <p:cNvSpPr txBox="1"/>
          <p:nvPr/>
        </p:nvSpPr>
        <p:spPr>
          <a:xfrm>
            <a:off x="1097280" y="217627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GA4 → BigQuery エクスポート確認</a:t>
            </a:r>
          </a:p>
        </p:txBody>
      </p:sp>
      <p:sp>
        <p:nvSpPr>
          <p:cNvPr id="17" name="TextBox 16"/>
          <p:cNvSpPr txBox="1"/>
          <p:nvPr/>
        </p:nvSpPr>
        <p:spPr>
          <a:xfrm>
            <a:off x="6309360" y="214884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18" name="TextBox 17"/>
          <p:cNvSpPr txBox="1"/>
          <p:nvPr/>
        </p:nvSpPr>
        <p:spPr>
          <a:xfrm>
            <a:off x="6537960" y="217627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重要CVイベントの定義リスト化</a:t>
            </a:r>
          </a:p>
        </p:txBody>
      </p:sp>
      <p:sp>
        <p:nvSpPr>
          <p:cNvPr id="19" name="Rounded Rectangle 18"/>
          <p:cNvSpPr/>
          <p:nvPr/>
        </p:nvSpPr>
        <p:spPr>
          <a:xfrm>
            <a:off x="548640" y="2651760"/>
            <a:ext cx="11109960" cy="11887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651760"/>
            <a:ext cx="137160" cy="11887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2788920"/>
            <a:ext cx="10515600" cy="32004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Day 4-10 : 計測基盤整備</a:t>
            </a:r>
          </a:p>
        </p:txBody>
      </p:sp>
      <p:sp>
        <p:nvSpPr>
          <p:cNvPr id="22" name="TextBox 21"/>
          <p:cNvSpPr txBox="1"/>
          <p:nvPr/>
        </p:nvSpPr>
        <p:spPr>
          <a:xfrm>
            <a:off x="868680" y="310896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23" name="TextBox 22"/>
          <p:cNvSpPr txBox="1"/>
          <p:nvPr/>
        </p:nvSpPr>
        <p:spPr>
          <a:xfrm>
            <a:off x="1097280" y="313639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GA4 + Enhanced Measurement ON</a:t>
            </a:r>
          </a:p>
        </p:txBody>
      </p:sp>
      <p:sp>
        <p:nvSpPr>
          <p:cNvPr id="24" name="TextBox 23"/>
          <p:cNvSpPr txBox="1"/>
          <p:nvPr/>
        </p:nvSpPr>
        <p:spPr>
          <a:xfrm>
            <a:off x="6309360" y="310896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25" name="TextBox 24"/>
          <p:cNvSpPr txBox="1"/>
          <p:nvPr/>
        </p:nvSpPr>
        <p:spPr>
          <a:xfrm>
            <a:off x="6537960" y="313639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GTM経由で Pixel/CAPI 統合実装</a:t>
            </a:r>
          </a:p>
        </p:txBody>
      </p:sp>
      <p:sp>
        <p:nvSpPr>
          <p:cNvPr id="26" name="TextBox 25"/>
          <p:cNvSpPr txBox="1"/>
          <p:nvPr/>
        </p:nvSpPr>
        <p:spPr>
          <a:xfrm>
            <a:off x="868680" y="342900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27" name="TextBox 26"/>
          <p:cNvSpPr txBox="1"/>
          <p:nvPr/>
        </p:nvSpPr>
        <p:spPr>
          <a:xfrm>
            <a:off x="1097280" y="345643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Customer Match リスト連携</a:t>
            </a:r>
          </a:p>
        </p:txBody>
      </p:sp>
      <p:sp>
        <p:nvSpPr>
          <p:cNvPr id="28" name="TextBox 27"/>
          <p:cNvSpPr txBox="1"/>
          <p:nvPr/>
        </p:nvSpPr>
        <p:spPr>
          <a:xfrm>
            <a:off x="6309360" y="342900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29" name="TextBox 28"/>
          <p:cNvSpPr txBox="1"/>
          <p:nvPr/>
        </p:nvSpPr>
        <p:spPr>
          <a:xfrm>
            <a:off x="6537960" y="345643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CMP導入 (Cookiebot等)</a:t>
            </a:r>
          </a:p>
        </p:txBody>
      </p:sp>
      <p:sp>
        <p:nvSpPr>
          <p:cNvPr id="30" name="Rounded Rectangle 29"/>
          <p:cNvSpPr/>
          <p:nvPr/>
        </p:nvSpPr>
        <p:spPr>
          <a:xfrm>
            <a:off x="548640" y="3931920"/>
            <a:ext cx="11109960" cy="11887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8640" y="3931920"/>
            <a:ext cx="137160" cy="11887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68680" y="4069080"/>
            <a:ext cx="10515600" cy="32004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Day 11-21 : 検証・最適化</a:t>
            </a:r>
          </a:p>
        </p:txBody>
      </p:sp>
      <p:sp>
        <p:nvSpPr>
          <p:cNvPr id="33" name="TextBox 32"/>
          <p:cNvSpPr txBox="1"/>
          <p:nvPr/>
        </p:nvSpPr>
        <p:spPr>
          <a:xfrm>
            <a:off x="868680" y="438912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34" name="TextBox 33"/>
          <p:cNvSpPr txBox="1"/>
          <p:nvPr/>
        </p:nvSpPr>
        <p:spPr>
          <a:xfrm>
            <a:off x="1097280" y="441655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EMQ 8/10 以上を確認</a:t>
            </a:r>
          </a:p>
        </p:txBody>
      </p:sp>
      <p:sp>
        <p:nvSpPr>
          <p:cNvPr id="35" name="TextBox 34"/>
          <p:cNvSpPr txBox="1"/>
          <p:nvPr/>
        </p:nvSpPr>
        <p:spPr>
          <a:xfrm>
            <a:off x="6309360" y="438912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36" name="TextBox 35"/>
          <p:cNvSpPr txBox="1"/>
          <p:nvPr/>
        </p:nvSpPr>
        <p:spPr>
          <a:xfrm>
            <a:off x="6537960" y="441655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DDA設定 + Last Click比較</a:t>
            </a:r>
          </a:p>
        </p:txBody>
      </p:sp>
      <p:sp>
        <p:nvSpPr>
          <p:cNvPr id="37" name="TextBox 36"/>
          <p:cNvSpPr txBox="1"/>
          <p:nvPr/>
        </p:nvSpPr>
        <p:spPr>
          <a:xfrm>
            <a:off x="868680" y="470916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38" name="TextBox 37"/>
          <p:cNvSpPr txBox="1"/>
          <p:nvPr/>
        </p:nvSpPr>
        <p:spPr>
          <a:xfrm>
            <a:off x="1097280" y="473659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Looker Studio でレポート構築</a:t>
            </a:r>
          </a:p>
        </p:txBody>
      </p:sp>
      <p:sp>
        <p:nvSpPr>
          <p:cNvPr id="39" name="TextBox 38"/>
          <p:cNvSpPr txBox="1"/>
          <p:nvPr/>
        </p:nvSpPr>
        <p:spPr>
          <a:xfrm>
            <a:off x="6309360" y="470916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40" name="TextBox 39"/>
          <p:cNvSpPr txBox="1"/>
          <p:nvPr/>
        </p:nvSpPr>
        <p:spPr>
          <a:xfrm>
            <a:off x="6537960" y="473659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AI Insights / Conversational Analytics 設定</a:t>
            </a:r>
          </a:p>
        </p:txBody>
      </p:sp>
      <p:sp>
        <p:nvSpPr>
          <p:cNvPr id="41" name="Rounded Rectangle 40"/>
          <p:cNvSpPr/>
          <p:nvPr/>
        </p:nvSpPr>
        <p:spPr>
          <a:xfrm>
            <a:off x="548640" y="5212080"/>
            <a:ext cx="11109960" cy="11887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48640" y="5212080"/>
            <a:ext cx="137160" cy="11887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68680" y="5349240"/>
            <a:ext cx="10515600" cy="32004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Day 22-30 : 報告 + 提案</a:t>
            </a:r>
          </a:p>
        </p:txBody>
      </p:sp>
      <p:sp>
        <p:nvSpPr>
          <p:cNvPr id="44" name="TextBox 43"/>
          <p:cNvSpPr txBox="1"/>
          <p:nvPr/>
        </p:nvSpPr>
        <p:spPr>
          <a:xfrm>
            <a:off x="868680" y="566928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45" name="TextBox 44"/>
          <p:cNvSpPr txBox="1"/>
          <p:nvPr/>
        </p:nvSpPr>
        <p:spPr>
          <a:xfrm>
            <a:off x="1097280" y="569671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月次レポート (KGI/KPI/媒体別)</a:t>
            </a:r>
          </a:p>
        </p:txBody>
      </p:sp>
      <p:sp>
        <p:nvSpPr>
          <p:cNvPr id="46" name="TextBox 45"/>
          <p:cNvSpPr txBox="1"/>
          <p:nvPr/>
        </p:nvSpPr>
        <p:spPr>
          <a:xfrm>
            <a:off x="6309360" y="566928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47" name="TextBox 46"/>
          <p:cNvSpPr txBox="1"/>
          <p:nvPr/>
        </p:nvSpPr>
        <p:spPr>
          <a:xfrm>
            <a:off x="6537960" y="569671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Conversion Lift Test 提案</a:t>
            </a:r>
          </a:p>
        </p:txBody>
      </p:sp>
      <p:sp>
        <p:nvSpPr>
          <p:cNvPr id="48" name="TextBox 47"/>
          <p:cNvSpPr txBox="1"/>
          <p:nvPr/>
        </p:nvSpPr>
        <p:spPr>
          <a:xfrm>
            <a:off x="868680" y="598932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49" name="TextBox 48"/>
          <p:cNvSpPr txBox="1"/>
          <p:nvPr/>
        </p:nvSpPr>
        <p:spPr>
          <a:xfrm>
            <a:off x="1097280" y="601675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MMM導入の判断 (月予算で)</a:t>
            </a:r>
          </a:p>
        </p:txBody>
      </p:sp>
      <p:sp>
        <p:nvSpPr>
          <p:cNvPr id="50" name="TextBox 49"/>
          <p:cNvSpPr txBox="1"/>
          <p:nvPr/>
        </p:nvSpPr>
        <p:spPr>
          <a:xfrm>
            <a:off x="6309360" y="5989320"/>
            <a:ext cx="22860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iragino Sans"/>
                <a:ea typeface="Hiragino Sans"/>
                <a:cs typeface="Hiragino Sans"/>
              </a:rPr>
              <a:t>▸</a:t>
            </a:r>
          </a:p>
        </p:txBody>
      </p:sp>
      <p:sp>
        <p:nvSpPr>
          <p:cNvPr id="51" name="TextBox 50"/>
          <p:cNvSpPr txBox="1"/>
          <p:nvPr/>
        </p:nvSpPr>
        <p:spPr>
          <a:xfrm>
            <a:off x="6537960" y="6016752"/>
            <a:ext cx="5120640" cy="320040"/>
          </a:xfrm>
          <a:prstGeom prst="rect">
            <a:avLst/>
          </a:prstGeom>
          <a:noFill/>
        </p:spPr>
        <p:txBody>
          <a:bodyPr wrap="square" anchor="t" lIns="0" rIns="0" tIns="0" bIns="0">
            <a:spAutoFit/>
          </a:bodyPr>
          <a:lstStyle/>
          <a:p>
            <a:pPr algn="l">
              <a:lnSpc>
                <a:spcPct val="130000"/>
              </a:lnSpc>
            </a:pPr>
            <a:r>
              <a:rPr sz="1000" b="0">
                <a:solidFill>
                  <a:srgbClr val="1A1A1A"/>
                </a:solidFill>
                <a:latin typeface="Hiragino Sans"/>
                <a:ea typeface="Hiragino Sans"/>
                <a:cs typeface="Hiragino Sans"/>
              </a:rPr>
              <a:t>次月の検証計画</a:t>
            </a:r>
          </a:p>
        </p:txBody>
      </p:sp>
      <p:sp>
        <p:nvSpPr>
          <p:cNvPr id="52" name="TextBox 51"/>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計測 pitfalls + Part 5 へ</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副業代行で計測ミスを防ぐ + 次章予告</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P165 / 250</a:t>
            </a:r>
          </a:p>
        </p:txBody>
      </p:sp>
      <p:sp>
        <p:nvSpPr>
          <p:cNvPr id="8" name="Rounded Rectangle 7"/>
          <p:cNvSpPr/>
          <p:nvPr/>
        </p:nvSpPr>
        <p:spPr>
          <a:xfrm>
            <a:off x="548640" y="1325880"/>
            <a:ext cx="5440680" cy="10972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25880"/>
            <a:ext cx="91440" cy="1097280"/>
          </a:xfrm>
          <a:prstGeom prst="rect">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63040"/>
            <a:ext cx="457200" cy="320040"/>
          </a:xfrm>
          <a:prstGeom prst="rect">
            <a:avLst/>
          </a:prstGeom>
          <a:noFill/>
        </p:spPr>
        <p:txBody>
          <a:bodyPr wrap="square" anchor="t" lIns="0" rIns="0" tIns="0" bIns="0">
            <a:spAutoFit/>
          </a:bodyPr>
          <a:lstStyle/>
          <a:p>
            <a:pPr algn="l">
              <a:lnSpc>
                <a:spcPct val="115000"/>
              </a:lnSpc>
            </a:pPr>
            <a:r>
              <a:rPr sz="1600" b="1">
                <a:solidFill>
                  <a:srgbClr val="C6452D"/>
                </a:solidFill>
                <a:latin typeface="Hiragino Sans"/>
                <a:ea typeface="Hiragino Sans"/>
                <a:cs typeface="Hiragino Sans"/>
              </a:rPr>
              <a:t>✗</a:t>
            </a:r>
          </a:p>
        </p:txBody>
      </p:sp>
      <p:sp>
        <p:nvSpPr>
          <p:cNvPr id="11" name="TextBox 10"/>
          <p:cNvSpPr txBox="1"/>
          <p:nvPr/>
        </p:nvSpPr>
        <p:spPr>
          <a:xfrm>
            <a:off x="1188720" y="1463040"/>
            <a:ext cx="4663440" cy="36576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Pixel 単独で運用</a:t>
            </a:r>
          </a:p>
        </p:txBody>
      </p:sp>
      <p:sp>
        <p:nvSpPr>
          <p:cNvPr id="12" name="TextBox 11"/>
          <p:cNvSpPr txBox="1"/>
          <p:nvPr/>
        </p:nvSpPr>
        <p:spPr>
          <a:xfrm>
            <a:off x="777240" y="1874520"/>
            <a:ext cx="5074920" cy="502920"/>
          </a:xfrm>
          <a:prstGeom prst="rect">
            <a:avLst/>
          </a:prstGeom>
          <a:noFill/>
        </p:spPr>
        <p:txBody>
          <a:bodyPr wrap="square" anchor="t" lIns="0" rIns="0" tIns="0" bIns="0">
            <a:spAutoFit/>
          </a:bodyPr>
          <a:lstStyle/>
          <a:p>
            <a:pPr algn="l">
              <a:lnSpc>
                <a:spcPct val="145000"/>
              </a:lnSpc>
            </a:pPr>
            <a:r>
              <a:rPr sz="1000" b="0">
                <a:solidFill>
                  <a:srgbClr val="1A1A1A"/>
                </a:solidFill>
                <a:latin typeface="Hiragino Sans"/>
                <a:ea typeface="Hiragino Sans"/>
                <a:cs typeface="Hiragino Sans"/>
              </a:rPr>
              <a:t>iOS計測ロス -30〜50% → CAPI併用が現代の必須</a:t>
            </a:r>
          </a:p>
        </p:txBody>
      </p:sp>
      <p:sp>
        <p:nvSpPr>
          <p:cNvPr id="13" name="Rounded Rectangle 12"/>
          <p:cNvSpPr/>
          <p:nvPr/>
        </p:nvSpPr>
        <p:spPr>
          <a:xfrm>
            <a:off x="6172200" y="1325880"/>
            <a:ext cx="5440680" cy="10972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1325880"/>
            <a:ext cx="91440" cy="1097280"/>
          </a:xfrm>
          <a:prstGeom prst="rect">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463040"/>
            <a:ext cx="457200" cy="320040"/>
          </a:xfrm>
          <a:prstGeom prst="rect">
            <a:avLst/>
          </a:prstGeom>
          <a:noFill/>
        </p:spPr>
        <p:txBody>
          <a:bodyPr wrap="square" anchor="t" lIns="0" rIns="0" tIns="0" bIns="0">
            <a:spAutoFit/>
          </a:bodyPr>
          <a:lstStyle/>
          <a:p>
            <a:pPr algn="l">
              <a:lnSpc>
                <a:spcPct val="115000"/>
              </a:lnSpc>
            </a:pPr>
            <a:r>
              <a:rPr sz="1600" b="1">
                <a:solidFill>
                  <a:srgbClr val="C6452D"/>
                </a:solidFill>
                <a:latin typeface="Hiragino Sans"/>
                <a:ea typeface="Hiragino Sans"/>
                <a:cs typeface="Hiragino Sans"/>
              </a:rPr>
              <a:t>✗</a:t>
            </a:r>
          </a:p>
        </p:txBody>
      </p:sp>
      <p:sp>
        <p:nvSpPr>
          <p:cNvPr id="16" name="TextBox 15"/>
          <p:cNvSpPr txBox="1"/>
          <p:nvPr/>
        </p:nvSpPr>
        <p:spPr>
          <a:xfrm>
            <a:off x="6812280" y="1463040"/>
            <a:ext cx="4663440" cy="36576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Last Click でレポート</a:t>
            </a:r>
          </a:p>
        </p:txBody>
      </p:sp>
      <p:sp>
        <p:nvSpPr>
          <p:cNvPr id="17" name="TextBox 16"/>
          <p:cNvSpPr txBox="1"/>
          <p:nvPr/>
        </p:nvSpPr>
        <p:spPr>
          <a:xfrm>
            <a:off x="6400800" y="1874520"/>
            <a:ext cx="5074920" cy="502920"/>
          </a:xfrm>
          <a:prstGeom prst="rect">
            <a:avLst/>
          </a:prstGeom>
          <a:noFill/>
        </p:spPr>
        <p:txBody>
          <a:bodyPr wrap="square" anchor="t" lIns="0" rIns="0" tIns="0" bIns="0">
            <a:spAutoFit/>
          </a:bodyPr>
          <a:lstStyle/>
          <a:p>
            <a:pPr algn="l">
              <a:lnSpc>
                <a:spcPct val="145000"/>
              </a:lnSpc>
            </a:pPr>
            <a:r>
              <a:rPr sz="1000" b="0">
                <a:solidFill>
                  <a:srgbClr val="1A1A1A"/>
                </a:solidFill>
                <a:latin typeface="Hiragino Sans"/>
                <a:ea typeface="Hiragino Sans"/>
                <a:cs typeface="Hiragino Sans"/>
              </a:rPr>
              <a:t>AI配信の貢献を過小評価 → DDA + Incremental ROAS</a:t>
            </a:r>
          </a:p>
        </p:txBody>
      </p:sp>
      <p:sp>
        <p:nvSpPr>
          <p:cNvPr id="18" name="Rounded Rectangle 17"/>
          <p:cNvSpPr/>
          <p:nvPr/>
        </p:nvSpPr>
        <p:spPr>
          <a:xfrm>
            <a:off x="548640" y="2560320"/>
            <a:ext cx="5440680" cy="10972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2560320"/>
            <a:ext cx="91440" cy="1097280"/>
          </a:xfrm>
          <a:prstGeom prst="rect">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2697480"/>
            <a:ext cx="457200" cy="320040"/>
          </a:xfrm>
          <a:prstGeom prst="rect">
            <a:avLst/>
          </a:prstGeom>
          <a:noFill/>
        </p:spPr>
        <p:txBody>
          <a:bodyPr wrap="square" anchor="t" lIns="0" rIns="0" tIns="0" bIns="0">
            <a:spAutoFit/>
          </a:bodyPr>
          <a:lstStyle/>
          <a:p>
            <a:pPr algn="l">
              <a:lnSpc>
                <a:spcPct val="115000"/>
              </a:lnSpc>
            </a:pPr>
            <a:r>
              <a:rPr sz="1600" b="1">
                <a:solidFill>
                  <a:srgbClr val="C6452D"/>
                </a:solidFill>
                <a:latin typeface="Hiragino Sans"/>
                <a:ea typeface="Hiragino Sans"/>
                <a:cs typeface="Hiragino Sans"/>
              </a:rPr>
              <a:t>✗</a:t>
            </a:r>
          </a:p>
        </p:txBody>
      </p:sp>
      <p:sp>
        <p:nvSpPr>
          <p:cNvPr id="21" name="TextBox 20"/>
          <p:cNvSpPr txBox="1"/>
          <p:nvPr/>
        </p:nvSpPr>
        <p:spPr>
          <a:xfrm>
            <a:off x="1188720" y="2697480"/>
            <a:ext cx="4663440" cy="36576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Consent Mode 未実装</a:t>
            </a:r>
          </a:p>
        </p:txBody>
      </p:sp>
      <p:sp>
        <p:nvSpPr>
          <p:cNvPr id="22" name="TextBox 21"/>
          <p:cNvSpPr txBox="1"/>
          <p:nvPr/>
        </p:nvSpPr>
        <p:spPr>
          <a:xfrm>
            <a:off x="777240" y="3108960"/>
            <a:ext cx="5074920" cy="502920"/>
          </a:xfrm>
          <a:prstGeom prst="rect">
            <a:avLst/>
          </a:prstGeom>
          <a:noFill/>
        </p:spPr>
        <p:txBody>
          <a:bodyPr wrap="square" anchor="t" lIns="0" rIns="0" tIns="0" bIns="0">
            <a:spAutoFit/>
          </a:bodyPr>
          <a:lstStyle/>
          <a:p>
            <a:pPr algn="l">
              <a:lnSpc>
                <a:spcPct val="145000"/>
              </a:lnSpc>
            </a:pPr>
            <a:r>
              <a:rPr sz="1000" b="0">
                <a:solidFill>
                  <a:srgbClr val="1A1A1A"/>
                </a:solidFill>
                <a:latin typeface="Hiragino Sans"/>
                <a:ea typeface="Hiragino Sans"/>
                <a:cs typeface="Hiragino Sans"/>
              </a:rPr>
              <a:t>EEA配信時に違法 + モデリング不可 → CMP導入即</a:t>
            </a:r>
          </a:p>
        </p:txBody>
      </p:sp>
      <p:sp>
        <p:nvSpPr>
          <p:cNvPr id="23" name="Rounded Rectangle 22"/>
          <p:cNvSpPr/>
          <p:nvPr/>
        </p:nvSpPr>
        <p:spPr>
          <a:xfrm>
            <a:off x="6172200" y="2560320"/>
            <a:ext cx="5440680" cy="10972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72200" y="2560320"/>
            <a:ext cx="91440" cy="1097280"/>
          </a:xfrm>
          <a:prstGeom prst="rect">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0" y="2697480"/>
            <a:ext cx="457200" cy="320040"/>
          </a:xfrm>
          <a:prstGeom prst="rect">
            <a:avLst/>
          </a:prstGeom>
          <a:noFill/>
        </p:spPr>
        <p:txBody>
          <a:bodyPr wrap="square" anchor="t" lIns="0" rIns="0" tIns="0" bIns="0">
            <a:spAutoFit/>
          </a:bodyPr>
          <a:lstStyle/>
          <a:p>
            <a:pPr algn="l">
              <a:lnSpc>
                <a:spcPct val="115000"/>
              </a:lnSpc>
            </a:pPr>
            <a:r>
              <a:rPr sz="1600" b="1">
                <a:solidFill>
                  <a:srgbClr val="C6452D"/>
                </a:solidFill>
                <a:latin typeface="Hiragino Sans"/>
                <a:ea typeface="Hiragino Sans"/>
                <a:cs typeface="Hiragino Sans"/>
              </a:rPr>
              <a:t>✗</a:t>
            </a:r>
          </a:p>
        </p:txBody>
      </p:sp>
      <p:sp>
        <p:nvSpPr>
          <p:cNvPr id="26" name="TextBox 25"/>
          <p:cNvSpPr txBox="1"/>
          <p:nvPr/>
        </p:nvSpPr>
        <p:spPr>
          <a:xfrm>
            <a:off x="6812280" y="2697480"/>
            <a:ext cx="4663440" cy="36576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BigQuery未連携</a:t>
            </a:r>
          </a:p>
        </p:txBody>
      </p:sp>
      <p:sp>
        <p:nvSpPr>
          <p:cNvPr id="27" name="TextBox 26"/>
          <p:cNvSpPr txBox="1"/>
          <p:nvPr/>
        </p:nvSpPr>
        <p:spPr>
          <a:xfrm>
            <a:off x="6400800" y="3108960"/>
            <a:ext cx="5074920" cy="502920"/>
          </a:xfrm>
          <a:prstGeom prst="rect">
            <a:avLst/>
          </a:prstGeom>
          <a:noFill/>
        </p:spPr>
        <p:txBody>
          <a:bodyPr wrap="square" anchor="t" lIns="0" rIns="0" tIns="0" bIns="0">
            <a:spAutoFit/>
          </a:bodyPr>
          <a:lstStyle/>
          <a:p>
            <a:pPr algn="l">
              <a:lnSpc>
                <a:spcPct val="145000"/>
              </a:lnSpc>
            </a:pPr>
            <a:r>
              <a:rPr sz="1000" b="0">
                <a:solidFill>
                  <a:srgbClr val="1A1A1A"/>
                </a:solidFill>
                <a:latin typeface="Hiragino Sans"/>
                <a:ea typeface="Hiragino Sans"/>
                <a:cs typeface="Hiragino Sans"/>
              </a:rPr>
              <a:t>GA4 14ヶ月制限で長期分析不可 → GA4→BigQuery必ず有効化</a:t>
            </a:r>
          </a:p>
        </p:txBody>
      </p:sp>
      <p:sp>
        <p:nvSpPr>
          <p:cNvPr id="28" name="Rounded Rectangle 27"/>
          <p:cNvSpPr/>
          <p:nvPr/>
        </p:nvSpPr>
        <p:spPr>
          <a:xfrm>
            <a:off x="548640" y="4023360"/>
            <a:ext cx="11109960" cy="233172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4160520"/>
            <a:ext cx="10972800" cy="411480"/>
          </a:xfrm>
          <a:prstGeom prst="rect">
            <a:avLst/>
          </a:prstGeom>
          <a:noFill/>
        </p:spPr>
        <p:txBody>
          <a:bodyPr wrap="square" anchor="t" lIns="0" rIns="0" tIns="0" bIns="0">
            <a:spAutoFit/>
          </a:bodyPr>
          <a:lstStyle/>
          <a:p>
            <a:pPr algn="l">
              <a:lnSpc>
                <a:spcPct val="115000"/>
              </a:lnSpc>
            </a:pPr>
            <a:r>
              <a:rPr sz="1800" b="1">
                <a:solidFill>
                  <a:srgbClr val="E87722"/>
                </a:solidFill>
                <a:latin typeface="Helvetica Neue"/>
                <a:ea typeface="Helvetica Neue"/>
                <a:cs typeface="Helvetica Neue"/>
              </a:rPr>
              <a:t>NEXT →  Part 5  AI活用事例集 (40p, P166-P205)</a:t>
            </a:r>
          </a:p>
        </p:txBody>
      </p:sp>
      <p:sp>
        <p:nvSpPr>
          <p:cNvPr id="30" name="TextBox 29"/>
          <p:cNvSpPr txBox="1"/>
          <p:nvPr/>
        </p:nvSpPr>
        <p:spPr>
          <a:xfrm>
            <a:off x="777240" y="4617720"/>
            <a:ext cx="10972800" cy="1691640"/>
          </a:xfrm>
          <a:prstGeom prst="rect">
            <a:avLst/>
          </a:prstGeom>
          <a:noFill/>
        </p:spPr>
        <p:txBody>
          <a:bodyPr wrap="square" anchor="t" lIns="0" rIns="0" tIns="0" bIns="0">
            <a:spAutoFit/>
          </a:bodyPr>
          <a:lstStyle/>
          <a:p>
            <a:pPr algn="l">
              <a:lnSpc>
                <a:spcPct val="155000"/>
              </a:lnSpc>
            </a:pPr>
            <a:r>
              <a:rPr sz="1100" b="0">
                <a:solidFill>
                  <a:srgbClr val="FFFFFF"/>
                </a:solidFill>
                <a:latin typeface="Hiragino Sans"/>
                <a:ea typeface="Hiragino Sans"/>
                <a:cs typeface="Hiragino Sans"/>
              </a:rPr>
              <a:t>Part 5 で扱うトピック (40p) :</a:t>
            </a:r>
          </a:p>
          <a:p>
            <a:pPr algn="l">
              <a:lnSpc>
                <a:spcPct val="155000"/>
              </a:lnSpc>
            </a:pPr>
            <a:r>
              <a:rPr sz="1100" b="0">
                <a:solidFill>
                  <a:srgbClr val="FFFFFF"/>
                </a:solidFill>
                <a:latin typeface="Hiragino Sans"/>
                <a:ea typeface="Hiragino Sans"/>
                <a:cs typeface="Hiragino Sans"/>
              </a:rPr>
              <a:t>• AIレイヤーマップ (生成 / 運用 / 予測 / 分析 / Agent)</a:t>
            </a:r>
          </a:p>
          <a:p>
            <a:pPr algn="l">
              <a:lnSpc>
                <a:spcPct val="155000"/>
              </a:lnSpc>
            </a:pPr>
            <a:r>
              <a:rPr sz="1100" b="0">
                <a:solidFill>
                  <a:srgbClr val="FFFFFF"/>
                </a:solidFill>
                <a:latin typeface="Hiragino Sans"/>
                <a:ea typeface="Hiragino Sans"/>
                <a:cs typeface="Hiragino Sans"/>
              </a:rPr>
              <a:t>• クリエイティブ生成 (コピー / 画像 / 動画 / 広告特化ツール)</a:t>
            </a:r>
          </a:p>
          <a:p>
            <a:pPr algn="l">
              <a:lnSpc>
                <a:spcPct val="155000"/>
              </a:lnSpc>
            </a:pPr>
            <a:r>
              <a:rPr sz="1100" b="0">
                <a:solidFill>
                  <a:srgbClr val="FFFFFF"/>
                </a:solidFill>
                <a:latin typeface="Hiragino Sans"/>
                <a:ea typeface="Hiragino Sans"/>
                <a:cs typeface="Hiragino Sans"/>
              </a:rPr>
              <a:t>• 運用自動化 (媒体ML / 外部運用ツール)</a:t>
            </a:r>
          </a:p>
          <a:p>
            <a:pPr algn="l">
              <a:lnSpc>
                <a:spcPct val="155000"/>
              </a:lnSpc>
            </a:pPr>
            <a:r>
              <a:rPr sz="1100" b="0">
                <a:solidFill>
                  <a:srgbClr val="FFFFFF"/>
                </a:solidFill>
                <a:latin typeface="Hiragino Sans"/>
                <a:ea typeface="Hiragino Sans"/>
                <a:cs typeface="Hiragino Sans"/>
              </a:rPr>
              <a:t>• 予測・分析・Agent型広告運用</a:t>
            </a:r>
          </a:p>
          <a:p>
            <a:pPr algn="l">
              <a:lnSpc>
                <a:spcPct val="155000"/>
              </a:lnSpc>
            </a:pPr>
            <a:r>
              <a:rPr sz="1100" b="0">
                <a:solidFill>
                  <a:srgbClr val="FFFFFF"/>
                </a:solidFill>
                <a:latin typeface="Hiragino Sans"/>
                <a:ea typeface="Hiragino Sans"/>
                <a:cs typeface="Hiragino Sans"/>
              </a:rPr>
              <a:t>• 副業運用者向けプロンプトテンプレ集</a:t>
            </a:r>
          </a:p>
          <a:p>
            <a:pPr algn="l">
              <a:lnSpc>
                <a:spcPct val="155000"/>
              </a:lnSpc>
            </a:pPr>
            <a:r>
              <a:rPr sz="1100" b="0">
                <a:solidFill>
                  <a:srgbClr val="FFFFFF"/>
                </a:solidFill>
                <a:latin typeface="Hiragino Sans"/>
                <a:ea typeface="Hiragino Sans"/>
                <a:cs typeface="Hiragino Sans"/>
              </a:rPr>
              <a:t/>
            </a:r>
          </a:p>
          <a:p>
            <a:pPr algn="l">
              <a:lnSpc>
                <a:spcPct val="155000"/>
              </a:lnSpc>
            </a:pPr>
            <a:r>
              <a:rPr sz="1100" b="0">
                <a:solidFill>
                  <a:srgbClr val="FFFFFF"/>
                </a:solidFill>
                <a:latin typeface="Hiragino Sans"/>
                <a:ea typeface="Hiragino Sans"/>
                <a:cs typeface="Hiragino Sans"/>
              </a:rPr>
              <a:t>Part 4 (計測 25p) で計測の土台ができた → Part 5 で AIで運用を加速する</a:t>
            </a:r>
          </a:p>
        </p:txBody>
      </p:sp>
      <p:sp>
        <p:nvSpPr>
          <p:cNvPr id="31" name="TextBox 30"/>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37160" cy="46634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097280"/>
            <a:ext cx="3657600" cy="457200"/>
          </a:xfrm>
          <a:prstGeom prst="rect">
            <a:avLst/>
          </a:prstGeom>
          <a:noFill/>
        </p:spPr>
        <p:txBody>
          <a:bodyPr wrap="square" anchor="t" lIns="0" rIns="0" tIns="0" bIns="0">
            <a:spAutoFit/>
          </a:bodyPr>
          <a:lstStyle/>
          <a:p>
            <a:pPr algn="l">
              <a:lnSpc>
                <a:spcPct val="115000"/>
              </a:lnSpc>
            </a:pPr>
            <a:r>
              <a:rPr sz="1800" b="1">
                <a:solidFill>
                  <a:srgbClr val="E87722"/>
                </a:solidFill>
                <a:latin typeface="Helvetica Neue"/>
                <a:ea typeface="Helvetica Neue"/>
                <a:cs typeface="Helvetica Neue"/>
              </a:rPr>
              <a:t>PART 5</a:t>
            </a:r>
          </a:p>
        </p:txBody>
      </p:sp>
      <p:sp>
        <p:nvSpPr>
          <p:cNvPr id="5" name="TextBox 4"/>
          <p:cNvSpPr txBox="1"/>
          <p:nvPr/>
        </p:nvSpPr>
        <p:spPr>
          <a:xfrm>
            <a:off x="1097280" y="1737360"/>
            <a:ext cx="10058400" cy="1371600"/>
          </a:xfrm>
          <a:prstGeom prst="rect">
            <a:avLst/>
          </a:prstGeom>
          <a:noFill/>
        </p:spPr>
        <p:txBody>
          <a:bodyPr wrap="square" anchor="t" lIns="0" rIns="0" tIns="0" bIns="0">
            <a:spAutoFit/>
          </a:bodyPr>
          <a:lstStyle/>
          <a:p>
            <a:pPr algn="l">
              <a:lnSpc>
                <a:spcPct val="110000"/>
              </a:lnSpc>
            </a:pPr>
            <a:r>
              <a:rPr sz="5400" b="1">
                <a:solidFill>
                  <a:srgbClr val="FFFFFF"/>
                </a:solidFill>
                <a:latin typeface="Hiragino Sans"/>
                <a:ea typeface="Hiragino Sans"/>
                <a:cs typeface="Hiragino Sans"/>
              </a:rPr>
              <a:t>AI 活用事例集 (前半)</a:t>
            </a:r>
          </a:p>
        </p:txBody>
      </p:sp>
      <p:sp>
        <p:nvSpPr>
          <p:cNvPr id="6" name="TextBox 5"/>
          <p:cNvSpPr txBox="1"/>
          <p:nvPr/>
        </p:nvSpPr>
        <p:spPr>
          <a:xfrm>
            <a:off x="1097280" y="3291840"/>
            <a:ext cx="10058400" cy="548640"/>
          </a:xfrm>
          <a:prstGeom prst="rect">
            <a:avLst/>
          </a:prstGeom>
          <a:noFill/>
        </p:spPr>
        <p:txBody>
          <a:bodyPr wrap="square" anchor="t" lIns="0" rIns="0" tIns="0" bIns="0">
            <a:spAutoFit/>
          </a:bodyPr>
          <a:lstStyle/>
          <a:p>
            <a:pPr algn="l">
              <a:lnSpc>
                <a:spcPct val="130000"/>
              </a:lnSpc>
            </a:pPr>
            <a:r>
              <a:rPr sz="1800" b="0">
                <a:solidFill>
                  <a:srgbClr val="D7DDE8"/>
                </a:solidFill>
                <a:latin typeface="Hiragino Sans"/>
                <a:ea typeface="Hiragino Sans"/>
                <a:cs typeface="Hiragino Sans"/>
              </a:rPr>
              <a:t>クリエイティブ生成 ─ コピー / 画像 / 動画</a:t>
            </a:r>
          </a:p>
        </p:txBody>
      </p:sp>
      <p:sp>
        <p:nvSpPr>
          <p:cNvPr id="7" name="Rectangle 6"/>
          <p:cNvSpPr/>
          <p:nvPr/>
        </p:nvSpPr>
        <p:spPr>
          <a:xfrm>
            <a:off x="1097280" y="4114800"/>
            <a:ext cx="914400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97680"/>
            <a:ext cx="10058400" cy="822960"/>
          </a:xfrm>
          <a:prstGeom prst="rect">
            <a:avLst/>
          </a:prstGeom>
          <a:noFill/>
        </p:spPr>
        <p:txBody>
          <a:bodyPr wrap="square" anchor="t" lIns="0" rIns="0" tIns="0" bIns="0">
            <a:spAutoFit/>
          </a:bodyPr>
          <a:lstStyle/>
          <a:p>
            <a:pPr algn="l">
              <a:lnSpc>
                <a:spcPct val="150000"/>
              </a:lnSpc>
            </a:pPr>
            <a:r>
              <a:rPr sz="1300" b="0">
                <a:solidFill>
                  <a:srgbClr val="D7DDE8"/>
                </a:solidFill>
                <a:latin typeface="Hiragino Sans"/>
                <a:ea typeface="Hiragino Sans"/>
                <a:cs typeface="Hiragino Sans"/>
              </a:rPr>
              <a:t>ChatGPT / Claude / Gemini のテキスト生成、Midjourney / DALL-E / Firefly の画像、</a:t>
            </a:r>
          </a:p>
          <a:p>
            <a:pPr algn="l">
              <a:lnSpc>
                <a:spcPct val="150000"/>
              </a:lnSpc>
            </a:pPr>
            <a:r>
              <a:rPr sz="1300" b="0">
                <a:solidFill>
                  <a:srgbClr val="D7DDE8"/>
                </a:solidFill>
                <a:latin typeface="Hiragino Sans"/>
                <a:ea typeface="Hiragino Sans"/>
                <a:cs typeface="Hiragino Sans"/>
              </a:rPr>
              <a:t>Sora / Veo / Runway の動画、そして媒体ネイティブの Advantage+ Creative / Symphony まで。</a:t>
            </a:r>
          </a:p>
          <a:p>
            <a:pPr algn="l">
              <a:lnSpc>
                <a:spcPct val="150000"/>
              </a:lnSpc>
            </a:pPr>
            <a:r>
              <a:rPr sz="1300" b="0">
                <a:solidFill>
                  <a:srgbClr val="D7DDE8"/>
                </a:solidFill>
                <a:latin typeface="Hiragino Sans"/>
                <a:ea typeface="Hiragino Sans"/>
                <a:cs typeface="Hiragino Sans"/>
              </a:rPr>
              <a:t>副業運用代行で月20-30本のクリエイティブを1人で量産する基盤</a:t>
            </a:r>
          </a:p>
        </p:txBody>
      </p:sp>
      <p:sp>
        <p:nvSpPr>
          <p:cNvPr id="9" name="TextBox 8"/>
          <p:cNvSpPr txBox="1"/>
          <p:nvPr/>
        </p:nvSpPr>
        <p:spPr>
          <a:xfrm>
            <a:off x="1097280" y="539496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AI for Creative TL;DR</a:t>
            </a:r>
          </a:p>
        </p:txBody>
      </p:sp>
      <p:sp>
        <p:nvSpPr>
          <p:cNvPr id="10" name="TextBox 9"/>
          <p:cNvSpPr txBox="1"/>
          <p:nvPr/>
        </p:nvSpPr>
        <p:spPr>
          <a:xfrm>
            <a:off x="4297680" y="539496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コピー : ChatGPT</a:t>
            </a:r>
          </a:p>
        </p:txBody>
      </p:sp>
      <p:sp>
        <p:nvSpPr>
          <p:cNvPr id="11" name="TextBox 10"/>
          <p:cNvSpPr txBox="1"/>
          <p:nvPr/>
        </p:nvSpPr>
        <p:spPr>
          <a:xfrm>
            <a:off x="7498080" y="539496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コピー : Claude</a:t>
            </a:r>
          </a:p>
        </p:txBody>
      </p:sp>
      <p:sp>
        <p:nvSpPr>
          <p:cNvPr id="12" name="TextBox 11"/>
          <p:cNvSpPr txBox="1"/>
          <p:nvPr/>
        </p:nvSpPr>
        <p:spPr>
          <a:xfrm>
            <a:off x="1097280" y="576072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コピー : Gemini</a:t>
            </a:r>
          </a:p>
        </p:txBody>
      </p:sp>
      <p:sp>
        <p:nvSpPr>
          <p:cNvPr id="13" name="TextBox 12"/>
          <p:cNvSpPr txBox="1"/>
          <p:nvPr/>
        </p:nvSpPr>
        <p:spPr>
          <a:xfrm>
            <a:off x="4297680" y="576072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広告特化コピーツール</a:t>
            </a:r>
          </a:p>
        </p:txBody>
      </p:sp>
      <p:sp>
        <p:nvSpPr>
          <p:cNvPr id="14" name="TextBox 13"/>
          <p:cNvSpPr txBox="1"/>
          <p:nvPr/>
        </p:nvSpPr>
        <p:spPr>
          <a:xfrm>
            <a:off x="7498080" y="576072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画像 : Midjourney</a:t>
            </a:r>
          </a:p>
        </p:txBody>
      </p:sp>
      <p:sp>
        <p:nvSpPr>
          <p:cNvPr id="15" name="TextBox 14"/>
          <p:cNvSpPr txBox="1"/>
          <p:nvPr/>
        </p:nvSpPr>
        <p:spPr>
          <a:xfrm>
            <a:off x="1097280" y="612648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画像 : DALL-E / Imagen</a:t>
            </a:r>
          </a:p>
        </p:txBody>
      </p:sp>
      <p:sp>
        <p:nvSpPr>
          <p:cNvPr id="16" name="TextBox 15"/>
          <p:cNvSpPr txBox="1"/>
          <p:nvPr/>
        </p:nvSpPr>
        <p:spPr>
          <a:xfrm>
            <a:off x="4297680" y="612648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画像 : Firefly / Nano Banana</a:t>
            </a:r>
          </a:p>
        </p:txBody>
      </p:sp>
      <p:sp>
        <p:nvSpPr>
          <p:cNvPr id="17" name="TextBox 16"/>
          <p:cNvSpPr txBox="1"/>
          <p:nvPr/>
        </p:nvSpPr>
        <p:spPr>
          <a:xfrm>
            <a:off x="7498080" y="612648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動画 : Sora 2</a:t>
            </a:r>
          </a:p>
        </p:txBody>
      </p:sp>
      <p:sp>
        <p:nvSpPr>
          <p:cNvPr id="18" name="TextBox 17"/>
          <p:cNvSpPr txBox="1"/>
          <p:nvPr/>
        </p:nvSpPr>
        <p:spPr>
          <a:xfrm>
            <a:off x="1097280" y="649224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動画 : Veo 3 / Runway / Luma</a:t>
            </a:r>
          </a:p>
        </p:txBody>
      </p:sp>
      <p:sp>
        <p:nvSpPr>
          <p:cNvPr id="19" name="TextBox 18"/>
          <p:cNvSpPr txBox="1"/>
          <p:nvPr/>
        </p:nvSpPr>
        <p:spPr>
          <a:xfrm>
            <a:off x="4297680" y="649224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広告特化生成ツール</a:t>
            </a:r>
          </a:p>
        </p:txBody>
      </p:sp>
      <p:sp>
        <p:nvSpPr>
          <p:cNvPr id="20" name="TextBox 19"/>
          <p:cNvSpPr txBox="1"/>
          <p:nvPr/>
        </p:nvSpPr>
        <p:spPr>
          <a:xfrm>
            <a:off x="7498080" y="649224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媒体ネイティブ生成</a:t>
            </a:r>
          </a:p>
        </p:txBody>
      </p:sp>
      <p:sp>
        <p:nvSpPr>
          <p:cNvPr id="21" name="TextBox 20"/>
          <p:cNvSpPr txBox="1"/>
          <p:nvPr/>
        </p:nvSpPr>
        <p:spPr>
          <a:xfrm>
            <a:off x="1097280" y="685800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著作権・規制</a:t>
            </a:r>
          </a:p>
        </p:txBody>
      </p:sp>
      <p:sp>
        <p:nvSpPr>
          <p:cNvPr id="22" name="TextBox 21"/>
          <p:cNvSpPr txBox="1"/>
          <p:nvPr/>
        </p:nvSpPr>
        <p:spPr>
          <a:xfrm>
            <a:off x="4297680" y="685800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プロンプト設計の鉄則</a:t>
            </a:r>
          </a:p>
        </p:txBody>
      </p:sp>
      <p:sp>
        <p:nvSpPr>
          <p:cNvPr id="23" name="TextBox 22"/>
          <p:cNvSpPr txBox="1"/>
          <p:nvPr/>
        </p:nvSpPr>
        <p:spPr>
          <a:xfrm>
            <a:off x="7498080" y="685800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ABテスト × AI</a:t>
            </a:r>
          </a:p>
        </p:txBody>
      </p:sp>
      <p:sp>
        <p:nvSpPr>
          <p:cNvPr id="24" name="TextBox 23"/>
          <p:cNvSpPr txBox="1"/>
          <p:nvPr/>
        </p:nvSpPr>
        <p:spPr>
          <a:xfrm>
            <a:off x="1097280" y="722376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AI クリエイティブWF</a:t>
            </a:r>
          </a:p>
        </p:txBody>
      </p:sp>
      <p:sp>
        <p:nvSpPr>
          <p:cNvPr id="25" name="TextBox 24"/>
          <p:cNvSpPr txBox="1"/>
          <p:nvPr/>
        </p:nvSpPr>
        <p:spPr>
          <a:xfrm>
            <a:off x="4297680" y="722376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5-A まとめ → 5-B へ</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5-A : AI クリエイティブ生成 ランドスケープ</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コピー / 画像 / 動画 の3レイヤー</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P167 / 250</a:t>
            </a:r>
          </a:p>
        </p:txBody>
      </p:sp>
      <p:sp>
        <p:nvSpPr>
          <p:cNvPr id="8" name="Rounded Rectangle 7"/>
          <p:cNvSpPr/>
          <p:nvPr/>
        </p:nvSpPr>
        <p:spPr>
          <a:xfrm>
            <a:off x="548640" y="1417320"/>
            <a:ext cx="11109960" cy="14173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137160" cy="14173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581912"/>
            <a:ext cx="3200400" cy="365760"/>
          </a:xfrm>
          <a:prstGeom prst="rect">
            <a:avLst/>
          </a:prstGeom>
          <a:noFill/>
        </p:spPr>
        <p:txBody>
          <a:bodyPr wrap="square" anchor="t" lIns="0" rIns="0" tIns="0" bIns="0">
            <a:spAutoFit/>
          </a:bodyPr>
          <a:lstStyle/>
          <a:p>
            <a:pPr algn="l">
              <a:lnSpc>
                <a:spcPct val="115000"/>
              </a:lnSpc>
            </a:pPr>
            <a:r>
              <a:rPr sz="1800" b="1">
                <a:solidFill>
                  <a:srgbClr val="0F2A4F"/>
                </a:solidFill>
                <a:latin typeface="Hiragino Sans"/>
                <a:ea typeface="Hiragino Sans"/>
                <a:cs typeface="Hiragino Sans"/>
              </a:rPr>
              <a:t>コピー (テキスト)</a:t>
            </a:r>
          </a:p>
        </p:txBody>
      </p:sp>
      <p:sp>
        <p:nvSpPr>
          <p:cNvPr id="11" name="TextBox 10"/>
          <p:cNvSpPr txBox="1"/>
          <p:nvPr/>
        </p:nvSpPr>
        <p:spPr>
          <a:xfrm>
            <a:off x="868680" y="2011680"/>
            <a:ext cx="10058400" cy="320040"/>
          </a:xfrm>
          <a:prstGeom prst="rect">
            <a:avLst/>
          </a:prstGeom>
          <a:noFill/>
        </p:spPr>
        <p:txBody>
          <a:bodyPr wrap="square" anchor="t" lIns="0" rIns="0" tIns="0" bIns="0">
            <a:spAutoFit/>
          </a:bodyPr>
          <a:lstStyle/>
          <a:p>
            <a:pPr algn="l">
              <a:lnSpc>
                <a:spcPct val="115000"/>
              </a:lnSpc>
            </a:pPr>
            <a:r>
              <a:rPr sz="1100" b="1">
                <a:solidFill>
                  <a:srgbClr val="B85E1A"/>
                </a:solidFill>
                <a:latin typeface="Hiragino Sans"/>
                <a:ea typeface="Hiragino Sans"/>
                <a:cs typeface="Hiragino Sans"/>
              </a:rPr>
              <a:t>1秒で生成 / 即時改善</a:t>
            </a:r>
          </a:p>
        </p:txBody>
      </p:sp>
      <p:sp>
        <p:nvSpPr>
          <p:cNvPr id="12" name="TextBox 11"/>
          <p:cNvSpPr txBox="1"/>
          <p:nvPr/>
        </p:nvSpPr>
        <p:spPr>
          <a:xfrm>
            <a:off x="868680" y="2331720"/>
            <a:ext cx="10058400" cy="50292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ChatGPT / Claude / Gemini</a:t>
            </a:r>
          </a:p>
          <a:p>
            <a:pPr algn="l">
              <a:lnSpc>
                <a:spcPct val="150000"/>
              </a:lnSpc>
            </a:pPr>
            <a:r>
              <a:rPr sz="1100" b="0">
                <a:solidFill>
                  <a:srgbClr val="1A1A1A"/>
                </a:solidFill>
                <a:latin typeface="Hiragino Sans"/>
                <a:ea typeface="Hiragino Sans"/>
                <a:cs typeface="Hiragino Sans"/>
              </a:rPr>
              <a:t>+ 広告特化 (Jasper / Copy.ai / Anyword)</a:t>
            </a:r>
          </a:p>
          <a:p>
            <a:pPr algn="l">
              <a:lnSpc>
                <a:spcPct val="150000"/>
              </a:lnSpc>
            </a:pPr>
            <a:r>
              <a:rPr sz="1100" b="0">
                <a:solidFill>
                  <a:srgbClr val="1A1A1A"/>
                </a:solidFill>
                <a:latin typeface="Hiragino Sans"/>
                <a:ea typeface="Hiragino Sans"/>
                <a:cs typeface="Hiragino Sans"/>
              </a:rPr>
              <a:t>副業代行 : 全クライアントで利用、最初のAIワークフロー</a:t>
            </a:r>
          </a:p>
        </p:txBody>
      </p:sp>
      <p:sp>
        <p:nvSpPr>
          <p:cNvPr id="13" name="Rounded Rectangle 12"/>
          <p:cNvSpPr/>
          <p:nvPr/>
        </p:nvSpPr>
        <p:spPr>
          <a:xfrm>
            <a:off x="548640" y="2971800"/>
            <a:ext cx="11109960" cy="14173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2971800"/>
            <a:ext cx="137160" cy="14173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136392"/>
            <a:ext cx="3200400" cy="365760"/>
          </a:xfrm>
          <a:prstGeom prst="rect">
            <a:avLst/>
          </a:prstGeom>
          <a:noFill/>
        </p:spPr>
        <p:txBody>
          <a:bodyPr wrap="square" anchor="t" lIns="0" rIns="0" tIns="0" bIns="0">
            <a:spAutoFit/>
          </a:bodyPr>
          <a:lstStyle/>
          <a:p>
            <a:pPr algn="l">
              <a:lnSpc>
                <a:spcPct val="115000"/>
              </a:lnSpc>
            </a:pPr>
            <a:r>
              <a:rPr sz="1800" b="1">
                <a:solidFill>
                  <a:srgbClr val="0F2A4F"/>
                </a:solidFill>
                <a:latin typeface="Hiragino Sans"/>
                <a:ea typeface="Hiragino Sans"/>
                <a:cs typeface="Hiragino Sans"/>
              </a:rPr>
              <a:t>画像</a:t>
            </a:r>
          </a:p>
        </p:txBody>
      </p:sp>
      <p:sp>
        <p:nvSpPr>
          <p:cNvPr id="16" name="TextBox 15"/>
          <p:cNvSpPr txBox="1"/>
          <p:nvPr/>
        </p:nvSpPr>
        <p:spPr>
          <a:xfrm>
            <a:off x="868680" y="3566160"/>
            <a:ext cx="10058400" cy="320040"/>
          </a:xfrm>
          <a:prstGeom prst="rect">
            <a:avLst/>
          </a:prstGeom>
          <a:noFill/>
        </p:spPr>
        <p:txBody>
          <a:bodyPr wrap="square" anchor="t" lIns="0" rIns="0" tIns="0" bIns="0">
            <a:spAutoFit/>
          </a:bodyPr>
          <a:lstStyle/>
          <a:p>
            <a:pPr algn="l">
              <a:lnSpc>
                <a:spcPct val="115000"/>
              </a:lnSpc>
            </a:pPr>
            <a:r>
              <a:rPr sz="1100" b="1">
                <a:solidFill>
                  <a:srgbClr val="B85E1A"/>
                </a:solidFill>
                <a:latin typeface="Hiragino Sans"/>
                <a:ea typeface="Hiragino Sans"/>
                <a:cs typeface="Hiragino Sans"/>
              </a:rPr>
              <a:t>30秒〜数分 / 1枚数円〜数十円</a:t>
            </a:r>
          </a:p>
        </p:txBody>
      </p:sp>
      <p:sp>
        <p:nvSpPr>
          <p:cNvPr id="17" name="TextBox 16"/>
          <p:cNvSpPr txBox="1"/>
          <p:nvPr/>
        </p:nvSpPr>
        <p:spPr>
          <a:xfrm>
            <a:off x="868680" y="3886200"/>
            <a:ext cx="10058400" cy="50292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Midjourney / DALL-E 4 / Imagen 4 /</a:t>
            </a:r>
          </a:p>
          <a:p>
            <a:pPr algn="l">
              <a:lnSpc>
                <a:spcPct val="150000"/>
              </a:lnSpc>
            </a:pPr>
            <a:r>
              <a:rPr sz="1100" b="0">
                <a:solidFill>
                  <a:srgbClr val="1A1A1A"/>
                </a:solidFill>
                <a:latin typeface="Hiragino Sans"/>
                <a:ea typeface="Hiragino Sans"/>
                <a:cs typeface="Hiragino Sans"/>
              </a:rPr>
              <a:t>Adobe Firefly / Nano Banana</a:t>
            </a:r>
          </a:p>
          <a:p>
            <a:pPr algn="l">
              <a:lnSpc>
                <a:spcPct val="150000"/>
              </a:lnSpc>
            </a:pPr>
            <a:r>
              <a:rPr sz="1100" b="0">
                <a:solidFill>
                  <a:srgbClr val="1A1A1A"/>
                </a:solidFill>
                <a:latin typeface="Hiragino Sans"/>
                <a:ea typeface="Hiragino Sans"/>
                <a:cs typeface="Hiragino Sans"/>
              </a:rPr>
              <a:t>副業代行 : 訴求軸ごとに10-20本量産が基本</a:t>
            </a:r>
          </a:p>
        </p:txBody>
      </p:sp>
      <p:sp>
        <p:nvSpPr>
          <p:cNvPr id="18" name="Rounded Rectangle 17"/>
          <p:cNvSpPr/>
          <p:nvPr/>
        </p:nvSpPr>
        <p:spPr>
          <a:xfrm>
            <a:off x="548640" y="4526280"/>
            <a:ext cx="11109960" cy="14173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4526280"/>
            <a:ext cx="137160" cy="14173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4690872"/>
            <a:ext cx="3200400" cy="365760"/>
          </a:xfrm>
          <a:prstGeom prst="rect">
            <a:avLst/>
          </a:prstGeom>
          <a:noFill/>
        </p:spPr>
        <p:txBody>
          <a:bodyPr wrap="square" anchor="t" lIns="0" rIns="0" tIns="0" bIns="0">
            <a:spAutoFit/>
          </a:bodyPr>
          <a:lstStyle/>
          <a:p>
            <a:pPr algn="l">
              <a:lnSpc>
                <a:spcPct val="115000"/>
              </a:lnSpc>
            </a:pPr>
            <a:r>
              <a:rPr sz="1800" b="1">
                <a:solidFill>
                  <a:srgbClr val="0F2A4F"/>
                </a:solidFill>
                <a:latin typeface="Hiragino Sans"/>
                <a:ea typeface="Hiragino Sans"/>
                <a:cs typeface="Hiragino Sans"/>
              </a:rPr>
              <a:t>動画</a:t>
            </a:r>
          </a:p>
        </p:txBody>
      </p:sp>
      <p:sp>
        <p:nvSpPr>
          <p:cNvPr id="21" name="TextBox 20"/>
          <p:cNvSpPr txBox="1"/>
          <p:nvPr/>
        </p:nvSpPr>
        <p:spPr>
          <a:xfrm>
            <a:off x="868680" y="5120640"/>
            <a:ext cx="10058400" cy="320040"/>
          </a:xfrm>
          <a:prstGeom prst="rect">
            <a:avLst/>
          </a:prstGeom>
          <a:noFill/>
        </p:spPr>
        <p:txBody>
          <a:bodyPr wrap="square" anchor="t" lIns="0" rIns="0" tIns="0" bIns="0">
            <a:spAutoFit/>
          </a:bodyPr>
          <a:lstStyle/>
          <a:p>
            <a:pPr algn="l">
              <a:lnSpc>
                <a:spcPct val="115000"/>
              </a:lnSpc>
            </a:pPr>
            <a:r>
              <a:rPr sz="1100" b="1">
                <a:solidFill>
                  <a:srgbClr val="B85E1A"/>
                </a:solidFill>
                <a:latin typeface="Hiragino Sans"/>
                <a:ea typeface="Hiragino Sans"/>
                <a:cs typeface="Hiragino Sans"/>
              </a:rPr>
              <a:t>1-3分 / 1動画数百円〜数千円</a:t>
            </a:r>
          </a:p>
        </p:txBody>
      </p:sp>
      <p:sp>
        <p:nvSpPr>
          <p:cNvPr id="22" name="TextBox 21"/>
          <p:cNvSpPr txBox="1"/>
          <p:nvPr/>
        </p:nvSpPr>
        <p:spPr>
          <a:xfrm>
            <a:off x="868680" y="5440680"/>
            <a:ext cx="10058400" cy="50292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Sora 2 (OpenAI) / Veo 3 (Google) / Runway /</a:t>
            </a:r>
          </a:p>
          <a:p>
            <a:pPr algn="l">
              <a:lnSpc>
                <a:spcPct val="150000"/>
              </a:lnSpc>
            </a:pPr>
            <a:r>
              <a:rPr sz="1100" b="0">
                <a:solidFill>
                  <a:srgbClr val="1A1A1A"/>
                </a:solidFill>
                <a:latin typeface="Hiragino Sans"/>
                <a:ea typeface="Hiragino Sans"/>
                <a:cs typeface="Hiragino Sans"/>
              </a:rPr>
              <a:t>Luma / Pika</a:t>
            </a:r>
          </a:p>
          <a:p>
            <a:pPr algn="l">
              <a:lnSpc>
                <a:spcPct val="150000"/>
              </a:lnSpc>
            </a:pPr>
            <a:r>
              <a:rPr sz="1100" b="0">
                <a:solidFill>
                  <a:srgbClr val="1A1A1A"/>
                </a:solidFill>
                <a:latin typeface="Hiragino Sans"/>
                <a:ea typeface="Hiragino Sans"/>
                <a:cs typeface="Hiragino Sans"/>
              </a:rPr>
              <a:t>副業代行 : 縦型動画 (TikTok/Reels/Shorts) で広告素材化</a:t>
            </a:r>
          </a:p>
        </p:txBody>
      </p:sp>
      <p:sp>
        <p:nvSpPr>
          <p:cNvPr id="23" name="Rounded Rectangle 22"/>
          <p:cNvSpPr/>
          <p:nvPr/>
        </p:nvSpPr>
        <p:spPr>
          <a:xfrm>
            <a:off x="548640" y="5943600"/>
            <a:ext cx="11109960" cy="41148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6035040"/>
            <a:ext cx="1097280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 共通原則 : AI生成は『ヒント発掘 + 量産』、最終調整 = 人間。完全自動化は信頼性に欠ける</a:t>
            </a:r>
          </a:p>
        </p:txBody>
      </p:sp>
      <p:sp>
        <p:nvSpPr>
          <p:cNvPr id="25" name="TextBox 24"/>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AI クリエイティブ 5つのインパクト (TL;DR)</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現場の仕事がどう変わったか</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P168 / 250</a:t>
            </a:r>
          </a:p>
        </p:txBody>
      </p:sp>
      <p:sp>
        <p:nvSpPr>
          <p:cNvPr id="8" name="Rounded Rectangle 7"/>
          <p:cNvSpPr/>
          <p:nvPr/>
        </p:nvSpPr>
        <p:spPr>
          <a:xfrm>
            <a:off x="548640" y="1325880"/>
            <a:ext cx="11109960" cy="9601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25880"/>
            <a:ext cx="109728" cy="9601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508760"/>
            <a:ext cx="731520" cy="640080"/>
          </a:xfrm>
          <a:prstGeom prst="rect">
            <a:avLst/>
          </a:prstGeom>
          <a:noFill/>
        </p:spPr>
        <p:txBody>
          <a:bodyPr wrap="square" anchor="t" lIns="0" rIns="0" tIns="0" bIns="0">
            <a:spAutoFit/>
          </a:bodyPr>
          <a:lstStyle/>
          <a:p>
            <a:pPr algn="l">
              <a:lnSpc>
                <a:spcPct val="115000"/>
              </a:lnSpc>
            </a:pPr>
            <a:r>
              <a:rPr sz="3200" b="1">
                <a:solidFill>
                  <a:srgbClr val="E87722"/>
                </a:solidFill>
                <a:latin typeface="Helvetica Neue"/>
                <a:ea typeface="Helvetica Neue"/>
                <a:cs typeface="Helvetica Neue"/>
              </a:rPr>
              <a:t>01</a:t>
            </a:r>
          </a:p>
        </p:txBody>
      </p:sp>
      <p:sp>
        <p:nvSpPr>
          <p:cNvPr id="11" name="TextBox 10"/>
          <p:cNvSpPr txBox="1"/>
          <p:nvPr/>
        </p:nvSpPr>
        <p:spPr>
          <a:xfrm>
            <a:off x="1737360" y="1490472"/>
            <a:ext cx="9601200" cy="365760"/>
          </a:xfrm>
          <a:prstGeom prst="rect">
            <a:avLst/>
          </a:prstGeom>
          <a:noFill/>
        </p:spPr>
        <p:txBody>
          <a:bodyPr wrap="square" anchor="t" lIns="0" rIns="0" tIns="0" bIns="0">
            <a:spAutoFit/>
          </a:bodyPr>
          <a:lstStyle/>
          <a:p>
            <a:pPr algn="l">
              <a:lnSpc>
                <a:spcPct val="115000"/>
              </a:lnSpc>
            </a:pPr>
            <a:r>
              <a:rPr sz="1500" b="1">
                <a:solidFill>
                  <a:srgbClr val="0F2A4F"/>
                </a:solidFill>
                <a:latin typeface="Hiragino Sans"/>
                <a:ea typeface="Hiragino Sans"/>
                <a:cs typeface="Hiragino Sans"/>
              </a:rPr>
              <a:t>コピー生成は1分の作業に</a:t>
            </a:r>
          </a:p>
        </p:txBody>
      </p:sp>
      <p:sp>
        <p:nvSpPr>
          <p:cNvPr id="12" name="TextBox 11"/>
          <p:cNvSpPr txBox="1"/>
          <p:nvPr/>
        </p:nvSpPr>
        <p:spPr>
          <a:xfrm>
            <a:off x="1737360" y="1828800"/>
            <a:ext cx="9692640" cy="457200"/>
          </a:xfrm>
          <a:prstGeom prst="rect">
            <a:avLst/>
          </a:prstGeom>
          <a:noFill/>
        </p:spPr>
        <p:txBody>
          <a:bodyPr wrap="square" anchor="t" lIns="0" rIns="0" tIns="0" bIns="0">
            <a:spAutoFit/>
          </a:bodyPr>
          <a:lstStyle/>
          <a:p>
            <a:pPr algn="l">
              <a:lnSpc>
                <a:spcPct val="150000"/>
              </a:lnSpc>
            </a:pPr>
            <a:r>
              <a:rPr sz="1000" b="0">
                <a:solidFill>
                  <a:srgbClr val="1A1A1A"/>
                </a:solidFill>
                <a:latin typeface="Hiragino Sans"/>
                <a:ea typeface="Hiragino Sans"/>
                <a:cs typeface="Hiragino Sans"/>
              </a:rPr>
              <a:t>ChatGPT/Claude/Gemini 経由で広告コピーを 5-10案を1分以内に生成。</a:t>
            </a:r>
          </a:p>
          <a:p>
            <a:pPr algn="l">
              <a:lnSpc>
                <a:spcPct val="150000"/>
              </a:lnSpc>
            </a:pPr>
            <a:r>
              <a:rPr sz="1000" b="0">
                <a:solidFill>
                  <a:srgbClr val="1A1A1A"/>
                </a:solidFill>
                <a:latin typeface="Hiragino Sans"/>
                <a:ea typeface="Hiragino Sans"/>
                <a:cs typeface="Hiragino Sans"/>
              </a:rPr>
              <a:t>従来の半日工数が 10分 (人間の最終選定+調整) に圧縮</a:t>
            </a:r>
          </a:p>
        </p:txBody>
      </p:sp>
      <p:sp>
        <p:nvSpPr>
          <p:cNvPr id="13" name="Rounded Rectangle 12"/>
          <p:cNvSpPr/>
          <p:nvPr/>
        </p:nvSpPr>
        <p:spPr>
          <a:xfrm>
            <a:off x="548640" y="2313432"/>
            <a:ext cx="11109960" cy="9601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2313432"/>
            <a:ext cx="109728" cy="9601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2496312"/>
            <a:ext cx="731520" cy="640080"/>
          </a:xfrm>
          <a:prstGeom prst="rect">
            <a:avLst/>
          </a:prstGeom>
          <a:noFill/>
        </p:spPr>
        <p:txBody>
          <a:bodyPr wrap="square" anchor="t" lIns="0" rIns="0" tIns="0" bIns="0">
            <a:spAutoFit/>
          </a:bodyPr>
          <a:lstStyle/>
          <a:p>
            <a:pPr algn="l">
              <a:lnSpc>
                <a:spcPct val="115000"/>
              </a:lnSpc>
            </a:pPr>
            <a:r>
              <a:rPr sz="3200" b="1">
                <a:solidFill>
                  <a:srgbClr val="E87722"/>
                </a:solidFill>
                <a:latin typeface="Helvetica Neue"/>
                <a:ea typeface="Helvetica Neue"/>
                <a:cs typeface="Helvetica Neue"/>
              </a:rPr>
              <a:t>02</a:t>
            </a:r>
          </a:p>
        </p:txBody>
      </p:sp>
      <p:sp>
        <p:nvSpPr>
          <p:cNvPr id="16" name="TextBox 15"/>
          <p:cNvSpPr txBox="1"/>
          <p:nvPr/>
        </p:nvSpPr>
        <p:spPr>
          <a:xfrm>
            <a:off x="1737360" y="2478024"/>
            <a:ext cx="9601200" cy="365760"/>
          </a:xfrm>
          <a:prstGeom prst="rect">
            <a:avLst/>
          </a:prstGeom>
          <a:noFill/>
        </p:spPr>
        <p:txBody>
          <a:bodyPr wrap="square" anchor="t" lIns="0" rIns="0" tIns="0" bIns="0">
            <a:spAutoFit/>
          </a:bodyPr>
          <a:lstStyle/>
          <a:p>
            <a:pPr algn="l">
              <a:lnSpc>
                <a:spcPct val="115000"/>
              </a:lnSpc>
            </a:pPr>
            <a:r>
              <a:rPr sz="1500" b="1">
                <a:solidFill>
                  <a:srgbClr val="0F2A4F"/>
                </a:solidFill>
                <a:latin typeface="Hiragino Sans"/>
                <a:ea typeface="Hiragino Sans"/>
                <a:cs typeface="Hiragino Sans"/>
              </a:rPr>
              <a:t>画像生成で訴求軸の量産が現実的に</a:t>
            </a:r>
          </a:p>
        </p:txBody>
      </p:sp>
      <p:sp>
        <p:nvSpPr>
          <p:cNvPr id="17" name="TextBox 16"/>
          <p:cNvSpPr txBox="1"/>
          <p:nvPr/>
        </p:nvSpPr>
        <p:spPr>
          <a:xfrm>
            <a:off x="1737360" y="2816352"/>
            <a:ext cx="9692640" cy="457200"/>
          </a:xfrm>
          <a:prstGeom prst="rect">
            <a:avLst/>
          </a:prstGeom>
          <a:noFill/>
        </p:spPr>
        <p:txBody>
          <a:bodyPr wrap="square" anchor="t" lIns="0" rIns="0" tIns="0" bIns="0">
            <a:spAutoFit/>
          </a:bodyPr>
          <a:lstStyle/>
          <a:p>
            <a:pPr algn="l">
              <a:lnSpc>
                <a:spcPct val="150000"/>
              </a:lnSpc>
            </a:pPr>
            <a:r>
              <a:rPr sz="1000" b="0">
                <a:solidFill>
                  <a:srgbClr val="1A1A1A"/>
                </a:solidFill>
                <a:latin typeface="Hiragino Sans"/>
                <a:ea typeface="Hiragino Sans"/>
                <a:cs typeface="Hiragino Sans"/>
              </a:rPr>
              <a:t>1案件あたり 訴求軸ごとに 10-20本の画像クリエイティブ → 学習データ量が桁違い。</a:t>
            </a:r>
          </a:p>
          <a:p>
            <a:pPr algn="l">
              <a:lnSpc>
                <a:spcPct val="150000"/>
              </a:lnSpc>
            </a:pPr>
            <a:r>
              <a:rPr sz="1000" b="0">
                <a:solidFill>
                  <a:srgbClr val="1A1A1A"/>
                </a:solidFill>
                <a:latin typeface="Hiragino Sans"/>
                <a:ea typeface="Hiragino Sans"/>
                <a:cs typeface="Hiragino Sans"/>
              </a:rPr>
              <a:t>Smart+ / Advantage+ がより精度高く配信できるように</a:t>
            </a:r>
          </a:p>
        </p:txBody>
      </p:sp>
      <p:sp>
        <p:nvSpPr>
          <p:cNvPr id="18" name="Rounded Rectangle 17"/>
          <p:cNvSpPr/>
          <p:nvPr/>
        </p:nvSpPr>
        <p:spPr>
          <a:xfrm>
            <a:off x="548640" y="3300984"/>
            <a:ext cx="11109960" cy="9601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300984"/>
            <a:ext cx="109728" cy="9601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3483864"/>
            <a:ext cx="731520" cy="640080"/>
          </a:xfrm>
          <a:prstGeom prst="rect">
            <a:avLst/>
          </a:prstGeom>
          <a:noFill/>
        </p:spPr>
        <p:txBody>
          <a:bodyPr wrap="square" anchor="t" lIns="0" rIns="0" tIns="0" bIns="0">
            <a:spAutoFit/>
          </a:bodyPr>
          <a:lstStyle/>
          <a:p>
            <a:pPr algn="l">
              <a:lnSpc>
                <a:spcPct val="115000"/>
              </a:lnSpc>
            </a:pPr>
            <a:r>
              <a:rPr sz="3200" b="1">
                <a:solidFill>
                  <a:srgbClr val="E87722"/>
                </a:solidFill>
                <a:latin typeface="Helvetica Neue"/>
                <a:ea typeface="Helvetica Neue"/>
                <a:cs typeface="Helvetica Neue"/>
              </a:rPr>
              <a:t>03</a:t>
            </a:r>
          </a:p>
        </p:txBody>
      </p:sp>
      <p:sp>
        <p:nvSpPr>
          <p:cNvPr id="21" name="TextBox 20"/>
          <p:cNvSpPr txBox="1"/>
          <p:nvPr/>
        </p:nvSpPr>
        <p:spPr>
          <a:xfrm>
            <a:off x="1737360" y="3465576"/>
            <a:ext cx="9601200" cy="365760"/>
          </a:xfrm>
          <a:prstGeom prst="rect">
            <a:avLst/>
          </a:prstGeom>
          <a:noFill/>
        </p:spPr>
        <p:txBody>
          <a:bodyPr wrap="square" anchor="t" lIns="0" rIns="0" tIns="0" bIns="0">
            <a:spAutoFit/>
          </a:bodyPr>
          <a:lstStyle/>
          <a:p>
            <a:pPr algn="l">
              <a:lnSpc>
                <a:spcPct val="115000"/>
              </a:lnSpc>
            </a:pPr>
            <a:r>
              <a:rPr sz="1500" b="1">
                <a:solidFill>
                  <a:srgbClr val="0F2A4F"/>
                </a:solidFill>
                <a:latin typeface="Hiragino Sans"/>
                <a:ea typeface="Hiragino Sans"/>
                <a:cs typeface="Hiragino Sans"/>
              </a:rPr>
              <a:t>動画生成 (Sora 2 / Veo 3) で短尺動画が量産可</a:t>
            </a:r>
          </a:p>
        </p:txBody>
      </p:sp>
      <p:sp>
        <p:nvSpPr>
          <p:cNvPr id="22" name="TextBox 21"/>
          <p:cNvSpPr txBox="1"/>
          <p:nvPr/>
        </p:nvSpPr>
        <p:spPr>
          <a:xfrm>
            <a:off x="1737360" y="3803904"/>
            <a:ext cx="9692640" cy="457200"/>
          </a:xfrm>
          <a:prstGeom prst="rect">
            <a:avLst/>
          </a:prstGeom>
          <a:noFill/>
        </p:spPr>
        <p:txBody>
          <a:bodyPr wrap="square" anchor="t" lIns="0" rIns="0" tIns="0" bIns="0">
            <a:spAutoFit/>
          </a:bodyPr>
          <a:lstStyle/>
          <a:p>
            <a:pPr algn="l">
              <a:lnSpc>
                <a:spcPct val="150000"/>
              </a:lnSpc>
            </a:pPr>
            <a:r>
              <a:rPr sz="1000" b="0">
                <a:solidFill>
                  <a:srgbClr val="1A1A1A"/>
                </a:solidFill>
                <a:latin typeface="Hiragino Sans"/>
                <a:ea typeface="Hiragino Sans"/>
                <a:cs typeface="Hiragino Sans"/>
              </a:rPr>
              <a:t>テキスト → 5-10秒動画が数百円〜数千円。</a:t>
            </a:r>
          </a:p>
          <a:p>
            <a:pPr algn="l">
              <a:lnSpc>
                <a:spcPct val="150000"/>
              </a:lnSpc>
            </a:pPr>
            <a:r>
              <a:rPr sz="1000" b="0">
                <a:solidFill>
                  <a:srgbClr val="1A1A1A"/>
                </a:solidFill>
                <a:latin typeface="Hiragino Sans"/>
                <a:ea typeface="Hiragino Sans"/>
                <a:cs typeface="Hiragino Sans"/>
              </a:rPr>
              <a:t>TikTok / Shorts / Reels の縦型素材を1日で20本作成可能に</a:t>
            </a:r>
          </a:p>
        </p:txBody>
      </p:sp>
      <p:sp>
        <p:nvSpPr>
          <p:cNvPr id="23" name="Rounded Rectangle 22"/>
          <p:cNvSpPr/>
          <p:nvPr/>
        </p:nvSpPr>
        <p:spPr>
          <a:xfrm>
            <a:off x="548640" y="4288536"/>
            <a:ext cx="11109960" cy="9601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4288536"/>
            <a:ext cx="109728" cy="9601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 y="4471416"/>
            <a:ext cx="731520" cy="640080"/>
          </a:xfrm>
          <a:prstGeom prst="rect">
            <a:avLst/>
          </a:prstGeom>
          <a:noFill/>
        </p:spPr>
        <p:txBody>
          <a:bodyPr wrap="square" anchor="t" lIns="0" rIns="0" tIns="0" bIns="0">
            <a:spAutoFit/>
          </a:bodyPr>
          <a:lstStyle/>
          <a:p>
            <a:pPr algn="l">
              <a:lnSpc>
                <a:spcPct val="115000"/>
              </a:lnSpc>
            </a:pPr>
            <a:r>
              <a:rPr sz="3200" b="1">
                <a:solidFill>
                  <a:srgbClr val="E87722"/>
                </a:solidFill>
                <a:latin typeface="Helvetica Neue"/>
                <a:ea typeface="Helvetica Neue"/>
                <a:cs typeface="Helvetica Neue"/>
              </a:rPr>
              <a:t>04</a:t>
            </a:r>
          </a:p>
        </p:txBody>
      </p:sp>
      <p:sp>
        <p:nvSpPr>
          <p:cNvPr id="26" name="TextBox 25"/>
          <p:cNvSpPr txBox="1"/>
          <p:nvPr/>
        </p:nvSpPr>
        <p:spPr>
          <a:xfrm>
            <a:off x="1737360" y="4453128"/>
            <a:ext cx="9601200" cy="365760"/>
          </a:xfrm>
          <a:prstGeom prst="rect">
            <a:avLst/>
          </a:prstGeom>
          <a:noFill/>
        </p:spPr>
        <p:txBody>
          <a:bodyPr wrap="square" anchor="t" lIns="0" rIns="0" tIns="0" bIns="0">
            <a:spAutoFit/>
          </a:bodyPr>
          <a:lstStyle/>
          <a:p>
            <a:pPr algn="l">
              <a:lnSpc>
                <a:spcPct val="115000"/>
              </a:lnSpc>
            </a:pPr>
            <a:r>
              <a:rPr sz="1500" b="1">
                <a:solidFill>
                  <a:srgbClr val="0F2A4F"/>
                </a:solidFill>
                <a:latin typeface="Hiragino Sans"/>
                <a:ea typeface="Hiragino Sans"/>
                <a:cs typeface="Hiragino Sans"/>
              </a:rPr>
              <a:t>媒体ネイティブAI生成が標準装備</a:t>
            </a:r>
          </a:p>
        </p:txBody>
      </p:sp>
      <p:sp>
        <p:nvSpPr>
          <p:cNvPr id="27" name="TextBox 26"/>
          <p:cNvSpPr txBox="1"/>
          <p:nvPr/>
        </p:nvSpPr>
        <p:spPr>
          <a:xfrm>
            <a:off x="1737360" y="4791456"/>
            <a:ext cx="9692640" cy="457200"/>
          </a:xfrm>
          <a:prstGeom prst="rect">
            <a:avLst/>
          </a:prstGeom>
          <a:noFill/>
        </p:spPr>
        <p:txBody>
          <a:bodyPr wrap="square" anchor="t" lIns="0" rIns="0" tIns="0" bIns="0">
            <a:spAutoFit/>
          </a:bodyPr>
          <a:lstStyle/>
          <a:p>
            <a:pPr algn="l">
              <a:lnSpc>
                <a:spcPct val="150000"/>
              </a:lnSpc>
            </a:pPr>
            <a:r>
              <a:rPr sz="1000" b="0">
                <a:solidFill>
                  <a:srgbClr val="1A1A1A"/>
                </a:solidFill>
                <a:latin typeface="Hiragino Sans"/>
                <a:ea typeface="Hiragino Sans"/>
                <a:cs typeface="Hiragino Sans"/>
              </a:rPr>
              <a:t>Advantage+ Creative (Meta) / Symphony (TikTok) / Gemini in Ads (Google)。</a:t>
            </a:r>
          </a:p>
          <a:p>
            <a:pPr algn="l">
              <a:lnSpc>
                <a:spcPct val="150000"/>
              </a:lnSpc>
            </a:pPr>
            <a:r>
              <a:rPr sz="1000" b="0">
                <a:solidFill>
                  <a:srgbClr val="1A1A1A"/>
                </a:solidFill>
                <a:latin typeface="Hiragino Sans"/>
                <a:ea typeface="Hiragino Sans"/>
                <a:cs typeface="Hiragino Sans"/>
              </a:rPr>
              <a:t>広告管理画面内で生成完結 → 外部ツールが不要なケースも</a:t>
            </a:r>
          </a:p>
        </p:txBody>
      </p:sp>
      <p:sp>
        <p:nvSpPr>
          <p:cNvPr id="28" name="Rounded Rectangle 27"/>
          <p:cNvSpPr/>
          <p:nvPr/>
        </p:nvSpPr>
        <p:spPr>
          <a:xfrm>
            <a:off x="548640" y="5276088"/>
            <a:ext cx="11109960" cy="9601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5276088"/>
            <a:ext cx="109728" cy="9601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5458968"/>
            <a:ext cx="731520" cy="640080"/>
          </a:xfrm>
          <a:prstGeom prst="rect">
            <a:avLst/>
          </a:prstGeom>
          <a:noFill/>
        </p:spPr>
        <p:txBody>
          <a:bodyPr wrap="square" anchor="t" lIns="0" rIns="0" tIns="0" bIns="0">
            <a:spAutoFit/>
          </a:bodyPr>
          <a:lstStyle/>
          <a:p>
            <a:pPr algn="l">
              <a:lnSpc>
                <a:spcPct val="115000"/>
              </a:lnSpc>
            </a:pPr>
            <a:r>
              <a:rPr sz="3200" b="1">
                <a:solidFill>
                  <a:srgbClr val="E87722"/>
                </a:solidFill>
                <a:latin typeface="Helvetica Neue"/>
                <a:ea typeface="Helvetica Neue"/>
                <a:cs typeface="Helvetica Neue"/>
              </a:rPr>
              <a:t>05</a:t>
            </a:r>
          </a:p>
        </p:txBody>
      </p:sp>
      <p:sp>
        <p:nvSpPr>
          <p:cNvPr id="31" name="TextBox 30"/>
          <p:cNvSpPr txBox="1"/>
          <p:nvPr/>
        </p:nvSpPr>
        <p:spPr>
          <a:xfrm>
            <a:off x="1737360" y="5440680"/>
            <a:ext cx="9601200" cy="365760"/>
          </a:xfrm>
          <a:prstGeom prst="rect">
            <a:avLst/>
          </a:prstGeom>
          <a:noFill/>
        </p:spPr>
        <p:txBody>
          <a:bodyPr wrap="square" anchor="t" lIns="0" rIns="0" tIns="0" bIns="0">
            <a:spAutoFit/>
          </a:bodyPr>
          <a:lstStyle/>
          <a:p>
            <a:pPr algn="l">
              <a:lnSpc>
                <a:spcPct val="115000"/>
              </a:lnSpc>
            </a:pPr>
            <a:r>
              <a:rPr sz="1500" b="1">
                <a:solidFill>
                  <a:srgbClr val="0F2A4F"/>
                </a:solidFill>
                <a:latin typeface="Hiragino Sans"/>
                <a:ea typeface="Hiragino Sans"/>
                <a:cs typeface="Hiragino Sans"/>
              </a:rPr>
              <a:t>副業代行の利益率が劇的改善</a:t>
            </a:r>
          </a:p>
        </p:txBody>
      </p:sp>
      <p:sp>
        <p:nvSpPr>
          <p:cNvPr id="32" name="TextBox 31"/>
          <p:cNvSpPr txBox="1"/>
          <p:nvPr/>
        </p:nvSpPr>
        <p:spPr>
          <a:xfrm>
            <a:off x="1737360" y="5779008"/>
            <a:ext cx="9692640" cy="457200"/>
          </a:xfrm>
          <a:prstGeom prst="rect">
            <a:avLst/>
          </a:prstGeom>
          <a:noFill/>
        </p:spPr>
        <p:txBody>
          <a:bodyPr wrap="square" anchor="t" lIns="0" rIns="0" tIns="0" bIns="0">
            <a:spAutoFit/>
          </a:bodyPr>
          <a:lstStyle/>
          <a:p>
            <a:pPr algn="l">
              <a:lnSpc>
                <a:spcPct val="150000"/>
              </a:lnSpc>
            </a:pPr>
            <a:r>
              <a:rPr sz="1000" b="0">
                <a:solidFill>
                  <a:srgbClr val="1A1A1A"/>
                </a:solidFill>
                <a:latin typeface="Hiragino Sans"/>
                <a:ea typeface="Hiragino Sans"/>
                <a:cs typeface="Hiragino Sans"/>
              </a:rPr>
              <a:t>クリエイティブ制作の外注費が大幅削減 (デザイナー外注 数万円 → AI 数百円)。</a:t>
            </a:r>
          </a:p>
          <a:p>
            <a:pPr algn="l">
              <a:lnSpc>
                <a:spcPct val="150000"/>
              </a:lnSpc>
            </a:pPr>
            <a:r>
              <a:rPr sz="1000" b="0">
                <a:solidFill>
                  <a:srgbClr val="1A1A1A"/>
                </a:solidFill>
                <a:latin typeface="Hiragino Sans"/>
                <a:ea typeface="Hiragino Sans"/>
                <a:cs typeface="Hiragino Sans"/>
              </a:rPr>
              <a:t>1人で月10-20クライアント対応も実現可能に</a:t>
            </a:r>
          </a:p>
        </p:txBody>
      </p:sp>
      <p:sp>
        <p:nvSpPr>
          <p:cNvPr id="33" name="TextBox 32"/>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コピー生成 : ChatGPT (OpenAI)</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デファクト標準・幅広いユースケース</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P169 / 250</a:t>
            </a:r>
          </a:p>
        </p:txBody>
      </p:sp>
      <p:sp>
        <p:nvSpPr>
          <p:cNvPr id="8" name="TextBox 7"/>
          <p:cNvSpPr txBox="1"/>
          <p:nvPr/>
        </p:nvSpPr>
        <p:spPr>
          <a:xfrm>
            <a:off x="548640" y="1417320"/>
            <a:ext cx="1097280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主要モデル (2026年現在)</a:t>
            </a:r>
          </a:p>
        </p:txBody>
      </p:sp>
      <p:sp>
        <p:nvSpPr>
          <p:cNvPr id="9" name="Rounded Rectangle 8"/>
          <p:cNvSpPr/>
          <p:nvPr/>
        </p:nvSpPr>
        <p:spPr>
          <a:xfrm>
            <a:off x="548640" y="1828800"/>
            <a:ext cx="2697480" cy="13716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828800"/>
            <a:ext cx="26974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057400"/>
            <a:ext cx="2331720" cy="365760"/>
          </a:xfrm>
          <a:prstGeom prst="rect">
            <a:avLst/>
          </a:prstGeom>
          <a:noFill/>
        </p:spPr>
        <p:txBody>
          <a:bodyPr wrap="square" anchor="t" lIns="0" rIns="0" tIns="0" bIns="0">
            <a:spAutoFit/>
          </a:bodyPr>
          <a:lstStyle/>
          <a:p>
            <a:pPr algn="ctr">
              <a:lnSpc>
                <a:spcPct val="115000"/>
              </a:lnSpc>
            </a:pPr>
            <a:r>
              <a:rPr sz="1400" b="1">
                <a:solidFill>
                  <a:srgbClr val="0F2A4F"/>
                </a:solidFill>
                <a:latin typeface="Helvetica Neue"/>
                <a:ea typeface="Helvetica Neue"/>
                <a:cs typeface="Helvetica Neue"/>
              </a:rPr>
              <a:t>GPT-5</a:t>
            </a:r>
          </a:p>
        </p:txBody>
      </p:sp>
      <p:sp>
        <p:nvSpPr>
          <p:cNvPr id="12" name="TextBox 11"/>
          <p:cNvSpPr txBox="1"/>
          <p:nvPr/>
        </p:nvSpPr>
        <p:spPr>
          <a:xfrm>
            <a:off x="731520" y="2468880"/>
            <a:ext cx="2331720" cy="274320"/>
          </a:xfrm>
          <a:prstGeom prst="rect">
            <a:avLst/>
          </a:prstGeom>
          <a:noFill/>
        </p:spPr>
        <p:txBody>
          <a:bodyPr wrap="square" anchor="t" lIns="0" rIns="0" tIns="0" bIns="0">
            <a:spAutoFit/>
          </a:bodyPr>
          <a:lstStyle/>
          <a:p>
            <a:pPr algn="ctr">
              <a:lnSpc>
                <a:spcPct val="115000"/>
              </a:lnSpc>
            </a:pPr>
            <a:r>
              <a:rPr sz="1000" b="1">
                <a:solidFill>
                  <a:srgbClr val="B85E1A"/>
                </a:solidFill>
                <a:latin typeface="Hiragino Sans"/>
                <a:ea typeface="Hiragino Sans"/>
                <a:cs typeface="Hiragino Sans"/>
              </a:rPr>
              <a:t>最高性能</a:t>
            </a:r>
          </a:p>
        </p:txBody>
      </p:sp>
      <p:sp>
        <p:nvSpPr>
          <p:cNvPr id="13" name="TextBox 12"/>
          <p:cNvSpPr txBox="1"/>
          <p:nvPr/>
        </p:nvSpPr>
        <p:spPr>
          <a:xfrm>
            <a:off x="731520" y="2788920"/>
            <a:ext cx="2331720" cy="365760"/>
          </a:xfrm>
          <a:prstGeom prst="rect">
            <a:avLst/>
          </a:prstGeom>
          <a:noFill/>
        </p:spPr>
        <p:txBody>
          <a:bodyPr wrap="square" anchor="t" lIns="0" rIns="0" tIns="0" bIns="0">
            <a:spAutoFit/>
          </a:bodyPr>
          <a:lstStyle/>
          <a:p>
            <a:pPr algn="ctr">
              <a:lnSpc>
                <a:spcPct val="150000"/>
              </a:lnSpc>
            </a:pPr>
            <a:r>
              <a:rPr sz="1000" b="0">
                <a:solidFill>
                  <a:srgbClr val="1A1A1A"/>
                </a:solidFill>
                <a:latin typeface="Hiragino Sans"/>
                <a:ea typeface="Hiragino Sans"/>
                <a:cs typeface="Hiragino Sans"/>
              </a:rPr>
              <a:t>推論・コード・長文</a:t>
            </a:r>
          </a:p>
        </p:txBody>
      </p:sp>
      <p:sp>
        <p:nvSpPr>
          <p:cNvPr id="14" name="Rounded Rectangle 13"/>
          <p:cNvSpPr/>
          <p:nvPr/>
        </p:nvSpPr>
        <p:spPr>
          <a:xfrm>
            <a:off x="3337560" y="1828800"/>
            <a:ext cx="2697480" cy="13716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37560" y="1828800"/>
            <a:ext cx="26974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20440" y="2057400"/>
            <a:ext cx="2331720" cy="365760"/>
          </a:xfrm>
          <a:prstGeom prst="rect">
            <a:avLst/>
          </a:prstGeom>
          <a:noFill/>
        </p:spPr>
        <p:txBody>
          <a:bodyPr wrap="square" anchor="t" lIns="0" rIns="0" tIns="0" bIns="0">
            <a:spAutoFit/>
          </a:bodyPr>
          <a:lstStyle/>
          <a:p>
            <a:pPr algn="ctr">
              <a:lnSpc>
                <a:spcPct val="115000"/>
              </a:lnSpc>
            </a:pPr>
            <a:r>
              <a:rPr sz="1400" b="1">
                <a:solidFill>
                  <a:srgbClr val="0F2A4F"/>
                </a:solidFill>
                <a:latin typeface="Helvetica Neue"/>
                <a:ea typeface="Helvetica Neue"/>
                <a:cs typeface="Helvetica Neue"/>
              </a:rPr>
              <a:t>GPT-5 mini</a:t>
            </a:r>
          </a:p>
        </p:txBody>
      </p:sp>
      <p:sp>
        <p:nvSpPr>
          <p:cNvPr id="17" name="TextBox 16"/>
          <p:cNvSpPr txBox="1"/>
          <p:nvPr/>
        </p:nvSpPr>
        <p:spPr>
          <a:xfrm>
            <a:off x="3520440" y="2468880"/>
            <a:ext cx="2331720" cy="274320"/>
          </a:xfrm>
          <a:prstGeom prst="rect">
            <a:avLst/>
          </a:prstGeom>
          <a:noFill/>
        </p:spPr>
        <p:txBody>
          <a:bodyPr wrap="square" anchor="t" lIns="0" rIns="0" tIns="0" bIns="0">
            <a:spAutoFit/>
          </a:bodyPr>
          <a:lstStyle/>
          <a:p>
            <a:pPr algn="ctr">
              <a:lnSpc>
                <a:spcPct val="115000"/>
              </a:lnSpc>
            </a:pPr>
            <a:r>
              <a:rPr sz="1000" b="1">
                <a:solidFill>
                  <a:srgbClr val="B85E1A"/>
                </a:solidFill>
                <a:latin typeface="Hiragino Sans"/>
                <a:ea typeface="Hiragino Sans"/>
                <a:cs typeface="Hiragino Sans"/>
              </a:rPr>
              <a:t>高速・コスパ</a:t>
            </a:r>
          </a:p>
        </p:txBody>
      </p:sp>
      <p:sp>
        <p:nvSpPr>
          <p:cNvPr id="18" name="TextBox 17"/>
          <p:cNvSpPr txBox="1"/>
          <p:nvPr/>
        </p:nvSpPr>
        <p:spPr>
          <a:xfrm>
            <a:off x="3520440" y="2788920"/>
            <a:ext cx="2331720" cy="365760"/>
          </a:xfrm>
          <a:prstGeom prst="rect">
            <a:avLst/>
          </a:prstGeom>
          <a:noFill/>
        </p:spPr>
        <p:txBody>
          <a:bodyPr wrap="square" anchor="t" lIns="0" rIns="0" tIns="0" bIns="0">
            <a:spAutoFit/>
          </a:bodyPr>
          <a:lstStyle/>
          <a:p>
            <a:pPr algn="ctr">
              <a:lnSpc>
                <a:spcPct val="150000"/>
              </a:lnSpc>
            </a:pPr>
            <a:r>
              <a:rPr sz="1000" b="0">
                <a:solidFill>
                  <a:srgbClr val="1A1A1A"/>
                </a:solidFill>
                <a:latin typeface="Hiragino Sans"/>
                <a:ea typeface="Hiragino Sans"/>
                <a:cs typeface="Hiragino Sans"/>
              </a:rPr>
              <a:t>大量処理向け</a:t>
            </a:r>
          </a:p>
        </p:txBody>
      </p:sp>
      <p:sp>
        <p:nvSpPr>
          <p:cNvPr id="19" name="Rounded Rectangle 18"/>
          <p:cNvSpPr/>
          <p:nvPr/>
        </p:nvSpPr>
        <p:spPr>
          <a:xfrm>
            <a:off x="6126480" y="1828800"/>
            <a:ext cx="2697480" cy="13716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26480" y="1828800"/>
            <a:ext cx="26974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9360" y="2057400"/>
            <a:ext cx="2331720" cy="365760"/>
          </a:xfrm>
          <a:prstGeom prst="rect">
            <a:avLst/>
          </a:prstGeom>
          <a:noFill/>
        </p:spPr>
        <p:txBody>
          <a:bodyPr wrap="square" anchor="t" lIns="0" rIns="0" tIns="0" bIns="0">
            <a:spAutoFit/>
          </a:bodyPr>
          <a:lstStyle/>
          <a:p>
            <a:pPr algn="ctr">
              <a:lnSpc>
                <a:spcPct val="115000"/>
              </a:lnSpc>
            </a:pPr>
            <a:r>
              <a:rPr sz="1400" b="1">
                <a:solidFill>
                  <a:srgbClr val="0F2A4F"/>
                </a:solidFill>
                <a:latin typeface="Helvetica Neue"/>
                <a:ea typeface="Helvetica Neue"/>
                <a:cs typeface="Helvetica Neue"/>
              </a:rPr>
              <a:t>o4</a:t>
            </a:r>
          </a:p>
        </p:txBody>
      </p:sp>
      <p:sp>
        <p:nvSpPr>
          <p:cNvPr id="22" name="TextBox 21"/>
          <p:cNvSpPr txBox="1"/>
          <p:nvPr/>
        </p:nvSpPr>
        <p:spPr>
          <a:xfrm>
            <a:off x="6309360" y="2468880"/>
            <a:ext cx="2331720" cy="274320"/>
          </a:xfrm>
          <a:prstGeom prst="rect">
            <a:avLst/>
          </a:prstGeom>
          <a:noFill/>
        </p:spPr>
        <p:txBody>
          <a:bodyPr wrap="square" anchor="t" lIns="0" rIns="0" tIns="0" bIns="0">
            <a:spAutoFit/>
          </a:bodyPr>
          <a:lstStyle/>
          <a:p>
            <a:pPr algn="ctr">
              <a:lnSpc>
                <a:spcPct val="115000"/>
              </a:lnSpc>
            </a:pPr>
            <a:r>
              <a:rPr sz="1000" b="1">
                <a:solidFill>
                  <a:srgbClr val="B85E1A"/>
                </a:solidFill>
                <a:latin typeface="Hiragino Sans"/>
                <a:ea typeface="Hiragino Sans"/>
                <a:cs typeface="Hiragino Sans"/>
              </a:rPr>
              <a:t>深い推論</a:t>
            </a:r>
          </a:p>
        </p:txBody>
      </p:sp>
      <p:sp>
        <p:nvSpPr>
          <p:cNvPr id="23" name="TextBox 22"/>
          <p:cNvSpPr txBox="1"/>
          <p:nvPr/>
        </p:nvSpPr>
        <p:spPr>
          <a:xfrm>
            <a:off x="6309360" y="2788920"/>
            <a:ext cx="2331720" cy="365760"/>
          </a:xfrm>
          <a:prstGeom prst="rect">
            <a:avLst/>
          </a:prstGeom>
          <a:noFill/>
        </p:spPr>
        <p:txBody>
          <a:bodyPr wrap="square" anchor="t" lIns="0" rIns="0" tIns="0" bIns="0">
            <a:spAutoFit/>
          </a:bodyPr>
          <a:lstStyle/>
          <a:p>
            <a:pPr algn="ctr">
              <a:lnSpc>
                <a:spcPct val="150000"/>
              </a:lnSpc>
            </a:pPr>
            <a:r>
              <a:rPr sz="1000" b="0">
                <a:solidFill>
                  <a:srgbClr val="1A1A1A"/>
                </a:solidFill>
                <a:latin typeface="Hiragino Sans"/>
                <a:ea typeface="Hiragino Sans"/>
                <a:cs typeface="Hiragino Sans"/>
              </a:rPr>
              <a:t>戦略立案・分析</a:t>
            </a:r>
          </a:p>
        </p:txBody>
      </p:sp>
      <p:sp>
        <p:nvSpPr>
          <p:cNvPr id="24" name="Rounded Rectangle 23"/>
          <p:cNvSpPr/>
          <p:nvPr/>
        </p:nvSpPr>
        <p:spPr>
          <a:xfrm>
            <a:off x="8915400" y="1828800"/>
            <a:ext cx="2697480" cy="13716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915400" y="1828800"/>
            <a:ext cx="26974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98280" y="2057400"/>
            <a:ext cx="2331720" cy="365760"/>
          </a:xfrm>
          <a:prstGeom prst="rect">
            <a:avLst/>
          </a:prstGeom>
          <a:noFill/>
        </p:spPr>
        <p:txBody>
          <a:bodyPr wrap="square" anchor="t" lIns="0" rIns="0" tIns="0" bIns="0">
            <a:spAutoFit/>
          </a:bodyPr>
          <a:lstStyle/>
          <a:p>
            <a:pPr algn="ctr">
              <a:lnSpc>
                <a:spcPct val="115000"/>
              </a:lnSpc>
            </a:pPr>
            <a:r>
              <a:rPr sz="1400" b="1">
                <a:solidFill>
                  <a:srgbClr val="0F2A4F"/>
                </a:solidFill>
                <a:latin typeface="Helvetica Neue"/>
                <a:ea typeface="Helvetica Neue"/>
                <a:cs typeface="Helvetica Neue"/>
              </a:rPr>
              <a:t>GPT-Image</a:t>
            </a:r>
          </a:p>
        </p:txBody>
      </p:sp>
      <p:sp>
        <p:nvSpPr>
          <p:cNvPr id="27" name="TextBox 26"/>
          <p:cNvSpPr txBox="1"/>
          <p:nvPr/>
        </p:nvSpPr>
        <p:spPr>
          <a:xfrm>
            <a:off x="9098280" y="2468880"/>
            <a:ext cx="2331720" cy="274320"/>
          </a:xfrm>
          <a:prstGeom prst="rect">
            <a:avLst/>
          </a:prstGeom>
          <a:noFill/>
        </p:spPr>
        <p:txBody>
          <a:bodyPr wrap="square" anchor="t" lIns="0" rIns="0" tIns="0" bIns="0">
            <a:spAutoFit/>
          </a:bodyPr>
          <a:lstStyle/>
          <a:p>
            <a:pPr algn="ctr">
              <a:lnSpc>
                <a:spcPct val="115000"/>
              </a:lnSpc>
            </a:pPr>
            <a:r>
              <a:rPr sz="1000" b="1">
                <a:solidFill>
                  <a:srgbClr val="B85E1A"/>
                </a:solidFill>
                <a:latin typeface="Hiragino Sans"/>
                <a:ea typeface="Hiragino Sans"/>
                <a:cs typeface="Hiragino Sans"/>
              </a:rPr>
              <a:t>画像生成統合</a:t>
            </a:r>
          </a:p>
        </p:txBody>
      </p:sp>
      <p:sp>
        <p:nvSpPr>
          <p:cNvPr id="28" name="TextBox 27"/>
          <p:cNvSpPr txBox="1"/>
          <p:nvPr/>
        </p:nvSpPr>
        <p:spPr>
          <a:xfrm>
            <a:off x="9098280" y="2788920"/>
            <a:ext cx="2331720" cy="365760"/>
          </a:xfrm>
          <a:prstGeom prst="rect">
            <a:avLst/>
          </a:prstGeom>
          <a:noFill/>
        </p:spPr>
        <p:txBody>
          <a:bodyPr wrap="square" anchor="t" lIns="0" rIns="0" tIns="0" bIns="0">
            <a:spAutoFit/>
          </a:bodyPr>
          <a:lstStyle/>
          <a:p>
            <a:pPr algn="ctr">
              <a:lnSpc>
                <a:spcPct val="150000"/>
              </a:lnSpc>
            </a:pPr>
            <a:r>
              <a:rPr sz="1000" b="0">
                <a:solidFill>
                  <a:srgbClr val="1A1A1A"/>
                </a:solidFill>
                <a:latin typeface="Hiragino Sans"/>
                <a:ea typeface="Hiragino Sans"/>
                <a:cs typeface="Hiragino Sans"/>
              </a:rPr>
              <a:t>DALL-E後継</a:t>
            </a:r>
          </a:p>
        </p:txBody>
      </p:sp>
      <p:sp>
        <p:nvSpPr>
          <p:cNvPr id="29" name="TextBox 28"/>
          <p:cNvSpPr txBox="1"/>
          <p:nvPr/>
        </p:nvSpPr>
        <p:spPr>
          <a:xfrm>
            <a:off x="548640" y="3383280"/>
            <a:ext cx="1097280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広告運用代行でのユースケース</a:t>
            </a:r>
          </a:p>
        </p:txBody>
      </p:sp>
      <p:sp>
        <p:nvSpPr>
          <p:cNvPr id="30" name="Rectangle 29"/>
          <p:cNvSpPr/>
          <p:nvPr/>
        </p:nvSpPr>
        <p:spPr>
          <a:xfrm>
            <a:off x="548640" y="3749039"/>
            <a:ext cx="1110996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 y="3931920"/>
            <a:ext cx="27432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a:t>
            </a:r>
          </a:p>
        </p:txBody>
      </p:sp>
      <p:sp>
        <p:nvSpPr>
          <p:cNvPr id="32" name="TextBox 31"/>
          <p:cNvSpPr txBox="1"/>
          <p:nvPr/>
        </p:nvSpPr>
        <p:spPr>
          <a:xfrm>
            <a:off x="914400" y="3950208"/>
            <a:ext cx="274320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広告コピー量産</a:t>
            </a:r>
          </a:p>
        </p:txBody>
      </p:sp>
      <p:sp>
        <p:nvSpPr>
          <p:cNvPr id="33" name="TextBox 32"/>
          <p:cNvSpPr txBox="1"/>
          <p:nvPr/>
        </p:nvSpPr>
        <p:spPr>
          <a:xfrm>
            <a:off x="3657600" y="3950208"/>
            <a:ext cx="7772400" cy="274320"/>
          </a:xfrm>
          <a:prstGeom prst="rect">
            <a:avLst/>
          </a:prstGeom>
          <a:noFill/>
        </p:spPr>
        <p:txBody>
          <a:bodyPr wrap="square" anchor="t" lIns="0" rIns="0" tIns="0" bIns="0">
            <a:spAutoFit/>
          </a:bodyPr>
          <a:lstStyle/>
          <a:p>
            <a:pPr algn="l">
              <a:lnSpc>
                <a:spcPct val="115000"/>
              </a:lnSpc>
            </a:pPr>
            <a:r>
              <a:rPr sz="1100" b="0">
                <a:solidFill>
                  <a:srgbClr val="1A1A1A"/>
                </a:solidFill>
                <a:latin typeface="Hiragino Sans"/>
                <a:ea typeface="Hiragino Sans"/>
                <a:cs typeface="Hiragino Sans"/>
              </a:rPr>
              <a:t>見出し10案 + 説明文5案を1分で。RSA / Smart+ 投入用</a:t>
            </a:r>
          </a:p>
        </p:txBody>
      </p:sp>
      <p:sp>
        <p:nvSpPr>
          <p:cNvPr id="34" name="TextBox 33"/>
          <p:cNvSpPr txBox="1"/>
          <p:nvPr/>
        </p:nvSpPr>
        <p:spPr>
          <a:xfrm>
            <a:off x="640080" y="4315968"/>
            <a:ext cx="27432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a:t>
            </a:r>
          </a:p>
        </p:txBody>
      </p:sp>
      <p:sp>
        <p:nvSpPr>
          <p:cNvPr id="35" name="TextBox 34"/>
          <p:cNvSpPr txBox="1"/>
          <p:nvPr/>
        </p:nvSpPr>
        <p:spPr>
          <a:xfrm>
            <a:off x="914400" y="4334256"/>
            <a:ext cx="274320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LP原稿作成</a:t>
            </a:r>
          </a:p>
        </p:txBody>
      </p:sp>
      <p:sp>
        <p:nvSpPr>
          <p:cNvPr id="36" name="TextBox 35"/>
          <p:cNvSpPr txBox="1"/>
          <p:nvPr/>
        </p:nvSpPr>
        <p:spPr>
          <a:xfrm>
            <a:off x="3657600" y="4334256"/>
            <a:ext cx="7772400" cy="274320"/>
          </a:xfrm>
          <a:prstGeom prst="rect">
            <a:avLst/>
          </a:prstGeom>
          <a:noFill/>
        </p:spPr>
        <p:txBody>
          <a:bodyPr wrap="square" anchor="t" lIns="0" rIns="0" tIns="0" bIns="0">
            <a:spAutoFit/>
          </a:bodyPr>
          <a:lstStyle/>
          <a:p>
            <a:pPr algn="l">
              <a:lnSpc>
                <a:spcPct val="115000"/>
              </a:lnSpc>
            </a:pPr>
            <a:r>
              <a:rPr sz="1100" b="0">
                <a:solidFill>
                  <a:srgbClr val="1A1A1A"/>
                </a:solidFill>
                <a:latin typeface="Hiragino Sans"/>
                <a:ea typeface="Hiragino Sans"/>
                <a:cs typeface="Hiragino Sans"/>
              </a:rPr>
              <a:t>ヒアリングメモから LP の見出し+本文+CTAを生成</a:t>
            </a:r>
          </a:p>
        </p:txBody>
      </p:sp>
      <p:sp>
        <p:nvSpPr>
          <p:cNvPr id="37" name="TextBox 36"/>
          <p:cNvSpPr txBox="1"/>
          <p:nvPr/>
        </p:nvSpPr>
        <p:spPr>
          <a:xfrm>
            <a:off x="640080" y="4700016"/>
            <a:ext cx="27432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a:t>
            </a:r>
          </a:p>
        </p:txBody>
      </p:sp>
      <p:sp>
        <p:nvSpPr>
          <p:cNvPr id="38" name="TextBox 37"/>
          <p:cNvSpPr txBox="1"/>
          <p:nvPr/>
        </p:nvSpPr>
        <p:spPr>
          <a:xfrm>
            <a:off x="914400" y="4718304"/>
            <a:ext cx="274320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検索クエリ分析</a:t>
            </a:r>
          </a:p>
        </p:txBody>
      </p:sp>
      <p:sp>
        <p:nvSpPr>
          <p:cNvPr id="39" name="TextBox 38"/>
          <p:cNvSpPr txBox="1"/>
          <p:nvPr/>
        </p:nvSpPr>
        <p:spPr>
          <a:xfrm>
            <a:off x="3657600" y="4718304"/>
            <a:ext cx="7772400" cy="274320"/>
          </a:xfrm>
          <a:prstGeom prst="rect">
            <a:avLst/>
          </a:prstGeom>
          <a:noFill/>
        </p:spPr>
        <p:txBody>
          <a:bodyPr wrap="square" anchor="t" lIns="0" rIns="0" tIns="0" bIns="0">
            <a:spAutoFit/>
          </a:bodyPr>
          <a:lstStyle/>
          <a:p>
            <a:pPr algn="l">
              <a:lnSpc>
                <a:spcPct val="115000"/>
              </a:lnSpc>
            </a:pPr>
            <a:r>
              <a:rPr sz="1100" b="0">
                <a:solidFill>
                  <a:srgbClr val="1A1A1A"/>
                </a:solidFill>
                <a:latin typeface="Hiragino Sans"/>
                <a:ea typeface="Hiragino Sans"/>
                <a:cs typeface="Hiragino Sans"/>
              </a:rPr>
              <a:t>Search Terms Reportを貼って『無駄クエリ + 追加すべきクエリ』提案</a:t>
            </a:r>
          </a:p>
        </p:txBody>
      </p:sp>
      <p:sp>
        <p:nvSpPr>
          <p:cNvPr id="40" name="TextBox 39"/>
          <p:cNvSpPr txBox="1"/>
          <p:nvPr/>
        </p:nvSpPr>
        <p:spPr>
          <a:xfrm>
            <a:off x="640080" y="5084064"/>
            <a:ext cx="27432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a:t>
            </a:r>
          </a:p>
        </p:txBody>
      </p:sp>
      <p:sp>
        <p:nvSpPr>
          <p:cNvPr id="41" name="TextBox 40"/>
          <p:cNvSpPr txBox="1"/>
          <p:nvPr/>
        </p:nvSpPr>
        <p:spPr>
          <a:xfrm>
            <a:off x="914400" y="5102352"/>
            <a:ext cx="274320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月次レポート要約</a:t>
            </a:r>
          </a:p>
        </p:txBody>
      </p:sp>
      <p:sp>
        <p:nvSpPr>
          <p:cNvPr id="42" name="TextBox 41"/>
          <p:cNvSpPr txBox="1"/>
          <p:nvPr/>
        </p:nvSpPr>
        <p:spPr>
          <a:xfrm>
            <a:off x="3657600" y="5102352"/>
            <a:ext cx="7772400" cy="274320"/>
          </a:xfrm>
          <a:prstGeom prst="rect">
            <a:avLst/>
          </a:prstGeom>
          <a:noFill/>
        </p:spPr>
        <p:txBody>
          <a:bodyPr wrap="square" anchor="t" lIns="0" rIns="0" tIns="0" bIns="0">
            <a:spAutoFit/>
          </a:bodyPr>
          <a:lstStyle/>
          <a:p>
            <a:pPr algn="l">
              <a:lnSpc>
                <a:spcPct val="115000"/>
              </a:lnSpc>
            </a:pPr>
            <a:r>
              <a:rPr sz="1100" b="0">
                <a:solidFill>
                  <a:srgbClr val="1A1A1A"/>
                </a:solidFill>
                <a:latin typeface="Hiragino Sans"/>
                <a:ea typeface="Hiragino Sans"/>
                <a:cs typeface="Hiragino Sans"/>
              </a:rPr>
              <a:t>GA4 / Google Ads データを貼ってクライアント向け要約</a:t>
            </a:r>
          </a:p>
        </p:txBody>
      </p:sp>
      <p:sp>
        <p:nvSpPr>
          <p:cNvPr id="43" name="TextBox 42"/>
          <p:cNvSpPr txBox="1"/>
          <p:nvPr/>
        </p:nvSpPr>
        <p:spPr>
          <a:xfrm>
            <a:off x="548640" y="6080760"/>
            <a:ext cx="10972800" cy="274320"/>
          </a:xfrm>
          <a:prstGeom prst="rect">
            <a:avLst/>
          </a:prstGeom>
          <a:noFill/>
        </p:spPr>
        <p:txBody>
          <a:bodyPr wrap="square" anchor="t" lIns="0" rIns="0" tIns="0" bIns="0">
            <a:spAutoFit/>
          </a:bodyPr>
          <a:lstStyle/>
          <a:p>
            <a:pPr algn="l">
              <a:lnSpc>
                <a:spcPct val="115000"/>
              </a:lnSpc>
            </a:pPr>
            <a:r>
              <a:rPr sz="1100" b="0">
                <a:solidFill>
                  <a:srgbClr val="0F2A4F"/>
                </a:solidFill>
                <a:latin typeface="Hiragino Sans"/>
                <a:ea typeface="Hiragino Sans"/>
                <a:cs typeface="Hiragino Sans"/>
              </a:rPr>
              <a:t>💡 ChatGPT Plus US$20/月で大半の機能利用可。API は別途従量</a:t>
            </a:r>
          </a:p>
        </p:txBody>
      </p:sp>
      <p:sp>
        <p:nvSpPr>
          <p:cNvPr id="44" name="TextBox 43"/>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コピー生成 : Claude (Anthropic)</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長文・分析・整理に強い 推論型LLM</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P170 / 250</a:t>
            </a:r>
          </a:p>
        </p:txBody>
      </p:sp>
      <p:sp>
        <p:nvSpPr>
          <p:cNvPr id="8" name="TextBox 7"/>
          <p:cNvSpPr txBox="1"/>
          <p:nvPr/>
        </p:nvSpPr>
        <p:spPr>
          <a:xfrm>
            <a:off x="548640" y="1417320"/>
            <a:ext cx="1097280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主要モデル (2026年現在)</a:t>
            </a:r>
          </a:p>
        </p:txBody>
      </p:sp>
      <p:sp>
        <p:nvSpPr>
          <p:cNvPr id="9" name="Rounded Rectangle 8"/>
          <p:cNvSpPr/>
          <p:nvPr/>
        </p:nvSpPr>
        <p:spPr>
          <a:xfrm>
            <a:off x="548640" y="1828800"/>
            <a:ext cx="3611880" cy="15544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828800"/>
            <a:ext cx="36118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057400"/>
            <a:ext cx="3246120" cy="365760"/>
          </a:xfrm>
          <a:prstGeom prst="rect">
            <a:avLst/>
          </a:prstGeom>
          <a:noFill/>
        </p:spPr>
        <p:txBody>
          <a:bodyPr wrap="square" anchor="t" lIns="0" rIns="0" tIns="0" bIns="0">
            <a:spAutoFit/>
          </a:bodyPr>
          <a:lstStyle/>
          <a:p>
            <a:pPr algn="l">
              <a:lnSpc>
                <a:spcPct val="115000"/>
              </a:lnSpc>
            </a:pPr>
            <a:r>
              <a:rPr sz="1400" b="1">
                <a:solidFill>
                  <a:srgbClr val="0F2A4F"/>
                </a:solidFill>
                <a:latin typeface="Helvetica Neue"/>
                <a:ea typeface="Helvetica Neue"/>
                <a:cs typeface="Helvetica Neue"/>
              </a:rPr>
              <a:t>Claude Opus 4.7</a:t>
            </a:r>
          </a:p>
        </p:txBody>
      </p:sp>
      <p:sp>
        <p:nvSpPr>
          <p:cNvPr id="12" name="TextBox 11"/>
          <p:cNvSpPr txBox="1"/>
          <p:nvPr/>
        </p:nvSpPr>
        <p:spPr>
          <a:xfrm>
            <a:off x="777240" y="2468880"/>
            <a:ext cx="3246120" cy="274320"/>
          </a:xfrm>
          <a:prstGeom prst="rect">
            <a:avLst/>
          </a:prstGeom>
          <a:noFill/>
        </p:spPr>
        <p:txBody>
          <a:bodyPr wrap="square" anchor="t" lIns="0" rIns="0" tIns="0" bIns="0">
            <a:spAutoFit/>
          </a:bodyPr>
          <a:lstStyle/>
          <a:p>
            <a:pPr algn="l">
              <a:lnSpc>
                <a:spcPct val="115000"/>
              </a:lnSpc>
            </a:pPr>
            <a:r>
              <a:rPr sz="1100" b="1">
                <a:solidFill>
                  <a:srgbClr val="B85E1A"/>
                </a:solidFill>
                <a:latin typeface="Hiragino Sans"/>
                <a:ea typeface="Hiragino Sans"/>
                <a:cs typeface="Hiragino Sans"/>
              </a:rPr>
              <a:t>最高性能</a:t>
            </a:r>
          </a:p>
        </p:txBody>
      </p:sp>
      <p:sp>
        <p:nvSpPr>
          <p:cNvPr id="13" name="TextBox 12"/>
          <p:cNvSpPr txBox="1"/>
          <p:nvPr/>
        </p:nvSpPr>
        <p:spPr>
          <a:xfrm>
            <a:off x="777240" y="2788920"/>
            <a:ext cx="3246120" cy="548640"/>
          </a:xfrm>
          <a:prstGeom prst="rect">
            <a:avLst/>
          </a:prstGeom>
          <a:noFill/>
        </p:spPr>
        <p:txBody>
          <a:bodyPr wrap="square" anchor="t" lIns="0" rIns="0" tIns="0" bIns="0">
            <a:spAutoFit/>
          </a:bodyPr>
          <a:lstStyle/>
          <a:p>
            <a:pPr algn="l">
              <a:lnSpc>
                <a:spcPct val="155000"/>
              </a:lnSpc>
            </a:pPr>
            <a:r>
              <a:rPr sz="1000" b="0">
                <a:solidFill>
                  <a:srgbClr val="1A1A1A"/>
                </a:solidFill>
                <a:latin typeface="Hiragino Sans"/>
                <a:ea typeface="Hiragino Sans"/>
                <a:cs typeface="Hiragino Sans"/>
              </a:rPr>
              <a:t>戦略立案 / 長文分析</a:t>
            </a:r>
          </a:p>
          <a:p>
            <a:pPr algn="l">
              <a:lnSpc>
                <a:spcPct val="155000"/>
              </a:lnSpc>
            </a:pPr>
            <a:r>
              <a:rPr sz="1000" b="0">
                <a:solidFill>
                  <a:srgbClr val="1A1A1A"/>
                </a:solidFill>
                <a:latin typeface="Hiragino Sans"/>
                <a:ea typeface="Hiragino Sans"/>
                <a:cs typeface="Hiragino Sans"/>
              </a:rPr>
              <a:t>コード生成も最強クラス</a:t>
            </a:r>
          </a:p>
        </p:txBody>
      </p:sp>
      <p:sp>
        <p:nvSpPr>
          <p:cNvPr id="14" name="Rounded Rectangle 13"/>
          <p:cNvSpPr/>
          <p:nvPr/>
        </p:nvSpPr>
        <p:spPr>
          <a:xfrm>
            <a:off x="4297680" y="1828800"/>
            <a:ext cx="3611880" cy="15544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80" y="1828800"/>
            <a:ext cx="36118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26280" y="2057400"/>
            <a:ext cx="3246120" cy="365760"/>
          </a:xfrm>
          <a:prstGeom prst="rect">
            <a:avLst/>
          </a:prstGeom>
          <a:noFill/>
        </p:spPr>
        <p:txBody>
          <a:bodyPr wrap="square" anchor="t" lIns="0" rIns="0" tIns="0" bIns="0">
            <a:spAutoFit/>
          </a:bodyPr>
          <a:lstStyle/>
          <a:p>
            <a:pPr algn="l">
              <a:lnSpc>
                <a:spcPct val="115000"/>
              </a:lnSpc>
            </a:pPr>
            <a:r>
              <a:rPr sz="1400" b="1">
                <a:solidFill>
                  <a:srgbClr val="0F2A4F"/>
                </a:solidFill>
                <a:latin typeface="Helvetica Neue"/>
                <a:ea typeface="Helvetica Neue"/>
                <a:cs typeface="Helvetica Neue"/>
              </a:rPr>
              <a:t>Claude Sonnet 4.6</a:t>
            </a:r>
          </a:p>
        </p:txBody>
      </p:sp>
      <p:sp>
        <p:nvSpPr>
          <p:cNvPr id="17" name="TextBox 16"/>
          <p:cNvSpPr txBox="1"/>
          <p:nvPr/>
        </p:nvSpPr>
        <p:spPr>
          <a:xfrm>
            <a:off x="4526280" y="2468880"/>
            <a:ext cx="3246120" cy="274320"/>
          </a:xfrm>
          <a:prstGeom prst="rect">
            <a:avLst/>
          </a:prstGeom>
          <a:noFill/>
        </p:spPr>
        <p:txBody>
          <a:bodyPr wrap="square" anchor="t" lIns="0" rIns="0" tIns="0" bIns="0">
            <a:spAutoFit/>
          </a:bodyPr>
          <a:lstStyle/>
          <a:p>
            <a:pPr algn="l">
              <a:lnSpc>
                <a:spcPct val="115000"/>
              </a:lnSpc>
            </a:pPr>
            <a:r>
              <a:rPr sz="1100" b="1">
                <a:solidFill>
                  <a:srgbClr val="B85E1A"/>
                </a:solidFill>
                <a:latin typeface="Hiragino Sans"/>
                <a:ea typeface="Hiragino Sans"/>
                <a:cs typeface="Hiragino Sans"/>
              </a:rPr>
              <a:t>バランス</a:t>
            </a:r>
          </a:p>
        </p:txBody>
      </p:sp>
      <p:sp>
        <p:nvSpPr>
          <p:cNvPr id="18" name="TextBox 17"/>
          <p:cNvSpPr txBox="1"/>
          <p:nvPr/>
        </p:nvSpPr>
        <p:spPr>
          <a:xfrm>
            <a:off x="4526280" y="2788920"/>
            <a:ext cx="3246120" cy="548640"/>
          </a:xfrm>
          <a:prstGeom prst="rect">
            <a:avLst/>
          </a:prstGeom>
          <a:noFill/>
        </p:spPr>
        <p:txBody>
          <a:bodyPr wrap="square" anchor="t" lIns="0" rIns="0" tIns="0" bIns="0">
            <a:spAutoFit/>
          </a:bodyPr>
          <a:lstStyle/>
          <a:p>
            <a:pPr algn="l">
              <a:lnSpc>
                <a:spcPct val="155000"/>
              </a:lnSpc>
            </a:pPr>
            <a:r>
              <a:rPr sz="1000" b="0">
                <a:solidFill>
                  <a:srgbClr val="1A1A1A"/>
                </a:solidFill>
                <a:latin typeface="Hiragino Sans"/>
                <a:ea typeface="Hiragino Sans"/>
                <a:cs typeface="Hiragino Sans"/>
              </a:rPr>
              <a:t>日常使い / 高速生成</a:t>
            </a:r>
          </a:p>
          <a:p>
            <a:pPr algn="l">
              <a:lnSpc>
                <a:spcPct val="155000"/>
              </a:lnSpc>
            </a:pPr>
            <a:r>
              <a:rPr sz="1000" b="0">
                <a:solidFill>
                  <a:srgbClr val="1A1A1A"/>
                </a:solidFill>
                <a:latin typeface="Hiragino Sans"/>
                <a:ea typeface="Hiragino Sans"/>
                <a:cs typeface="Hiragino Sans"/>
              </a:rPr>
              <a:t>コスパ最強</a:t>
            </a:r>
          </a:p>
        </p:txBody>
      </p:sp>
      <p:sp>
        <p:nvSpPr>
          <p:cNvPr id="19" name="Rounded Rectangle 18"/>
          <p:cNvSpPr/>
          <p:nvPr/>
        </p:nvSpPr>
        <p:spPr>
          <a:xfrm>
            <a:off x="8046720" y="1828800"/>
            <a:ext cx="3611880" cy="15544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6720" y="1828800"/>
            <a:ext cx="36118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75320" y="2057400"/>
            <a:ext cx="3246120" cy="365760"/>
          </a:xfrm>
          <a:prstGeom prst="rect">
            <a:avLst/>
          </a:prstGeom>
          <a:noFill/>
        </p:spPr>
        <p:txBody>
          <a:bodyPr wrap="square" anchor="t" lIns="0" rIns="0" tIns="0" bIns="0">
            <a:spAutoFit/>
          </a:bodyPr>
          <a:lstStyle/>
          <a:p>
            <a:pPr algn="l">
              <a:lnSpc>
                <a:spcPct val="115000"/>
              </a:lnSpc>
            </a:pPr>
            <a:r>
              <a:rPr sz="1400" b="1">
                <a:solidFill>
                  <a:srgbClr val="0F2A4F"/>
                </a:solidFill>
                <a:latin typeface="Helvetica Neue"/>
                <a:ea typeface="Helvetica Neue"/>
                <a:cs typeface="Helvetica Neue"/>
              </a:rPr>
              <a:t>Claude Haiku 4.5</a:t>
            </a:r>
          </a:p>
        </p:txBody>
      </p:sp>
      <p:sp>
        <p:nvSpPr>
          <p:cNvPr id="22" name="TextBox 21"/>
          <p:cNvSpPr txBox="1"/>
          <p:nvPr/>
        </p:nvSpPr>
        <p:spPr>
          <a:xfrm>
            <a:off x="8275320" y="2468880"/>
            <a:ext cx="3246120" cy="274320"/>
          </a:xfrm>
          <a:prstGeom prst="rect">
            <a:avLst/>
          </a:prstGeom>
          <a:noFill/>
        </p:spPr>
        <p:txBody>
          <a:bodyPr wrap="square" anchor="t" lIns="0" rIns="0" tIns="0" bIns="0">
            <a:spAutoFit/>
          </a:bodyPr>
          <a:lstStyle/>
          <a:p>
            <a:pPr algn="l">
              <a:lnSpc>
                <a:spcPct val="115000"/>
              </a:lnSpc>
            </a:pPr>
            <a:r>
              <a:rPr sz="1100" b="1">
                <a:solidFill>
                  <a:srgbClr val="B85E1A"/>
                </a:solidFill>
                <a:latin typeface="Hiragino Sans"/>
                <a:ea typeface="Hiragino Sans"/>
                <a:cs typeface="Hiragino Sans"/>
              </a:rPr>
              <a:t>超高速・低コスト</a:t>
            </a:r>
          </a:p>
        </p:txBody>
      </p:sp>
      <p:sp>
        <p:nvSpPr>
          <p:cNvPr id="23" name="TextBox 22"/>
          <p:cNvSpPr txBox="1"/>
          <p:nvPr/>
        </p:nvSpPr>
        <p:spPr>
          <a:xfrm>
            <a:off x="8275320" y="2788920"/>
            <a:ext cx="3246120" cy="548640"/>
          </a:xfrm>
          <a:prstGeom prst="rect">
            <a:avLst/>
          </a:prstGeom>
          <a:noFill/>
        </p:spPr>
        <p:txBody>
          <a:bodyPr wrap="square" anchor="t" lIns="0" rIns="0" tIns="0" bIns="0">
            <a:spAutoFit/>
          </a:bodyPr>
          <a:lstStyle/>
          <a:p>
            <a:pPr algn="l">
              <a:lnSpc>
                <a:spcPct val="155000"/>
              </a:lnSpc>
            </a:pPr>
            <a:r>
              <a:rPr sz="1000" b="0">
                <a:solidFill>
                  <a:srgbClr val="1A1A1A"/>
                </a:solidFill>
                <a:latin typeface="Hiragino Sans"/>
                <a:ea typeface="Hiragino Sans"/>
                <a:cs typeface="Hiragino Sans"/>
              </a:rPr>
              <a:t>大量処理 / API活用</a:t>
            </a:r>
          </a:p>
          <a:p>
            <a:pPr algn="l">
              <a:lnSpc>
                <a:spcPct val="155000"/>
              </a:lnSpc>
            </a:pPr>
            <a:r>
              <a:rPr sz="1000" b="0">
                <a:solidFill>
                  <a:srgbClr val="1A1A1A"/>
                </a:solidFill>
                <a:latin typeface="Hiragino Sans"/>
                <a:ea typeface="Hiragino Sans"/>
                <a:cs typeface="Hiragino Sans"/>
              </a:rPr>
              <a:t>チャットボット向け</a:t>
            </a:r>
          </a:p>
        </p:txBody>
      </p:sp>
      <p:sp>
        <p:nvSpPr>
          <p:cNvPr id="24" name="TextBox 23"/>
          <p:cNvSpPr txBox="1"/>
          <p:nvPr/>
        </p:nvSpPr>
        <p:spPr>
          <a:xfrm>
            <a:off x="548640" y="3611880"/>
            <a:ext cx="1097280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広告運用代行で Claude が強い領域</a:t>
            </a:r>
          </a:p>
        </p:txBody>
      </p:sp>
      <p:sp>
        <p:nvSpPr>
          <p:cNvPr id="25" name="Rectangle 24"/>
          <p:cNvSpPr/>
          <p:nvPr/>
        </p:nvSpPr>
        <p:spPr>
          <a:xfrm>
            <a:off x="548640" y="3977639"/>
            <a:ext cx="1110996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4160520"/>
            <a:ext cx="27432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a:t>
            </a:r>
          </a:p>
        </p:txBody>
      </p:sp>
      <p:sp>
        <p:nvSpPr>
          <p:cNvPr id="27" name="TextBox 26"/>
          <p:cNvSpPr txBox="1"/>
          <p:nvPr/>
        </p:nvSpPr>
        <p:spPr>
          <a:xfrm>
            <a:off x="914400" y="4178808"/>
            <a:ext cx="320040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競合LP分析</a:t>
            </a:r>
          </a:p>
        </p:txBody>
      </p:sp>
      <p:sp>
        <p:nvSpPr>
          <p:cNvPr id="28" name="TextBox 27"/>
          <p:cNvSpPr txBox="1"/>
          <p:nvPr/>
        </p:nvSpPr>
        <p:spPr>
          <a:xfrm>
            <a:off x="4114800" y="4178808"/>
            <a:ext cx="7315200" cy="274320"/>
          </a:xfrm>
          <a:prstGeom prst="rect">
            <a:avLst/>
          </a:prstGeom>
          <a:noFill/>
        </p:spPr>
        <p:txBody>
          <a:bodyPr wrap="square" anchor="t" lIns="0" rIns="0" tIns="0" bIns="0">
            <a:spAutoFit/>
          </a:bodyPr>
          <a:lstStyle/>
          <a:p>
            <a:pPr algn="l">
              <a:lnSpc>
                <a:spcPct val="115000"/>
              </a:lnSpc>
            </a:pPr>
            <a:r>
              <a:rPr sz="1100" b="0">
                <a:solidFill>
                  <a:srgbClr val="1A1A1A"/>
                </a:solidFill>
                <a:latin typeface="Hiragino Sans"/>
                <a:ea typeface="Hiragino Sans"/>
                <a:cs typeface="Hiragino Sans"/>
              </a:rPr>
              <a:t>競合LP 5サイトの構成を貼って共通要素+差別化要素を抽出</a:t>
            </a:r>
          </a:p>
        </p:txBody>
      </p:sp>
      <p:sp>
        <p:nvSpPr>
          <p:cNvPr id="29" name="TextBox 28"/>
          <p:cNvSpPr txBox="1"/>
          <p:nvPr/>
        </p:nvSpPr>
        <p:spPr>
          <a:xfrm>
            <a:off x="640080" y="4544568"/>
            <a:ext cx="27432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a:t>
            </a:r>
          </a:p>
        </p:txBody>
      </p:sp>
      <p:sp>
        <p:nvSpPr>
          <p:cNvPr id="30" name="TextBox 29"/>
          <p:cNvSpPr txBox="1"/>
          <p:nvPr/>
        </p:nvSpPr>
        <p:spPr>
          <a:xfrm>
            <a:off x="914400" y="4562856"/>
            <a:ext cx="320040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ヒアリング要約</a:t>
            </a:r>
          </a:p>
        </p:txBody>
      </p:sp>
      <p:sp>
        <p:nvSpPr>
          <p:cNvPr id="31" name="TextBox 30"/>
          <p:cNvSpPr txBox="1"/>
          <p:nvPr/>
        </p:nvSpPr>
        <p:spPr>
          <a:xfrm>
            <a:off x="4114800" y="4562856"/>
            <a:ext cx="7315200" cy="274320"/>
          </a:xfrm>
          <a:prstGeom prst="rect">
            <a:avLst/>
          </a:prstGeom>
          <a:noFill/>
        </p:spPr>
        <p:txBody>
          <a:bodyPr wrap="square" anchor="t" lIns="0" rIns="0" tIns="0" bIns="0">
            <a:spAutoFit/>
          </a:bodyPr>
          <a:lstStyle/>
          <a:p>
            <a:pPr algn="l">
              <a:lnSpc>
                <a:spcPct val="115000"/>
              </a:lnSpc>
            </a:pPr>
            <a:r>
              <a:rPr sz="1100" b="0">
                <a:solidFill>
                  <a:srgbClr val="1A1A1A"/>
                </a:solidFill>
                <a:latin typeface="Hiragino Sans"/>
                <a:ea typeface="Hiragino Sans"/>
                <a:cs typeface="Hiragino Sans"/>
              </a:rPr>
              <a:t>クライアント MTG音声書き起こしを構造化、ToDoリスト+提案</a:t>
            </a:r>
          </a:p>
        </p:txBody>
      </p:sp>
      <p:sp>
        <p:nvSpPr>
          <p:cNvPr id="32" name="TextBox 31"/>
          <p:cNvSpPr txBox="1"/>
          <p:nvPr/>
        </p:nvSpPr>
        <p:spPr>
          <a:xfrm>
            <a:off x="640080" y="4928616"/>
            <a:ext cx="27432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a:t>
            </a:r>
          </a:p>
        </p:txBody>
      </p:sp>
      <p:sp>
        <p:nvSpPr>
          <p:cNvPr id="33" name="TextBox 32"/>
          <p:cNvSpPr txBox="1"/>
          <p:nvPr/>
        </p:nvSpPr>
        <p:spPr>
          <a:xfrm>
            <a:off x="914400" y="4946904"/>
            <a:ext cx="320040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レポート骨子作成</a:t>
            </a:r>
          </a:p>
        </p:txBody>
      </p:sp>
      <p:sp>
        <p:nvSpPr>
          <p:cNvPr id="34" name="TextBox 33"/>
          <p:cNvSpPr txBox="1"/>
          <p:nvPr/>
        </p:nvSpPr>
        <p:spPr>
          <a:xfrm>
            <a:off x="4114800" y="4946904"/>
            <a:ext cx="7315200" cy="274320"/>
          </a:xfrm>
          <a:prstGeom prst="rect">
            <a:avLst/>
          </a:prstGeom>
          <a:noFill/>
        </p:spPr>
        <p:txBody>
          <a:bodyPr wrap="square" anchor="t" lIns="0" rIns="0" tIns="0" bIns="0">
            <a:spAutoFit/>
          </a:bodyPr>
          <a:lstStyle/>
          <a:p>
            <a:pPr algn="l">
              <a:lnSpc>
                <a:spcPct val="115000"/>
              </a:lnSpc>
            </a:pPr>
            <a:r>
              <a:rPr sz="1100" b="0">
                <a:solidFill>
                  <a:srgbClr val="1A1A1A"/>
                </a:solidFill>
                <a:latin typeface="Hiragino Sans"/>
                <a:ea typeface="Hiragino Sans"/>
                <a:cs typeface="Hiragino Sans"/>
              </a:rPr>
              <a:t>数字データ + 過去レポを貼って今月の骨子を構造化</a:t>
            </a:r>
          </a:p>
        </p:txBody>
      </p:sp>
      <p:sp>
        <p:nvSpPr>
          <p:cNvPr id="35" name="TextBox 34"/>
          <p:cNvSpPr txBox="1"/>
          <p:nvPr/>
        </p:nvSpPr>
        <p:spPr>
          <a:xfrm>
            <a:off x="640080" y="5312664"/>
            <a:ext cx="27432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a:t>
            </a:r>
          </a:p>
        </p:txBody>
      </p:sp>
      <p:sp>
        <p:nvSpPr>
          <p:cNvPr id="36" name="TextBox 35"/>
          <p:cNvSpPr txBox="1"/>
          <p:nvPr/>
        </p:nvSpPr>
        <p:spPr>
          <a:xfrm>
            <a:off x="914400" y="5330952"/>
            <a:ext cx="320040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Computer Use (Agent)</a:t>
            </a:r>
          </a:p>
        </p:txBody>
      </p:sp>
      <p:sp>
        <p:nvSpPr>
          <p:cNvPr id="37" name="TextBox 36"/>
          <p:cNvSpPr txBox="1"/>
          <p:nvPr/>
        </p:nvSpPr>
        <p:spPr>
          <a:xfrm>
            <a:off x="4114800" y="5330952"/>
            <a:ext cx="7315200" cy="274320"/>
          </a:xfrm>
          <a:prstGeom prst="rect">
            <a:avLst/>
          </a:prstGeom>
          <a:noFill/>
        </p:spPr>
        <p:txBody>
          <a:bodyPr wrap="square" anchor="t" lIns="0" rIns="0" tIns="0" bIns="0">
            <a:spAutoFit/>
          </a:bodyPr>
          <a:lstStyle/>
          <a:p>
            <a:pPr algn="l">
              <a:lnSpc>
                <a:spcPct val="115000"/>
              </a:lnSpc>
            </a:pPr>
            <a:r>
              <a:rPr sz="1100" b="0">
                <a:solidFill>
                  <a:srgbClr val="1A1A1A"/>
                </a:solidFill>
                <a:latin typeface="Hiragino Sans"/>
                <a:ea typeface="Hiragino Sans"/>
                <a:cs typeface="Hiragino Sans"/>
              </a:rPr>
              <a:t>管理画面操作も可能 → 広告運用の自動化に活用 (Part 5-B 参照)</a:t>
            </a:r>
          </a:p>
        </p:txBody>
      </p:sp>
      <p:sp>
        <p:nvSpPr>
          <p:cNvPr id="38" name="TextBox 37"/>
          <p:cNvSpPr txBox="1"/>
          <p:nvPr/>
        </p:nvSpPr>
        <p:spPr>
          <a:xfrm>
            <a:off x="548640" y="6080760"/>
            <a:ext cx="10972800" cy="274320"/>
          </a:xfrm>
          <a:prstGeom prst="rect">
            <a:avLst/>
          </a:prstGeom>
          <a:noFill/>
        </p:spPr>
        <p:txBody>
          <a:bodyPr wrap="square" anchor="t" lIns="0" rIns="0" tIns="0" bIns="0">
            <a:spAutoFit/>
          </a:bodyPr>
          <a:lstStyle/>
          <a:p>
            <a:pPr algn="l">
              <a:lnSpc>
                <a:spcPct val="115000"/>
              </a:lnSpc>
            </a:pPr>
            <a:r>
              <a:rPr sz="1100" b="0">
                <a:solidFill>
                  <a:srgbClr val="0F2A4F"/>
                </a:solidFill>
                <a:latin typeface="Hiragino Sans"/>
                <a:ea typeface="Hiragino Sans"/>
                <a:cs typeface="Hiragino Sans"/>
              </a:rPr>
              <a:t>💡 Claude Pro US$20/月。Sonnet / Opus / Haiku 切替可。Claude Code は開発者必須</a:t>
            </a:r>
          </a:p>
        </p:txBody>
      </p:sp>
      <p:sp>
        <p:nvSpPr>
          <p:cNvPr id="39" name="TextBox 38"/>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コピー生成 : Gemini (Google)</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Google Workspace + Google Ads 連携が強み</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P171 / 250</a:t>
            </a:r>
          </a:p>
        </p:txBody>
      </p:sp>
      <p:sp>
        <p:nvSpPr>
          <p:cNvPr id="8" name="TextBox 7"/>
          <p:cNvSpPr txBox="1"/>
          <p:nvPr/>
        </p:nvSpPr>
        <p:spPr>
          <a:xfrm>
            <a:off x="548640" y="1051560"/>
            <a:ext cx="1097280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主要モデル (2026年現在)</a:t>
            </a:r>
          </a:p>
        </p:txBody>
      </p:sp>
      <p:sp>
        <p:nvSpPr>
          <p:cNvPr id="9" name="Rounded Rectangle 8"/>
          <p:cNvSpPr/>
          <p:nvPr/>
        </p:nvSpPr>
        <p:spPr>
          <a:xfrm>
            <a:off x="548640" y="1417320"/>
            <a:ext cx="3611880" cy="15544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36118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45920"/>
            <a:ext cx="3246120" cy="365760"/>
          </a:xfrm>
          <a:prstGeom prst="rect">
            <a:avLst/>
          </a:prstGeom>
          <a:noFill/>
        </p:spPr>
        <p:txBody>
          <a:bodyPr wrap="square" anchor="t" lIns="0" rIns="0" tIns="0" bIns="0">
            <a:spAutoFit/>
          </a:bodyPr>
          <a:lstStyle/>
          <a:p>
            <a:pPr algn="l">
              <a:lnSpc>
                <a:spcPct val="115000"/>
              </a:lnSpc>
            </a:pPr>
            <a:r>
              <a:rPr sz="1400" b="1">
                <a:solidFill>
                  <a:srgbClr val="0F2A4F"/>
                </a:solidFill>
                <a:latin typeface="Helvetica Neue"/>
                <a:ea typeface="Helvetica Neue"/>
                <a:cs typeface="Helvetica Neue"/>
              </a:rPr>
              <a:t>Gemini 2.5 Ultra</a:t>
            </a:r>
          </a:p>
        </p:txBody>
      </p:sp>
      <p:sp>
        <p:nvSpPr>
          <p:cNvPr id="12" name="TextBox 11"/>
          <p:cNvSpPr txBox="1"/>
          <p:nvPr/>
        </p:nvSpPr>
        <p:spPr>
          <a:xfrm>
            <a:off x="777240" y="2057400"/>
            <a:ext cx="3246120" cy="274320"/>
          </a:xfrm>
          <a:prstGeom prst="rect">
            <a:avLst/>
          </a:prstGeom>
          <a:noFill/>
        </p:spPr>
        <p:txBody>
          <a:bodyPr wrap="square" anchor="t" lIns="0" rIns="0" tIns="0" bIns="0">
            <a:spAutoFit/>
          </a:bodyPr>
          <a:lstStyle/>
          <a:p>
            <a:pPr algn="l">
              <a:lnSpc>
                <a:spcPct val="115000"/>
              </a:lnSpc>
            </a:pPr>
            <a:r>
              <a:rPr sz="1100" b="1">
                <a:solidFill>
                  <a:srgbClr val="B85E1A"/>
                </a:solidFill>
                <a:latin typeface="Hiragino Sans"/>
                <a:ea typeface="Hiragino Sans"/>
                <a:cs typeface="Hiragino Sans"/>
              </a:rPr>
              <a:t>最高性能</a:t>
            </a:r>
          </a:p>
        </p:txBody>
      </p:sp>
      <p:sp>
        <p:nvSpPr>
          <p:cNvPr id="13" name="TextBox 12"/>
          <p:cNvSpPr txBox="1"/>
          <p:nvPr/>
        </p:nvSpPr>
        <p:spPr>
          <a:xfrm>
            <a:off x="777240" y="2377440"/>
            <a:ext cx="3246120" cy="548640"/>
          </a:xfrm>
          <a:prstGeom prst="rect">
            <a:avLst/>
          </a:prstGeom>
          <a:noFill/>
        </p:spPr>
        <p:txBody>
          <a:bodyPr wrap="square" anchor="t" lIns="0" rIns="0" tIns="0" bIns="0">
            <a:spAutoFit/>
          </a:bodyPr>
          <a:lstStyle/>
          <a:p>
            <a:pPr algn="l">
              <a:lnSpc>
                <a:spcPct val="155000"/>
              </a:lnSpc>
            </a:pPr>
            <a:r>
              <a:rPr sz="1000" b="0">
                <a:solidFill>
                  <a:srgbClr val="1A1A1A"/>
                </a:solidFill>
                <a:latin typeface="Hiragino Sans"/>
                <a:ea typeface="Hiragino Sans"/>
                <a:cs typeface="Hiragino Sans"/>
              </a:rPr>
              <a:t>マルチモーダル / 長文</a:t>
            </a:r>
          </a:p>
          <a:p>
            <a:pPr algn="l">
              <a:lnSpc>
                <a:spcPct val="155000"/>
              </a:lnSpc>
            </a:pPr>
            <a:r>
              <a:rPr sz="1000" b="0">
                <a:solidFill>
                  <a:srgbClr val="1A1A1A"/>
                </a:solidFill>
                <a:latin typeface="Hiragino Sans"/>
                <a:ea typeface="Hiragino Sans"/>
                <a:cs typeface="Hiragino Sans"/>
              </a:rPr>
              <a:t>100万トークン対応</a:t>
            </a:r>
          </a:p>
        </p:txBody>
      </p:sp>
      <p:sp>
        <p:nvSpPr>
          <p:cNvPr id="14" name="Rounded Rectangle 13"/>
          <p:cNvSpPr/>
          <p:nvPr/>
        </p:nvSpPr>
        <p:spPr>
          <a:xfrm>
            <a:off x="4297680" y="1417320"/>
            <a:ext cx="3611880" cy="15544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80" y="1417320"/>
            <a:ext cx="36118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26280" y="1645920"/>
            <a:ext cx="3246120" cy="365760"/>
          </a:xfrm>
          <a:prstGeom prst="rect">
            <a:avLst/>
          </a:prstGeom>
          <a:noFill/>
        </p:spPr>
        <p:txBody>
          <a:bodyPr wrap="square" anchor="t" lIns="0" rIns="0" tIns="0" bIns="0">
            <a:spAutoFit/>
          </a:bodyPr>
          <a:lstStyle/>
          <a:p>
            <a:pPr algn="l">
              <a:lnSpc>
                <a:spcPct val="115000"/>
              </a:lnSpc>
            </a:pPr>
            <a:r>
              <a:rPr sz="1400" b="1">
                <a:solidFill>
                  <a:srgbClr val="0F2A4F"/>
                </a:solidFill>
                <a:latin typeface="Helvetica Neue"/>
                <a:ea typeface="Helvetica Neue"/>
                <a:cs typeface="Helvetica Neue"/>
              </a:rPr>
              <a:t>Gemini 2.5 Pro</a:t>
            </a:r>
          </a:p>
        </p:txBody>
      </p:sp>
      <p:sp>
        <p:nvSpPr>
          <p:cNvPr id="17" name="TextBox 16"/>
          <p:cNvSpPr txBox="1"/>
          <p:nvPr/>
        </p:nvSpPr>
        <p:spPr>
          <a:xfrm>
            <a:off x="4526280" y="2057400"/>
            <a:ext cx="3246120" cy="274320"/>
          </a:xfrm>
          <a:prstGeom prst="rect">
            <a:avLst/>
          </a:prstGeom>
          <a:noFill/>
        </p:spPr>
        <p:txBody>
          <a:bodyPr wrap="square" anchor="t" lIns="0" rIns="0" tIns="0" bIns="0">
            <a:spAutoFit/>
          </a:bodyPr>
          <a:lstStyle/>
          <a:p>
            <a:pPr algn="l">
              <a:lnSpc>
                <a:spcPct val="115000"/>
              </a:lnSpc>
            </a:pPr>
            <a:r>
              <a:rPr sz="1100" b="1">
                <a:solidFill>
                  <a:srgbClr val="B85E1A"/>
                </a:solidFill>
                <a:latin typeface="Hiragino Sans"/>
                <a:ea typeface="Hiragino Sans"/>
                <a:cs typeface="Hiragino Sans"/>
              </a:rPr>
              <a:t>バランス</a:t>
            </a:r>
          </a:p>
        </p:txBody>
      </p:sp>
      <p:sp>
        <p:nvSpPr>
          <p:cNvPr id="18" name="TextBox 17"/>
          <p:cNvSpPr txBox="1"/>
          <p:nvPr/>
        </p:nvSpPr>
        <p:spPr>
          <a:xfrm>
            <a:off x="4526280" y="2377440"/>
            <a:ext cx="3246120" cy="548640"/>
          </a:xfrm>
          <a:prstGeom prst="rect">
            <a:avLst/>
          </a:prstGeom>
          <a:noFill/>
        </p:spPr>
        <p:txBody>
          <a:bodyPr wrap="square" anchor="t" lIns="0" rIns="0" tIns="0" bIns="0">
            <a:spAutoFit/>
          </a:bodyPr>
          <a:lstStyle/>
          <a:p>
            <a:pPr algn="l">
              <a:lnSpc>
                <a:spcPct val="155000"/>
              </a:lnSpc>
            </a:pPr>
            <a:r>
              <a:rPr sz="1000" b="0">
                <a:solidFill>
                  <a:srgbClr val="1A1A1A"/>
                </a:solidFill>
                <a:latin typeface="Hiragino Sans"/>
                <a:ea typeface="Hiragino Sans"/>
                <a:cs typeface="Hiragino Sans"/>
              </a:rPr>
              <a:t>標準利用 / API</a:t>
            </a:r>
          </a:p>
          <a:p>
            <a:pPr algn="l">
              <a:lnSpc>
                <a:spcPct val="155000"/>
              </a:lnSpc>
            </a:pPr>
            <a:r>
              <a:rPr sz="1000" b="0">
                <a:solidFill>
                  <a:srgbClr val="1A1A1A"/>
                </a:solidFill>
                <a:latin typeface="Hiragino Sans"/>
                <a:ea typeface="Hiragino Sans"/>
                <a:cs typeface="Hiragino Sans"/>
              </a:rPr>
              <a:t>Google Workspace内</a:t>
            </a:r>
          </a:p>
        </p:txBody>
      </p:sp>
      <p:sp>
        <p:nvSpPr>
          <p:cNvPr id="19" name="Rounded Rectangle 18"/>
          <p:cNvSpPr/>
          <p:nvPr/>
        </p:nvSpPr>
        <p:spPr>
          <a:xfrm>
            <a:off x="8046720" y="1417320"/>
            <a:ext cx="3611880" cy="15544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6720" y="1417320"/>
            <a:ext cx="36118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75320" y="1645920"/>
            <a:ext cx="3246120" cy="365760"/>
          </a:xfrm>
          <a:prstGeom prst="rect">
            <a:avLst/>
          </a:prstGeom>
          <a:noFill/>
        </p:spPr>
        <p:txBody>
          <a:bodyPr wrap="square" anchor="t" lIns="0" rIns="0" tIns="0" bIns="0">
            <a:spAutoFit/>
          </a:bodyPr>
          <a:lstStyle/>
          <a:p>
            <a:pPr algn="l">
              <a:lnSpc>
                <a:spcPct val="115000"/>
              </a:lnSpc>
            </a:pPr>
            <a:r>
              <a:rPr sz="1400" b="1">
                <a:solidFill>
                  <a:srgbClr val="0F2A4F"/>
                </a:solidFill>
                <a:latin typeface="Helvetica Neue"/>
                <a:ea typeface="Helvetica Neue"/>
                <a:cs typeface="Helvetica Neue"/>
              </a:rPr>
              <a:t>Gemini Nano</a:t>
            </a:r>
          </a:p>
        </p:txBody>
      </p:sp>
      <p:sp>
        <p:nvSpPr>
          <p:cNvPr id="22" name="TextBox 21"/>
          <p:cNvSpPr txBox="1"/>
          <p:nvPr/>
        </p:nvSpPr>
        <p:spPr>
          <a:xfrm>
            <a:off x="8275320" y="2057400"/>
            <a:ext cx="3246120" cy="274320"/>
          </a:xfrm>
          <a:prstGeom prst="rect">
            <a:avLst/>
          </a:prstGeom>
          <a:noFill/>
        </p:spPr>
        <p:txBody>
          <a:bodyPr wrap="square" anchor="t" lIns="0" rIns="0" tIns="0" bIns="0">
            <a:spAutoFit/>
          </a:bodyPr>
          <a:lstStyle/>
          <a:p>
            <a:pPr algn="l">
              <a:lnSpc>
                <a:spcPct val="115000"/>
              </a:lnSpc>
            </a:pPr>
            <a:r>
              <a:rPr sz="1100" b="1">
                <a:solidFill>
                  <a:srgbClr val="B85E1A"/>
                </a:solidFill>
                <a:latin typeface="Hiragino Sans"/>
                <a:ea typeface="Hiragino Sans"/>
                <a:cs typeface="Hiragino Sans"/>
              </a:rPr>
              <a:t>オンデバイス</a:t>
            </a:r>
          </a:p>
        </p:txBody>
      </p:sp>
      <p:sp>
        <p:nvSpPr>
          <p:cNvPr id="23" name="TextBox 22"/>
          <p:cNvSpPr txBox="1"/>
          <p:nvPr/>
        </p:nvSpPr>
        <p:spPr>
          <a:xfrm>
            <a:off x="8275320" y="2377440"/>
            <a:ext cx="3246120" cy="548640"/>
          </a:xfrm>
          <a:prstGeom prst="rect">
            <a:avLst/>
          </a:prstGeom>
          <a:noFill/>
        </p:spPr>
        <p:txBody>
          <a:bodyPr wrap="square" anchor="t" lIns="0" rIns="0" tIns="0" bIns="0">
            <a:spAutoFit/>
          </a:bodyPr>
          <a:lstStyle/>
          <a:p>
            <a:pPr algn="l">
              <a:lnSpc>
                <a:spcPct val="155000"/>
              </a:lnSpc>
            </a:pPr>
            <a:r>
              <a:rPr sz="1000" b="0">
                <a:solidFill>
                  <a:srgbClr val="1A1A1A"/>
                </a:solidFill>
                <a:latin typeface="Hiragino Sans"/>
                <a:ea typeface="Hiragino Sans"/>
                <a:cs typeface="Hiragino Sans"/>
              </a:rPr>
              <a:t>Pixel / Android搭載</a:t>
            </a:r>
          </a:p>
          <a:p>
            <a:pPr algn="l">
              <a:lnSpc>
                <a:spcPct val="155000"/>
              </a:lnSpc>
            </a:pPr>
            <a:r>
              <a:rPr sz="1000" b="0">
                <a:solidFill>
                  <a:srgbClr val="1A1A1A"/>
                </a:solidFill>
                <a:latin typeface="Hiragino Sans"/>
                <a:ea typeface="Hiragino Sans"/>
                <a:cs typeface="Hiragino Sans"/>
              </a:rPr>
              <a:t>ローカル処理</a:t>
            </a:r>
          </a:p>
        </p:txBody>
      </p:sp>
      <p:sp>
        <p:nvSpPr>
          <p:cNvPr id="24" name="TextBox 23"/>
          <p:cNvSpPr txBox="1"/>
          <p:nvPr/>
        </p:nvSpPr>
        <p:spPr>
          <a:xfrm>
            <a:off x="548640" y="3200400"/>
            <a:ext cx="1097280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Gemini × Google エコシステム</a:t>
            </a:r>
          </a:p>
        </p:txBody>
      </p:sp>
      <p:sp>
        <p:nvSpPr>
          <p:cNvPr id="25" name="Rectangle 24"/>
          <p:cNvSpPr/>
          <p:nvPr/>
        </p:nvSpPr>
        <p:spPr>
          <a:xfrm>
            <a:off x="548640" y="3566160"/>
            <a:ext cx="1110996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3749039"/>
            <a:ext cx="27432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a:t>
            </a:r>
          </a:p>
        </p:txBody>
      </p:sp>
      <p:sp>
        <p:nvSpPr>
          <p:cNvPr id="27" name="TextBox 26"/>
          <p:cNvSpPr txBox="1"/>
          <p:nvPr/>
        </p:nvSpPr>
        <p:spPr>
          <a:xfrm>
            <a:off x="914400" y="3767327"/>
            <a:ext cx="365760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Gemini in Google Ads</a:t>
            </a:r>
          </a:p>
        </p:txBody>
      </p:sp>
      <p:sp>
        <p:nvSpPr>
          <p:cNvPr id="28" name="TextBox 27"/>
          <p:cNvSpPr txBox="1"/>
          <p:nvPr/>
        </p:nvSpPr>
        <p:spPr>
          <a:xfrm>
            <a:off x="4572000" y="3767327"/>
            <a:ext cx="6858000" cy="274320"/>
          </a:xfrm>
          <a:prstGeom prst="rect">
            <a:avLst/>
          </a:prstGeom>
          <a:noFill/>
        </p:spPr>
        <p:txBody>
          <a:bodyPr wrap="square" anchor="t" lIns="0" rIns="0" tIns="0" bIns="0">
            <a:spAutoFit/>
          </a:bodyPr>
          <a:lstStyle/>
          <a:p>
            <a:pPr algn="l">
              <a:lnSpc>
                <a:spcPct val="115000"/>
              </a:lnSpc>
            </a:pPr>
            <a:r>
              <a:rPr sz="1100" b="0">
                <a:solidFill>
                  <a:srgbClr val="1A1A1A"/>
                </a:solidFill>
                <a:latin typeface="Hiragino Sans"/>
                <a:ea typeface="Hiragino Sans"/>
                <a:cs typeface="Hiragino Sans"/>
              </a:rPr>
              <a:t>Conversational Builder / アセット生成 / Optiscore提案</a:t>
            </a:r>
          </a:p>
        </p:txBody>
      </p:sp>
      <p:sp>
        <p:nvSpPr>
          <p:cNvPr id="29" name="TextBox 28"/>
          <p:cNvSpPr txBox="1"/>
          <p:nvPr/>
        </p:nvSpPr>
        <p:spPr>
          <a:xfrm>
            <a:off x="640080" y="4133087"/>
            <a:ext cx="27432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a:t>
            </a:r>
          </a:p>
        </p:txBody>
      </p:sp>
      <p:sp>
        <p:nvSpPr>
          <p:cNvPr id="30" name="TextBox 29"/>
          <p:cNvSpPr txBox="1"/>
          <p:nvPr/>
        </p:nvSpPr>
        <p:spPr>
          <a:xfrm>
            <a:off x="914400" y="4151375"/>
            <a:ext cx="365760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Gemini in GA4</a:t>
            </a:r>
          </a:p>
        </p:txBody>
      </p:sp>
      <p:sp>
        <p:nvSpPr>
          <p:cNvPr id="31" name="TextBox 30"/>
          <p:cNvSpPr txBox="1"/>
          <p:nvPr/>
        </p:nvSpPr>
        <p:spPr>
          <a:xfrm>
            <a:off x="4572000" y="4151375"/>
            <a:ext cx="6858000" cy="274320"/>
          </a:xfrm>
          <a:prstGeom prst="rect">
            <a:avLst/>
          </a:prstGeom>
          <a:noFill/>
        </p:spPr>
        <p:txBody>
          <a:bodyPr wrap="square" anchor="t" lIns="0" rIns="0" tIns="0" bIns="0">
            <a:spAutoFit/>
          </a:bodyPr>
          <a:lstStyle/>
          <a:p>
            <a:pPr algn="l">
              <a:lnSpc>
                <a:spcPct val="115000"/>
              </a:lnSpc>
            </a:pPr>
            <a:r>
              <a:rPr sz="1100" b="0">
                <a:solidFill>
                  <a:srgbClr val="1A1A1A"/>
                </a:solidFill>
                <a:latin typeface="Hiragino Sans"/>
                <a:ea typeface="Hiragino Sans"/>
                <a:cs typeface="Hiragino Sans"/>
              </a:rPr>
              <a:t>Conversational Analytics でデータ質問</a:t>
            </a:r>
          </a:p>
        </p:txBody>
      </p:sp>
      <p:sp>
        <p:nvSpPr>
          <p:cNvPr id="32" name="TextBox 31"/>
          <p:cNvSpPr txBox="1"/>
          <p:nvPr/>
        </p:nvSpPr>
        <p:spPr>
          <a:xfrm>
            <a:off x="640080" y="4517135"/>
            <a:ext cx="27432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a:t>
            </a:r>
          </a:p>
        </p:txBody>
      </p:sp>
      <p:sp>
        <p:nvSpPr>
          <p:cNvPr id="33" name="TextBox 32"/>
          <p:cNvSpPr txBox="1"/>
          <p:nvPr/>
        </p:nvSpPr>
        <p:spPr>
          <a:xfrm>
            <a:off x="914400" y="4535423"/>
            <a:ext cx="365760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Gemini in Workspace</a:t>
            </a:r>
          </a:p>
        </p:txBody>
      </p:sp>
      <p:sp>
        <p:nvSpPr>
          <p:cNvPr id="34" name="TextBox 33"/>
          <p:cNvSpPr txBox="1"/>
          <p:nvPr/>
        </p:nvSpPr>
        <p:spPr>
          <a:xfrm>
            <a:off x="4572000" y="4535423"/>
            <a:ext cx="6858000" cy="274320"/>
          </a:xfrm>
          <a:prstGeom prst="rect">
            <a:avLst/>
          </a:prstGeom>
          <a:noFill/>
        </p:spPr>
        <p:txBody>
          <a:bodyPr wrap="square" anchor="t" lIns="0" rIns="0" tIns="0" bIns="0">
            <a:spAutoFit/>
          </a:bodyPr>
          <a:lstStyle/>
          <a:p>
            <a:pPr algn="l">
              <a:lnSpc>
                <a:spcPct val="115000"/>
              </a:lnSpc>
            </a:pPr>
            <a:r>
              <a:rPr sz="1100" b="0">
                <a:solidFill>
                  <a:srgbClr val="1A1A1A"/>
                </a:solidFill>
                <a:latin typeface="Hiragino Sans"/>
                <a:ea typeface="Hiragino Sans"/>
                <a:cs typeface="Hiragino Sans"/>
              </a:rPr>
              <a:t>Gmail / Docs / Sheets / Slides に統合 (Premium プラン)</a:t>
            </a:r>
          </a:p>
        </p:txBody>
      </p:sp>
      <p:sp>
        <p:nvSpPr>
          <p:cNvPr id="35" name="TextBox 34"/>
          <p:cNvSpPr txBox="1"/>
          <p:nvPr/>
        </p:nvSpPr>
        <p:spPr>
          <a:xfrm>
            <a:off x="640080" y="4901183"/>
            <a:ext cx="27432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a:t>
            </a:r>
          </a:p>
        </p:txBody>
      </p:sp>
      <p:sp>
        <p:nvSpPr>
          <p:cNvPr id="36" name="TextBox 35"/>
          <p:cNvSpPr txBox="1"/>
          <p:nvPr/>
        </p:nvSpPr>
        <p:spPr>
          <a:xfrm>
            <a:off x="914400" y="4919471"/>
            <a:ext cx="365760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Gemini in Search (AI Overview)</a:t>
            </a:r>
          </a:p>
        </p:txBody>
      </p:sp>
      <p:sp>
        <p:nvSpPr>
          <p:cNvPr id="37" name="TextBox 36"/>
          <p:cNvSpPr txBox="1"/>
          <p:nvPr/>
        </p:nvSpPr>
        <p:spPr>
          <a:xfrm>
            <a:off x="4572000" y="4919471"/>
            <a:ext cx="6858000" cy="274320"/>
          </a:xfrm>
          <a:prstGeom prst="rect">
            <a:avLst/>
          </a:prstGeom>
          <a:noFill/>
        </p:spPr>
        <p:txBody>
          <a:bodyPr wrap="square" anchor="t" lIns="0" rIns="0" tIns="0" bIns="0">
            <a:spAutoFit/>
          </a:bodyPr>
          <a:lstStyle/>
          <a:p>
            <a:pPr algn="l">
              <a:lnSpc>
                <a:spcPct val="115000"/>
              </a:lnSpc>
            </a:pPr>
            <a:r>
              <a:rPr sz="1100" b="0">
                <a:solidFill>
                  <a:srgbClr val="1A1A1A"/>
                </a:solidFill>
                <a:latin typeface="Hiragino Sans"/>
                <a:ea typeface="Hiragino Sans"/>
                <a:cs typeface="Hiragino Sans"/>
              </a:rPr>
              <a:t>検索結果上部のAI要約 → SEO/GEO対象</a:t>
            </a:r>
          </a:p>
        </p:txBody>
      </p:sp>
      <p:sp>
        <p:nvSpPr>
          <p:cNvPr id="38" name="TextBox 37"/>
          <p:cNvSpPr txBox="1"/>
          <p:nvPr/>
        </p:nvSpPr>
        <p:spPr>
          <a:xfrm>
            <a:off x="548640" y="5486400"/>
            <a:ext cx="10972800" cy="868680"/>
          </a:xfrm>
          <a:prstGeom prst="rect">
            <a:avLst/>
          </a:prstGeom>
          <a:noFill/>
        </p:spPr>
        <p:txBody>
          <a:bodyPr wrap="square" anchor="t" lIns="0" rIns="0" tIns="0" bIns="0">
            <a:spAutoFit/>
          </a:bodyPr>
          <a:lstStyle/>
          <a:p>
            <a:pPr algn="l">
              <a:lnSpc>
                <a:spcPct val="115000"/>
              </a:lnSpc>
            </a:pPr>
            <a:r>
              <a:rPr sz="1100" b="0">
                <a:solidFill>
                  <a:srgbClr val="0F2A4F"/>
                </a:solidFill>
                <a:latin typeface="Hiragino Sans"/>
                <a:ea typeface="Hiragino Sans"/>
                <a:cs typeface="Hiragino Sans"/>
              </a:rPr>
              <a:t>💡 Gemini Advanced US$20/月 + Google One AI Premium。Workspace 連携で工数削減</a:t>
            </a:r>
          </a:p>
        </p:txBody>
      </p:sp>
      <p:sp>
        <p:nvSpPr>
          <p:cNvPr id="39" name="TextBox 38"/>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広告特化コピーツール</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Jasper / Copy.ai / Anyword ─ 業務特化の選択肢</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P172 / 250</a:t>
            </a:r>
          </a:p>
        </p:txBody>
      </p:sp>
      <p:sp>
        <p:nvSpPr>
          <p:cNvPr id="8" name="Rounded Rectangle 7"/>
          <p:cNvSpPr/>
          <p:nvPr/>
        </p:nvSpPr>
        <p:spPr>
          <a:xfrm>
            <a:off x="548640" y="1417320"/>
            <a:ext cx="2697480" cy="24688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269748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581912"/>
            <a:ext cx="2331720" cy="365760"/>
          </a:xfrm>
          <a:prstGeom prst="rect">
            <a:avLst/>
          </a:prstGeom>
          <a:noFill/>
        </p:spPr>
        <p:txBody>
          <a:bodyPr wrap="square" anchor="t" lIns="0" rIns="0" tIns="0" bIns="0">
            <a:spAutoFit/>
          </a:bodyPr>
          <a:lstStyle/>
          <a:p>
            <a:pPr algn="ctr">
              <a:lnSpc>
                <a:spcPct val="115000"/>
              </a:lnSpc>
            </a:pPr>
            <a:r>
              <a:rPr sz="1500" b="1">
                <a:solidFill>
                  <a:srgbClr val="FFFFFF"/>
                </a:solidFill>
                <a:latin typeface="Helvetica Neue"/>
                <a:ea typeface="Helvetica Neue"/>
                <a:cs typeface="Helvetica Neue"/>
              </a:rPr>
              <a:t>Jasper</a:t>
            </a:r>
          </a:p>
        </p:txBody>
      </p:sp>
      <p:sp>
        <p:nvSpPr>
          <p:cNvPr id="11" name="TextBox 10"/>
          <p:cNvSpPr txBox="1"/>
          <p:nvPr/>
        </p:nvSpPr>
        <p:spPr>
          <a:xfrm>
            <a:off x="731520" y="1965960"/>
            <a:ext cx="2331720" cy="274320"/>
          </a:xfrm>
          <a:prstGeom prst="rect">
            <a:avLst/>
          </a:prstGeom>
          <a:noFill/>
        </p:spPr>
        <p:txBody>
          <a:bodyPr wrap="square" anchor="t" lIns="0" rIns="0" tIns="0" bIns="0">
            <a:spAutoFit/>
          </a:bodyPr>
          <a:lstStyle/>
          <a:p>
            <a:pPr algn="ctr">
              <a:lnSpc>
                <a:spcPct val="115000"/>
              </a:lnSpc>
            </a:pPr>
            <a:r>
              <a:rPr sz="1100" b="0">
                <a:solidFill>
                  <a:srgbClr val="FFFFFF"/>
                </a:solidFill>
                <a:latin typeface="Hiragino Sans"/>
                <a:ea typeface="Hiragino Sans"/>
                <a:cs typeface="Hiragino Sans"/>
              </a:rPr>
              <a:t>$49/月〜</a:t>
            </a:r>
          </a:p>
        </p:txBody>
      </p:sp>
      <p:sp>
        <p:nvSpPr>
          <p:cNvPr id="12" name="TextBox 11"/>
          <p:cNvSpPr txBox="1"/>
          <p:nvPr/>
        </p:nvSpPr>
        <p:spPr>
          <a:xfrm>
            <a:off x="731520" y="2423160"/>
            <a:ext cx="2331720" cy="1417320"/>
          </a:xfrm>
          <a:prstGeom prst="rect">
            <a:avLst/>
          </a:prstGeom>
          <a:noFill/>
        </p:spPr>
        <p:txBody>
          <a:bodyPr wrap="square" anchor="t" lIns="0" rIns="0" tIns="0" bIns="0">
            <a:spAutoFit/>
          </a:bodyPr>
          <a:lstStyle/>
          <a:p>
            <a:pPr algn="ctr">
              <a:lnSpc>
                <a:spcPct val="160000"/>
              </a:lnSpc>
            </a:pPr>
            <a:r>
              <a:rPr sz="1100" b="0">
                <a:solidFill>
                  <a:srgbClr val="1A1A1A"/>
                </a:solidFill>
                <a:latin typeface="Hiragino Sans"/>
                <a:ea typeface="Hiragino Sans"/>
                <a:cs typeface="Hiragino Sans"/>
              </a:rPr>
              <a:t>広告コピー特化</a:t>
            </a:r>
          </a:p>
          <a:p>
            <a:pPr algn="ctr">
              <a:lnSpc>
                <a:spcPct val="160000"/>
              </a:lnSpc>
            </a:pPr>
            <a:r>
              <a:rPr sz="1100" b="0">
                <a:solidFill>
                  <a:srgbClr val="1A1A1A"/>
                </a:solidFill>
                <a:latin typeface="Hiragino Sans"/>
                <a:ea typeface="Hiragino Sans"/>
                <a:cs typeface="Hiragino Sans"/>
              </a:rPr>
              <a:t>ブランドボイス保持</a:t>
            </a:r>
          </a:p>
          <a:p>
            <a:pPr algn="ctr">
              <a:lnSpc>
                <a:spcPct val="160000"/>
              </a:lnSpc>
            </a:pPr>
            <a:r>
              <a:rPr sz="1100" b="0">
                <a:solidFill>
                  <a:srgbClr val="1A1A1A"/>
                </a:solidFill>
                <a:latin typeface="Hiragino Sans"/>
                <a:ea typeface="Hiragino Sans"/>
                <a:cs typeface="Hiragino Sans"/>
              </a:rPr>
              <a:t>テンプレート豊富</a:t>
            </a:r>
          </a:p>
        </p:txBody>
      </p:sp>
      <p:sp>
        <p:nvSpPr>
          <p:cNvPr id="13" name="Rounded Rectangle 12"/>
          <p:cNvSpPr/>
          <p:nvPr/>
        </p:nvSpPr>
        <p:spPr>
          <a:xfrm>
            <a:off x="3337560" y="1417320"/>
            <a:ext cx="2697480" cy="24688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37560" y="1417320"/>
            <a:ext cx="269748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20440" y="1581912"/>
            <a:ext cx="2331720" cy="365760"/>
          </a:xfrm>
          <a:prstGeom prst="rect">
            <a:avLst/>
          </a:prstGeom>
          <a:noFill/>
        </p:spPr>
        <p:txBody>
          <a:bodyPr wrap="square" anchor="t" lIns="0" rIns="0" tIns="0" bIns="0">
            <a:spAutoFit/>
          </a:bodyPr>
          <a:lstStyle/>
          <a:p>
            <a:pPr algn="ctr">
              <a:lnSpc>
                <a:spcPct val="115000"/>
              </a:lnSpc>
            </a:pPr>
            <a:r>
              <a:rPr sz="1500" b="1">
                <a:solidFill>
                  <a:srgbClr val="FFFFFF"/>
                </a:solidFill>
                <a:latin typeface="Helvetica Neue"/>
                <a:ea typeface="Helvetica Neue"/>
                <a:cs typeface="Helvetica Neue"/>
              </a:rPr>
              <a:t>Copy.ai</a:t>
            </a:r>
          </a:p>
        </p:txBody>
      </p:sp>
      <p:sp>
        <p:nvSpPr>
          <p:cNvPr id="16" name="TextBox 15"/>
          <p:cNvSpPr txBox="1"/>
          <p:nvPr/>
        </p:nvSpPr>
        <p:spPr>
          <a:xfrm>
            <a:off x="3520440" y="1965960"/>
            <a:ext cx="2331720" cy="274320"/>
          </a:xfrm>
          <a:prstGeom prst="rect">
            <a:avLst/>
          </a:prstGeom>
          <a:noFill/>
        </p:spPr>
        <p:txBody>
          <a:bodyPr wrap="square" anchor="t" lIns="0" rIns="0" tIns="0" bIns="0">
            <a:spAutoFit/>
          </a:bodyPr>
          <a:lstStyle/>
          <a:p>
            <a:pPr algn="ctr">
              <a:lnSpc>
                <a:spcPct val="115000"/>
              </a:lnSpc>
            </a:pPr>
            <a:r>
              <a:rPr sz="1100" b="0">
                <a:solidFill>
                  <a:srgbClr val="FFFFFF"/>
                </a:solidFill>
                <a:latin typeface="Hiragino Sans"/>
                <a:ea typeface="Hiragino Sans"/>
                <a:cs typeface="Hiragino Sans"/>
              </a:rPr>
              <a:t>Free / $36/月〜</a:t>
            </a:r>
          </a:p>
        </p:txBody>
      </p:sp>
      <p:sp>
        <p:nvSpPr>
          <p:cNvPr id="17" name="TextBox 16"/>
          <p:cNvSpPr txBox="1"/>
          <p:nvPr/>
        </p:nvSpPr>
        <p:spPr>
          <a:xfrm>
            <a:off x="3520440" y="2423160"/>
            <a:ext cx="2331720" cy="1417320"/>
          </a:xfrm>
          <a:prstGeom prst="rect">
            <a:avLst/>
          </a:prstGeom>
          <a:noFill/>
        </p:spPr>
        <p:txBody>
          <a:bodyPr wrap="square" anchor="t" lIns="0" rIns="0" tIns="0" bIns="0">
            <a:spAutoFit/>
          </a:bodyPr>
          <a:lstStyle/>
          <a:p>
            <a:pPr algn="ctr">
              <a:lnSpc>
                <a:spcPct val="160000"/>
              </a:lnSpc>
            </a:pPr>
            <a:r>
              <a:rPr sz="1100" b="0">
                <a:solidFill>
                  <a:srgbClr val="1A1A1A"/>
                </a:solidFill>
                <a:latin typeface="Hiragino Sans"/>
                <a:ea typeface="Hiragino Sans"/>
                <a:cs typeface="Hiragino Sans"/>
              </a:rPr>
              <a:t>Workflow自動化</a:t>
            </a:r>
          </a:p>
          <a:p>
            <a:pPr algn="ctr">
              <a:lnSpc>
                <a:spcPct val="160000"/>
              </a:lnSpc>
            </a:pPr>
            <a:r>
              <a:rPr sz="1100" b="0">
                <a:solidFill>
                  <a:srgbClr val="1A1A1A"/>
                </a:solidFill>
                <a:latin typeface="Hiragino Sans"/>
                <a:ea typeface="Hiragino Sans"/>
                <a:cs typeface="Hiragino Sans"/>
              </a:rPr>
              <a:t>セールス連携</a:t>
            </a:r>
          </a:p>
          <a:p>
            <a:pPr algn="ctr">
              <a:lnSpc>
                <a:spcPct val="160000"/>
              </a:lnSpc>
            </a:pPr>
            <a:r>
              <a:rPr sz="1100" b="0">
                <a:solidFill>
                  <a:srgbClr val="1A1A1A"/>
                </a:solidFill>
                <a:latin typeface="Hiragino Sans"/>
                <a:ea typeface="Hiragino Sans"/>
                <a:cs typeface="Hiragino Sans"/>
              </a:rPr>
              <a:t>ワークフロー型</a:t>
            </a:r>
          </a:p>
        </p:txBody>
      </p:sp>
      <p:sp>
        <p:nvSpPr>
          <p:cNvPr id="18" name="Rounded Rectangle 17"/>
          <p:cNvSpPr/>
          <p:nvPr/>
        </p:nvSpPr>
        <p:spPr>
          <a:xfrm>
            <a:off x="6126480" y="1417320"/>
            <a:ext cx="2697480" cy="24688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0" y="1417320"/>
            <a:ext cx="269748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1581912"/>
            <a:ext cx="2331720" cy="365760"/>
          </a:xfrm>
          <a:prstGeom prst="rect">
            <a:avLst/>
          </a:prstGeom>
          <a:noFill/>
        </p:spPr>
        <p:txBody>
          <a:bodyPr wrap="square" anchor="t" lIns="0" rIns="0" tIns="0" bIns="0">
            <a:spAutoFit/>
          </a:bodyPr>
          <a:lstStyle/>
          <a:p>
            <a:pPr algn="ctr">
              <a:lnSpc>
                <a:spcPct val="115000"/>
              </a:lnSpc>
            </a:pPr>
            <a:r>
              <a:rPr sz="1500" b="1">
                <a:solidFill>
                  <a:srgbClr val="FFFFFF"/>
                </a:solidFill>
                <a:latin typeface="Helvetica Neue"/>
                <a:ea typeface="Helvetica Neue"/>
                <a:cs typeface="Helvetica Neue"/>
              </a:rPr>
              <a:t>Anyword</a:t>
            </a:r>
          </a:p>
        </p:txBody>
      </p:sp>
      <p:sp>
        <p:nvSpPr>
          <p:cNvPr id="21" name="TextBox 20"/>
          <p:cNvSpPr txBox="1"/>
          <p:nvPr/>
        </p:nvSpPr>
        <p:spPr>
          <a:xfrm>
            <a:off x="6309360" y="1965960"/>
            <a:ext cx="2331720" cy="274320"/>
          </a:xfrm>
          <a:prstGeom prst="rect">
            <a:avLst/>
          </a:prstGeom>
          <a:noFill/>
        </p:spPr>
        <p:txBody>
          <a:bodyPr wrap="square" anchor="t" lIns="0" rIns="0" tIns="0" bIns="0">
            <a:spAutoFit/>
          </a:bodyPr>
          <a:lstStyle/>
          <a:p>
            <a:pPr algn="ctr">
              <a:lnSpc>
                <a:spcPct val="115000"/>
              </a:lnSpc>
            </a:pPr>
            <a:r>
              <a:rPr sz="1100" b="0">
                <a:solidFill>
                  <a:srgbClr val="FFFFFF"/>
                </a:solidFill>
                <a:latin typeface="Hiragino Sans"/>
                <a:ea typeface="Hiragino Sans"/>
                <a:cs typeface="Hiragino Sans"/>
              </a:rPr>
              <a:t>$49/月〜</a:t>
            </a:r>
          </a:p>
        </p:txBody>
      </p:sp>
      <p:sp>
        <p:nvSpPr>
          <p:cNvPr id="22" name="TextBox 21"/>
          <p:cNvSpPr txBox="1"/>
          <p:nvPr/>
        </p:nvSpPr>
        <p:spPr>
          <a:xfrm>
            <a:off x="6309360" y="2423160"/>
            <a:ext cx="2331720" cy="1417320"/>
          </a:xfrm>
          <a:prstGeom prst="rect">
            <a:avLst/>
          </a:prstGeom>
          <a:noFill/>
        </p:spPr>
        <p:txBody>
          <a:bodyPr wrap="square" anchor="t" lIns="0" rIns="0" tIns="0" bIns="0">
            <a:spAutoFit/>
          </a:bodyPr>
          <a:lstStyle/>
          <a:p>
            <a:pPr algn="ctr">
              <a:lnSpc>
                <a:spcPct val="160000"/>
              </a:lnSpc>
            </a:pPr>
            <a:r>
              <a:rPr sz="1100" b="0">
                <a:solidFill>
                  <a:srgbClr val="1A1A1A"/>
                </a:solidFill>
                <a:latin typeface="Hiragino Sans"/>
                <a:ea typeface="Hiragino Sans"/>
                <a:cs typeface="Hiragino Sans"/>
              </a:rPr>
              <a:t>予測スコア表示</a:t>
            </a:r>
          </a:p>
          <a:p>
            <a:pPr algn="ctr">
              <a:lnSpc>
                <a:spcPct val="160000"/>
              </a:lnSpc>
            </a:pPr>
            <a:r>
              <a:rPr sz="1100" b="0">
                <a:solidFill>
                  <a:srgbClr val="1A1A1A"/>
                </a:solidFill>
                <a:latin typeface="Hiragino Sans"/>
                <a:ea typeface="Hiragino Sans"/>
                <a:cs typeface="Hiragino Sans"/>
              </a:rPr>
              <a:t>A/Bテスト用量産</a:t>
            </a:r>
          </a:p>
          <a:p>
            <a:pPr algn="ctr">
              <a:lnSpc>
                <a:spcPct val="160000"/>
              </a:lnSpc>
            </a:pPr>
            <a:r>
              <a:rPr sz="1100" b="0">
                <a:solidFill>
                  <a:srgbClr val="1A1A1A"/>
                </a:solidFill>
                <a:latin typeface="Hiragino Sans"/>
                <a:ea typeface="Hiragino Sans"/>
                <a:cs typeface="Hiragino Sans"/>
              </a:rPr>
              <a:t>媒体別最適化</a:t>
            </a:r>
          </a:p>
        </p:txBody>
      </p:sp>
      <p:sp>
        <p:nvSpPr>
          <p:cNvPr id="23" name="Rounded Rectangle 22"/>
          <p:cNvSpPr/>
          <p:nvPr/>
        </p:nvSpPr>
        <p:spPr>
          <a:xfrm>
            <a:off x="8915400" y="1417320"/>
            <a:ext cx="2697480" cy="24688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15400" y="1417320"/>
            <a:ext cx="269748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98280" y="1581912"/>
            <a:ext cx="2331720" cy="365760"/>
          </a:xfrm>
          <a:prstGeom prst="rect">
            <a:avLst/>
          </a:prstGeom>
          <a:noFill/>
        </p:spPr>
        <p:txBody>
          <a:bodyPr wrap="square" anchor="t" lIns="0" rIns="0" tIns="0" bIns="0">
            <a:spAutoFit/>
          </a:bodyPr>
          <a:lstStyle/>
          <a:p>
            <a:pPr algn="ctr">
              <a:lnSpc>
                <a:spcPct val="115000"/>
              </a:lnSpc>
            </a:pPr>
            <a:r>
              <a:rPr sz="1500" b="1">
                <a:solidFill>
                  <a:srgbClr val="FFFFFF"/>
                </a:solidFill>
                <a:latin typeface="Helvetica Neue"/>
                <a:ea typeface="Helvetica Neue"/>
                <a:cs typeface="Helvetica Neue"/>
              </a:rPr>
              <a:t>Persado</a:t>
            </a:r>
          </a:p>
        </p:txBody>
      </p:sp>
      <p:sp>
        <p:nvSpPr>
          <p:cNvPr id="26" name="TextBox 25"/>
          <p:cNvSpPr txBox="1"/>
          <p:nvPr/>
        </p:nvSpPr>
        <p:spPr>
          <a:xfrm>
            <a:off x="9098280" y="1965960"/>
            <a:ext cx="2331720" cy="274320"/>
          </a:xfrm>
          <a:prstGeom prst="rect">
            <a:avLst/>
          </a:prstGeom>
          <a:noFill/>
        </p:spPr>
        <p:txBody>
          <a:bodyPr wrap="square" anchor="t" lIns="0" rIns="0" tIns="0" bIns="0">
            <a:spAutoFit/>
          </a:bodyPr>
          <a:lstStyle/>
          <a:p>
            <a:pPr algn="ctr">
              <a:lnSpc>
                <a:spcPct val="115000"/>
              </a:lnSpc>
            </a:pPr>
            <a:r>
              <a:rPr sz="1100" b="0">
                <a:solidFill>
                  <a:srgbClr val="FFFFFF"/>
                </a:solidFill>
                <a:latin typeface="Hiragino Sans"/>
                <a:ea typeface="Hiragino Sans"/>
                <a:cs typeface="Hiragino Sans"/>
              </a:rPr>
              <a:t>Enterprise</a:t>
            </a:r>
          </a:p>
        </p:txBody>
      </p:sp>
      <p:sp>
        <p:nvSpPr>
          <p:cNvPr id="27" name="TextBox 26"/>
          <p:cNvSpPr txBox="1"/>
          <p:nvPr/>
        </p:nvSpPr>
        <p:spPr>
          <a:xfrm>
            <a:off x="9098280" y="2423160"/>
            <a:ext cx="2331720" cy="1417320"/>
          </a:xfrm>
          <a:prstGeom prst="rect">
            <a:avLst/>
          </a:prstGeom>
          <a:noFill/>
        </p:spPr>
        <p:txBody>
          <a:bodyPr wrap="square" anchor="t" lIns="0" rIns="0" tIns="0" bIns="0">
            <a:spAutoFit/>
          </a:bodyPr>
          <a:lstStyle/>
          <a:p>
            <a:pPr algn="ctr">
              <a:lnSpc>
                <a:spcPct val="160000"/>
              </a:lnSpc>
            </a:pPr>
            <a:r>
              <a:rPr sz="1100" b="0">
                <a:solidFill>
                  <a:srgbClr val="1A1A1A"/>
                </a:solidFill>
                <a:latin typeface="Hiragino Sans"/>
                <a:ea typeface="Hiragino Sans"/>
                <a:cs typeface="Hiragino Sans"/>
              </a:rPr>
              <a:t>感情分析+自動生成</a:t>
            </a:r>
          </a:p>
          <a:p>
            <a:pPr algn="ctr">
              <a:lnSpc>
                <a:spcPct val="160000"/>
              </a:lnSpc>
            </a:pPr>
            <a:r>
              <a:rPr sz="1100" b="0">
                <a:solidFill>
                  <a:srgbClr val="1A1A1A"/>
                </a:solidFill>
                <a:latin typeface="Hiragino Sans"/>
                <a:ea typeface="Hiragino Sans"/>
                <a:cs typeface="Hiragino Sans"/>
              </a:rPr>
              <a:t>大手ブランド向け</a:t>
            </a:r>
          </a:p>
          <a:p>
            <a:pPr algn="ctr">
              <a:lnSpc>
                <a:spcPct val="160000"/>
              </a:lnSpc>
            </a:pPr>
            <a:r>
              <a:rPr sz="1100" b="0">
                <a:solidFill>
                  <a:srgbClr val="1A1A1A"/>
                </a:solidFill>
                <a:latin typeface="Hiragino Sans"/>
                <a:ea typeface="Hiragino Sans"/>
                <a:cs typeface="Hiragino Sans"/>
              </a:rPr>
              <a:t>専門高単価</a:t>
            </a:r>
          </a:p>
        </p:txBody>
      </p:sp>
      <p:sp>
        <p:nvSpPr>
          <p:cNvPr id="28" name="Rounded Rectangle 27"/>
          <p:cNvSpPr/>
          <p:nvPr/>
        </p:nvSpPr>
        <p:spPr>
          <a:xfrm>
            <a:off x="548640" y="4069080"/>
            <a:ext cx="11109960" cy="228600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4206240"/>
            <a:ext cx="100584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 副業代行の判断基準</a:t>
            </a:r>
          </a:p>
        </p:txBody>
      </p:sp>
      <p:sp>
        <p:nvSpPr>
          <p:cNvPr id="30" name="TextBox 29"/>
          <p:cNvSpPr txBox="1"/>
          <p:nvPr/>
        </p:nvSpPr>
        <p:spPr>
          <a:xfrm>
            <a:off x="777240" y="4526280"/>
            <a:ext cx="10972800" cy="178308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 月10案件以下 = ChatGPT / Claude のシンプル利用で十分 (US$20/月)</a:t>
            </a:r>
          </a:p>
          <a:p>
            <a:pPr algn="l">
              <a:lnSpc>
                <a:spcPct val="160000"/>
              </a:lnSpc>
            </a:pPr>
            <a:r>
              <a:rPr sz="1100" b="0">
                <a:solidFill>
                  <a:srgbClr val="1A1A1A"/>
                </a:solidFill>
                <a:latin typeface="Hiragino Sans"/>
                <a:ea typeface="Hiragino Sans"/>
                <a:cs typeface="Hiragino Sans"/>
              </a:rPr>
              <a:t>• 月10案件以上で『同じブランドボイス保持』が課題 = Jasper (Brand Voice機能)</a:t>
            </a:r>
          </a:p>
          <a:p>
            <a:pPr algn="l">
              <a:lnSpc>
                <a:spcPct val="160000"/>
              </a:lnSpc>
            </a:pPr>
            <a:r>
              <a:rPr sz="1100" b="0">
                <a:solidFill>
                  <a:srgbClr val="1A1A1A"/>
                </a:solidFill>
                <a:latin typeface="Hiragino Sans"/>
                <a:ea typeface="Hiragino Sans"/>
                <a:cs typeface="Hiragino Sans"/>
              </a:rPr>
              <a:t>• A/Bテスト用に大量量産したい = Anyword (予測スコア付き)</a:t>
            </a:r>
          </a:p>
          <a:p>
            <a:pPr algn="l">
              <a:lnSpc>
                <a:spcPct val="160000"/>
              </a:lnSpc>
            </a:pPr>
            <a:r>
              <a:rPr sz="1100" b="0">
                <a:solidFill>
                  <a:srgbClr val="1A1A1A"/>
                </a:solidFill>
                <a:latin typeface="Hiragino Sans"/>
                <a:ea typeface="Hiragino Sans"/>
                <a:cs typeface="Hiragino Sans"/>
              </a:rPr>
              <a:t>• Workflow自動化したい = Copy.ai (Zapier / Webhook連携豊富)</a:t>
            </a:r>
          </a:p>
          <a:p>
            <a:pPr algn="l">
              <a:lnSpc>
                <a:spcPct val="160000"/>
              </a:lnSpc>
            </a:pPr>
            <a:r>
              <a:rPr sz="1100" b="0">
                <a:solidFill>
                  <a:srgbClr val="1A1A1A"/>
                </a:solidFill>
                <a:latin typeface="Hiragino Sans"/>
                <a:ea typeface="Hiragino Sans"/>
                <a:cs typeface="Hiragino Sans"/>
              </a:rPr>
              <a:t>• 大手代理店で複数人運用 = Jasper Team / Persado</a:t>
            </a:r>
          </a:p>
        </p:txBody>
      </p:sp>
      <p:sp>
        <p:nvSpPr>
          <p:cNvPr id="31" name="TextBox 30"/>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画像生成 : Midjourney v7</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クリエイティブのデファクト・最高品質</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P173 / 250</a:t>
            </a:r>
          </a:p>
        </p:txBody>
      </p:sp>
      <p:sp>
        <p:nvSpPr>
          <p:cNvPr id="8" name="TextBox 7"/>
          <p:cNvSpPr txBox="1"/>
          <p:nvPr/>
        </p:nvSpPr>
        <p:spPr>
          <a:xfrm>
            <a:off x="548640" y="1417320"/>
            <a:ext cx="1097280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プラン (2026)</a:t>
            </a:r>
          </a:p>
        </p:txBody>
      </p:sp>
      <p:sp>
        <p:nvSpPr>
          <p:cNvPr id="9" name="Rounded Rectangle 8"/>
          <p:cNvSpPr/>
          <p:nvPr/>
        </p:nvSpPr>
        <p:spPr>
          <a:xfrm>
            <a:off x="548640" y="1828800"/>
            <a:ext cx="2697480" cy="15544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828800"/>
            <a:ext cx="2697480" cy="5029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947672"/>
            <a:ext cx="2423160" cy="274320"/>
          </a:xfrm>
          <a:prstGeom prst="rect">
            <a:avLst/>
          </a:prstGeom>
          <a:noFill/>
        </p:spPr>
        <p:txBody>
          <a:bodyPr wrap="square" anchor="t" lIns="0" rIns="0" tIns="0" bIns="0">
            <a:spAutoFit/>
          </a:bodyPr>
          <a:lstStyle/>
          <a:p>
            <a:pPr algn="ctr">
              <a:lnSpc>
                <a:spcPct val="115000"/>
              </a:lnSpc>
            </a:pPr>
            <a:r>
              <a:rPr sz="1300" b="1">
                <a:solidFill>
                  <a:srgbClr val="FFFFFF"/>
                </a:solidFill>
                <a:latin typeface="Helvetica Neue"/>
                <a:ea typeface="Helvetica Neue"/>
                <a:cs typeface="Helvetica Neue"/>
              </a:rPr>
              <a:t>Basic</a:t>
            </a:r>
          </a:p>
        </p:txBody>
      </p:sp>
      <p:sp>
        <p:nvSpPr>
          <p:cNvPr id="12" name="TextBox 11"/>
          <p:cNvSpPr txBox="1"/>
          <p:nvPr/>
        </p:nvSpPr>
        <p:spPr>
          <a:xfrm>
            <a:off x="731520" y="2423160"/>
            <a:ext cx="2331720" cy="274320"/>
          </a:xfrm>
          <a:prstGeom prst="rect">
            <a:avLst/>
          </a:prstGeom>
          <a:noFill/>
        </p:spPr>
        <p:txBody>
          <a:bodyPr wrap="square" anchor="t" lIns="0" rIns="0" tIns="0" bIns="0">
            <a:spAutoFit/>
          </a:bodyPr>
          <a:lstStyle/>
          <a:p>
            <a:pPr algn="ctr">
              <a:lnSpc>
                <a:spcPct val="115000"/>
              </a:lnSpc>
            </a:pPr>
            <a:r>
              <a:rPr sz="1200" b="1">
                <a:solidFill>
                  <a:srgbClr val="E87722"/>
                </a:solidFill>
                <a:latin typeface="Helvetica Neue"/>
                <a:ea typeface="Helvetica Neue"/>
                <a:cs typeface="Helvetica Neue"/>
              </a:rPr>
              <a:t>$10/月</a:t>
            </a:r>
          </a:p>
        </p:txBody>
      </p:sp>
      <p:sp>
        <p:nvSpPr>
          <p:cNvPr id="13" name="TextBox 12"/>
          <p:cNvSpPr txBox="1"/>
          <p:nvPr/>
        </p:nvSpPr>
        <p:spPr>
          <a:xfrm>
            <a:off x="731520" y="2697480"/>
            <a:ext cx="2331720" cy="640080"/>
          </a:xfrm>
          <a:prstGeom prst="rect">
            <a:avLst/>
          </a:prstGeom>
          <a:noFill/>
        </p:spPr>
        <p:txBody>
          <a:bodyPr wrap="square" anchor="t" lIns="0" rIns="0" tIns="0" bIns="0">
            <a:spAutoFit/>
          </a:bodyPr>
          <a:lstStyle/>
          <a:p>
            <a:pPr algn="ctr">
              <a:lnSpc>
                <a:spcPct val="150000"/>
              </a:lnSpc>
            </a:pPr>
            <a:r>
              <a:rPr sz="1000" b="0">
                <a:solidFill>
                  <a:srgbClr val="1A1A1A"/>
                </a:solidFill>
                <a:latin typeface="Hiragino Sans"/>
                <a:ea typeface="Hiragino Sans"/>
                <a:cs typeface="Hiragino Sans"/>
              </a:rPr>
              <a:t>200画像/月 程度</a:t>
            </a:r>
          </a:p>
          <a:p>
            <a:pPr algn="ctr">
              <a:lnSpc>
                <a:spcPct val="150000"/>
              </a:lnSpc>
            </a:pPr>
            <a:r>
              <a:rPr sz="1000" b="0">
                <a:solidFill>
                  <a:srgbClr val="1A1A1A"/>
                </a:solidFill>
                <a:latin typeface="Hiragino Sans"/>
                <a:ea typeface="Hiragino Sans"/>
                <a:cs typeface="Hiragino Sans"/>
              </a:rPr>
              <a:t>スタンダード品質</a:t>
            </a:r>
          </a:p>
        </p:txBody>
      </p:sp>
      <p:sp>
        <p:nvSpPr>
          <p:cNvPr id="14" name="Rounded Rectangle 13"/>
          <p:cNvSpPr/>
          <p:nvPr/>
        </p:nvSpPr>
        <p:spPr>
          <a:xfrm>
            <a:off x="3337560" y="1828800"/>
            <a:ext cx="2697480" cy="15544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37560" y="1828800"/>
            <a:ext cx="2697480" cy="5029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74720" y="1947672"/>
            <a:ext cx="2423160" cy="274320"/>
          </a:xfrm>
          <a:prstGeom prst="rect">
            <a:avLst/>
          </a:prstGeom>
          <a:noFill/>
        </p:spPr>
        <p:txBody>
          <a:bodyPr wrap="square" anchor="t" lIns="0" rIns="0" tIns="0" bIns="0">
            <a:spAutoFit/>
          </a:bodyPr>
          <a:lstStyle/>
          <a:p>
            <a:pPr algn="ctr">
              <a:lnSpc>
                <a:spcPct val="115000"/>
              </a:lnSpc>
            </a:pPr>
            <a:r>
              <a:rPr sz="1300" b="1">
                <a:solidFill>
                  <a:srgbClr val="FFFFFF"/>
                </a:solidFill>
                <a:latin typeface="Helvetica Neue"/>
                <a:ea typeface="Helvetica Neue"/>
                <a:cs typeface="Helvetica Neue"/>
              </a:rPr>
              <a:t>Standard</a:t>
            </a:r>
          </a:p>
        </p:txBody>
      </p:sp>
      <p:sp>
        <p:nvSpPr>
          <p:cNvPr id="17" name="TextBox 16"/>
          <p:cNvSpPr txBox="1"/>
          <p:nvPr/>
        </p:nvSpPr>
        <p:spPr>
          <a:xfrm>
            <a:off x="3520440" y="2423160"/>
            <a:ext cx="2331720" cy="274320"/>
          </a:xfrm>
          <a:prstGeom prst="rect">
            <a:avLst/>
          </a:prstGeom>
          <a:noFill/>
        </p:spPr>
        <p:txBody>
          <a:bodyPr wrap="square" anchor="t" lIns="0" rIns="0" tIns="0" bIns="0">
            <a:spAutoFit/>
          </a:bodyPr>
          <a:lstStyle/>
          <a:p>
            <a:pPr algn="ctr">
              <a:lnSpc>
                <a:spcPct val="115000"/>
              </a:lnSpc>
            </a:pPr>
            <a:r>
              <a:rPr sz="1200" b="1">
                <a:solidFill>
                  <a:srgbClr val="E87722"/>
                </a:solidFill>
                <a:latin typeface="Helvetica Neue"/>
                <a:ea typeface="Helvetica Neue"/>
                <a:cs typeface="Helvetica Neue"/>
              </a:rPr>
              <a:t>$30/月</a:t>
            </a:r>
          </a:p>
        </p:txBody>
      </p:sp>
      <p:sp>
        <p:nvSpPr>
          <p:cNvPr id="18" name="TextBox 17"/>
          <p:cNvSpPr txBox="1"/>
          <p:nvPr/>
        </p:nvSpPr>
        <p:spPr>
          <a:xfrm>
            <a:off x="3520440" y="2697480"/>
            <a:ext cx="2331720" cy="640080"/>
          </a:xfrm>
          <a:prstGeom prst="rect">
            <a:avLst/>
          </a:prstGeom>
          <a:noFill/>
        </p:spPr>
        <p:txBody>
          <a:bodyPr wrap="square" anchor="t" lIns="0" rIns="0" tIns="0" bIns="0">
            <a:spAutoFit/>
          </a:bodyPr>
          <a:lstStyle/>
          <a:p>
            <a:pPr algn="ctr">
              <a:lnSpc>
                <a:spcPct val="150000"/>
              </a:lnSpc>
            </a:pPr>
            <a:r>
              <a:rPr sz="1000" b="0">
                <a:solidFill>
                  <a:srgbClr val="1A1A1A"/>
                </a:solidFill>
                <a:latin typeface="Hiragino Sans"/>
                <a:ea typeface="Hiragino Sans"/>
                <a:cs typeface="Hiragino Sans"/>
              </a:rPr>
              <a:t>Fast 15時間/月</a:t>
            </a:r>
          </a:p>
          <a:p>
            <a:pPr algn="ctr">
              <a:lnSpc>
                <a:spcPct val="150000"/>
              </a:lnSpc>
            </a:pPr>
            <a:r>
              <a:rPr sz="1000" b="0">
                <a:solidFill>
                  <a:srgbClr val="1A1A1A"/>
                </a:solidFill>
                <a:latin typeface="Hiragino Sans"/>
                <a:ea typeface="Hiragino Sans"/>
                <a:cs typeface="Hiragino Sans"/>
              </a:rPr>
              <a:t>Unlimited Relax</a:t>
            </a:r>
          </a:p>
        </p:txBody>
      </p:sp>
      <p:sp>
        <p:nvSpPr>
          <p:cNvPr id="19" name="Rounded Rectangle 18"/>
          <p:cNvSpPr/>
          <p:nvPr/>
        </p:nvSpPr>
        <p:spPr>
          <a:xfrm>
            <a:off x="6126480" y="1828800"/>
            <a:ext cx="2697480" cy="15544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26480" y="1828800"/>
            <a:ext cx="2697480" cy="5029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63640" y="1947672"/>
            <a:ext cx="2423160" cy="274320"/>
          </a:xfrm>
          <a:prstGeom prst="rect">
            <a:avLst/>
          </a:prstGeom>
          <a:noFill/>
        </p:spPr>
        <p:txBody>
          <a:bodyPr wrap="square" anchor="t" lIns="0" rIns="0" tIns="0" bIns="0">
            <a:spAutoFit/>
          </a:bodyPr>
          <a:lstStyle/>
          <a:p>
            <a:pPr algn="ctr">
              <a:lnSpc>
                <a:spcPct val="115000"/>
              </a:lnSpc>
            </a:pPr>
            <a:r>
              <a:rPr sz="1300" b="1">
                <a:solidFill>
                  <a:srgbClr val="FFFFFF"/>
                </a:solidFill>
                <a:latin typeface="Helvetica Neue"/>
                <a:ea typeface="Helvetica Neue"/>
                <a:cs typeface="Helvetica Neue"/>
              </a:rPr>
              <a:t>Pro</a:t>
            </a:r>
          </a:p>
        </p:txBody>
      </p:sp>
      <p:sp>
        <p:nvSpPr>
          <p:cNvPr id="22" name="TextBox 21"/>
          <p:cNvSpPr txBox="1"/>
          <p:nvPr/>
        </p:nvSpPr>
        <p:spPr>
          <a:xfrm>
            <a:off x="6309360" y="2423160"/>
            <a:ext cx="2331720" cy="274320"/>
          </a:xfrm>
          <a:prstGeom prst="rect">
            <a:avLst/>
          </a:prstGeom>
          <a:noFill/>
        </p:spPr>
        <p:txBody>
          <a:bodyPr wrap="square" anchor="t" lIns="0" rIns="0" tIns="0" bIns="0">
            <a:spAutoFit/>
          </a:bodyPr>
          <a:lstStyle/>
          <a:p>
            <a:pPr algn="ctr">
              <a:lnSpc>
                <a:spcPct val="115000"/>
              </a:lnSpc>
            </a:pPr>
            <a:r>
              <a:rPr sz="1200" b="1">
                <a:solidFill>
                  <a:srgbClr val="E87722"/>
                </a:solidFill>
                <a:latin typeface="Helvetica Neue"/>
                <a:ea typeface="Helvetica Neue"/>
                <a:cs typeface="Helvetica Neue"/>
              </a:rPr>
              <a:t>$60/月</a:t>
            </a:r>
          </a:p>
        </p:txBody>
      </p:sp>
      <p:sp>
        <p:nvSpPr>
          <p:cNvPr id="23" name="TextBox 22"/>
          <p:cNvSpPr txBox="1"/>
          <p:nvPr/>
        </p:nvSpPr>
        <p:spPr>
          <a:xfrm>
            <a:off x="6309360" y="2697480"/>
            <a:ext cx="2331720" cy="640080"/>
          </a:xfrm>
          <a:prstGeom prst="rect">
            <a:avLst/>
          </a:prstGeom>
          <a:noFill/>
        </p:spPr>
        <p:txBody>
          <a:bodyPr wrap="square" anchor="t" lIns="0" rIns="0" tIns="0" bIns="0">
            <a:spAutoFit/>
          </a:bodyPr>
          <a:lstStyle/>
          <a:p>
            <a:pPr algn="ctr">
              <a:lnSpc>
                <a:spcPct val="150000"/>
              </a:lnSpc>
            </a:pPr>
            <a:r>
              <a:rPr sz="1000" b="0">
                <a:solidFill>
                  <a:srgbClr val="1A1A1A"/>
                </a:solidFill>
                <a:latin typeface="Hiragino Sans"/>
                <a:ea typeface="Hiragino Sans"/>
                <a:cs typeface="Hiragino Sans"/>
              </a:rPr>
              <a:t>Fast 30時間/月</a:t>
            </a:r>
          </a:p>
          <a:p>
            <a:pPr algn="ctr">
              <a:lnSpc>
                <a:spcPct val="150000"/>
              </a:lnSpc>
            </a:pPr>
            <a:r>
              <a:rPr sz="1000" b="0">
                <a:solidFill>
                  <a:srgbClr val="1A1A1A"/>
                </a:solidFill>
                <a:latin typeface="Hiragino Sans"/>
                <a:ea typeface="Hiragino Sans"/>
                <a:cs typeface="Hiragino Sans"/>
              </a:rPr>
              <a:t>Stealth Mode</a:t>
            </a:r>
          </a:p>
        </p:txBody>
      </p:sp>
      <p:sp>
        <p:nvSpPr>
          <p:cNvPr id="24" name="Rounded Rectangle 23"/>
          <p:cNvSpPr/>
          <p:nvPr/>
        </p:nvSpPr>
        <p:spPr>
          <a:xfrm>
            <a:off x="8915400" y="1828800"/>
            <a:ext cx="2697480" cy="15544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915400" y="1828800"/>
            <a:ext cx="2697480" cy="5029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0" y="1947672"/>
            <a:ext cx="2423160" cy="274320"/>
          </a:xfrm>
          <a:prstGeom prst="rect">
            <a:avLst/>
          </a:prstGeom>
          <a:noFill/>
        </p:spPr>
        <p:txBody>
          <a:bodyPr wrap="square" anchor="t" lIns="0" rIns="0" tIns="0" bIns="0">
            <a:spAutoFit/>
          </a:bodyPr>
          <a:lstStyle/>
          <a:p>
            <a:pPr algn="ctr">
              <a:lnSpc>
                <a:spcPct val="115000"/>
              </a:lnSpc>
            </a:pPr>
            <a:r>
              <a:rPr sz="1300" b="1">
                <a:solidFill>
                  <a:srgbClr val="FFFFFF"/>
                </a:solidFill>
                <a:latin typeface="Helvetica Neue"/>
                <a:ea typeface="Helvetica Neue"/>
                <a:cs typeface="Helvetica Neue"/>
              </a:rPr>
              <a:t>Mega</a:t>
            </a:r>
          </a:p>
        </p:txBody>
      </p:sp>
      <p:sp>
        <p:nvSpPr>
          <p:cNvPr id="27" name="TextBox 26"/>
          <p:cNvSpPr txBox="1"/>
          <p:nvPr/>
        </p:nvSpPr>
        <p:spPr>
          <a:xfrm>
            <a:off x="9098280" y="2423160"/>
            <a:ext cx="2331720" cy="274320"/>
          </a:xfrm>
          <a:prstGeom prst="rect">
            <a:avLst/>
          </a:prstGeom>
          <a:noFill/>
        </p:spPr>
        <p:txBody>
          <a:bodyPr wrap="square" anchor="t" lIns="0" rIns="0" tIns="0" bIns="0">
            <a:spAutoFit/>
          </a:bodyPr>
          <a:lstStyle/>
          <a:p>
            <a:pPr algn="ctr">
              <a:lnSpc>
                <a:spcPct val="115000"/>
              </a:lnSpc>
            </a:pPr>
            <a:r>
              <a:rPr sz="1200" b="1">
                <a:solidFill>
                  <a:srgbClr val="E87722"/>
                </a:solidFill>
                <a:latin typeface="Helvetica Neue"/>
                <a:ea typeface="Helvetica Neue"/>
                <a:cs typeface="Helvetica Neue"/>
              </a:rPr>
              <a:t>$120/月</a:t>
            </a:r>
          </a:p>
        </p:txBody>
      </p:sp>
      <p:sp>
        <p:nvSpPr>
          <p:cNvPr id="28" name="TextBox 27"/>
          <p:cNvSpPr txBox="1"/>
          <p:nvPr/>
        </p:nvSpPr>
        <p:spPr>
          <a:xfrm>
            <a:off x="9098280" y="2697480"/>
            <a:ext cx="2331720" cy="640080"/>
          </a:xfrm>
          <a:prstGeom prst="rect">
            <a:avLst/>
          </a:prstGeom>
          <a:noFill/>
        </p:spPr>
        <p:txBody>
          <a:bodyPr wrap="square" anchor="t" lIns="0" rIns="0" tIns="0" bIns="0">
            <a:spAutoFit/>
          </a:bodyPr>
          <a:lstStyle/>
          <a:p>
            <a:pPr algn="ctr">
              <a:lnSpc>
                <a:spcPct val="150000"/>
              </a:lnSpc>
            </a:pPr>
            <a:r>
              <a:rPr sz="1000" b="0">
                <a:solidFill>
                  <a:srgbClr val="1A1A1A"/>
                </a:solidFill>
                <a:latin typeface="Hiragino Sans"/>
                <a:ea typeface="Hiragino Sans"/>
                <a:cs typeface="Hiragino Sans"/>
              </a:rPr>
              <a:t>Fast 60時間/月</a:t>
            </a:r>
          </a:p>
          <a:p>
            <a:pPr algn="ctr">
              <a:lnSpc>
                <a:spcPct val="150000"/>
              </a:lnSpc>
            </a:pPr>
            <a:r>
              <a:rPr sz="1000" b="0">
                <a:solidFill>
                  <a:srgbClr val="1A1A1A"/>
                </a:solidFill>
                <a:latin typeface="Hiragino Sans"/>
                <a:ea typeface="Hiragino Sans"/>
                <a:cs typeface="Hiragino Sans"/>
              </a:rPr>
              <a:t>商用利用フル</a:t>
            </a:r>
          </a:p>
        </p:txBody>
      </p:sp>
      <p:sp>
        <p:nvSpPr>
          <p:cNvPr id="29" name="Rounded Rectangle 28"/>
          <p:cNvSpPr/>
          <p:nvPr/>
        </p:nvSpPr>
        <p:spPr>
          <a:xfrm>
            <a:off x="548640" y="3657600"/>
            <a:ext cx="11109960" cy="269748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3794760"/>
            <a:ext cx="100584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 広告運用代行での使い方</a:t>
            </a:r>
          </a:p>
        </p:txBody>
      </p:sp>
      <p:sp>
        <p:nvSpPr>
          <p:cNvPr id="31" name="TextBox 30"/>
          <p:cNvSpPr txBox="1"/>
          <p:nvPr/>
        </p:nvSpPr>
        <p:spPr>
          <a:xfrm>
            <a:off x="777240" y="4114800"/>
            <a:ext cx="10972800" cy="219456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 訴求軸ごとに 5-10案を量産 → クライアント承認後に Smart+ / Advantage+ に投入</a:t>
            </a:r>
          </a:p>
          <a:p>
            <a:pPr algn="l">
              <a:lnSpc>
                <a:spcPct val="160000"/>
              </a:lnSpc>
            </a:pPr>
            <a:r>
              <a:rPr sz="1100" b="0">
                <a:solidFill>
                  <a:srgbClr val="1A1A1A"/>
                </a:solidFill>
                <a:latin typeface="Hiragino Sans"/>
                <a:ea typeface="Hiragino Sans"/>
                <a:cs typeface="Hiragino Sans"/>
              </a:rPr>
              <a:t>• Style References (--sref) で同一ブランドトーン維持 (2024年導入)</a:t>
            </a:r>
          </a:p>
          <a:p>
            <a:pPr algn="l">
              <a:lnSpc>
                <a:spcPct val="160000"/>
              </a:lnSpc>
            </a:pPr>
            <a:r>
              <a:rPr sz="1100" b="0">
                <a:solidFill>
                  <a:srgbClr val="1A1A1A"/>
                </a:solidFill>
                <a:latin typeface="Hiragino Sans"/>
                <a:ea typeface="Hiragino Sans"/>
                <a:cs typeface="Hiragino Sans"/>
              </a:rPr>
              <a:t>• 商用利用 : Standard以上で OK (Basic も可)</a:t>
            </a:r>
          </a:p>
          <a:p>
            <a:pPr algn="l">
              <a:lnSpc>
                <a:spcPct val="160000"/>
              </a:lnSpc>
            </a:pPr>
            <a:r>
              <a:rPr sz="1100" b="0">
                <a:solidFill>
                  <a:srgbClr val="1A1A1A"/>
                </a:solidFill>
                <a:latin typeface="Hiragino Sans"/>
                <a:ea typeface="Hiragino Sans"/>
                <a:cs typeface="Hiragino Sans"/>
              </a:rPr>
              <a:t>• Discord UI に加え 公式Web UI も完成済 (2025-2026)</a:t>
            </a:r>
          </a:p>
          <a:p>
            <a:pPr algn="l">
              <a:lnSpc>
                <a:spcPct val="160000"/>
              </a:lnSpc>
            </a:pPr>
            <a:r>
              <a:rPr sz="1100" b="0">
                <a:solidFill>
                  <a:srgbClr val="1A1A1A"/>
                </a:solidFill>
                <a:latin typeface="Hiragino Sans"/>
                <a:ea typeface="Hiragino Sans"/>
                <a:cs typeface="Hiragino Sans"/>
              </a:rPr>
              <a:t>• 副業代行 : Standard $30/月で 月20-30案件のクリエイティブ量産可能</a:t>
            </a:r>
          </a:p>
          <a:p>
            <a:pPr algn="l">
              <a:lnSpc>
                <a:spcPct val="160000"/>
              </a:lnSpc>
            </a:pPr>
            <a:r>
              <a:rPr sz="1100" b="0">
                <a:solidFill>
                  <a:srgbClr val="1A1A1A"/>
                </a:solidFill>
                <a:latin typeface="Hiragino Sans"/>
                <a:ea typeface="Hiragino Sans"/>
                <a:cs typeface="Hiragino Sans"/>
              </a:rPr>
              <a:t>• 著作権 : Stealth Mode (Pro以上) で他人の Public生成画像から自分のが見られない</a:t>
            </a:r>
          </a:p>
          <a:p>
            <a:pPr algn="l">
              <a:lnSpc>
                <a:spcPct val="160000"/>
              </a:lnSpc>
            </a:pPr>
            <a:r>
              <a:rPr sz="1100" b="0">
                <a:solidFill>
                  <a:srgbClr val="1A1A1A"/>
                </a:solidFill>
                <a:latin typeface="Hiragino Sans"/>
                <a:ea typeface="Hiragino Sans"/>
                <a:cs typeface="Hiragino Sans"/>
              </a:rPr>
              <a:t>• 注意 : 人物の顔・既存ブランド・キャラクターの再現は使用禁止</a:t>
            </a:r>
          </a:p>
        </p:txBody>
      </p:sp>
      <p:sp>
        <p:nvSpPr>
          <p:cNvPr id="32" name="TextBox 31"/>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画像生成 : DALL-E / Imagen</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ChatGPT / Gemini 内で使える画像生成</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P174 / 250</a:t>
            </a:r>
          </a:p>
        </p:txBody>
      </p:sp>
      <p:sp>
        <p:nvSpPr>
          <p:cNvPr id="8" name="Rounded Rectangle 7"/>
          <p:cNvSpPr/>
          <p:nvPr/>
        </p:nvSpPr>
        <p:spPr>
          <a:xfrm>
            <a:off x="548640" y="1417320"/>
            <a:ext cx="5486400" cy="32004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548640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581912"/>
            <a:ext cx="4937760" cy="411480"/>
          </a:xfrm>
          <a:prstGeom prst="rect">
            <a:avLst/>
          </a:prstGeom>
          <a:noFill/>
        </p:spPr>
        <p:txBody>
          <a:bodyPr wrap="square" anchor="t" lIns="0" rIns="0" tIns="0" bIns="0">
            <a:spAutoFit/>
          </a:bodyPr>
          <a:lstStyle/>
          <a:p>
            <a:pPr algn="l">
              <a:lnSpc>
                <a:spcPct val="115000"/>
              </a:lnSpc>
            </a:pPr>
            <a:r>
              <a:rPr sz="1500" b="1">
                <a:solidFill>
                  <a:srgbClr val="FFFFFF"/>
                </a:solidFill>
                <a:latin typeface="Hiragino Sans"/>
                <a:ea typeface="Hiragino Sans"/>
                <a:cs typeface="Hiragino Sans"/>
              </a:rPr>
              <a:t>DALL-E 4 / GPT-Image</a:t>
            </a:r>
          </a:p>
        </p:txBody>
      </p:sp>
      <p:sp>
        <p:nvSpPr>
          <p:cNvPr id="11" name="TextBox 10"/>
          <p:cNvSpPr txBox="1"/>
          <p:nvPr/>
        </p:nvSpPr>
        <p:spPr>
          <a:xfrm>
            <a:off x="822960" y="1965960"/>
            <a:ext cx="4937760" cy="27432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ChatGPT統合</a:t>
            </a:r>
          </a:p>
        </p:txBody>
      </p:sp>
      <p:sp>
        <p:nvSpPr>
          <p:cNvPr id="12" name="TextBox 11"/>
          <p:cNvSpPr txBox="1"/>
          <p:nvPr/>
        </p:nvSpPr>
        <p:spPr>
          <a:xfrm>
            <a:off x="822960" y="2423160"/>
            <a:ext cx="4937760" cy="2103120"/>
          </a:xfrm>
          <a:prstGeom prst="rect">
            <a:avLst/>
          </a:prstGeom>
          <a:noFill/>
        </p:spPr>
        <p:txBody>
          <a:bodyPr wrap="square" anchor="t" lIns="0" rIns="0" tIns="0" bIns="0">
            <a:spAutoFit/>
          </a:bodyPr>
          <a:lstStyle/>
          <a:p>
            <a:pPr algn="l">
              <a:lnSpc>
                <a:spcPct val="170000"/>
              </a:lnSpc>
            </a:pPr>
            <a:r>
              <a:rPr sz="1100" b="0">
                <a:solidFill>
                  <a:srgbClr val="1A1A1A"/>
                </a:solidFill>
                <a:latin typeface="Hiragino Sans"/>
                <a:ea typeface="Hiragino Sans"/>
                <a:cs typeface="Hiragino Sans"/>
              </a:rPr>
              <a:t>ChatGPT Plus / API</a:t>
            </a:r>
          </a:p>
          <a:p>
            <a:pPr algn="l">
              <a:lnSpc>
                <a:spcPct val="170000"/>
              </a:lnSpc>
            </a:pPr>
            <a:r>
              <a:rPr sz="1100" b="0">
                <a:solidFill>
                  <a:srgbClr val="1A1A1A"/>
                </a:solidFill>
                <a:latin typeface="Hiragino Sans"/>
                <a:ea typeface="Hiragino Sans"/>
                <a:cs typeface="Hiragino Sans"/>
              </a:rPr>
              <a:t>テキスト→画像</a:t>
            </a:r>
          </a:p>
          <a:p>
            <a:pPr algn="l">
              <a:lnSpc>
                <a:spcPct val="170000"/>
              </a:lnSpc>
            </a:pPr>
            <a:r>
              <a:rPr sz="1100" b="0">
                <a:solidFill>
                  <a:srgbClr val="1A1A1A"/>
                </a:solidFill>
                <a:latin typeface="Hiragino Sans"/>
                <a:ea typeface="Hiragino Sans"/>
                <a:cs typeface="Hiragino Sans"/>
              </a:rPr>
              <a:t>プロンプトに会話的に</a:t>
            </a:r>
          </a:p>
          <a:p>
            <a:pPr algn="l">
              <a:lnSpc>
                <a:spcPct val="170000"/>
              </a:lnSpc>
            </a:pPr>
            <a:r>
              <a:rPr sz="1100" b="0">
                <a:solidFill>
                  <a:srgbClr val="1A1A1A"/>
                </a:solidFill>
                <a:latin typeface="Hiragino Sans"/>
                <a:ea typeface="Hiragino Sans"/>
                <a:cs typeface="Hiragino Sans"/>
              </a:rPr>
              <a:t>強み : 自然言語で細かい指示</a:t>
            </a:r>
          </a:p>
          <a:p>
            <a:pPr algn="l">
              <a:lnSpc>
                <a:spcPct val="170000"/>
              </a:lnSpc>
            </a:pPr>
            <a:r>
              <a:rPr sz="1100" b="0">
                <a:solidFill>
                  <a:srgbClr val="1A1A1A"/>
                </a:solidFill>
                <a:latin typeface="Hiragino Sans"/>
                <a:ea typeface="Hiragino Sans"/>
                <a:cs typeface="Hiragino Sans"/>
              </a:rPr>
              <a:t>弱み : 細かい構図制御は苦手</a:t>
            </a:r>
          </a:p>
        </p:txBody>
      </p:sp>
      <p:sp>
        <p:nvSpPr>
          <p:cNvPr id="13" name="Rounded Rectangle 12"/>
          <p:cNvSpPr/>
          <p:nvPr/>
        </p:nvSpPr>
        <p:spPr>
          <a:xfrm>
            <a:off x="6172200" y="1417320"/>
            <a:ext cx="5486400" cy="32004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1417320"/>
            <a:ext cx="548640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1581912"/>
            <a:ext cx="4937760" cy="411480"/>
          </a:xfrm>
          <a:prstGeom prst="rect">
            <a:avLst/>
          </a:prstGeom>
          <a:noFill/>
        </p:spPr>
        <p:txBody>
          <a:bodyPr wrap="square" anchor="t" lIns="0" rIns="0" tIns="0" bIns="0">
            <a:spAutoFit/>
          </a:bodyPr>
          <a:lstStyle/>
          <a:p>
            <a:pPr algn="l">
              <a:lnSpc>
                <a:spcPct val="115000"/>
              </a:lnSpc>
            </a:pPr>
            <a:r>
              <a:rPr sz="1500" b="1">
                <a:solidFill>
                  <a:srgbClr val="FFFFFF"/>
                </a:solidFill>
                <a:latin typeface="Hiragino Sans"/>
                <a:ea typeface="Hiragino Sans"/>
                <a:cs typeface="Hiragino Sans"/>
              </a:rPr>
              <a:t>Imagen 4</a:t>
            </a:r>
          </a:p>
        </p:txBody>
      </p:sp>
      <p:sp>
        <p:nvSpPr>
          <p:cNvPr id="16" name="TextBox 15"/>
          <p:cNvSpPr txBox="1"/>
          <p:nvPr/>
        </p:nvSpPr>
        <p:spPr>
          <a:xfrm>
            <a:off x="6446520" y="1965960"/>
            <a:ext cx="4937760" cy="27432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Google統合</a:t>
            </a:r>
          </a:p>
        </p:txBody>
      </p:sp>
      <p:sp>
        <p:nvSpPr>
          <p:cNvPr id="17" name="TextBox 16"/>
          <p:cNvSpPr txBox="1"/>
          <p:nvPr/>
        </p:nvSpPr>
        <p:spPr>
          <a:xfrm>
            <a:off x="6446520" y="2423160"/>
            <a:ext cx="4937760" cy="2103120"/>
          </a:xfrm>
          <a:prstGeom prst="rect">
            <a:avLst/>
          </a:prstGeom>
          <a:noFill/>
        </p:spPr>
        <p:txBody>
          <a:bodyPr wrap="square" anchor="t" lIns="0" rIns="0" tIns="0" bIns="0">
            <a:spAutoFit/>
          </a:bodyPr>
          <a:lstStyle/>
          <a:p>
            <a:pPr algn="l">
              <a:lnSpc>
                <a:spcPct val="170000"/>
              </a:lnSpc>
            </a:pPr>
            <a:r>
              <a:rPr sz="1100" b="0">
                <a:solidFill>
                  <a:srgbClr val="1A1A1A"/>
                </a:solidFill>
                <a:latin typeface="Hiragino Sans"/>
                <a:ea typeface="Hiragino Sans"/>
                <a:cs typeface="Hiragino Sans"/>
              </a:rPr>
              <a:t>Gemini / Vertex AI</a:t>
            </a:r>
          </a:p>
          <a:p>
            <a:pPr algn="l">
              <a:lnSpc>
                <a:spcPct val="170000"/>
              </a:lnSpc>
            </a:pPr>
            <a:r>
              <a:rPr sz="1100" b="0">
                <a:solidFill>
                  <a:srgbClr val="1A1A1A"/>
                </a:solidFill>
                <a:latin typeface="Hiragino Sans"/>
                <a:ea typeface="Hiragino Sans"/>
                <a:cs typeface="Hiragino Sans"/>
              </a:rPr>
              <a:t>Google Cloudで利用</a:t>
            </a:r>
          </a:p>
          <a:p>
            <a:pPr algn="l">
              <a:lnSpc>
                <a:spcPct val="170000"/>
              </a:lnSpc>
            </a:pPr>
            <a:r>
              <a:rPr sz="1100" b="0">
                <a:solidFill>
                  <a:srgbClr val="1A1A1A"/>
                </a:solidFill>
                <a:latin typeface="Hiragino Sans"/>
                <a:ea typeface="Hiragino Sans"/>
                <a:cs typeface="Hiragino Sans"/>
              </a:rPr>
              <a:t>強み : 写実的な画像</a:t>
            </a:r>
          </a:p>
          <a:p>
            <a:pPr algn="l">
              <a:lnSpc>
                <a:spcPct val="170000"/>
              </a:lnSpc>
            </a:pPr>
            <a:r>
              <a:rPr sz="1100" b="0">
                <a:solidFill>
                  <a:srgbClr val="1A1A1A"/>
                </a:solidFill>
                <a:latin typeface="Hiragino Sans"/>
                <a:ea typeface="Hiragino Sans"/>
                <a:cs typeface="Hiragino Sans"/>
              </a:rPr>
              <a:t>強み : 日本語プロンプト精度高</a:t>
            </a:r>
          </a:p>
          <a:p>
            <a:pPr algn="l">
              <a:lnSpc>
                <a:spcPct val="170000"/>
              </a:lnSpc>
            </a:pPr>
            <a:r>
              <a:rPr sz="1100" b="0">
                <a:solidFill>
                  <a:srgbClr val="1A1A1A"/>
                </a:solidFill>
                <a:latin typeface="Hiragino Sans"/>
                <a:ea typeface="Hiragino Sans"/>
                <a:cs typeface="Hiragino Sans"/>
              </a:rPr>
              <a:t>弱み : 商用利用は要規約確認</a:t>
            </a:r>
          </a:p>
        </p:txBody>
      </p:sp>
      <p:sp>
        <p:nvSpPr>
          <p:cNvPr id="18" name="Rounded Rectangle 17"/>
          <p:cNvSpPr/>
          <p:nvPr/>
        </p:nvSpPr>
        <p:spPr>
          <a:xfrm>
            <a:off x="548640" y="4800600"/>
            <a:ext cx="11109960" cy="155448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937760"/>
            <a:ext cx="100584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 副業代行のおすすめ</a:t>
            </a:r>
          </a:p>
        </p:txBody>
      </p:sp>
      <p:sp>
        <p:nvSpPr>
          <p:cNvPr id="20" name="TextBox 19"/>
          <p:cNvSpPr txBox="1"/>
          <p:nvPr/>
        </p:nvSpPr>
        <p:spPr>
          <a:xfrm>
            <a:off x="777240" y="5257800"/>
            <a:ext cx="10972800" cy="1051560"/>
          </a:xfrm>
          <a:prstGeom prst="rect">
            <a:avLst/>
          </a:prstGeom>
          <a:noFill/>
        </p:spPr>
        <p:txBody>
          <a:bodyPr wrap="square" anchor="t" lIns="0" rIns="0" tIns="0" bIns="0">
            <a:spAutoFit/>
          </a:bodyPr>
          <a:lstStyle/>
          <a:p>
            <a:pPr algn="l">
              <a:lnSpc>
                <a:spcPct val="155000"/>
              </a:lnSpc>
            </a:pPr>
            <a:r>
              <a:rPr sz="1100" b="0">
                <a:solidFill>
                  <a:srgbClr val="1A1A1A"/>
                </a:solidFill>
                <a:latin typeface="Hiragino Sans"/>
                <a:ea typeface="Hiragino Sans"/>
                <a:cs typeface="Hiragino Sans"/>
              </a:rPr>
              <a:t>• ChatGPT Plus / Claude Pro を契約済 = DALL-E / GPT-Image を追加コストなしで利用</a:t>
            </a:r>
          </a:p>
          <a:p>
            <a:pPr algn="l">
              <a:lnSpc>
                <a:spcPct val="155000"/>
              </a:lnSpc>
            </a:pPr>
            <a:r>
              <a:rPr sz="1100" b="0">
                <a:solidFill>
                  <a:srgbClr val="1A1A1A"/>
                </a:solidFill>
                <a:latin typeface="Hiragino Sans"/>
                <a:ea typeface="Hiragino Sans"/>
                <a:cs typeface="Hiragino Sans"/>
              </a:rPr>
              <a:t>• 写実 + 日本語プロンプト精度求める = Imagen 4 (Vertex AI 経由)</a:t>
            </a:r>
          </a:p>
          <a:p>
            <a:pPr algn="l">
              <a:lnSpc>
                <a:spcPct val="155000"/>
              </a:lnSpc>
            </a:pPr>
            <a:r>
              <a:rPr sz="1100" b="0">
                <a:solidFill>
                  <a:srgbClr val="1A1A1A"/>
                </a:solidFill>
                <a:latin typeface="Hiragino Sans"/>
                <a:ea typeface="Hiragino Sans"/>
                <a:cs typeface="Hiragino Sans"/>
              </a:rPr>
              <a:t>• ブランド統一感重視 = Midjourney (Style Reference 強い)</a:t>
            </a:r>
          </a:p>
          <a:p>
            <a:pPr algn="l">
              <a:lnSpc>
                <a:spcPct val="155000"/>
              </a:lnSpc>
            </a:pPr>
            <a:r>
              <a:rPr sz="1100" b="0">
                <a:solidFill>
                  <a:srgbClr val="1A1A1A"/>
                </a:solidFill>
                <a:latin typeface="Hiragino Sans"/>
                <a:ea typeface="Hiragino Sans"/>
                <a:cs typeface="Hiragino Sans"/>
              </a:rPr>
              <a:t>• 高品質+商用利用安心 = Adobe Firefly (次ページ)</a:t>
            </a:r>
          </a:p>
        </p:txBody>
      </p:sp>
      <p:sp>
        <p:nvSpPr>
          <p:cNvPr id="21" name="TextBox 20"/>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画像生成 : Adobe Firefly / Nano Banana</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商用利用安心 + 多彩なスタイル</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P175 / 250</a:t>
            </a:r>
          </a:p>
        </p:txBody>
      </p:sp>
      <p:sp>
        <p:nvSpPr>
          <p:cNvPr id="8" name="Rounded Rectangle 7"/>
          <p:cNvSpPr/>
          <p:nvPr/>
        </p:nvSpPr>
        <p:spPr>
          <a:xfrm>
            <a:off x="548640" y="1417320"/>
            <a:ext cx="5486400" cy="33832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548640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581912"/>
            <a:ext cx="4937760" cy="411480"/>
          </a:xfrm>
          <a:prstGeom prst="rect">
            <a:avLst/>
          </a:prstGeom>
          <a:noFill/>
        </p:spPr>
        <p:txBody>
          <a:bodyPr wrap="square" anchor="t" lIns="0" rIns="0" tIns="0" bIns="0">
            <a:spAutoFit/>
          </a:bodyPr>
          <a:lstStyle/>
          <a:p>
            <a:pPr algn="l">
              <a:lnSpc>
                <a:spcPct val="120000"/>
              </a:lnSpc>
            </a:pPr>
            <a:r>
              <a:rPr sz="1500" b="1">
                <a:solidFill>
                  <a:srgbClr val="FFFFFF"/>
                </a:solidFill>
                <a:latin typeface="Hiragino Sans"/>
                <a:ea typeface="Hiragino Sans"/>
                <a:cs typeface="Hiragino Sans"/>
              </a:rPr>
              <a:t>Adobe Firefly</a:t>
            </a:r>
          </a:p>
        </p:txBody>
      </p:sp>
      <p:sp>
        <p:nvSpPr>
          <p:cNvPr id="11" name="TextBox 10"/>
          <p:cNvSpPr txBox="1"/>
          <p:nvPr/>
        </p:nvSpPr>
        <p:spPr>
          <a:xfrm>
            <a:off x="822960" y="1965960"/>
            <a:ext cx="4937760" cy="27432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Creative Cloud統合</a:t>
            </a:r>
          </a:p>
        </p:txBody>
      </p:sp>
      <p:sp>
        <p:nvSpPr>
          <p:cNvPr id="12" name="TextBox 11"/>
          <p:cNvSpPr txBox="1"/>
          <p:nvPr/>
        </p:nvSpPr>
        <p:spPr>
          <a:xfrm>
            <a:off x="822960" y="2423160"/>
            <a:ext cx="4937760" cy="2286000"/>
          </a:xfrm>
          <a:prstGeom prst="rect">
            <a:avLst/>
          </a:prstGeom>
          <a:noFill/>
        </p:spPr>
        <p:txBody>
          <a:bodyPr wrap="square" anchor="t" lIns="0" rIns="0" tIns="0" bIns="0">
            <a:spAutoFit/>
          </a:bodyPr>
          <a:lstStyle/>
          <a:p>
            <a:pPr algn="l">
              <a:lnSpc>
                <a:spcPct val="170000"/>
              </a:lnSpc>
            </a:pPr>
            <a:r>
              <a:rPr sz="1100" b="0">
                <a:solidFill>
                  <a:srgbClr val="1A1A1A"/>
                </a:solidFill>
                <a:latin typeface="Hiragino Sans"/>
                <a:ea typeface="Hiragino Sans"/>
                <a:cs typeface="Hiragino Sans"/>
              </a:rPr>
              <a:t>Adobe Stockのライセンス済画像で訓練</a:t>
            </a:r>
          </a:p>
          <a:p>
            <a:pPr algn="l">
              <a:lnSpc>
                <a:spcPct val="170000"/>
              </a:lnSpc>
            </a:pPr>
            <a:r>
              <a:rPr sz="1100" b="0">
                <a:solidFill>
                  <a:srgbClr val="1A1A1A"/>
                </a:solidFill>
                <a:latin typeface="Hiragino Sans"/>
                <a:ea typeface="Hiragino Sans"/>
                <a:cs typeface="Hiragino Sans"/>
              </a:rPr>
              <a:t>商用利用が安心</a:t>
            </a:r>
          </a:p>
          <a:p>
            <a:pPr algn="l">
              <a:lnSpc>
                <a:spcPct val="170000"/>
              </a:lnSpc>
            </a:pPr>
            <a:r>
              <a:rPr sz="1100" b="0">
                <a:solidFill>
                  <a:srgbClr val="1A1A1A"/>
                </a:solidFill>
                <a:latin typeface="Hiragino Sans"/>
                <a:ea typeface="Hiragino Sans"/>
                <a:cs typeface="Hiragino Sans"/>
              </a:rPr>
              <a:t>Photoshop / Illustrator に直接統合</a:t>
            </a:r>
          </a:p>
          <a:p>
            <a:pPr algn="l">
              <a:lnSpc>
                <a:spcPct val="170000"/>
              </a:lnSpc>
            </a:pPr>
            <a:r>
              <a:rPr sz="1100" b="0">
                <a:solidFill>
                  <a:srgbClr val="1A1A1A"/>
                </a:solidFill>
                <a:latin typeface="Hiragino Sans"/>
                <a:ea typeface="Hiragino Sans"/>
                <a:cs typeface="Hiragino Sans"/>
              </a:rPr>
              <a:t>Generative Fill / Generative Remove</a:t>
            </a:r>
          </a:p>
          <a:p>
            <a:pPr algn="l">
              <a:lnSpc>
                <a:spcPct val="170000"/>
              </a:lnSpc>
            </a:pPr>
            <a:r>
              <a:rPr sz="1100" b="0">
                <a:solidFill>
                  <a:srgbClr val="1A1A1A"/>
                </a:solidFill>
                <a:latin typeface="Hiragino Sans"/>
                <a:ea typeface="Hiragino Sans"/>
                <a:cs typeface="Hiragino Sans"/>
              </a:rPr>
              <a:t>副業代行 : Adobe CC ユーザーに最適</a:t>
            </a:r>
          </a:p>
        </p:txBody>
      </p:sp>
      <p:sp>
        <p:nvSpPr>
          <p:cNvPr id="13" name="Rounded Rectangle 12"/>
          <p:cNvSpPr/>
          <p:nvPr/>
        </p:nvSpPr>
        <p:spPr>
          <a:xfrm>
            <a:off x="6172200" y="1417320"/>
            <a:ext cx="5486400" cy="33832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1417320"/>
            <a:ext cx="548640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1581912"/>
            <a:ext cx="4937760" cy="411480"/>
          </a:xfrm>
          <a:prstGeom prst="rect">
            <a:avLst/>
          </a:prstGeom>
          <a:noFill/>
        </p:spPr>
        <p:txBody>
          <a:bodyPr wrap="square" anchor="t" lIns="0" rIns="0" tIns="0" bIns="0">
            <a:spAutoFit/>
          </a:bodyPr>
          <a:lstStyle/>
          <a:p>
            <a:pPr algn="l">
              <a:lnSpc>
                <a:spcPct val="120000"/>
              </a:lnSpc>
            </a:pPr>
            <a:r>
              <a:rPr sz="1500" b="1">
                <a:solidFill>
                  <a:srgbClr val="FFFFFF"/>
                </a:solidFill>
                <a:latin typeface="Hiragino Sans"/>
                <a:ea typeface="Hiragino Sans"/>
                <a:cs typeface="Hiragino Sans"/>
              </a:rPr>
              <a:t>Nano Banana (Gemini Image)</a:t>
            </a:r>
          </a:p>
        </p:txBody>
      </p:sp>
      <p:sp>
        <p:nvSpPr>
          <p:cNvPr id="16" name="TextBox 15"/>
          <p:cNvSpPr txBox="1"/>
          <p:nvPr/>
        </p:nvSpPr>
        <p:spPr>
          <a:xfrm>
            <a:off x="6446520" y="1965960"/>
            <a:ext cx="4937760" cy="27432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Google実験的モデル</a:t>
            </a:r>
          </a:p>
        </p:txBody>
      </p:sp>
      <p:sp>
        <p:nvSpPr>
          <p:cNvPr id="17" name="TextBox 16"/>
          <p:cNvSpPr txBox="1"/>
          <p:nvPr/>
        </p:nvSpPr>
        <p:spPr>
          <a:xfrm>
            <a:off x="6446520" y="2423160"/>
            <a:ext cx="4937760" cy="2286000"/>
          </a:xfrm>
          <a:prstGeom prst="rect">
            <a:avLst/>
          </a:prstGeom>
          <a:noFill/>
        </p:spPr>
        <p:txBody>
          <a:bodyPr wrap="square" anchor="t" lIns="0" rIns="0" tIns="0" bIns="0">
            <a:spAutoFit/>
          </a:bodyPr>
          <a:lstStyle/>
          <a:p>
            <a:pPr algn="l">
              <a:lnSpc>
                <a:spcPct val="170000"/>
              </a:lnSpc>
            </a:pPr>
            <a:r>
              <a:rPr sz="1100" b="0">
                <a:solidFill>
                  <a:srgbClr val="1A1A1A"/>
                </a:solidFill>
                <a:latin typeface="Hiragino Sans"/>
                <a:ea typeface="Hiragino Sans"/>
                <a:cs typeface="Hiragino Sans"/>
              </a:rPr>
              <a:t>Gemini 経由で利用可</a:t>
            </a:r>
          </a:p>
          <a:p>
            <a:pPr algn="l">
              <a:lnSpc>
                <a:spcPct val="170000"/>
              </a:lnSpc>
            </a:pPr>
            <a:r>
              <a:rPr sz="1100" b="0">
                <a:solidFill>
                  <a:srgbClr val="1A1A1A"/>
                </a:solidFill>
                <a:latin typeface="Hiragino Sans"/>
                <a:ea typeface="Hiragino Sans"/>
                <a:cs typeface="Hiragino Sans"/>
              </a:rPr>
              <a:t>プロンプト追従性が高い</a:t>
            </a:r>
          </a:p>
          <a:p>
            <a:pPr algn="l">
              <a:lnSpc>
                <a:spcPct val="170000"/>
              </a:lnSpc>
            </a:pPr>
            <a:r>
              <a:rPr sz="1100" b="0">
                <a:solidFill>
                  <a:srgbClr val="1A1A1A"/>
                </a:solidFill>
                <a:latin typeface="Hiragino Sans"/>
                <a:ea typeface="Hiragino Sans"/>
                <a:cs typeface="Hiragino Sans"/>
              </a:rPr>
              <a:t>コスト : Gemini API 経由で従量</a:t>
            </a:r>
          </a:p>
          <a:p>
            <a:pPr algn="l">
              <a:lnSpc>
                <a:spcPct val="170000"/>
              </a:lnSpc>
            </a:pPr>
            <a:r>
              <a:rPr sz="1100" b="0">
                <a:solidFill>
                  <a:srgbClr val="1A1A1A"/>
                </a:solidFill>
                <a:latin typeface="Hiragino Sans"/>
                <a:ea typeface="Hiragino Sans"/>
                <a:cs typeface="Hiragino Sans"/>
              </a:rPr>
              <a:t>副業代行 : 試験利用に向く</a:t>
            </a:r>
          </a:p>
        </p:txBody>
      </p:sp>
      <p:sp>
        <p:nvSpPr>
          <p:cNvPr id="18" name="Rounded Rectangle 17"/>
          <p:cNvSpPr/>
          <p:nvPr/>
        </p:nvSpPr>
        <p:spPr>
          <a:xfrm>
            <a:off x="548640" y="4983480"/>
            <a:ext cx="11109960" cy="137160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5120640"/>
            <a:ext cx="10058400" cy="320040"/>
          </a:xfrm>
          <a:prstGeom prst="rect">
            <a:avLst/>
          </a:prstGeom>
          <a:noFill/>
        </p:spPr>
        <p:txBody>
          <a:bodyPr wrap="square" anchor="t" lIns="0" rIns="0" tIns="0" bIns="0">
            <a:spAutoFit/>
          </a:bodyPr>
          <a:lstStyle/>
          <a:p>
            <a:pPr algn="l">
              <a:lnSpc>
                <a:spcPct val="115000"/>
              </a:lnSpc>
            </a:pPr>
            <a:r>
              <a:rPr sz="1200" b="1">
                <a:solidFill>
                  <a:srgbClr val="E87722"/>
                </a:solidFill>
                <a:latin typeface="Hiragino Sans"/>
                <a:ea typeface="Hiragino Sans"/>
                <a:cs typeface="Hiragino Sans"/>
              </a:rPr>
              <a:t>💡 商用利用の安心度ランキング (副業代行で重要)</a:t>
            </a:r>
          </a:p>
        </p:txBody>
      </p:sp>
      <p:sp>
        <p:nvSpPr>
          <p:cNvPr id="20" name="TextBox 19"/>
          <p:cNvSpPr txBox="1"/>
          <p:nvPr/>
        </p:nvSpPr>
        <p:spPr>
          <a:xfrm>
            <a:off x="777240" y="5440680"/>
            <a:ext cx="10972800" cy="914400"/>
          </a:xfrm>
          <a:prstGeom prst="rect">
            <a:avLst/>
          </a:prstGeom>
          <a:noFill/>
        </p:spPr>
        <p:txBody>
          <a:bodyPr wrap="square" anchor="t" lIns="0" rIns="0" tIns="0" bIns="0">
            <a:spAutoFit/>
          </a:bodyPr>
          <a:lstStyle/>
          <a:p>
            <a:pPr algn="l">
              <a:lnSpc>
                <a:spcPct val="155000"/>
              </a:lnSpc>
            </a:pPr>
            <a:r>
              <a:rPr sz="1000" b="0">
                <a:solidFill>
                  <a:srgbClr val="FFFFFF"/>
                </a:solidFill>
                <a:latin typeface="Hiragino Sans"/>
                <a:ea typeface="Hiragino Sans"/>
                <a:cs typeface="Hiragino Sans"/>
              </a:rPr>
              <a:t>1. Adobe Firefly = 最高 (Adobe Stockライセンス済画像で訓練、企業向けの保証もあり)</a:t>
            </a:r>
          </a:p>
          <a:p>
            <a:pPr algn="l">
              <a:lnSpc>
                <a:spcPct val="155000"/>
              </a:lnSpc>
            </a:pPr>
            <a:r>
              <a:rPr sz="1000" b="0">
                <a:solidFill>
                  <a:srgbClr val="FFFFFF"/>
                </a:solidFill>
                <a:latin typeface="Hiragino Sans"/>
                <a:ea typeface="Hiragino Sans"/>
                <a:cs typeface="Hiragino Sans"/>
              </a:rPr>
              <a:t>2. Midjourney (Standard以上) = 高 (商用利用OK、ただし規約遵守必要)</a:t>
            </a:r>
          </a:p>
          <a:p>
            <a:pPr algn="l">
              <a:lnSpc>
                <a:spcPct val="155000"/>
              </a:lnSpc>
            </a:pPr>
            <a:r>
              <a:rPr sz="1000" b="0">
                <a:solidFill>
                  <a:srgbClr val="FFFFFF"/>
                </a:solidFill>
                <a:latin typeface="Hiragino Sans"/>
                <a:ea typeface="Hiragino Sans"/>
                <a:cs typeface="Hiragino Sans"/>
              </a:rPr>
              <a:t>3. DALL-E / GPT-Image = 中 (利用規約で商用OK、ただしモデル訓練データの透明性低)</a:t>
            </a:r>
          </a:p>
          <a:p>
            <a:pPr algn="l">
              <a:lnSpc>
                <a:spcPct val="155000"/>
              </a:lnSpc>
            </a:pPr>
            <a:r>
              <a:rPr sz="1000" b="0">
                <a:solidFill>
                  <a:srgbClr val="FFFFFF"/>
                </a:solidFill>
                <a:latin typeface="Hiragino Sans"/>
                <a:ea typeface="Hiragino Sans"/>
                <a:cs typeface="Hiragino Sans"/>
              </a:rPr>
              <a:t>4. Stable Diffusion (オープンソース) = 中-低 (利用は自由だが法的リスク自己責任)</a:t>
            </a:r>
          </a:p>
        </p:txBody>
      </p:sp>
      <p:sp>
        <p:nvSpPr>
          <p:cNvPr id="21" name="TextBox 20"/>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 動画生成 : Sora 2 (OpenAI)</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テキスト → 高品質動画 / 2025-2026 で実用化</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P176 / 250</a:t>
            </a:r>
          </a:p>
        </p:txBody>
      </p:sp>
      <p:sp>
        <p:nvSpPr>
          <p:cNvPr id="8" name="Rounded Rectangle 7"/>
          <p:cNvSpPr/>
          <p:nvPr/>
        </p:nvSpPr>
        <p:spPr>
          <a:xfrm>
            <a:off x="548640" y="1371600"/>
            <a:ext cx="11109960" cy="118872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08760"/>
            <a:ext cx="10058400" cy="365760"/>
          </a:xfrm>
          <a:prstGeom prst="rect">
            <a:avLst/>
          </a:prstGeom>
          <a:noFill/>
        </p:spPr>
        <p:txBody>
          <a:bodyPr wrap="square" anchor="t" lIns="0" rIns="0" tIns="0" bIns="0">
            <a:spAutoFit/>
          </a:bodyPr>
          <a:lstStyle/>
          <a:p>
            <a:pPr algn="l">
              <a:lnSpc>
                <a:spcPct val="115000"/>
              </a:lnSpc>
            </a:pPr>
            <a:r>
              <a:rPr sz="1400" b="1">
                <a:solidFill>
                  <a:srgbClr val="E87722"/>
                </a:solidFill>
                <a:latin typeface="Hiragino Sans"/>
                <a:ea typeface="Hiragino Sans"/>
                <a:cs typeface="Hiragino Sans"/>
              </a:rPr>
              <a:t>Sora 2 (2025/12 リリース)</a:t>
            </a:r>
          </a:p>
        </p:txBody>
      </p:sp>
      <p:sp>
        <p:nvSpPr>
          <p:cNvPr id="10" name="TextBox 9"/>
          <p:cNvSpPr txBox="1"/>
          <p:nvPr/>
        </p:nvSpPr>
        <p:spPr>
          <a:xfrm>
            <a:off x="777240" y="1874519"/>
            <a:ext cx="10972800" cy="640080"/>
          </a:xfrm>
          <a:prstGeom prst="rect">
            <a:avLst/>
          </a:prstGeom>
          <a:noFill/>
        </p:spPr>
        <p:txBody>
          <a:bodyPr wrap="square" anchor="t" lIns="0" rIns="0" tIns="0" bIns="0">
            <a:spAutoFit/>
          </a:bodyPr>
          <a:lstStyle/>
          <a:p>
            <a:pPr algn="l">
              <a:lnSpc>
                <a:spcPct val="150000"/>
              </a:lnSpc>
            </a:pPr>
            <a:r>
              <a:rPr sz="1200" b="0">
                <a:solidFill>
                  <a:srgbClr val="FFFFFF"/>
                </a:solidFill>
                <a:latin typeface="Hiragino Sans"/>
                <a:ea typeface="Hiragino Sans"/>
                <a:cs typeface="Hiragino Sans"/>
              </a:rPr>
              <a:t>テキスト+画像から最大60秒の動画を生成。物理シミュレーション精度が劇的向上。</a:t>
            </a:r>
          </a:p>
          <a:p>
            <a:pPr algn="l">
              <a:lnSpc>
                <a:spcPct val="150000"/>
              </a:lnSpc>
            </a:pPr>
            <a:r>
              <a:rPr sz="1200" b="0">
                <a:solidFill>
                  <a:srgbClr val="FFFFFF"/>
                </a:solidFill>
                <a:latin typeface="Hiragino Sans"/>
                <a:ea typeface="Hiragino Sans"/>
                <a:cs typeface="Hiragino Sans"/>
              </a:rPr>
              <a:t>ChatGPT Pro / Sora単体プラン (US$20-200/月) で利用可</a:t>
            </a:r>
          </a:p>
        </p:txBody>
      </p:sp>
      <p:sp>
        <p:nvSpPr>
          <p:cNvPr id="11" name="TextBox 10"/>
          <p:cNvSpPr txBox="1"/>
          <p:nvPr/>
        </p:nvSpPr>
        <p:spPr>
          <a:xfrm>
            <a:off x="548640" y="2743200"/>
            <a:ext cx="1097280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Sora 2 の主な機能</a:t>
            </a:r>
          </a:p>
        </p:txBody>
      </p:sp>
      <p:sp>
        <p:nvSpPr>
          <p:cNvPr id="12" name="Rounded Rectangle 11"/>
          <p:cNvSpPr/>
          <p:nvPr/>
        </p:nvSpPr>
        <p:spPr>
          <a:xfrm>
            <a:off x="548640" y="3200400"/>
            <a:ext cx="2697480" cy="16916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200400"/>
            <a:ext cx="26974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29000"/>
            <a:ext cx="2331720" cy="365760"/>
          </a:xfrm>
          <a:prstGeom prst="rect">
            <a:avLst/>
          </a:prstGeom>
          <a:noFill/>
        </p:spPr>
        <p:txBody>
          <a:bodyPr wrap="square" anchor="t" lIns="0" rIns="0" tIns="0" bIns="0">
            <a:spAutoFit/>
          </a:bodyPr>
          <a:lstStyle/>
          <a:p>
            <a:pPr algn="ctr">
              <a:lnSpc>
                <a:spcPct val="115000"/>
              </a:lnSpc>
            </a:pPr>
            <a:r>
              <a:rPr sz="1400" b="1">
                <a:solidFill>
                  <a:srgbClr val="0F2A4F"/>
                </a:solidFill>
                <a:latin typeface="Helvetica Neue"/>
                <a:ea typeface="Helvetica Neue"/>
                <a:cs typeface="Helvetica Neue"/>
              </a:rPr>
              <a:t>Text → Video</a:t>
            </a:r>
          </a:p>
        </p:txBody>
      </p:sp>
      <p:sp>
        <p:nvSpPr>
          <p:cNvPr id="15" name="TextBox 14"/>
          <p:cNvSpPr txBox="1"/>
          <p:nvPr/>
        </p:nvSpPr>
        <p:spPr>
          <a:xfrm>
            <a:off x="731520" y="3840480"/>
            <a:ext cx="2331720" cy="960120"/>
          </a:xfrm>
          <a:prstGeom prst="rect">
            <a:avLst/>
          </a:prstGeom>
          <a:noFill/>
        </p:spPr>
        <p:txBody>
          <a:bodyPr wrap="square" anchor="t" lIns="0" rIns="0" tIns="0" bIns="0">
            <a:spAutoFit/>
          </a:bodyPr>
          <a:lstStyle/>
          <a:p>
            <a:pPr algn="ctr">
              <a:lnSpc>
                <a:spcPct val="155000"/>
              </a:lnSpc>
            </a:pPr>
            <a:r>
              <a:rPr sz="1100" b="0">
                <a:solidFill>
                  <a:srgbClr val="1A1A1A"/>
                </a:solidFill>
                <a:latin typeface="Hiragino Sans"/>
                <a:ea typeface="Hiragino Sans"/>
                <a:cs typeface="Hiragino Sans"/>
              </a:rPr>
              <a:t>プロンプトから動画</a:t>
            </a:r>
          </a:p>
          <a:p>
            <a:pPr algn="ctr">
              <a:lnSpc>
                <a:spcPct val="155000"/>
              </a:lnSpc>
            </a:pPr>
            <a:r>
              <a:rPr sz="1100" b="0">
                <a:solidFill>
                  <a:srgbClr val="1A1A1A"/>
                </a:solidFill>
                <a:latin typeface="Hiragino Sans"/>
                <a:ea typeface="Hiragino Sans"/>
                <a:cs typeface="Hiragino Sans"/>
              </a:rPr>
              <a:t>5-60秒対応</a:t>
            </a:r>
          </a:p>
        </p:txBody>
      </p:sp>
      <p:sp>
        <p:nvSpPr>
          <p:cNvPr id="16" name="Rounded Rectangle 15"/>
          <p:cNvSpPr/>
          <p:nvPr/>
        </p:nvSpPr>
        <p:spPr>
          <a:xfrm>
            <a:off x="3337560" y="3200400"/>
            <a:ext cx="2697480" cy="16916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37560" y="3200400"/>
            <a:ext cx="26974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20440" y="3429000"/>
            <a:ext cx="2331720" cy="365760"/>
          </a:xfrm>
          <a:prstGeom prst="rect">
            <a:avLst/>
          </a:prstGeom>
          <a:noFill/>
        </p:spPr>
        <p:txBody>
          <a:bodyPr wrap="square" anchor="t" lIns="0" rIns="0" tIns="0" bIns="0">
            <a:spAutoFit/>
          </a:bodyPr>
          <a:lstStyle/>
          <a:p>
            <a:pPr algn="ctr">
              <a:lnSpc>
                <a:spcPct val="115000"/>
              </a:lnSpc>
            </a:pPr>
            <a:r>
              <a:rPr sz="1400" b="1">
                <a:solidFill>
                  <a:srgbClr val="0F2A4F"/>
                </a:solidFill>
                <a:latin typeface="Helvetica Neue"/>
                <a:ea typeface="Helvetica Neue"/>
                <a:cs typeface="Helvetica Neue"/>
              </a:rPr>
              <a:t>Image → Video</a:t>
            </a:r>
          </a:p>
        </p:txBody>
      </p:sp>
      <p:sp>
        <p:nvSpPr>
          <p:cNvPr id="19" name="TextBox 18"/>
          <p:cNvSpPr txBox="1"/>
          <p:nvPr/>
        </p:nvSpPr>
        <p:spPr>
          <a:xfrm>
            <a:off x="3520440" y="3840480"/>
            <a:ext cx="2331720" cy="960120"/>
          </a:xfrm>
          <a:prstGeom prst="rect">
            <a:avLst/>
          </a:prstGeom>
          <a:noFill/>
        </p:spPr>
        <p:txBody>
          <a:bodyPr wrap="square" anchor="t" lIns="0" rIns="0" tIns="0" bIns="0">
            <a:spAutoFit/>
          </a:bodyPr>
          <a:lstStyle/>
          <a:p>
            <a:pPr algn="ctr">
              <a:lnSpc>
                <a:spcPct val="155000"/>
              </a:lnSpc>
            </a:pPr>
            <a:r>
              <a:rPr sz="1100" b="0">
                <a:solidFill>
                  <a:srgbClr val="1A1A1A"/>
                </a:solidFill>
                <a:latin typeface="Hiragino Sans"/>
                <a:ea typeface="Hiragino Sans"/>
                <a:cs typeface="Hiragino Sans"/>
              </a:rPr>
              <a:t>静止画を動かす</a:t>
            </a:r>
          </a:p>
          <a:p>
            <a:pPr algn="ctr">
              <a:lnSpc>
                <a:spcPct val="155000"/>
              </a:lnSpc>
            </a:pPr>
            <a:r>
              <a:rPr sz="1100" b="0">
                <a:solidFill>
                  <a:srgbClr val="1A1A1A"/>
                </a:solidFill>
                <a:latin typeface="Hiragino Sans"/>
                <a:ea typeface="Hiragino Sans"/>
                <a:cs typeface="Hiragino Sans"/>
              </a:rPr>
              <a:t>商品写真の動画化</a:t>
            </a:r>
          </a:p>
        </p:txBody>
      </p:sp>
      <p:sp>
        <p:nvSpPr>
          <p:cNvPr id="20" name="Rounded Rectangle 19"/>
          <p:cNvSpPr/>
          <p:nvPr/>
        </p:nvSpPr>
        <p:spPr>
          <a:xfrm>
            <a:off x="6126480" y="3200400"/>
            <a:ext cx="2697480" cy="16916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26480" y="3200400"/>
            <a:ext cx="26974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9360" y="3429000"/>
            <a:ext cx="2331720" cy="365760"/>
          </a:xfrm>
          <a:prstGeom prst="rect">
            <a:avLst/>
          </a:prstGeom>
          <a:noFill/>
        </p:spPr>
        <p:txBody>
          <a:bodyPr wrap="square" anchor="t" lIns="0" rIns="0" tIns="0" bIns="0">
            <a:spAutoFit/>
          </a:bodyPr>
          <a:lstStyle/>
          <a:p>
            <a:pPr algn="ctr">
              <a:lnSpc>
                <a:spcPct val="115000"/>
              </a:lnSpc>
            </a:pPr>
            <a:r>
              <a:rPr sz="1400" b="1">
                <a:solidFill>
                  <a:srgbClr val="0F2A4F"/>
                </a:solidFill>
                <a:latin typeface="Helvetica Neue"/>
                <a:ea typeface="Helvetica Neue"/>
                <a:cs typeface="Helvetica Neue"/>
              </a:rPr>
              <a:t>Video → Video</a:t>
            </a:r>
          </a:p>
        </p:txBody>
      </p:sp>
      <p:sp>
        <p:nvSpPr>
          <p:cNvPr id="23" name="TextBox 22"/>
          <p:cNvSpPr txBox="1"/>
          <p:nvPr/>
        </p:nvSpPr>
        <p:spPr>
          <a:xfrm>
            <a:off x="6309360" y="3840480"/>
            <a:ext cx="2331720" cy="960120"/>
          </a:xfrm>
          <a:prstGeom prst="rect">
            <a:avLst/>
          </a:prstGeom>
          <a:noFill/>
        </p:spPr>
        <p:txBody>
          <a:bodyPr wrap="square" anchor="t" lIns="0" rIns="0" tIns="0" bIns="0">
            <a:spAutoFit/>
          </a:bodyPr>
          <a:lstStyle/>
          <a:p>
            <a:pPr algn="ctr">
              <a:lnSpc>
                <a:spcPct val="155000"/>
              </a:lnSpc>
            </a:pPr>
            <a:r>
              <a:rPr sz="1100" b="0">
                <a:solidFill>
                  <a:srgbClr val="1A1A1A"/>
                </a:solidFill>
                <a:latin typeface="Hiragino Sans"/>
                <a:ea typeface="Hiragino Sans"/>
                <a:cs typeface="Hiragino Sans"/>
              </a:rPr>
              <a:t>既存動画を編集</a:t>
            </a:r>
          </a:p>
          <a:p>
            <a:pPr algn="ctr">
              <a:lnSpc>
                <a:spcPct val="155000"/>
              </a:lnSpc>
            </a:pPr>
            <a:r>
              <a:rPr sz="1100" b="0">
                <a:solidFill>
                  <a:srgbClr val="1A1A1A"/>
                </a:solidFill>
                <a:latin typeface="Hiragino Sans"/>
                <a:ea typeface="Hiragino Sans"/>
                <a:cs typeface="Hiragino Sans"/>
              </a:rPr>
              <a:t>スタイル変換</a:t>
            </a:r>
          </a:p>
        </p:txBody>
      </p:sp>
      <p:sp>
        <p:nvSpPr>
          <p:cNvPr id="24" name="Rounded Rectangle 23"/>
          <p:cNvSpPr/>
          <p:nvPr/>
        </p:nvSpPr>
        <p:spPr>
          <a:xfrm>
            <a:off x="8915400" y="3200400"/>
            <a:ext cx="2697480" cy="16916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915400" y="3200400"/>
            <a:ext cx="26974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98280" y="3429000"/>
            <a:ext cx="2331720" cy="365760"/>
          </a:xfrm>
          <a:prstGeom prst="rect">
            <a:avLst/>
          </a:prstGeom>
          <a:noFill/>
        </p:spPr>
        <p:txBody>
          <a:bodyPr wrap="square" anchor="t" lIns="0" rIns="0" tIns="0" bIns="0">
            <a:spAutoFit/>
          </a:bodyPr>
          <a:lstStyle/>
          <a:p>
            <a:pPr algn="ctr">
              <a:lnSpc>
                <a:spcPct val="115000"/>
              </a:lnSpc>
            </a:pPr>
            <a:r>
              <a:rPr sz="1400" b="1">
                <a:solidFill>
                  <a:srgbClr val="0F2A4F"/>
                </a:solidFill>
                <a:latin typeface="Helvetica Neue"/>
                <a:ea typeface="Helvetica Neue"/>
                <a:cs typeface="Helvetica Neue"/>
              </a:rPr>
              <a:t>Storyboard</a:t>
            </a:r>
          </a:p>
        </p:txBody>
      </p:sp>
      <p:sp>
        <p:nvSpPr>
          <p:cNvPr id="27" name="TextBox 26"/>
          <p:cNvSpPr txBox="1"/>
          <p:nvPr/>
        </p:nvSpPr>
        <p:spPr>
          <a:xfrm>
            <a:off x="9098280" y="3840480"/>
            <a:ext cx="2331720" cy="960120"/>
          </a:xfrm>
          <a:prstGeom prst="rect">
            <a:avLst/>
          </a:prstGeom>
          <a:noFill/>
        </p:spPr>
        <p:txBody>
          <a:bodyPr wrap="square" anchor="t" lIns="0" rIns="0" tIns="0" bIns="0">
            <a:spAutoFit/>
          </a:bodyPr>
          <a:lstStyle/>
          <a:p>
            <a:pPr algn="ctr">
              <a:lnSpc>
                <a:spcPct val="155000"/>
              </a:lnSpc>
            </a:pPr>
            <a:r>
              <a:rPr sz="1100" b="0">
                <a:solidFill>
                  <a:srgbClr val="1A1A1A"/>
                </a:solidFill>
                <a:latin typeface="Hiragino Sans"/>
                <a:ea typeface="Hiragino Sans"/>
                <a:cs typeface="Hiragino Sans"/>
              </a:rPr>
              <a:t>複数カットを</a:t>
            </a:r>
          </a:p>
          <a:p>
            <a:pPr algn="ctr">
              <a:lnSpc>
                <a:spcPct val="155000"/>
              </a:lnSpc>
            </a:pPr>
            <a:r>
              <a:rPr sz="1100" b="0">
                <a:solidFill>
                  <a:srgbClr val="1A1A1A"/>
                </a:solidFill>
                <a:latin typeface="Hiragino Sans"/>
                <a:ea typeface="Hiragino Sans"/>
                <a:cs typeface="Hiragino Sans"/>
              </a:rPr>
              <a:t>連続再生で生成</a:t>
            </a:r>
          </a:p>
        </p:txBody>
      </p:sp>
      <p:sp>
        <p:nvSpPr>
          <p:cNvPr id="28" name="Rounded Rectangle 27"/>
          <p:cNvSpPr/>
          <p:nvPr/>
        </p:nvSpPr>
        <p:spPr>
          <a:xfrm>
            <a:off x="548640" y="5029200"/>
            <a:ext cx="11109960" cy="132588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5120640"/>
            <a:ext cx="10058400" cy="274320"/>
          </a:xfrm>
          <a:prstGeom prst="rect">
            <a:avLst/>
          </a:prstGeom>
          <a:noFill/>
        </p:spPr>
        <p:txBody>
          <a:bodyPr wrap="square" anchor="t" lIns="0" rIns="0" tIns="0" bIns="0">
            <a:spAutoFit/>
          </a:bodyPr>
          <a:lstStyle/>
          <a:p>
            <a:pPr algn="l">
              <a:lnSpc>
                <a:spcPct val="115000"/>
              </a:lnSpc>
            </a:pPr>
            <a:r>
              <a:rPr sz="1100" b="1">
                <a:solidFill>
                  <a:srgbClr val="B85E1A"/>
                </a:solidFill>
                <a:latin typeface="Hiragino Sans"/>
                <a:ea typeface="Hiragino Sans"/>
                <a:cs typeface="Hiragino Sans"/>
              </a:rPr>
              <a:t>💡 副業代行での Sora 2 活用</a:t>
            </a:r>
          </a:p>
        </p:txBody>
      </p:sp>
      <p:sp>
        <p:nvSpPr>
          <p:cNvPr id="30" name="TextBox 29"/>
          <p:cNvSpPr txBox="1"/>
          <p:nvPr/>
        </p:nvSpPr>
        <p:spPr>
          <a:xfrm>
            <a:off x="777240" y="5394960"/>
            <a:ext cx="10972800" cy="914400"/>
          </a:xfrm>
          <a:prstGeom prst="rect">
            <a:avLst/>
          </a:prstGeom>
          <a:noFill/>
        </p:spPr>
        <p:txBody>
          <a:bodyPr wrap="square" anchor="t" lIns="0" rIns="0" tIns="0" bIns="0">
            <a:spAutoFit/>
          </a:bodyPr>
          <a:lstStyle/>
          <a:p>
            <a:pPr algn="l">
              <a:lnSpc>
                <a:spcPct val="155000"/>
              </a:lnSpc>
            </a:pPr>
            <a:r>
              <a:rPr sz="1000" b="0">
                <a:solidFill>
                  <a:srgbClr val="1A1A1A"/>
                </a:solidFill>
                <a:latin typeface="Hiragino Sans"/>
                <a:ea typeface="Hiragino Sans"/>
                <a:cs typeface="Hiragino Sans"/>
              </a:rPr>
              <a:t>• 縦型動画素材を1日10-20本量産 (TikTok / Reels / Shorts投入用)</a:t>
            </a:r>
          </a:p>
          <a:p>
            <a:pPr algn="l">
              <a:lnSpc>
                <a:spcPct val="155000"/>
              </a:lnSpc>
            </a:pPr>
            <a:r>
              <a:rPr sz="1000" b="0">
                <a:solidFill>
                  <a:srgbClr val="1A1A1A"/>
                </a:solidFill>
                <a:latin typeface="Hiragino Sans"/>
                <a:ea typeface="Hiragino Sans"/>
                <a:cs typeface="Hiragino Sans"/>
              </a:rPr>
              <a:t>• 商品写真 + プロンプトで簡易動画化 / Storyboard で15-30秒認知動画</a:t>
            </a:r>
          </a:p>
          <a:p>
            <a:pPr algn="l">
              <a:lnSpc>
                <a:spcPct val="155000"/>
              </a:lnSpc>
            </a:pPr>
            <a:r>
              <a:rPr sz="1000" b="0">
                <a:solidFill>
                  <a:srgbClr val="1A1A1A"/>
                </a:solidFill>
                <a:latin typeface="Hiragino Sans"/>
                <a:ea typeface="Hiragino Sans"/>
                <a:cs typeface="Hiragino Sans"/>
              </a:rPr>
              <a:t>• 価格 : ChatGPT Pro $200/月でフル活用 (素材コスト 月10万円以上削減)</a:t>
            </a:r>
          </a:p>
        </p:txBody>
      </p:sp>
      <p:sp>
        <p:nvSpPr>
          <p:cNvPr id="31" name="TextBox 30"/>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動画生成 : Veo 3 / Runway / Luma</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Sora 以外の主要オプション</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P177 / 250</a:t>
            </a:r>
          </a:p>
        </p:txBody>
      </p:sp>
      <p:sp>
        <p:nvSpPr>
          <p:cNvPr id="8" name="Rounded Rectangle 7"/>
          <p:cNvSpPr/>
          <p:nvPr/>
        </p:nvSpPr>
        <p:spPr>
          <a:xfrm>
            <a:off x="548640" y="1417320"/>
            <a:ext cx="2697480" cy="2286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269748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581912"/>
            <a:ext cx="2331720" cy="411480"/>
          </a:xfrm>
          <a:prstGeom prst="rect">
            <a:avLst/>
          </a:prstGeom>
          <a:noFill/>
        </p:spPr>
        <p:txBody>
          <a:bodyPr wrap="square" anchor="t" lIns="0" rIns="0" tIns="0" bIns="0">
            <a:spAutoFit/>
          </a:bodyPr>
          <a:lstStyle/>
          <a:p>
            <a:pPr algn="ctr">
              <a:lnSpc>
                <a:spcPct val="120000"/>
              </a:lnSpc>
            </a:pPr>
            <a:r>
              <a:rPr sz="1300" b="1">
                <a:solidFill>
                  <a:srgbClr val="E87722"/>
                </a:solidFill>
                <a:latin typeface="Hiragino Sans"/>
                <a:ea typeface="Hiragino Sans"/>
                <a:cs typeface="Hiragino Sans"/>
              </a:rPr>
              <a:t>Veo 3 (Google)</a:t>
            </a:r>
          </a:p>
        </p:txBody>
      </p:sp>
      <p:sp>
        <p:nvSpPr>
          <p:cNvPr id="11" name="TextBox 10"/>
          <p:cNvSpPr txBox="1"/>
          <p:nvPr/>
        </p:nvSpPr>
        <p:spPr>
          <a:xfrm>
            <a:off x="731520" y="1965960"/>
            <a:ext cx="233172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Vertex AI / Workspace</a:t>
            </a:r>
          </a:p>
        </p:txBody>
      </p:sp>
      <p:sp>
        <p:nvSpPr>
          <p:cNvPr id="12" name="TextBox 11"/>
          <p:cNvSpPr txBox="1"/>
          <p:nvPr/>
        </p:nvSpPr>
        <p:spPr>
          <a:xfrm>
            <a:off x="731520" y="2377440"/>
            <a:ext cx="2331720" cy="1280160"/>
          </a:xfrm>
          <a:prstGeom prst="rect">
            <a:avLst/>
          </a:prstGeom>
          <a:noFill/>
        </p:spPr>
        <p:txBody>
          <a:bodyPr wrap="square" anchor="t" lIns="0" rIns="0" tIns="0" bIns="0">
            <a:spAutoFit/>
          </a:bodyPr>
          <a:lstStyle/>
          <a:p>
            <a:pPr algn="ctr">
              <a:lnSpc>
                <a:spcPct val="160000"/>
              </a:lnSpc>
            </a:pPr>
            <a:r>
              <a:rPr sz="1000" b="0">
                <a:solidFill>
                  <a:srgbClr val="1A1A1A"/>
                </a:solidFill>
                <a:latin typeface="Hiragino Sans"/>
                <a:ea typeface="Hiragino Sans"/>
                <a:cs typeface="Hiragino Sans"/>
              </a:rPr>
              <a:t>テキスト→動画 (最大2分)</a:t>
            </a:r>
          </a:p>
          <a:p>
            <a:pPr algn="ctr">
              <a:lnSpc>
                <a:spcPct val="160000"/>
              </a:lnSpc>
            </a:pPr>
            <a:r>
              <a:rPr sz="1000" b="0">
                <a:solidFill>
                  <a:srgbClr val="1A1A1A"/>
                </a:solidFill>
                <a:latin typeface="Hiragino Sans"/>
                <a:ea typeface="Hiragino Sans"/>
                <a:cs typeface="Hiragino Sans"/>
              </a:rPr>
              <a:t>音声生成も対応</a:t>
            </a:r>
          </a:p>
          <a:p>
            <a:pPr algn="ctr">
              <a:lnSpc>
                <a:spcPct val="160000"/>
              </a:lnSpc>
            </a:pPr>
            <a:r>
              <a:rPr sz="1000" b="0">
                <a:solidFill>
                  <a:srgbClr val="1A1A1A"/>
                </a:solidFill>
                <a:latin typeface="Hiragino Sans"/>
                <a:ea typeface="Hiragino Sans"/>
                <a:cs typeface="Hiragino Sans"/>
              </a:rPr>
              <a:t>Google エコシステム連携</a:t>
            </a:r>
          </a:p>
        </p:txBody>
      </p:sp>
      <p:sp>
        <p:nvSpPr>
          <p:cNvPr id="13" name="Rounded Rectangle 12"/>
          <p:cNvSpPr/>
          <p:nvPr/>
        </p:nvSpPr>
        <p:spPr>
          <a:xfrm>
            <a:off x="3337560" y="1417320"/>
            <a:ext cx="2697480" cy="2286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37560" y="1417320"/>
            <a:ext cx="269748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20440" y="1581912"/>
            <a:ext cx="2331720" cy="411480"/>
          </a:xfrm>
          <a:prstGeom prst="rect">
            <a:avLst/>
          </a:prstGeom>
          <a:noFill/>
        </p:spPr>
        <p:txBody>
          <a:bodyPr wrap="square" anchor="t" lIns="0" rIns="0" tIns="0" bIns="0">
            <a:spAutoFit/>
          </a:bodyPr>
          <a:lstStyle/>
          <a:p>
            <a:pPr algn="ctr">
              <a:lnSpc>
                <a:spcPct val="120000"/>
              </a:lnSpc>
            </a:pPr>
            <a:r>
              <a:rPr sz="1300" b="1">
                <a:solidFill>
                  <a:srgbClr val="E87722"/>
                </a:solidFill>
                <a:latin typeface="Hiragino Sans"/>
                <a:ea typeface="Hiragino Sans"/>
                <a:cs typeface="Hiragino Sans"/>
              </a:rPr>
              <a:t>Runway Gen-4</a:t>
            </a:r>
          </a:p>
        </p:txBody>
      </p:sp>
      <p:sp>
        <p:nvSpPr>
          <p:cNvPr id="16" name="TextBox 15"/>
          <p:cNvSpPr txBox="1"/>
          <p:nvPr/>
        </p:nvSpPr>
        <p:spPr>
          <a:xfrm>
            <a:off x="3520440" y="1965960"/>
            <a:ext cx="233172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Web UI</a:t>
            </a:r>
          </a:p>
        </p:txBody>
      </p:sp>
      <p:sp>
        <p:nvSpPr>
          <p:cNvPr id="17" name="TextBox 16"/>
          <p:cNvSpPr txBox="1"/>
          <p:nvPr/>
        </p:nvSpPr>
        <p:spPr>
          <a:xfrm>
            <a:off x="3520440" y="2377440"/>
            <a:ext cx="2331720" cy="1280160"/>
          </a:xfrm>
          <a:prstGeom prst="rect">
            <a:avLst/>
          </a:prstGeom>
          <a:noFill/>
        </p:spPr>
        <p:txBody>
          <a:bodyPr wrap="square" anchor="t" lIns="0" rIns="0" tIns="0" bIns="0">
            <a:spAutoFit/>
          </a:bodyPr>
          <a:lstStyle/>
          <a:p>
            <a:pPr algn="ctr">
              <a:lnSpc>
                <a:spcPct val="160000"/>
              </a:lnSpc>
            </a:pPr>
            <a:r>
              <a:rPr sz="1000" b="0">
                <a:solidFill>
                  <a:srgbClr val="1A1A1A"/>
                </a:solidFill>
                <a:latin typeface="Hiragino Sans"/>
                <a:ea typeface="Hiragino Sans"/>
                <a:cs typeface="Hiragino Sans"/>
              </a:rPr>
              <a:t>Image to Video / Text to Video</a:t>
            </a:r>
          </a:p>
          <a:p>
            <a:pPr algn="ctr">
              <a:lnSpc>
                <a:spcPct val="160000"/>
              </a:lnSpc>
            </a:pPr>
            <a:r>
              <a:rPr sz="1000" b="0">
                <a:solidFill>
                  <a:srgbClr val="1A1A1A"/>
                </a:solidFill>
                <a:latin typeface="Hiragino Sans"/>
                <a:ea typeface="Hiragino Sans"/>
                <a:cs typeface="Hiragino Sans"/>
              </a:rPr>
              <a:t>Director Mode (細かい制御)</a:t>
            </a:r>
          </a:p>
          <a:p>
            <a:pPr algn="ctr">
              <a:lnSpc>
                <a:spcPct val="160000"/>
              </a:lnSpc>
            </a:pPr>
            <a:r>
              <a:rPr sz="1000" b="0">
                <a:solidFill>
                  <a:srgbClr val="1A1A1A"/>
                </a:solidFill>
                <a:latin typeface="Hiragino Sans"/>
                <a:ea typeface="Hiragino Sans"/>
                <a:cs typeface="Hiragino Sans"/>
              </a:rPr>
              <a:t>$15-95/月</a:t>
            </a:r>
          </a:p>
        </p:txBody>
      </p:sp>
      <p:sp>
        <p:nvSpPr>
          <p:cNvPr id="18" name="Rounded Rectangle 17"/>
          <p:cNvSpPr/>
          <p:nvPr/>
        </p:nvSpPr>
        <p:spPr>
          <a:xfrm>
            <a:off x="6126480" y="1417320"/>
            <a:ext cx="2697480" cy="2286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0" y="1417320"/>
            <a:ext cx="269748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1581912"/>
            <a:ext cx="2331720" cy="411480"/>
          </a:xfrm>
          <a:prstGeom prst="rect">
            <a:avLst/>
          </a:prstGeom>
          <a:noFill/>
        </p:spPr>
        <p:txBody>
          <a:bodyPr wrap="square" anchor="t" lIns="0" rIns="0" tIns="0" bIns="0">
            <a:spAutoFit/>
          </a:bodyPr>
          <a:lstStyle/>
          <a:p>
            <a:pPr algn="ctr">
              <a:lnSpc>
                <a:spcPct val="120000"/>
              </a:lnSpc>
            </a:pPr>
            <a:r>
              <a:rPr sz="1300" b="1">
                <a:solidFill>
                  <a:srgbClr val="E87722"/>
                </a:solidFill>
                <a:latin typeface="Hiragino Sans"/>
                <a:ea typeface="Hiragino Sans"/>
                <a:cs typeface="Hiragino Sans"/>
              </a:rPr>
              <a:t>Luma Dream Machine</a:t>
            </a:r>
          </a:p>
        </p:txBody>
      </p:sp>
      <p:sp>
        <p:nvSpPr>
          <p:cNvPr id="21" name="TextBox 20"/>
          <p:cNvSpPr txBox="1"/>
          <p:nvPr/>
        </p:nvSpPr>
        <p:spPr>
          <a:xfrm>
            <a:off x="6309360" y="1965960"/>
            <a:ext cx="233172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Web / API</a:t>
            </a:r>
          </a:p>
        </p:txBody>
      </p:sp>
      <p:sp>
        <p:nvSpPr>
          <p:cNvPr id="22" name="TextBox 21"/>
          <p:cNvSpPr txBox="1"/>
          <p:nvPr/>
        </p:nvSpPr>
        <p:spPr>
          <a:xfrm>
            <a:off x="6309360" y="2377440"/>
            <a:ext cx="2331720" cy="1280160"/>
          </a:xfrm>
          <a:prstGeom prst="rect">
            <a:avLst/>
          </a:prstGeom>
          <a:noFill/>
        </p:spPr>
        <p:txBody>
          <a:bodyPr wrap="square" anchor="t" lIns="0" rIns="0" tIns="0" bIns="0">
            <a:spAutoFit/>
          </a:bodyPr>
          <a:lstStyle/>
          <a:p>
            <a:pPr algn="ctr">
              <a:lnSpc>
                <a:spcPct val="160000"/>
              </a:lnSpc>
            </a:pPr>
            <a:r>
              <a:rPr sz="1000" b="0">
                <a:solidFill>
                  <a:srgbClr val="1A1A1A"/>
                </a:solidFill>
                <a:latin typeface="Hiragino Sans"/>
                <a:ea typeface="Hiragino Sans"/>
                <a:cs typeface="Hiragino Sans"/>
              </a:rPr>
              <a:t>高速生成 (10秒以内)</a:t>
            </a:r>
          </a:p>
          <a:p>
            <a:pPr algn="ctr">
              <a:lnSpc>
                <a:spcPct val="160000"/>
              </a:lnSpc>
            </a:pPr>
            <a:r>
              <a:rPr sz="1000" b="0">
                <a:solidFill>
                  <a:srgbClr val="1A1A1A"/>
                </a:solidFill>
                <a:latin typeface="Hiragino Sans"/>
                <a:ea typeface="Hiragino Sans"/>
                <a:cs typeface="Hiragino Sans"/>
              </a:rPr>
              <a:t>コスパ最強</a:t>
            </a:r>
          </a:p>
          <a:p>
            <a:pPr algn="ctr">
              <a:lnSpc>
                <a:spcPct val="160000"/>
              </a:lnSpc>
            </a:pPr>
            <a:r>
              <a:rPr sz="1000" b="0">
                <a:solidFill>
                  <a:srgbClr val="1A1A1A"/>
                </a:solidFill>
                <a:latin typeface="Hiragino Sans"/>
                <a:ea typeface="Hiragino Sans"/>
                <a:cs typeface="Hiragino Sans"/>
              </a:rPr>
              <a:t>$10-100/月</a:t>
            </a:r>
          </a:p>
        </p:txBody>
      </p:sp>
      <p:sp>
        <p:nvSpPr>
          <p:cNvPr id="23" name="Rounded Rectangle 22"/>
          <p:cNvSpPr/>
          <p:nvPr/>
        </p:nvSpPr>
        <p:spPr>
          <a:xfrm>
            <a:off x="8915400" y="1417320"/>
            <a:ext cx="2697480" cy="2286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15400" y="1417320"/>
            <a:ext cx="269748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98280" y="1581912"/>
            <a:ext cx="2331720" cy="411480"/>
          </a:xfrm>
          <a:prstGeom prst="rect">
            <a:avLst/>
          </a:prstGeom>
          <a:noFill/>
        </p:spPr>
        <p:txBody>
          <a:bodyPr wrap="square" anchor="t" lIns="0" rIns="0" tIns="0" bIns="0">
            <a:spAutoFit/>
          </a:bodyPr>
          <a:lstStyle/>
          <a:p>
            <a:pPr algn="ctr">
              <a:lnSpc>
                <a:spcPct val="120000"/>
              </a:lnSpc>
            </a:pPr>
            <a:r>
              <a:rPr sz="1300" b="1">
                <a:solidFill>
                  <a:srgbClr val="E87722"/>
                </a:solidFill>
                <a:latin typeface="Hiragino Sans"/>
                <a:ea typeface="Hiragino Sans"/>
                <a:cs typeface="Hiragino Sans"/>
              </a:rPr>
              <a:t>Pika 2.0</a:t>
            </a:r>
          </a:p>
        </p:txBody>
      </p:sp>
      <p:sp>
        <p:nvSpPr>
          <p:cNvPr id="26" name="TextBox 25"/>
          <p:cNvSpPr txBox="1"/>
          <p:nvPr/>
        </p:nvSpPr>
        <p:spPr>
          <a:xfrm>
            <a:off x="9098280" y="1965960"/>
            <a:ext cx="233172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Web / Discord</a:t>
            </a:r>
          </a:p>
        </p:txBody>
      </p:sp>
      <p:sp>
        <p:nvSpPr>
          <p:cNvPr id="27" name="TextBox 26"/>
          <p:cNvSpPr txBox="1"/>
          <p:nvPr/>
        </p:nvSpPr>
        <p:spPr>
          <a:xfrm>
            <a:off x="9098280" y="2377440"/>
            <a:ext cx="2331720" cy="1280160"/>
          </a:xfrm>
          <a:prstGeom prst="rect">
            <a:avLst/>
          </a:prstGeom>
          <a:noFill/>
        </p:spPr>
        <p:txBody>
          <a:bodyPr wrap="square" anchor="t" lIns="0" rIns="0" tIns="0" bIns="0">
            <a:spAutoFit/>
          </a:bodyPr>
          <a:lstStyle/>
          <a:p>
            <a:pPr algn="ctr">
              <a:lnSpc>
                <a:spcPct val="160000"/>
              </a:lnSpc>
            </a:pPr>
            <a:r>
              <a:rPr sz="1000" b="0">
                <a:solidFill>
                  <a:srgbClr val="1A1A1A"/>
                </a:solidFill>
                <a:latin typeface="Hiragino Sans"/>
                <a:ea typeface="Hiragino Sans"/>
                <a:cs typeface="Hiragino Sans"/>
              </a:rPr>
              <a:t>Camera Movement制御</a:t>
            </a:r>
          </a:p>
          <a:p>
            <a:pPr algn="ctr">
              <a:lnSpc>
                <a:spcPct val="160000"/>
              </a:lnSpc>
            </a:pPr>
            <a:r>
              <a:rPr sz="1000" b="0">
                <a:solidFill>
                  <a:srgbClr val="1A1A1A"/>
                </a:solidFill>
                <a:latin typeface="Hiragino Sans"/>
                <a:ea typeface="Hiragino Sans"/>
                <a:cs typeface="Hiragino Sans"/>
              </a:rPr>
              <a:t>ループ動画特化</a:t>
            </a:r>
          </a:p>
          <a:p>
            <a:pPr algn="ctr">
              <a:lnSpc>
                <a:spcPct val="160000"/>
              </a:lnSpc>
            </a:pPr>
            <a:r>
              <a:rPr sz="1000" b="0">
                <a:solidFill>
                  <a:srgbClr val="1A1A1A"/>
                </a:solidFill>
                <a:latin typeface="Hiragino Sans"/>
                <a:ea typeface="Hiragino Sans"/>
                <a:cs typeface="Hiragino Sans"/>
              </a:rPr>
              <a:t>$10-70/月</a:t>
            </a:r>
          </a:p>
        </p:txBody>
      </p:sp>
      <p:sp>
        <p:nvSpPr>
          <p:cNvPr id="28" name="Rounded Rectangle 27"/>
          <p:cNvSpPr/>
          <p:nvPr/>
        </p:nvSpPr>
        <p:spPr>
          <a:xfrm>
            <a:off x="548640" y="3931920"/>
            <a:ext cx="11109960" cy="242316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4069080"/>
            <a:ext cx="100584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 副業代行のおすすめ</a:t>
            </a:r>
          </a:p>
        </p:txBody>
      </p:sp>
      <p:sp>
        <p:nvSpPr>
          <p:cNvPr id="30" name="TextBox 29"/>
          <p:cNvSpPr txBox="1"/>
          <p:nvPr/>
        </p:nvSpPr>
        <p:spPr>
          <a:xfrm>
            <a:off x="777240" y="4389120"/>
            <a:ext cx="10972800" cy="192024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 高品質 + ストーリー性 = Sora 2 (ChatGPT Pro)</a:t>
            </a:r>
          </a:p>
          <a:p>
            <a:pPr algn="l">
              <a:lnSpc>
                <a:spcPct val="160000"/>
              </a:lnSpc>
            </a:pPr>
            <a:r>
              <a:rPr sz="1100" b="0">
                <a:solidFill>
                  <a:srgbClr val="1A1A1A"/>
                </a:solidFill>
                <a:latin typeface="Hiragino Sans"/>
                <a:ea typeface="Hiragino Sans"/>
                <a:cs typeface="Hiragino Sans"/>
              </a:rPr>
              <a:t>• Google エコシステム + 音声 = Veo 3 (Vertex AI)</a:t>
            </a:r>
          </a:p>
          <a:p>
            <a:pPr algn="l">
              <a:lnSpc>
                <a:spcPct val="160000"/>
              </a:lnSpc>
            </a:pPr>
            <a:r>
              <a:rPr sz="1100" b="0">
                <a:solidFill>
                  <a:srgbClr val="1A1A1A"/>
                </a:solidFill>
                <a:latin typeface="Hiragino Sans"/>
                <a:ea typeface="Hiragino Sans"/>
                <a:cs typeface="Hiragino Sans"/>
              </a:rPr>
              <a:t>• 細かい制御 (カメラワーク) = Runway Gen-4 ($15-95/月)</a:t>
            </a:r>
          </a:p>
          <a:p>
            <a:pPr algn="l">
              <a:lnSpc>
                <a:spcPct val="160000"/>
              </a:lnSpc>
            </a:pPr>
            <a:r>
              <a:rPr sz="1100" b="0">
                <a:solidFill>
                  <a:srgbClr val="1A1A1A"/>
                </a:solidFill>
                <a:latin typeface="Hiragino Sans"/>
                <a:ea typeface="Hiragino Sans"/>
                <a:cs typeface="Hiragino Sans"/>
              </a:rPr>
              <a:t>• 大量生成 + コスパ = Luma Dream Machine ($10-100/月)</a:t>
            </a:r>
          </a:p>
          <a:p>
            <a:pPr algn="l">
              <a:lnSpc>
                <a:spcPct val="160000"/>
              </a:lnSpc>
            </a:pPr>
            <a:r>
              <a:rPr sz="1100" b="0">
                <a:solidFill>
                  <a:srgbClr val="1A1A1A"/>
                </a:solidFill>
                <a:latin typeface="Hiragino Sans"/>
                <a:ea typeface="Hiragino Sans"/>
                <a:cs typeface="Hiragino Sans"/>
              </a:rPr>
              <a:t>• ループ動画 (バナー用) = Pika 2.0 ($10-70/月)</a:t>
            </a:r>
          </a:p>
          <a:p>
            <a:pPr algn="l">
              <a:lnSpc>
                <a:spcPct val="160000"/>
              </a:lnSpc>
            </a:pPr>
            <a:r>
              <a:rPr sz="1100" b="0">
                <a:solidFill>
                  <a:srgbClr val="1A1A1A"/>
                </a:solidFill>
                <a:latin typeface="Hiragino Sans"/>
                <a:ea typeface="Hiragino Sans"/>
                <a:cs typeface="Hiragino Sans"/>
              </a:rPr>
              <a:t>• 副業代行 : 最初は Luma で実験、慣れたら Sora 2 / Veo 3 にステップアップ</a:t>
            </a:r>
          </a:p>
        </p:txBody>
      </p:sp>
      <p:sp>
        <p:nvSpPr>
          <p:cNvPr id="31" name="TextBox 30"/>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広告特化生成ツール</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Pencil / Omneky / AdCreative.ai</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P178 / 250</a:t>
            </a:r>
          </a:p>
        </p:txBody>
      </p:sp>
      <p:sp>
        <p:nvSpPr>
          <p:cNvPr id="8" name="Rounded Rectangle 7"/>
          <p:cNvSpPr/>
          <p:nvPr/>
        </p:nvSpPr>
        <p:spPr>
          <a:xfrm>
            <a:off x="548640" y="1417320"/>
            <a:ext cx="2697480" cy="24688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269748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581912"/>
            <a:ext cx="2331720" cy="365760"/>
          </a:xfrm>
          <a:prstGeom prst="rect">
            <a:avLst/>
          </a:prstGeom>
          <a:noFill/>
        </p:spPr>
        <p:txBody>
          <a:bodyPr wrap="square" anchor="t" lIns="0" rIns="0" tIns="0" bIns="0">
            <a:spAutoFit/>
          </a:bodyPr>
          <a:lstStyle/>
          <a:p>
            <a:pPr algn="ctr">
              <a:lnSpc>
                <a:spcPct val="115000"/>
              </a:lnSpc>
            </a:pPr>
            <a:r>
              <a:rPr sz="1400" b="1">
                <a:solidFill>
                  <a:srgbClr val="FFFFFF"/>
                </a:solidFill>
                <a:latin typeface="Helvetica Neue"/>
                <a:ea typeface="Helvetica Neue"/>
                <a:cs typeface="Helvetica Neue"/>
              </a:rPr>
              <a:t>Pencil</a:t>
            </a:r>
          </a:p>
        </p:txBody>
      </p:sp>
      <p:sp>
        <p:nvSpPr>
          <p:cNvPr id="11" name="TextBox 10"/>
          <p:cNvSpPr txBox="1"/>
          <p:nvPr/>
        </p:nvSpPr>
        <p:spPr>
          <a:xfrm>
            <a:off x="731520" y="1965960"/>
            <a:ext cx="233172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WPP系 / 広告特化</a:t>
            </a:r>
          </a:p>
        </p:txBody>
      </p:sp>
      <p:sp>
        <p:nvSpPr>
          <p:cNvPr id="12" name="TextBox 11"/>
          <p:cNvSpPr txBox="1"/>
          <p:nvPr/>
        </p:nvSpPr>
        <p:spPr>
          <a:xfrm>
            <a:off x="731520" y="2423160"/>
            <a:ext cx="2331720" cy="1417320"/>
          </a:xfrm>
          <a:prstGeom prst="rect">
            <a:avLst/>
          </a:prstGeom>
          <a:noFill/>
        </p:spPr>
        <p:txBody>
          <a:bodyPr wrap="square" anchor="t" lIns="0" rIns="0" tIns="0" bIns="0">
            <a:spAutoFit/>
          </a:bodyPr>
          <a:lstStyle/>
          <a:p>
            <a:pPr algn="ctr">
              <a:lnSpc>
                <a:spcPct val="160000"/>
              </a:lnSpc>
            </a:pPr>
            <a:r>
              <a:rPr sz="1000" b="0">
                <a:solidFill>
                  <a:srgbClr val="1A1A1A"/>
                </a:solidFill>
                <a:latin typeface="Hiragino Sans"/>
                <a:ea typeface="Hiragino Sans"/>
                <a:cs typeface="Hiragino Sans"/>
              </a:rPr>
              <a:t>ブランド学習型クリエイティブ生成</a:t>
            </a:r>
          </a:p>
          <a:p>
            <a:pPr algn="ctr">
              <a:lnSpc>
                <a:spcPct val="160000"/>
              </a:lnSpc>
            </a:pPr>
            <a:r>
              <a:rPr sz="1000" b="0">
                <a:solidFill>
                  <a:srgbClr val="1A1A1A"/>
                </a:solidFill>
                <a:latin typeface="Hiragino Sans"/>
                <a:ea typeface="Hiragino Sans"/>
                <a:cs typeface="Hiragino Sans"/>
              </a:rPr>
              <a:t>媒体ごとに最適化されたバリエーション</a:t>
            </a:r>
          </a:p>
          <a:p>
            <a:pPr algn="ctr">
              <a:lnSpc>
                <a:spcPct val="160000"/>
              </a:lnSpc>
            </a:pPr>
            <a:r>
              <a:rPr sz="1000" b="0">
                <a:solidFill>
                  <a:srgbClr val="1A1A1A"/>
                </a:solidFill>
                <a:latin typeface="Hiragino Sans"/>
                <a:ea typeface="Hiragino Sans"/>
                <a:cs typeface="Hiragino Sans"/>
              </a:rPr>
              <a:t>エンタープライズ価格</a:t>
            </a:r>
          </a:p>
        </p:txBody>
      </p:sp>
      <p:sp>
        <p:nvSpPr>
          <p:cNvPr id="13" name="Rounded Rectangle 12"/>
          <p:cNvSpPr/>
          <p:nvPr/>
        </p:nvSpPr>
        <p:spPr>
          <a:xfrm>
            <a:off x="3337560" y="1417320"/>
            <a:ext cx="2697480" cy="24688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37560" y="1417320"/>
            <a:ext cx="269748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20440" y="1581912"/>
            <a:ext cx="2331720" cy="365760"/>
          </a:xfrm>
          <a:prstGeom prst="rect">
            <a:avLst/>
          </a:prstGeom>
          <a:noFill/>
        </p:spPr>
        <p:txBody>
          <a:bodyPr wrap="square" anchor="t" lIns="0" rIns="0" tIns="0" bIns="0">
            <a:spAutoFit/>
          </a:bodyPr>
          <a:lstStyle/>
          <a:p>
            <a:pPr algn="ctr">
              <a:lnSpc>
                <a:spcPct val="115000"/>
              </a:lnSpc>
            </a:pPr>
            <a:r>
              <a:rPr sz="1400" b="1">
                <a:solidFill>
                  <a:srgbClr val="FFFFFF"/>
                </a:solidFill>
                <a:latin typeface="Helvetica Neue"/>
                <a:ea typeface="Helvetica Neue"/>
                <a:cs typeface="Helvetica Neue"/>
              </a:rPr>
              <a:t>Omneky</a:t>
            </a:r>
          </a:p>
        </p:txBody>
      </p:sp>
      <p:sp>
        <p:nvSpPr>
          <p:cNvPr id="16" name="TextBox 15"/>
          <p:cNvSpPr txBox="1"/>
          <p:nvPr/>
        </p:nvSpPr>
        <p:spPr>
          <a:xfrm>
            <a:off x="3520440" y="1965960"/>
            <a:ext cx="233172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$199/月〜</a:t>
            </a:r>
          </a:p>
        </p:txBody>
      </p:sp>
      <p:sp>
        <p:nvSpPr>
          <p:cNvPr id="17" name="TextBox 16"/>
          <p:cNvSpPr txBox="1"/>
          <p:nvPr/>
        </p:nvSpPr>
        <p:spPr>
          <a:xfrm>
            <a:off x="3520440" y="2423160"/>
            <a:ext cx="2331720" cy="1417320"/>
          </a:xfrm>
          <a:prstGeom prst="rect">
            <a:avLst/>
          </a:prstGeom>
          <a:noFill/>
        </p:spPr>
        <p:txBody>
          <a:bodyPr wrap="square" anchor="t" lIns="0" rIns="0" tIns="0" bIns="0">
            <a:spAutoFit/>
          </a:bodyPr>
          <a:lstStyle/>
          <a:p>
            <a:pPr algn="ctr">
              <a:lnSpc>
                <a:spcPct val="160000"/>
              </a:lnSpc>
            </a:pPr>
            <a:r>
              <a:rPr sz="1000" b="0">
                <a:solidFill>
                  <a:srgbClr val="1A1A1A"/>
                </a:solidFill>
                <a:latin typeface="Hiragino Sans"/>
                <a:ea typeface="Hiragino Sans"/>
                <a:cs typeface="Hiragino Sans"/>
              </a:rPr>
              <a:t>クリエイティブ自動生成 + 配信</a:t>
            </a:r>
          </a:p>
          <a:p>
            <a:pPr algn="ctr">
              <a:lnSpc>
                <a:spcPct val="160000"/>
              </a:lnSpc>
            </a:pPr>
            <a:r>
              <a:rPr sz="1000" b="0">
                <a:solidFill>
                  <a:srgbClr val="1A1A1A"/>
                </a:solidFill>
                <a:latin typeface="Hiragino Sans"/>
                <a:ea typeface="Hiragino Sans"/>
                <a:cs typeface="Hiragino Sans"/>
              </a:rPr>
              <a:t>Meta / TikTok / Google 統合</a:t>
            </a:r>
          </a:p>
          <a:p>
            <a:pPr algn="ctr">
              <a:lnSpc>
                <a:spcPct val="160000"/>
              </a:lnSpc>
            </a:pPr>
            <a:r>
              <a:rPr sz="1000" b="0">
                <a:solidFill>
                  <a:srgbClr val="1A1A1A"/>
                </a:solidFill>
                <a:latin typeface="Hiragino Sans"/>
                <a:ea typeface="Hiragino Sans"/>
                <a:cs typeface="Hiragino Sans"/>
              </a:rPr>
              <a:t>ABテスト自動化</a:t>
            </a:r>
          </a:p>
        </p:txBody>
      </p:sp>
      <p:sp>
        <p:nvSpPr>
          <p:cNvPr id="18" name="Rounded Rectangle 17"/>
          <p:cNvSpPr/>
          <p:nvPr/>
        </p:nvSpPr>
        <p:spPr>
          <a:xfrm>
            <a:off x="6126480" y="1417320"/>
            <a:ext cx="2697480" cy="24688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0" y="1417320"/>
            <a:ext cx="269748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1581912"/>
            <a:ext cx="2331720" cy="365760"/>
          </a:xfrm>
          <a:prstGeom prst="rect">
            <a:avLst/>
          </a:prstGeom>
          <a:noFill/>
        </p:spPr>
        <p:txBody>
          <a:bodyPr wrap="square" anchor="t" lIns="0" rIns="0" tIns="0" bIns="0">
            <a:spAutoFit/>
          </a:bodyPr>
          <a:lstStyle/>
          <a:p>
            <a:pPr algn="ctr">
              <a:lnSpc>
                <a:spcPct val="115000"/>
              </a:lnSpc>
            </a:pPr>
            <a:r>
              <a:rPr sz="1400" b="1">
                <a:solidFill>
                  <a:srgbClr val="FFFFFF"/>
                </a:solidFill>
                <a:latin typeface="Helvetica Neue"/>
                <a:ea typeface="Helvetica Neue"/>
                <a:cs typeface="Helvetica Neue"/>
              </a:rPr>
              <a:t>AdCreative.ai</a:t>
            </a:r>
          </a:p>
        </p:txBody>
      </p:sp>
      <p:sp>
        <p:nvSpPr>
          <p:cNvPr id="21" name="TextBox 20"/>
          <p:cNvSpPr txBox="1"/>
          <p:nvPr/>
        </p:nvSpPr>
        <p:spPr>
          <a:xfrm>
            <a:off x="6309360" y="1965960"/>
            <a:ext cx="233172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$29-249/月</a:t>
            </a:r>
          </a:p>
        </p:txBody>
      </p:sp>
      <p:sp>
        <p:nvSpPr>
          <p:cNvPr id="22" name="TextBox 21"/>
          <p:cNvSpPr txBox="1"/>
          <p:nvPr/>
        </p:nvSpPr>
        <p:spPr>
          <a:xfrm>
            <a:off x="6309360" y="2423160"/>
            <a:ext cx="2331720" cy="1417320"/>
          </a:xfrm>
          <a:prstGeom prst="rect">
            <a:avLst/>
          </a:prstGeom>
          <a:noFill/>
        </p:spPr>
        <p:txBody>
          <a:bodyPr wrap="square" anchor="t" lIns="0" rIns="0" tIns="0" bIns="0">
            <a:spAutoFit/>
          </a:bodyPr>
          <a:lstStyle/>
          <a:p>
            <a:pPr algn="ctr">
              <a:lnSpc>
                <a:spcPct val="160000"/>
              </a:lnSpc>
            </a:pPr>
            <a:r>
              <a:rPr sz="1000" b="0">
                <a:solidFill>
                  <a:srgbClr val="1A1A1A"/>
                </a:solidFill>
                <a:latin typeface="Hiragino Sans"/>
                <a:ea typeface="Hiragino Sans"/>
                <a:cs typeface="Hiragino Sans"/>
              </a:rPr>
              <a:t>中小向け SaaS</a:t>
            </a:r>
          </a:p>
          <a:p>
            <a:pPr algn="ctr">
              <a:lnSpc>
                <a:spcPct val="160000"/>
              </a:lnSpc>
            </a:pPr>
            <a:r>
              <a:rPr sz="1000" b="0">
                <a:solidFill>
                  <a:srgbClr val="1A1A1A"/>
                </a:solidFill>
                <a:latin typeface="Hiragino Sans"/>
                <a:ea typeface="Hiragino Sans"/>
                <a:cs typeface="Hiragino Sans"/>
              </a:rPr>
              <a:t>10秒で広告クリエイティブ生成</a:t>
            </a:r>
          </a:p>
          <a:p>
            <a:pPr algn="ctr">
              <a:lnSpc>
                <a:spcPct val="160000"/>
              </a:lnSpc>
            </a:pPr>
            <a:r>
              <a:rPr sz="1000" b="0">
                <a:solidFill>
                  <a:srgbClr val="1A1A1A"/>
                </a:solidFill>
                <a:latin typeface="Hiragino Sans"/>
                <a:ea typeface="Hiragino Sans"/>
                <a:cs typeface="Hiragino Sans"/>
              </a:rPr>
              <a:t>テンプレート豊富</a:t>
            </a:r>
          </a:p>
        </p:txBody>
      </p:sp>
      <p:sp>
        <p:nvSpPr>
          <p:cNvPr id="23" name="Rounded Rectangle 22"/>
          <p:cNvSpPr/>
          <p:nvPr/>
        </p:nvSpPr>
        <p:spPr>
          <a:xfrm>
            <a:off x="8915400" y="1417320"/>
            <a:ext cx="2697480" cy="24688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15400" y="1417320"/>
            <a:ext cx="269748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98280" y="1581912"/>
            <a:ext cx="2331720" cy="365760"/>
          </a:xfrm>
          <a:prstGeom prst="rect">
            <a:avLst/>
          </a:prstGeom>
          <a:noFill/>
        </p:spPr>
        <p:txBody>
          <a:bodyPr wrap="square" anchor="t" lIns="0" rIns="0" tIns="0" bIns="0">
            <a:spAutoFit/>
          </a:bodyPr>
          <a:lstStyle/>
          <a:p>
            <a:pPr algn="ctr">
              <a:lnSpc>
                <a:spcPct val="115000"/>
              </a:lnSpc>
            </a:pPr>
            <a:r>
              <a:rPr sz="1400" b="1">
                <a:solidFill>
                  <a:srgbClr val="FFFFFF"/>
                </a:solidFill>
                <a:latin typeface="Helvetica Neue"/>
                <a:ea typeface="Helvetica Neue"/>
                <a:cs typeface="Helvetica Neue"/>
              </a:rPr>
              <a:t>Smartly.io</a:t>
            </a:r>
          </a:p>
        </p:txBody>
      </p:sp>
      <p:sp>
        <p:nvSpPr>
          <p:cNvPr id="26" name="TextBox 25"/>
          <p:cNvSpPr txBox="1"/>
          <p:nvPr/>
        </p:nvSpPr>
        <p:spPr>
          <a:xfrm>
            <a:off x="9098280" y="1965960"/>
            <a:ext cx="233172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Enterprise</a:t>
            </a:r>
          </a:p>
        </p:txBody>
      </p:sp>
      <p:sp>
        <p:nvSpPr>
          <p:cNvPr id="27" name="TextBox 26"/>
          <p:cNvSpPr txBox="1"/>
          <p:nvPr/>
        </p:nvSpPr>
        <p:spPr>
          <a:xfrm>
            <a:off x="9098280" y="2423160"/>
            <a:ext cx="2331720" cy="1417320"/>
          </a:xfrm>
          <a:prstGeom prst="rect">
            <a:avLst/>
          </a:prstGeom>
          <a:noFill/>
        </p:spPr>
        <p:txBody>
          <a:bodyPr wrap="square" anchor="t" lIns="0" rIns="0" tIns="0" bIns="0">
            <a:spAutoFit/>
          </a:bodyPr>
          <a:lstStyle/>
          <a:p>
            <a:pPr algn="ctr">
              <a:lnSpc>
                <a:spcPct val="160000"/>
              </a:lnSpc>
            </a:pPr>
            <a:r>
              <a:rPr sz="1000" b="0">
                <a:solidFill>
                  <a:srgbClr val="1A1A1A"/>
                </a:solidFill>
                <a:latin typeface="Hiragino Sans"/>
                <a:ea typeface="Hiragino Sans"/>
                <a:cs typeface="Hiragino Sans"/>
              </a:rPr>
              <a:t>ECブランド向け統合プラットフォーム</a:t>
            </a:r>
          </a:p>
          <a:p>
            <a:pPr algn="ctr">
              <a:lnSpc>
                <a:spcPct val="160000"/>
              </a:lnSpc>
            </a:pPr>
            <a:r>
              <a:rPr sz="1000" b="0">
                <a:solidFill>
                  <a:srgbClr val="1A1A1A"/>
                </a:solidFill>
                <a:latin typeface="Hiragino Sans"/>
                <a:ea typeface="Hiragino Sans"/>
                <a:cs typeface="Hiragino Sans"/>
              </a:rPr>
              <a:t>クリエイティブ + 配信 + 計測</a:t>
            </a:r>
          </a:p>
          <a:p>
            <a:pPr algn="ctr">
              <a:lnSpc>
                <a:spcPct val="160000"/>
              </a:lnSpc>
            </a:pPr>
            <a:r>
              <a:rPr sz="1000" b="0">
                <a:solidFill>
                  <a:srgbClr val="1A1A1A"/>
                </a:solidFill>
                <a:latin typeface="Hiragino Sans"/>
                <a:ea typeface="Hiragino Sans"/>
                <a:cs typeface="Hiragino Sans"/>
              </a:rPr>
              <a:t>Meta公式パートナー</a:t>
            </a:r>
          </a:p>
        </p:txBody>
      </p:sp>
      <p:sp>
        <p:nvSpPr>
          <p:cNvPr id="28" name="Rounded Rectangle 27"/>
          <p:cNvSpPr/>
          <p:nvPr/>
        </p:nvSpPr>
        <p:spPr>
          <a:xfrm>
            <a:off x="548640" y="4069080"/>
            <a:ext cx="11109960" cy="228600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4206240"/>
            <a:ext cx="10058400" cy="320040"/>
          </a:xfrm>
          <a:prstGeom prst="rect">
            <a:avLst/>
          </a:prstGeom>
          <a:noFill/>
        </p:spPr>
        <p:txBody>
          <a:bodyPr wrap="square" anchor="t" lIns="0" rIns="0" tIns="0" bIns="0">
            <a:spAutoFit/>
          </a:bodyPr>
          <a:lstStyle/>
          <a:p>
            <a:pPr algn="l">
              <a:lnSpc>
                <a:spcPct val="115000"/>
              </a:lnSpc>
            </a:pPr>
            <a:r>
              <a:rPr sz="1200" b="1">
                <a:solidFill>
                  <a:srgbClr val="E87722"/>
                </a:solidFill>
                <a:latin typeface="Hiragino Sans"/>
                <a:ea typeface="Hiragino Sans"/>
                <a:cs typeface="Hiragino Sans"/>
              </a:rPr>
              <a:t>💡 副業代行で『広告特化ツール』を使う判断</a:t>
            </a:r>
          </a:p>
        </p:txBody>
      </p:sp>
      <p:sp>
        <p:nvSpPr>
          <p:cNvPr id="30" name="TextBox 29"/>
          <p:cNvSpPr txBox="1"/>
          <p:nvPr/>
        </p:nvSpPr>
        <p:spPr>
          <a:xfrm>
            <a:off x="777240" y="4526280"/>
            <a:ext cx="10972800" cy="1783080"/>
          </a:xfrm>
          <a:prstGeom prst="rect">
            <a:avLst/>
          </a:prstGeom>
          <a:noFill/>
        </p:spPr>
        <p:txBody>
          <a:bodyPr wrap="square" anchor="t" lIns="0" rIns="0" tIns="0" bIns="0">
            <a:spAutoFit/>
          </a:bodyPr>
          <a:lstStyle/>
          <a:p>
            <a:pPr algn="l">
              <a:lnSpc>
                <a:spcPct val="160000"/>
              </a:lnSpc>
            </a:pPr>
            <a:r>
              <a:rPr sz="1100" b="0">
                <a:solidFill>
                  <a:srgbClr val="FFFFFF"/>
                </a:solidFill>
                <a:latin typeface="Hiragino Sans"/>
                <a:ea typeface="Hiragino Sans"/>
                <a:cs typeface="Hiragino Sans"/>
              </a:rPr>
              <a:t>• 月予算 100万円以下のクライアント = 一般AI (ChatGPT/Midjourney等) で十分</a:t>
            </a:r>
          </a:p>
          <a:p>
            <a:pPr algn="l">
              <a:lnSpc>
                <a:spcPct val="160000"/>
              </a:lnSpc>
            </a:pPr>
            <a:r>
              <a:rPr sz="1100" b="0">
                <a:solidFill>
                  <a:srgbClr val="FFFFFF"/>
                </a:solidFill>
                <a:latin typeface="Hiragino Sans"/>
                <a:ea typeface="Hiragino Sans"/>
                <a:cs typeface="Hiragino Sans"/>
              </a:rPr>
              <a:t>• 月予算 300万円以上 + クリエイティブ量重視 = AdCreative.ai でAB大量生成</a:t>
            </a:r>
          </a:p>
          <a:p>
            <a:pPr algn="l">
              <a:lnSpc>
                <a:spcPct val="160000"/>
              </a:lnSpc>
            </a:pPr>
            <a:r>
              <a:rPr sz="1100" b="0">
                <a:solidFill>
                  <a:srgbClr val="FFFFFF"/>
                </a:solidFill>
                <a:latin typeface="Hiragino Sans"/>
                <a:ea typeface="Hiragino Sans"/>
                <a:cs typeface="Hiragino Sans"/>
              </a:rPr>
              <a:t>• 月予算 1,000万円以上 + 統合運用 = Omneky / Smartly.io で配信統合</a:t>
            </a:r>
          </a:p>
          <a:p>
            <a:pPr algn="l">
              <a:lnSpc>
                <a:spcPct val="160000"/>
              </a:lnSpc>
            </a:pPr>
            <a:r>
              <a:rPr sz="1100" b="0">
                <a:solidFill>
                  <a:srgbClr val="FFFFFF"/>
                </a:solidFill>
                <a:latin typeface="Hiragino Sans"/>
                <a:ea typeface="Hiragino Sans"/>
                <a:cs typeface="Hiragino Sans"/>
              </a:rPr>
              <a:t>• 高単価 / 広告会社統合 = Pencil / Persado (エンタープライズ)</a:t>
            </a:r>
          </a:p>
          <a:p>
            <a:pPr algn="l">
              <a:lnSpc>
                <a:spcPct val="160000"/>
              </a:lnSpc>
            </a:pPr>
            <a:r>
              <a:rPr sz="1100" b="0">
                <a:solidFill>
                  <a:srgbClr val="FFFFFF"/>
                </a:solidFill>
                <a:latin typeface="Hiragino Sans"/>
                <a:ea typeface="Hiragino Sans"/>
                <a:cs typeface="Hiragino Sans"/>
              </a:rPr>
              <a:t>• 副業代行スイートスポット : 一般AI で十分、特化ツールは月予算1,000万から</a:t>
            </a:r>
          </a:p>
        </p:txBody>
      </p:sp>
      <p:sp>
        <p:nvSpPr>
          <p:cNvPr id="31" name="TextBox 30"/>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媒体ネイティブ AI生成</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管理画面内で完結する AI クリエイティブ</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P179 / 250</a:t>
            </a:r>
          </a:p>
        </p:txBody>
      </p:sp>
      <p:sp>
        <p:nvSpPr>
          <p:cNvPr id="8" name="Rounded Rectangle 7"/>
          <p:cNvSpPr/>
          <p:nvPr/>
        </p:nvSpPr>
        <p:spPr>
          <a:xfrm>
            <a:off x="548640" y="1417320"/>
            <a:ext cx="2697480" cy="24688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269748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581912"/>
            <a:ext cx="2331720" cy="411480"/>
          </a:xfrm>
          <a:prstGeom prst="rect">
            <a:avLst/>
          </a:prstGeom>
          <a:noFill/>
        </p:spPr>
        <p:txBody>
          <a:bodyPr wrap="square" anchor="t" lIns="0" rIns="0" tIns="0" bIns="0">
            <a:spAutoFit/>
          </a:bodyPr>
          <a:lstStyle/>
          <a:p>
            <a:pPr algn="ctr">
              <a:lnSpc>
                <a:spcPct val="120000"/>
              </a:lnSpc>
            </a:pPr>
            <a:r>
              <a:rPr sz="1200" b="1">
                <a:solidFill>
                  <a:srgbClr val="E87722"/>
                </a:solidFill>
                <a:latin typeface="Hiragino Sans"/>
                <a:ea typeface="Hiragino Sans"/>
                <a:cs typeface="Hiragino Sans"/>
              </a:rPr>
              <a:t>Advantage+ Creative (Meta)</a:t>
            </a:r>
          </a:p>
        </p:txBody>
      </p:sp>
      <p:sp>
        <p:nvSpPr>
          <p:cNvPr id="11" name="TextBox 10"/>
          <p:cNvSpPr txBox="1"/>
          <p:nvPr/>
        </p:nvSpPr>
        <p:spPr>
          <a:xfrm>
            <a:off x="731520" y="1965960"/>
            <a:ext cx="233172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管理画面内</a:t>
            </a:r>
          </a:p>
        </p:txBody>
      </p:sp>
      <p:sp>
        <p:nvSpPr>
          <p:cNvPr id="12" name="TextBox 11"/>
          <p:cNvSpPr txBox="1"/>
          <p:nvPr/>
        </p:nvSpPr>
        <p:spPr>
          <a:xfrm>
            <a:off x="731520" y="2423160"/>
            <a:ext cx="2331720" cy="1417320"/>
          </a:xfrm>
          <a:prstGeom prst="rect">
            <a:avLst/>
          </a:prstGeom>
          <a:noFill/>
        </p:spPr>
        <p:txBody>
          <a:bodyPr wrap="square" anchor="t" lIns="0" rIns="0" tIns="0" bIns="0">
            <a:spAutoFit/>
          </a:bodyPr>
          <a:lstStyle/>
          <a:p>
            <a:pPr algn="ctr">
              <a:lnSpc>
                <a:spcPct val="160000"/>
              </a:lnSpc>
            </a:pPr>
            <a:r>
              <a:rPr sz="1000" b="0">
                <a:solidFill>
                  <a:srgbClr val="1A1A1A"/>
                </a:solidFill>
                <a:latin typeface="Hiragino Sans"/>
                <a:ea typeface="Hiragino Sans"/>
                <a:cs typeface="Hiragino Sans"/>
              </a:rPr>
              <a:t>Image Variations / Music /</a:t>
            </a:r>
          </a:p>
          <a:p>
            <a:pPr algn="ctr">
              <a:lnSpc>
                <a:spcPct val="160000"/>
              </a:lnSpc>
            </a:pPr>
            <a:r>
              <a:rPr sz="1000" b="0">
                <a:solidFill>
                  <a:srgbClr val="1A1A1A"/>
                </a:solidFill>
                <a:latin typeface="Hiragino Sans"/>
                <a:ea typeface="Hiragino Sans"/>
                <a:cs typeface="Hiragino Sans"/>
              </a:rPr>
              <a:t>Cropping / Text Variations /</a:t>
            </a:r>
          </a:p>
          <a:p>
            <a:pPr algn="ctr">
              <a:lnSpc>
                <a:spcPct val="160000"/>
              </a:lnSpc>
            </a:pPr>
            <a:r>
              <a:rPr sz="1000" b="0">
                <a:solidFill>
                  <a:srgbClr val="1A1A1A"/>
                </a:solidFill>
                <a:latin typeface="Hiragino Sans"/>
                <a:ea typeface="Hiragino Sans"/>
                <a:cs typeface="Hiragino Sans"/>
              </a:rPr>
              <a:t>Image Expansion</a:t>
            </a:r>
          </a:p>
          <a:p>
            <a:pPr algn="ctr">
              <a:lnSpc>
                <a:spcPct val="160000"/>
              </a:lnSpc>
            </a:pPr>
            <a:r>
              <a:rPr sz="1000" b="0">
                <a:solidFill>
                  <a:srgbClr val="1A1A1A"/>
                </a:solidFill>
                <a:latin typeface="Hiragino Sans"/>
                <a:ea typeface="Hiragino Sans"/>
                <a:cs typeface="Hiragino Sans"/>
              </a:rPr>
              <a:t>→ 6機能を ad set でON/OFF</a:t>
            </a:r>
          </a:p>
        </p:txBody>
      </p:sp>
      <p:sp>
        <p:nvSpPr>
          <p:cNvPr id="13" name="Rounded Rectangle 12"/>
          <p:cNvSpPr/>
          <p:nvPr/>
        </p:nvSpPr>
        <p:spPr>
          <a:xfrm>
            <a:off x="3337560" y="1417320"/>
            <a:ext cx="2697480" cy="24688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37560" y="1417320"/>
            <a:ext cx="269748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20440" y="1581912"/>
            <a:ext cx="2331720" cy="411480"/>
          </a:xfrm>
          <a:prstGeom prst="rect">
            <a:avLst/>
          </a:prstGeom>
          <a:noFill/>
        </p:spPr>
        <p:txBody>
          <a:bodyPr wrap="square" anchor="t" lIns="0" rIns="0" tIns="0" bIns="0">
            <a:spAutoFit/>
          </a:bodyPr>
          <a:lstStyle/>
          <a:p>
            <a:pPr algn="ctr">
              <a:lnSpc>
                <a:spcPct val="120000"/>
              </a:lnSpc>
            </a:pPr>
            <a:r>
              <a:rPr sz="1200" b="1">
                <a:solidFill>
                  <a:srgbClr val="E87722"/>
                </a:solidFill>
                <a:latin typeface="Hiragino Sans"/>
                <a:ea typeface="Hiragino Sans"/>
                <a:cs typeface="Hiragino Sans"/>
              </a:rPr>
              <a:t>Symphony (TikTok)</a:t>
            </a:r>
          </a:p>
        </p:txBody>
      </p:sp>
      <p:sp>
        <p:nvSpPr>
          <p:cNvPr id="16" name="TextBox 15"/>
          <p:cNvSpPr txBox="1"/>
          <p:nvPr/>
        </p:nvSpPr>
        <p:spPr>
          <a:xfrm>
            <a:off x="3520440" y="1965960"/>
            <a:ext cx="233172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Creative Studio</a:t>
            </a:r>
          </a:p>
        </p:txBody>
      </p:sp>
      <p:sp>
        <p:nvSpPr>
          <p:cNvPr id="17" name="TextBox 16"/>
          <p:cNvSpPr txBox="1"/>
          <p:nvPr/>
        </p:nvSpPr>
        <p:spPr>
          <a:xfrm>
            <a:off x="3520440" y="2423160"/>
            <a:ext cx="2331720" cy="1417320"/>
          </a:xfrm>
          <a:prstGeom prst="rect">
            <a:avLst/>
          </a:prstGeom>
          <a:noFill/>
        </p:spPr>
        <p:txBody>
          <a:bodyPr wrap="square" anchor="t" lIns="0" rIns="0" tIns="0" bIns="0">
            <a:spAutoFit/>
          </a:bodyPr>
          <a:lstStyle/>
          <a:p>
            <a:pPr algn="ctr">
              <a:lnSpc>
                <a:spcPct val="160000"/>
              </a:lnSpc>
            </a:pPr>
            <a:r>
              <a:rPr sz="1000" b="0">
                <a:solidFill>
                  <a:srgbClr val="1A1A1A"/>
                </a:solidFill>
                <a:latin typeface="Hiragino Sans"/>
                <a:ea typeface="Hiragino Sans"/>
                <a:cs typeface="Hiragino Sans"/>
              </a:rPr>
              <a:t>Image to Video / Text to Video</a:t>
            </a:r>
          </a:p>
          <a:p>
            <a:pPr algn="ctr">
              <a:lnSpc>
                <a:spcPct val="160000"/>
              </a:lnSpc>
            </a:pPr>
            <a:r>
              <a:rPr sz="1000" b="0">
                <a:solidFill>
                  <a:srgbClr val="1A1A1A"/>
                </a:solidFill>
                <a:latin typeface="Hiragino Sans"/>
                <a:ea typeface="Hiragino Sans"/>
                <a:cs typeface="Hiragino Sans"/>
              </a:rPr>
              <a:t>Digital Avatars (30+言語)</a:t>
            </a:r>
          </a:p>
          <a:p>
            <a:pPr algn="ctr">
              <a:lnSpc>
                <a:spcPct val="160000"/>
              </a:lnSpc>
            </a:pPr>
            <a:r>
              <a:rPr sz="1000" b="0">
                <a:solidFill>
                  <a:srgbClr val="1A1A1A"/>
                </a:solidFill>
                <a:latin typeface="Hiragino Sans"/>
                <a:ea typeface="Hiragino Sans"/>
                <a:cs typeface="Hiragino Sans"/>
              </a:rPr>
              <a:t>AI Dubbing / Daily Generations</a:t>
            </a:r>
          </a:p>
        </p:txBody>
      </p:sp>
      <p:sp>
        <p:nvSpPr>
          <p:cNvPr id="18" name="Rounded Rectangle 17"/>
          <p:cNvSpPr/>
          <p:nvPr/>
        </p:nvSpPr>
        <p:spPr>
          <a:xfrm>
            <a:off x="6126480" y="1417320"/>
            <a:ext cx="2697480" cy="24688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0" y="1417320"/>
            <a:ext cx="269748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1581912"/>
            <a:ext cx="2331720" cy="411480"/>
          </a:xfrm>
          <a:prstGeom prst="rect">
            <a:avLst/>
          </a:prstGeom>
          <a:noFill/>
        </p:spPr>
        <p:txBody>
          <a:bodyPr wrap="square" anchor="t" lIns="0" rIns="0" tIns="0" bIns="0">
            <a:spAutoFit/>
          </a:bodyPr>
          <a:lstStyle/>
          <a:p>
            <a:pPr algn="ctr">
              <a:lnSpc>
                <a:spcPct val="120000"/>
              </a:lnSpc>
            </a:pPr>
            <a:r>
              <a:rPr sz="1200" b="1">
                <a:solidFill>
                  <a:srgbClr val="E87722"/>
                </a:solidFill>
                <a:latin typeface="Hiragino Sans"/>
                <a:ea typeface="Hiragino Sans"/>
                <a:cs typeface="Hiragino Sans"/>
              </a:rPr>
              <a:t>Gemini in Google Ads</a:t>
            </a:r>
          </a:p>
        </p:txBody>
      </p:sp>
      <p:sp>
        <p:nvSpPr>
          <p:cNvPr id="21" name="TextBox 20"/>
          <p:cNvSpPr txBox="1"/>
          <p:nvPr/>
        </p:nvSpPr>
        <p:spPr>
          <a:xfrm>
            <a:off x="6309360" y="1965960"/>
            <a:ext cx="233172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Conversational Builder</a:t>
            </a:r>
          </a:p>
        </p:txBody>
      </p:sp>
      <p:sp>
        <p:nvSpPr>
          <p:cNvPr id="22" name="TextBox 21"/>
          <p:cNvSpPr txBox="1"/>
          <p:nvPr/>
        </p:nvSpPr>
        <p:spPr>
          <a:xfrm>
            <a:off x="6309360" y="2423160"/>
            <a:ext cx="2331720" cy="1417320"/>
          </a:xfrm>
          <a:prstGeom prst="rect">
            <a:avLst/>
          </a:prstGeom>
          <a:noFill/>
        </p:spPr>
        <p:txBody>
          <a:bodyPr wrap="square" anchor="t" lIns="0" rIns="0" tIns="0" bIns="0">
            <a:spAutoFit/>
          </a:bodyPr>
          <a:lstStyle/>
          <a:p>
            <a:pPr algn="ctr">
              <a:lnSpc>
                <a:spcPct val="160000"/>
              </a:lnSpc>
            </a:pPr>
            <a:r>
              <a:rPr sz="1000" b="0">
                <a:solidFill>
                  <a:srgbClr val="1A1A1A"/>
                </a:solidFill>
                <a:latin typeface="Hiragino Sans"/>
                <a:ea typeface="Hiragino Sans"/>
                <a:cs typeface="Hiragino Sans"/>
              </a:rPr>
              <a:t>URL → 広告セット自動生成</a:t>
            </a:r>
          </a:p>
          <a:p>
            <a:pPr algn="ctr">
              <a:lnSpc>
                <a:spcPct val="160000"/>
              </a:lnSpc>
            </a:pPr>
            <a:r>
              <a:rPr sz="1000" b="0">
                <a:solidFill>
                  <a:srgbClr val="1A1A1A"/>
                </a:solidFill>
                <a:latin typeface="Hiragino Sans"/>
                <a:ea typeface="Hiragino Sans"/>
                <a:cs typeface="Hiragino Sans"/>
              </a:rPr>
              <a:t>Asset Generation (画像/動画)</a:t>
            </a:r>
          </a:p>
          <a:p>
            <a:pPr algn="ctr">
              <a:lnSpc>
                <a:spcPct val="160000"/>
              </a:lnSpc>
            </a:pPr>
            <a:r>
              <a:rPr sz="1000" b="0">
                <a:solidFill>
                  <a:srgbClr val="1A1A1A"/>
                </a:solidFill>
                <a:latin typeface="Hiragino Sans"/>
                <a:ea typeface="Hiragino Sans"/>
                <a:cs typeface="Hiragino Sans"/>
              </a:rPr>
              <a:t>Ads Studio (β)</a:t>
            </a:r>
          </a:p>
        </p:txBody>
      </p:sp>
      <p:sp>
        <p:nvSpPr>
          <p:cNvPr id="23" name="Rounded Rectangle 22"/>
          <p:cNvSpPr/>
          <p:nvPr/>
        </p:nvSpPr>
        <p:spPr>
          <a:xfrm>
            <a:off x="8915400" y="1417320"/>
            <a:ext cx="2697480" cy="24688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15400" y="1417320"/>
            <a:ext cx="269748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98280" y="1581912"/>
            <a:ext cx="2331720" cy="411480"/>
          </a:xfrm>
          <a:prstGeom prst="rect">
            <a:avLst/>
          </a:prstGeom>
          <a:noFill/>
        </p:spPr>
        <p:txBody>
          <a:bodyPr wrap="square" anchor="t" lIns="0" rIns="0" tIns="0" bIns="0">
            <a:spAutoFit/>
          </a:bodyPr>
          <a:lstStyle/>
          <a:p>
            <a:pPr algn="ctr">
              <a:lnSpc>
                <a:spcPct val="120000"/>
              </a:lnSpc>
            </a:pPr>
            <a:r>
              <a:rPr sz="1200" b="1">
                <a:solidFill>
                  <a:srgbClr val="E87722"/>
                </a:solidFill>
                <a:latin typeface="Hiragino Sans"/>
                <a:ea typeface="Hiragino Sans"/>
                <a:cs typeface="Hiragino Sans"/>
              </a:rPr>
              <a:t>AI Max Asset Optimization</a:t>
            </a:r>
          </a:p>
        </p:txBody>
      </p:sp>
      <p:sp>
        <p:nvSpPr>
          <p:cNvPr id="26" name="TextBox 25"/>
          <p:cNvSpPr txBox="1"/>
          <p:nvPr/>
        </p:nvSpPr>
        <p:spPr>
          <a:xfrm>
            <a:off x="9098280" y="1965960"/>
            <a:ext cx="233172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Search広告のAI拡張</a:t>
            </a:r>
          </a:p>
        </p:txBody>
      </p:sp>
      <p:sp>
        <p:nvSpPr>
          <p:cNvPr id="27" name="TextBox 26"/>
          <p:cNvSpPr txBox="1"/>
          <p:nvPr/>
        </p:nvSpPr>
        <p:spPr>
          <a:xfrm>
            <a:off x="9098280" y="2423160"/>
            <a:ext cx="2331720" cy="1417320"/>
          </a:xfrm>
          <a:prstGeom prst="rect">
            <a:avLst/>
          </a:prstGeom>
          <a:noFill/>
        </p:spPr>
        <p:txBody>
          <a:bodyPr wrap="square" anchor="t" lIns="0" rIns="0" tIns="0" bIns="0">
            <a:spAutoFit/>
          </a:bodyPr>
          <a:lstStyle/>
          <a:p>
            <a:pPr algn="ctr">
              <a:lnSpc>
                <a:spcPct val="160000"/>
              </a:lnSpc>
            </a:pPr>
            <a:r>
              <a:rPr sz="1000" b="0">
                <a:solidFill>
                  <a:srgbClr val="1A1A1A"/>
                </a:solidFill>
                <a:latin typeface="Hiragino Sans"/>
                <a:ea typeface="Hiragino Sans"/>
                <a:cs typeface="Hiragino Sans"/>
              </a:rPr>
              <a:t>ACA (Auto-Created Assets) 後継</a:t>
            </a:r>
          </a:p>
          <a:p>
            <a:pPr algn="ctr">
              <a:lnSpc>
                <a:spcPct val="160000"/>
              </a:lnSpc>
            </a:pPr>
            <a:r>
              <a:rPr sz="1000" b="0">
                <a:solidFill>
                  <a:srgbClr val="1A1A1A"/>
                </a:solidFill>
                <a:latin typeface="Hiragino Sans"/>
                <a:ea typeface="Hiragino Sans"/>
                <a:cs typeface="Hiragino Sans"/>
              </a:rPr>
              <a:t>LPから新アセット自動生成</a:t>
            </a:r>
          </a:p>
        </p:txBody>
      </p:sp>
      <p:sp>
        <p:nvSpPr>
          <p:cNvPr id="28" name="Rounded Rectangle 27"/>
          <p:cNvSpPr/>
          <p:nvPr/>
        </p:nvSpPr>
        <p:spPr>
          <a:xfrm>
            <a:off x="548640" y="4069080"/>
            <a:ext cx="11109960" cy="228600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4206240"/>
            <a:ext cx="100584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 媒体ネイティブ vs 外部AI生成の使い分け</a:t>
            </a:r>
          </a:p>
        </p:txBody>
      </p:sp>
      <p:sp>
        <p:nvSpPr>
          <p:cNvPr id="30" name="TextBox 29"/>
          <p:cNvSpPr txBox="1"/>
          <p:nvPr/>
        </p:nvSpPr>
        <p:spPr>
          <a:xfrm>
            <a:off x="777240" y="4526280"/>
            <a:ext cx="10972800" cy="178308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 媒体ネイティブ = 配信に直結する『枠組みベース調整』 (Cropping / Music / 拡張)</a:t>
            </a:r>
          </a:p>
          <a:p>
            <a:pPr algn="l">
              <a:lnSpc>
                <a:spcPct val="160000"/>
              </a:lnSpc>
            </a:pPr>
            <a:r>
              <a:rPr sz="1100" b="0">
                <a:solidFill>
                  <a:srgbClr val="1A1A1A"/>
                </a:solidFill>
                <a:latin typeface="Hiragino Sans"/>
                <a:ea typeface="Hiragino Sans"/>
                <a:cs typeface="Hiragino Sans"/>
              </a:rPr>
              <a:t>• 外部AI生成 = 『ゼロから新規』 のクリエイティブ作成 (Midjourney / Sora 等)</a:t>
            </a:r>
          </a:p>
          <a:p>
            <a:pPr algn="l">
              <a:lnSpc>
                <a:spcPct val="160000"/>
              </a:lnSpc>
            </a:pPr>
            <a:r>
              <a:rPr sz="1100" b="0">
                <a:solidFill>
                  <a:srgbClr val="1A1A1A"/>
                </a:solidFill>
                <a:latin typeface="Hiragino Sans"/>
                <a:ea typeface="Hiragino Sans"/>
                <a:cs typeface="Hiragino Sans"/>
              </a:rPr>
              <a:t>• 副業代行ベストプラクティス :</a:t>
            </a:r>
          </a:p>
          <a:p>
            <a:pPr algn="l">
              <a:lnSpc>
                <a:spcPct val="160000"/>
              </a:lnSpc>
            </a:pPr>
            <a:r>
              <a:rPr sz="1100" b="0">
                <a:solidFill>
                  <a:srgbClr val="1A1A1A"/>
                </a:solidFill>
                <a:latin typeface="Hiragino Sans"/>
                <a:ea typeface="Hiragino Sans"/>
                <a:cs typeface="Hiragino Sans"/>
              </a:rPr>
              <a:t>  ① 外部AI で訴求軸ごとに 5-10案生成</a:t>
            </a:r>
          </a:p>
          <a:p>
            <a:pPr algn="l">
              <a:lnSpc>
                <a:spcPct val="160000"/>
              </a:lnSpc>
            </a:pPr>
            <a:r>
              <a:rPr sz="1100" b="0">
                <a:solidFill>
                  <a:srgbClr val="1A1A1A"/>
                </a:solidFill>
                <a:latin typeface="Hiragino Sans"/>
                <a:ea typeface="Hiragino Sans"/>
                <a:cs typeface="Hiragino Sans"/>
              </a:rPr>
              <a:t>  ② 媒体ネイティブの拡張 (Cropping/Music/Variations) でバリエーション量産</a:t>
            </a:r>
          </a:p>
          <a:p>
            <a:pPr algn="l">
              <a:lnSpc>
                <a:spcPct val="160000"/>
              </a:lnSpc>
            </a:pPr>
            <a:r>
              <a:rPr sz="1100" b="0">
                <a:solidFill>
                  <a:srgbClr val="1A1A1A"/>
                </a:solidFill>
                <a:latin typeface="Hiragino Sans"/>
                <a:ea typeface="Hiragino Sans"/>
                <a:cs typeface="Hiragino Sans"/>
              </a:rPr>
              <a:t>  ③ Smart+ / Advantage+ に大量投入で AI最適化</a:t>
            </a:r>
          </a:p>
        </p:txBody>
      </p:sp>
      <p:sp>
        <p:nvSpPr>
          <p:cNvPr id="31" name="TextBox 30"/>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AI クリエイティブの著作権・規制</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副業代行でのリスク管理</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P180 / 250</a:t>
            </a:r>
          </a:p>
        </p:txBody>
      </p:sp>
      <p:sp>
        <p:nvSpPr>
          <p:cNvPr id="8" name="Rounded Rectangle 7"/>
          <p:cNvSpPr/>
          <p:nvPr/>
        </p:nvSpPr>
        <p:spPr>
          <a:xfrm>
            <a:off x="548640" y="1417320"/>
            <a:ext cx="2697480" cy="24688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2697480" cy="777240"/>
          </a:xfrm>
          <a:prstGeom prst="rect">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581912"/>
            <a:ext cx="2331720" cy="411480"/>
          </a:xfrm>
          <a:prstGeom prst="rect">
            <a:avLst/>
          </a:prstGeom>
          <a:noFill/>
        </p:spPr>
        <p:txBody>
          <a:bodyPr wrap="square" anchor="t" lIns="0" rIns="0" tIns="0" bIns="0">
            <a:spAutoFit/>
          </a:bodyPr>
          <a:lstStyle/>
          <a:p>
            <a:pPr algn="ctr">
              <a:lnSpc>
                <a:spcPct val="120000"/>
              </a:lnSpc>
            </a:pPr>
            <a:r>
              <a:rPr sz="1300" b="1">
                <a:solidFill>
                  <a:srgbClr val="FFFFFF"/>
                </a:solidFill>
                <a:latin typeface="Hiragino Sans"/>
                <a:ea typeface="Hiragino Sans"/>
                <a:cs typeface="Hiragino Sans"/>
              </a:rPr>
              <a:t>商用利用の可否</a:t>
            </a:r>
          </a:p>
        </p:txBody>
      </p:sp>
      <p:sp>
        <p:nvSpPr>
          <p:cNvPr id="11" name="TextBox 10"/>
          <p:cNvSpPr txBox="1"/>
          <p:nvPr/>
        </p:nvSpPr>
        <p:spPr>
          <a:xfrm>
            <a:off x="731520" y="1965960"/>
            <a:ext cx="233172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各ツールの規約確認必須</a:t>
            </a:r>
          </a:p>
        </p:txBody>
      </p:sp>
      <p:sp>
        <p:nvSpPr>
          <p:cNvPr id="12" name="TextBox 11"/>
          <p:cNvSpPr txBox="1"/>
          <p:nvPr/>
        </p:nvSpPr>
        <p:spPr>
          <a:xfrm>
            <a:off x="731520" y="2423160"/>
            <a:ext cx="2331720" cy="1417320"/>
          </a:xfrm>
          <a:prstGeom prst="rect">
            <a:avLst/>
          </a:prstGeom>
          <a:noFill/>
        </p:spPr>
        <p:txBody>
          <a:bodyPr wrap="square" anchor="t" lIns="0" rIns="0" tIns="0" bIns="0">
            <a:spAutoFit/>
          </a:bodyPr>
          <a:lstStyle/>
          <a:p>
            <a:pPr algn="ctr">
              <a:lnSpc>
                <a:spcPct val="160000"/>
              </a:lnSpc>
            </a:pPr>
            <a:r>
              <a:rPr sz="1000" b="0">
                <a:solidFill>
                  <a:srgbClr val="1A1A1A"/>
                </a:solidFill>
                <a:latin typeface="Hiragino Sans"/>
                <a:ea typeface="Hiragino Sans"/>
                <a:cs typeface="Hiragino Sans"/>
              </a:rPr>
              <a:t>Midjourney : Standard以上 OK</a:t>
            </a:r>
          </a:p>
          <a:p>
            <a:pPr algn="ctr">
              <a:lnSpc>
                <a:spcPct val="160000"/>
              </a:lnSpc>
            </a:pPr>
            <a:r>
              <a:rPr sz="1000" b="0">
                <a:solidFill>
                  <a:srgbClr val="1A1A1A"/>
                </a:solidFill>
                <a:latin typeface="Hiragino Sans"/>
                <a:ea typeface="Hiragino Sans"/>
                <a:cs typeface="Hiragino Sans"/>
              </a:rPr>
              <a:t>DALL-E / Sora : 規約準拠</a:t>
            </a:r>
          </a:p>
          <a:p>
            <a:pPr algn="ctr">
              <a:lnSpc>
                <a:spcPct val="160000"/>
              </a:lnSpc>
            </a:pPr>
            <a:r>
              <a:rPr sz="1000" b="0">
                <a:solidFill>
                  <a:srgbClr val="1A1A1A"/>
                </a:solidFill>
                <a:latin typeface="Hiragino Sans"/>
                <a:ea typeface="Hiragino Sans"/>
                <a:cs typeface="Hiragino Sans"/>
              </a:rPr>
              <a:t>Firefly : 商用利用安心</a:t>
            </a:r>
          </a:p>
        </p:txBody>
      </p:sp>
      <p:sp>
        <p:nvSpPr>
          <p:cNvPr id="13" name="Rounded Rectangle 12"/>
          <p:cNvSpPr/>
          <p:nvPr/>
        </p:nvSpPr>
        <p:spPr>
          <a:xfrm>
            <a:off x="3337560" y="1417320"/>
            <a:ext cx="2697480" cy="24688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37560" y="1417320"/>
            <a:ext cx="2697480" cy="777240"/>
          </a:xfrm>
          <a:prstGeom prst="rect">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20440" y="1581912"/>
            <a:ext cx="2331720" cy="411480"/>
          </a:xfrm>
          <a:prstGeom prst="rect">
            <a:avLst/>
          </a:prstGeom>
          <a:noFill/>
        </p:spPr>
        <p:txBody>
          <a:bodyPr wrap="square" anchor="t" lIns="0" rIns="0" tIns="0" bIns="0">
            <a:spAutoFit/>
          </a:bodyPr>
          <a:lstStyle/>
          <a:p>
            <a:pPr algn="ctr">
              <a:lnSpc>
                <a:spcPct val="120000"/>
              </a:lnSpc>
            </a:pPr>
            <a:r>
              <a:rPr sz="1300" b="1">
                <a:solidFill>
                  <a:srgbClr val="FFFFFF"/>
                </a:solidFill>
                <a:latin typeface="Hiragino Sans"/>
                <a:ea typeface="Hiragino Sans"/>
                <a:cs typeface="Hiragino Sans"/>
              </a:rPr>
              <a:t>既存ブランド・人物</a:t>
            </a:r>
          </a:p>
        </p:txBody>
      </p:sp>
      <p:sp>
        <p:nvSpPr>
          <p:cNvPr id="16" name="TextBox 15"/>
          <p:cNvSpPr txBox="1"/>
          <p:nvPr/>
        </p:nvSpPr>
        <p:spPr>
          <a:xfrm>
            <a:off x="3520440" y="1965960"/>
            <a:ext cx="233172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再現は使用禁止</a:t>
            </a:r>
          </a:p>
        </p:txBody>
      </p:sp>
      <p:sp>
        <p:nvSpPr>
          <p:cNvPr id="17" name="TextBox 16"/>
          <p:cNvSpPr txBox="1"/>
          <p:nvPr/>
        </p:nvSpPr>
        <p:spPr>
          <a:xfrm>
            <a:off x="3520440" y="2423160"/>
            <a:ext cx="2331720" cy="1417320"/>
          </a:xfrm>
          <a:prstGeom prst="rect">
            <a:avLst/>
          </a:prstGeom>
          <a:noFill/>
        </p:spPr>
        <p:txBody>
          <a:bodyPr wrap="square" anchor="t" lIns="0" rIns="0" tIns="0" bIns="0">
            <a:spAutoFit/>
          </a:bodyPr>
          <a:lstStyle/>
          <a:p>
            <a:pPr algn="ctr">
              <a:lnSpc>
                <a:spcPct val="160000"/>
              </a:lnSpc>
            </a:pPr>
            <a:r>
              <a:rPr sz="1000" b="0">
                <a:solidFill>
                  <a:srgbClr val="1A1A1A"/>
                </a:solidFill>
                <a:latin typeface="Hiragino Sans"/>
                <a:ea typeface="Hiragino Sans"/>
                <a:cs typeface="Hiragino Sans"/>
              </a:rPr>
              <a:t>実在人物 / キャラクター /</a:t>
            </a:r>
          </a:p>
          <a:p>
            <a:pPr algn="ctr">
              <a:lnSpc>
                <a:spcPct val="160000"/>
              </a:lnSpc>
            </a:pPr>
            <a:r>
              <a:rPr sz="1000" b="0">
                <a:solidFill>
                  <a:srgbClr val="1A1A1A"/>
                </a:solidFill>
                <a:latin typeface="Hiragino Sans"/>
                <a:ea typeface="Hiragino Sans"/>
                <a:cs typeface="Hiragino Sans"/>
              </a:rPr>
              <a:t>ブランドロゴ の再現は</a:t>
            </a:r>
          </a:p>
          <a:p>
            <a:pPr algn="ctr">
              <a:lnSpc>
                <a:spcPct val="160000"/>
              </a:lnSpc>
            </a:pPr>
            <a:r>
              <a:rPr sz="1000" b="0">
                <a:solidFill>
                  <a:srgbClr val="1A1A1A"/>
                </a:solidFill>
                <a:latin typeface="Hiragino Sans"/>
                <a:ea typeface="Hiragino Sans"/>
                <a:cs typeface="Hiragino Sans"/>
              </a:rPr>
              <a:t>媒体審査で落ちる + 法的リスク</a:t>
            </a:r>
          </a:p>
        </p:txBody>
      </p:sp>
      <p:sp>
        <p:nvSpPr>
          <p:cNvPr id="18" name="Rounded Rectangle 17"/>
          <p:cNvSpPr/>
          <p:nvPr/>
        </p:nvSpPr>
        <p:spPr>
          <a:xfrm>
            <a:off x="6126480" y="1417320"/>
            <a:ext cx="2697480" cy="24688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0" y="1417320"/>
            <a:ext cx="2697480" cy="777240"/>
          </a:xfrm>
          <a:prstGeom prst="rect">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1581912"/>
            <a:ext cx="2331720" cy="411480"/>
          </a:xfrm>
          <a:prstGeom prst="rect">
            <a:avLst/>
          </a:prstGeom>
          <a:noFill/>
        </p:spPr>
        <p:txBody>
          <a:bodyPr wrap="square" anchor="t" lIns="0" rIns="0" tIns="0" bIns="0">
            <a:spAutoFit/>
          </a:bodyPr>
          <a:lstStyle/>
          <a:p>
            <a:pPr algn="ctr">
              <a:lnSpc>
                <a:spcPct val="120000"/>
              </a:lnSpc>
            </a:pPr>
            <a:r>
              <a:rPr sz="1300" b="1">
                <a:solidFill>
                  <a:srgbClr val="FFFFFF"/>
                </a:solidFill>
                <a:latin typeface="Hiragino Sans"/>
                <a:ea typeface="Hiragino Sans"/>
                <a:cs typeface="Hiragino Sans"/>
              </a:rPr>
              <a:t>AI生成表記</a:t>
            </a:r>
          </a:p>
        </p:txBody>
      </p:sp>
      <p:sp>
        <p:nvSpPr>
          <p:cNvPr id="21" name="TextBox 20"/>
          <p:cNvSpPr txBox="1"/>
          <p:nvPr/>
        </p:nvSpPr>
        <p:spPr>
          <a:xfrm>
            <a:off x="6309360" y="1965960"/>
            <a:ext cx="233172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媒体・規制で必須化進行</a:t>
            </a:r>
          </a:p>
        </p:txBody>
      </p:sp>
      <p:sp>
        <p:nvSpPr>
          <p:cNvPr id="22" name="TextBox 21"/>
          <p:cNvSpPr txBox="1"/>
          <p:nvPr/>
        </p:nvSpPr>
        <p:spPr>
          <a:xfrm>
            <a:off x="6309360" y="2423160"/>
            <a:ext cx="2331720" cy="1417320"/>
          </a:xfrm>
          <a:prstGeom prst="rect">
            <a:avLst/>
          </a:prstGeom>
          <a:noFill/>
        </p:spPr>
        <p:txBody>
          <a:bodyPr wrap="square" anchor="t" lIns="0" rIns="0" tIns="0" bIns="0">
            <a:spAutoFit/>
          </a:bodyPr>
          <a:lstStyle/>
          <a:p>
            <a:pPr algn="ctr">
              <a:lnSpc>
                <a:spcPct val="160000"/>
              </a:lnSpc>
            </a:pPr>
            <a:r>
              <a:rPr sz="1000" b="0">
                <a:solidFill>
                  <a:srgbClr val="1A1A1A"/>
                </a:solidFill>
                <a:latin typeface="Hiragino Sans"/>
                <a:ea typeface="Hiragino Sans"/>
                <a:cs typeface="Hiragino Sans"/>
              </a:rPr>
              <a:t>EU DSA でAI生成広告は</a:t>
            </a:r>
          </a:p>
          <a:p>
            <a:pPr algn="ctr">
              <a:lnSpc>
                <a:spcPct val="160000"/>
              </a:lnSpc>
            </a:pPr>
            <a:r>
              <a:rPr sz="1000" b="0">
                <a:solidFill>
                  <a:srgbClr val="1A1A1A"/>
                </a:solidFill>
                <a:latin typeface="Hiragino Sans"/>
                <a:ea typeface="Hiragino Sans"/>
                <a:cs typeface="Hiragino Sans"/>
              </a:rPr>
              <a:t>表示義務化検討中。</a:t>
            </a:r>
          </a:p>
          <a:p>
            <a:pPr algn="ctr">
              <a:lnSpc>
                <a:spcPct val="160000"/>
              </a:lnSpc>
            </a:pPr>
            <a:r>
              <a:rPr sz="1000" b="0">
                <a:solidFill>
                  <a:srgbClr val="1A1A1A"/>
                </a:solidFill>
                <a:latin typeface="Hiragino Sans"/>
                <a:ea typeface="Hiragino Sans"/>
                <a:cs typeface="Hiragino Sans"/>
              </a:rPr>
              <a:t>TikTok Symphony は自動付与</a:t>
            </a:r>
          </a:p>
        </p:txBody>
      </p:sp>
      <p:sp>
        <p:nvSpPr>
          <p:cNvPr id="23" name="Rounded Rectangle 22"/>
          <p:cNvSpPr/>
          <p:nvPr/>
        </p:nvSpPr>
        <p:spPr>
          <a:xfrm>
            <a:off x="8915400" y="1417320"/>
            <a:ext cx="2697480" cy="24688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15400" y="1417320"/>
            <a:ext cx="2697480" cy="777240"/>
          </a:xfrm>
          <a:prstGeom prst="rect">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98280" y="1581912"/>
            <a:ext cx="2331720" cy="411480"/>
          </a:xfrm>
          <a:prstGeom prst="rect">
            <a:avLst/>
          </a:prstGeom>
          <a:noFill/>
        </p:spPr>
        <p:txBody>
          <a:bodyPr wrap="square" anchor="t" lIns="0" rIns="0" tIns="0" bIns="0">
            <a:spAutoFit/>
          </a:bodyPr>
          <a:lstStyle/>
          <a:p>
            <a:pPr algn="ctr">
              <a:lnSpc>
                <a:spcPct val="120000"/>
              </a:lnSpc>
            </a:pPr>
            <a:r>
              <a:rPr sz="1300" b="1">
                <a:solidFill>
                  <a:srgbClr val="FFFFFF"/>
                </a:solidFill>
                <a:latin typeface="Hiragino Sans"/>
                <a:ea typeface="Hiragino Sans"/>
                <a:cs typeface="Hiragino Sans"/>
              </a:rPr>
              <a:t>学習データの著作権</a:t>
            </a:r>
          </a:p>
        </p:txBody>
      </p:sp>
      <p:sp>
        <p:nvSpPr>
          <p:cNvPr id="26" name="TextBox 25"/>
          <p:cNvSpPr txBox="1"/>
          <p:nvPr/>
        </p:nvSpPr>
        <p:spPr>
          <a:xfrm>
            <a:off x="9098280" y="1965960"/>
            <a:ext cx="233172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進行中の論争</a:t>
            </a:r>
          </a:p>
        </p:txBody>
      </p:sp>
      <p:sp>
        <p:nvSpPr>
          <p:cNvPr id="27" name="TextBox 26"/>
          <p:cNvSpPr txBox="1"/>
          <p:nvPr/>
        </p:nvSpPr>
        <p:spPr>
          <a:xfrm>
            <a:off x="9098280" y="2423160"/>
            <a:ext cx="2331720" cy="1417320"/>
          </a:xfrm>
          <a:prstGeom prst="rect">
            <a:avLst/>
          </a:prstGeom>
          <a:noFill/>
        </p:spPr>
        <p:txBody>
          <a:bodyPr wrap="square" anchor="t" lIns="0" rIns="0" tIns="0" bIns="0">
            <a:spAutoFit/>
          </a:bodyPr>
          <a:lstStyle/>
          <a:p>
            <a:pPr algn="ctr">
              <a:lnSpc>
                <a:spcPct val="160000"/>
              </a:lnSpc>
            </a:pPr>
            <a:r>
              <a:rPr sz="1000" b="0">
                <a:solidFill>
                  <a:srgbClr val="1A1A1A"/>
                </a:solidFill>
                <a:latin typeface="Hiragino Sans"/>
                <a:ea typeface="Hiragino Sans"/>
                <a:cs typeface="Hiragino Sans"/>
              </a:rPr>
              <a:t>Stable Diffusion / OpenAI が</a:t>
            </a:r>
          </a:p>
          <a:p>
            <a:pPr algn="ctr">
              <a:lnSpc>
                <a:spcPct val="160000"/>
              </a:lnSpc>
            </a:pPr>
            <a:r>
              <a:rPr sz="1000" b="0">
                <a:solidFill>
                  <a:srgbClr val="1A1A1A"/>
                </a:solidFill>
                <a:latin typeface="Hiragino Sans"/>
                <a:ea typeface="Hiragino Sans"/>
                <a:cs typeface="Hiragino Sans"/>
              </a:rPr>
              <a:t>訴訟中。商用利用は</a:t>
            </a:r>
          </a:p>
          <a:p>
            <a:pPr algn="ctr">
              <a:lnSpc>
                <a:spcPct val="160000"/>
              </a:lnSpc>
            </a:pPr>
            <a:r>
              <a:rPr sz="1000" b="0">
                <a:solidFill>
                  <a:srgbClr val="1A1A1A"/>
                </a:solidFill>
                <a:latin typeface="Hiragino Sans"/>
                <a:ea typeface="Hiragino Sans"/>
                <a:cs typeface="Hiragino Sans"/>
              </a:rPr>
              <a:t>保証付きツール (Firefly等) を推奨</a:t>
            </a:r>
          </a:p>
        </p:txBody>
      </p:sp>
      <p:sp>
        <p:nvSpPr>
          <p:cNvPr id="28" name="Rounded Rectangle 27"/>
          <p:cNvSpPr/>
          <p:nvPr/>
        </p:nvSpPr>
        <p:spPr>
          <a:xfrm>
            <a:off x="548640" y="4069080"/>
            <a:ext cx="11109960" cy="228600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4206240"/>
            <a:ext cx="10058400" cy="320040"/>
          </a:xfrm>
          <a:prstGeom prst="rect">
            <a:avLst/>
          </a:prstGeom>
          <a:noFill/>
        </p:spPr>
        <p:txBody>
          <a:bodyPr wrap="square" anchor="t" lIns="0" rIns="0" tIns="0" bIns="0">
            <a:spAutoFit/>
          </a:bodyPr>
          <a:lstStyle/>
          <a:p>
            <a:pPr algn="l">
              <a:lnSpc>
                <a:spcPct val="115000"/>
              </a:lnSpc>
            </a:pPr>
            <a:r>
              <a:rPr sz="1200" b="1">
                <a:solidFill>
                  <a:srgbClr val="E87722"/>
                </a:solidFill>
                <a:latin typeface="Hiragino Sans"/>
                <a:ea typeface="Hiragino Sans"/>
                <a:cs typeface="Hiragino Sans"/>
              </a:rPr>
              <a:t>💡 副業代行のリスク管理チェックリスト</a:t>
            </a:r>
          </a:p>
        </p:txBody>
      </p:sp>
      <p:sp>
        <p:nvSpPr>
          <p:cNvPr id="30" name="TextBox 29"/>
          <p:cNvSpPr txBox="1"/>
          <p:nvPr/>
        </p:nvSpPr>
        <p:spPr>
          <a:xfrm>
            <a:off x="777240" y="4526280"/>
            <a:ext cx="10972800" cy="1783080"/>
          </a:xfrm>
          <a:prstGeom prst="rect">
            <a:avLst/>
          </a:prstGeom>
          <a:noFill/>
        </p:spPr>
        <p:txBody>
          <a:bodyPr wrap="square" anchor="t" lIns="0" rIns="0" tIns="0" bIns="0">
            <a:spAutoFit/>
          </a:bodyPr>
          <a:lstStyle/>
          <a:p>
            <a:pPr algn="l">
              <a:lnSpc>
                <a:spcPct val="155000"/>
              </a:lnSpc>
            </a:pPr>
            <a:r>
              <a:rPr sz="1100" b="0">
                <a:solidFill>
                  <a:srgbClr val="FFFFFF"/>
                </a:solidFill>
                <a:latin typeface="Hiragino Sans"/>
                <a:ea typeface="Hiragino Sans"/>
                <a:cs typeface="Hiragino Sans"/>
              </a:rPr>
              <a:t>✓ 利用ツールの『商用利用OK』確認 (規約読込)</a:t>
            </a:r>
          </a:p>
          <a:p>
            <a:pPr algn="l">
              <a:lnSpc>
                <a:spcPct val="155000"/>
              </a:lnSpc>
            </a:pPr>
            <a:r>
              <a:rPr sz="1100" b="0">
                <a:solidFill>
                  <a:srgbClr val="FFFFFF"/>
                </a:solidFill>
                <a:latin typeface="Hiragino Sans"/>
                <a:ea typeface="Hiragino Sans"/>
                <a:cs typeface="Hiragino Sans"/>
              </a:rPr>
              <a:t>✓ 商用利用安心ツール (Adobe Firefly等) を高単価案件で活用</a:t>
            </a:r>
          </a:p>
          <a:p>
            <a:pPr algn="l">
              <a:lnSpc>
                <a:spcPct val="155000"/>
              </a:lnSpc>
            </a:pPr>
            <a:r>
              <a:rPr sz="1100" b="0">
                <a:solidFill>
                  <a:srgbClr val="FFFFFF"/>
                </a:solidFill>
                <a:latin typeface="Hiragino Sans"/>
                <a:ea typeface="Hiragino Sans"/>
                <a:cs typeface="Hiragino Sans"/>
              </a:rPr>
              <a:t>✓ クライアント契約書に『AI生成素材使用』を明記</a:t>
            </a:r>
          </a:p>
          <a:p>
            <a:pPr algn="l">
              <a:lnSpc>
                <a:spcPct val="155000"/>
              </a:lnSpc>
            </a:pPr>
            <a:r>
              <a:rPr sz="1100" b="0">
                <a:solidFill>
                  <a:srgbClr val="FFFFFF"/>
                </a:solidFill>
                <a:latin typeface="Hiragino Sans"/>
                <a:ea typeface="Hiragino Sans"/>
                <a:cs typeface="Hiragino Sans"/>
              </a:rPr>
              <a:t>✓ 実在人物・既存IP の再現は禁止</a:t>
            </a:r>
          </a:p>
          <a:p>
            <a:pPr algn="l">
              <a:lnSpc>
                <a:spcPct val="155000"/>
              </a:lnSpc>
            </a:pPr>
            <a:r>
              <a:rPr sz="1100" b="0">
                <a:solidFill>
                  <a:srgbClr val="FFFFFF"/>
                </a:solidFill>
                <a:latin typeface="Hiragino Sans"/>
                <a:ea typeface="Hiragino Sans"/>
                <a:cs typeface="Hiragino Sans"/>
              </a:rPr>
              <a:t>✓ 媒体審査で落ちた場合の代替素材を別ツールで準備</a:t>
            </a:r>
          </a:p>
          <a:p>
            <a:pPr algn="l">
              <a:lnSpc>
                <a:spcPct val="155000"/>
              </a:lnSpc>
            </a:pPr>
            <a:r>
              <a:rPr sz="1100" b="0">
                <a:solidFill>
                  <a:srgbClr val="FFFFFF"/>
                </a:solidFill>
                <a:latin typeface="Hiragino Sans"/>
                <a:ea typeface="Hiragino Sans"/>
                <a:cs typeface="Hiragino Sans"/>
              </a:rPr>
              <a:t>✓ AI生成表記は将来的に必須になる前提で設計 (TikTok等は既に自動)</a:t>
            </a:r>
          </a:p>
        </p:txBody>
      </p:sp>
      <p:sp>
        <p:nvSpPr>
          <p:cNvPr id="31" name="TextBox 30"/>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プロンプト設計の鉄則</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AI生成の品質はプロンプトで決まる</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P181 / 250</a:t>
            </a:r>
          </a:p>
        </p:txBody>
      </p:sp>
      <p:sp>
        <p:nvSpPr>
          <p:cNvPr id="8" name="Rounded Rectangle 7"/>
          <p:cNvSpPr/>
          <p:nvPr/>
        </p:nvSpPr>
        <p:spPr>
          <a:xfrm>
            <a:off x="548640" y="1417320"/>
            <a:ext cx="3611880" cy="15544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600200"/>
            <a:ext cx="548640" cy="640080"/>
          </a:xfrm>
          <a:prstGeom prst="rect">
            <a:avLst/>
          </a:prstGeom>
          <a:noFill/>
        </p:spPr>
        <p:txBody>
          <a:bodyPr wrap="square" anchor="t" lIns="0" rIns="0" tIns="0" bIns="0">
            <a:spAutoFit/>
          </a:bodyPr>
          <a:lstStyle/>
          <a:p>
            <a:pPr algn="l">
              <a:lnSpc>
                <a:spcPct val="115000"/>
              </a:lnSpc>
            </a:pPr>
            <a:r>
              <a:rPr sz="3200" b="1">
                <a:solidFill>
                  <a:srgbClr val="E87722"/>
                </a:solidFill>
                <a:latin typeface="Helvetica Neue"/>
                <a:ea typeface="Helvetica Neue"/>
                <a:cs typeface="Helvetica Neue"/>
              </a:rPr>
              <a:t>①</a:t>
            </a:r>
          </a:p>
        </p:txBody>
      </p:sp>
      <p:sp>
        <p:nvSpPr>
          <p:cNvPr id="10" name="TextBox 9"/>
          <p:cNvSpPr txBox="1"/>
          <p:nvPr/>
        </p:nvSpPr>
        <p:spPr>
          <a:xfrm>
            <a:off x="1417320" y="1645920"/>
            <a:ext cx="260604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目的を最初に明示</a:t>
            </a:r>
          </a:p>
        </p:txBody>
      </p:sp>
      <p:sp>
        <p:nvSpPr>
          <p:cNvPr id="11" name="TextBox 10"/>
          <p:cNvSpPr txBox="1"/>
          <p:nvPr/>
        </p:nvSpPr>
        <p:spPr>
          <a:xfrm>
            <a:off x="731520" y="2286000"/>
            <a:ext cx="3246120" cy="640080"/>
          </a:xfrm>
          <a:prstGeom prst="rect">
            <a:avLst/>
          </a:prstGeom>
          <a:noFill/>
        </p:spPr>
        <p:txBody>
          <a:bodyPr wrap="square" anchor="t" lIns="0" rIns="0" tIns="0" bIns="0">
            <a:spAutoFit/>
          </a:bodyPr>
          <a:lstStyle/>
          <a:p>
            <a:pPr algn="l">
              <a:lnSpc>
                <a:spcPct val="145000"/>
              </a:lnSpc>
            </a:pPr>
            <a:r>
              <a:rPr sz="1000" b="0">
                <a:solidFill>
                  <a:srgbClr val="1A1A1A"/>
                </a:solidFill>
                <a:latin typeface="Hiragino Sans"/>
                <a:ea typeface="Hiragino Sans"/>
                <a:cs typeface="Hiragino Sans"/>
              </a:rPr>
              <a:t>『この広告コピーは…』『商品紹介画像で…』</a:t>
            </a:r>
          </a:p>
          <a:p>
            <a:pPr algn="l">
              <a:lnSpc>
                <a:spcPct val="145000"/>
              </a:lnSpc>
            </a:pPr>
            <a:r>
              <a:rPr sz="1000" b="0">
                <a:solidFill>
                  <a:srgbClr val="1A1A1A"/>
                </a:solidFill>
                <a:latin typeface="Hiragino Sans"/>
                <a:ea typeface="Hiragino Sans"/>
                <a:cs typeface="Hiragino Sans"/>
              </a:rPr>
              <a:t>用途を冒頭で示す</a:t>
            </a:r>
          </a:p>
        </p:txBody>
      </p:sp>
      <p:sp>
        <p:nvSpPr>
          <p:cNvPr id="12" name="Rounded Rectangle 11"/>
          <p:cNvSpPr/>
          <p:nvPr/>
        </p:nvSpPr>
        <p:spPr>
          <a:xfrm>
            <a:off x="4297680" y="1417320"/>
            <a:ext cx="3611880" cy="15544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0560" y="1600200"/>
            <a:ext cx="548640" cy="640080"/>
          </a:xfrm>
          <a:prstGeom prst="rect">
            <a:avLst/>
          </a:prstGeom>
          <a:noFill/>
        </p:spPr>
        <p:txBody>
          <a:bodyPr wrap="square" anchor="t" lIns="0" rIns="0" tIns="0" bIns="0">
            <a:spAutoFit/>
          </a:bodyPr>
          <a:lstStyle/>
          <a:p>
            <a:pPr algn="l">
              <a:lnSpc>
                <a:spcPct val="115000"/>
              </a:lnSpc>
            </a:pPr>
            <a:r>
              <a:rPr sz="3200" b="1">
                <a:solidFill>
                  <a:srgbClr val="E87722"/>
                </a:solidFill>
                <a:latin typeface="Helvetica Neue"/>
                <a:ea typeface="Helvetica Neue"/>
                <a:cs typeface="Helvetica Neue"/>
              </a:rPr>
              <a:t>②</a:t>
            </a:r>
          </a:p>
        </p:txBody>
      </p:sp>
      <p:sp>
        <p:nvSpPr>
          <p:cNvPr id="14" name="TextBox 13"/>
          <p:cNvSpPr txBox="1"/>
          <p:nvPr/>
        </p:nvSpPr>
        <p:spPr>
          <a:xfrm>
            <a:off x="5166360" y="1645920"/>
            <a:ext cx="260604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ターゲットを具体的に</a:t>
            </a:r>
          </a:p>
        </p:txBody>
      </p:sp>
      <p:sp>
        <p:nvSpPr>
          <p:cNvPr id="15" name="TextBox 14"/>
          <p:cNvSpPr txBox="1"/>
          <p:nvPr/>
        </p:nvSpPr>
        <p:spPr>
          <a:xfrm>
            <a:off x="4480560" y="2286000"/>
            <a:ext cx="3246120" cy="640080"/>
          </a:xfrm>
          <a:prstGeom prst="rect">
            <a:avLst/>
          </a:prstGeom>
          <a:noFill/>
        </p:spPr>
        <p:txBody>
          <a:bodyPr wrap="square" anchor="t" lIns="0" rIns="0" tIns="0" bIns="0">
            <a:spAutoFit/>
          </a:bodyPr>
          <a:lstStyle/>
          <a:p>
            <a:pPr algn="l">
              <a:lnSpc>
                <a:spcPct val="145000"/>
              </a:lnSpc>
            </a:pPr>
            <a:r>
              <a:rPr sz="1000" b="0">
                <a:solidFill>
                  <a:srgbClr val="1A1A1A"/>
                </a:solidFill>
                <a:latin typeface="Hiragino Sans"/>
                <a:ea typeface="Hiragino Sans"/>
                <a:cs typeface="Hiragino Sans"/>
              </a:rPr>
              <a:t>『30代女性 / 仕事疲れ / 美容意識高め』</a:t>
            </a:r>
          </a:p>
          <a:p>
            <a:pPr algn="l">
              <a:lnSpc>
                <a:spcPct val="145000"/>
              </a:lnSpc>
            </a:pPr>
            <a:r>
              <a:rPr sz="1000" b="0">
                <a:solidFill>
                  <a:srgbClr val="1A1A1A"/>
                </a:solidFill>
                <a:latin typeface="Hiragino Sans"/>
                <a:ea typeface="Hiragino Sans"/>
                <a:cs typeface="Hiragino Sans"/>
              </a:rPr>
              <a:t>属性 + 状況 + 関心</a:t>
            </a:r>
          </a:p>
        </p:txBody>
      </p:sp>
      <p:sp>
        <p:nvSpPr>
          <p:cNvPr id="16" name="Rounded Rectangle 15"/>
          <p:cNvSpPr/>
          <p:nvPr/>
        </p:nvSpPr>
        <p:spPr>
          <a:xfrm>
            <a:off x="8046720" y="1417320"/>
            <a:ext cx="3611880" cy="15544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0" y="1600200"/>
            <a:ext cx="548640" cy="640080"/>
          </a:xfrm>
          <a:prstGeom prst="rect">
            <a:avLst/>
          </a:prstGeom>
          <a:noFill/>
        </p:spPr>
        <p:txBody>
          <a:bodyPr wrap="square" anchor="t" lIns="0" rIns="0" tIns="0" bIns="0">
            <a:spAutoFit/>
          </a:bodyPr>
          <a:lstStyle/>
          <a:p>
            <a:pPr algn="l">
              <a:lnSpc>
                <a:spcPct val="115000"/>
              </a:lnSpc>
            </a:pPr>
            <a:r>
              <a:rPr sz="3200" b="1">
                <a:solidFill>
                  <a:srgbClr val="E87722"/>
                </a:solidFill>
                <a:latin typeface="Helvetica Neue"/>
                <a:ea typeface="Helvetica Neue"/>
                <a:cs typeface="Helvetica Neue"/>
              </a:rPr>
              <a:t>③</a:t>
            </a:r>
          </a:p>
        </p:txBody>
      </p:sp>
      <p:sp>
        <p:nvSpPr>
          <p:cNvPr id="18" name="TextBox 17"/>
          <p:cNvSpPr txBox="1"/>
          <p:nvPr/>
        </p:nvSpPr>
        <p:spPr>
          <a:xfrm>
            <a:off x="8915400" y="1645920"/>
            <a:ext cx="260604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トーンを指定</a:t>
            </a:r>
          </a:p>
        </p:txBody>
      </p:sp>
      <p:sp>
        <p:nvSpPr>
          <p:cNvPr id="19" name="TextBox 18"/>
          <p:cNvSpPr txBox="1"/>
          <p:nvPr/>
        </p:nvSpPr>
        <p:spPr>
          <a:xfrm>
            <a:off x="8229600" y="2286000"/>
            <a:ext cx="3246120" cy="640080"/>
          </a:xfrm>
          <a:prstGeom prst="rect">
            <a:avLst/>
          </a:prstGeom>
          <a:noFill/>
        </p:spPr>
        <p:txBody>
          <a:bodyPr wrap="square" anchor="t" lIns="0" rIns="0" tIns="0" bIns="0">
            <a:spAutoFit/>
          </a:bodyPr>
          <a:lstStyle/>
          <a:p>
            <a:pPr algn="l">
              <a:lnSpc>
                <a:spcPct val="145000"/>
              </a:lnSpc>
            </a:pPr>
            <a:r>
              <a:rPr sz="1000" b="0">
                <a:solidFill>
                  <a:srgbClr val="1A1A1A"/>
                </a:solidFill>
                <a:latin typeface="Hiragino Sans"/>
                <a:ea typeface="Hiragino Sans"/>
                <a:cs typeface="Hiragino Sans"/>
              </a:rPr>
              <a:t>『カジュアル』『信頼感あり』『ユーモア』</a:t>
            </a:r>
          </a:p>
          <a:p>
            <a:pPr algn="l">
              <a:lnSpc>
                <a:spcPct val="145000"/>
              </a:lnSpc>
            </a:pPr>
            <a:r>
              <a:rPr sz="1000" b="0">
                <a:solidFill>
                  <a:srgbClr val="1A1A1A"/>
                </a:solidFill>
                <a:latin typeface="Hiragino Sans"/>
                <a:ea typeface="Hiragino Sans"/>
                <a:cs typeface="Hiragino Sans"/>
              </a:rPr>
              <a:t>ブランドボイスを言語化</a:t>
            </a:r>
          </a:p>
        </p:txBody>
      </p:sp>
      <p:sp>
        <p:nvSpPr>
          <p:cNvPr id="20" name="Rounded Rectangle 19"/>
          <p:cNvSpPr/>
          <p:nvPr/>
        </p:nvSpPr>
        <p:spPr>
          <a:xfrm>
            <a:off x="548640" y="3108960"/>
            <a:ext cx="3611880" cy="15544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291840"/>
            <a:ext cx="548640" cy="640080"/>
          </a:xfrm>
          <a:prstGeom prst="rect">
            <a:avLst/>
          </a:prstGeom>
          <a:noFill/>
        </p:spPr>
        <p:txBody>
          <a:bodyPr wrap="square" anchor="t" lIns="0" rIns="0" tIns="0" bIns="0">
            <a:spAutoFit/>
          </a:bodyPr>
          <a:lstStyle/>
          <a:p>
            <a:pPr algn="l">
              <a:lnSpc>
                <a:spcPct val="115000"/>
              </a:lnSpc>
            </a:pPr>
            <a:r>
              <a:rPr sz="3200" b="1">
                <a:solidFill>
                  <a:srgbClr val="E87722"/>
                </a:solidFill>
                <a:latin typeface="Helvetica Neue"/>
                <a:ea typeface="Helvetica Neue"/>
                <a:cs typeface="Helvetica Neue"/>
              </a:rPr>
              <a:t>④</a:t>
            </a:r>
          </a:p>
        </p:txBody>
      </p:sp>
      <p:sp>
        <p:nvSpPr>
          <p:cNvPr id="22" name="TextBox 21"/>
          <p:cNvSpPr txBox="1"/>
          <p:nvPr/>
        </p:nvSpPr>
        <p:spPr>
          <a:xfrm>
            <a:off x="1417320" y="3337560"/>
            <a:ext cx="260604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出力形式を指定</a:t>
            </a:r>
          </a:p>
        </p:txBody>
      </p:sp>
      <p:sp>
        <p:nvSpPr>
          <p:cNvPr id="23" name="TextBox 22"/>
          <p:cNvSpPr txBox="1"/>
          <p:nvPr/>
        </p:nvSpPr>
        <p:spPr>
          <a:xfrm>
            <a:off x="731520" y="3977640"/>
            <a:ext cx="3246120" cy="640080"/>
          </a:xfrm>
          <a:prstGeom prst="rect">
            <a:avLst/>
          </a:prstGeom>
          <a:noFill/>
        </p:spPr>
        <p:txBody>
          <a:bodyPr wrap="square" anchor="t" lIns="0" rIns="0" tIns="0" bIns="0">
            <a:spAutoFit/>
          </a:bodyPr>
          <a:lstStyle/>
          <a:p>
            <a:pPr algn="l">
              <a:lnSpc>
                <a:spcPct val="145000"/>
              </a:lnSpc>
            </a:pPr>
            <a:r>
              <a:rPr sz="1000" b="0">
                <a:solidFill>
                  <a:srgbClr val="1A1A1A"/>
                </a:solidFill>
                <a:latin typeface="Hiragino Sans"/>
                <a:ea typeface="Hiragino Sans"/>
                <a:cs typeface="Hiragino Sans"/>
              </a:rPr>
              <a:t>『見出し10案 + 説明文5案』</a:t>
            </a:r>
          </a:p>
          <a:p>
            <a:pPr algn="l">
              <a:lnSpc>
                <a:spcPct val="145000"/>
              </a:lnSpc>
            </a:pPr>
            <a:r>
              <a:rPr sz="1000" b="0">
                <a:solidFill>
                  <a:srgbClr val="1A1A1A"/>
                </a:solidFill>
                <a:latin typeface="Hiragino Sans"/>
                <a:ea typeface="Hiragino Sans"/>
                <a:cs typeface="Hiragino Sans"/>
              </a:rPr>
              <a:t>『カルーセル5枚分のセット』</a:t>
            </a:r>
          </a:p>
        </p:txBody>
      </p:sp>
      <p:sp>
        <p:nvSpPr>
          <p:cNvPr id="24" name="Rounded Rectangle 23"/>
          <p:cNvSpPr/>
          <p:nvPr/>
        </p:nvSpPr>
        <p:spPr>
          <a:xfrm>
            <a:off x="4297680" y="3108960"/>
            <a:ext cx="3611880" cy="15544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80560" y="3291840"/>
            <a:ext cx="548640" cy="640080"/>
          </a:xfrm>
          <a:prstGeom prst="rect">
            <a:avLst/>
          </a:prstGeom>
          <a:noFill/>
        </p:spPr>
        <p:txBody>
          <a:bodyPr wrap="square" anchor="t" lIns="0" rIns="0" tIns="0" bIns="0">
            <a:spAutoFit/>
          </a:bodyPr>
          <a:lstStyle/>
          <a:p>
            <a:pPr algn="l">
              <a:lnSpc>
                <a:spcPct val="115000"/>
              </a:lnSpc>
            </a:pPr>
            <a:r>
              <a:rPr sz="3200" b="1">
                <a:solidFill>
                  <a:srgbClr val="E87722"/>
                </a:solidFill>
                <a:latin typeface="Helvetica Neue"/>
                <a:ea typeface="Helvetica Neue"/>
                <a:cs typeface="Helvetica Neue"/>
              </a:rPr>
              <a:t>⑤</a:t>
            </a:r>
          </a:p>
        </p:txBody>
      </p:sp>
      <p:sp>
        <p:nvSpPr>
          <p:cNvPr id="26" name="TextBox 25"/>
          <p:cNvSpPr txBox="1"/>
          <p:nvPr/>
        </p:nvSpPr>
        <p:spPr>
          <a:xfrm>
            <a:off x="5166360" y="3337560"/>
            <a:ext cx="260604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制約条件を伝える</a:t>
            </a:r>
          </a:p>
        </p:txBody>
      </p:sp>
      <p:sp>
        <p:nvSpPr>
          <p:cNvPr id="27" name="TextBox 26"/>
          <p:cNvSpPr txBox="1"/>
          <p:nvPr/>
        </p:nvSpPr>
        <p:spPr>
          <a:xfrm>
            <a:off x="4480560" y="3977640"/>
            <a:ext cx="3246120" cy="640080"/>
          </a:xfrm>
          <a:prstGeom prst="rect">
            <a:avLst/>
          </a:prstGeom>
          <a:noFill/>
        </p:spPr>
        <p:txBody>
          <a:bodyPr wrap="square" anchor="t" lIns="0" rIns="0" tIns="0" bIns="0">
            <a:spAutoFit/>
          </a:bodyPr>
          <a:lstStyle/>
          <a:p>
            <a:pPr algn="l">
              <a:lnSpc>
                <a:spcPct val="145000"/>
              </a:lnSpc>
            </a:pPr>
            <a:r>
              <a:rPr sz="1000" b="0">
                <a:solidFill>
                  <a:srgbClr val="1A1A1A"/>
                </a:solidFill>
                <a:latin typeface="Hiragino Sans"/>
                <a:ea typeface="Hiragino Sans"/>
                <a:cs typeface="Hiragino Sans"/>
              </a:rPr>
              <a:t>『漢字は40%以下』『PR表記必須』</a:t>
            </a:r>
          </a:p>
          <a:p>
            <a:pPr algn="l">
              <a:lnSpc>
                <a:spcPct val="145000"/>
              </a:lnSpc>
            </a:pPr>
            <a:r>
              <a:rPr sz="1000" b="0">
                <a:solidFill>
                  <a:srgbClr val="1A1A1A"/>
                </a:solidFill>
                <a:latin typeface="Hiragino Sans"/>
                <a:ea typeface="Hiragino Sans"/>
                <a:cs typeface="Hiragino Sans"/>
              </a:rPr>
              <a:t>『LP URLは含めない』</a:t>
            </a:r>
          </a:p>
        </p:txBody>
      </p:sp>
      <p:sp>
        <p:nvSpPr>
          <p:cNvPr id="28" name="Rounded Rectangle 27"/>
          <p:cNvSpPr/>
          <p:nvPr/>
        </p:nvSpPr>
        <p:spPr>
          <a:xfrm>
            <a:off x="8046720" y="3108960"/>
            <a:ext cx="3611880" cy="15544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0" y="3291840"/>
            <a:ext cx="548640" cy="640080"/>
          </a:xfrm>
          <a:prstGeom prst="rect">
            <a:avLst/>
          </a:prstGeom>
          <a:noFill/>
        </p:spPr>
        <p:txBody>
          <a:bodyPr wrap="square" anchor="t" lIns="0" rIns="0" tIns="0" bIns="0">
            <a:spAutoFit/>
          </a:bodyPr>
          <a:lstStyle/>
          <a:p>
            <a:pPr algn="l">
              <a:lnSpc>
                <a:spcPct val="115000"/>
              </a:lnSpc>
            </a:pPr>
            <a:r>
              <a:rPr sz="3200" b="1">
                <a:solidFill>
                  <a:srgbClr val="E87722"/>
                </a:solidFill>
                <a:latin typeface="Helvetica Neue"/>
                <a:ea typeface="Helvetica Neue"/>
                <a:cs typeface="Helvetica Neue"/>
              </a:rPr>
              <a:t>⑥</a:t>
            </a:r>
          </a:p>
        </p:txBody>
      </p:sp>
      <p:sp>
        <p:nvSpPr>
          <p:cNvPr id="30" name="TextBox 29"/>
          <p:cNvSpPr txBox="1"/>
          <p:nvPr/>
        </p:nvSpPr>
        <p:spPr>
          <a:xfrm>
            <a:off x="8915400" y="3337560"/>
            <a:ext cx="260604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参照例 (Few-shot) を入れる</a:t>
            </a:r>
          </a:p>
        </p:txBody>
      </p:sp>
      <p:sp>
        <p:nvSpPr>
          <p:cNvPr id="31" name="TextBox 30"/>
          <p:cNvSpPr txBox="1"/>
          <p:nvPr/>
        </p:nvSpPr>
        <p:spPr>
          <a:xfrm>
            <a:off x="8229600" y="3977640"/>
            <a:ext cx="3246120" cy="640080"/>
          </a:xfrm>
          <a:prstGeom prst="rect">
            <a:avLst/>
          </a:prstGeom>
          <a:noFill/>
        </p:spPr>
        <p:txBody>
          <a:bodyPr wrap="square" anchor="t" lIns="0" rIns="0" tIns="0" bIns="0">
            <a:spAutoFit/>
          </a:bodyPr>
          <a:lstStyle/>
          <a:p>
            <a:pPr algn="l">
              <a:lnSpc>
                <a:spcPct val="145000"/>
              </a:lnSpc>
            </a:pPr>
            <a:r>
              <a:rPr sz="1000" b="0">
                <a:solidFill>
                  <a:srgbClr val="1A1A1A"/>
                </a:solidFill>
                <a:latin typeface="Hiragino Sans"/>
                <a:ea typeface="Hiragino Sans"/>
                <a:cs typeface="Hiragino Sans"/>
              </a:rPr>
              <a:t>『以下の過去の成功例と同じトーンで』</a:t>
            </a:r>
          </a:p>
          <a:p>
            <a:pPr algn="l">
              <a:lnSpc>
                <a:spcPct val="145000"/>
              </a:lnSpc>
            </a:pPr>
            <a:r>
              <a:rPr sz="1000" b="0">
                <a:solidFill>
                  <a:srgbClr val="1A1A1A"/>
                </a:solidFill>
                <a:latin typeface="Hiragino Sans"/>
                <a:ea typeface="Hiragino Sans"/>
                <a:cs typeface="Hiragino Sans"/>
              </a:rPr>
              <a:t>3-5案を例示</a:t>
            </a:r>
          </a:p>
        </p:txBody>
      </p:sp>
      <p:sp>
        <p:nvSpPr>
          <p:cNvPr id="32" name="TextBox 31"/>
          <p:cNvSpPr txBox="1"/>
          <p:nvPr/>
        </p:nvSpPr>
        <p:spPr>
          <a:xfrm>
            <a:off x="548640" y="5029200"/>
            <a:ext cx="10972800" cy="1325880"/>
          </a:xfrm>
          <a:prstGeom prst="rect">
            <a:avLst/>
          </a:prstGeom>
          <a:noFill/>
        </p:spPr>
        <p:txBody>
          <a:bodyPr wrap="square" anchor="t" lIns="0" rIns="0" tIns="0" bIns="0">
            <a:spAutoFit/>
          </a:bodyPr>
          <a:lstStyle/>
          <a:p>
            <a:pPr algn="l">
              <a:lnSpc>
                <a:spcPct val="115000"/>
              </a:lnSpc>
            </a:pPr>
            <a:r>
              <a:rPr sz="1100" b="0">
                <a:solidFill>
                  <a:srgbClr val="0F2A4F"/>
                </a:solidFill>
                <a:latin typeface="Hiragino Sans"/>
                <a:ea typeface="Hiragino Sans"/>
                <a:cs typeface="Hiragino Sans"/>
              </a:rPr>
              <a:t>💡 プロンプトテンプレ集は Part 5-B P199-203 で詳細</a:t>
            </a:r>
          </a:p>
        </p:txBody>
      </p:sp>
      <p:sp>
        <p:nvSpPr>
          <p:cNvPr id="33" name="TextBox 32"/>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AB テスト × AI 生成</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量産 → 配信 → 学習 → 改善 のサイクル</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P182 / 250</a:t>
            </a:r>
          </a:p>
        </p:txBody>
      </p:sp>
      <p:sp>
        <p:nvSpPr>
          <p:cNvPr id="8" name="Rounded Rectangle 7"/>
          <p:cNvSpPr/>
          <p:nvPr/>
        </p:nvSpPr>
        <p:spPr>
          <a:xfrm>
            <a:off x="548640" y="1417320"/>
            <a:ext cx="2697480" cy="219456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2697480" cy="5029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536192"/>
            <a:ext cx="2331720" cy="274320"/>
          </a:xfrm>
          <a:prstGeom prst="rect">
            <a:avLst/>
          </a:prstGeom>
          <a:noFill/>
        </p:spPr>
        <p:txBody>
          <a:bodyPr wrap="square" anchor="t" lIns="0" rIns="0" tIns="0" bIns="0">
            <a:spAutoFit/>
          </a:bodyPr>
          <a:lstStyle/>
          <a:p>
            <a:pPr algn="ctr">
              <a:lnSpc>
                <a:spcPct val="115000"/>
              </a:lnSpc>
            </a:pPr>
            <a:r>
              <a:rPr sz="1200" b="1">
                <a:solidFill>
                  <a:srgbClr val="FFFFFF"/>
                </a:solidFill>
                <a:latin typeface="Helvetica Neue"/>
                <a:ea typeface="Helvetica Neue"/>
                <a:cs typeface="Helvetica Neue"/>
              </a:rPr>
              <a:t>STEP 1</a:t>
            </a:r>
          </a:p>
        </p:txBody>
      </p:sp>
      <p:sp>
        <p:nvSpPr>
          <p:cNvPr id="11" name="TextBox 10"/>
          <p:cNvSpPr txBox="1"/>
          <p:nvPr/>
        </p:nvSpPr>
        <p:spPr>
          <a:xfrm>
            <a:off x="731520" y="2057400"/>
            <a:ext cx="2331720" cy="411480"/>
          </a:xfrm>
          <a:prstGeom prst="rect">
            <a:avLst/>
          </a:prstGeom>
          <a:noFill/>
        </p:spPr>
        <p:txBody>
          <a:bodyPr wrap="square" anchor="t" lIns="0" rIns="0" tIns="0" bIns="0">
            <a:spAutoFit/>
          </a:bodyPr>
          <a:lstStyle/>
          <a:p>
            <a:pPr algn="ctr">
              <a:lnSpc>
                <a:spcPct val="115000"/>
              </a:lnSpc>
            </a:pPr>
            <a:r>
              <a:rPr sz="1400" b="1">
                <a:solidFill>
                  <a:srgbClr val="0F2A4F"/>
                </a:solidFill>
                <a:latin typeface="Hiragino Sans"/>
                <a:ea typeface="Hiragino Sans"/>
                <a:cs typeface="Hiragino Sans"/>
              </a:rPr>
              <a:t>量産</a:t>
            </a:r>
          </a:p>
        </p:txBody>
      </p:sp>
      <p:sp>
        <p:nvSpPr>
          <p:cNvPr id="12" name="TextBox 11"/>
          <p:cNvSpPr txBox="1"/>
          <p:nvPr/>
        </p:nvSpPr>
        <p:spPr>
          <a:xfrm>
            <a:off x="731520" y="2514600"/>
            <a:ext cx="2331720" cy="1051560"/>
          </a:xfrm>
          <a:prstGeom prst="rect">
            <a:avLst/>
          </a:prstGeom>
          <a:noFill/>
        </p:spPr>
        <p:txBody>
          <a:bodyPr wrap="square" anchor="t" lIns="0" rIns="0" tIns="0" bIns="0">
            <a:spAutoFit/>
          </a:bodyPr>
          <a:lstStyle/>
          <a:p>
            <a:pPr algn="ctr">
              <a:lnSpc>
                <a:spcPct val="160000"/>
              </a:lnSpc>
            </a:pPr>
            <a:r>
              <a:rPr sz="1100" b="0">
                <a:solidFill>
                  <a:srgbClr val="1A1A1A"/>
                </a:solidFill>
                <a:latin typeface="Hiragino Sans"/>
                <a:ea typeface="Hiragino Sans"/>
                <a:cs typeface="Hiragino Sans"/>
              </a:rPr>
              <a:t>AI で 訴求軸ごとに 5-10案</a:t>
            </a:r>
          </a:p>
          <a:p>
            <a:pPr algn="ctr">
              <a:lnSpc>
                <a:spcPct val="160000"/>
              </a:lnSpc>
            </a:pPr>
            <a:r>
              <a:rPr sz="1100" b="0">
                <a:solidFill>
                  <a:srgbClr val="1A1A1A"/>
                </a:solidFill>
                <a:latin typeface="Hiragino Sans"/>
                <a:ea typeface="Hiragino Sans"/>
                <a:cs typeface="Hiragino Sans"/>
              </a:rPr>
              <a:t>→ 50-100本/週も現実的</a:t>
            </a:r>
          </a:p>
        </p:txBody>
      </p:sp>
      <p:sp>
        <p:nvSpPr>
          <p:cNvPr id="13" name="Rounded Rectangle 12"/>
          <p:cNvSpPr/>
          <p:nvPr/>
        </p:nvSpPr>
        <p:spPr>
          <a:xfrm>
            <a:off x="3337560" y="1417320"/>
            <a:ext cx="2697480" cy="219456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37560" y="1417320"/>
            <a:ext cx="2697480" cy="5029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20440" y="1536192"/>
            <a:ext cx="2331720" cy="274320"/>
          </a:xfrm>
          <a:prstGeom prst="rect">
            <a:avLst/>
          </a:prstGeom>
          <a:noFill/>
        </p:spPr>
        <p:txBody>
          <a:bodyPr wrap="square" anchor="t" lIns="0" rIns="0" tIns="0" bIns="0">
            <a:spAutoFit/>
          </a:bodyPr>
          <a:lstStyle/>
          <a:p>
            <a:pPr algn="ctr">
              <a:lnSpc>
                <a:spcPct val="115000"/>
              </a:lnSpc>
            </a:pPr>
            <a:r>
              <a:rPr sz="1200" b="1">
                <a:solidFill>
                  <a:srgbClr val="FFFFFF"/>
                </a:solidFill>
                <a:latin typeface="Helvetica Neue"/>
                <a:ea typeface="Helvetica Neue"/>
                <a:cs typeface="Helvetica Neue"/>
              </a:rPr>
              <a:t>STEP 2</a:t>
            </a:r>
          </a:p>
        </p:txBody>
      </p:sp>
      <p:sp>
        <p:nvSpPr>
          <p:cNvPr id="16" name="TextBox 15"/>
          <p:cNvSpPr txBox="1"/>
          <p:nvPr/>
        </p:nvSpPr>
        <p:spPr>
          <a:xfrm>
            <a:off x="3520440" y="2057400"/>
            <a:ext cx="2331720" cy="411480"/>
          </a:xfrm>
          <a:prstGeom prst="rect">
            <a:avLst/>
          </a:prstGeom>
          <a:noFill/>
        </p:spPr>
        <p:txBody>
          <a:bodyPr wrap="square" anchor="t" lIns="0" rIns="0" tIns="0" bIns="0">
            <a:spAutoFit/>
          </a:bodyPr>
          <a:lstStyle/>
          <a:p>
            <a:pPr algn="ctr">
              <a:lnSpc>
                <a:spcPct val="115000"/>
              </a:lnSpc>
            </a:pPr>
            <a:r>
              <a:rPr sz="1400" b="1">
                <a:solidFill>
                  <a:srgbClr val="0F2A4F"/>
                </a:solidFill>
                <a:latin typeface="Hiragino Sans"/>
                <a:ea typeface="Hiragino Sans"/>
                <a:cs typeface="Hiragino Sans"/>
              </a:rPr>
              <a:t>配信</a:t>
            </a:r>
          </a:p>
        </p:txBody>
      </p:sp>
      <p:sp>
        <p:nvSpPr>
          <p:cNvPr id="17" name="TextBox 16"/>
          <p:cNvSpPr txBox="1"/>
          <p:nvPr/>
        </p:nvSpPr>
        <p:spPr>
          <a:xfrm>
            <a:off x="3520440" y="2514600"/>
            <a:ext cx="2331720" cy="1051560"/>
          </a:xfrm>
          <a:prstGeom prst="rect">
            <a:avLst/>
          </a:prstGeom>
          <a:noFill/>
        </p:spPr>
        <p:txBody>
          <a:bodyPr wrap="square" anchor="t" lIns="0" rIns="0" tIns="0" bIns="0">
            <a:spAutoFit/>
          </a:bodyPr>
          <a:lstStyle/>
          <a:p>
            <a:pPr algn="ctr">
              <a:lnSpc>
                <a:spcPct val="160000"/>
              </a:lnSpc>
            </a:pPr>
            <a:r>
              <a:rPr sz="1100" b="0">
                <a:solidFill>
                  <a:srgbClr val="1A1A1A"/>
                </a:solidFill>
                <a:latin typeface="Hiragino Sans"/>
                <a:ea typeface="Hiragino Sans"/>
                <a:cs typeface="Hiragino Sans"/>
              </a:rPr>
              <a:t>Smart+ / Advantage+ に投入</a:t>
            </a:r>
          </a:p>
          <a:p>
            <a:pPr algn="ctr">
              <a:lnSpc>
                <a:spcPct val="160000"/>
              </a:lnSpc>
            </a:pPr>
            <a:r>
              <a:rPr sz="1100" b="0">
                <a:solidFill>
                  <a:srgbClr val="1A1A1A"/>
                </a:solidFill>
                <a:latin typeface="Hiragino Sans"/>
                <a:ea typeface="Hiragino Sans"/>
                <a:cs typeface="Hiragino Sans"/>
              </a:rPr>
              <a:t>AI が組合せ最適化</a:t>
            </a:r>
          </a:p>
        </p:txBody>
      </p:sp>
      <p:sp>
        <p:nvSpPr>
          <p:cNvPr id="18" name="Rounded Rectangle 17"/>
          <p:cNvSpPr/>
          <p:nvPr/>
        </p:nvSpPr>
        <p:spPr>
          <a:xfrm>
            <a:off x="6126480" y="1417320"/>
            <a:ext cx="2697480" cy="219456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0" y="1417320"/>
            <a:ext cx="2697480" cy="5029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1536192"/>
            <a:ext cx="2331720" cy="274320"/>
          </a:xfrm>
          <a:prstGeom prst="rect">
            <a:avLst/>
          </a:prstGeom>
          <a:noFill/>
        </p:spPr>
        <p:txBody>
          <a:bodyPr wrap="square" anchor="t" lIns="0" rIns="0" tIns="0" bIns="0">
            <a:spAutoFit/>
          </a:bodyPr>
          <a:lstStyle/>
          <a:p>
            <a:pPr algn="ctr">
              <a:lnSpc>
                <a:spcPct val="115000"/>
              </a:lnSpc>
            </a:pPr>
            <a:r>
              <a:rPr sz="1200" b="1">
                <a:solidFill>
                  <a:srgbClr val="FFFFFF"/>
                </a:solidFill>
                <a:latin typeface="Helvetica Neue"/>
                <a:ea typeface="Helvetica Neue"/>
                <a:cs typeface="Helvetica Neue"/>
              </a:rPr>
              <a:t>STEP 3</a:t>
            </a:r>
          </a:p>
        </p:txBody>
      </p:sp>
      <p:sp>
        <p:nvSpPr>
          <p:cNvPr id="21" name="TextBox 20"/>
          <p:cNvSpPr txBox="1"/>
          <p:nvPr/>
        </p:nvSpPr>
        <p:spPr>
          <a:xfrm>
            <a:off x="6309360" y="2057400"/>
            <a:ext cx="2331720" cy="411480"/>
          </a:xfrm>
          <a:prstGeom prst="rect">
            <a:avLst/>
          </a:prstGeom>
          <a:noFill/>
        </p:spPr>
        <p:txBody>
          <a:bodyPr wrap="square" anchor="t" lIns="0" rIns="0" tIns="0" bIns="0">
            <a:spAutoFit/>
          </a:bodyPr>
          <a:lstStyle/>
          <a:p>
            <a:pPr algn="ctr">
              <a:lnSpc>
                <a:spcPct val="115000"/>
              </a:lnSpc>
            </a:pPr>
            <a:r>
              <a:rPr sz="1400" b="1">
                <a:solidFill>
                  <a:srgbClr val="0F2A4F"/>
                </a:solidFill>
                <a:latin typeface="Hiragino Sans"/>
                <a:ea typeface="Hiragino Sans"/>
                <a:cs typeface="Hiragino Sans"/>
              </a:rPr>
              <a:t>学習</a:t>
            </a:r>
          </a:p>
        </p:txBody>
      </p:sp>
      <p:sp>
        <p:nvSpPr>
          <p:cNvPr id="22" name="TextBox 21"/>
          <p:cNvSpPr txBox="1"/>
          <p:nvPr/>
        </p:nvSpPr>
        <p:spPr>
          <a:xfrm>
            <a:off x="6309360" y="2514600"/>
            <a:ext cx="2331720" cy="1051560"/>
          </a:xfrm>
          <a:prstGeom prst="rect">
            <a:avLst/>
          </a:prstGeom>
          <a:noFill/>
        </p:spPr>
        <p:txBody>
          <a:bodyPr wrap="square" anchor="t" lIns="0" rIns="0" tIns="0" bIns="0">
            <a:spAutoFit/>
          </a:bodyPr>
          <a:lstStyle/>
          <a:p>
            <a:pPr algn="ctr">
              <a:lnSpc>
                <a:spcPct val="160000"/>
              </a:lnSpc>
            </a:pPr>
            <a:r>
              <a:rPr sz="1100" b="0">
                <a:solidFill>
                  <a:srgbClr val="1A1A1A"/>
                </a:solidFill>
                <a:latin typeface="Hiragino Sans"/>
                <a:ea typeface="Hiragino Sans"/>
                <a:cs typeface="Hiragino Sans"/>
              </a:rPr>
              <a:t>1-2週間で勝ちパターン抽出</a:t>
            </a:r>
          </a:p>
          <a:p>
            <a:pPr algn="ctr">
              <a:lnSpc>
                <a:spcPct val="160000"/>
              </a:lnSpc>
            </a:pPr>
            <a:r>
              <a:rPr sz="1100" b="0">
                <a:solidFill>
                  <a:srgbClr val="1A1A1A"/>
                </a:solidFill>
                <a:latin typeface="Hiragino Sans"/>
                <a:ea typeface="Hiragino Sans"/>
                <a:cs typeface="Hiragino Sans"/>
              </a:rPr>
              <a:t>クリエイティブ別の学習</a:t>
            </a:r>
          </a:p>
        </p:txBody>
      </p:sp>
      <p:sp>
        <p:nvSpPr>
          <p:cNvPr id="23" name="Rounded Rectangle 22"/>
          <p:cNvSpPr/>
          <p:nvPr/>
        </p:nvSpPr>
        <p:spPr>
          <a:xfrm>
            <a:off x="8915400" y="1417320"/>
            <a:ext cx="2697480" cy="219456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15400" y="1417320"/>
            <a:ext cx="2697480" cy="5029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98280" y="1536192"/>
            <a:ext cx="2331720" cy="274320"/>
          </a:xfrm>
          <a:prstGeom prst="rect">
            <a:avLst/>
          </a:prstGeom>
          <a:noFill/>
        </p:spPr>
        <p:txBody>
          <a:bodyPr wrap="square" anchor="t" lIns="0" rIns="0" tIns="0" bIns="0">
            <a:spAutoFit/>
          </a:bodyPr>
          <a:lstStyle/>
          <a:p>
            <a:pPr algn="ctr">
              <a:lnSpc>
                <a:spcPct val="115000"/>
              </a:lnSpc>
            </a:pPr>
            <a:r>
              <a:rPr sz="1200" b="1">
                <a:solidFill>
                  <a:srgbClr val="FFFFFF"/>
                </a:solidFill>
                <a:latin typeface="Helvetica Neue"/>
                <a:ea typeface="Helvetica Neue"/>
                <a:cs typeface="Helvetica Neue"/>
              </a:rPr>
              <a:t>STEP 4</a:t>
            </a:r>
          </a:p>
        </p:txBody>
      </p:sp>
      <p:sp>
        <p:nvSpPr>
          <p:cNvPr id="26" name="TextBox 25"/>
          <p:cNvSpPr txBox="1"/>
          <p:nvPr/>
        </p:nvSpPr>
        <p:spPr>
          <a:xfrm>
            <a:off x="9098280" y="2057400"/>
            <a:ext cx="2331720" cy="411480"/>
          </a:xfrm>
          <a:prstGeom prst="rect">
            <a:avLst/>
          </a:prstGeom>
          <a:noFill/>
        </p:spPr>
        <p:txBody>
          <a:bodyPr wrap="square" anchor="t" lIns="0" rIns="0" tIns="0" bIns="0">
            <a:spAutoFit/>
          </a:bodyPr>
          <a:lstStyle/>
          <a:p>
            <a:pPr algn="ctr">
              <a:lnSpc>
                <a:spcPct val="115000"/>
              </a:lnSpc>
            </a:pPr>
            <a:r>
              <a:rPr sz="1400" b="1">
                <a:solidFill>
                  <a:srgbClr val="0F2A4F"/>
                </a:solidFill>
                <a:latin typeface="Hiragino Sans"/>
                <a:ea typeface="Hiragino Sans"/>
                <a:cs typeface="Hiragino Sans"/>
              </a:rPr>
              <a:t>改善</a:t>
            </a:r>
          </a:p>
        </p:txBody>
      </p:sp>
      <p:sp>
        <p:nvSpPr>
          <p:cNvPr id="27" name="TextBox 26"/>
          <p:cNvSpPr txBox="1"/>
          <p:nvPr/>
        </p:nvSpPr>
        <p:spPr>
          <a:xfrm>
            <a:off x="9098280" y="2514600"/>
            <a:ext cx="2331720" cy="1051560"/>
          </a:xfrm>
          <a:prstGeom prst="rect">
            <a:avLst/>
          </a:prstGeom>
          <a:noFill/>
        </p:spPr>
        <p:txBody>
          <a:bodyPr wrap="square" anchor="t" lIns="0" rIns="0" tIns="0" bIns="0">
            <a:spAutoFit/>
          </a:bodyPr>
          <a:lstStyle/>
          <a:p>
            <a:pPr algn="ctr">
              <a:lnSpc>
                <a:spcPct val="160000"/>
              </a:lnSpc>
            </a:pPr>
            <a:r>
              <a:rPr sz="1100" b="0">
                <a:solidFill>
                  <a:srgbClr val="1A1A1A"/>
                </a:solidFill>
                <a:latin typeface="Hiragino Sans"/>
                <a:ea typeface="Hiragino Sans"/>
                <a:cs typeface="Hiragino Sans"/>
              </a:rPr>
              <a:t>勝ちパターンの要素を</a:t>
            </a:r>
          </a:p>
          <a:p>
            <a:pPr algn="ctr">
              <a:lnSpc>
                <a:spcPct val="160000"/>
              </a:lnSpc>
            </a:pPr>
            <a:r>
              <a:rPr sz="1100" b="0">
                <a:solidFill>
                  <a:srgbClr val="1A1A1A"/>
                </a:solidFill>
                <a:latin typeface="Hiragino Sans"/>
                <a:ea typeface="Hiragino Sans"/>
                <a:cs typeface="Hiragino Sans"/>
              </a:rPr>
              <a:t>次の AI生成プロンプトに</a:t>
            </a:r>
          </a:p>
        </p:txBody>
      </p:sp>
      <p:sp>
        <p:nvSpPr>
          <p:cNvPr id="28" name="Rounded Rectangle 27"/>
          <p:cNvSpPr/>
          <p:nvPr/>
        </p:nvSpPr>
        <p:spPr>
          <a:xfrm>
            <a:off x="548640" y="3794760"/>
            <a:ext cx="11109960" cy="256032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3931920"/>
            <a:ext cx="10058400" cy="320040"/>
          </a:xfrm>
          <a:prstGeom prst="rect">
            <a:avLst/>
          </a:prstGeom>
          <a:noFill/>
        </p:spPr>
        <p:txBody>
          <a:bodyPr wrap="square" anchor="t" lIns="0" rIns="0" tIns="0" bIns="0">
            <a:spAutoFit/>
          </a:bodyPr>
          <a:lstStyle/>
          <a:p>
            <a:pPr algn="l">
              <a:lnSpc>
                <a:spcPct val="115000"/>
              </a:lnSpc>
            </a:pPr>
            <a:r>
              <a:rPr sz="1200" b="1">
                <a:solidFill>
                  <a:srgbClr val="E87722"/>
                </a:solidFill>
                <a:latin typeface="Hiragino Sans"/>
                <a:ea typeface="Hiragino Sans"/>
                <a:cs typeface="Hiragino Sans"/>
              </a:rPr>
              <a:t>💡 AI生成 + ABテストの鉄則</a:t>
            </a:r>
          </a:p>
        </p:txBody>
      </p:sp>
      <p:sp>
        <p:nvSpPr>
          <p:cNvPr id="30" name="TextBox 29"/>
          <p:cNvSpPr txBox="1"/>
          <p:nvPr/>
        </p:nvSpPr>
        <p:spPr>
          <a:xfrm>
            <a:off x="777240" y="4251960"/>
            <a:ext cx="10972800" cy="2057400"/>
          </a:xfrm>
          <a:prstGeom prst="rect">
            <a:avLst/>
          </a:prstGeom>
          <a:noFill/>
        </p:spPr>
        <p:txBody>
          <a:bodyPr wrap="square" anchor="t" lIns="0" rIns="0" tIns="0" bIns="0">
            <a:spAutoFit/>
          </a:bodyPr>
          <a:lstStyle/>
          <a:p>
            <a:pPr algn="l">
              <a:lnSpc>
                <a:spcPct val="160000"/>
              </a:lnSpc>
            </a:pPr>
            <a:r>
              <a:rPr sz="1100" b="0">
                <a:solidFill>
                  <a:srgbClr val="FFFFFF"/>
                </a:solidFill>
                <a:latin typeface="Hiragino Sans"/>
                <a:ea typeface="Hiragino Sans"/>
                <a:cs typeface="Hiragino Sans"/>
              </a:rPr>
              <a:t>• 1回で完璧なクリエイティブを目指さない、量で勝つ (Smart+/Advantage+ が最適化)</a:t>
            </a:r>
          </a:p>
          <a:p>
            <a:pPr algn="l">
              <a:lnSpc>
                <a:spcPct val="160000"/>
              </a:lnSpc>
            </a:pPr>
            <a:r>
              <a:rPr sz="1100" b="0">
                <a:solidFill>
                  <a:srgbClr val="FFFFFF"/>
                </a:solidFill>
                <a:latin typeface="Hiragino Sans"/>
                <a:ea typeface="Hiragino Sans"/>
                <a:cs typeface="Hiragino Sans"/>
              </a:rPr>
              <a:t>• 訴求軸ごとに別個生成 (例: 価格訴求 / 機能訴求 / 体験訴求 / 信頼訴求)</a:t>
            </a:r>
          </a:p>
          <a:p>
            <a:pPr algn="l">
              <a:lnSpc>
                <a:spcPct val="160000"/>
              </a:lnSpc>
            </a:pPr>
            <a:r>
              <a:rPr sz="1100" b="0">
                <a:solidFill>
                  <a:srgbClr val="FFFFFF"/>
                </a:solidFill>
                <a:latin typeface="Hiragino Sans"/>
                <a:ea typeface="Hiragino Sans"/>
                <a:cs typeface="Hiragino Sans"/>
              </a:rPr>
              <a:t>• 勝ちパターン分析 = 共通要素 (色・キャプション形式・人物有無等) を抽出</a:t>
            </a:r>
          </a:p>
          <a:p>
            <a:pPr algn="l">
              <a:lnSpc>
                <a:spcPct val="160000"/>
              </a:lnSpc>
            </a:pPr>
            <a:r>
              <a:rPr sz="1100" b="0">
                <a:solidFill>
                  <a:srgbClr val="FFFFFF"/>
                </a:solidFill>
                <a:latin typeface="Hiragino Sans"/>
                <a:ea typeface="Hiragino Sans"/>
                <a:cs typeface="Hiragino Sans"/>
              </a:rPr>
              <a:t>• 次回プロンプト = 勝ちパターン要素を Few-shot として例示</a:t>
            </a:r>
          </a:p>
          <a:p>
            <a:pPr algn="l">
              <a:lnSpc>
                <a:spcPct val="160000"/>
              </a:lnSpc>
            </a:pPr>
            <a:r>
              <a:rPr sz="1100" b="0">
                <a:solidFill>
                  <a:srgbClr val="FFFFFF"/>
                </a:solidFill>
                <a:latin typeface="Hiragino Sans"/>
                <a:ea typeface="Hiragino Sans"/>
                <a:cs typeface="Hiragino Sans"/>
              </a:rPr>
              <a:t>• 季節性 = 月次で大きく訴求軸を更新 (春・夏・秋・冬・年末)</a:t>
            </a:r>
          </a:p>
          <a:p>
            <a:pPr algn="l">
              <a:lnSpc>
                <a:spcPct val="160000"/>
              </a:lnSpc>
            </a:pPr>
            <a:r>
              <a:rPr sz="1100" b="0">
                <a:solidFill>
                  <a:srgbClr val="FFFFFF"/>
                </a:solidFill>
                <a:latin typeface="Hiragino Sans"/>
                <a:ea typeface="Hiragino Sans"/>
                <a:cs typeface="Hiragino Sans"/>
              </a:rPr>
              <a:t>• 副業代行 : 月20-30本のクリエイティブを月初に大量量産 → 月末に勝ちパターン抽出</a:t>
            </a:r>
          </a:p>
        </p:txBody>
      </p:sp>
      <p:sp>
        <p:nvSpPr>
          <p:cNvPr id="31" name="TextBox 30"/>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AI クリエイティブのワークフロー</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副業代行の標準的な制作フロー (1案件)</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P183 / 250</a:t>
            </a:r>
          </a:p>
        </p:txBody>
      </p:sp>
      <p:sp>
        <p:nvSpPr>
          <p:cNvPr id="8" name="Rounded Rectangle 7"/>
          <p:cNvSpPr/>
          <p:nvPr/>
        </p:nvSpPr>
        <p:spPr>
          <a:xfrm>
            <a:off x="548640" y="1417320"/>
            <a:ext cx="2221992" cy="219456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2221992" cy="50292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36192"/>
            <a:ext cx="1947672" cy="274320"/>
          </a:xfrm>
          <a:prstGeom prst="rect">
            <a:avLst/>
          </a:prstGeom>
          <a:noFill/>
        </p:spPr>
        <p:txBody>
          <a:bodyPr wrap="square" anchor="t" lIns="0" rIns="0" tIns="0" bIns="0">
            <a:spAutoFit/>
          </a:bodyPr>
          <a:lstStyle/>
          <a:p>
            <a:pPr algn="ctr">
              <a:lnSpc>
                <a:spcPct val="115000"/>
              </a:lnSpc>
            </a:pPr>
            <a:r>
              <a:rPr sz="1200" b="1">
                <a:solidFill>
                  <a:srgbClr val="E87722"/>
                </a:solidFill>
                <a:latin typeface="Helvetica Neue"/>
                <a:ea typeface="Helvetica Neue"/>
                <a:cs typeface="Helvetica Neue"/>
              </a:rPr>
              <a:t>Day 1</a:t>
            </a:r>
          </a:p>
        </p:txBody>
      </p:sp>
      <p:sp>
        <p:nvSpPr>
          <p:cNvPr id="11" name="TextBox 10"/>
          <p:cNvSpPr txBox="1"/>
          <p:nvPr/>
        </p:nvSpPr>
        <p:spPr>
          <a:xfrm>
            <a:off x="685800" y="2057400"/>
            <a:ext cx="1947672" cy="365760"/>
          </a:xfrm>
          <a:prstGeom prst="rect">
            <a:avLst/>
          </a:prstGeom>
          <a:noFill/>
        </p:spPr>
        <p:txBody>
          <a:bodyPr wrap="square" anchor="t" lIns="0" rIns="0" tIns="0" bIns="0">
            <a:spAutoFit/>
          </a:bodyPr>
          <a:lstStyle/>
          <a:p>
            <a:pPr algn="ctr">
              <a:lnSpc>
                <a:spcPct val="115000"/>
              </a:lnSpc>
            </a:pPr>
            <a:r>
              <a:rPr sz="1200" b="1">
                <a:solidFill>
                  <a:srgbClr val="0F2A4F"/>
                </a:solidFill>
                <a:latin typeface="Hiragino Sans"/>
                <a:ea typeface="Hiragino Sans"/>
                <a:cs typeface="Hiragino Sans"/>
              </a:rPr>
              <a:t>ブリーフィング</a:t>
            </a:r>
          </a:p>
        </p:txBody>
      </p:sp>
      <p:sp>
        <p:nvSpPr>
          <p:cNvPr id="12" name="TextBox 11"/>
          <p:cNvSpPr txBox="1"/>
          <p:nvPr/>
        </p:nvSpPr>
        <p:spPr>
          <a:xfrm>
            <a:off x="685800" y="2468880"/>
            <a:ext cx="1947672" cy="1097280"/>
          </a:xfrm>
          <a:prstGeom prst="rect">
            <a:avLst/>
          </a:prstGeom>
          <a:noFill/>
        </p:spPr>
        <p:txBody>
          <a:bodyPr wrap="square" anchor="t" lIns="0" rIns="0" tIns="0" bIns="0">
            <a:spAutoFit/>
          </a:bodyPr>
          <a:lstStyle/>
          <a:p>
            <a:pPr algn="ctr">
              <a:lnSpc>
                <a:spcPct val="155000"/>
              </a:lnSpc>
            </a:pPr>
            <a:r>
              <a:rPr sz="1000" b="0">
                <a:solidFill>
                  <a:srgbClr val="1A1A1A"/>
                </a:solidFill>
                <a:latin typeface="Hiragino Sans"/>
                <a:ea typeface="Hiragino Sans"/>
                <a:cs typeface="Hiragino Sans"/>
              </a:rPr>
              <a:t>クライアントヒアリング</a:t>
            </a:r>
          </a:p>
          <a:p>
            <a:pPr algn="ctr">
              <a:lnSpc>
                <a:spcPct val="155000"/>
              </a:lnSpc>
            </a:pPr>
            <a:r>
              <a:rPr sz="1000" b="0">
                <a:solidFill>
                  <a:srgbClr val="1A1A1A"/>
                </a:solidFill>
                <a:latin typeface="Hiragino Sans"/>
                <a:ea typeface="Hiragino Sans"/>
                <a:cs typeface="Hiragino Sans"/>
              </a:rPr>
              <a:t>ターゲット / 訴求軸 / NG事項</a:t>
            </a:r>
          </a:p>
          <a:p>
            <a:pPr algn="ctr">
              <a:lnSpc>
                <a:spcPct val="155000"/>
              </a:lnSpc>
            </a:pPr>
            <a:r>
              <a:rPr sz="1000" b="0">
                <a:solidFill>
                  <a:srgbClr val="1A1A1A"/>
                </a:solidFill>
                <a:latin typeface="Hiragino Sans"/>
                <a:ea typeface="Hiragino Sans"/>
                <a:cs typeface="Hiragino Sans"/>
              </a:rPr>
              <a:t>プロンプトテンプレ準備</a:t>
            </a:r>
          </a:p>
        </p:txBody>
      </p:sp>
      <p:sp>
        <p:nvSpPr>
          <p:cNvPr id="13" name="Rounded Rectangle 12"/>
          <p:cNvSpPr/>
          <p:nvPr/>
        </p:nvSpPr>
        <p:spPr>
          <a:xfrm>
            <a:off x="2816352" y="1417320"/>
            <a:ext cx="2221992" cy="219456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816352" y="1417320"/>
            <a:ext cx="2221992" cy="50292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53512" y="1536192"/>
            <a:ext cx="1947672" cy="274320"/>
          </a:xfrm>
          <a:prstGeom prst="rect">
            <a:avLst/>
          </a:prstGeom>
          <a:noFill/>
        </p:spPr>
        <p:txBody>
          <a:bodyPr wrap="square" anchor="t" lIns="0" rIns="0" tIns="0" bIns="0">
            <a:spAutoFit/>
          </a:bodyPr>
          <a:lstStyle/>
          <a:p>
            <a:pPr algn="ctr">
              <a:lnSpc>
                <a:spcPct val="115000"/>
              </a:lnSpc>
            </a:pPr>
            <a:r>
              <a:rPr sz="1200" b="1">
                <a:solidFill>
                  <a:srgbClr val="E87722"/>
                </a:solidFill>
                <a:latin typeface="Helvetica Neue"/>
                <a:ea typeface="Helvetica Neue"/>
                <a:cs typeface="Helvetica Neue"/>
              </a:rPr>
              <a:t>Day 2-3</a:t>
            </a:r>
          </a:p>
        </p:txBody>
      </p:sp>
      <p:sp>
        <p:nvSpPr>
          <p:cNvPr id="16" name="TextBox 15"/>
          <p:cNvSpPr txBox="1"/>
          <p:nvPr/>
        </p:nvSpPr>
        <p:spPr>
          <a:xfrm>
            <a:off x="2953512" y="2057400"/>
            <a:ext cx="1947672" cy="365760"/>
          </a:xfrm>
          <a:prstGeom prst="rect">
            <a:avLst/>
          </a:prstGeom>
          <a:noFill/>
        </p:spPr>
        <p:txBody>
          <a:bodyPr wrap="square" anchor="t" lIns="0" rIns="0" tIns="0" bIns="0">
            <a:spAutoFit/>
          </a:bodyPr>
          <a:lstStyle/>
          <a:p>
            <a:pPr algn="ctr">
              <a:lnSpc>
                <a:spcPct val="115000"/>
              </a:lnSpc>
            </a:pPr>
            <a:r>
              <a:rPr sz="1200" b="1">
                <a:solidFill>
                  <a:srgbClr val="0F2A4F"/>
                </a:solidFill>
                <a:latin typeface="Hiragino Sans"/>
                <a:ea typeface="Hiragino Sans"/>
                <a:cs typeface="Hiragino Sans"/>
              </a:rPr>
              <a:t>コピー量産</a:t>
            </a:r>
          </a:p>
        </p:txBody>
      </p:sp>
      <p:sp>
        <p:nvSpPr>
          <p:cNvPr id="17" name="TextBox 16"/>
          <p:cNvSpPr txBox="1"/>
          <p:nvPr/>
        </p:nvSpPr>
        <p:spPr>
          <a:xfrm>
            <a:off x="2953512" y="2468880"/>
            <a:ext cx="1947672" cy="1097280"/>
          </a:xfrm>
          <a:prstGeom prst="rect">
            <a:avLst/>
          </a:prstGeom>
          <a:noFill/>
        </p:spPr>
        <p:txBody>
          <a:bodyPr wrap="square" anchor="t" lIns="0" rIns="0" tIns="0" bIns="0">
            <a:spAutoFit/>
          </a:bodyPr>
          <a:lstStyle/>
          <a:p>
            <a:pPr algn="ctr">
              <a:lnSpc>
                <a:spcPct val="155000"/>
              </a:lnSpc>
            </a:pPr>
            <a:r>
              <a:rPr sz="1000" b="0">
                <a:solidFill>
                  <a:srgbClr val="1A1A1A"/>
                </a:solidFill>
                <a:latin typeface="Hiragino Sans"/>
                <a:ea typeface="Hiragino Sans"/>
                <a:cs typeface="Hiragino Sans"/>
              </a:rPr>
              <a:t>ChatGPT / Claude で</a:t>
            </a:r>
          </a:p>
          <a:p>
            <a:pPr algn="ctr">
              <a:lnSpc>
                <a:spcPct val="155000"/>
              </a:lnSpc>
            </a:pPr>
            <a:r>
              <a:rPr sz="1000" b="0">
                <a:solidFill>
                  <a:srgbClr val="1A1A1A"/>
                </a:solidFill>
                <a:latin typeface="Hiragino Sans"/>
                <a:ea typeface="Hiragino Sans"/>
                <a:cs typeface="Hiragino Sans"/>
              </a:rPr>
              <a:t>見出し50案 + 説明文30案</a:t>
            </a:r>
          </a:p>
          <a:p>
            <a:pPr algn="ctr">
              <a:lnSpc>
                <a:spcPct val="155000"/>
              </a:lnSpc>
            </a:pPr>
            <a:r>
              <a:rPr sz="1000" b="0">
                <a:solidFill>
                  <a:srgbClr val="1A1A1A"/>
                </a:solidFill>
                <a:latin typeface="Hiragino Sans"/>
                <a:ea typeface="Hiragino Sans"/>
                <a:cs typeface="Hiragino Sans"/>
              </a:rPr>
              <a:t>クライアント承認</a:t>
            </a:r>
          </a:p>
        </p:txBody>
      </p:sp>
      <p:sp>
        <p:nvSpPr>
          <p:cNvPr id="18" name="Rounded Rectangle 17"/>
          <p:cNvSpPr/>
          <p:nvPr/>
        </p:nvSpPr>
        <p:spPr>
          <a:xfrm>
            <a:off x="5084064" y="1417320"/>
            <a:ext cx="2221992" cy="219456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84064" y="1417320"/>
            <a:ext cx="2221992" cy="50292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221224" y="1536192"/>
            <a:ext cx="1947672" cy="274320"/>
          </a:xfrm>
          <a:prstGeom prst="rect">
            <a:avLst/>
          </a:prstGeom>
          <a:noFill/>
        </p:spPr>
        <p:txBody>
          <a:bodyPr wrap="square" anchor="t" lIns="0" rIns="0" tIns="0" bIns="0">
            <a:spAutoFit/>
          </a:bodyPr>
          <a:lstStyle/>
          <a:p>
            <a:pPr algn="ctr">
              <a:lnSpc>
                <a:spcPct val="115000"/>
              </a:lnSpc>
            </a:pPr>
            <a:r>
              <a:rPr sz="1200" b="1">
                <a:solidFill>
                  <a:srgbClr val="E87722"/>
                </a:solidFill>
                <a:latin typeface="Helvetica Neue"/>
                <a:ea typeface="Helvetica Neue"/>
                <a:cs typeface="Helvetica Neue"/>
              </a:rPr>
              <a:t>Day 4-5</a:t>
            </a:r>
          </a:p>
        </p:txBody>
      </p:sp>
      <p:sp>
        <p:nvSpPr>
          <p:cNvPr id="21" name="TextBox 20"/>
          <p:cNvSpPr txBox="1"/>
          <p:nvPr/>
        </p:nvSpPr>
        <p:spPr>
          <a:xfrm>
            <a:off x="5221224" y="2057400"/>
            <a:ext cx="1947672" cy="365760"/>
          </a:xfrm>
          <a:prstGeom prst="rect">
            <a:avLst/>
          </a:prstGeom>
          <a:noFill/>
        </p:spPr>
        <p:txBody>
          <a:bodyPr wrap="square" anchor="t" lIns="0" rIns="0" tIns="0" bIns="0">
            <a:spAutoFit/>
          </a:bodyPr>
          <a:lstStyle/>
          <a:p>
            <a:pPr algn="ctr">
              <a:lnSpc>
                <a:spcPct val="115000"/>
              </a:lnSpc>
            </a:pPr>
            <a:r>
              <a:rPr sz="1200" b="1">
                <a:solidFill>
                  <a:srgbClr val="0F2A4F"/>
                </a:solidFill>
                <a:latin typeface="Hiragino Sans"/>
                <a:ea typeface="Hiragino Sans"/>
                <a:cs typeface="Hiragino Sans"/>
              </a:rPr>
              <a:t>画像量産</a:t>
            </a:r>
          </a:p>
        </p:txBody>
      </p:sp>
      <p:sp>
        <p:nvSpPr>
          <p:cNvPr id="22" name="TextBox 21"/>
          <p:cNvSpPr txBox="1"/>
          <p:nvPr/>
        </p:nvSpPr>
        <p:spPr>
          <a:xfrm>
            <a:off x="5221224" y="2468880"/>
            <a:ext cx="1947672" cy="1097280"/>
          </a:xfrm>
          <a:prstGeom prst="rect">
            <a:avLst/>
          </a:prstGeom>
          <a:noFill/>
        </p:spPr>
        <p:txBody>
          <a:bodyPr wrap="square" anchor="t" lIns="0" rIns="0" tIns="0" bIns="0">
            <a:spAutoFit/>
          </a:bodyPr>
          <a:lstStyle/>
          <a:p>
            <a:pPr algn="ctr">
              <a:lnSpc>
                <a:spcPct val="155000"/>
              </a:lnSpc>
            </a:pPr>
            <a:r>
              <a:rPr sz="1000" b="0">
                <a:solidFill>
                  <a:srgbClr val="1A1A1A"/>
                </a:solidFill>
                <a:latin typeface="Hiragino Sans"/>
                <a:ea typeface="Hiragino Sans"/>
                <a:cs typeface="Hiragino Sans"/>
              </a:rPr>
              <a:t>Midjourney / Firefly で</a:t>
            </a:r>
          </a:p>
          <a:p>
            <a:pPr algn="ctr">
              <a:lnSpc>
                <a:spcPct val="155000"/>
              </a:lnSpc>
            </a:pPr>
            <a:r>
              <a:rPr sz="1000" b="0">
                <a:solidFill>
                  <a:srgbClr val="1A1A1A"/>
                </a:solidFill>
                <a:latin typeface="Hiragino Sans"/>
                <a:ea typeface="Hiragino Sans"/>
                <a:cs typeface="Hiragino Sans"/>
              </a:rPr>
              <a:t>画像 20-30案</a:t>
            </a:r>
          </a:p>
          <a:p>
            <a:pPr algn="ctr">
              <a:lnSpc>
                <a:spcPct val="155000"/>
              </a:lnSpc>
            </a:pPr>
            <a:r>
              <a:rPr sz="1000" b="0">
                <a:solidFill>
                  <a:srgbClr val="1A1A1A"/>
                </a:solidFill>
                <a:latin typeface="Hiragino Sans"/>
                <a:ea typeface="Hiragino Sans"/>
                <a:cs typeface="Hiragino Sans"/>
              </a:rPr>
              <a:t>媒体別アスペクト比対応</a:t>
            </a:r>
          </a:p>
        </p:txBody>
      </p:sp>
      <p:sp>
        <p:nvSpPr>
          <p:cNvPr id="23" name="Rounded Rectangle 22"/>
          <p:cNvSpPr/>
          <p:nvPr/>
        </p:nvSpPr>
        <p:spPr>
          <a:xfrm>
            <a:off x="7351776" y="1417320"/>
            <a:ext cx="2221992" cy="219456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51776" y="1417320"/>
            <a:ext cx="2221992" cy="50292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88936" y="1536192"/>
            <a:ext cx="1947672" cy="274320"/>
          </a:xfrm>
          <a:prstGeom prst="rect">
            <a:avLst/>
          </a:prstGeom>
          <a:noFill/>
        </p:spPr>
        <p:txBody>
          <a:bodyPr wrap="square" anchor="t" lIns="0" rIns="0" tIns="0" bIns="0">
            <a:spAutoFit/>
          </a:bodyPr>
          <a:lstStyle/>
          <a:p>
            <a:pPr algn="ctr">
              <a:lnSpc>
                <a:spcPct val="115000"/>
              </a:lnSpc>
            </a:pPr>
            <a:r>
              <a:rPr sz="1200" b="1">
                <a:solidFill>
                  <a:srgbClr val="E87722"/>
                </a:solidFill>
                <a:latin typeface="Helvetica Neue"/>
                <a:ea typeface="Helvetica Neue"/>
                <a:cs typeface="Helvetica Neue"/>
              </a:rPr>
              <a:t>Day 6-7</a:t>
            </a:r>
          </a:p>
        </p:txBody>
      </p:sp>
      <p:sp>
        <p:nvSpPr>
          <p:cNvPr id="26" name="TextBox 25"/>
          <p:cNvSpPr txBox="1"/>
          <p:nvPr/>
        </p:nvSpPr>
        <p:spPr>
          <a:xfrm>
            <a:off x="7488936" y="2057400"/>
            <a:ext cx="1947672" cy="365760"/>
          </a:xfrm>
          <a:prstGeom prst="rect">
            <a:avLst/>
          </a:prstGeom>
          <a:noFill/>
        </p:spPr>
        <p:txBody>
          <a:bodyPr wrap="square" anchor="t" lIns="0" rIns="0" tIns="0" bIns="0">
            <a:spAutoFit/>
          </a:bodyPr>
          <a:lstStyle/>
          <a:p>
            <a:pPr algn="ctr">
              <a:lnSpc>
                <a:spcPct val="115000"/>
              </a:lnSpc>
            </a:pPr>
            <a:r>
              <a:rPr sz="1200" b="1">
                <a:solidFill>
                  <a:srgbClr val="0F2A4F"/>
                </a:solidFill>
                <a:latin typeface="Hiragino Sans"/>
                <a:ea typeface="Hiragino Sans"/>
                <a:cs typeface="Hiragino Sans"/>
              </a:rPr>
              <a:t>動画量産</a:t>
            </a:r>
          </a:p>
        </p:txBody>
      </p:sp>
      <p:sp>
        <p:nvSpPr>
          <p:cNvPr id="27" name="TextBox 26"/>
          <p:cNvSpPr txBox="1"/>
          <p:nvPr/>
        </p:nvSpPr>
        <p:spPr>
          <a:xfrm>
            <a:off x="7488936" y="2468880"/>
            <a:ext cx="1947672" cy="1097280"/>
          </a:xfrm>
          <a:prstGeom prst="rect">
            <a:avLst/>
          </a:prstGeom>
          <a:noFill/>
        </p:spPr>
        <p:txBody>
          <a:bodyPr wrap="square" anchor="t" lIns="0" rIns="0" tIns="0" bIns="0">
            <a:spAutoFit/>
          </a:bodyPr>
          <a:lstStyle/>
          <a:p>
            <a:pPr algn="ctr">
              <a:lnSpc>
                <a:spcPct val="155000"/>
              </a:lnSpc>
            </a:pPr>
            <a:r>
              <a:rPr sz="1000" b="0">
                <a:solidFill>
                  <a:srgbClr val="1A1A1A"/>
                </a:solidFill>
                <a:latin typeface="Hiragino Sans"/>
                <a:ea typeface="Hiragino Sans"/>
                <a:cs typeface="Hiragino Sans"/>
              </a:rPr>
              <a:t>Sora 2 / Veo 3 / Luma で</a:t>
            </a:r>
          </a:p>
          <a:p>
            <a:pPr algn="ctr">
              <a:lnSpc>
                <a:spcPct val="155000"/>
              </a:lnSpc>
            </a:pPr>
            <a:r>
              <a:rPr sz="1000" b="0">
                <a:solidFill>
                  <a:srgbClr val="1A1A1A"/>
                </a:solidFill>
                <a:latin typeface="Hiragino Sans"/>
                <a:ea typeface="Hiragino Sans"/>
                <a:cs typeface="Hiragino Sans"/>
              </a:rPr>
              <a:t>縦型動画 10-15本</a:t>
            </a:r>
          </a:p>
          <a:p>
            <a:pPr algn="ctr">
              <a:lnSpc>
                <a:spcPct val="155000"/>
              </a:lnSpc>
            </a:pPr>
            <a:r>
              <a:rPr sz="1000" b="0">
                <a:solidFill>
                  <a:srgbClr val="1A1A1A"/>
                </a:solidFill>
                <a:latin typeface="Hiragino Sans"/>
                <a:ea typeface="Hiragino Sans"/>
                <a:cs typeface="Hiragino Sans"/>
              </a:rPr>
              <a:t>ABC原則準拠</a:t>
            </a:r>
          </a:p>
        </p:txBody>
      </p:sp>
      <p:sp>
        <p:nvSpPr>
          <p:cNvPr id="28" name="Rounded Rectangle 27"/>
          <p:cNvSpPr/>
          <p:nvPr/>
        </p:nvSpPr>
        <p:spPr>
          <a:xfrm>
            <a:off x="9619488" y="1417320"/>
            <a:ext cx="2221992" cy="219456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619488" y="1417320"/>
            <a:ext cx="2221992" cy="50292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56648" y="1536192"/>
            <a:ext cx="1947672" cy="274320"/>
          </a:xfrm>
          <a:prstGeom prst="rect">
            <a:avLst/>
          </a:prstGeom>
          <a:noFill/>
        </p:spPr>
        <p:txBody>
          <a:bodyPr wrap="square" anchor="t" lIns="0" rIns="0" tIns="0" bIns="0">
            <a:spAutoFit/>
          </a:bodyPr>
          <a:lstStyle/>
          <a:p>
            <a:pPr algn="ctr">
              <a:lnSpc>
                <a:spcPct val="115000"/>
              </a:lnSpc>
            </a:pPr>
            <a:r>
              <a:rPr sz="1200" b="1">
                <a:solidFill>
                  <a:srgbClr val="E87722"/>
                </a:solidFill>
                <a:latin typeface="Helvetica Neue"/>
                <a:ea typeface="Helvetica Neue"/>
                <a:cs typeface="Helvetica Neue"/>
              </a:rPr>
              <a:t>Day 8</a:t>
            </a:r>
          </a:p>
        </p:txBody>
      </p:sp>
      <p:sp>
        <p:nvSpPr>
          <p:cNvPr id="31" name="TextBox 30"/>
          <p:cNvSpPr txBox="1"/>
          <p:nvPr/>
        </p:nvSpPr>
        <p:spPr>
          <a:xfrm>
            <a:off x="9756648" y="2057400"/>
            <a:ext cx="1947672" cy="365760"/>
          </a:xfrm>
          <a:prstGeom prst="rect">
            <a:avLst/>
          </a:prstGeom>
          <a:noFill/>
        </p:spPr>
        <p:txBody>
          <a:bodyPr wrap="square" anchor="t" lIns="0" rIns="0" tIns="0" bIns="0">
            <a:spAutoFit/>
          </a:bodyPr>
          <a:lstStyle/>
          <a:p>
            <a:pPr algn="ctr">
              <a:lnSpc>
                <a:spcPct val="115000"/>
              </a:lnSpc>
            </a:pPr>
            <a:r>
              <a:rPr sz="1200" b="1">
                <a:solidFill>
                  <a:srgbClr val="0F2A4F"/>
                </a:solidFill>
                <a:latin typeface="Hiragino Sans"/>
                <a:ea typeface="Hiragino Sans"/>
                <a:cs typeface="Hiragino Sans"/>
              </a:rPr>
              <a:t>配信投入</a:t>
            </a:r>
          </a:p>
        </p:txBody>
      </p:sp>
      <p:sp>
        <p:nvSpPr>
          <p:cNvPr id="32" name="TextBox 31"/>
          <p:cNvSpPr txBox="1"/>
          <p:nvPr/>
        </p:nvSpPr>
        <p:spPr>
          <a:xfrm>
            <a:off x="9756648" y="2468880"/>
            <a:ext cx="1947672" cy="1097280"/>
          </a:xfrm>
          <a:prstGeom prst="rect">
            <a:avLst/>
          </a:prstGeom>
          <a:noFill/>
        </p:spPr>
        <p:txBody>
          <a:bodyPr wrap="square" anchor="t" lIns="0" rIns="0" tIns="0" bIns="0">
            <a:spAutoFit/>
          </a:bodyPr>
          <a:lstStyle/>
          <a:p>
            <a:pPr algn="ctr">
              <a:lnSpc>
                <a:spcPct val="155000"/>
              </a:lnSpc>
            </a:pPr>
            <a:r>
              <a:rPr sz="1000" b="0">
                <a:solidFill>
                  <a:srgbClr val="1A1A1A"/>
                </a:solidFill>
                <a:latin typeface="Hiragino Sans"/>
                <a:ea typeface="Hiragino Sans"/>
                <a:cs typeface="Hiragino Sans"/>
              </a:rPr>
              <a:t>Smart+ / Advantage+ に</a:t>
            </a:r>
          </a:p>
          <a:p>
            <a:pPr algn="ctr">
              <a:lnSpc>
                <a:spcPct val="155000"/>
              </a:lnSpc>
            </a:pPr>
            <a:r>
              <a:rPr sz="1000" b="0">
                <a:solidFill>
                  <a:srgbClr val="1A1A1A"/>
                </a:solidFill>
                <a:latin typeface="Hiragino Sans"/>
                <a:ea typeface="Hiragino Sans"/>
                <a:cs typeface="Hiragino Sans"/>
              </a:rPr>
              <a:t>大量投入</a:t>
            </a:r>
          </a:p>
          <a:p>
            <a:pPr algn="ctr">
              <a:lnSpc>
                <a:spcPct val="155000"/>
              </a:lnSpc>
            </a:pPr>
            <a:r>
              <a:rPr sz="1000" b="0">
                <a:solidFill>
                  <a:srgbClr val="1A1A1A"/>
                </a:solidFill>
                <a:latin typeface="Hiragino Sans"/>
                <a:ea typeface="Hiragino Sans"/>
                <a:cs typeface="Hiragino Sans"/>
              </a:rPr>
              <a:t>学習開始</a:t>
            </a:r>
          </a:p>
        </p:txBody>
      </p:sp>
      <p:sp>
        <p:nvSpPr>
          <p:cNvPr id="33" name="Rounded Rectangle 32"/>
          <p:cNvSpPr/>
          <p:nvPr/>
        </p:nvSpPr>
        <p:spPr>
          <a:xfrm>
            <a:off x="548640" y="3794760"/>
            <a:ext cx="11109960" cy="256032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77240" y="3931920"/>
            <a:ext cx="100584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 月次コスト試算 (1案件あたり)</a:t>
            </a:r>
          </a:p>
        </p:txBody>
      </p:sp>
      <p:sp>
        <p:nvSpPr>
          <p:cNvPr id="35" name="TextBox 34"/>
          <p:cNvSpPr txBox="1"/>
          <p:nvPr/>
        </p:nvSpPr>
        <p:spPr>
          <a:xfrm>
            <a:off x="777240" y="4251960"/>
            <a:ext cx="10972800" cy="205740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 ChatGPT Plus or Claude Pro : US$20/月 (全案件で共通)</a:t>
            </a:r>
          </a:p>
          <a:p>
            <a:pPr algn="l">
              <a:lnSpc>
                <a:spcPct val="160000"/>
              </a:lnSpc>
            </a:pPr>
            <a:r>
              <a:rPr sz="1100" b="0">
                <a:solidFill>
                  <a:srgbClr val="1A1A1A"/>
                </a:solidFill>
                <a:latin typeface="Hiragino Sans"/>
                <a:ea typeface="Hiragino Sans"/>
                <a:cs typeface="Hiragino Sans"/>
              </a:rPr>
              <a:t>• Midjourney Standard : US$30/月 (全案件で共通)</a:t>
            </a:r>
          </a:p>
          <a:p>
            <a:pPr algn="l">
              <a:lnSpc>
                <a:spcPct val="160000"/>
              </a:lnSpc>
            </a:pPr>
            <a:r>
              <a:rPr sz="1100" b="0">
                <a:solidFill>
                  <a:srgbClr val="1A1A1A"/>
                </a:solidFill>
                <a:latin typeface="Hiragino Sans"/>
                <a:ea typeface="Hiragino Sans"/>
                <a:cs typeface="Hiragino Sans"/>
              </a:rPr>
              <a:t>• Sora 2 (ChatGPT Pro) : US$200/月 (動画量産が必要な月のみ)</a:t>
            </a:r>
          </a:p>
          <a:p>
            <a:pPr algn="l">
              <a:lnSpc>
                <a:spcPct val="160000"/>
              </a:lnSpc>
            </a:pPr>
            <a:r>
              <a:rPr sz="1100" b="0">
                <a:solidFill>
                  <a:srgbClr val="1A1A1A"/>
                </a:solidFill>
                <a:latin typeface="Hiragino Sans"/>
                <a:ea typeface="Hiragino Sans"/>
                <a:cs typeface="Hiragino Sans"/>
              </a:rPr>
              <a:t>• Adobe Creative Cloud + Firefly : US$60/月 (高単価案件用)</a:t>
            </a:r>
          </a:p>
          <a:p>
            <a:pPr algn="l">
              <a:lnSpc>
                <a:spcPct val="160000"/>
              </a:lnSpc>
            </a:pPr>
            <a:r>
              <a:rPr sz="1100" b="0">
                <a:solidFill>
                  <a:srgbClr val="1A1A1A"/>
                </a:solidFill>
                <a:latin typeface="Hiragino Sans"/>
                <a:ea typeface="Hiragino Sans"/>
                <a:cs typeface="Hiragino Sans"/>
              </a:rPr>
              <a:t>= 1案件あたり追加コスト : 数千円〜1万円程度 (中規模案件)</a:t>
            </a:r>
          </a:p>
          <a:p>
            <a:pPr algn="l">
              <a:lnSpc>
                <a:spcPct val="160000"/>
              </a:lnSpc>
            </a:pPr>
            <a:r>
              <a:rPr sz="1100" b="0">
                <a:solidFill>
                  <a:srgbClr val="1A1A1A"/>
                </a:solidFill>
                <a:latin typeface="Hiragino Sans"/>
                <a:ea typeface="Hiragino Sans"/>
                <a:cs typeface="Hiragino Sans"/>
              </a:rPr>
              <a:t>→ デザイナー外注の数十万円から大幅コスト削減、副業代行の利益率改善</a:t>
            </a:r>
          </a:p>
        </p:txBody>
      </p:sp>
      <p:sp>
        <p:nvSpPr>
          <p:cNvPr id="36" name="TextBox 35"/>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AI クリエイティブ pitfalls</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副業代行で『AIあるある』を防ぐ</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P184 / 250</a:t>
            </a:r>
          </a:p>
        </p:txBody>
      </p:sp>
      <p:sp>
        <p:nvSpPr>
          <p:cNvPr id="8" name="Rounded Rectangle 7"/>
          <p:cNvSpPr/>
          <p:nvPr/>
        </p:nvSpPr>
        <p:spPr>
          <a:xfrm>
            <a:off x="548640" y="1325880"/>
            <a:ext cx="5440680" cy="15544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25880"/>
            <a:ext cx="91440" cy="1554480"/>
          </a:xfrm>
          <a:prstGeom prst="rect">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63040"/>
            <a:ext cx="457200" cy="320040"/>
          </a:xfrm>
          <a:prstGeom prst="rect">
            <a:avLst/>
          </a:prstGeom>
          <a:noFill/>
        </p:spPr>
        <p:txBody>
          <a:bodyPr wrap="square" anchor="t" lIns="0" rIns="0" tIns="0" bIns="0">
            <a:spAutoFit/>
          </a:bodyPr>
          <a:lstStyle/>
          <a:p>
            <a:pPr algn="l">
              <a:lnSpc>
                <a:spcPct val="115000"/>
              </a:lnSpc>
            </a:pPr>
            <a:r>
              <a:rPr sz="1800" b="1">
                <a:solidFill>
                  <a:srgbClr val="C6452D"/>
                </a:solidFill>
                <a:latin typeface="Hiragino Sans"/>
                <a:ea typeface="Hiragino Sans"/>
                <a:cs typeface="Hiragino Sans"/>
              </a:rPr>
              <a:t>✗</a:t>
            </a:r>
          </a:p>
        </p:txBody>
      </p:sp>
      <p:sp>
        <p:nvSpPr>
          <p:cNvPr id="11" name="TextBox 10"/>
          <p:cNvSpPr txBox="1"/>
          <p:nvPr/>
        </p:nvSpPr>
        <p:spPr>
          <a:xfrm>
            <a:off x="1188720" y="1463040"/>
            <a:ext cx="4663440" cy="365760"/>
          </a:xfrm>
          <a:prstGeom prst="rect">
            <a:avLst/>
          </a:prstGeom>
          <a:noFill/>
        </p:spPr>
        <p:txBody>
          <a:bodyPr wrap="square" anchor="t" lIns="0" rIns="0" tIns="0" bIns="0">
            <a:spAutoFit/>
          </a:bodyPr>
          <a:lstStyle/>
          <a:p>
            <a:pPr algn="l">
              <a:lnSpc>
                <a:spcPct val="130000"/>
              </a:lnSpc>
            </a:pPr>
            <a:r>
              <a:rPr sz="1200" b="1">
                <a:solidFill>
                  <a:srgbClr val="0F2A4F"/>
                </a:solidFill>
                <a:latin typeface="Hiragino Sans"/>
                <a:ea typeface="Hiragino Sans"/>
                <a:cs typeface="Hiragino Sans"/>
              </a:rPr>
              <a:t>AI生成丸投げで品質チェック放置</a:t>
            </a:r>
          </a:p>
        </p:txBody>
      </p:sp>
      <p:sp>
        <p:nvSpPr>
          <p:cNvPr id="12" name="TextBox 11"/>
          <p:cNvSpPr txBox="1"/>
          <p:nvPr/>
        </p:nvSpPr>
        <p:spPr>
          <a:xfrm>
            <a:off x="777240" y="1920240"/>
            <a:ext cx="5074920" cy="411480"/>
          </a:xfrm>
          <a:prstGeom prst="rect">
            <a:avLst/>
          </a:prstGeom>
          <a:noFill/>
        </p:spPr>
        <p:txBody>
          <a:bodyPr wrap="square" anchor="t" lIns="0" rIns="0" tIns="0" bIns="0">
            <a:spAutoFit/>
          </a:bodyPr>
          <a:lstStyle/>
          <a:p>
            <a:pPr algn="l">
              <a:lnSpc>
                <a:spcPct val="140000"/>
              </a:lnSpc>
            </a:pPr>
            <a:r>
              <a:rPr sz="1000" b="0">
                <a:solidFill>
                  <a:srgbClr val="5A6A80"/>
                </a:solidFill>
                <a:latin typeface="Hiragino Sans"/>
                <a:ea typeface="Hiragino Sans"/>
                <a:cs typeface="Hiragino Sans"/>
              </a:rPr>
              <a:t>ブランド毀損リスク + 規制違反</a:t>
            </a:r>
          </a:p>
        </p:txBody>
      </p:sp>
      <p:sp>
        <p:nvSpPr>
          <p:cNvPr id="13" name="Rectangle 12"/>
          <p:cNvSpPr/>
          <p:nvPr/>
        </p:nvSpPr>
        <p:spPr>
          <a:xfrm>
            <a:off x="777240" y="2331720"/>
            <a:ext cx="507492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423160"/>
            <a:ext cx="5074920" cy="411480"/>
          </a:xfrm>
          <a:prstGeom prst="rect">
            <a:avLst/>
          </a:prstGeom>
          <a:noFill/>
        </p:spPr>
        <p:txBody>
          <a:bodyPr wrap="square" anchor="t" lIns="0" rIns="0" tIns="0" bIns="0">
            <a:spAutoFit/>
          </a:bodyPr>
          <a:lstStyle/>
          <a:p>
            <a:pPr algn="l">
              <a:lnSpc>
                <a:spcPct val="140000"/>
              </a:lnSpc>
            </a:pPr>
            <a:r>
              <a:rPr sz="1000" b="1">
                <a:solidFill>
                  <a:srgbClr val="B85E1A"/>
                </a:solidFill>
                <a:latin typeface="Hiragino Sans"/>
                <a:ea typeface="Hiragino Sans"/>
                <a:cs typeface="Hiragino Sans"/>
              </a:rPr>
              <a:t>→  必ず人間が最終確認、生成5件中1件は使えない前提</a:t>
            </a:r>
          </a:p>
        </p:txBody>
      </p:sp>
      <p:sp>
        <p:nvSpPr>
          <p:cNvPr id="15" name="Rounded Rectangle 14"/>
          <p:cNvSpPr/>
          <p:nvPr/>
        </p:nvSpPr>
        <p:spPr>
          <a:xfrm>
            <a:off x="6172200" y="1325880"/>
            <a:ext cx="5440680" cy="15544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1325880"/>
            <a:ext cx="91440" cy="1554480"/>
          </a:xfrm>
          <a:prstGeom prst="rect">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1463040"/>
            <a:ext cx="457200" cy="320040"/>
          </a:xfrm>
          <a:prstGeom prst="rect">
            <a:avLst/>
          </a:prstGeom>
          <a:noFill/>
        </p:spPr>
        <p:txBody>
          <a:bodyPr wrap="square" anchor="t" lIns="0" rIns="0" tIns="0" bIns="0">
            <a:spAutoFit/>
          </a:bodyPr>
          <a:lstStyle/>
          <a:p>
            <a:pPr algn="l">
              <a:lnSpc>
                <a:spcPct val="115000"/>
              </a:lnSpc>
            </a:pPr>
            <a:r>
              <a:rPr sz="1800" b="1">
                <a:solidFill>
                  <a:srgbClr val="C6452D"/>
                </a:solidFill>
                <a:latin typeface="Hiragino Sans"/>
                <a:ea typeface="Hiragino Sans"/>
                <a:cs typeface="Hiragino Sans"/>
              </a:rPr>
              <a:t>✗</a:t>
            </a:r>
          </a:p>
        </p:txBody>
      </p:sp>
      <p:sp>
        <p:nvSpPr>
          <p:cNvPr id="18" name="TextBox 17"/>
          <p:cNvSpPr txBox="1"/>
          <p:nvPr/>
        </p:nvSpPr>
        <p:spPr>
          <a:xfrm>
            <a:off x="6812280" y="1463040"/>
            <a:ext cx="4663440" cy="365760"/>
          </a:xfrm>
          <a:prstGeom prst="rect">
            <a:avLst/>
          </a:prstGeom>
          <a:noFill/>
        </p:spPr>
        <p:txBody>
          <a:bodyPr wrap="square" anchor="t" lIns="0" rIns="0" tIns="0" bIns="0">
            <a:spAutoFit/>
          </a:bodyPr>
          <a:lstStyle/>
          <a:p>
            <a:pPr algn="l">
              <a:lnSpc>
                <a:spcPct val="130000"/>
              </a:lnSpc>
            </a:pPr>
            <a:r>
              <a:rPr sz="1200" b="1">
                <a:solidFill>
                  <a:srgbClr val="0F2A4F"/>
                </a:solidFill>
                <a:latin typeface="Hiragino Sans"/>
                <a:ea typeface="Hiragino Sans"/>
                <a:cs typeface="Hiragino Sans"/>
              </a:rPr>
              <a:t>プロンプトの使い回し</a:t>
            </a:r>
          </a:p>
        </p:txBody>
      </p:sp>
      <p:sp>
        <p:nvSpPr>
          <p:cNvPr id="19" name="TextBox 18"/>
          <p:cNvSpPr txBox="1"/>
          <p:nvPr/>
        </p:nvSpPr>
        <p:spPr>
          <a:xfrm>
            <a:off x="6400800" y="1920240"/>
            <a:ext cx="5074920" cy="411480"/>
          </a:xfrm>
          <a:prstGeom prst="rect">
            <a:avLst/>
          </a:prstGeom>
          <a:noFill/>
        </p:spPr>
        <p:txBody>
          <a:bodyPr wrap="square" anchor="t" lIns="0" rIns="0" tIns="0" bIns="0">
            <a:spAutoFit/>
          </a:bodyPr>
          <a:lstStyle/>
          <a:p>
            <a:pPr algn="l">
              <a:lnSpc>
                <a:spcPct val="140000"/>
              </a:lnSpc>
            </a:pPr>
            <a:r>
              <a:rPr sz="1000" b="0">
                <a:solidFill>
                  <a:srgbClr val="5A6A80"/>
                </a:solidFill>
                <a:latin typeface="Hiragino Sans"/>
                <a:ea typeface="Hiragino Sans"/>
                <a:cs typeface="Hiragino Sans"/>
              </a:rPr>
              <a:t>同じトーン・同じ訴求の量産 → 学習効果低い</a:t>
            </a:r>
          </a:p>
        </p:txBody>
      </p:sp>
      <p:sp>
        <p:nvSpPr>
          <p:cNvPr id="20" name="Rectangle 19"/>
          <p:cNvSpPr/>
          <p:nvPr/>
        </p:nvSpPr>
        <p:spPr>
          <a:xfrm>
            <a:off x="6400800" y="2331720"/>
            <a:ext cx="507492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0" y="2423160"/>
            <a:ext cx="5074920" cy="411480"/>
          </a:xfrm>
          <a:prstGeom prst="rect">
            <a:avLst/>
          </a:prstGeom>
          <a:noFill/>
        </p:spPr>
        <p:txBody>
          <a:bodyPr wrap="square" anchor="t" lIns="0" rIns="0" tIns="0" bIns="0">
            <a:spAutoFit/>
          </a:bodyPr>
          <a:lstStyle/>
          <a:p>
            <a:pPr algn="l">
              <a:lnSpc>
                <a:spcPct val="140000"/>
              </a:lnSpc>
            </a:pPr>
            <a:r>
              <a:rPr sz="1000" b="1">
                <a:solidFill>
                  <a:srgbClr val="B85E1A"/>
                </a:solidFill>
                <a:latin typeface="Hiragino Sans"/>
                <a:ea typeface="Hiragino Sans"/>
                <a:cs typeface="Hiragino Sans"/>
              </a:rPr>
              <a:t>→  訴求軸 / ターゲット / トーン 別にプロンプト設計</a:t>
            </a:r>
          </a:p>
        </p:txBody>
      </p:sp>
      <p:sp>
        <p:nvSpPr>
          <p:cNvPr id="22" name="Rounded Rectangle 21"/>
          <p:cNvSpPr/>
          <p:nvPr/>
        </p:nvSpPr>
        <p:spPr>
          <a:xfrm>
            <a:off x="548640" y="3017520"/>
            <a:ext cx="5440680" cy="15544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48640" y="3017520"/>
            <a:ext cx="91440" cy="1554480"/>
          </a:xfrm>
          <a:prstGeom prst="rect">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3154680"/>
            <a:ext cx="457200" cy="320040"/>
          </a:xfrm>
          <a:prstGeom prst="rect">
            <a:avLst/>
          </a:prstGeom>
          <a:noFill/>
        </p:spPr>
        <p:txBody>
          <a:bodyPr wrap="square" anchor="t" lIns="0" rIns="0" tIns="0" bIns="0">
            <a:spAutoFit/>
          </a:bodyPr>
          <a:lstStyle/>
          <a:p>
            <a:pPr algn="l">
              <a:lnSpc>
                <a:spcPct val="115000"/>
              </a:lnSpc>
            </a:pPr>
            <a:r>
              <a:rPr sz="1800" b="1">
                <a:solidFill>
                  <a:srgbClr val="C6452D"/>
                </a:solidFill>
                <a:latin typeface="Hiragino Sans"/>
                <a:ea typeface="Hiragino Sans"/>
                <a:cs typeface="Hiragino Sans"/>
              </a:rPr>
              <a:t>✗</a:t>
            </a:r>
          </a:p>
        </p:txBody>
      </p:sp>
      <p:sp>
        <p:nvSpPr>
          <p:cNvPr id="25" name="TextBox 24"/>
          <p:cNvSpPr txBox="1"/>
          <p:nvPr/>
        </p:nvSpPr>
        <p:spPr>
          <a:xfrm>
            <a:off x="1188720" y="3154680"/>
            <a:ext cx="4663440" cy="365760"/>
          </a:xfrm>
          <a:prstGeom prst="rect">
            <a:avLst/>
          </a:prstGeom>
          <a:noFill/>
        </p:spPr>
        <p:txBody>
          <a:bodyPr wrap="square" anchor="t" lIns="0" rIns="0" tIns="0" bIns="0">
            <a:spAutoFit/>
          </a:bodyPr>
          <a:lstStyle/>
          <a:p>
            <a:pPr algn="l">
              <a:lnSpc>
                <a:spcPct val="130000"/>
              </a:lnSpc>
            </a:pPr>
            <a:r>
              <a:rPr sz="1200" b="1">
                <a:solidFill>
                  <a:srgbClr val="0F2A4F"/>
                </a:solidFill>
                <a:latin typeface="Hiragino Sans"/>
                <a:ea typeface="Hiragino Sans"/>
                <a:cs typeface="Hiragino Sans"/>
              </a:rPr>
              <a:t>商用利用規約を確認せず使用</a:t>
            </a:r>
          </a:p>
        </p:txBody>
      </p:sp>
      <p:sp>
        <p:nvSpPr>
          <p:cNvPr id="26" name="TextBox 25"/>
          <p:cNvSpPr txBox="1"/>
          <p:nvPr/>
        </p:nvSpPr>
        <p:spPr>
          <a:xfrm>
            <a:off x="777240" y="3611880"/>
            <a:ext cx="5074920" cy="411480"/>
          </a:xfrm>
          <a:prstGeom prst="rect">
            <a:avLst/>
          </a:prstGeom>
          <a:noFill/>
        </p:spPr>
        <p:txBody>
          <a:bodyPr wrap="square" anchor="t" lIns="0" rIns="0" tIns="0" bIns="0">
            <a:spAutoFit/>
          </a:bodyPr>
          <a:lstStyle/>
          <a:p>
            <a:pPr algn="l">
              <a:lnSpc>
                <a:spcPct val="140000"/>
              </a:lnSpc>
            </a:pPr>
            <a:r>
              <a:rPr sz="1000" b="0">
                <a:solidFill>
                  <a:srgbClr val="5A6A80"/>
                </a:solidFill>
                <a:latin typeface="Hiragino Sans"/>
                <a:ea typeface="Hiragino Sans"/>
                <a:cs typeface="Hiragino Sans"/>
              </a:rPr>
              <a:t>著作権侵害・賠償リスク</a:t>
            </a:r>
          </a:p>
        </p:txBody>
      </p:sp>
      <p:sp>
        <p:nvSpPr>
          <p:cNvPr id="27" name="Rectangle 26"/>
          <p:cNvSpPr/>
          <p:nvPr/>
        </p:nvSpPr>
        <p:spPr>
          <a:xfrm>
            <a:off x="777240" y="4023360"/>
            <a:ext cx="507492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4114800"/>
            <a:ext cx="5074920" cy="411480"/>
          </a:xfrm>
          <a:prstGeom prst="rect">
            <a:avLst/>
          </a:prstGeom>
          <a:noFill/>
        </p:spPr>
        <p:txBody>
          <a:bodyPr wrap="square" anchor="t" lIns="0" rIns="0" tIns="0" bIns="0">
            <a:spAutoFit/>
          </a:bodyPr>
          <a:lstStyle/>
          <a:p>
            <a:pPr algn="l">
              <a:lnSpc>
                <a:spcPct val="140000"/>
              </a:lnSpc>
            </a:pPr>
            <a:r>
              <a:rPr sz="1000" b="1">
                <a:solidFill>
                  <a:srgbClr val="B85E1A"/>
                </a:solidFill>
                <a:latin typeface="Hiragino Sans"/>
                <a:ea typeface="Hiragino Sans"/>
                <a:cs typeface="Hiragino Sans"/>
              </a:rPr>
              <a:t>→  ツール毎に規約読込、不安なら Firefly等の保証付きを使用</a:t>
            </a:r>
          </a:p>
        </p:txBody>
      </p:sp>
      <p:sp>
        <p:nvSpPr>
          <p:cNvPr id="29" name="Rounded Rectangle 28"/>
          <p:cNvSpPr/>
          <p:nvPr/>
        </p:nvSpPr>
        <p:spPr>
          <a:xfrm>
            <a:off x="6172200" y="3017520"/>
            <a:ext cx="5440680" cy="15544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72200" y="3017520"/>
            <a:ext cx="91440" cy="1554480"/>
          </a:xfrm>
          <a:prstGeom prst="rect">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0" y="3154680"/>
            <a:ext cx="457200" cy="320040"/>
          </a:xfrm>
          <a:prstGeom prst="rect">
            <a:avLst/>
          </a:prstGeom>
          <a:noFill/>
        </p:spPr>
        <p:txBody>
          <a:bodyPr wrap="square" anchor="t" lIns="0" rIns="0" tIns="0" bIns="0">
            <a:spAutoFit/>
          </a:bodyPr>
          <a:lstStyle/>
          <a:p>
            <a:pPr algn="l">
              <a:lnSpc>
                <a:spcPct val="115000"/>
              </a:lnSpc>
            </a:pPr>
            <a:r>
              <a:rPr sz="1800" b="1">
                <a:solidFill>
                  <a:srgbClr val="C6452D"/>
                </a:solidFill>
                <a:latin typeface="Hiragino Sans"/>
                <a:ea typeface="Hiragino Sans"/>
                <a:cs typeface="Hiragino Sans"/>
              </a:rPr>
              <a:t>✗</a:t>
            </a:r>
          </a:p>
        </p:txBody>
      </p:sp>
      <p:sp>
        <p:nvSpPr>
          <p:cNvPr id="32" name="TextBox 31"/>
          <p:cNvSpPr txBox="1"/>
          <p:nvPr/>
        </p:nvSpPr>
        <p:spPr>
          <a:xfrm>
            <a:off x="6812280" y="3154680"/>
            <a:ext cx="4663440" cy="365760"/>
          </a:xfrm>
          <a:prstGeom prst="rect">
            <a:avLst/>
          </a:prstGeom>
          <a:noFill/>
        </p:spPr>
        <p:txBody>
          <a:bodyPr wrap="square" anchor="t" lIns="0" rIns="0" tIns="0" bIns="0">
            <a:spAutoFit/>
          </a:bodyPr>
          <a:lstStyle/>
          <a:p>
            <a:pPr algn="l">
              <a:lnSpc>
                <a:spcPct val="130000"/>
              </a:lnSpc>
            </a:pPr>
            <a:r>
              <a:rPr sz="1200" b="1">
                <a:solidFill>
                  <a:srgbClr val="0F2A4F"/>
                </a:solidFill>
                <a:latin typeface="Hiragino Sans"/>
                <a:ea typeface="Hiragino Sans"/>
                <a:cs typeface="Hiragino Sans"/>
              </a:rPr>
              <a:t>実在人物・既存IPの再現</a:t>
            </a:r>
          </a:p>
        </p:txBody>
      </p:sp>
      <p:sp>
        <p:nvSpPr>
          <p:cNvPr id="33" name="TextBox 32"/>
          <p:cNvSpPr txBox="1"/>
          <p:nvPr/>
        </p:nvSpPr>
        <p:spPr>
          <a:xfrm>
            <a:off x="6400800" y="3611880"/>
            <a:ext cx="5074920" cy="411480"/>
          </a:xfrm>
          <a:prstGeom prst="rect">
            <a:avLst/>
          </a:prstGeom>
          <a:noFill/>
        </p:spPr>
        <p:txBody>
          <a:bodyPr wrap="square" anchor="t" lIns="0" rIns="0" tIns="0" bIns="0">
            <a:spAutoFit/>
          </a:bodyPr>
          <a:lstStyle/>
          <a:p>
            <a:pPr algn="l">
              <a:lnSpc>
                <a:spcPct val="140000"/>
              </a:lnSpc>
            </a:pPr>
            <a:r>
              <a:rPr sz="1000" b="0">
                <a:solidFill>
                  <a:srgbClr val="5A6A80"/>
                </a:solidFill>
                <a:latin typeface="Hiragino Sans"/>
                <a:ea typeface="Hiragino Sans"/>
                <a:cs typeface="Hiragino Sans"/>
              </a:rPr>
              <a:t>媒体審査で落ちる + 法的リスク</a:t>
            </a:r>
          </a:p>
        </p:txBody>
      </p:sp>
      <p:sp>
        <p:nvSpPr>
          <p:cNvPr id="34" name="Rectangle 33"/>
          <p:cNvSpPr/>
          <p:nvPr/>
        </p:nvSpPr>
        <p:spPr>
          <a:xfrm>
            <a:off x="6400800" y="4023360"/>
            <a:ext cx="507492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0" y="4114800"/>
            <a:ext cx="5074920" cy="411480"/>
          </a:xfrm>
          <a:prstGeom prst="rect">
            <a:avLst/>
          </a:prstGeom>
          <a:noFill/>
        </p:spPr>
        <p:txBody>
          <a:bodyPr wrap="square" anchor="t" lIns="0" rIns="0" tIns="0" bIns="0">
            <a:spAutoFit/>
          </a:bodyPr>
          <a:lstStyle/>
          <a:p>
            <a:pPr algn="l">
              <a:lnSpc>
                <a:spcPct val="140000"/>
              </a:lnSpc>
            </a:pPr>
            <a:r>
              <a:rPr sz="1000" b="1">
                <a:solidFill>
                  <a:srgbClr val="B85E1A"/>
                </a:solidFill>
                <a:latin typeface="Hiragino Sans"/>
                <a:ea typeface="Hiragino Sans"/>
                <a:cs typeface="Hiragino Sans"/>
              </a:rPr>
              <a:t>→  プロンプトに『一般的・抽象的な人物像』を指定</a:t>
            </a:r>
          </a:p>
        </p:txBody>
      </p:sp>
      <p:sp>
        <p:nvSpPr>
          <p:cNvPr id="36" name="Rounded Rectangle 35"/>
          <p:cNvSpPr/>
          <p:nvPr/>
        </p:nvSpPr>
        <p:spPr>
          <a:xfrm>
            <a:off x="548640" y="4709160"/>
            <a:ext cx="5440680" cy="15544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 y="4709160"/>
            <a:ext cx="91440" cy="1554480"/>
          </a:xfrm>
          <a:prstGeom prst="rect">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77240" y="4846320"/>
            <a:ext cx="457200" cy="320040"/>
          </a:xfrm>
          <a:prstGeom prst="rect">
            <a:avLst/>
          </a:prstGeom>
          <a:noFill/>
        </p:spPr>
        <p:txBody>
          <a:bodyPr wrap="square" anchor="t" lIns="0" rIns="0" tIns="0" bIns="0">
            <a:spAutoFit/>
          </a:bodyPr>
          <a:lstStyle/>
          <a:p>
            <a:pPr algn="l">
              <a:lnSpc>
                <a:spcPct val="115000"/>
              </a:lnSpc>
            </a:pPr>
            <a:r>
              <a:rPr sz="1800" b="1">
                <a:solidFill>
                  <a:srgbClr val="C6452D"/>
                </a:solidFill>
                <a:latin typeface="Hiragino Sans"/>
                <a:ea typeface="Hiragino Sans"/>
                <a:cs typeface="Hiragino Sans"/>
              </a:rPr>
              <a:t>✗</a:t>
            </a:r>
          </a:p>
        </p:txBody>
      </p:sp>
      <p:sp>
        <p:nvSpPr>
          <p:cNvPr id="39" name="TextBox 38"/>
          <p:cNvSpPr txBox="1"/>
          <p:nvPr/>
        </p:nvSpPr>
        <p:spPr>
          <a:xfrm>
            <a:off x="1188720" y="4846320"/>
            <a:ext cx="4663440" cy="365760"/>
          </a:xfrm>
          <a:prstGeom prst="rect">
            <a:avLst/>
          </a:prstGeom>
          <a:noFill/>
        </p:spPr>
        <p:txBody>
          <a:bodyPr wrap="square" anchor="t" lIns="0" rIns="0" tIns="0" bIns="0">
            <a:spAutoFit/>
          </a:bodyPr>
          <a:lstStyle/>
          <a:p>
            <a:pPr algn="l">
              <a:lnSpc>
                <a:spcPct val="130000"/>
              </a:lnSpc>
            </a:pPr>
            <a:r>
              <a:rPr sz="1200" b="1">
                <a:solidFill>
                  <a:srgbClr val="0F2A4F"/>
                </a:solidFill>
                <a:latin typeface="Hiragino Sans"/>
                <a:ea typeface="Hiragino Sans"/>
                <a:cs typeface="Hiragino Sans"/>
              </a:rPr>
              <a:t>Sora / Veo 過剰使用</a:t>
            </a:r>
          </a:p>
        </p:txBody>
      </p:sp>
      <p:sp>
        <p:nvSpPr>
          <p:cNvPr id="40" name="TextBox 39"/>
          <p:cNvSpPr txBox="1"/>
          <p:nvPr/>
        </p:nvSpPr>
        <p:spPr>
          <a:xfrm>
            <a:off x="777240" y="5303520"/>
            <a:ext cx="5074920" cy="411480"/>
          </a:xfrm>
          <a:prstGeom prst="rect">
            <a:avLst/>
          </a:prstGeom>
          <a:noFill/>
        </p:spPr>
        <p:txBody>
          <a:bodyPr wrap="square" anchor="t" lIns="0" rIns="0" tIns="0" bIns="0">
            <a:spAutoFit/>
          </a:bodyPr>
          <a:lstStyle/>
          <a:p>
            <a:pPr algn="l">
              <a:lnSpc>
                <a:spcPct val="140000"/>
              </a:lnSpc>
            </a:pPr>
            <a:r>
              <a:rPr sz="1000" b="0">
                <a:solidFill>
                  <a:srgbClr val="5A6A80"/>
                </a:solidFill>
                <a:latin typeface="Hiragino Sans"/>
                <a:ea typeface="Hiragino Sans"/>
                <a:cs typeface="Hiragino Sans"/>
              </a:rPr>
              <a:t>コスト爆発 (動画は高単価)</a:t>
            </a:r>
          </a:p>
        </p:txBody>
      </p:sp>
      <p:sp>
        <p:nvSpPr>
          <p:cNvPr id="41" name="Rectangle 40"/>
          <p:cNvSpPr/>
          <p:nvPr/>
        </p:nvSpPr>
        <p:spPr>
          <a:xfrm>
            <a:off x="777240" y="5715000"/>
            <a:ext cx="507492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77240" y="5806440"/>
            <a:ext cx="5074920" cy="411480"/>
          </a:xfrm>
          <a:prstGeom prst="rect">
            <a:avLst/>
          </a:prstGeom>
          <a:noFill/>
        </p:spPr>
        <p:txBody>
          <a:bodyPr wrap="square" anchor="t" lIns="0" rIns="0" tIns="0" bIns="0">
            <a:spAutoFit/>
          </a:bodyPr>
          <a:lstStyle/>
          <a:p>
            <a:pPr algn="l">
              <a:lnSpc>
                <a:spcPct val="140000"/>
              </a:lnSpc>
            </a:pPr>
            <a:r>
              <a:rPr sz="1000" b="1">
                <a:solidFill>
                  <a:srgbClr val="B85E1A"/>
                </a:solidFill>
                <a:latin typeface="Hiragino Sans"/>
                <a:ea typeface="Hiragino Sans"/>
                <a:cs typeface="Hiragino Sans"/>
              </a:rPr>
              <a:t>→  静止画で十分な場合は静止画で、動画は『縦型必須』案件に限定</a:t>
            </a:r>
          </a:p>
        </p:txBody>
      </p:sp>
      <p:sp>
        <p:nvSpPr>
          <p:cNvPr id="43" name="Rounded Rectangle 42"/>
          <p:cNvSpPr/>
          <p:nvPr/>
        </p:nvSpPr>
        <p:spPr>
          <a:xfrm>
            <a:off x="6172200" y="4709160"/>
            <a:ext cx="5440680" cy="15544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172200" y="4709160"/>
            <a:ext cx="91440" cy="1554480"/>
          </a:xfrm>
          <a:prstGeom prst="rect">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00800" y="4846320"/>
            <a:ext cx="457200" cy="320040"/>
          </a:xfrm>
          <a:prstGeom prst="rect">
            <a:avLst/>
          </a:prstGeom>
          <a:noFill/>
        </p:spPr>
        <p:txBody>
          <a:bodyPr wrap="square" anchor="t" lIns="0" rIns="0" tIns="0" bIns="0">
            <a:spAutoFit/>
          </a:bodyPr>
          <a:lstStyle/>
          <a:p>
            <a:pPr algn="l">
              <a:lnSpc>
                <a:spcPct val="115000"/>
              </a:lnSpc>
            </a:pPr>
            <a:r>
              <a:rPr sz="1800" b="1">
                <a:solidFill>
                  <a:srgbClr val="C6452D"/>
                </a:solidFill>
                <a:latin typeface="Hiragino Sans"/>
                <a:ea typeface="Hiragino Sans"/>
                <a:cs typeface="Hiragino Sans"/>
              </a:rPr>
              <a:t>✗</a:t>
            </a:r>
          </a:p>
        </p:txBody>
      </p:sp>
      <p:sp>
        <p:nvSpPr>
          <p:cNvPr id="46" name="TextBox 45"/>
          <p:cNvSpPr txBox="1"/>
          <p:nvPr/>
        </p:nvSpPr>
        <p:spPr>
          <a:xfrm>
            <a:off x="6812280" y="4846320"/>
            <a:ext cx="4663440" cy="365760"/>
          </a:xfrm>
          <a:prstGeom prst="rect">
            <a:avLst/>
          </a:prstGeom>
          <a:noFill/>
        </p:spPr>
        <p:txBody>
          <a:bodyPr wrap="square" anchor="t" lIns="0" rIns="0" tIns="0" bIns="0">
            <a:spAutoFit/>
          </a:bodyPr>
          <a:lstStyle/>
          <a:p>
            <a:pPr algn="l">
              <a:lnSpc>
                <a:spcPct val="130000"/>
              </a:lnSpc>
            </a:pPr>
            <a:r>
              <a:rPr sz="1200" b="1">
                <a:solidFill>
                  <a:srgbClr val="0F2A4F"/>
                </a:solidFill>
                <a:latin typeface="Hiragino Sans"/>
                <a:ea typeface="Hiragino Sans"/>
                <a:cs typeface="Hiragino Sans"/>
              </a:rPr>
              <a:t>AI生成表記漏れ</a:t>
            </a:r>
          </a:p>
        </p:txBody>
      </p:sp>
      <p:sp>
        <p:nvSpPr>
          <p:cNvPr id="47" name="TextBox 46"/>
          <p:cNvSpPr txBox="1"/>
          <p:nvPr/>
        </p:nvSpPr>
        <p:spPr>
          <a:xfrm>
            <a:off x="6400800" y="5303520"/>
            <a:ext cx="5074920" cy="411480"/>
          </a:xfrm>
          <a:prstGeom prst="rect">
            <a:avLst/>
          </a:prstGeom>
          <a:noFill/>
        </p:spPr>
        <p:txBody>
          <a:bodyPr wrap="square" anchor="t" lIns="0" rIns="0" tIns="0" bIns="0">
            <a:spAutoFit/>
          </a:bodyPr>
          <a:lstStyle/>
          <a:p>
            <a:pPr algn="l">
              <a:lnSpc>
                <a:spcPct val="140000"/>
              </a:lnSpc>
            </a:pPr>
            <a:r>
              <a:rPr sz="1000" b="0">
                <a:solidFill>
                  <a:srgbClr val="5A6A80"/>
                </a:solidFill>
                <a:latin typeface="Hiragino Sans"/>
                <a:ea typeface="Hiragino Sans"/>
                <a:cs typeface="Hiragino Sans"/>
              </a:rPr>
              <a:t>規制 + 信頼性低下</a:t>
            </a:r>
          </a:p>
        </p:txBody>
      </p:sp>
      <p:sp>
        <p:nvSpPr>
          <p:cNvPr id="48" name="Rectangle 47"/>
          <p:cNvSpPr/>
          <p:nvPr/>
        </p:nvSpPr>
        <p:spPr>
          <a:xfrm>
            <a:off x="6400800" y="5715000"/>
            <a:ext cx="507492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400800" y="5806440"/>
            <a:ext cx="5074920" cy="411480"/>
          </a:xfrm>
          <a:prstGeom prst="rect">
            <a:avLst/>
          </a:prstGeom>
          <a:noFill/>
        </p:spPr>
        <p:txBody>
          <a:bodyPr wrap="square" anchor="t" lIns="0" rIns="0" tIns="0" bIns="0">
            <a:spAutoFit/>
          </a:bodyPr>
          <a:lstStyle/>
          <a:p>
            <a:pPr algn="l">
              <a:lnSpc>
                <a:spcPct val="140000"/>
              </a:lnSpc>
            </a:pPr>
            <a:r>
              <a:rPr sz="1000" b="1">
                <a:solidFill>
                  <a:srgbClr val="B85E1A"/>
                </a:solidFill>
                <a:latin typeface="Hiragino Sans"/>
                <a:ea typeface="Hiragino Sans"/>
                <a:cs typeface="Hiragino Sans"/>
              </a:rPr>
              <a:t>→  AI生成と明示する文化が浸透中、躊躇せず明記</a:t>
            </a:r>
          </a:p>
        </p:txBody>
      </p:sp>
      <p:sp>
        <p:nvSpPr>
          <p:cNvPr id="50" name="TextBox 49"/>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5-A まとめ → 5-B 予告</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AIクリエイティブ章のまとめ + 次は運用AI</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P185 / 250</a:t>
            </a:r>
          </a:p>
        </p:txBody>
      </p:sp>
      <p:sp>
        <p:nvSpPr>
          <p:cNvPr id="8" name="Rounded Rectangle 7"/>
          <p:cNvSpPr/>
          <p:nvPr/>
        </p:nvSpPr>
        <p:spPr>
          <a:xfrm>
            <a:off x="548640" y="1371600"/>
            <a:ext cx="11109960" cy="8686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71600"/>
            <a:ext cx="137160" cy="86868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90472"/>
            <a:ext cx="914400" cy="548640"/>
          </a:xfrm>
          <a:prstGeom prst="rect">
            <a:avLst/>
          </a:prstGeom>
          <a:noFill/>
        </p:spPr>
        <p:txBody>
          <a:bodyPr wrap="square" anchor="t" lIns="0" rIns="0" tIns="0" bIns="0">
            <a:spAutoFit/>
          </a:bodyPr>
          <a:lstStyle/>
          <a:p>
            <a:pPr algn="l">
              <a:lnSpc>
                <a:spcPct val="115000"/>
              </a:lnSpc>
            </a:pPr>
            <a:r>
              <a:rPr sz="2800" b="1">
                <a:solidFill>
                  <a:srgbClr val="E87722"/>
                </a:solidFill>
                <a:latin typeface="Helvetica Neue"/>
                <a:ea typeface="Helvetica Neue"/>
                <a:cs typeface="Helvetica Neue"/>
              </a:rPr>
              <a:t>01</a:t>
            </a:r>
          </a:p>
        </p:txBody>
      </p:sp>
      <p:sp>
        <p:nvSpPr>
          <p:cNvPr id="11" name="TextBox 10"/>
          <p:cNvSpPr txBox="1"/>
          <p:nvPr/>
        </p:nvSpPr>
        <p:spPr>
          <a:xfrm>
            <a:off x="1874519" y="1481328"/>
            <a:ext cx="9601200" cy="36576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コピー / 画像 / 動画 の3レイヤーが揃った</a:t>
            </a:r>
          </a:p>
        </p:txBody>
      </p:sp>
      <p:sp>
        <p:nvSpPr>
          <p:cNvPr id="12" name="TextBox 11"/>
          <p:cNvSpPr txBox="1"/>
          <p:nvPr/>
        </p:nvSpPr>
        <p:spPr>
          <a:xfrm>
            <a:off x="1874519" y="1828800"/>
            <a:ext cx="9601200" cy="457200"/>
          </a:xfrm>
          <a:prstGeom prst="rect">
            <a:avLst/>
          </a:prstGeom>
          <a:noFill/>
        </p:spPr>
        <p:txBody>
          <a:bodyPr wrap="square" anchor="t" lIns="0" rIns="0" tIns="0" bIns="0">
            <a:spAutoFit/>
          </a:bodyPr>
          <a:lstStyle/>
          <a:p>
            <a:pPr algn="l">
              <a:lnSpc>
                <a:spcPct val="155000"/>
              </a:lnSpc>
            </a:pPr>
            <a:r>
              <a:rPr sz="1000" b="0">
                <a:solidFill>
                  <a:srgbClr val="1A1A1A"/>
                </a:solidFill>
                <a:latin typeface="Hiragino Sans"/>
                <a:ea typeface="Hiragino Sans"/>
                <a:cs typeface="Hiragino Sans"/>
              </a:rPr>
              <a:t>ChatGPT/Claude/Gemini + Midjourney/Firefly + Sora 2/Veo 3 で</a:t>
            </a:r>
          </a:p>
          <a:p>
            <a:pPr algn="l">
              <a:lnSpc>
                <a:spcPct val="155000"/>
              </a:lnSpc>
            </a:pPr>
            <a:r>
              <a:rPr sz="1000" b="0">
                <a:solidFill>
                  <a:srgbClr val="1A1A1A"/>
                </a:solidFill>
                <a:latin typeface="Hiragino Sans"/>
                <a:ea typeface="Hiragino Sans"/>
                <a:cs typeface="Hiragino Sans"/>
              </a:rPr>
              <a:t>副業代行が1人で月20-30本のクリエイティブを量産可能に</a:t>
            </a:r>
          </a:p>
        </p:txBody>
      </p:sp>
      <p:sp>
        <p:nvSpPr>
          <p:cNvPr id="13" name="Rounded Rectangle 12"/>
          <p:cNvSpPr/>
          <p:nvPr/>
        </p:nvSpPr>
        <p:spPr>
          <a:xfrm>
            <a:off x="548640" y="2331720"/>
            <a:ext cx="11109960" cy="8686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2331720"/>
            <a:ext cx="137160" cy="86868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2450592"/>
            <a:ext cx="914400" cy="548640"/>
          </a:xfrm>
          <a:prstGeom prst="rect">
            <a:avLst/>
          </a:prstGeom>
          <a:noFill/>
        </p:spPr>
        <p:txBody>
          <a:bodyPr wrap="square" anchor="t" lIns="0" rIns="0" tIns="0" bIns="0">
            <a:spAutoFit/>
          </a:bodyPr>
          <a:lstStyle/>
          <a:p>
            <a:pPr algn="l">
              <a:lnSpc>
                <a:spcPct val="115000"/>
              </a:lnSpc>
            </a:pPr>
            <a:r>
              <a:rPr sz="2800" b="1">
                <a:solidFill>
                  <a:srgbClr val="E87722"/>
                </a:solidFill>
                <a:latin typeface="Helvetica Neue"/>
                <a:ea typeface="Helvetica Neue"/>
                <a:cs typeface="Helvetica Neue"/>
              </a:rPr>
              <a:t>02</a:t>
            </a:r>
          </a:p>
        </p:txBody>
      </p:sp>
      <p:sp>
        <p:nvSpPr>
          <p:cNvPr id="16" name="TextBox 15"/>
          <p:cNvSpPr txBox="1"/>
          <p:nvPr/>
        </p:nvSpPr>
        <p:spPr>
          <a:xfrm>
            <a:off x="1874519" y="2441448"/>
            <a:ext cx="9601200" cy="36576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媒体ネイティブ AI が標準装備</a:t>
            </a:r>
          </a:p>
        </p:txBody>
      </p:sp>
      <p:sp>
        <p:nvSpPr>
          <p:cNvPr id="17" name="TextBox 16"/>
          <p:cNvSpPr txBox="1"/>
          <p:nvPr/>
        </p:nvSpPr>
        <p:spPr>
          <a:xfrm>
            <a:off x="1874519" y="2788920"/>
            <a:ext cx="9601200" cy="457200"/>
          </a:xfrm>
          <a:prstGeom prst="rect">
            <a:avLst/>
          </a:prstGeom>
          <a:noFill/>
        </p:spPr>
        <p:txBody>
          <a:bodyPr wrap="square" anchor="t" lIns="0" rIns="0" tIns="0" bIns="0">
            <a:spAutoFit/>
          </a:bodyPr>
          <a:lstStyle/>
          <a:p>
            <a:pPr algn="l">
              <a:lnSpc>
                <a:spcPct val="155000"/>
              </a:lnSpc>
            </a:pPr>
            <a:r>
              <a:rPr sz="1000" b="0">
                <a:solidFill>
                  <a:srgbClr val="1A1A1A"/>
                </a:solidFill>
                <a:latin typeface="Hiragino Sans"/>
                <a:ea typeface="Hiragino Sans"/>
                <a:cs typeface="Hiragino Sans"/>
              </a:rPr>
              <a:t>Advantage+ Creative / Symphony / Gemini in Ads が完備</a:t>
            </a:r>
          </a:p>
          <a:p>
            <a:pPr algn="l">
              <a:lnSpc>
                <a:spcPct val="155000"/>
              </a:lnSpc>
            </a:pPr>
            <a:r>
              <a:rPr sz="1000" b="0">
                <a:solidFill>
                  <a:srgbClr val="1A1A1A"/>
                </a:solidFill>
                <a:latin typeface="Hiragino Sans"/>
                <a:ea typeface="Hiragino Sans"/>
                <a:cs typeface="Hiragino Sans"/>
              </a:rPr>
              <a:t>外部AI生成 + 媒体ネイティブ の2段構成が現代の鉄板</a:t>
            </a:r>
          </a:p>
        </p:txBody>
      </p:sp>
      <p:sp>
        <p:nvSpPr>
          <p:cNvPr id="18" name="Rounded Rectangle 17"/>
          <p:cNvSpPr/>
          <p:nvPr/>
        </p:nvSpPr>
        <p:spPr>
          <a:xfrm>
            <a:off x="548640" y="3291840"/>
            <a:ext cx="11109960" cy="8686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291840"/>
            <a:ext cx="137160" cy="86868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3410712"/>
            <a:ext cx="914400" cy="548640"/>
          </a:xfrm>
          <a:prstGeom prst="rect">
            <a:avLst/>
          </a:prstGeom>
          <a:noFill/>
        </p:spPr>
        <p:txBody>
          <a:bodyPr wrap="square" anchor="t" lIns="0" rIns="0" tIns="0" bIns="0">
            <a:spAutoFit/>
          </a:bodyPr>
          <a:lstStyle/>
          <a:p>
            <a:pPr algn="l">
              <a:lnSpc>
                <a:spcPct val="115000"/>
              </a:lnSpc>
            </a:pPr>
            <a:r>
              <a:rPr sz="2800" b="1">
                <a:solidFill>
                  <a:srgbClr val="E87722"/>
                </a:solidFill>
                <a:latin typeface="Helvetica Neue"/>
                <a:ea typeface="Helvetica Neue"/>
                <a:cs typeface="Helvetica Neue"/>
              </a:rPr>
              <a:t>03</a:t>
            </a:r>
          </a:p>
        </p:txBody>
      </p:sp>
      <p:sp>
        <p:nvSpPr>
          <p:cNvPr id="21" name="TextBox 20"/>
          <p:cNvSpPr txBox="1"/>
          <p:nvPr/>
        </p:nvSpPr>
        <p:spPr>
          <a:xfrm>
            <a:off x="1874519" y="3401568"/>
            <a:ext cx="9601200" cy="36576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副業代行の利益率が劇的改善</a:t>
            </a:r>
          </a:p>
        </p:txBody>
      </p:sp>
      <p:sp>
        <p:nvSpPr>
          <p:cNvPr id="22" name="TextBox 21"/>
          <p:cNvSpPr txBox="1"/>
          <p:nvPr/>
        </p:nvSpPr>
        <p:spPr>
          <a:xfrm>
            <a:off x="1874519" y="3749040"/>
            <a:ext cx="9601200" cy="457200"/>
          </a:xfrm>
          <a:prstGeom prst="rect">
            <a:avLst/>
          </a:prstGeom>
          <a:noFill/>
        </p:spPr>
        <p:txBody>
          <a:bodyPr wrap="square" anchor="t" lIns="0" rIns="0" tIns="0" bIns="0">
            <a:spAutoFit/>
          </a:bodyPr>
          <a:lstStyle/>
          <a:p>
            <a:pPr algn="l">
              <a:lnSpc>
                <a:spcPct val="155000"/>
              </a:lnSpc>
            </a:pPr>
            <a:r>
              <a:rPr sz="1000" b="0">
                <a:solidFill>
                  <a:srgbClr val="1A1A1A"/>
                </a:solidFill>
                <a:latin typeface="Hiragino Sans"/>
                <a:ea typeface="Hiragino Sans"/>
                <a:cs typeface="Hiragino Sans"/>
              </a:rPr>
              <a:t>デザイナー外注の数十万円 → AI 数千円 の置き換えで</a:t>
            </a:r>
          </a:p>
          <a:p>
            <a:pPr algn="l">
              <a:lnSpc>
                <a:spcPct val="155000"/>
              </a:lnSpc>
            </a:pPr>
            <a:r>
              <a:rPr sz="1000" b="0">
                <a:solidFill>
                  <a:srgbClr val="1A1A1A"/>
                </a:solidFill>
                <a:latin typeface="Hiragino Sans"/>
                <a:ea typeface="Hiragino Sans"/>
                <a:cs typeface="Hiragino Sans"/>
              </a:rPr>
              <a:t>1案件あたりの収益性が大きく改善</a:t>
            </a:r>
          </a:p>
        </p:txBody>
      </p:sp>
      <p:sp>
        <p:nvSpPr>
          <p:cNvPr id="23" name="Rounded Rectangle 22"/>
          <p:cNvSpPr/>
          <p:nvPr/>
        </p:nvSpPr>
        <p:spPr>
          <a:xfrm>
            <a:off x="548640" y="4434840"/>
            <a:ext cx="11109960" cy="192024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4572000"/>
            <a:ext cx="10972800" cy="411480"/>
          </a:xfrm>
          <a:prstGeom prst="rect">
            <a:avLst/>
          </a:prstGeom>
          <a:noFill/>
        </p:spPr>
        <p:txBody>
          <a:bodyPr wrap="square" anchor="t" lIns="0" rIns="0" tIns="0" bIns="0">
            <a:spAutoFit/>
          </a:bodyPr>
          <a:lstStyle/>
          <a:p>
            <a:pPr algn="l">
              <a:lnSpc>
                <a:spcPct val="115000"/>
              </a:lnSpc>
            </a:pPr>
            <a:r>
              <a:rPr sz="1800" b="1">
                <a:solidFill>
                  <a:srgbClr val="E87722"/>
                </a:solidFill>
                <a:latin typeface="Helvetica Neue"/>
                <a:ea typeface="Helvetica Neue"/>
                <a:cs typeface="Helvetica Neue"/>
              </a:rPr>
              <a:t>NEXT →  Part 5-B AI 運用・予測・Agent (20p, P186-P205)</a:t>
            </a:r>
          </a:p>
        </p:txBody>
      </p:sp>
      <p:sp>
        <p:nvSpPr>
          <p:cNvPr id="25" name="TextBox 24"/>
          <p:cNvSpPr txBox="1"/>
          <p:nvPr/>
        </p:nvSpPr>
        <p:spPr>
          <a:xfrm>
            <a:off x="777240" y="5029200"/>
            <a:ext cx="10972800" cy="1280160"/>
          </a:xfrm>
          <a:prstGeom prst="rect">
            <a:avLst/>
          </a:prstGeom>
          <a:noFill/>
        </p:spPr>
        <p:txBody>
          <a:bodyPr wrap="square" anchor="t" lIns="0" rIns="0" tIns="0" bIns="0">
            <a:spAutoFit/>
          </a:bodyPr>
          <a:lstStyle/>
          <a:p>
            <a:pPr algn="l">
              <a:lnSpc>
                <a:spcPct val="155000"/>
              </a:lnSpc>
            </a:pPr>
            <a:r>
              <a:rPr sz="1100" b="0">
                <a:solidFill>
                  <a:srgbClr val="FFFFFF"/>
                </a:solidFill>
                <a:latin typeface="Hiragino Sans"/>
                <a:ea typeface="Hiragino Sans"/>
                <a:cs typeface="Hiragino Sans"/>
              </a:rPr>
              <a:t>Part 5-B で扱うトピック :</a:t>
            </a:r>
          </a:p>
          <a:p>
            <a:pPr algn="l">
              <a:lnSpc>
                <a:spcPct val="155000"/>
              </a:lnSpc>
            </a:pPr>
            <a:r>
              <a:rPr sz="1100" b="0">
                <a:solidFill>
                  <a:srgbClr val="FFFFFF"/>
                </a:solidFill>
                <a:latin typeface="Hiragino Sans"/>
                <a:ea typeface="Hiragino Sans"/>
                <a:cs typeface="Hiragino Sans"/>
              </a:rPr>
              <a:t>• 運用自動化 (Smart Bidding / Advantage+ / Smart+)</a:t>
            </a:r>
          </a:p>
          <a:p>
            <a:pPr algn="l">
              <a:lnSpc>
                <a:spcPct val="155000"/>
              </a:lnSpc>
            </a:pPr>
            <a:r>
              <a:rPr sz="1100" b="0">
                <a:solidFill>
                  <a:srgbClr val="FFFFFF"/>
                </a:solidFill>
                <a:latin typeface="Hiragino Sans"/>
                <a:ea typeface="Hiragino Sans"/>
                <a:cs typeface="Hiragino Sans"/>
              </a:rPr>
              <a:t>• 外部運用ツール (Skai / Marin / Optmyzr)</a:t>
            </a:r>
          </a:p>
          <a:p>
            <a:pPr algn="l">
              <a:lnSpc>
                <a:spcPct val="155000"/>
              </a:lnSpc>
            </a:pPr>
            <a:r>
              <a:rPr sz="1100" b="0">
                <a:solidFill>
                  <a:srgbClr val="FFFFFF"/>
                </a:solidFill>
                <a:latin typeface="Hiragino Sans"/>
                <a:ea typeface="Hiragino Sans"/>
                <a:cs typeface="Hiragino Sans"/>
              </a:rPr>
              <a:t>• 予測・分析 (LTV / Predictive Audiences / Vidmob)</a:t>
            </a:r>
          </a:p>
          <a:p>
            <a:pPr algn="l">
              <a:lnSpc>
                <a:spcPct val="155000"/>
              </a:lnSpc>
            </a:pPr>
            <a:r>
              <a:rPr sz="1100" b="0">
                <a:solidFill>
                  <a:srgbClr val="FFFFFF"/>
                </a:solidFill>
                <a:latin typeface="Hiragino Sans"/>
                <a:ea typeface="Hiragino Sans"/>
                <a:cs typeface="Hiragino Sans"/>
              </a:rPr>
              <a:t>• 🔥 Agent型広告運用 (Claude Computer Use / OpenAI Operator / Copilot)</a:t>
            </a:r>
          </a:p>
          <a:p>
            <a:pPr algn="l">
              <a:lnSpc>
                <a:spcPct val="155000"/>
              </a:lnSpc>
            </a:pPr>
            <a:r>
              <a:rPr sz="1100" b="0">
                <a:solidFill>
                  <a:srgbClr val="FFFFFF"/>
                </a:solidFill>
                <a:latin typeface="Hiragino Sans"/>
                <a:ea typeface="Hiragino Sans"/>
                <a:cs typeface="Hiragino Sans"/>
              </a:rPr>
              <a:t>• 副業運用者向けプロンプトテンプレ集 (5本)</a:t>
            </a:r>
          </a:p>
        </p:txBody>
      </p:sp>
      <p:sp>
        <p:nvSpPr>
          <p:cNvPr id="26" name="TextBox 25"/>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914400"/>
            <a:ext cx="137160" cy="493776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914400"/>
            <a:ext cx="7315200" cy="365760"/>
          </a:xfrm>
          <a:prstGeom prst="rect">
            <a:avLst/>
          </a:prstGeom>
          <a:noFill/>
        </p:spPr>
        <p:txBody>
          <a:bodyPr wrap="square" anchor="t" lIns="0" rIns="0" tIns="0" bIns="0">
            <a:spAutoFit/>
          </a:bodyPr>
          <a:lstStyle/>
          <a:p>
            <a:pPr algn="l">
              <a:lnSpc>
                <a:spcPct val="115000"/>
              </a:lnSpc>
            </a:pPr>
            <a:r>
              <a:rPr sz="1200" b="1">
                <a:solidFill>
                  <a:srgbClr val="E87722"/>
                </a:solidFill>
                <a:latin typeface="Helvetica Neue"/>
                <a:ea typeface="Helvetica Neue"/>
                <a:cs typeface="Helvetica Neue"/>
              </a:rPr>
              <a:t>PART 5 / AI活用事例集 — 後半</a:t>
            </a:r>
          </a:p>
        </p:txBody>
      </p:sp>
      <p:sp>
        <p:nvSpPr>
          <p:cNvPr id="5" name="TextBox 4"/>
          <p:cNvSpPr txBox="1"/>
          <p:nvPr/>
        </p:nvSpPr>
        <p:spPr>
          <a:xfrm>
            <a:off x="1097280" y="1280160"/>
            <a:ext cx="7315200" cy="365760"/>
          </a:xfrm>
          <a:prstGeom prst="rect">
            <a:avLst/>
          </a:prstGeom>
          <a:noFill/>
        </p:spPr>
        <p:txBody>
          <a:bodyPr wrap="square" anchor="t" lIns="0" rIns="0" tIns="0" bIns="0">
            <a:spAutoFit/>
          </a:bodyPr>
          <a:lstStyle/>
          <a:p>
            <a:pPr algn="l">
              <a:lnSpc>
                <a:spcPct val="115000"/>
              </a:lnSpc>
            </a:pPr>
            <a:r>
              <a:rPr sz="1400" b="1">
                <a:solidFill>
                  <a:srgbClr val="D7DDE8"/>
                </a:solidFill>
                <a:latin typeface="Hiragino Sans"/>
                <a:ea typeface="Hiragino Sans"/>
                <a:cs typeface="Hiragino Sans"/>
              </a:rPr>
              <a:t>運用自動化 + 予測 + Agent型</a:t>
            </a:r>
          </a:p>
        </p:txBody>
      </p:sp>
      <p:sp>
        <p:nvSpPr>
          <p:cNvPr id="6" name="TextBox 5"/>
          <p:cNvSpPr txBox="1"/>
          <p:nvPr/>
        </p:nvSpPr>
        <p:spPr>
          <a:xfrm>
            <a:off x="1097280" y="1691640"/>
            <a:ext cx="10058400" cy="1188720"/>
          </a:xfrm>
          <a:prstGeom prst="rect">
            <a:avLst/>
          </a:prstGeom>
          <a:noFill/>
        </p:spPr>
        <p:txBody>
          <a:bodyPr wrap="square" anchor="t" lIns="0" rIns="0" tIns="0" bIns="0">
            <a:spAutoFit/>
          </a:bodyPr>
          <a:lstStyle/>
          <a:p>
            <a:pPr algn="l">
              <a:lnSpc>
                <a:spcPct val="110000"/>
              </a:lnSpc>
            </a:pPr>
            <a:r>
              <a:rPr sz="4600" b="1">
                <a:solidFill>
                  <a:srgbClr val="FFFFFF"/>
                </a:solidFill>
                <a:latin typeface="Hiragino Sans"/>
                <a:ea typeface="Hiragino Sans"/>
                <a:cs typeface="Hiragino Sans"/>
              </a:rPr>
              <a:t>AI で運用を加速する</a:t>
            </a:r>
          </a:p>
        </p:txBody>
      </p:sp>
      <p:sp>
        <p:nvSpPr>
          <p:cNvPr id="7" name="TextBox 6"/>
          <p:cNvSpPr txBox="1"/>
          <p:nvPr/>
        </p:nvSpPr>
        <p:spPr>
          <a:xfrm>
            <a:off x="1097280" y="3017520"/>
            <a:ext cx="10058400" cy="365760"/>
          </a:xfrm>
          <a:prstGeom prst="rect">
            <a:avLst/>
          </a:prstGeom>
          <a:noFill/>
        </p:spPr>
        <p:txBody>
          <a:bodyPr wrap="square" anchor="t" lIns="0" rIns="0" tIns="0" bIns="0">
            <a:spAutoFit/>
          </a:bodyPr>
          <a:lstStyle/>
          <a:p>
            <a:pPr algn="l">
              <a:lnSpc>
                <a:spcPct val="115000"/>
              </a:lnSpc>
            </a:pPr>
            <a:r>
              <a:rPr sz="1500" b="0">
                <a:solidFill>
                  <a:srgbClr val="D7DDE8"/>
                </a:solidFill>
                <a:latin typeface="Hiragino Sans"/>
                <a:ea typeface="Hiragino Sans"/>
                <a:cs typeface="Hiragino Sans"/>
              </a:rPr>
              <a:t>Smart Bidding 進化 + Andromeda + Smart+ + Agent型 + プロンプトテンプレ集</a:t>
            </a:r>
          </a:p>
        </p:txBody>
      </p:sp>
      <p:sp>
        <p:nvSpPr>
          <p:cNvPr id="8" name="Rounded Rectangle 7"/>
          <p:cNvSpPr/>
          <p:nvPr/>
        </p:nvSpPr>
        <p:spPr>
          <a:xfrm>
            <a:off x="9875520" y="914400"/>
            <a:ext cx="1828800" cy="640080"/>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1078992"/>
            <a:ext cx="1828800" cy="457200"/>
          </a:xfrm>
          <a:prstGeom prst="rect">
            <a:avLst/>
          </a:prstGeom>
          <a:noFill/>
        </p:spPr>
        <p:txBody>
          <a:bodyPr wrap="square" anchor="t" lIns="0" rIns="0" tIns="0" bIns="0">
            <a:spAutoFit/>
          </a:bodyPr>
          <a:lstStyle/>
          <a:p>
            <a:pPr algn="ctr">
              <a:lnSpc>
                <a:spcPct val="115000"/>
              </a:lnSpc>
            </a:pPr>
            <a:r>
              <a:rPr sz="1800" b="1">
                <a:solidFill>
                  <a:srgbClr val="FFFFFF"/>
                </a:solidFill>
                <a:latin typeface="Helvetica Neue"/>
                <a:ea typeface="Helvetica Neue"/>
                <a:cs typeface="Helvetica Neue"/>
              </a:rPr>
              <a:t>20p</a:t>
            </a:r>
          </a:p>
        </p:txBody>
      </p:sp>
      <p:sp>
        <p:nvSpPr>
          <p:cNvPr id="10" name="Rectangle 9"/>
          <p:cNvSpPr/>
          <p:nvPr/>
        </p:nvSpPr>
        <p:spPr>
          <a:xfrm>
            <a:off x="1097280" y="3657600"/>
            <a:ext cx="914400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840480"/>
            <a:ext cx="10058400" cy="1097280"/>
          </a:xfrm>
          <a:prstGeom prst="rect">
            <a:avLst/>
          </a:prstGeom>
          <a:noFill/>
        </p:spPr>
        <p:txBody>
          <a:bodyPr wrap="square" anchor="t" lIns="0" rIns="0" tIns="0" bIns="0">
            <a:spAutoFit/>
          </a:bodyPr>
          <a:lstStyle/>
          <a:p>
            <a:pPr algn="l">
              <a:lnSpc>
                <a:spcPct val="150000"/>
              </a:lnSpc>
            </a:pPr>
            <a:r>
              <a:rPr sz="1300" b="0">
                <a:solidFill>
                  <a:srgbClr val="D7DDE8"/>
                </a:solidFill>
                <a:latin typeface="Hiragino Sans"/>
                <a:ea typeface="Hiragino Sans"/>
                <a:cs typeface="Hiragino Sans"/>
              </a:rPr>
              <a:t>媒体内AI運用 (Smart Bidding / Advantage+ / Smart+) を理解し、外部運用ツールで補強。</a:t>
            </a:r>
          </a:p>
          <a:p>
            <a:pPr algn="l">
              <a:lnSpc>
                <a:spcPct val="150000"/>
              </a:lnSpc>
            </a:pPr>
            <a:r>
              <a:rPr sz="1300" b="0">
                <a:solidFill>
                  <a:srgbClr val="D7DDE8"/>
                </a:solidFill>
                <a:latin typeface="Hiragino Sans"/>
                <a:ea typeface="Hiragino Sans"/>
                <a:cs typeface="Hiragino Sans"/>
              </a:rPr>
              <a:t>予測モデル (LTV / Audience) で意思決定を前倒し、Agent型広告運用で運用工数を圧縮。</a:t>
            </a:r>
          </a:p>
          <a:p>
            <a:pPr algn="l">
              <a:lnSpc>
                <a:spcPct val="150000"/>
              </a:lnSpc>
            </a:pPr>
            <a:r>
              <a:rPr sz="1300" b="0">
                <a:solidFill>
                  <a:srgbClr val="D7DDE8"/>
                </a:solidFill>
                <a:latin typeface="Hiragino Sans"/>
                <a:ea typeface="Hiragino Sans"/>
                <a:cs typeface="Hiragino Sans"/>
              </a:rPr>
              <a:t>プロンプトテンプレで日次の業務を仕組み化</a:t>
            </a:r>
          </a:p>
        </p:txBody>
      </p:sp>
      <p:sp>
        <p:nvSpPr>
          <p:cNvPr id="12" name="TextBox 11"/>
          <p:cNvSpPr txBox="1"/>
          <p:nvPr/>
        </p:nvSpPr>
        <p:spPr>
          <a:xfrm>
            <a:off x="1097280" y="5120640"/>
            <a:ext cx="7315200" cy="320040"/>
          </a:xfrm>
          <a:prstGeom prst="rect">
            <a:avLst/>
          </a:prstGeom>
          <a:noFill/>
        </p:spPr>
        <p:txBody>
          <a:bodyPr wrap="square" anchor="t" lIns="0" rIns="0" tIns="0" bIns="0">
            <a:spAutoFit/>
          </a:bodyPr>
          <a:lstStyle/>
          <a:p>
            <a:pPr algn="l">
              <a:lnSpc>
                <a:spcPct val="115000"/>
              </a:lnSpc>
            </a:pPr>
            <a:r>
              <a:rPr sz="1200" b="1">
                <a:solidFill>
                  <a:srgbClr val="E87722"/>
                </a:solidFill>
                <a:latin typeface="Hiragino Sans"/>
                <a:ea typeface="Hiragino Sans"/>
                <a:cs typeface="Hiragino Sans"/>
              </a:rPr>
              <a:t>▸ 章内の主要トピック</a:t>
            </a:r>
          </a:p>
        </p:txBody>
      </p:sp>
      <p:sp>
        <p:nvSpPr>
          <p:cNvPr id="13" name="TextBox 12"/>
          <p:cNvSpPr txBox="1"/>
          <p:nvPr/>
        </p:nvSpPr>
        <p:spPr>
          <a:xfrm>
            <a:off x="1097280" y="5440680"/>
            <a:ext cx="3383280" cy="274320"/>
          </a:xfrm>
          <a:prstGeom prst="rect">
            <a:avLst/>
          </a:prstGeom>
          <a:noFill/>
        </p:spPr>
        <p:txBody>
          <a:bodyPr wrap="square" anchor="t" lIns="0" rIns="0" tIns="0" bIns="0">
            <a:spAutoFit/>
          </a:bodyPr>
          <a:lstStyle/>
          <a:p>
            <a:pPr algn="l">
              <a:lnSpc>
                <a:spcPct val="115000"/>
              </a:lnSpc>
            </a:pPr>
            <a:r>
              <a:rPr sz="1000" b="0">
                <a:solidFill>
                  <a:srgbClr val="FFFFFF"/>
                </a:solidFill>
                <a:latin typeface="Hiragino Sans"/>
                <a:ea typeface="Hiragino Sans"/>
                <a:cs typeface="Hiragino Sans"/>
              </a:rPr>
              <a:t>• AI 運用 TL;DR</a:t>
            </a:r>
          </a:p>
        </p:txBody>
      </p:sp>
      <p:sp>
        <p:nvSpPr>
          <p:cNvPr id="14" name="TextBox 13"/>
          <p:cNvSpPr txBox="1"/>
          <p:nvPr/>
        </p:nvSpPr>
        <p:spPr>
          <a:xfrm>
            <a:off x="1097280" y="5715000"/>
            <a:ext cx="3383280" cy="274320"/>
          </a:xfrm>
          <a:prstGeom prst="rect">
            <a:avLst/>
          </a:prstGeom>
          <a:noFill/>
        </p:spPr>
        <p:txBody>
          <a:bodyPr wrap="square" anchor="t" lIns="0" rIns="0" tIns="0" bIns="0">
            <a:spAutoFit/>
          </a:bodyPr>
          <a:lstStyle/>
          <a:p>
            <a:pPr algn="l">
              <a:lnSpc>
                <a:spcPct val="115000"/>
              </a:lnSpc>
            </a:pPr>
            <a:r>
              <a:rPr sz="1000" b="0">
                <a:solidFill>
                  <a:srgbClr val="FFFFFF"/>
                </a:solidFill>
                <a:latin typeface="Hiragino Sans"/>
                <a:ea typeface="Hiragino Sans"/>
                <a:cs typeface="Hiragino Sans"/>
              </a:rPr>
              <a:t>• Smart Bidding 進化</a:t>
            </a:r>
          </a:p>
        </p:txBody>
      </p:sp>
      <p:sp>
        <p:nvSpPr>
          <p:cNvPr id="15" name="TextBox 14"/>
          <p:cNvSpPr txBox="1"/>
          <p:nvPr/>
        </p:nvSpPr>
        <p:spPr>
          <a:xfrm>
            <a:off x="1097280" y="5989320"/>
            <a:ext cx="3383280" cy="274320"/>
          </a:xfrm>
          <a:prstGeom prst="rect">
            <a:avLst/>
          </a:prstGeom>
          <a:noFill/>
        </p:spPr>
        <p:txBody>
          <a:bodyPr wrap="square" anchor="t" lIns="0" rIns="0" tIns="0" bIns="0">
            <a:spAutoFit/>
          </a:bodyPr>
          <a:lstStyle/>
          <a:p>
            <a:pPr algn="l">
              <a:lnSpc>
                <a:spcPct val="115000"/>
              </a:lnSpc>
            </a:pPr>
            <a:r>
              <a:rPr sz="1000" b="0">
                <a:solidFill>
                  <a:srgbClr val="FFFFFF"/>
                </a:solidFill>
                <a:latin typeface="Hiragino Sans"/>
                <a:ea typeface="Hiragino Sans"/>
                <a:cs typeface="Hiragino Sans"/>
              </a:rPr>
              <a:t>• Andromeda + Lattice</a:t>
            </a:r>
          </a:p>
        </p:txBody>
      </p:sp>
      <p:sp>
        <p:nvSpPr>
          <p:cNvPr id="16" name="TextBox 15"/>
          <p:cNvSpPr txBox="1"/>
          <p:nvPr/>
        </p:nvSpPr>
        <p:spPr>
          <a:xfrm>
            <a:off x="1097280" y="6263640"/>
            <a:ext cx="3383280" cy="274320"/>
          </a:xfrm>
          <a:prstGeom prst="rect">
            <a:avLst/>
          </a:prstGeom>
          <a:noFill/>
        </p:spPr>
        <p:txBody>
          <a:bodyPr wrap="square" anchor="t" lIns="0" rIns="0" tIns="0" bIns="0">
            <a:spAutoFit/>
          </a:bodyPr>
          <a:lstStyle/>
          <a:p>
            <a:pPr algn="l">
              <a:lnSpc>
                <a:spcPct val="115000"/>
              </a:lnSpc>
            </a:pPr>
            <a:r>
              <a:rPr sz="1000" b="0">
                <a:solidFill>
                  <a:srgbClr val="FFFFFF"/>
                </a:solidFill>
                <a:latin typeface="Hiragino Sans"/>
                <a:ea typeface="Hiragino Sans"/>
                <a:cs typeface="Hiragino Sans"/>
              </a:rPr>
              <a:t>• Smart+ + Symphony</a:t>
            </a:r>
          </a:p>
        </p:txBody>
      </p:sp>
      <p:sp>
        <p:nvSpPr>
          <p:cNvPr id="17" name="TextBox 16"/>
          <p:cNvSpPr txBox="1"/>
          <p:nvPr/>
        </p:nvSpPr>
        <p:spPr>
          <a:xfrm>
            <a:off x="1097280" y="6537960"/>
            <a:ext cx="3383280" cy="274320"/>
          </a:xfrm>
          <a:prstGeom prst="rect">
            <a:avLst/>
          </a:prstGeom>
          <a:noFill/>
        </p:spPr>
        <p:txBody>
          <a:bodyPr wrap="square" anchor="t" lIns="0" rIns="0" tIns="0" bIns="0">
            <a:spAutoFit/>
          </a:bodyPr>
          <a:lstStyle/>
          <a:p>
            <a:pPr algn="l">
              <a:lnSpc>
                <a:spcPct val="115000"/>
              </a:lnSpc>
            </a:pPr>
            <a:r>
              <a:rPr sz="1000" b="0">
                <a:solidFill>
                  <a:srgbClr val="FFFFFF"/>
                </a:solidFill>
                <a:latin typeface="Hiragino Sans"/>
                <a:ea typeface="Hiragino Sans"/>
                <a:cs typeface="Hiragino Sans"/>
              </a:rPr>
              <a:t>• 外部運用ツール</a:t>
            </a:r>
          </a:p>
        </p:txBody>
      </p:sp>
      <p:sp>
        <p:nvSpPr>
          <p:cNvPr id="18" name="TextBox 17"/>
          <p:cNvSpPr txBox="1"/>
          <p:nvPr/>
        </p:nvSpPr>
        <p:spPr>
          <a:xfrm>
            <a:off x="4572000" y="5440680"/>
            <a:ext cx="3383280" cy="274320"/>
          </a:xfrm>
          <a:prstGeom prst="rect">
            <a:avLst/>
          </a:prstGeom>
          <a:noFill/>
        </p:spPr>
        <p:txBody>
          <a:bodyPr wrap="square" anchor="t" lIns="0" rIns="0" tIns="0" bIns="0">
            <a:spAutoFit/>
          </a:bodyPr>
          <a:lstStyle/>
          <a:p>
            <a:pPr algn="l">
              <a:lnSpc>
                <a:spcPct val="115000"/>
              </a:lnSpc>
            </a:pPr>
            <a:r>
              <a:rPr sz="1000" b="0">
                <a:solidFill>
                  <a:srgbClr val="FFFFFF"/>
                </a:solidFill>
                <a:latin typeface="Hiragino Sans"/>
                <a:ea typeface="Hiragino Sans"/>
                <a:cs typeface="Hiragino Sans"/>
              </a:rPr>
              <a:t>• 予測LTV / Audiences</a:t>
            </a:r>
          </a:p>
        </p:txBody>
      </p:sp>
      <p:sp>
        <p:nvSpPr>
          <p:cNvPr id="19" name="TextBox 18"/>
          <p:cNvSpPr txBox="1"/>
          <p:nvPr/>
        </p:nvSpPr>
        <p:spPr>
          <a:xfrm>
            <a:off x="4572000" y="5715000"/>
            <a:ext cx="3383280" cy="274320"/>
          </a:xfrm>
          <a:prstGeom prst="rect">
            <a:avLst/>
          </a:prstGeom>
          <a:noFill/>
        </p:spPr>
        <p:txBody>
          <a:bodyPr wrap="square" anchor="t" lIns="0" rIns="0" tIns="0" bIns="0">
            <a:spAutoFit/>
          </a:bodyPr>
          <a:lstStyle/>
          <a:p>
            <a:pPr algn="l">
              <a:lnSpc>
                <a:spcPct val="115000"/>
              </a:lnSpc>
            </a:pPr>
            <a:r>
              <a:rPr sz="1000" b="0">
                <a:solidFill>
                  <a:srgbClr val="FFFFFF"/>
                </a:solidFill>
                <a:latin typeface="Hiragino Sans"/>
                <a:ea typeface="Hiragino Sans"/>
                <a:cs typeface="Hiragino Sans"/>
              </a:rPr>
              <a:t>• クリエイティブ予測</a:t>
            </a:r>
          </a:p>
        </p:txBody>
      </p:sp>
      <p:sp>
        <p:nvSpPr>
          <p:cNvPr id="20" name="TextBox 19"/>
          <p:cNvSpPr txBox="1"/>
          <p:nvPr/>
        </p:nvSpPr>
        <p:spPr>
          <a:xfrm>
            <a:off x="4572000" y="5989320"/>
            <a:ext cx="3383280" cy="274320"/>
          </a:xfrm>
          <a:prstGeom prst="rect">
            <a:avLst/>
          </a:prstGeom>
          <a:noFill/>
        </p:spPr>
        <p:txBody>
          <a:bodyPr wrap="square" anchor="t" lIns="0" rIns="0" tIns="0" bIns="0">
            <a:spAutoFit/>
          </a:bodyPr>
          <a:lstStyle/>
          <a:p>
            <a:pPr algn="l">
              <a:lnSpc>
                <a:spcPct val="115000"/>
              </a:lnSpc>
            </a:pPr>
            <a:r>
              <a:rPr sz="1000" b="0">
                <a:solidFill>
                  <a:srgbClr val="FFFFFF"/>
                </a:solidFill>
                <a:latin typeface="Hiragino Sans"/>
                <a:ea typeface="Hiragino Sans"/>
                <a:cs typeface="Hiragino Sans"/>
              </a:rPr>
              <a:t>• AI Analytics 統合</a:t>
            </a:r>
          </a:p>
        </p:txBody>
      </p:sp>
      <p:sp>
        <p:nvSpPr>
          <p:cNvPr id="21" name="TextBox 20"/>
          <p:cNvSpPr txBox="1"/>
          <p:nvPr/>
        </p:nvSpPr>
        <p:spPr>
          <a:xfrm>
            <a:off x="4572000" y="6263640"/>
            <a:ext cx="3383280" cy="274320"/>
          </a:xfrm>
          <a:prstGeom prst="rect">
            <a:avLst/>
          </a:prstGeom>
          <a:noFill/>
        </p:spPr>
        <p:txBody>
          <a:bodyPr wrap="square" anchor="t" lIns="0" rIns="0" tIns="0" bIns="0">
            <a:spAutoFit/>
          </a:bodyPr>
          <a:lstStyle/>
          <a:p>
            <a:pPr algn="l">
              <a:lnSpc>
                <a:spcPct val="115000"/>
              </a:lnSpc>
            </a:pPr>
            <a:r>
              <a:rPr sz="1000" b="0">
                <a:solidFill>
                  <a:srgbClr val="FFFFFF"/>
                </a:solidFill>
                <a:latin typeface="Hiragino Sans"/>
                <a:ea typeface="Hiragino Sans"/>
                <a:cs typeface="Hiragino Sans"/>
              </a:rPr>
              <a:t>• 🔥 Agent型運用 概念</a:t>
            </a:r>
          </a:p>
        </p:txBody>
      </p:sp>
      <p:sp>
        <p:nvSpPr>
          <p:cNvPr id="22" name="TextBox 21"/>
          <p:cNvSpPr txBox="1"/>
          <p:nvPr/>
        </p:nvSpPr>
        <p:spPr>
          <a:xfrm>
            <a:off x="4572000" y="6537960"/>
            <a:ext cx="3383280" cy="274320"/>
          </a:xfrm>
          <a:prstGeom prst="rect">
            <a:avLst/>
          </a:prstGeom>
          <a:noFill/>
        </p:spPr>
        <p:txBody>
          <a:bodyPr wrap="square" anchor="t" lIns="0" rIns="0" tIns="0" bIns="0">
            <a:spAutoFit/>
          </a:bodyPr>
          <a:lstStyle/>
          <a:p>
            <a:pPr algn="l">
              <a:lnSpc>
                <a:spcPct val="115000"/>
              </a:lnSpc>
            </a:pPr>
            <a:r>
              <a:rPr sz="1000" b="0">
                <a:solidFill>
                  <a:srgbClr val="FFFFFF"/>
                </a:solidFill>
                <a:latin typeface="Hiragino Sans"/>
                <a:ea typeface="Hiragino Sans"/>
                <a:cs typeface="Hiragino Sans"/>
              </a:rPr>
              <a:t>• Claude Computer Use</a:t>
            </a:r>
          </a:p>
        </p:txBody>
      </p:sp>
      <p:sp>
        <p:nvSpPr>
          <p:cNvPr id="23" name="TextBox 22"/>
          <p:cNvSpPr txBox="1"/>
          <p:nvPr/>
        </p:nvSpPr>
        <p:spPr>
          <a:xfrm>
            <a:off x="8046720" y="5440680"/>
            <a:ext cx="3383280" cy="274320"/>
          </a:xfrm>
          <a:prstGeom prst="rect">
            <a:avLst/>
          </a:prstGeom>
          <a:noFill/>
        </p:spPr>
        <p:txBody>
          <a:bodyPr wrap="square" anchor="t" lIns="0" rIns="0" tIns="0" bIns="0">
            <a:spAutoFit/>
          </a:bodyPr>
          <a:lstStyle/>
          <a:p>
            <a:pPr algn="l">
              <a:lnSpc>
                <a:spcPct val="115000"/>
              </a:lnSpc>
            </a:pPr>
            <a:r>
              <a:rPr sz="1000" b="0">
                <a:solidFill>
                  <a:srgbClr val="FFFFFF"/>
                </a:solidFill>
                <a:latin typeface="Hiragino Sans"/>
                <a:ea typeface="Hiragino Sans"/>
                <a:cs typeface="Hiragino Sans"/>
              </a:rPr>
              <a:t>• OpenAI Operator</a:t>
            </a:r>
          </a:p>
        </p:txBody>
      </p:sp>
      <p:sp>
        <p:nvSpPr>
          <p:cNvPr id="24" name="TextBox 23"/>
          <p:cNvSpPr txBox="1"/>
          <p:nvPr/>
        </p:nvSpPr>
        <p:spPr>
          <a:xfrm>
            <a:off x="8046720" y="5715000"/>
            <a:ext cx="3383280" cy="274320"/>
          </a:xfrm>
          <a:prstGeom prst="rect">
            <a:avLst/>
          </a:prstGeom>
          <a:noFill/>
        </p:spPr>
        <p:txBody>
          <a:bodyPr wrap="square" anchor="t" lIns="0" rIns="0" tIns="0" bIns="0">
            <a:spAutoFit/>
          </a:bodyPr>
          <a:lstStyle/>
          <a:p>
            <a:pPr algn="l">
              <a:lnSpc>
                <a:spcPct val="115000"/>
              </a:lnSpc>
            </a:pPr>
            <a:r>
              <a:rPr sz="1000" b="0">
                <a:solidFill>
                  <a:srgbClr val="FFFFFF"/>
                </a:solidFill>
                <a:latin typeface="Hiragino Sans"/>
                <a:ea typeface="Hiragino Sans"/>
                <a:cs typeface="Hiragino Sans"/>
              </a:rPr>
              <a:t>• Copilot / Gemini</a:t>
            </a:r>
          </a:p>
        </p:txBody>
      </p:sp>
      <p:sp>
        <p:nvSpPr>
          <p:cNvPr id="25" name="TextBox 24"/>
          <p:cNvSpPr txBox="1"/>
          <p:nvPr/>
        </p:nvSpPr>
        <p:spPr>
          <a:xfrm>
            <a:off x="8046720" y="5989320"/>
            <a:ext cx="3383280" cy="274320"/>
          </a:xfrm>
          <a:prstGeom prst="rect">
            <a:avLst/>
          </a:prstGeom>
          <a:noFill/>
        </p:spPr>
        <p:txBody>
          <a:bodyPr wrap="square" anchor="t" lIns="0" rIns="0" tIns="0" bIns="0">
            <a:spAutoFit/>
          </a:bodyPr>
          <a:lstStyle/>
          <a:p>
            <a:pPr algn="l">
              <a:lnSpc>
                <a:spcPct val="115000"/>
              </a:lnSpc>
            </a:pPr>
            <a:r>
              <a:rPr sz="1000" b="0">
                <a:solidFill>
                  <a:srgbClr val="FFFFFF"/>
                </a:solidFill>
                <a:latin typeface="Hiragino Sans"/>
                <a:ea typeface="Hiragino Sans"/>
                <a:cs typeface="Hiragino Sans"/>
              </a:rPr>
              <a:t>• プロンプトテンプレ ×3</a:t>
            </a:r>
          </a:p>
        </p:txBody>
      </p:sp>
      <p:sp>
        <p:nvSpPr>
          <p:cNvPr id="26" name="TextBox 25"/>
          <p:cNvSpPr txBox="1"/>
          <p:nvPr/>
        </p:nvSpPr>
        <p:spPr>
          <a:xfrm>
            <a:off x="8046720" y="6263640"/>
            <a:ext cx="3383280" cy="274320"/>
          </a:xfrm>
          <a:prstGeom prst="rect">
            <a:avLst/>
          </a:prstGeom>
          <a:noFill/>
        </p:spPr>
        <p:txBody>
          <a:bodyPr wrap="square" anchor="t" lIns="0" rIns="0" tIns="0" bIns="0">
            <a:spAutoFit/>
          </a:bodyPr>
          <a:lstStyle/>
          <a:p>
            <a:pPr algn="l">
              <a:lnSpc>
                <a:spcPct val="115000"/>
              </a:lnSpc>
            </a:pPr>
            <a:r>
              <a:rPr sz="1000" b="0">
                <a:solidFill>
                  <a:srgbClr val="FFFFFF"/>
                </a:solidFill>
                <a:latin typeface="Hiragino Sans"/>
                <a:ea typeface="Hiragino Sans"/>
                <a:cs typeface="Hiragino Sans"/>
              </a:rPr>
              <a:t>• AI 1日ワークフロー</a:t>
            </a:r>
          </a:p>
        </p:txBody>
      </p:sp>
      <p:sp>
        <p:nvSpPr>
          <p:cNvPr id="27" name="TextBox 26"/>
          <p:cNvSpPr txBox="1"/>
          <p:nvPr/>
        </p:nvSpPr>
        <p:spPr>
          <a:xfrm>
            <a:off x="8046720" y="6537960"/>
            <a:ext cx="3383280" cy="274320"/>
          </a:xfrm>
          <a:prstGeom prst="rect">
            <a:avLst/>
          </a:prstGeom>
          <a:noFill/>
        </p:spPr>
        <p:txBody>
          <a:bodyPr wrap="square" anchor="t" lIns="0" rIns="0" tIns="0" bIns="0">
            <a:spAutoFit/>
          </a:bodyPr>
          <a:lstStyle/>
          <a:p>
            <a:pPr algn="l">
              <a:lnSpc>
                <a:spcPct val="115000"/>
              </a:lnSpc>
            </a:pPr>
            <a:r>
              <a:rPr sz="1000" b="0">
                <a:solidFill>
                  <a:srgbClr val="FFFFFF"/>
                </a:solidFill>
                <a:latin typeface="Hiragino Sans"/>
                <a:ea typeface="Hiragino Sans"/>
                <a:cs typeface="Hiragino Sans"/>
              </a:rPr>
              <a:t>• Part 5 まとめ</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AI 運用 5つのインパクト (TL;DR)</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現場の運用業務がどう変わったか</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P187 / 250</a:t>
            </a:r>
          </a:p>
        </p:txBody>
      </p:sp>
      <p:sp>
        <p:nvSpPr>
          <p:cNvPr id="8" name="Rounded Rectangle 7"/>
          <p:cNvSpPr/>
          <p:nvPr/>
        </p:nvSpPr>
        <p:spPr>
          <a:xfrm>
            <a:off x="548640" y="1325880"/>
            <a:ext cx="11109960" cy="9601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25880"/>
            <a:ext cx="109728" cy="9601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508760"/>
            <a:ext cx="731520" cy="640080"/>
          </a:xfrm>
          <a:prstGeom prst="rect">
            <a:avLst/>
          </a:prstGeom>
          <a:noFill/>
        </p:spPr>
        <p:txBody>
          <a:bodyPr wrap="square" anchor="t" lIns="0" rIns="0" tIns="0" bIns="0">
            <a:spAutoFit/>
          </a:bodyPr>
          <a:lstStyle/>
          <a:p>
            <a:pPr algn="l">
              <a:lnSpc>
                <a:spcPct val="115000"/>
              </a:lnSpc>
            </a:pPr>
            <a:r>
              <a:rPr sz="3200" b="1">
                <a:solidFill>
                  <a:srgbClr val="E87722"/>
                </a:solidFill>
                <a:latin typeface="Helvetica Neue"/>
                <a:ea typeface="Helvetica Neue"/>
                <a:cs typeface="Helvetica Neue"/>
              </a:rPr>
              <a:t>01</a:t>
            </a:r>
          </a:p>
        </p:txBody>
      </p:sp>
      <p:sp>
        <p:nvSpPr>
          <p:cNvPr id="11" name="TextBox 10"/>
          <p:cNvSpPr txBox="1"/>
          <p:nvPr/>
        </p:nvSpPr>
        <p:spPr>
          <a:xfrm>
            <a:off x="1737360" y="1490472"/>
            <a:ext cx="9601200" cy="365760"/>
          </a:xfrm>
          <a:prstGeom prst="rect">
            <a:avLst/>
          </a:prstGeom>
          <a:noFill/>
        </p:spPr>
        <p:txBody>
          <a:bodyPr wrap="square" anchor="t" lIns="0" rIns="0" tIns="0" bIns="0">
            <a:spAutoFit/>
          </a:bodyPr>
          <a:lstStyle/>
          <a:p>
            <a:pPr algn="l">
              <a:lnSpc>
                <a:spcPct val="115000"/>
              </a:lnSpc>
            </a:pPr>
            <a:r>
              <a:rPr sz="1500" b="1">
                <a:solidFill>
                  <a:srgbClr val="0F2A4F"/>
                </a:solidFill>
                <a:latin typeface="Hiragino Sans"/>
                <a:ea typeface="Hiragino Sans"/>
                <a:cs typeface="Hiragino Sans"/>
              </a:rPr>
              <a:t>媒体内AI (PMax/Advantage+/Smart+) が運用主役に</a:t>
            </a:r>
          </a:p>
        </p:txBody>
      </p:sp>
      <p:sp>
        <p:nvSpPr>
          <p:cNvPr id="12" name="TextBox 11"/>
          <p:cNvSpPr txBox="1"/>
          <p:nvPr/>
        </p:nvSpPr>
        <p:spPr>
          <a:xfrm>
            <a:off x="1737360" y="1828800"/>
            <a:ext cx="9692640" cy="457200"/>
          </a:xfrm>
          <a:prstGeom prst="rect">
            <a:avLst/>
          </a:prstGeom>
          <a:noFill/>
        </p:spPr>
        <p:txBody>
          <a:bodyPr wrap="square" anchor="t" lIns="0" rIns="0" tIns="0" bIns="0">
            <a:spAutoFit/>
          </a:bodyPr>
          <a:lstStyle/>
          <a:p>
            <a:pPr algn="l">
              <a:lnSpc>
                <a:spcPct val="150000"/>
              </a:lnSpc>
            </a:pPr>
            <a:r>
              <a:rPr sz="1000" b="0">
                <a:solidFill>
                  <a:srgbClr val="1A1A1A"/>
                </a:solidFill>
                <a:latin typeface="Hiragino Sans"/>
                <a:ea typeface="Hiragino Sans"/>
                <a:cs typeface="Hiragino Sans"/>
              </a:rPr>
              <a:t>アカウント構造設計 → AIに任せる → 検証 のサイクル。</a:t>
            </a:r>
          </a:p>
          <a:p>
            <a:pPr algn="l">
              <a:lnSpc>
                <a:spcPct val="150000"/>
              </a:lnSpc>
            </a:pPr>
            <a:r>
              <a:rPr sz="1000" b="0">
                <a:solidFill>
                  <a:srgbClr val="1A1A1A"/>
                </a:solidFill>
                <a:latin typeface="Hiragino Sans"/>
                <a:ea typeface="Hiragino Sans"/>
                <a:cs typeface="Hiragino Sans"/>
              </a:rPr>
              <a:t>手動入札・キーワード細分化の時代は終わり、運用者の仕事は『AIを導く』へ</a:t>
            </a:r>
          </a:p>
        </p:txBody>
      </p:sp>
      <p:sp>
        <p:nvSpPr>
          <p:cNvPr id="13" name="Rounded Rectangle 12"/>
          <p:cNvSpPr/>
          <p:nvPr/>
        </p:nvSpPr>
        <p:spPr>
          <a:xfrm>
            <a:off x="548640" y="2313432"/>
            <a:ext cx="11109960" cy="9601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2313432"/>
            <a:ext cx="109728" cy="9601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2496312"/>
            <a:ext cx="731520" cy="640080"/>
          </a:xfrm>
          <a:prstGeom prst="rect">
            <a:avLst/>
          </a:prstGeom>
          <a:noFill/>
        </p:spPr>
        <p:txBody>
          <a:bodyPr wrap="square" anchor="t" lIns="0" rIns="0" tIns="0" bIns="0">
            <a:spAutoFit/>
          </a:bodyPr>
          <a:lstStyle/>
          <a:p>
            <a:pPr algn="l">
              <a:lnSpc>
                <a:spcPct val="115000"/>
              </a:lnSpc>
            </a:pPr>
            <a:r>
              <a:rPr sz="3200" b="1">
                <a:solidFill>
                  <a:srgbClr val="E87722"/>
                </a:solidFill>
                <a:latin typeface="Helvetica Neue"/>
                <a:ea typeface="Helvetica Neue"/>
                <a:cs typeface="Helvetica Neue"/>
              </a:rPr>
              <a:t>02</a:t>
            </a:r>
          </a:p>
        </p:txBody>
      </p:sp>
      <p:sp>
        <p:nvSpPr>
          <p:cNvPr id="16" name="TextBox 15"/>
          <p:cNvSpPr txBox="1"/>
          <p:nvPr/>
        </p:nvSpPr>
        <p:spPr>
          <a:xfrm>
            <a:off x="1737360" y="2478024"/>
            <a:ext cx="9601200" cy="365760"/>
          </a:xfrm>
          <a:prstGeom prst="rect">
            <a:avLst/>
          </a:prstGeom>
          <a:noFill/>
        </p:spPr>
        <p:txBody>
          <a:bodyPr wrap="square" anchor="t" lIns="0" rIns="0" tIns="0" bIns="0">
            <a:spAutoFit/>
          </a:bodyPr>
          <a:lstStyle/>
          <a:p>
            <a:pPr algn="l">
              <a:lnSpc>
                <a:spcPct val="115000"/>
              </a:lnSpc>
            </a:pPr>
            <a:r>
              <a:rPr sz="1500" b="1">
                <a:solidFill>
                  <a:srgbClr val="0F2A4F"/>
                </a:solidFill>
                <a:latin typeface="Hiragino Sans"/>
                <a:ea typeface="Hiragino Sans"/>
                <a:cs typeface="Hiragino Sans"/>
              </a:rPr>
              <a:t>外部運用ツールが省人化を加速</a:t>
            </a:r>
          </a:p>
        </p:txBody>
      </p:sp>
      <p:sp>
        <p:nvSpPr>
          <p:cNvPr id="17" name="TextBox 16"/>
          <p:cNvSpPr txBox="1"/>
          <p:nvPr/>
        </p:nvSpPr>
        <p:spPr>
          <a:xfrm>
            <a:off x="1737360" y="2816352"/>
            <a:ext cx="9692640" cy="457200"/>
          </a:xfrm>
          <a:prstGeom prst="rect">
            <a:avLst/>
          </a:prstGeom>
          <a:noFill/>
        </p:spPr>
        <p:txBody>
          <a:bodyPr wrap="square" anchor="t" lIns="0" rIns="0" tIns="0" bIns="0">
            <a:spAutoFit/>
          </a:bodyPr>
          <a:lstStyle/>
          <a:p>
            <a:pPr algn="l">
              <a:lnSpc>
                <a:spcPct val="150000"/>
              </a:lnSpc>
            </a:pPr>
            <a:r>
              <a:rPr sz="1000" b="0">
                <a:solidFill>
                  <a:srgbClr val="1A1A1A"/>
                </a:solidFill>
                <a:latin typeface="Hiragino Sans"/>
                <a:ea typeface="Hiragino Sans"/>
                <a:cs typeface="Hiragino Sans"/>
              </a:rPr>
              <a:t>Skai / Marin / Optmyzr で複数媒体を一元管理。</a:t>
            </a:r>
          </a:p>
          <a:p>
            <a:pPr algn="l">
              <a:lnSpc>
                <a:spcPct val="150000"/>
              </a:lnSpc>
            </a:pPr>
            <a:r>
              <a:rPr sz="1000" b="0">
                <a:solidFill>
                  <a:srgbClr val="1A1A1A"/>
                </a:solidFill>
                <a:latin typeface="Hiragino Sans"/>
                <a:ea typeface="Hiragino Sans"/>
                <a:cs typeface="Hiragino Sans"/>
              </a:rPr>
              <a:t>Negative Keyword 提案 / 予算最適化 / 入札戦略提案を AI が自動化</a:t>
            </a:r>
          </a:p>
        </p:txBody>
      </p:sp>
      <p:sp>
        <p:nvSpPr>
          <p:cNvPr id="18" name="Rounded Rectangle 17"/>
          <p:cNvSpPr/>
          <p:nvPr/>
        </p:nvSpPr>
        <p:spPr>
          <a:xfrm>
            <a:off x="548640" y="3300984"/>
            <a:ext cx="11109960" cy="9601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300984"/>
            <a:ext cx="109728" cy="9601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3483864"/>
            <a:ext cx="731520" cy="640080"/>
          </a:xfrm>
          <a:prstGeom prst="rect">
            <a:avLst/>
          </a:prstGeom>
          <a:noFill/>
        </p:spPr>
        <p:txBody>
          <a:bodyPr wrap="square" anchor="t" lIns="0" rIns="0" tIns="0" bIns="0">
            <a:spAutoFit/>
          </a:bodyPr>
          <a:lstStyle/>
          <a:p>
            <a:pPr algn="l">
              <a:lnSpc>
                <a:spcPct val="115000"/>
              </a:lnSpc>
            </a:pPr>
            <a:r>
              <a:rPr sz="3200" b="1">
                <a:solidFill>
                  <a:srgbClr val="E87722"/>
                </a:solidFill>
                <a:latin typeface="Helvetica Neue"/>
                <a:ea typeface="Helvetica Neue"/>
                <a:cs typeface="Helvetica Neue"/>
              </a:rPr>
              <a:t>03</a:t>
            </a:r>
          </a:p>
        </p:txBody>
      </p:sp>
      <p:sp>
        <p:nvSpPr>
          <p:cNvPr id="21" name="TextBox 20"/>
          <p:cNvSpPr txBox="1"/>
          <p:nvPr/>
        </p:nvSpPr>
        <p:spPr>
          <a:xfrm>
            <a:off x="1737360" y="3465576"/>
            <a:ext cx="9601200" cy="365760"/>
          </a:xfrm>
          <a:prstGeom prst="rect">
            <a:avLst/>
          </a:prstGeom>
          <a:noFill/>
        </p:spPr>
        <p:txBody>
          <a:bodyPr wrap="square" anchor="t" lIns="0" rIns="0" tIns="0" bIns="0">
            <a:spAutoFit/>
          </a:bodyPr>
          <a:lstStyle/>
          <a:p>
            <a:pPr algn="l">
              <a:lnSpc>
                <a:spcPct val="115000"/>
              </a:lnSpc>
            </a:pPr>
            <a:r>
              <a:rPr sz="1500" b="1">
                <a:solidFill>
                  <a:srgbClr val="0F2A4F"/>
                </a:solidFill>
                <a:latin typeface="Hiragino Sans"/>
                <a:ea typeface="Hiragino Sans"/>
                <a:cs typeface="Hiragino Sans"/>
              </a:rPr>
              <a:t>予測モデル (LTV / Predictive Audiences) で前倒し意思決定</a:t>
            </a:r>
          </a:p>
        </p:txBody>
      </p:sp>
      <p:sp>
        <p:nvSpPr>
          <p:cNvPr id="22" name="TextBox 21"/>
          <p:cNvSpPr txBox="1"/>
          <p:nvPr/>
        </p:nvSpPr>
        <p:spPr>
          <a:xfrm>
            <a:off x="1737360" y="3803904"/>
            <a:ext cx="9692640" cy="457200"/>
          </a:xfrm>
          <a:prstGeom prst="rect">
            <a:avLst/>
          </a:prstGeom>
          <a:noFill/>
        </p:spPr>
        <p:txBody>
          <a:bodyPr wrap="square" anchor="t" lIns="0" rIns="0" tIns="0" bIns="0">
            <a:spAutoFit/>
          </a:bodyPr>
          <a:lstStyle/>
          <a:p>
            <a:pPr algn="l">
              <a:lnSpc>
                <a:spcPct val="150000"/>
              </a:lnSpc>
            </a:pPr>
            <a:r>
              <a:rPr sz="1000" b="0">
                <a:solidFill>
                  <a:srgbClr val="1A1A1A"/>
                </a:solidFill>
                <a:latin typeface="Hiragino Sans"/>
                <a:ea typeface="Hiragino Sans"/>
                <a:cs typeface="Hiragino Sans"/>
              </a:rPr>
              <a:t>GA4 Predictive Audiences / Customer Match の LTV重み付けで</a:t>
            </a:r>
          </a:p>
          <a:p>
            <a:pPr algn="l">
              <a:lnSpc>
                <a:spcPct val="150000"/>
              </a:lnSpc>
            </a:pPr>
            <a:r>
              <a:rPr sz="1000" b="0">
                <a:solidFill>
                  <a:srgbClr val="1A1A1A"/>
                </a:solidFill>
                <a:latin typeface="Hiragino Sans"/>
                <a:ea typeface="Hiragino Sans"/>
                <a:cs typeface="Hiragino Sans"/>
              </a:rPr>
              <a:t>『高LTV見込み』を予測 → 配信前から優先ターゲット指定</a:t>
            </a:r>
          </a:p>
        </p:txBody>
      </p:sp>
      <p:sp>
        <p:nvSpPr>
          <p:cNvPr id="23" name="Rounded Rectangle 22"/>
          <p:cNvSpPr/>
          <p:nvPr/>
        </p:nvSpPr>
        <p:spPr>
          <a:xfrm>
            <a:off x="548640" y="4288536"/>
            <a:ext cx="11109960" cy="9601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4288536"/>
            <a:ext cx="109728" cy="9601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 y="4471416"/>
            <a:ext cx="731520" cy="640080"/>
          </a:xfrm>
          <a:prstGeom prst="rect">
            <a:avLst/>
          </a:prstGeom>
          <a:noFill/>
        </p:spPr>
        <p:txBody>
          <a:bodyPr wrap="square" anchor="t" lIns="0" rIns="0" tIns="0" bIns="0">
            <a:spAutoFit/>
          </a:bodyPr>
          <a:lstStyle/>
          <a:p>
            <a:pPr algn="l">
              <a:lnSpc>
                <a:spcPct val="115000"/>
              </a:lnSpc>
            </a:pPr>
            <a:r>
              <a:rPr sz="3200" b="1">
                <a:solidFill>
                  <a:srgbClr val="E87722"/>
                </a:solidFill>
                <a:latin typeface="Helvetica Neue"/>
                <a:ea typeface="Helvetica Neue"/>
                <a:cs typeface="Helvetica Neue"/>
              </a:rPr>
              <a:t>04</a:t>
            </a:r>
          </a:p>
        </p:txBody>
      </p:sp>
      <p:sp>
        <p:nvSpPr>
          <p:cNvPr id="26" name="TextBox 25"/>
          <p:cNvSpPr txBox="1"/>
          <p:nvPr/>
        </p:nvSpPr>
        <p:spPr>
          <a:xfrm>
            <a:off x="1737360" y="4453128"/>
            <a:ext cx="9601200" cy="365760"/>
          </a:xfrm>
          <a:prstGeom prst="rect">
            <a:avLst/>
          </a:prstGeom>
          <a:noFill/>
        </p:spPr>
        <p:txBody>
          <a:bodyPr wrap="square" anchor="t" lIns="0" rIns="0" tIns="0" bIns="0">
            <a:spAutoFit/>
          </a:bodyPr>
          <a:lstStyle/>
          <a:p>
            <a:pPr algn="l">
              <a:lnSpc>
                <a:spcPct val="115000"/>
              </a:lnSpc>
            </a:pPr>
            <a:r>
              <a:rPr sz="1500" b="1">
                <a:solidFill>
                  <a:srgbClr val="0F2A4F"/>
                </a:solidFill>
                <a:latin typeface="Hiragino Sans"/>
                <a:ea typeface="Hiragino Sans"/>
                <a:cs typeface="Hiragino Sans"/>
              </a:rPr>
              <a:t>🔥 Agent型広告運用が登場 (2025-2026)</a:t>
            </a:r>
          </a:p>
        </p:txBody>
      </p:sp>
      <p:sp>
        <p:nvSpPr>
          <p:cNvPr id="27" name="TextBox 26"/>
          <p:cNvSpPr txBox="1"/>
          <p:nvPr/>
        </p:nvSpPr>
        <p:spPr>
          <a:xfrm>
            <a:off x="1737360" y="4791456"/>
            <a:ext cx="9692640" cy="457200"/>
          </a:xfrm>
          <a:prstGeom prst="rect">
            <a:avLst/>
          </a:prstGeom>
          <a:noFill/>
        </p:spPr>
        <p:txBody>
          <a:bodyPr wrap="square" anchor="t" lIns="0" rIns="0" tIns="0" bIns="0">
            <a:spAutoFit/>
          </a:bodyPr>
          <a:lstStyle/>
          <a:p>
            <a:pPr algn="l">
              <a:lnSpc>
                <a:spcPct val="150000"/>
              </a:lnSpc>
            </a:pPr>
            <a:r>
              <a:rPr sz="1000" b="0">
                <a:solidFill>
                  <a:srgbClr val="1A1A1A"/>
                </a:solidFill>
                <a:latin typeface="Hiragino Sans"/>
                <a:ea typeface="Hiragino Sans"/>
                <a:cs typeface="Hiragino Sans"/>
              </a:rPr>
              <a:t>Claude Computer Use / OpenAI Operator / Copilot が</a:t>
            </a:r>
          </a:p>
          <a:p>
            <a:pPr algn="l">
              <a:lnSpc>
                <a:spcPct val="150000"/>
              </a:lnSpc>
            </a:pPr>
            <a:r>
              <a:rPr sz="1000" b="0">
                <a:solidFill>
                  <a:srgbClr val="1A1A1A"/>
                </a:solidFill>
                <a:latin typeface="Hiragino Sans"/>
                <a:ea typeface="Hiragino Sans"/>
                <a:cs typeface="Hiragino Sans"/>
              </a:rPr>
              <a:t>管理画面を直接操作 → ヒューマン承認のチェックポイントだけ残す</a:t>
            </a:r>
          </a:p>
        </p:txBody>
      </p:sp>
      <p:sp>
        <p:nvSpPr>
          <p:cNvPr id="28" name="Rounded Rectangle 27"/>
          <p:cNvSpPr/>
          <p:nvPr/>
        </p:nvSpPr>
        <p:spPr>
          <a:xfrm>
            <a:off x="548640" y="5276088"/>
            <a:ext cx="11109960" cy="9601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5276088"/>
            <a:ext cx="109728" cy="9601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5458968"/>
            <a:ext cx="731520" cy="640080"/>
          </a:xfrm>
          <a:prstGeom prst="rect">
            <a:avLst/>
          </a:prstGeom>
          <a:noFill/>
        </p:spPr>
        <p:txBody>
          <a:bodyPr wrap="square" anchor="t" lIns="0" rIns="0" tIns="0" bIns="0">
            <a:spAutoFit/>
          </a:bodyPr>
          <a:lstStyle/>
          <a:p>
            <a:pPr algn="l">
              <a:lnSpc>
                <a:spcPct val="115000"/>
              </a:lnSpc>
            </a:pPr>
            <a:r>
              <a:rPr sz="3200" b="1">
                <a:solidFill>
                  <a:srgbClr val="E87722"/>
                </a:solidFill>
                <a:latin typeface="Helvetica Neue"/>
                <a:ea typeface="Helvetica Neue"/>
                <a:cs typeface="Helvetica Neue"/>
              </a:rPr>
              <a:t>05</a:t>
            </a:r>
          </a:p>
        </p:txBody>
      </p:sp>
      <p:sp>
        <p:nvSpPr>
          <p:cNvPr id="31" name="TextBox 30"/>
          <p:cNvSpPr txBox="1"/>
          <p:nvPr/>
        </p:nvSpPr>
        <p:spPr>
          <a:xfrm>
            <a:off x="1737360" y="5440680"/>
            <a:ext cx="9601200" cy="365760"/>
          </a:xfrm>
          <a:prstGeom prst="rect">
            <a:avLst/>
          </a:prstGeom>
          <a:noFill/>
        </p:spPr>
        <p:txBody>
          <a:bodyPr wrap="square" anchor="t" lIns="0" rIns="0" tIns="0" bIns="0">
            <a:spAutoFit/>
          </a:bodyPr>
          <a:lstStyle/>
          <a:p>
            <a:pPr algn="l">
              <a:lnSpc>
                <a:spcPct val="115000"/>
              </a:lnSpc>
            </a:pPr>
            <a:r>
              <a:rPr sz="1500" b="1">
                <a:solidFill>
                  <a:srgbClr val="0F2A4F"/>
                </a:solidFill>
                <a:latin typeface="Hiragino Sans"/>
                <a:ea typeface="Hiragino Sans"/>
                <a:cs typeface="Hiragino Sans"/>
              </a:rPr>
              <a:t>副業運用代行は『プロンプト+判断』に集約</a:t>
            </a:r>
          </a:p>
        </p:txBody>
      </p:sp>
      <p:sp>
        <p:nvSpPr>
          <p:cNvPr id="32" name="TextBox 31"/>
          <p:cNvSpPr txBox="1"/>
          <p:nvPr/>
        </p:nvSpPr>
        <p:spPr>
          <a:xfrm>
            <a:off x="1737360" y="5779008"/>
            <a:ext cx="9692640" cy="457200"/>
          </a:xfrm>
          <a:prstGeom prst="rect">
            <a:avLst/>
          </a:prstGeom>
          <a:noFill/>
        </p:spPr>
        <p:txBody>
          <a:bodyPr wrap="square" anchor="t" lIns="0" rIns="0" tIns="0" bIns="0">
            <a:spAutoFit/>
          </a:bodyPr>
          <a:lstStyle/>
          <a:p>
            <a:pPr algn="l">
              <a:lnSpc>
                <a:spcPct val="150000"/>
              </a:lnSpc>
            </a:pPr>
            <a:r>
              <a:rPr sz="1000" b="0">
                <a:solidFill>
                  <a:srgbClr val="1A1A1A"/>
                </a:solidFill>
                <a:latin typeface="Hiragino Sans"/>
                <a:ea typeface="Hiragino Sans"/>
                <a:cs typeface="Hiragino Sans"/>
              </a:rPr>
              <a:t>実装はAIに任せ、戦略・判断・クライアント説明 が人間の主戦場。</a:t>
            </a:r>
          </a:p>
          <a:p>
            <a:pPr algn="l">
              <a:lnSpc>
                <a:spcPct val="150000"/>
              </a:lnSpc>
            </a:pPr>
            <a:r>
              <a:rPr sz="1000" b="0">
                <a:solidFill>
                  <a:srgbClr val="1A1A1A"/>
                </a:solidFill>
                <a:latin typeface="Hiragino Sans"/>
                <a:ea typeface="Hiragino Sans"/>
                <a:cs typeface="Hiragino Sans"/>
              </a:rPr>
              <a:t>1人で月10-20クライアント対応も現実的に</a:t>
            </a:r>
          </a:p>
        </p:txBody>
      </p:sp>
      <p:sp>
        <p:nvSpPr>
          <p:cNvPr id="33" name="TextBox 32"/>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Smart Bidding (Google) の進化</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tCPA/tROAS から Value-based + AI Max まで</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P188 / 250</a:t>
            </a:r>
          </a:p>
        </p:txBody>
      </p:sp>
      <p:sp>
        <p:nvSpPr>
          <p:cNvPr id="8" name="Rounded Rectangle 7"/>
          <p:cNvSpPr/>
          <p:nvPr/>
        </p:nvSpPr>
        <p:spPr>
          <a:xfrm>
            <a:off x="548640" y="1417320"/>
            <a:ext cx="2697480" cy="21031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269748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81912"/>
            <a:ext cx="2423160" cy="365760"/>
          </a:xfrm>
          <a:prstGeom prst="rect">
            <a:avLst/>
          </a:prstGeom>
          <a:noFill/>
        </p:spPr>
        <p:txBody>
          <a:bodyPr wrap="square" anchor="t" lIns="0" rIns="0" tIns="0" bIns="0">
            <a:spAutoFit/>
          </a:bodyPr>
          <a:lstStyle/>
          <a:p>
            <a:pPr algn="ctr">
              <a:lnSpc>
                <a:spcPct val="120000"/>
              </a:lnSpc>
            </a:pPr>
            <a:r>
              <a:rPr sz="1300" b="1">
                <a:solidFill>
                  <a:srgbClr val="E87722"/>
                </a:solidFill>
                <a:latin typeface="Hiragino Sans"/>
                <a:ea typeface="Hiragino Sans"/>
                <a:cs typeface="Hiragino Sans"/>
              </a:rPr>
              <a:t>Maximize Conversions</a:t>
            </a:r>
          </a:p>
        </p:txBody>
      </p:sp>
      <p:sp>
        <p:nvSpPr>
          <p:cNvPr id="11" name="TextBox 10"/>
          <p:cNvSpPr txBox="1"/>
          <p:nvPr/>
        </p:nvSpPr>
        <p:spPr>
          <a:xfrm>
            <a:off x="685800" y="1965960"/>
            <a:ext cx="242316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CV件数最大化</a:t>
            </a:r>
          </a:p>
        </p:txBody>
      </p:sp>
      <p:sp>
        <p:nvSpPr>
          <p:cNvPr id="12" name="TextBox 11"/>
          <p:cNvSpPr txBox="1"/>
          <p:nvPr/>
        </p:nvSpPr>
        <p:spPr>
          <a:xfrm>
            <a:off x="685800" y="2377440"/>
            <a:ext cx="2423160" cy="1051560"/>
          </a:xfrm>
          <a:prstGeom prst="rect">
            <a:avLst/>
          </a:prstGeom>
          <a:noFill/>
        </p:spPr>
        <p:txBody>
          <a:bodyPr wrap="square" anchor="t" lIns="0" rIns="0" tIns="0" bIns="0">
            <a:spAutoFit/>
          </a:bodyPr>
          <a:lstStyle/>
          <a:p>
            <a:pPr algn="ctr">
              <a:lnSpc>
                <a:spcPct val="155000"/>
              </a:lnSpc>
            </a:pPr>
            <a:r>
              <a:rPr sz="1000" b="0">
                <a:solidFill>
                  <a:srgbClr val="1A1A1A"/>
                </a:solidFill>
                <a:latin typeface="Hiragino Sans"/>
                <a:ea typeface="Hiragino Sans"/>
                <a:cs typeface="Hiragino Sans"/>
              </a:rPr>
              <a:t>予算内でCV数最大</a:t>
            </a:r>
          </a:p>
          <a:p>
            <a:pPr algn="ctr">
              <a:lnSpc>
                <a:spcPct val="155000"/>
              </a:lnSpc>
            </a:pPr>
            <a:r>
              <a:rPr sz="1000" b="0">
                <a:solidFill>
                  <a:srgbClr val="1A1A1A"/>
                </a:solidFill>
                <a:latin typeface="Hiragino Sans"/>
                <a:ea typeface="Hiragino Sans"/>
                <a:cs typeface="Hiragino Sans"/>
              </a:rPr>
              <a:t>初期学習に向く</a:t>
            </a:r>
          </a:p>
        </p:txBody>
      </p:sp>
      <p:sp>
        <p:nvSpPr>
          <p:cNvPr id="13" name="Rounded Rectangle 12"/>
          <p:cNvSpPr/>
          <p:nvPr/>
        </p:nvSpPr>
        <p:spPr>
          <a:xfrm>
            <a:off x="3337560" y="1417320"/>
            <a:ext cx="2697480" cy="21031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37560" y="1417320"/>
            <a:ext cx="269748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74720" y="1581912"/>
            <a:ext cx="2423160" cy="365760"/>
          </a:xfrm>
          <a:prstGeom prst="rect">
            <a:avLst/>
          </a:prstGeom>
          <a:noFill/>
        </p:spPr>
        <p:txBody>
          <a:bodyPr wrap="square" anchor="t" lIns="0" rIns="0" tIns="0" bIns="0">
            <a:spAutoFit/>
          </a:bodyPr>
          <a:lstStyle/>
          <a:p>
            <a:pPr algn="ctr">
              <a:lnSpc>
                <a:spcPct val="120000"/>
              </a:lnSpc>
            </a:pPr>
            <a:r>
              <a:rPr sz="1300" b="1">
                <a:solidFill>
                  <a:srgbClr val="E87722"/>
                </a:solidFill>
                <a:latin typeface="Hiragino Sans"/>
                <a:ea typeface="Hiragino Sans"/>
                <a:cs typeface="Hiragino Sans"/>
              </a:rPr>
              <a:t>Target CPA</a:t>
            </a:r>
          </a:p>
        </p:txBody>
      </p:sp>
      <p:sp>
        <p:nvSpPr>
          <p:cNvPr id="16" name="TextBox 15"/>
          <p:cNvSpPr txBox="1"/>
          <p:nvPr/>
        </p:nvSpPr>
        <p:spPr>
          <a:xfrm>
            <a:off x="3474720" y="1965960"/>
            <a:ext cx="242316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目標CPA固定</a:t>
            </a:r>
          </a:p>
        </p:txBody>
      </p:sp>
      <p:sp>
        <p:nvSpPr>
          <p:cNvPr id="17" name="TextBox 16"/>
          <p:cNvSpPr txBox="1"/>
          <p:nvPr/>
        </p:nvSpPr>
        <p:spPr>
          <a:xfrm>
            <a:off x="3474720" y="2377440"/>
            <a:ext cx="2423160" cy="1051560"/>
          </a:xfrm>
          <a:prstGeom prst="rect">
            <a:avLst/>
          </a:prstGeom>
          <a:noFill/>
        </p:spPr>
        <p:txBody>
          <a:bodyPr wrap="square" anchor="t" lIns="0" rIns="0" tIns="0" bIns="0">
            <a:spAutoFit/>
          </a:bodyPr>
          <a:lstStyle/>
          <a:p>
            <a:pPr algn="ctr">
              <a:lnSpc>
                <a:spcPct val="155000"/>
              </a:lnSpc>
            </a:pPr>
            <a:r>
              <a:rPr sz="1000" b="0">
                <a:solidFill>
                  <a:srgbClr val="1A1A1A"/>
                </a:solidFill>
                <a:latin typeface="Hiragino Sans"/>
                <a:ea typeface="Hiragino Sans"/>
                <a:cs typeface="Hiragino Sans"/>
              </a:rPr>
              <a:t>CPA基準で安定運用</a:t>
            </a:r>
          </a:p>
          <a:p>
            <a:pPr algn="ctr">
              <a:lnSpc>
                <a:spcPct val="155000"/>
              </a:lnSpc>
            </a:pPr>
            <a:r>
              <a:rPr sz="1000" b="0">
                <a:solidFill>
                  <a:srgbClr val="1A1A1A"/>
                </a:solidFill>
                <a:latin typeface="Hiragino Sans"/>
                <a:ea typeface="Hiragino Sans"/>
                <a:cs typeface="Hiragino Sans"/>
              </a:rPr>
              <a:t>中堅キャンペーン主流</a:t>
            </a:r>
          </a:p>
        </p:txBody>
      </p:sp>
      <p:sp>
        <p:nvSpPr>
          <p:cNvPr id="18" name="Rounded Rectangle 17"/>
          <p:cNvSpPr/>
          <p:nvPr/>
        </p:nvSpPr>
        <p:spPr>
          <a:xfrm>
            <a:off x="6126480" y="1417320"/>
            <a:ext cx="2697480" cy="21031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0" y="1417320"/>
            <a:ext cx="269748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3640" y="1581912"/>
            <a:ext cx="2423160" cy="365760"/>
          </a:xfrm>
          <a:prstGeom prst="rect">
            <a:avLst/>
          </a:prstGeom>
          <a:noFill/>
        </p:spPr>
        <p:txBody>
          <a:bodyPr wrap="square" anchor="t" lIns="0" rIns="0" tIns="0" bIns="0">
            <a:spAutoFit/>
          </a:bodyPr>
          <a:lstStyle/>
          <a:p>
            <a:pPr algn="ctr">
              <a:lnSpc>
                <a:spcPct val="120000"/>
              </a:lnSpc>
            </a:pPr>
            <a:r>
              <a:rPr sz="1300" b="1">
                <a:solidFill>
                  <a:srgbClr val="E87722"/>
                </a:solidFill>
                <a:latin typeface="Hiragino Sans"/>
                <a:ea typeface="Hiragino Sans"/>
                <a:cs typeface="Hiragino Sans"/>
              </a:rPr>
              <a:t>Maximize Conv. Value</a:t>
            </a:r>
          </a:p>
        </p:txBody>
      </p:sp>
      <p:sp>
        <p:nvSpPr>
          <p:cNvPr id="21" name="TextBox 20"/>
          <p:cNvSpPr txBox="1"/>
          <p:nvPr/>
        </p:nvSpPr>
        <p:spPr>
          <a:xfrm>
            <a:off x="6263640" y="1965960"/>
            <a:ext cx="242316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CV値最大化</a:t>
            </a:r>
          </a:p>
        </p:txBody>
      </p:sp>
      <p:sp>
        <p:nvSpPr>
          <p:cNvPr id="22" name="TextBox 21"/>
          <p:cNvSpPr txBox="1"/>
          <p:nvPr/>
        </p:nvSpPr>
        <p:spPr>
          <a:xfrm>
            <a:off x="6263640" y="2377440"/>
            <a:ext cx="2423160" cy="1051560"/>
          </a:xfrm>
          <a:prstGeom prst="rect">
            <a:avLst/>
          </a:prstGeom>
          <a:noFill/>
        </p:spPr>
        <p:txBody>
          <a:bodyPr wrap="square" anchor="t" lIns="0" rIns="0" tIns="0" bIns="0">
            <a:spAutoFit/>
          </a:bodyPr>
          <a:lstStyle/>
          <a:p>
            <a:pPr algn="ctr">
              <a:lnSpc>
                <a:spcPct val="155000"/>
              </a:lnSpc>
            </a:pPr>
            <a:r>
              <a:rPr sz="1000" b="0">
                <a:solidFill>
                  <a:srgbClr val="1A1A1A"/>
                </a:solidFill>
                <a:latin typeface="Hiragino Sans"/>
                <a:ea typeface="Hiragino Sans"/>
                <a:cs typeface="Hiragino Sans"/>
              </a:rPr>
              <a:t>売上 / LTV 重視</a:t>
            </a:r>
          </a:p>
          <a:p>
            <a:pPr algn="ctr">
              <a:lnSpc>
                <a:spcPct val="155000"/>
              </a:lnSpc>
            </a:pPr>
            <a:r>
              <a:rPr sz="1000" b="0">
                <a:solidFill>
                  <a:srgbClr val="1A1A1A"/>
                </a:solidFill>
                <a:latin typeface="Hiragino Sans"/>
                <a:ea typeface="Hiragino Sans"/>
                <a:cs typeface="Hiragino Sans"/>
              </a:rPr>
              <a:t>VBB前提</a:t>
            </a:r>
          </a:p>
        </p:txBody>
      </p:sp>
      <p:sp>
        <p:nvSpPr>
          <p:cNvPr id="23" name="Rounded Rectangle 22"/>
          <p:cNvSpPr/>
          <p:nvPr/>
        </p:nvSpPr>
        <p:spPr>
          <a:xfrm>
            <a:off x="8915400" y="1417320"/>
            <a:ext cx="2697480" cy="21031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15400" y="1417320"/>
            <a:ext cx="269748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52560" y="1581912"/>
            <a:ext cx="2423160" cy="365760"/>
          </a:xfrm>
          <a:prstGeom prst="rect">
            <a:avLst/>
          </a:prstGeom>
          <a:noFill/>
        </p:spPr>
        <p:txBody>
          <a:bodyPr wrap="square" anchor="t" lIns="0" rIns="0" tIns="0" bIns="0">
            <a:spAutoFit/>
          </a:bodyPr>
          <a:lstStyle/>
          <a:p>
            <a:pPr algn="ctr">
              <a:lnSpc>
                <a:spcPct val="120000"/>
              </a:lnSpc>
            </a:pPr>
            <a:r>
              <a:rPr sz="1300" b="1">
                <a:solidFill>
                  <a:srgbClr val="E87722"/>
                </a:solidFill>
                <a:latin typeface="Hiragino Sans"/>
                <a:ea typeface="Hiragino Sans"/>
                <a:cs typeface="Hiragino Sans"/>
              </a:rPr>
              <a:t>Target ROAS</a:t>
            </a:r>
          </a:p>
        </p:txBody>
      </p:sp>
      <p:sp>
        <p:nvSpPr>
          <p:cNvPr id="26" name="TextBox 25"/>
          <p:cNvSpPr txBox="1"/>
          <p:nvPr/>
        </p:nvSpPr>
        <p:spPr>
          <a:xfrm>
            <a:off x="9052560" y="1965960"/>
            <a:ext cx="242316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目標ROAS固定</a:t>
            </a:r>
          </a:p>
        </p:txBody>
      </p:sp>
      <p:sp>
        <p:nvSpPr>
          <p:cNvPr id="27" name="TextBox 26"/>
          <p:cNvSpPr txBox="1"/>
          <p:nvPr/>
        </p:nvSpPr>
        <p:spPr>
          <a:xfrm>
            <a:off x="9052560" y="2377440"/>
            <a:ext cx="2423160" cy="1051560"/>
          </a:xfrm>
          <a:prstGeom prst="rect">
            <a:avLst/>
          </a:prstGeom>
          <a:noFill/>
        </p:spPr>
        <p:txBody>
          <a:bodyPr wrap="square" anchor="t" lIns="0" rIns="0" tIns="0" bIns="0">
            <a:spAutoFit/>
          </a:bodyPr>
          <a:lstStyle/>
          <a:p>
            <a:pPr algn="ctr">
              <a:lnSpc>
                <a:spcPct val="155000"/>
              </a:lnSpc>
            </a:pPr>
            <a:r>
              <a:rPr sz="1000" b="0">
                <a:solidFill>
                  <a:srgbClr val="1A1A1A"/>
                </a:solidFill>
                <a:latin typeface="Hiragino Sans"/>
                <a:ea typeface="Hiragino Sans"/>
                <a:cs typeface="Hiragino Sans"/>
              </a:rPr>
              <a:t>EC / 高単価商材</a:t>
            </a:r>
          </a:p>
          <a:p>
            <a:pPr algn="ctr">
              <a:lnSpc>
                <a:spcPct val="155000"/>
              </a:lnSpc>
            </a:pPr>
            <a:r>
              <a:rPr sz="1000" b="0">
                <a:solidFill>
                  <a:srgbClr val="1A1A1A"/>
                </a:solidFill>
                <a:latin typeface="Hiragino Sans"/>
                <a:ea typeface="Hiragino Sans"/>
                <a:cs typeface="Hiragino Sans"/>
              </a:rPr>
              <a:t>VBB必須</a:t>
            </a:r>
          </a:p>
        </p:txBody>
      </p:sp>
      <p:sp>
        <p:nvSpPr>
          <p:cNvPr id="28" name="Rounded Rectangle 27"/>
          <p:cNvSpPr/>
          <p:nvPr/>
        </p:nvSpPr>
        <p:spPr>
          <a:xfrm>
            <a:off x="548640" y="3703320"/>
            <a:ext cx="11109960" cy="265176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3840480"/>
            <a:ext cx="100584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 副業代行の入札戦略選定フロー</a:t>
            </a:r>
          </a:p>
        </p:txBody>
      </p:sp>
      <p:sp>
        <p:nvSpPr>
          <p:cNvPr id="30" name="TextBox 29"/>
          <p:cNvSpPr txBox="1"/>
          <p:nvPr/>
        </p:nvSpPr>
        <p:spPr>
          <a:xfrm>
            <a:off x="777240" y="4160520"/>
            <a:ext cx="10972800" cy="210312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1. 学習開始 = Maximize Conversions (1-2週間でCV30件以上目標)</a:t>
            </a:r>
          </a:p>
          <a:p>
            <a:pPr algn="l">
              <a:lnSpc>
                <a:spcPct val="160000"/>
              </a:lnSpc>
            </a:pPr>
            <a:r>
              <a:rPr sz="1100" b="0">
                <a:solidFill>
                  <a:srgbClr val="1A1A1A"/>
                </a:solidFill>
                <a:latin typeface="Hiragino Sans"/>
                <a:ea typeface="Hiragino Sans"/>
                <a:cs typeface="Hiragino Sans"/>
              </a:rPr>
              <a:t>2. CPA安定後 = Target CPA に切替 (設定CPAは現状CPAの ±20%以内)</a:t>
            </a:r>
          </a:p>
          <a:p>
            <a:pPr algn="l">
              <a:lnSpc>
                <a:spcPct val="160000"/>
              </a:lnSpc>
            </a:pPr>
            <a:r>
              <a:rPr sz="1100" b="0">
                <a:solidFill>
                  <a:srgbClr val="1A1A1A"/>
                </a:solidFill>
                <a:latin typeface="Hiragino Sans"/>
                <a:ea typeface="Hiragino Sans"/>
                <a:cs typeface="Hiragino Sans"/>
              </a:rPr>
              <a:t>3. 売上重視のEC = Maximize Conv. Value → Target ROAS</a:t>
            </a:r>
          </a:p>
          <a:p>
            <a:pPr algn="l">
              <a:lnSpc>
                <a:spcPct val="160000"/>
              </a:lnSpc>
            </a:pPr>
            <a:r>
              <a:rPr sz="1100" b="0">
                <a:solidFill>
                  <a:srgbClr val="1A1A1A"/>
                </a:solidFill>
                <a:latin typeface="Hiragino Sans"/>
                <a:ea typeface="Hiragino Sans"/>
                <a:cs typeface="Hiragino Sans"/>
              </a:rPr>
              <a:t>4. AI Max for Search 併用 = Target ROAS + AI Max が最強構成 (2025/05~)</a:t>
            </a:r>
          </a:p>
          <a:p>
            <a:pPr algn="l">
              <a:lnSpc>
                <a:spcPct val="160000"/>
              </a:lnSpc>
            </a:pPr>
            <a:r>
              <a:rPr sz="1100" b="0">
                <a:solidFill>
                  <a:srgbClr val="1A1A1A"/>
                </a:solidFill>
                <a:latin typeface="Hiragino Sans"/>
                <a:ea typeface="Hiragino Sans"/>
                <a:cs typeface="Hiragino Sans"/>
              </a:rPr>
              <a:t>5. 予算変動は 学習リセット要因 → 月内変動 ±20%以内に</a:t>
            </a:r>
          </a:p>
          <a:p>
            <a:pPr algn="l">
              <a:lnSpc>
                <a:spcPct val="160000"/>
              </a:lnSpc>
            </a:pPr>
            <a:r>
              <a:rPr sz="1100" b="0">
                <a:solidFill>
                  <a:srgbClr val="1A1A1A"/>
                </a:solidFill>
                <a:latin typeface="Hiragino Sans"/>
                <a:ea typeface="Hiragino Sans"/>
                <a:cs typeface="Hiragino Sans"/>
              </a:rPr>
              <a:t>6. Bid Strategy は手動より AI に任せる前提 — 手動入札は特殊用途のみ</a:t>
            </a:r>
          </a:p>
        </p:txBody>
      </p:sp>
      <p:sp>
        <p:nvSpPr>
          <p:cNvPr id="31" name="TextBox 30"/>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Meta Andromeda + Advantage+ (運用視点)</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配信MLが桁違いに賢くなった2024-2026</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P189 / 250</a:t>
            </a:r>
          </a:p>
        </p:txBody>
      </p:sp>
      <p:sp>
        <p:nvSpPr>
          <p:cNvPr id="8" name="Rounded Rectangle 7"/>
          <p:cNvSpPr/>
          <p:nvPr/>
        </p:nvSpPr>
        <p:spPr>
          <a:xfrm>
            <a:off x="548640" y="1371600"/>
            <a:ext cx="11109960" cy="91440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08760"/>
            <a:ext cx="10972800" cy="731520"/>
          </a:xfrm>
          <a:prstGeom prst="rect">
            <a:avLst/>
          </a:prstGeom>
          <a:noFill/>
        </p:spPr>
        <p:txBody>
          <a:bodyPr wrap="square" anchor="t" lIns="0" rIns="0" tIns="0" bIns="0">
            <a:spAutoFit/>
          </a:bodyPr>
          <a:lstStyle/>
          <a:p>
            <a:pPr algn="l">
              <a:lnSpc>
                <a:spcPct val="150000"/>
              </a:lnSpc>
            </a:pPr>
            <a:r>
              <a:rPr sz="1200" b="0">
                <a:solidFill>
                  <a:srgbClr val="FFFFFF"/>
                </a:solidFill>
                <a:latin typeface="Hiragino Sans"/>
                <a:ea typeface="Hiragino Sans"/>
                <a:cs typeface="Hiragino Sans"/>
              </a:rPr>
              <a:t>Andromeda (2024末) : Ads Retrieval モデル複雑度 10,000x、Quality +8%。</a:t>
            </a:r>
          </a:p>
          <a:p>
            <a:pPr algn="l">
              <a:lnSpc>
                <a:spcPct val="150000"/>
              </a:lnSpc>
            </a:pPr>
            <a:r>
              <a:rPr sz="1200" b="0">
                <a:solidFill>
                  <a:srgbClr val="FFFFFF"/>
                </a:solidFill>
                <a:latin typeface="Hiragino Sans"/>
                <a:ea typeface="Hiragino Sans"/>
                <a:cs typeface="Hiragino Sans"/>
              </a:rPr>
              <a:t>Lattice + Andromeda 統合で Advantage+ の効果が増幅された</a:t>
            </a:r>
          </a:p>
        </p:txBody>
      </p:sp>
      <p:sp>
        <p:nvSpPr>
          <p:cNvPr id="10" name="TextBox 9"/>
          <p:cNvSpPr txBox="1"/>
          <p:nvPr/>
        </p:nvSpPr>
        <p:spPr>
          <a:xfrm>
            <a:off x="548640" y="2423160"/>
            <a:ext cx="1097280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運用視点での影響</a:t>
            </a:r>
          </a:p>
        </p:txBody>
      </p:sp>
      <p:sp>
        <p:nvSpPr>
          <p:cNvPr id="11" name="Rounded Rectangle 10"/>
          <p:cNvSpPr/>
          <p:nvPr/>
        </p:nvSpPr>
        <p:spPr>
          <a:xfrm>
            <a:off x="548640" y="2834640"/>
            <a:ext cx="3611880" cy="18288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834640"/>
            <a:ext cx="36118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3063240"/>
            <a:ext cx="3246120" cy="36576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細分化 → 統合へ</a:t>
            </a:r>
          </a:p>
        </p:txBody>
      </p:sp>
      <p:sp>
        <p:nvSpPr>
          <p:cNvPr id="14" name="TextBox 13"/>
          <p:cNvSpPr txBox="1"/>
          <p:nvPr/>
        </p:nvSpPr>
        <p:spPr>
          <a:xfrm>
            <a:off x="777240" y="3520440"/>
            <a:ext cx="3246120" cy="1051560"/>
          </a:xfrm>
          <a:prstGeom prst="rect">
            <a:avLst/>
          </a:prstGeom>
          <a:noFill/>
        </p:spPr>
        <p:txBody>
          <a:bodyPr wrap="square" anchor="t" lIns="0" rIns="0" tIns="0" bIns="0">
            <a:spAutoFit/>
          </a:bodyPr>
          <a:lstStyle/>
          <a:p>
            <a:pPr algn="l">
              <a:lnSpc>
                <a:spcPct val="155000"/>
              </a:lnSpc>
            </a:pPr>
            <a:r>
              <a:rPr sz="1100" b="0">
                <a:solidFill>
                  <a:srgbClr val="1A1A1A"/>
                </a:solidFill>
                <a:latin typeface="Hiragino Sans"/>
                <a:ea typeface="Hiragino Sans"/>
                <a:cs typeface="Hiragino Sans"/>
              </a:rPr>
              <a:t>広告セット細分化はNG</a:t>
            </a:r>
          </a:p>
          <a:p>
            <a:pPr algn="l">
              <a:lnSpc>
                <a:spcPct val="155000"/>
              </a:lnSpc>
            </a:pPr>
            <a:r>
              <a:rPr sz="1100" b="0">
                <a:solidFill>
                  <a:srgbClr val="1A1A1A"/>
                </a:solidFill>
                <a:latin typeface="Hiragino Sans"/>
                <a:ea typeface="Hiragino Sans"/>
                <a:cs typeface="Hiragino Sans"/>
              </a:rPr>
              <a:t>2-3 ad set + Advantage+</a:t>
            </a:r>
          </a:p>
          <a:p>
            <a:pPr algn="l">
              <a:lnSpc>
                <a:spcPct val="155000"/>
              </a:lnSpc>
            </a:pPr>
            <a:r>
              <a:rPr sz="1100" b="0">
                <a:solidFill>
                  <a:srgbClr val="1A1A1A"/>
                </a:solidFill>
                <a:latin typeface="Hiragino Sans"/>
                <a:ea typeface="Hiragino Sans"/>
                <a:cs typeface="Hiragino Sans"/>
              </a:rPr>
              <a:t>学習データ集約が効く</a:t>
            </a:r>
          </a:p>
        </p:txBody>
      </p:sp>
      <p:sp>
        <p:nvSpPr>
          <p:cNvPr id="15" name="Rounded Rectangle 14"/>
          <p:cNvSpPr/>
          <p:nvPr/>
        </p:nvSpPr>
        <p:spPr>
          <a:xfrm>
            <a:off x="4297680" y="2834640"/>
            <a:ext cx="3611880" cy="18288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97680" y="2834640"/>
            <a:ext cx="36118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26280" y="3063240"/>
            <a:ext cx="3246120" cy="36576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クリエイティブ多様性が鍵</a:t>
            </a:r>
          </a:p>
        </p:txBody>
      </p:sp>
      <p:sp>
        <p:nvSpPr>
          <p:cNvPr id="18" name="TextBox 17"/>
          <p:cNvSpPr txBox="1"/>
          <p:nvPr/>
        </p:nvSpPr>
        <p:spPr>
          <a:xfrm>
            <a:off x="4526280" y="3520440"/>
            <a:ext cx="3246120" cy="1051560"/>
          </a:xfrm>
          <a:prstGeom prst="rect">
            <a:avLst/>
          </a:prstGeom>
          <a:noFill/>
        </p:spPr>
        <p:txBody>
          <a:bodyPr wrap="square" anchor="t" lIns="0" rIns="0" tIns="0" bIns="0">
            <a:spAutoFit/>
          </a:bodyPr>
          <a:lstStyle/>
          <a:p>
            <a:pPr algn="l">
              <a:lnSpc>
                <a:spcPct val="155000"/>
              </a:lnSpc>
            </a:pPr>
            <a:r>
              <a:rPr sz="1100" b="0">
                <a:solidFill>
                  <a:srgbClr val="1A1A1A"/>
                </a:solidFill>
                <a:latin typeface="Hiragino Sans"/>
                <a:ea typeface="Hiragino Sans"/>
                <a:cs typeface="Hiragino Sans"/>
              </a:rPr>
              <a:t>AI が組合せ最適化</a:t>
            </a:r>
          </a:p>
          <a:p>
            <a:pPr algn="l">
              <a:lnSpc>
                <a:spcPct val="155000"/>
              </a:lnSpc>
            </a:pPr>
            <a:r>
              <a:rPr sz="1100" b="0">
                <a:solidFill>
                  <a:srgbClr val="1A1A1A"/>
                </a:solidFill>
                <a:latin typeface="Hiragino Sans"/>
                <a:ea typeface="Hiragino Sans"/>
                <a:cs typeface="Hiragino Sans"/>
              </a:rPr>
              <a:t>素材数 = 学習材料</a:t>
            </a:r>
          </a:p>
          <a:p>
            <a:pPr algn="l">
              <a:lnSpc>
                <a:spcPct val="155000"/>
              </a:lnSpc>
            </a:pPr>
            <a:r>
              <a:rPr sz="1100" b="0">
                <a:solidFill>
                  <a:srgbClr val="1A1A1A"/>
                </a:solidFill>
                <a:latin typeface="Hiragino Sans"/>
                <a:ea typeface="Hiragino Sans"/>
                <a:cs typeface="Hiragino Sans"/>
              </a:rPr>
              <a:t>Midjourney等で量産</a:t>
            </a:r>
          </a:p>
        </p:txBody>
      </p:sp>
      <p:sp>
        <p:nvSpPr>
          <p:cNvPr id="19" name="Rounded Rectangle 18"/>
          <p:cNvSpPr/>
          <p:nvPr/>
        </p:nvSpPr>
        <p:spPr>
          <a:xfrm>
            <a:off x="8046720" y="2834640"/>
            <a:ext cx="3611880" cy="18288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6720" y="2834640"/>
            <a:ext cx="36118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75320" y="3063240"/>
            <a:ext cx="3246120" cy="36576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人間の介在減</a:t>
            </a:r>
          </a:p>
        </p:txBody>
      </p:sp>
      <p:sp>
        <p:nvSpPr>
          <p:cNvPr id="22" name="TextBox 21"/>
          <p:cNvSpPr txBox="1"/>
          <p:nvPr/>
        </p:nvSpPr>
        <p:spPr>
          <a:xfrm>
            <a:off x="8275320" y="3520440"/>
            <a:ext cx="3246120" cy="1051560"/>
          </a:xfrm>
          <a:prstGeom prst="rect">
            <a:avLst/>
          </a:prstGeom>
          <a:noFill/>
        </p:spPr>
        <p:txBody>
          <a:bodyPr wrap="square" anchor="t" lIns="0" rIns="0" tIns="0" bIns="0">
            <a:spAutoFit/>
          </a:bodyPr>
          <a:lstStyle/>
          <a:p>
            <a:pPr algn="l">
              <a:lnSpc>
                <a:spcPct val="155000"/>
              </a:lnSpc>
            </a:pPr>
            <a:r>
              <a:rPr sz="1100" b="0">
                <a:solidFill>
                  <a:srgbClr val="1A1A1A"/>
                </a:solidFill>
                <a:latin typeface="Hiragino Sans"/>
                <a:ea typeface="Hiragino Sans"/>
                <a:cs typeface="Hiragino Sans"/>
              </a:rPr>
              <a:t>ターゲ・配信面・入札全自動</a:t>
            </a:r>
          </a:p>
          <a:p>
            <a:pPr algn="l">
              <a:lnSpc>
                <a:spcPct val="155000"/>
              </a:lnSpc>
            </a:pPr>
            <a:r>
              <a:rPr sz="1100" b="0">
                <a:solidFill>
                  <a:srgbClr val="1A1A1A"/>
                </a:solidFill>
                <a:latin typeface="Hiragino Sans"/>
                <a:ea typeface="Hiragino Sans"/>
                <a:cs typeface="Hiragino Sans"/>
              </a:rPr>
              <a:t>人間は『目標設定+検証』</a:t>
            </a:r>
          </a:p>
          <a:p>
            <a:pPr algn="l">
              <a:lnSpc>
                <a:spcPct val="155000"/>
              </a:lnSpc>
            </a:pPr>
            <a:r>
              <a:rPr sz="1100" b="0">
                <a:solidFill>
                  <a:srgbClr val="1A1A1A"/>
                </a:solidFill>
                <a:latin typeface="Hiragino Sans"/>
                <a:ea typeface="Hiragino Sans"/>
                <a:cs typeface="Hiragino Sans"/>
              </a:rPr>
              <a:t>運用工数50%以上削減</a:t>
            </a:r>
          </a:p>
        </p:txBody>
      </p:sp>
      <p:sp>
        <p:nvSpPr>
          <p:cNvPr id="23" name="Rounded Rectangle 22"/>
          <p:cNvSpPr/>
          <p:nvPr/>
        </p:nvSpPr>
        <p:spPr>
          <a:xfrm>
            <a:off x="548640" y="4846320"/>
            <a:ext cx="11109960" cy="150876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4983480"/>
            <a:ext cx="100584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 副業代行 : Andromeda時代のキャンペーン構造</a:t>
            </a:r>
          </a:p>
        </p:txBody>
      </p:sp>
      <p:sp>
        <p:nvSpPr>
          <p:cNvPr id="25" name="TextBox 24"/>
          <p:cNvSpPr txBox="1"/>
          <p:nvPr/>
        </p:nvSpPr>
        <p:spPr>
          <a:xfrm>
            <a:off x="777240" y="5303520"/>
            <a:ext cx="10972800" cy="1005840"/>
          </a:xfrm>
          <a:prstGeom prst="rect">
            <a:avLst/>
          </a:prstGeom>
          <a:noFill/>
        </p:spPr>
        <p:txBody>
          <a:bodyPr wrap="square" anchor="t" lIns="0" rIns="0" tIns="0" bIns="0">
            <a:spAutoFit/>
          </a:bodyPr>
          <a:lstStyle/>
          <a:p>
            <a:pPr algn="l">
              <a:lnSpc>
                <a:spcPct val="155000"/>
              </a:lnSpc>
            </a:pPr>
            <a:r>
              <a:rPr sz="1100" b="0">
                <a:solidFill>
                  <a:srgbClr val="1A1A1A"/>
                </a:solidFill>
                <a:latin typeface="Hiragino Sans"/>
                <a:ea typeface="Hiragino Sans"/>
                <a:cs typeface="Hiragino Sans"/>
              </a:rPr>
              <a:t>• 1キャンペーン × 2-3 ad set + Advantage+ Sales (旧ASC) が基本構成</a:t>
            </a:r>
          </a:p>
          <a:p>
            <a:pPr algn="l">
              <a:lnSpc>
                <a:spcPct val="155000"/>
              </a:lnSpc>
            </a:pPr>
            <a:r>
              <a:rPr sz="1100" b="0">
                <a:solidFill>
                  <a:srgbClr val="1A1A1A"/>
                </a:solidFill>
                <a:latin typeface="Hiragino Sans"/>
                <a:ea typeface="Hiragino Sans"/>
                <a:cs typeface="Hiragino Sans"/>
              </a:rPr>
              <a:t>• クリエイティブ : 訴求軸ごとに5-10案、合計20-30本/月の素材を投入</a:t>
            </a:r>
          </a:p>
          <a:p>
            <a:pPr algn="l">
              <a:lnSpc>
                <a:spcPct val="155000"/>
              </a:lnSpc>
            </a:pPr>
            <a:r>
              <a:rPr sz="1100" b="0">
                <a:solidFill>
                  <a:srgbClr val="1A1A1A"/>
                </a:solidFill>
                <a:latin typeface="Hiragino Sans"/>
                <a:ea typeface="Hiragino Sans"/>
                <a:cs typeface="Hiragino Sans"/>
              </a:rPr>
              <a:t>• Audience Signal : Customer Match (CRM) を必ず投入、AI学習加速の核</a:t>
            </a:r>
          </a:p>
          <a:p>
            <a:pPr algn="l">
              <a:lnSpc>
                <a:spcPct val="155000"/>
              </a:lnSpc>
            </a:pPr>
            <a:r>
              <a:rPr sz="1100" b="0">
                <a:solidFill>
                  <a:srgbClr val="1A1A1A"/>
                </a:solidFill>
                <a:latin typeface="Hiragino Sans"/>
                <a:ea typeface="Hiragino Sans"/>
                <a:cs typeface="Hiragino Sans"/>
              </a:rPr>
              <a:t>• 検証 : Conversion Lift Test を月次実施 (Incremental ROAS で説明)</a:t>
            </a:r>
          </a:p>
        </p:txBody>
      </p:sp>
      <p:sp>
        <p:nvSpPr>
          <p:cNvPr id="26" name="TextBox 25"/>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TikTok Smart+ + Symphony (運用視点)</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完全自動化キャンペーン + AI生成</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P190 / 250</a:t>
            </a:r>
          </a:p>
        </p:txBody>
      </p:sp>
      <p:sp>
        <p:nvSpPr>
          <p:cNvPr id="8" name="Rounded Rectangle 7"/>
          <p:cNvSpPr/>
          <p:nvPr/>
        </p:nvSpPr>
        <p:spPr>
          <a:xfrm>
            <a:off x="548640" y="1371600"/>
            <a:ext cx="11109960" cy="91440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08760"/>
            <a:ext cx="10972800" cy="731520"/>
          </a:xfrm>
          <a:prstGeom prst="rect">
            <a:avLst/>
          </a:prstGeom>
          <a:noFill/>
        </p:spPr>
        <p:txBody>
          <a:bodyPr wrap="square" anchor="t" lIns="0" rIns="0" tIns="0" bIns="0">
            <a:spAutoFit/>
          </a:bodyPr>
          <a:lstStyle/>
          <a:p>
            <a:pPr algn="l">
              <a:lnSpc>
                <a:spcPct val="150000"/>
              </a:lnSpc>
            </a:pPr>
            <a:r>
              <a:rPr sz="1200" b="0">
                <a:solidFill>
                  <a:srgbClr val="FFFFFF"/>
                </a:solidFill>
                <a:latin typeface="Hiragino Sans"/>
                <a:ea typeface="Hiragino Sans"/>
                <a:cs typeface="Hiragino Sans"/>
              </a:rPr>
              <a:t>Smart+ (2024/10) : 4タイプ (Web/Catalog/App/Lead) で完全自動化。</a:t>
            </a:r>
          </a:p>
          <a:p>
            <a:pPr algn="l">
              <a:lnSpc>
                <a:spcPct val="150000"/>
              </a:lnSpc>
            </a:pPr>
            <a:r>
              <a:rPr sz="1200" b="0">
                <a:solidFill>
                  <a:srgbClr val="FFFFFF"/>
                </a:solidFill>
                <a:latin typeface="Hiragino Sans"/>
                <a:ea typeface="Hiragino Sans"/>
                <a:cs typeface="Hiragino Sans"/>
              </a:rPr>
              <a:t>Symphony Creative Studio で AI クリエイティブ生成も TikTok 内で完結</a:t>
            </a:r>
          </a:p>
        </p:txBody>
      </p:sp>
      <p:sp>
        <p:nvSpPr>
          <p:cNvPr id="10" name="TextBox 9"/>
          <p:cNvSpPr txBox="1"/>
          <p:nvPr/>
        </p:nvSpPr>
        <p:spPr>
          <a:xfrm>
            <a:off x="548640" y="2423160"/>
            <a:ext cx="1097280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運用視点での影響</a:t>
            </a:r>
          </a:p>
        </p:txBody>
      </p:sp>
      <p:sp>
        <p:nvSpPr>
          <p:cNvPr id="11" name="Rounded Rectangle 10"/>
          <p:cNvSpPr/>
          <p:nvPr/>
        </p:nvSpPr>
        <p:spPr>
          <a:xfrm>
            <a:off x="548640" y="2834640"/>
            <a:ext cx="3611880" cy="18288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834640"/>
            <a:ext cx="36118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3063240"/>
            <a:ext cx="3246120" cy="365760"/>
          </a:xfrm>
          <a:prstGeom prst="rect">
            <a:avLst/>
          </a:prstGeom>
          <a:noFill/>
        </p:spPr>
        <p:txBody>
          <a:bodyPr wrap="square" anchor="t" lIns="0" rIns="0" tIns="0" bIns="0">
            <a:spAutoFit/>
          </a:bodyPr>
          <a:lstStyle/>
          <a:p>
            <a:pPr algn="l">
              <a:lnSpc>
                <a:spcPct val="120000"/>
              </a:lnSpc>
            </a:pPr>
            <a:r>
              <a:rPr sz="1300" b="1">
                <a:solidFill>
                  <a:srgbClr val="0F2A4F"/>
                </a:solidFill>
                <a:latin typeface="Hiragino Sans"/>
                <a:ea typeface="Hiragino Sans"/>
                <a:cs typeface="Hiragino Sans"/>
              </a:rPr>
              <a:t>AI で配信完全自動化</a:t>
            </a:r>
          </a:p>
        </p:txBody>
      </p:sp>
      <p:sp>
        <p:nvSpPr>
          <p:cNvPr id="14" name="TextBox 13"/>
          <p:cNvSpPr txBox="1"/>
          <p:nvPr/>
        </p:nvSpPr>
        <p:spPr>
          <a:xfrm>
            <a:off x="777240" y="3520440"/>
            <a:ext cx="3246120" cy="1051560"/>
          </a:xfrm>
          <a:prstGeom prst="rect">
            <a:avLst/>
          </a:prstGeom>
          <a:noFill/>
        </p:spPr>
        <p:txBody>
          <a:bodyPr wrap="square" anchor="t" lIns="0" rIns="0" tIns="0" bIns="0">
            <a:spAutoFit/>
          </a:bodyPr>
          <a:lstStyle/>
          <a:p>
            <a:pPr algn="l">
              <a:lnSpc>
                <a:spcPct val="155000"/>
              </a:lnSpc>
            </a:pPr>
            <a:r>
              <a:rPr sz="1100" b="0">
                <a:solidFill>
                  <a:srgbClr val="1A1A1A"/>
                </a:solidFill>
                <a:latin typeface="Hiragino Sans"/>
                <a:ea typeface="Hiragino Sans"/>
                <a:cs typeface="Hiragino Sans"/>
              </a:rPr>
              <a:t>Targeting / Creative / Bid を</a:t>
            </a:r>
          </a:p>
          <a:p>
            <a:pPr algn="l">
              <a:lnSpc>
                <a:spcPct val="155000"/>
              </a:lnSpc>
            </a:pPr>
            <a:r>
              <a:rPr sz="1100" b="0">
                <a:solidFill>
                  <a:srgbClr val="1A1A1A"/>
                </a:solidFill>
                <a:latin typeface="Hiragino Sans"/>
                <a:ea typeface="Hiragino Sans"/>
                <a:cs typeface="Hiragino Sans"/>
              </a:rPr>
              <a:t>Smart+ がフル自動。</a:t>
            </a:r>
          </a:p>
          <a:p>
            <a:pPr algn="l">
              <a:lnSpc>
                <a:spcPct val="155000"/>
              </a:lnSpc>
            </a:pPr>
            <a:r>
              <a:rPr sz="1100" b="0">
                <a:solidFill>
                  <a:srgbClr val="1A1A1A"/>
                </a:solidFill>
                <a:latin typeface="Hiragino Sans"/>
                <a:ea typeface="Hiragino Sans"/>
                <a:cs typeface="Hiragino Sans"/>
              </a:rPr>
              <a:t>運用工数大幅削減</a:t>
            </a:r>
          </a:p>
        </p:txBody>
      </p:sp>
      <p:sp>
        <p:nvSpPr>
          <p:cNvPr id="15" name="Rounded Rectangle 14"/>
          <p:cNvSpPr/>
          <p:nvPr/>
        </p:nvSpPr>
        <p:spPr>
          <a:xfrm>
            <a:off x="4297680" y="2834640"/>
            <a:ext cx="3611880" cy="18288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97680" y="2834640"/>
            <a:ext cx="36118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26280" y="3063240"/>
            <a:ext cx="3246120" cy="365760"/>
          </a:xfrm>
          <a:prstGeom prst="rect">
            <a:avLst/>
          </a:prstGeom>
          <a:noFill/>
        </p:spPr>
        <p:txBody>
          <a:bodyPr wrap="square" anchor="t" lIns="0" rIns="0" tIns="0" bIns="0">
            <a:spAutoFit/>
          </a:bodyPr>
          <a:lstStyle/>
          <a:p>
            <a:pPr algn="l">
              <a:lnSpc>
                <a:spcPct val="120000"/>
              </a:lnSpc>
            </a:pPr>
            <a:r>
              <a:rPr sz="1300" b="1">
                <a:solidFill>
                  <a:srgbClr val="0F2A4F"/>
                </a:solidFill>
                <a:latin typeface="Hiragino Sans"/>
                <a:ea typeface="Hiragino Sans"/>
                <a:cs typeface="Hiragino Sans"/>
              </a:rPr>
              <a:t>Symphony で素材も自動生成</a:t>
            </a:r>
          </a:p>
        </p:txBody>
      </p:sp>
      <p:sp>
        <p:nvSpPr>
          <p:cNvPr id="18" name="TextBox 17"/>
          <p:cNvSpPr txBox="1"/>
          <p:nvPr/>
        </p:nvSpPr>
        <p:spPr>
          <a:xfrm>
            <a:off x="4526280" y="3520440"/>
            <a:ext cx="3246120" cy="1051560"/>
          </a:xfrm>
          <a:prstGeom prst="rect">
            <a:avLst/>
          </a:prstGeom>
          <a:noFill/>
        </p:spPr>
        <p:txBody>
          <a:bodyPr wrap="square" anchor="t" lIns="0" rIns="0" tIns="0" bIns="0">
            <a:spAutoFit/>
          </a:bodyPr>
          <a:lstStyle/>
          <a:p>
            <a:pPr algn="l">
              <a:lnSpc>
                <a:spcPct val="155000"/>
              </a:lnSpc>
            </a:pPr>
            <a:r>
              <a:rPr sz="1100" b="0">
                <a:solidFill>
                  <a:srgbClr val="1A1A1A"/>
                </a:solidFill>
                <a:latin typeface="Hiragino Sans"/>
                <a:ea typeface="Hiragino Sans"/>
                <a:cs typeface="Hiragino Sans"/>
              </a:rPr>
              <a:t>Image to Video / Avatars /</a:t>
            </a:r>
          </a:p>
          <a:p>
            <a:pPr algn="l">
              <a:lnSpc>
                <a:spcPct val="155000"/>
              </a:lnSpc>
            </a:pPr>
            <a:r>
              <a:rPr sz="1100" b="0">
                <a:solidFill>
                  <a:srgbClr val="1A1A1A"/>
                </a:solidFill>
                <a:latin typeface="Hiragino Sans"/>
                <a:ea typeface="Hiragino Sans"/>
                <a:cs typeface="Hiragino Sans"/>
              </a:rPr>
              <a:t>AI Dubbing で動画量産。</a:t>
            </a:r>
          </a:p>
          <a:p>
            <a:pPr algn="l">
              <a:lnSpc>
                <a:spcPct val="155000"/>
              </a:lnSpc>
            </a:pPr>
            <a:r>
              <a:rPr sz="1100" b="0">
                <a:solidFill>
                  <a:srgbClr val="1A1A1A"/>
                </a:solidFill>
                <a:latin typeface="Hiragino Sans"/>
                <a:ea typeface="Hiragino Sans"/>
                <a:cs typeface="Hiragino Sans"/>
              </a:rPr>
              <a:t>外部ツール代替可能</a:t>
            </a:r>
          </a:p>
        </p:txBody>
      </p:sp>
      <p:sp>
        <p:nvSpPr>
          <p:cNvPr id="19" name="Rounded Rectangle 18"/>
          <p:cNvSpPr/>
          <p:nvPr/>
        </p:nvSpPr>
        <p:spPr>
          <a:xfrm>
            <a:off x="8046720" y="2834640"/>
            <a:ext cx="3611880" cy="18288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6720" y="2834640"/>
            <a:ext cx="36118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75320" y="3063240"/>
            <a:ext cx="3246120" cy="365760"/>
          </a:xfrm>
          <a:prstGeom prst="rect">
            <a:avLst/>
          </a:prstGeom>
          <a:noFill/>
        </p:spPr>
        <p:txBody>
          <a:bodyPr wrap="square" anchor="t" lIns="0" rIns="0" tIns="0" bIns="0">
            <a:spAutoFit/>
          </a:bodyPr>
          <a:lstStyle/>
          <a:p>
            <a:pPr algn="l">
              <a:lnSpc>
                <a:spcPct val="120000"/>
              </a:lnSpc>
            </a:pPr>
            <a:r>
              <a:rPr sz="1300" b="1">
                <a:solidFill>
                  <a:srgbClr val="0F2A4F"/>
                </a:solidFill>
                <a:latin typeface="Hiragino Sans"/>
                <a:ea typeface="Hiragino Sans"/>
                <a:cs typeface="Hiragino Sans"/>
              </a:rPr>
              <a:t>Spark Ads + UGC 統合</a:t>
            </a:r>
          </a:p>
        </p:txBody>
      </p:sp>
      <p:sp>
        <p:nvSpPr>
          <p:cNvPr id="22" name="TextBox 21"/>
          <p:cNvSpPr txBox="1"/>
          <p:nvPr/>
        </p:nvSpPr>
        <p:spPr>
          <a:xfrm>
            <a:off x="8275320" y="3520440"/>
            <a:ext cx="3246120" cy="1051560"/>
          </a:xfrm>
          <a:prstGeom prst="rect">
            <a:avLst/>
          </a:prstGeom>
          <a:noFill/>
        </p:spPr>
        <p:txBody>
          <a:bodyPr wrap="square" anchor="t" lIns="0" rIns="0" tIns="0" bIns="0">
            <a:spAutoFit/>
          </a:bodyPr>
          <a:lstStyle/>
          <a:p>
            <a:pPr algn="l">
              <a:lnSpc>
                <a:spcPct val="155000"/>
              </a:lnSpc>
            </a:pPr>
            <a:r>
              <a:rPr sz="1100" b="0">
                <a:solidFill>
                  <a:srgbClr val="1A1A1A"/>
                </a:solidFill>
                <a:latin typeface="Hiragino Sans"/>
                <a:ea typeface="Hiragino Sans"/>
                <a:cs typeface="Hiragino Sans"/>
              </a:rPr>
              <a:t>Creator投稿を Smart+ に投入。</a:t>
            </a:r>
          </a:p>
          <a:p>
            <a:pPr algn="l">
              <a:lnSpc>
                <a:spcPct val="155000"/>
              </a:lnSpc>
            </a:pPr>
            <a:r>
              <a:rPr sz="1100" b="0">
                <a:solidFill>
                  <a:srgbClr val="1A1A1A"/>
                </a:solidFill>
                <a:latin typeface="Hiragino Sans"/>
                <a:ea typeface="Hiragino Sans"/>
                <a:cs typeface="Hiragino Sans"/>
              </a:rPr>
              <a:t>UGC感のある広告が標準。</a:t>
            </a:r>
          </a:p>
          <a:p>
            <a:pPr algn="l">
              <a:lnSpc>
                <a:spcPct val="155000"/>
              </a:lnSpc>
            </a:pPr>
            <a:r>
              <a:rPr sz="1100" b="0">
                <a:solidFill>
                  <a:srgbClr val="1A1A1A"/>
                </a:solidFill>
                <a:latin typeface="Hiragino Sans"/>
                <a:ea typeface="Hiragino Sans"/>
                <a:cs typeface="Hiragino Sans"/>
              </a:rPr>
              <a:t>中小ブランドでも実現可</a:t>
            </a:r>
          </a:p>
        </p:txBody>
      </p:sp>
      <p:sp>
        <p:nvSpPr>
          <p:cNvPr id="23" name="Rounded Rectangle 22"/>
          <p:cNvSpPr/>
          <p:nvPr/>
        </p:nvSpPr>
        <p:spPr>
          <a:xfrm>
            <a:off x="548640" y="4846320"/>
            <a:ext cx="11109960" cy="150876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4983480"/>
            <a:ext cx="100584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 副業代行 : Smart+ 時代の TikTok 構成</a:t>
            </a:r>
          </a:p>
        </p:txBody>
      </p:sp>
      <p:sp>
        <p:nvSpPr>
          <p:cNvPr id="25" name="TextBox 24"/>
          <p:cNvSpPr txBox="1"/>
          <p:nvPr/>
        </p:nvSpPr>
        <p:spPr>
          <a:xfrm>
            <a:off x="777240" y="5303520"/>
            <a:ext cx="10972800" cy="1005840"/>
          </a:xfrm>
          <a:prstGeom prst="rect">
            <a:avLst/>
          </a:prstGeom>
          <a:noFill/>
        </p:spPr>
        <p:txBody>
          <a:bodyPr wrap="square" anchor="t" lIns="0" rIns="0" tIns="0" bIns="0">
            <a:spAutoFit/>
          </a:bodyPr>
          <a:lstStyle/>
          <a:p>
            <a:pPr algn="l">
              <a:lnSpc>
                <a:spcPct val="155000"/>
              </a:lnSpc>
            </a:pPr>
            <a:r>
              <a:rPr sz="1100" b="0">
                <a:solidFill>
                  <a:srgbClr val="1A1A1A"/>
                </a:solidFill>
                <a:latin typeface="Hiragino Sans"/>
                <a:ea typeface="Hiragino Sans"/>
                <a:cs typeface="Hiragino Sans"/>
              </a:rPr>
              <a:t>• Smart+ Web (CV) + Spark Ads (Creator) のミックス</a:t>
            </a:r>
          </a:p>
          <a:p>
            <a:pPr algn="l">
              <a:lnSpc>
                <a:spcPct val="155000"/>
              </a:lnSpc>
            </a:pPr>
            <a:r>
              <a:rPr sz="1100" b="0">
                <a:solidFill>
                  <a:srgbClr val="1A1A1A"/>
                </a:solidFill>
                <a:latin typeface="Hiragino Sans"/>
                <a:ea typeface="Hiragino Sans"/>
                <a:cs typeface="Hiragino Sans"/>
              </a:rPr>
              <a:t>• 素材 : Symphony Creative Studio で月20-30本量産 (撮影最小限)</a:t>
            </a:r>
          </a:p>
          <a:p>
            <a:pPr algn="l">
              <a:lnSpc>
                <a:spcPct val="155000"/>
              </a:lnSpc>
            </a:pPr>
            <a:r>
              <a:rPr sz="1100" b="0">
                <a:solidFill>
                  <a:srgbClr val="1A1A1A"/>
                </a:solidFill>
                <a:latin typeface="Hiragino Sans"/>
                <a:ea typeface="Hiragino Sans"/>
                <a:cs typeface="Hiragino Sans"/>
              </a:rPr>
              <a:t>• 計測 : Pixel + Events API ハイブリッド (EMQ 8/10以上)</a:t>
            </a:r>
          </a:p>
          <a:p>
            <a:pPr algn="l">
              <a:lnSpc>
                <a:spcPct val="155000"/>
              </a:lnSpc>
            </a:pPr>
            <a:r>
              <a:rPr sz="1100" b="0">
                <a:solidFill>
                  <a:srgbClr val="1A1A1A"/>
                </a:solidFill>
                <a:latin typeface="Hiragino Sans"/>
                <a:ea typeface="Hiragino Sans"/>
                <a:cs typeface="Hiragino Sans"/>
              </a:rPr>
              <a:t>• 検証 : Brand Lift / Conversion Lift で Incremental効果を測定</a:t>
            </a:r>
          </a:p>
        </p:txBody>
      </p:sp>
      <p:sp>
        <p:nvSpPr>
          <p:cNvPr id="26" name="TextBox 25"/>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外部運用ツール : Skai / Marin / Optmyzr</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複数媒体一元管理 + AI最適化提案</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P191 / 250</a:t>
            </a:r>
          </a:p>
        </p:txBody>
      </p:sp>
      <p:sp>
        <p:nvSpPr>
          <p:cNvPr id="8" name="Rounded Rectangle 7"/>
          <p:cNvSpPr/>
          <p:nvPr/>
        </p:nvSpPr>
        <p:spPr>
          <a:xfrm>
            <a:off x="548640" y="1417320"/>
            <a:ext cx="2697480" cy="24688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269748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581912"/>
            <a:ext cx="2331720" cy="411480"/>
          </a:xfrm>
          <a:prstGeom prst="rect">
            <a:avLst/>
          </a:prstGeom>
          <a:noFill/>
        </p:spPr>
        <p:txBody>
          <a:bodyPr wrap="square" anchor="t" lIns="0" rIns="0" tIns="0" bIns="0">
            <a:spAutoFit/>
          </a:bodyPr>
          <a:lstStyle/>
          <a:p>
            <a:pPr algn="ctr">
              <a:lnSpc>
                <a:spcPct val="120000"/>
              </a:lnSpc>
            </a:pPr>
            <a:r>
              <a:rPr sz="1300" b="1">
                <a:solidFill>
                  <a:srgbClr val="FFFFFF"/>
                </a:solidFill>
                <a:latin typeface="Hiragino Sans"/>
                <a:ea typeface="Hiragino Sans"/>
                <a:cs typeface="Hiragino Sans"/>
              </a:rPr>
              <a:t>Skai (旧Kenshoo)</a:t>
            </a:r>
          </a:p>
        </p:txBody>
      </p:sp>
      <p:sp>
        <p:nvSpPr>
          <p:cNvPr id="11" name="TextBox 10"/>
          <p:cNvSpPr txBox="1"/>
          <p:nvPr/>
        </p:nvSpPr>
        <p:spPr>
          <a:xfrm>
            <a:off x="731520" y="1965960"/>
            <a:ext cx="233172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Enterprise / 大型代理店</a:t>
            </a:r>
          </a:p>
        </p:txBody>
      </p:sp>
      <p:sp>
        <p:nvSpPr>
          <p:cNvPr id="12" name="TextBox 11"/>
          <p:cNvSpPr txBox="1"/>
          <p:nvPr/>
        </p:nvSpPr>
        <p:spPr>
          <a:xfrm>
            <a:off x="731520" y="2423160"/>
            <a:ext cx="2331720" cy="1417320"/>
          </a:xfrm>
          <a:prstGeom prst="rect">
            <a:avLst/>
          </a:prstGeom>
          <a:noFill/>
        </p:spPr>
        <p:txBody>
          <a:bodyPr wrap="square" anchor="t" lIns="0" rIns="0" tIns="0" bIns="0">
            <a:spAutoFit/>
          </a:bodyPr>
          <a:lstStyle/>
          <a:p>
            <a:pPr algn="ctr">
              <a:lnSpc>
                <a:spcPct val="165000"/>
              </a:lnSpc>
            </a:pPr>
            <a:r>
              <a:rPr sz="1000" b="0">
                <a:solidFill>
                  <a:srgbClr val="1A1A1A"/>
                </a:solidFill>
                <a:latin typeface="Hiragino Sans"/>
                <a:ea typeface="Hiragino Sans"/>
                <a:cs typeface="Hiragino Sans"/>
              </a:rPr>
              <a:t>全媒体一元管理</a:t>
            </a:r>
          </a:p>
          <a:p>
            <a:pPr algn="ctr">
              <a:lnSpc>
                <a:spcPct val="165000"/>
              </a:lnSpc>
            </a:pPr>
            <a:r>
              <a:rPr sz="1000" b="0">
                <a:solidFill>
                  <a:srgbClr val="1A1A1A"/>
                </a:solidFill>
                <a:latin typeface="Hiragino Sans"/>
                <a:ea typeface="Hiragino Sans"/>
                <a:cs typeface="Hiragino Sans"/>
              </a:rPr>
              <a:t>AI最適化提案</a:t>
            </a:r>
          </a:p>
          <a:p>
            <a:pPr algn="ctr">
              <a:lnSpc>
                <a:spcPct val="165000"/>
              </a:lnSpc>
            </a:pPr>
            <a:r>
              <a:rPr sz="1000" b="0">
                <a:solidFill>
                  <a:srgbClr val="1A1A1A"/>
                </a:solidFill>
                <a:latin typeface="Hiragino Sans"/>
                <a:ea typeface="Hiragino Sans"/>
                <a:cs typeface="Hiragino Sans"/>
              </a:rPr>
              <a:t>Walmart Connect等</a:t>
            </a:r>
          </a:p>
          <a:p>
            <a:pPr algn="ctr">
              <a:lnSpc>
                <a:spcPct val="165000"/>
              </a:lnSpc>
            </a:pPr>
            <a:r>
              <a:rPr sz="1000" b="0">
                <a:solidFill>
                  <a:srgbClr val="1A1A1A"/>
                </a:solidFill>
                <a:latin typeface="Hiragino Sans"/>
                <a:ea typeface="Hiragino Sans"/>
                <a:cs typeface="Hiragino Sans"/>
              </a:rPr>
              <a:t>リテールメディア対応</a:t>
            </a:r>
          </a:p>
        </p:txBody>
      </p:sp>
      <p:sp>
        <p:nvSpPr>
          <p:cNvPr id="13" name="Rounded Rectangle 12"/>
          <p:cNvSpPr/>
          <p:nvPr/>
        </p:nvSpPr>
        <p:spPr>
          <a:xfrm>
            <a:off x="3337560" y="1417320"/>
            <a:ext cx="2697480" cy="24688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37560" y="1417320"/>
            <a:ext cx="269748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20440" y="1581912"/>
            <a:ext cx="2331720" cy="411480"/>
          </a:xfrm>
          <a:prstGeom prst="rect">
            <a:avLst/>
          </a:prstGeom>
          <a:noFill/>
        </p:spPr>
        <p:txBody>
          <a:bodyPr wrap="square" anchor="t" lIns="0" rIns="0" tIns="0" bIns="0">
            <a:spAutoFit/>
          </a:bodyPr>
          <a:lstStyle/>
          <a:p>
            <a:pPr algn="ctr">
              <a:lnSpc>
                <a:spcPct val="120000"/>
              </a:lnSpc>
            </a:pPr>
            <a:r>
              <a:rPr sz="1300" b="1">
                <a:solidFill>
                  <a:srgbClr val="FFFFFF"/>
                </a:solidFill>
                <a:latin typeface="Hiragino Sans"/>
                <a:ea typeface="Hiragino Sans"/>
                <a:cs typeface="Hiragino Sans"/>
              </a:rPr>
              <a:t>Marin Software</a:t>
            </a:r>
          </a:p>
        </p:txBody>
      </p:sp>
      <p:sp>
        <p:nvSpPr>
          <p:cNvPr id="16" name="TextBox 15"/>
          <p:cNvSpPr txBox="1"/>
          <p:nvPr/>
        </p:nvSpPr>
        <p:spPr>
          <a:xfrm>
            <a:off x="3520440" y="1965960"/>
            <a:ext cx="233172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中堅〜大手</a:t>
            </a:r>
          </a:p>
        </p:txBody>
      </p:sp>
      <p:sp>
        <p:nvSpPr>
          <p:cNvPr id="17" name="TextBox 16"/>
          <p:cNvSpPr txBox="1"/>
          <p:nvPr/>
        </p:nvSpPr>
        <p:spPr>
          <a:xfrm>
            <a:off x="3520440" y="2423160"/>
            <a:ext cx="2331720" cy="1417320"/>
          </a:xfrm>
          <a:prstGeom prst="rect">
            <a:avLst/>
          </a:prstGeom>
          <a:noFill/>
        </p:spPr>
        <p:txBody>
          <a:bodyPr wrap="square" anchor="t" lIns="0" rIns="0" tIns="0" bIns="0">
            <a:spAutoFit/>
          </a:bodyPr>
          <a:lstStyle/>
          <a:p>
            <a:pPr algn="ctr">
              <a:lnSpc>
                <a:spcPct val="165000"/>
              </a:lnSpc>
            </a:pPr>
            <a:r>
              <a:rPr sz="1000" b="0">
                <a:solidFill>
                  <a:srgbClr val="1A1A1A"/>
                </a:solidFill>
                <a:latin typeface="Hiragino Sans"/>
                <a:ea typeface="Hiragino Sans"/>
                <a:cs typeface="Hiragino Sans"/>
              </a:rPr>
              <a:t>Search特化が強み</a:t>
            </a:r>
          </a:p>
          <a:p>
            <a:pPr algn="ctr">
              <a:lnSpc>
                <a:spcPct val="165000"/>
              </a:lnSpc>
            </a:pPr>
            <a:r>
              <a:rPr sz="1000" b="0">
                <a:solidFill>
                  <a:srgbClr val="1A1A1A"/>
                </a:solidFill>
                <a:latin typeface="Hiragino Sans"/>
                <a:ea typeface="Hiragino Sans"/>
                <a:cs typeface="Hiragino Sans"/>
              </a:rPr>
              <a:t>Bidding/Budget最適化</a:t>
            </a:r>
          </a:p>
          <a:p>
            <a:pPr algn="ctr">
              <a:lnSpc>
                <a:spcPct val="165000"/>
              </a:lnSpc>
            </a:pPr>
            <a:r>
              <a:rPr sz="1000" b="0">
                <a:solidFill>
                  <a:srgbClr val="1A1A1A"/>
                </a:solidFill>
                <a:latin typeface="Hiragino Sans"/>
                <a:ea typeface="Hiragino Sans"/>
                <a:cs typeface="Hiragino Sans"/>
              </a:rPr>
              <a:t>API連携豊富</a:t>
            </a:r>
          </a:p>
        </p:txBody>
      </p:sp>
      <p:sp>
        <p:nvSpPr>
          <p:cNvPr id="18" name="Rounded Rectangle 17"/>
          <p:cNvSpPr/>
          <p:nvPr/>
        </p:nvSpPr>
        <p:spPr>
          <a:xfrm>
            <a:off x="6126480" y="1417320"/>
            <a:ext cx="2697480" cy="24688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0" y="1417320"/>
            <a:ext cx="269748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1581912"/>
            <a:ext cx="2331720" cy="411480"/>
          </a:xfrm>
          <a:prstGeom prst="rect">
            <a:avLst/>
          </a:prstGeom>
          <a:noFill/>
        </p:spPr>
        <p:txBody>
          <a:bodyPr wrap="square" anchor="t" lIns="0" rIns="0" tIns="0" bIns="0">
            <a:spAutoFit/>
          </a:bodyPr>
          <a:lstStyle/>
          <a:p>
            <a:pPr algn="ctr">
              <a:lnSpc>
                <a:spcPct val="120000"/>
              </a:lnSpc>
            </a:pPr>
            <a:r>
              <a:rPr sz="1300" b="1">
                <a:solidFill>
                  <a:srgbClr val="FFFFFF"/>
                </a:solidFill>
                <a:latin typeface="Hiragino Sans"/>
                <a:ea typeface="Hiragino Sans"/>
                <a:cs typeface="Hiragino Sans"/>
              </a:rPr>
              <a:t>Optmyzr</a:t>
            </a:r>
          </a:p>
        </p:txBody>
      </p:sp>
      <p:sp>
        <p:nvSpPr>
          <p:cNvPr id="21" name="TextBox 20"/>
          <p:cNvSpPr txBox="1"/>
          <p:nvPr/>
        </p:nvSpPr>
        <p:spPr>
          <a:xfrm>
            <a:off x="6309360" y="1965960"/>
            <a:ext cx="233172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中小〜中堅 / $208/月〜</a:t>
            </a:r>
          </a:p>
        </p:txBody>
      </p:sp>
      <p:sp>
        <p:nvSpPr>
          <p:cNvPr id="22" name="TextBox 21"/>
          <p:cNvSpPr txBox="1"/>
          <p:nvPr/>
        </p:nvSpPr>
        <p:spPr>
          <a:xfrm>
            <a:off x="6309360" y="2423160"/>
            <a:ext cx="2331720" cy="1417320"/>
          </a:xfrm>
          <a:prstGeom prst="rect">
            <a:avLst/>
          </a:prstGeom>
          <a:noFill/>
        </p:spPr>
        <p:txBody>
          <a:bodyPr wrap="square" anchor="t" lIns="0" rIns="0" tIns="0" bIns="0">
            <a:spAutoFit/>
          </a:bodyPr>
          <a:lstStyle/>
          <a:p>
            <a:pPr algn="ctr">
              <a:lnSpc>
                <a:spcPct val="165000"/>
              </a:lnSpc>
            </a:pPr>
            <a:r>
              <a:rPr sz="1000" b="0">
                <a:solidFill>
                  <a:srgbClr val="1A1A1A"/>
                </a:solidFill>
                <a:latin typeface="Hiragino Sans"/>
                <a:ea typeface="Hiragino Sans"/>
                <a:cs typeface="Hiragino Sans"/>
              </a:rPr>
              <a:t>Google/Meta/Microsoft</a:t>
            </a:r>
          </a:p>
          <a:p>
            <a:pPr algn="ctr">
              <a:lnSpc>
                <a:spcPct val="165000"/>
              </a:lnSpc>
            </a:pPr>
            <a:r>
              <a:rPr sz="1000" b="0">
                <a:solidFill>
                  <a:srgbClr val="1A1A1A"/>
                </a:solidFill>
                <a:latin typeface="Hiragino Sans"/>
                <a:ea typeface="Hiragino Sans"/>
                <a:cs typeface="Hiragino Sans"/>
              </a:rPr>
              <a:t>PMax深いインサイト</a:t>
            </a:r>
          </a:p>
          <a:p>
            <a:pPr algn="ctr">
              <a:lnSpc>
                <a:spcPct val="165000"/>
              </a:lnSpc>
            </a:pPr>
            <a:r>
              <a:rPr sz="1000" b="0">
                <a:solidFill>
                  <a:srgbClr val="1A1A1A"/>
                </a:solidFill>
                <a:latin typeface="Hiragino Sans"/>
                <a:ea typeface="Hiragino Sans"/>
                <a:cs typeface="Hiragino Sans"/>
              </a:rPr>
              <a:t>Workout (タスク自動化)</a:t>
            </a:r>
          </a:p>
        </p:txBody>
      </p:sp>
      <p:sp>
        <p:nvSpPr>
          <p:cNvPr id="23" name="Rounded Rectangle 22"/>
          <p:cNvSpPr/>
          <p:nvPr/>
        </p:nvSpPr>
        <p:spPr>
          <a:xfrm>
            <a:off x="8915400" y="1417320"/>
            <a:ext cx="2697480" cy="24688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15400" y="1417320"/>
            <a:ext cx="269748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98280" y="1581912"/>
            <a:ext cx="2331720" cy="411480"/>
          </a:xfrm>
          <a:prstGeom prst="rect">
            <a:avLst/>
          </a:prstGeom>
          <a:noFill/>
        </p:spPr>
        <p:txBody>
          <a:bodyPr wrap="square" anchor="t" lIns="0" rIns="0" tIns="0" bIns="0">
            <a:spAutoFit/>
          </a:bodyPr>
          <a:lstStyle/>
          <a:p>
            <a:pPr algn="ctr">
              <a:lnSpc>
                <a:spcPct val="120000"/>
              </a:lnSpc>
            </a:pPr>
            <a:r>
              <a:rPr sz="1300" b="1">
                <a:solidFill>
                  <a:srgbClr val="FFFFFF"/>
                </a:solidFill>
                <a:latin typeface="Hiragino Sans"/>
                <a:ea typeface="Hiragino Sans"/>
                <a:cs typeface="Hiragino Sans"/>
              </a:rPr>
              <a:t>Adalysis</a:t>
            </a:r>
          </a:p>
        </p:txBody>
      </p:sp>
      <p:sp>
        <p:nvSpPr>
          <p:cNvPr id="26" name="TextBox 25"/>
          <p:cNvSpPr txBox="1"/>
          <p:nvPr/>
        </p:nvSpPr>
        <p:spPr>
          <a:xfrm>
            <a:off x="9098280" y="1965960"/>
            <a:ext cx="233172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中小 / $99/月〜</a:t>
            </a:r>
          </a:p>
        </p:txBody>
      </p:sp>
      <p:sp>
        <p:nvSpPr>
          <p:cNvPr id="27" name="TextBox 26"/>
          <p:cNvSpPr txBox="1"/>
          <p:nvPr/>
        </p:nvSpPr>
        <p:spPr>
          <a:xfrm>
            <a:off x="9098280" y="2423160"/>
            <a:ext cx="2331720" cy="1417320"/>
          </a:xfrm>
          <a:prstGeom prst="rect">
            <a:avLst/>
          </a:prstGeom>
          <a:noFill/>
        </p:spPr>
        <p:txBody>
          <a:bodyPr wrap="square" anchor="t" lIns="0" rIns="0" tIns="0" bIns="0">
            <a:spAutoFit/>
          </a:bodyPr>
          <a:lstStyle/>
          <a:p>
            <a:pPr algn="ctr">
              <a:lnSpc>
                <a:spcPct val="165000"/>
              </a:lnSpc>
            </a:pPr>
            <a:r>
              <a:rPr sz="1000" b="0">
                <a:solidFill>
                  <a:srgbClr val="1A1A1A"/>
                </a:solidFill>
                <a:latin typeface="Hiragino Sans"/>
                <a:ea typeface="Hiragino Sans"/>
                <a:cs typeface="Hiragino Sans"/>
              </a:rPr>
              <a:t>Google Ads特化</a:t>
            </a:r>
          </a:p>
          <a:p>
            <a:pPr algn="ctr">
              <a:lnSpc>
                <a:spcPct val="165000"/>
              </a:lnSpc>
            </a:pPr>
            <a:r>
              <a:rPr sz="1000" b="0">
                <a:solidFill>
                  <a:srgbClr val="1A1A1A"/>
                </a:solidFill>
                <a:latin typeface="Hiragino Sans"/>
                <a:ea typeface="Hiragino Sans"/>
                <a:cs typeface="Hiragino Sans"/>
              </a:rPr>
              <a:t>Negative KW提案強い</a:t>
            </a:r>
          </a:p>
          <a:p>
            <a:pPr algn="ctr">
              <a:lnSpc>
                <a:spcPct val="165000"/>
              </a:lnSpc>
            </a:pPr>
            <a:r>
              <a:rPr sz="1000" b="0">
                <a:solidFill>
                  <a:srgbClr val="1A1A1A"/>
                </a:solidFill>
                <a:latin typeface="Hiragino Sans"/>
                <a:ea typeface="Hiragino Sans"/>
                <a:cs typeface="Hiragino Sans"/>
              </a:rPr>
              <a:t>副業代行スイートスポット</a:t>
            </a:r>
          </a:p>
        </p:txBody>
      </p:sp>
      <p:sp>
        <p:nvSpPr>
          <p:cNvPr id="28" name="Rounded Rectangle 27"/>
          <p:cNvSpPr/>
          <p:nvPr/>
        </p:nvSpPr>
        <p:spPr>
          <a:xfrm>
            <a:off x="548640" y="4069080"/>
            <a:ext cx="11109960" cy="228600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4206240"/>
            <a:ext cx="10058400" cy="320040"/>
          </a:xfrm>
          <a:prstGeom prst="rect">
            <a:avLst/>
          </a:prstGeom>
          <a:noFill/>
        </p:spPr>
        <p:txBody>
          <a:bodyPr wrap="square" anchor="t" lIns="0" rIns="0" tIns="0" bIns="0">
            <a:spAutoFit/>
          </a:bodyPr>
          <a:lstStyle/>
          <a:p>
            <a:pPr algn="l">
              <a:lnSpc>
                <a:spcPct val="115000"/>
              </a:lnSpc>
            </a:pPr>
            <a:r>
              <a:rPr sz="1200" b="1">
                <a:solidFill>
                  <a:srgbClr val="E87722"/>
                </a:solidFill>
                <a:latin typeface="Hiragino Sans"/>
                <a:ea typeface="Hiragino Sans"/>
                <a:cs typeface="Hiragino Sans"/>
              </a:rPr>
              <a:t>💡 副業代行で外部ツールを使う判断</a:t>
            </a:r>
          </a:p>
        </p:txBody>
      </p:sp>
      <p:sp>
        <p:nvSpPr>
          <p:cNvPr id="30" name="TextBox 29"/>
          <p:cNvSpPr txBox="1"/>
          <p:nvPr/>
        </p:nvSpPr>
        <p:spPr>
          <a:xfrm>
            <a:off x="777240" y="4526280"/>
            <a:ext cx="10972800" cy="1783080"/>
          </a:xfrm>
          <a:prstGeom prst="rect">
            <a:avLst/>
          </a:prstGeom>
          <a:noFill/>
        </p:spPr>
        <p:txBody>
          <a:bodyPr wrap="square" anchor="t" lIns="0" rIns="0" tIns="0" bIns="0">
            <a:spAutoFit/>
          </a:bodyPr>
          <a:lstStyle/>
          <a:p>
            <a:pPr algn="l">
              <a:lnSpc>
                <a:spcPct val="160000"/>
              </a:lnSpc>
            </a:pPr>
            <a:r>
              <a:rPr sz="1100" b="0">
                <a:solidFill>
                  <a:srgbClr val="FFFFFF"/>
                </a:solidFill>
                <a:latin typeface="Hiragino Sans"/>
                <a:ea typeface="Hiragino Sans"/>
                <a:cs typeface="Hiragino Sans"/>
              </a:rPr>
              <a:t>• 月10案件以下 = 媒体管理画面で十分 (外部ツール不要)</a:t>
            </a:r>
          </a:p>
          <a:p>
            <a:pPr algn="l">
              <a:lnSpc>
                <a:spcPct val="160000"/>
              </a:lnSpc>
            </a:pPr>
            <a:r>
              <a:rPr sz="1100" b="0">
                <a:solidFill>
                  <a:srgbClr val="FFFFFF"/>
                </a:solidFill>
                <a:latin typeface="Hiragino Sans"/>
                <a:ea typeface="Hiragino Sans"/>
                <a:cs typeface="Hiragino Sans"/>
              </a:rPr>
              <a:t>• 月10案件以上 + Google中心 = Adalysis $99/月で工数削減開始</a:t>
            </a:r>
          </a:p>
          <a:p>
            <a:pPr algn="l">
              <a:lnSpc>
                <a:spcPct val="160000"/>
              </a:lnSpc>
            </a:pPr>
            <a:r>
              <a:rPr sz="1100" b="0">
                <a:solidFill>
                  <a:srgbClr val="FFFFFF"/>
                </a:solidFill>
                <a:latin typeface="Hiragino Sans"/>
                <a:ea typeface="Hiragino Sans"/>
                <a:cs typeface="Hiragino Sans"/>
              </a:rPr>
              <a:t>• 月20案件以上 + 複数媒体 = Optmyzr $208/月でPMax+メタ統合管理</a:t>
            </a:r>
          </a:p>
          <a:p>
            <a:pPr algn="l">
              <a:lnSpc>
                <a:spcPct val="160000"/>
              </a:lnSpc>
            </a:pPr>
            <a:r>
              <a:rPr sz="1100" b="0">
                <a:solidFill>
                  <a:srgbClr val="FFFFFF"/>
                </a:solidFill>
                <a:latin typeface="Hiragino Sans"/>
                <a:ea typeface="Hiragino Sans"/>
                <a:cs typeface="Hiragino Sans"/>
              </a:rPr>
              <a:t>• 月50案件以上の代理店 = Skai / Marin (エンタープライズ)</a:t>
            </a:r>
          </a:p>
          <a:p>
            <a:pPr algn="l">
              <a:lnSpc>
                <a:spcPct val="160000"/>
              </a:lnSpc>
            </a:pPr>
            <a:r>
              <a:rPr sz="1100" b="0">
                <a:solidFill>
                  <a:srgbClr val="FFFFFF"/>
                </a:solidFill>
                <a:latin typeface="Hiragino Sans"/>
                <a:ea typeface="Hiragino Sans"/>
                <a:cs typeface="Hiragino Sans"/>
              </a:rPr>
              <a:t>• ROI試算 : 月5-10時間の工数削減なら月$100程度のツールは即ペイ</a:t>
            </a:r>
          </a:p>
        </p:txBody>
      </p:sp>
      <p:sp>
        <p:nvSpPr>
          <p:cNvPr id="31" name="TextBox 30"/>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予測 LTV / Predictive Audiences</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高LTV顧客を『配信前』に特定する</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P192 / 250</a:t>
            </a:r>
          </a:p>
        </p:txBody>
      </p:sp>
      <p:sp>
        <p:nvSpPr>
          <p:cNvPr id="8" name="Rounded Rectangle 7"/>
          <p:cNvSpPr/>
          <p:nvPr/>
        </p:nvSpPr>
        <p:spPr>
          <a:xfrm>
            <a:off x="548640" y="1417320"/>
            <a:ext cx="3611880" cy="27432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361188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581912"/>
            <a:ext cx="3246120" cy="411480"/>
          </a:xfrm>
          <a:prstGeom prst="rect">
            <a:avLst/>
          </a:prstGeom>
          <a:noFill/>
        </p:spPr>
        <p:txBody>
          <a:bodyPr wrap="square" anchor="t" lIns="0" rIns="0" tIns="0" bIns="0">
            <a:spAutoFit/>
          </a:bodyPr>
          <a:lstStyle/>
          <a:p>
            <a:pPr algn="l">
              <a:lnSpc>
                <a:spcPct val="120000"/>
              </a:lnSpc>
            </a:pPr>
            <a:r>
              <a:rPr sz="1400" b="1">
                <a:solidFill>
                  <a:srgbClr val="E87722"/>
                </a:solidFill>
                <a:latin typeface="Hiragino Sans"/>
                <a:ea typeface="Hiragino Sans"/>
                <a:cs typeface="Hiragino Sans"/>
              </a:rPr>
              <a:t>GA4 Predictive Audiences</a:t>
            </a:r>
          </a:p>
        </p:txBody>
      </p:sp>
      <p:sp>
        <p:nvSpPr>
          <p:cNvPr id="11" name="TextBox 10"/>
          <p:cNvSpPr txBox="1"/>
          <p:nvPr/>
        </p:nvSpPr>
        <p:spPr>
          <a:xfrm>
            <a:off x="777240" y="1965960"/>
            <a:ext cx="3246120" cy="274320"/>
          </a:xfrm>
          <a:prstGeom prst="rect">
            <a:avLst/>
          </a:prstGeom>
          <a:noFill/>
        </p:spPr>
        <p:txBody>
          <a:bodyPr wrap="square" anchor="t" lIns="0" rIns="0" tIns="0" bIns="0">
            <a:spAutoFit/>
          </a:bodyPr>
          <a:lstStyle/>
          <a:p>
            <a:pPr algn="l">
              <a:lnSpc>
                <a:spcPct val="115000"/>
              </a:lnSpc>
            </a:pPr>
            <a:r>
              <a:rPr sz="1000" b="0">
                <a:solidFill>
                  <a:srgbClr val="FFFFFF"/>
                </a:solidFill>
                <a:latin typeface="Hiragino Sans"/>
                <a:ea typeface="Hiragino Sans"/>
                <a:cs typeface="Hiragino Sans"/>
              </a:rPr>
              <a:t>Google公式 / 無料</a:t>
            </a:r>
          </a:p>
        </p:txBody>
      </p:sp>
      <p:sp>
        <p:nvSpPr>
          <p:cNvPr id="12" name="TextBox 11"/>
          <p:cNvSpPr txBox="1"/>
          <p:nvPr/>
        </p:nvSpPr>
        <p:spPr>
          <a:xfrm>
            <a:off x="777240" y="2423160"/>
            <a:ext cx="3246120" cy="1691640"/>
          </a:xfrm>
          <a:prstGeom prst="rect">
            <a:avLst/>
          </a:prstGeom>
          <a:noFill/>
        </p:spPr>
        <p:txBody>
          <a:bodyPr wrap="square" anchor="t" lIns="0" rIns="0" tIns="0" bIns="0">
            <a:spAutoFit/>
          </a:bodyPr>
          <a:lstStyle/>
          <a:p>
            <a:pPr algn="l">
              <a:lnSpc>
                <a:spcPct val="165000"/>
              </a:lnSpc>
            </a:pPr>
            <a:r>
              <a:rPr sz="1100" b="0">
                <a:solidFill>
                  <a:srgbClr val="1A1A1A"/>
                </a:solidFill>
                <a:latin typeface="Hiragino Sans"/>
                <a:ea typeface="Hiragino Sans"/>
                <a:cs typeface="Hiragino Sans"/>
              </a:rPr>
              <a:t>Likely 7-day Purchasers</a:t>
            </a:r>
          </a:p>
          <a:p>
            <a:pPr algn="l">
              <a:lnSpc>
                <a:spcPct val="165000"/>
              </a:lnSpc>
            </a:pPr>
            <a:r>
              <a:rPr sz="1100" b="0">
                <a:solidFill>
                  <a:srgbClr val="1A1A1A"/>
                </a:solidFill>
                <a:latin typeface="Hiragino Sans"/>
                <a:ea typeface="Hiragino Sans"/>
                <a:cs typeface="Hiragino Sans"/>
              </a:rPr>
              <a:t>Likely 7-day Churners</a:t>
            </a:r>
          </a:p>
          <a:p>
            <a:pPr algn="l">
              <a:lnSpc>
                <a:spcPct val="165000"/>
              </a:lnSpc>
            </a:pPr>
            <a:r>
              <a:rPr sz="1100" b="0">
                <a:solidFill>
                  <a:srgbClr val="1A1A1A"/>
                </a:solidFill>
                <a:latin typeface="Hiragino Sans"/>
                <a:ea typeface="Hiragino Sans"/>
                <a:cs typeface="Hiragino Sans"/>
              </a:rPr>
              <a:t>Predicted Revenue</a:t>
            </a:r>
          </a:p>
          <a:p>
            <a:pPr algn="l">
              <a:lnSpc>
                <a:spcPct val="165000"/>
              </a:lnSpc>
            </a:pPr>
            <a:r>
              <a:rPr sz="1100" b="0">
                <a:solidFill>
                  <a:srgbClr val="1A1A1A"/>
                </a:solidFill>
                <a:latin typeface="Hiragino Sans"/>
                <a:ea typeface="Hiragino Sans"/>
                <a:cs typeface="Hiragino Sans"/>
              </a:rPr>
              <a:t>Top Spenders</a:t>
            </a:r>
          </a:p>
          <a:p>
            <a:pPr algn="l">
              <a:lnSpc>
                <a:spcPct val="165000"/>
              </a:lnSpc>
            </a:pPr>
            <a:r>
              <a:rPr sz="1100" b="0">
                <a:solidFill>
                  <a:srgbClr val="1A1A1A"/>
                </a:solidFill>
                <a:latin typeface="Hiragino Sans"/>
                <a:ea typeface="Hiragino Sans"/>
                <a:cs typeface="Hiragino Sans"/>
              </a:rPr>
              <a:t>Google Adsへimport可能</a:t>
            </a:r>
          </a:p>
        </p:txBody>
      </p:sp>
      <p:sp>
        <p:nvSpPr>
          <p:cNvPr id="13" name="Rounded Rectangle 12"/>
          <p:cNvSpPr/>
          <p:nvPr/>
        </p:nvSpPr>
        <p:spPr>
          <a:xfrm>
            <a:off x="4297680" y="1417320"/>
            <a:ext cx="3611880" cy="27432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7680" y="1417320"/>
            <a:ext cx="361188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26280" y="1581912"/>
            <a:ext cx="3246120" cy="411480"/>
          </a:xfrm>
          <a:prstGeom prst="rect">
            <a:avLst/>
          </a:prstGeom>
          <a:noFill/>
        </p:spPr>
        <p:txBody>
          <a:bodyPr wrap="square" anchor="t" lIns="0" rIns="0" tIns="0" bIns="0">
            <a:spAutoFit/>
          </a:bodyPr>
          <a:lstStyle/>
          <a:p>
            <a:pPr algn="l">
              <a:lnSpc>
                <a:spcPct val="120000"/>
              </a:lnSpc>
            </a:pPr>
            <a:r>
              <a:rPr sz="1400" b="1">
                <a:solidFill>
                  <a:srgbClr val="FFFFFF"/>
                </a:solidFill>
                <a:latin typeface="Hiragino Sans"/>
                <a:ea typeface="Hiragino Sans"/>
                <a:cs typeface="Hiragino Sans"/>
              </a:rPr>
              <a:t>Meta Lookalike (Value-based)</a:t>
            </a:r>
          </a:p>
        </p:txBody>
      </p:sp>
      <p:sp>
        <p:nvSpPr>
          <p:cNvPr id="16" name="TextBox 15"/>
          <p:cNvSpPr txBox="1"/>
          <p:nvPr/>
        </p:nvSpPr>
        <p:spPr>
          <a:xfrm>
            <a:off x="4526280" y="1965960"/>
            <a:ext cx="3246120" cy="274320"/>
          </a:xfrm>
          <a:prstGeom prst="rect">
            <a:avLst/>
          </a:prstGeom>
          <a:noFill/>
        </p:spPr>
        <p:txBody>
          <a:bodyPr wrap="square" anchor="t" lIns="0" rIns="0" tIns="0" bIns="0">
            <a:spAutoFit/>
          </a:bodyPr>
          <a:lstStyle/>
          <a:p>
            <a:pPr algn="l">
              <a:lnSpc>
                <a:spcPct val="115000"/>
              </a:lnSpc>
            </a:pPr>
            <a:r>
              <a:rPr sz="1000" b="0">
                <a:solidFill>
                  <a:srgbClr val="FFFFFF"/>
                </a:solidFill>
                <a:latin typeface="Hiragino Sans"/>
                <a:ea typeface="Hiragino Sans"/>
                <a:cs typeface="Hiragino Sans"/>
              </a:rPr>
              <a:t>Meta公式</a:t>
            </a:r>
          </a:p>
        </p:txBody>
      </p:sp>
      <p:sp>
        <p:nvSpPr>
          <p:cNvPr id="17" name="TextBox 16"/>
          <p:cNvSpPr txBox="1"/>
          <p:nvPr/>
        </p:nvSpPr>
        <p:spPr>
          <a:xfrm>
            <a:off x="4526280" y="2423160"/>
            <a:ext cx="3246120" cy="1691640"/>
          </a:xfrm>
          <a:prstGeom prst="rect">
            <a:avLst/>
          </a:prstGeom>
          <a:noFill/>
        </p:spPr>
        <p:txBody>
          <a:bodyPr wrap="square" anchor="t" lIns="0" rIns="0" tIns="0" bIns="0">
            <a:spAutoFit/>
          </a:bodyPr>
          <a:lstStyle/>
          <a:p>
            <a:pPr algn="l">
              <a:lnSpc>
                <a:spcPct val="165000"/>
              </a:lnSpc>
            </a:pPr>
            <a:r>
              <a:rPr sz="1100" b="0">
                <a:solidFill>
                  <a:srgbClr val="1A1A1A"/>
                </a:solidFill>
                <a:latin typeface="Hiragino Sans"/>
                <a:ea typeface="Hiragino Sans"/>
                <a:cs typeface="Hiragino Sans"/>
              </a:rPr>
              <a:t>Customer Match を</a:t>
            </a:r>
          </a:p>
          <a:p>
            <a:pPr algn="l">
              <a:lnSpc>
                <a:spcPct val="165000"/>
              </a:lnSpc>
            </a:pPr>
            <a:r>
              <a:rPr sz="1100" b="0">
                <a:solidFill>
                  <a:srgbClr val="1A1A1A"/>
                </a:solidFill>
                <a:latin typeface="Hiragino Sans"/>
                <a:ea typeface="Hiragino Sans"/>
                <a:cs typeface="Hiragino Sans"/>
              </a:rPr>
              <a:t>LTV重み付けでアップロード。</a:t>
            </a:r>
          </a:p>
          <a:p>
            <a:pPr algn="l">
              <a:lnSpc>
                <a:spcPct val="165000"/>
              </a:lnSpc>
            </a:pPr>
            <a:r>
              <a:rPr sz="1100" b="0">
                <a:solidFill>
                  <a:srgbClr val="1A1A1A"/>
                </a:solidFill>
                <a:latin typeface="Hiragino Sans"/>
                <a:ea typeface="Hiragino Sans"/>
                <a:cs typeface="Hiragino Sans"/>
              </a:rPr>
              <a:t>高LTV顧客に類似した</a:t>
            </a:r>
          </a:p>
          <a:p>
            <a:pPr algn="l">
              <a:lnSpc>
                <a:spcPct val="165000"/>
              </a:lnSpc>
            </a:pPr>
            <a:r>
              <a:rPr sz="1100" b="0">
                <a:solidFill>
                  <a:srgbClr val="1A1A1A"/>
                </a:solidFill>
                <a:latin typeface="Hiragino Sans"/>
                <a:ea typeface="Hiragino Sans"/>
                <a:cs typeface="Hiragino Sans"/>
              </a:rPr>
              <a:t>新規ユーザーを優先配信</a:t>
            </a:r>
          </a:p>
        </p:txBody>
      </p:sp>
      <p:sp>
        <p:nvSpPr>
          <p:cNvPr id="18" name="Rounded Rectangle 17"/>
          <p:cNvSpPr/>
          <p:nvPr/>
        </p:nvSpPr>
        <p:spPr>
          <a:xfrm>
            <a:off x="8046720" y="1417320"/>
            <a:ext cx="3611880" cy="27432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6720" y="1417320"/>
            <a:ext cx="3611880" cy="777240"/>
          </a:xfrm>
          <a:prstGeom prst="rect">
            <a:avLst/>
          </a:prstGeom>
          <a:solidFill>
            <a:srgbClr val="2B44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1581912"/>
            <a:ext cx="3246120" cy="411480"/>
          </a:xfrm>
          <a:prstGeom prst="rect">
            <a:avLst/>
          </a:prstGeom>
          <a:noFill/>
        </p:spPr>
        <p:txBody>
          <a:bodyPr wrap="square" anchor="t" lIns="0" rIns="0" tIns="0" bIns="0">
            <a:spAutoFit/>
          </a:bodyPr>
          <a:lstStyle/>
          <a:p>
            <a:pPr algn="l">
              <a:lnSpc>
                <a:spcPct val="120000"/>
              </a:lnSpc>
            </a:pPr>
            <a:r>
              <a:rPr sz="1400" b="1">
                <a:solidFill>
                  <a:srgbClr val="E87722"/>
                </a:solidFill>
                <a:latin typeface="Hiragino Sans"/>
                <a:ea typeface="Hiragino Sans"/>
                <a:cs typeface="Hiragino Sans"/>
              </a:rPr>
              <a:t>カスタムMLモデル</a:t>
            </a:r>
          </a:p>
        </p:txBody>
      </p:sp>
      <p:sp>
        <p:nvSpPr>
          <p:cNvPr id="21" name="TextBox 20"/>
          <p:cNvSpPr txBox="1"/>
          <p:nvPr/>
        </p:nvSpPr>
        <p:spPr>
          <a:xfrm>
            <a:off x="8275320" y="1965960"/>
            <a:ext cx="3246120" cy="274320"/>
          </a:xfrm>
          <a:prstGeom prst="rect">
            <a:avLst/>
          </a:prstGeom>
          <a:noFill/>
        </p:spPr>
        <p:txBody>
          <a:bodyPr wrap="square" anchor="t" lIns="0" rIns="0" tIns="0" bIns="0">
            <a:spAutoFit/>
          </a:bodyPr>
          <a:lstStyle/>
          <a:p>
            <a:pPr algn="l">
              <a:lnSpc>
                <a:spcPct val="115000"/>
              </a:lnSpc>
            </a:pPr>
            <a:r>
              <a:rPr sz="1000" b="0">
                <a:solidFill>
                  <a:srgbClr val="FFFFFF"/>
                </a:solidFill>
                <a:latin typeface="Hiragino Sans"/>
                <a:ea typeface="Hiragino Sans"/>
                <a:cs typeface="Hiragino Sans"/>
              </a:rPr>
              <a:t>BigQuery ML / Vertex AI</a:t>
            </a:r>
          </a:p>
        </p:txBody>
      </p:sp>
      <p:sp>
        <p:nvSpPr>
          <p:cNvPr id="22" name="TextBox 21"/>
          <p:cNvSpPr txBox="1"/>
          <p:nvPr/>
        </p:nvSpPr>
        <p:spPr>
          <a:xfrm>
            <a:off x="8275320" y="2423160"/>
            <a:ext cx="3246120" cy="1691640"/>
          </a:xfrm>
          <a:prstGeom prst="rect">
            <a:avLst/>
          </a:prstGeom>
          <a:noFill/>
        </p:spPr>
        <p:txBody>
          <a:bodyPr wrap="square" anchor="t" lIns="0" rIns="0" tIns="0" bIns="0">
            <a:spAutoFit/>
          </a:bodyPr>
          <a:lstStyle/>
          <a:p>
            <a:pPr algn="l">
              <a:lnSpc>
                <a:spcPct val="165000"/>
              </a:lnSpc>
            </a:pPr>
            <a:r>
              <a:rPr sz="1100" b="0">
                <a:solidFill>
                  <a:srgbClr val="1A1A1A"/>
                </a:solidFill>
                <a:latin typeface="Hiragino Sans"/>
                <a:ea typeface="Hiragino Sans"/>
                <a:cs typeface="Hiragino Sans"/>
              </a:rPr>
              <a:t>1PD + GA4 + 売上データで</a:t>
            </a:r>
          </a:p>
          <a:p>
            <a:pPr algn="l">
              <a:lnSpc>
                <a:spcPct val="165000"/>
              </a:lnSpc>
            </a:pPr>
            <a:r>
              <a:rPr sz="1100" b="0">
                <a:solidFill>
                  <a:srgbClr val="1A1A1A"/>
                </a:solidFill>
                <a:latin typeface="Hiragino Sans"/>
                <a:ea typeface="Hiragino Sans"/>
                <a:cs typeface="Hiragino Sans"/>
              </a:rPr>
              <a:t>独自LTV予測モデル構築。</a:t>
            </a:r>
          </a:p>
          <a:p>
            <a:pPr algn="l">
              <a:lnSpc>
                <a:spcPct val="165000"/>
              </a:lnSpc>
            </a:pPr>
            <a:r>
              <a:rPr sz="1100" b="0">
                <a:solidFill>
                  <a:srgbClr val="1A1A1A"/>
                </a:solidFill>
                <a:latin typeface="Hiragino Sans"/>
                <a:ea typeface="Hiragino Sans"/>
                <a:cs typeface="Hiragino Sans"/>
              </a:rPr>
              <a:t>副業代行 : 月予算500万以上で検討</a:t>
            </a:r>
          </a:p>
        </p:txBody>
      </p:sp>
      <p:sp>
        <p:nvSpPr>
          <p:cNvPr id="23" name="Rounded Rectangle 22"/>
          <p:cNvSpPr/>
          <p:nvPr/>
        </p:nvSpPr>
        <p:spPr>
          <a:xfrm>
            <a:off x="548640" y="4297680"/>
            <a:ext cx="11109960" cy="205740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4434840"/>
            <a:ext cx="100584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 副業代行で予測モデルを活用するシナリオ</a:t>
            </a:r>
          </a:p>
        </p:txBody>
      </p:sp>
      <p:sp>
        <p:nvSpPr>
          <p:cNvPr id="25" name="TextBox 24"/>
          <p:cNvSpPr txBox="1"/>
          <p:nvPr/>
        </p:nvSpPr>
        <p:spPr>
          <a:xfrm>
            <a:off x="777240" y="4754880"/>
            <a:ext cx="10972800" cy="155448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 全クライアント : GA4 Predictive Audiences は無料で即利用可、Google Ads import</a:t>
            </a:r>
          </a:p>
          <a:p>
            <a:pPr algn="l">
              <a:lnSpc>
                <a:spcPct val="160000"/>
              </a:lnSpc>
            </a:pPr>
            <a:r>
              <a:rPr sz="1100" b="0">
                <a:solidFill>
                  <a:srgbClr val="1A1A1A"/>
                </a:solidFill>
                <a:latin typeface="Hiragino Sans"/>
                <a:ea typeface="Hiragino Sans"/>
                <a:cs typeface="Hiragino Sans"/>
              </a:rPr>
              <a:t>• EC / D2C : Meta Lookalike (Value-based) で高LTV類似に偏重配信</a:t>
            </a:r>
          </a:p>
          <a:p>
            <a:pPr algn="l">
              <a:lnSpc>
                <a:spcPct val="160000"/>
              </a:lnSpc>
            </a:pPr>
            <a:r>
              <a:rPr sz="1100" b="0">
                <a:solidFill>
                  <a:srgbClr val="1A1A1A"/>
                </a:solidFill>
                <a:latin typeface="Hiragino Sans"/>
                <a:ea typeface="Hiragino Sans"/>
                <a:cs typeface="Hiragino Sans"/>
              </a:rPr>
              <a:t>• 月予算300万以上 : Customer Match に LTV重みを付けて Lookalike実装</a:t>
            </a:r>
          </a:p>
          <a:p>
            <a:pPr algn="l">
              <a:lnSpc>
                <a:spcPct val="160000"/>
              </a:lnSpc>
            </a:pPr>
            <a:r>
              <a:rPr sz="1100" b="0">
                <a:solidFill>
                  <a:srgbClr val="1A1A1A"/>
                </a:solidFill>
                <a:latin typeface="Hiragino Sans"/>
                <a:ea typeface="Hiragino Sans"/>
                <a:cs typeface="Hiragino Sans"/>
              </a:rPr>
              <a:t>• 月予算1,000万以上 : BigQuery ML でカスタムLTVモデル構築</a:t>
            </a:r>
          </a:p>
        </p:txBody>
      </p:sp>
      <p:sp>
        <p:nvSpPr>
          <p:cNvPr id="26" name="TextBox 25"/>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クリエイティブ予測 (Creative Intelligence)</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配信前にクリエイティブの効果を予測</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P193 / 250</a:t>
            </a:r>
          </a:p>
        </p:txBody>
      </p:sp>
      <p:sp>
        <p:nvSpPr>
          <p:cNvPr id="8" name="Rounded Rectangle 7"/>
          <p:cNvSpPr/>
          <p:nvPr/>
        </p:nvSpPr>
        <p:spPr>
          <a:xfrm>
            <a:off x="548640" y="1417320"/>
            <a:ext cx="3611880" cy="27432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361188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581912"/>
            <a:ext cx="3246120" cy="411480"/>
          </a:xfrm>
          <a:prstGeom prst="rect">
            <a:avLst/>
          </a:prstGeom>
          <a:noFill/>
        </p:spPr>
        <p:txBody>
          <a:bodyPr wrap="square" anchor="t" lIns="0" rIns="0" tIns="0" bIns="0">
            <a:spAutoFit/>
          </a:bodyPr>
          <a:lstStyle/>
          <a:p>
            <a:pPr algn="l">
              <a:lnSpc>
                <a:spcPct val="115000"/>
              </a:lnSpc>
            </a:pPr>
            <a:r>
              <a:rPr sz="1500" b="1">
                <a:solidFill>
                  <a:srgbClr val="FFFFFF"/>
                </a:solidFill>
                <a:latin typeface="Hiragino Sans"/>
                <a:ea typeface="Hiragino Sans"/>
                <a:cs typeface="Hiragino Sans"/>
              </a:rPr>
              <a:t>Vidmob</a:t>
            </a:r>
          </a:p>
        </p:txBody>
      </p:sp>
      <p:sp>
        <p:nvSpPr>
          <p:cNvPr id="11" name="TextBox 10"/>
          <p:cNvSpPr txBox="1"/>
          <p:nvPr/>
        </p:nvSpPr>
        <p:spPr>
          <a:xfrm>
            <a:off x="777240" y="1965960"/>
            <a:ext cx="3246120" cy="274320"/>
          </a:xfrm>
          <a:prstGeom prst="rect">
            <a:avLst/>
          </a:prstGeom>
          <a:noFill/>
        </p:spPr>
        <p:txBody>
          <a:bodyPr wrap="square" anchor="t" lIns="0" rIns="0" tIns="0" bIns="0">
            <a:spAutoFit/>
          </a:bodyPr>
          <a:lstStyle/>
          <a:p>
            <a:pPr algn="l">
              <a:lnSpc>
                <a:spcPct val="115000"/>
              </a:lnSpc>
            </a:pPr>
            <a:r>
              <a:rPr sz="1000" b="0">
                <a:solidFill>
                  <a:srgbClr val="FFFFFF"/>
                </a:solidFill>
                <a:latin typeface="Hiragino Sans"/>
                <a:ea typeface="Hiragino Sans"/>
                <a:cs typeface="Hiragino Sans"/>
              </a:rPr>
              <a:t>Meta公式パートナー</a:t>
            </a:r>
          </a:p>
        </p:txBody>
      </p:sp>
      <p:sp>
        <p:nvSpPr>
          <p:cNvPr id="12" name="TextBox 11"/>
          <p:cNvSpPr txBox="1"/>
          <p:nvPr/>
        </p:nvSpPr>
        <p:spPr>
          <a:xfrm>
            <a:off x="777240" y="2423160"/>
            <a:ext cx="3246120" cy="1691640"/>
          </a:xfrm>
          <a:prstGeom prst="rect">
            <a:avLst/>
          </a:prstGeom>
          <a:noFill/>
        </p:spPr>
        <p:txBody>
          <a:bodyPr wrap="square" anchor="t" lIns="0" rIns="0" tIns="0" bIns="0">
            <a:spAutoFit/>
          </a:bodyPr>
          <a:lstStyle/>
          <a:p>
            <a:pPr algn="l">
              <a:lnSpc>
                <a:spcPct val="165000"/>
              </a:lnSpc>
            </a:pPr>
            <a:r>
              <a:rPr sz="1100" b="0">
                <a:solidFill>
                  <a:srgbClr val="1A1A1A"/>
                </a:solidFill>
                <a:latin typeface="Hiragino Sans"/>
                <a:ea typeface="Hiragino Sans"/>
                <a:cs typeface="Hiragino Sans"/>
              </a:rPr>
              <a:t>動画クリエイティブ</a:t>
            </a:r>
          </a:p>
          <a:p>
            <a:pPr algn="l">
              <a:lnSpc>
                <a:spcPct val="165000"/>
              </a:lnSpc>
            </a:pPr>
            <a:r>
              <a:rPr sz="1100" b="0">
                <a:solidFill>
                  <a:srgbClr val="1A1A1A"/>
                </a:solidFill>
                <a:latin typeface="Hiragino Sans"/>
                <a:ea typeface="Hiragino Sans"/>
                <a:cs typeface="Hiragino Sans"/>
              </a:rPr>
              <a:t>スコアリング + 改善提案</a:t>
            </a:r>
          </a:p>
          <a:p>
            <a:pPr algn="l">
              <a:lnSpc>
                <a:spcPct val="165000"/>
              </a:lnSpc>
            </a:pPr>
            <a:r>
              <a:rPr sz="1100" b="0">
                <a:solidFill>
                  <a:srgbClr val="1A1A1A"/>
                </a:solidFill>
                <a:latin typeface="Hiragino Sans"/>
                <a:ea typeface="Hiragino Sans"/>
                <a:cs typeface="Hiragino Sans"/>
              </a:rPr>
              <a:t>Meta Advantage+ Creative補強</a:t>
            </a:r>
          </a:p>
        </p:txBody>
      </p:sp>
      <p:sp>
        <p:nvSpPr>
          <p:cNvPr id="13" name="Rounded Rectangle 12"/>
          <p:cNvSpPr/>
          <p:nvPr/>
        </p:nvSpPr>
        <p:spPr>
          <a:xfrm>
            <a:off x="4297680" y="1417320"/>
            <a:ext cx="3611880" cy="27432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7680" y="1417320"/>
            <a:ext cx="361188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26280" y="1581912"/>
            <a:ext cx="3246120" cy="411480"/>
          </a:xfrm>
          <a:prstGeom prst="rect">
            <a:avLst/>
          </a:prstGeom>
          <a:noFill/>
        </p:spPr>
        <p:txBody>
          <a:bodyPr wrap="square" anchor="t" lIns="0" rIns="0" tIns="0" bIns="0">
            <a:spAutoFit/>
          </a:bodyPr>
          <a:lstStyle/>
          <a:p>
            <a:pPr algn="l">
              <a:lnSpc>
                <a:spcPct val="115000"/>
              </a:lnSpc>
            </a:pPr>
            <a:r>
              <a:rPr sz="1500" b="1">
                <a:solidFill>
                  <a:srgbClr val="FFFFFF"/>
                </a:solidFill>
                <a:latin typeface="Hiragino Sans"/>
                <a:ea typeface="Hiragino Sans"/>
                <a:cs typeface="Hiragino Sans"/>
              </a:rPr>
              <a:t>Anyword</a:t>
            </a:r>
          </a:p>
        </p:txBody>
      </p:sp>
      <p:sp>
        <p:nvSpPr>
          <p:cNvPr id="16" name="TextBox 15"/>
          <p:cNvSpPr txBox="1"/>
          <p:nvPr/>
        </p:nvSpPr>
        <p:spPr>
          <a:xfrm>
            <a:off x="4526280" y="1965960"/>
            <a:ext cx="3246120" cy="274320"/>
          </a:xfrm>
          <a:prstGeom prst="rect">
            <a:avLst/>
          </a:prstGeom>
          <a:noFill/>
        </p:spPr>
        <p:txBody>
          <a:bodyPr wrap="square" anchor="t" lIns="0" rIns="0" tIns="0" bIns="0">
            <a:spAutoFit/>
          </a:bodyPr>
          <a:lstStyle/>
          <a:p>
            <a:pPr algn="l">
              <a:lnSpc>
                <a:spcPct val="115000"/>
              </a:lnSpc>
            </a:pPr>
            <a:r>
              <a:rPr sz="1000" b="0">
                <a:solidFill>
                  <a:srgbClr val="FFFFFF"/>
                </a:solidFill>
                <a:latin typeface="Hiragino Sans"/>
                <a:ea typeface="Hiragino Sans"/>
                <a:cs typeface="Hiragino Sans"/>
              </a:rPr>
              <a:t>コピー予測</a:t>
            </a:r>
          </a:p>
        </p:txBody>
      </p:sp>
      <p:sp>
        <p:nvSpPr>
          <p:cNvPr id="17" name="TextBox 16"/>
          <p:cNvSpPr txBox="1"/>
          <p:nvPr/>
        </p:nvSpPr>
        <p:spPr>
          <a:xfrm>
            <a:off x="4526280" y="2423160"/>
            <a:ext cx="3246120" cy="1691640"/>
          </a:xfrm>
          <a:prstGeom prst="rect">
            <a:avLst/>
          </a:prstGeom>
          <a:noFill/>
        </p:spPr>
        <p:txBody>
          <a:bodyPr wrap="square" anchor="t" lIns="0" rIns="0" tIns="0" bIns="0">
            <a:spAutoFit/>
          </a:bodyPr>
          <a:lstStyle/>
          <a:p>
            <a:pPr algn="l">
              <a:lnSpc>
                <a:spcPct val="165000"/>
              </a:lnSpc>
            </a:pPr>
            <a:r>
              <a:rPr sz="1100" b="0">
                <a:solidFill>
                  <a:srgbClr val="1A1A1A"/>
                </a:solidFill>
                <a:latin typeface="Hiragino Sans"/>
                <a:ea typeface="Hiragino Sans"/>
                <a:cs typeface="Hiragino Sans"/>
              </a:rPr>
              <a:t>広告コピーに予測スコア</a:t>
            </a:r>
          </a:p>
          <a:p>
            <a:pPr algn="l">
              <a:lnSpc>
                <a:spcPct val="165000"/>
              </a:lnSpc>
            </a:pPr>
            <a:r>
              <a:rPr sz="1100" b="0">
                <a:solidFill>
                  <a:srgbClr val="1A1A1A"/>
                </a:solidFill>
                <a:latin typeface="Hiragino Sans"/>
                <a:ea typeface="Hiragino Sans"/>
                <a:cs typeface="Hiragino Sans"/>
              </a:rPr>
              <a:t>配信前にABテスト代替</a:t>
            </a:r>
          </a:p>
          <a:p>
            <a:pPr algn="l">
              <a:lnSpc>
                <a:spcPct val="165000"/>
              </a:lnSpc>
            </a:pPr>
            <a:r>
              <a:rPr sz="1100" b="0">
                <a:solidFill>
                  <a:srgbClr val="1A1A1A"/>
                </a:solidFill>
                <a:latin typeface="Hiragino Sans"/>
                <a:ea typeface="Hiragino Sans"/>
                <a:cs typeface="Hiragino Sans"/>
              </a:rPr>
              <a:t>副業代行で活用増</a:t>
            </a:r>
          </a:p>
        </p:txBody>
      </p:sp>
      <p:sp>
        <p:nvSpPr>
          <p:cNvPr id="18" name="Rounded Rectangle 17"/>
          <p:cNvSpPr/>
          <p:nvPr/>
        </p:nvSpPr>
        <p:spPr>
          <a:xfrm>
            <a:off x="8046720" y="1417320"/>
            <a:ext cx="3611880" cy="27432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6720" y="1417320"/>
            <a:ext cx="361188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1581912"/>
            <a:ext cx="3246120" cy="411480"/>
          </a:xfrm>
          <a:prstGeom prst="rect">
            <a:avLst/>
          </a:prstGeom>
          <a:noFill/>
        </p:spPr>
        <p:txBody>
          <a:bodyPr wrap="square" anchor="t" lIns="0" rIns="0" tIns="0" bIns="0">
            <a:spAutoFit/>
          </a:bodyPr>
          <a:lstStyle/>
          <a:p>
            <a:pPr algn="l">
              <a:lnSpc>
                <a:spcPct val="115000"/>
              </a:lnSpc>
            </a:pPr>
            <a:r>
              <a:rPr sz="1500" b="1">
                <a:solidFill>
                  <a:srgbClr val="FFFFFF"/>
                </a:solidFill>
                <a:latin typeface="Hiragino Sans"/>
                <a:ea typeface="Hiragino Sans"/>
                <a:cs typeface="Hiragino Sans"/>
              </a:rPr>
              <a:t>Vidlytic</a:t>
            </a:r>
          </a:p>
        </p:txBody>
      </p:sp>
      <p:sp>
        <p:nvSpPr>
          <p:cNvPr id="21" name="TextBox 20"/>
          <p:cNvSpPr txBox="1"/>
          <p:nvPr/>
        </p:nvSpPr>
        <p:spPr>
          <a:xfrm>
            <a:off x="8275320" y="1965960"/>
            <a:ext cx="3246120" cy="274320"/>
          </a:xfrm>
          <a:prstGeom prst="rect">
            <a:avLst/>
          </a:prstGeom>
          <a:noFill/>
        </p:spPr>
        <p:txBody>
          <a:bodyPr wrap="square" anchor="t" lIns="0" rIns="0" tIns="0" bIns="0">
            <a:spAutoFit/>
          </a:bodyPr>
          <a:lstStyle/>
          <a:p>
            <a:pPr algn="l">
              <a:lnSpc>
                <a:spcPct val="115000"/>
              </a:lnSpc>
            </a:pPr>
            <a:r>
              <a:rPr sz="1000" b="0">
                <a:solidFill>
                  <a:srgbClr val="FFFFFF"/>
                </a:solidFill>
                <a:latin typeface="Hiragino Sans"/>
                <a:ea typeface="Hiragino Sans"/>
                <a:cs typeface="Hiragino Sans"/>
              </a:rPr>
              <a:t>TikTok向け</a:t>
            </a:r>
          </a:p>
        </p:txBody>
      </p:sp>
      <p:sp>
        <p:nvSpPr>
          <p:cNvPr id="22" name="TextBox 21"/>
          <p:cNvSpPr txBox="1"/>
          <p:nvPr/>
        </p:nvSpPr>
        <p:spPr>
          <a:xfrm>
            <a:off x="8275320" y="2423160"/>
            <a:ext cx="3246120" cy="1691640"/>
          </a:xfrm>
          <a:prstGeom prst="rect">
            <a:avLst/>
          </a:prstGeom>
          <a:noFill/>
        </p:spPr>
        <p:txBody>
          <a:bodyPr wrap="square" anchor="t" lIns="0" rIns="0" tIns="0" bIns="0">
            <a:spAutoFit/>
          </a:bodyPr>
          <a:lstStyle/>
          <a:p>
            <a:pPr algn="l">
              <a:lnSpc>
                <a:spcPct val="165000"/>
              </a:lnSpc>
            </a:pPr>
            <a:r>
              <a:rPr sz="1100" b="0">
                <a:solidFill>
                  <a:srgbClr val="1A1A1A"/>
                </a:solidFill>
                <a:latin typeface="Hiragino Sans"/>
                <a:ea typeface="Hiragino Sans"/>
                <a:cs typeface="Hiragino Sans"/>
              </a:rPr>
              <a:t>TikTok動画スコアリング</a:t>
            </a:r>
          </a:p>
          <a:p>
            <a:pPr algn="l">
              <a:lnSpc>
                <a:spcPct val="165000"/>
              </a:lnSpc>
            </a:pPr>
            <a:r>
              <a:rPr sz="1100" b="0">
                <a:solidFill>
                  <a:srgbClr val="1A1A1A"/>
                </a:solidFill>
                <a:latin typeface="Hiragino Sans"/>
                <a:ea typeface="Hiragino Sans"/>
                <a:cs typeface="Hiragino Sans"/>
              </a:rPr>
              <a:t>Trend連動分析</a:t>
            </a:r>
          </a:p>
          <a:p>
            <a:pPr algn="l">
              <a:lnSpc>
                <a:spcPct val="165000"/>
              </a:lnSpc>
            </a:pPr>
            <a:r>
              <a:rPr sz="1100" b="0">
                <a:solidFill>
                  <a:srgbClr val="1A1A1A"/>
                </a:solidFill>
                <a:latin typeface="Hiragino Sans"/>
                <a:ea typeface="Hiragino Sans"/>
                <a:cs typeface="Hiragino Sans"/>
              </a:rPr>
              <a:t>中堅〜大手向け</a:t>
            </a:r>
          </a:p>
        </p:txBody>
      </p:sp>
      <p:sp>
        <p:nvSpPr>
          <p:cNvPr id="23" name="Rounded Rectangle 22"/>
          <p:cNvSpPr/>
          <p:nvPr/>
        </p:nvSpPr>
        <p:spPr>
          <a:xfrm>
            <a:off x="548640" y="4297680"/>
            <a:ext cx="11109960" cy="205740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4434840"/>
            <a:ext cx="10058400" cy="320040"/>
          </a:xfrm>
          <a:prstGeom prst="rect">
            <a:avLst/>
          </a:prstGeom>
          <a:noFill/>
        </p:spPr>
        <p:txBody>
          <a:bodyPr wrap="square" anchor="t" lIns="0" rIns="0" tIns="0" bIns="0">
            <a:spAutoFit/>
          </a:bodyPr>
          <a:lstStyle/>
          <a:p>
            <a:pPr algn="l">
              <a:lnSpc>
                <a:spcPct val="115000"/>
              </a:lnSpc>
            </a:pPr>
            <a:r>
              <a:rPr sz="1200" b="1">
                <a:solidFill>
                  <a:srgbClr val="E87722"/>
                </a:solidFill>
                <a:latin typeface="Hiragino Sans"/>
                <a:ea typeface="Hiragino Sans"/>
                <a:cs typeface="Hiragino Sans"/>
              </a:rPr>
              <a:t>💡 クリエイティブ予測の使いどころ</a:t>
            </a:r>
          </a:p>
        </p:txBody>
      </p:sp>
      <p:sp>
        <p:nvSpPr>
          <p:cNvPr id="25" name="TextBox 24"/>
          <p:cNvSpPr txBox="1"/>
          <p:nvPr/>
        </p:nvSpPr>
        <p:spPr>
          <a:xfrm>
            <a:off x="777240" y="4754880"/>
            <a:ext cx="10972800" cy="1554480"/>
          </a:xfrm>
          <a:prstGeom prst="rect">
            <a:avLst/>
          </a:prstGeom>
          <a:noFill/>
        </p:spPr>
        <p:txBody>
          <a:bodyPr wrap="square" anchor="t" lIns="0" rIns="0" tIns="0" bIns="0">
            <a:spAutoFit/>
          </a:bodyPr>
          <a:lstStyle/>
          <a:p>
            <a:pPr algn="l">
              <a:lnSpc>
                <a:spcPct val="160000"/>
              </a:lnSpc>
            </a:pPr>
            <a:r>
              <a:rPr sz="1100" b="0">
                <a:solidFill>
                  <a:srgbClr val="FFFFFF"/>
                </a:solidFill>
                <a:latin typeface="Hiragino Sans"/>
                <a:ea typeface="Hiragino Sans"/>
                <a:cs typeface="Hiragino Sans"/>
              </a:rPr>
              <a:t>• 中小予算 = 不要、媒体ML (Smart+/Advantage+) で十分</a:t>
            </a:r>
          </a:p>
          <a:p>
            <a:pPr algn="l">
              <a:lnSpc>
                <a:spcPct val="160000"/>
              </a:lnSpc>
            </a:pPr>
            <a:r>
              <a:rPr sz="1100" b="0">
                <a:solidFill>
                  <a:srgbClr val="FFFFFF"/>
                </a:solidFill>
                <a:latin typeface="Hiragino Sans"/>
                <a:ea typeface="Hiragino Sans"/>
                <a:cs typeface="Hiragino Sans"/>
              </a:rPr>
              <a:t>• 月予算500万以上 + 動画中心 = Vidmob で動画スコアリング</a:t>
            </a:r>
          </a:p>
          <a:p>
            <a:pPr algn="l">
              <a:lnSpc>
                <a:spcPct val="160000"/>
              </a:lnSpc>
            </a:pPr>
            <a:r>
              <a:rPr sz="1100" b="0">
                <a:solidFill>
                  <a:srgbClr val="FFFFFF"/>
                </a:solidFill>
                <a:latin typeface="Hiragino Sans"/>
                <a:ea typeface="Hiragino Sans"/>
                <a:cs typeface="Hiragino Sans"/>
              </a:rPr>
              <a:t>• コピー量産時 = Anyword でA/Bテスト代替</a:t>
            </a:r>
          </a:p>
          <a:p>
            <a:pPr algn="l">
              <a:lnSpc>
                <a:spcPct val="160000"/>
              </a:lnSpc>
            </a:pPr>
            <a:r>
              <a:rPr sz="1100" b="0">
                <a:solidFill>
                  <a:srgbClr val="FFFFFF"/>
                </a:solidFill>
                <a:latin typeface="Hiragino Sans"/>
                <a:ea typeface="Hiragino Sans"/>
                <a:cs typeface="Hiragino Sans"/>
              </a:rPr>
              <a:t>• ただし配信前予測 + 配信後実績 のフィードバックループが重要 (予測≠実績)</a:t>
            </a:r>
          </a:p>
        </p:txBody>
      </p:sp>
      <p:sp>
        <p:nvSpPr>
          <p:cNvPr id="26" name="TextBox 25"/>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AI Analytics 統合 (Part 4 リキャップ)</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GA4 / Looker / Adobe Sensei</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P194 / 250</a:t>
            </a:r>
          </a:p>
        </p:txBody>
      </p:sp>
      <p:sp>
        <p:nvSpPr>
          <p:cNvPr id="8" name="Rounded Rectangle 7"/>
          <p:cNvSpPr/>
          <p:nvPr/>
        </p:nvSpPr>
        <p:spPr>
          <a:xfrm>
            <a:off x="548640" y="1417320"/>
            <a:ext cx="2697480" cy="2286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269748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581912"/>
            <a:ext cx="2331720" cy="411480"/>
          </a:xfrm>
          <a:prstGeom prst="rect">
            <a:avLst/>
          </a:prstGeom>
          <a:noFill/>
        </p:spPr>
        <p:txBody>
          <a:bodyPr wrap="square" anchor="t" lIns="0" rIns="0" tIns="0" bIns="0">
            <a:spAutoFit/>
          </a:bodyPr>
          <a:lstStyle/>
          <a:p>
            <a:pPr algn="ctr">
              <a:lnSpc>
                <a:spcPct val="120000"/>
              </a:lnSpc>
            </a:pPr>
            <a:r>
              <a:rPr sz="1300" b="1">
                <a:solidFill>
                  <a:srgbClr val="E87722"/>
                </a:solidFill>
                <a:latin typeface="Hiragino Sans"/>
                <a:ea typeface="Hiragino Sans"/>
                <a:cs typeface="Hiragino Sans"/>
              </a:rPr>
              <a:t>GA4 Insights</a:t>
            </a:r>
          </a:p>
        </p:txBody>
      </p:sp>
      <p:sp>
        <p:nvSpPr>
          <p:cNvPr id="11" name="TextBox 10"/>
          <p:cNvSpPr txBox="1"/>
          <p:nvPr/>
        </p:nvSpPr>
        <p:spPr>
          <a:xfrm>
            <a:off x="731520" y="1965960"/>
            <a:ext cx="233172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自動異常検知</a:t>
            </a:r>
          </a:p>
        </p:txBody>
      </p:sp>
      <p:sp>
        <p:nvSpPr>
          <p:cNvPr id="12" name="TextBox 11"/>
          <p:cNvSpPr txBox="1"/>
          <p:nvPr/>
        </p:nvSpPr>
        <p:spPr>
          <a:xfrm>
            <a:off x="731520" y="2423160"/>
            <a:ext cx="2331720" cy="1234440"/>
          </a:xfrm>
          <a:prstGeom prst="rect">
            <a:avLst/>
          </a:prstGeom>
          <a:noFill/>
        </p:spPr>
        <p:txBody>
          <a:bodyPr wrap="square" anchor="t" lIns="0" rIns="0" tIns="0" bIns="0">
            <a:spAutoFit/>
          </a:bodyPr>
          <a:lstStyle/>
          <a:p>
            <a:pPr algn="ctr">
              <a:lnSpc>
                <a:spcPct val="160000"/>
              </a:lnSpc>
            </a:pPr>
            <a:r>
              <a:rPr sz="1100" b="0">
                <a:solidFill>
                  <a:srgbClr val="1A1A1A"/>
                </a:solidFill>
                <a:latin typeface="Hiragino Sans"/>
                <a:ea typeface="Hiragino Sans"/>
                <a:cs typeface="Hiragino Sans"/>
              </a:rPr>
              <a:t>MLが日次データ異常を検知</a:t>
            </a:r>
          </a:p>
          <a:p>
            <a:pPr algn="ctr">
              <a:lnSpc>
                <a:spcPct val="160000"/>
              </a:lnSpc>
            </a:pPr>
            <a:r>
              <a:rPr sz="1100" b="0">
                <a:solidFill>
                  <a:srgbClr val="1A1A1A"/>
                </a:solidFill>
                <a:latin typeface="Hiragino Sans"/>
                <a:ea typeface="Hiragino Sans"/>
                <a:cs typeface="Hiragino Sans"/>
              </a:rPr>
              <a:t>『なぜ』を自然言語で解説</a:t>
            </a:r>
          </a:p>
        </p:txBody>
      </p:sp>
      <p:sp>
        <p:nvSpPr>
          <p:cNvPr id="13" name="Rounded Rectangle 12"/>
          <p:cNvSpPr/>
          <p:nvPr/>
        </p:nvSpPr>
        <p:spPr>
          <a:xfrm>
            <a:off x="3337560" y="1417320"/>
            <a:ext cx="2697480" cy="2286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37560" y="1417320"/>
            <a:ext cx="269748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20440" y="1581912"/>
            <a:ext cx="2331720" cy="411480"/>
          </a:xfrm>
          <a:prstGeom prst="rect">
            <a:avLst/>
          </a:prstGeom>
          <a:noFill/>
        </p:spPr>
        <p:txBody>
          <a:bodyPr wrap="square" anchor="t" lIns="0" rIns="0" tIns="0" bIns="0">
            <a:spAutoFit/>
          </a:bodyPr>
          <a:lstStyle/>
          <a:p>
            <a:pPr algn="ctr">
              <a:lnSpc>
                <a:spcPct val="120000"/>
              </a:lnSpc>
            </a:pPr>
            <a:r>
              <a:rPr sz="1300" b="1">
                <a:solidFill>
                  <a:srgbClr val="E87722"/>
                </a:solidFill>
                <a:latin typeface="Hiragino Sans"/>
                <a:ea typeface="Hiragino Sans"/>
                <a:cs typeface="Hiragino Sans"/>
              </a:rPr>
              <a:t>Looker Studio AI</a:t>
            </a:r>
          </a:p>
        </p:txBody>
      </p:sp>
      <p:sp>
        <p:nvSpPr>
          <p:cNvPr id="16" name="TextBox 15"/>
          <p:cNvSpPr txBox="1"/>
          <p:nvPr/>
        </p:nvSpPr>
        <p:spPr>
          <a:xfrm>
            <a:off x="3520440" y="1965960"/>
            <a:ext cx="233172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Gemini連携</a:t>
            </a:r>
          </a:p>
        </p:txBody>
      </p:sp>
      <p:sp>
        <p:nvSpPr>
          <p:cNvPr id="17" name="TextBox 16"/>
          <p:cNvSpPr txBox="1"/>
          <p:nvPr/>
        </p:nvSpPr>
        <p:spPr>
          <a:xfrm>
            <a:off x="3520440" y="2423160"/>
            <a:ext cx="2331720" cy="1234440"/>
          </a:xfrm>
          <a:prstGeom prst="rect">
            <a:avLst/>
          </a:prstGeom>
          <a:noFill/>
        </p:spPr>
        <p:txBody>
          <a:bodyPr wrap="square" anchor="t" lIns="0" rIns="0" tIns="0" bIns="0">
            <a:spAutoFit/>
          </a:bodyPr>
          <a:lstStyle/>
          <a:p>
            <a:pPr algn="ctr">
              <a:lnSpc>
                <a:spcPct val="160000"/>
              </a:lnSpc>
            </a:pPr>
            <a:r>
              <a:rPr sz="1100" b="0">
                <a:solidFill>
                  <a:srgbClr val="1A1A1A"/>
                </a:solidFill>
                <a:latin typeface="Hiragino Sans"/>
                <a:ea typeface="Hiragino Sans"/>
                <a:cs typeface="Hiragino Sans"/>
              </a:rPr>
              <a:t>クエリ自動生成</a:t>
            </a:r>
          </a:p>
          <a:p>
            <a:pPr algn="ctr">
              <a:lnSpc>
                <a:spcPct val="160000"/>
              </a:lnSpc>
            </a:pPr>
            <a:r>
              <a:rPr sz="1100" b="0">
                <a:solidFill>
                  <a:srgbClr val="1A1A1A"/>
                </a:solidFill>
                <a:latin typeface="Hiragino Sans"/>
                <a:ea typeface="Hiragino Sans"/>
                <a:cs typeface="Hiragino Sans"/>
              </a:rPr>
              <a:t>ダッシュボード自動作成</a:t>
            </a:r>
          </a:p>
        </p:txBody>
      </p:sp>
      <p:sp>
        <p:nvSpPr>
          <p:cNvPr id="18" name="Rounded Rectangle 17"/>
          <p:cNvSpPr/>
          <p:nvPr/>
        </p:nvSpPr>
        <p:spPr>
          <a:xfrm>
            <a:off x="6126480" y="1417320"/>
            <a:ext cx="2697480" cy="2286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0" y="1417320"/>
            <a:ext cx="269748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1581912"/>
            <a:ext cx="2331720" cy="411480"/>
          </a:xfrm>
          <a:prstGeom prst="rect">
            <a:avLst/>
          </a:prstGeom>
          <a:noFill/>
        </p:spPr>
        <p:txBody>
          <a:bodyPr wrap="square" anchor="t" lIns="0" rIns="0" tIns="0" bIns="0">
            <a:spAutoFit/>
          </a:bodyPr>
          <a:lstStyle/>
          <a:p>
            <a:pPr algn="ctr">
              <a:lnSpc>
                <a:spcPct val="120000"/>
              </a:lnSpc>
            </a:pPr>
            <a:r>
              <a:rPr sz="1300" b="1">
                <a:solidFill>
                  <a:srgbClr val="E87722"/>
                </a:solidFill>
                <a:latin typeface="Hiragino Sans"/>
                <a:ea typeface="Hiragino Sans"/>
                <a:cs typeface="Hiragino Sans"/>
              </a:rPr>
              <a:t>Conversational Analytics</a:t>
            </a:r>
          </a:p>
        </p:txBody>
      </p:sp>
      <p:sp>
        <p:nvSpPr>
          <p:cNvPr id="21" name="TextBox 20"/>
          <p:cNvSpPr txBox="1"/>
          <p:nvPr/>
        </p:nvSpPr>
        <p:spPr>
          <a:xfrm>
            <a:off x="6309360" y="1965960"/>
            <a:ext cx="233172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自然言語分析</a:t>
            </a:r>
          </a:p>
        </p:txBody>
      </p:sp>
      <p:sp>
        <p:nvSpPr>
          <p:cNvPr id="22" name="TextBox 21"/>
          <p:cNvSpPr txBox="1"/>
          <p:nvPr/>
        </p:nvSpPr>
        <p:spPr>
          <a:xfrm>
            <a:off x="6309360" y="2423160"/>
            <a:ext cx="2331720" cy="1234440"/>
          </a:xfrm>
          <a:prstGeom prst="rect">
            <a:avLst/>
          </a:prstGeom>
          <a:noFill/>
        </p:spPr>
        <p:txBody>
          <a:bodyPr wrap="square" anchor="t" lIns="0" rIns="0" tIns="0" bIns="0">
            <a:spAutoFit/>
          </a:bodyPr>
          <a:lstStyle/>
          <a:p>
            <a:pPr algn="ctr">
              <a:lnSpc>
                <a:spcPct val="160000"/>
              </a:lnSpc>
            </a:pPr>
            <a:r>
              <a:rPr sz="1100" b="0">
                <a:solidFill>
                  <a:srgbClr val="1A1A1A"/>
                </a:solidFill>
                <a:latin typeface="Hiragino Sans"/>
                <a:ea typeface="Hiragino Sans"/>
                <a:cs typeface="Hiragino Sans"/>
              </a:rPr>
              <a:t>『今月の売上は?』等</a:t>
            </a:r>
          </a:p>
          <a:p>
            <a:pPr algn="ctr">
              <a:lnSpc>
                <a:spcPct val="160000"/>
              </a:lnSpc>
            </a:pPr>
            <a:r>
              <a:rPr sz="1100" b="0">
                <a:solidFill>
                  <a:srgbClr val="1A1A1A"/>
                </a:solidFill>
                <a:latin typeface="Hiragino Sans"/>
                <a:ea typeface="Hiragino Sans"/>
                <a:cs typeface="Hiragino Sans"/>
              </a:rPr>
              <a:t>質問→自動回答</a:t>
            </a:r>
          </a:p>
        </p:txBody>
      </p:sp>
      <p:sp>
        <p:nvSpPr>
          <p:cNvPr id="23" name="Rounded Rectangle 22"/>
          <p:cNvSpPr/>
          <p:nvPr/>
        </p:nvSpPr>
        <p:spPr>
          <a:xfrm>
            <a:off x="8915400" y="1417320"/>
            <a:ext cx="2697480" cy="2286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15400" y="1417320"/>
            <a:ext cx="269748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98280" y="1581912"/>
            <a:ext cx="2331720" cy="411480"/>
          </a:xfrm>
          <a:prstGeom prst="rect">
            <a:avLst/>
          </a:prstGeom>
          <a:noFill/>
        </p:spPr>
        <p:txBody>
          <a:bodyPr wrap="square" anchor="t" lIns="0" rIns="0" tIns="0" bIns="0">
            <a:spAutoFit/>
          </a:bodyPr>
          <a:lstStyle/>
          <a:p>
            <a:pPr algn="ctr">
              <a:lnSpc>
                <a:spcPct val="120000"/>
              </a:lnSpc>
            </a:pPr>
            <a:r>
              <a:rPr sz="1300" b="1">
                <a:solidFill>
                  <a:srgbClr val="E87722"/>
                </a:solidFill>
                <a:latin typeface="Hiragino Sans"/>
                <a:ea typeface="Hiragino Sans"/>
                <a:cs typeface="Hiragino Sans"/>
              </a:rPr>
              <a:t>Adobe Sensei</a:t>
            </a:r>
          </a:p>
        </p:txBody>
      </p:sp>
      <p:sp>
        <p:nvSpPr>
          <p:cNvPr id="26" name="TextBox 25"/>
          <p:cNvSpPr txBox="1"/>
          <p:nvPr/>
        </p:nvSpPr>
        <p:spPr>
          <a:xfrm>
            <a:off x="9098280" y="1965960"/>
            <a:ext cx="233172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Marketo統合</a:t>
            </a:r>
          </a:p>
        </p:txBody>
      </p:sp>
      <p:sp>
        <p:nvSpPr>
          <p:cNvPr id="27" name="TextBox 26"/>
          <p:cNvSpPr txBox="1"/>
          <p:nvPr/>
        </p:nvSpPr>
        <p:spPr>
          <a:xfrm>
            <a:off x="9098280" y="2423160"/>
            <a:ext cx="2331720" cy="1234440"/>
          </a:xfrm>
          <a:prstGeom prst="rect">
            <a:avLst/>
          </a:prstGeom>
          <a:noFill/>
        </p:spPr>
        <p:txBody>
          <a:bodyPr wrap="square" anchor="t" lIns="0" rIns="0" tIns="0" bIns="0">
            <a:spAutoFit/>
          </a:bodyPr>
          <a:lstStyle/>
          <a:p>
            <a:pPr algn="ctr">
              <a:lnSpc>
                <a:spcPct val="160000"/>
              </a:lnSpc>
            </a:pPr>
            <a:r>
              <a:rPr sz="1100" b="0">
                <a:solidFill>
                  <a:srgbClr val="1A1A1A"/>
                </a:solidFill>
                <a:latin typeface="Hiragino Sans"/>
                <a:ea typeface="Hiragino Sans"/>
                <a:cs typeface="Hiragino Sans"/>
              </a:rPr>
              <a:t>顧客ジャーニー予測</a:t>
            </a:r>
          </a:p>
          <a:p>
            <a:pPr algn="ctr">
              <a:lnSpc>
                <a:spcPct val="160000"/>
              </a:lnSpc>
            </a:pPr>
            <a:r>
              <a:rPr sz="1100" b="0">
                <a:solidFill>
                  <a:srgbClr val="1A1A1A"/>
                </a:solidFill>
                <a:latin typeface="Hiragino Sans"/>
                <a:ea typeface="Hiragino Sans"/>
                <a:cs typeface="Hiragino Sans"/>
              </a:rPr>
              <a:t>エンタープライズ向け</a:t>
            </a:r>
          </a:p>
        </p:txBody>
      </p:sp>
      <p:sp>
        <p:nvSpPr>
          <p:cNvPr id="28" name="Rounded Rectangle 27"/>
          <p:cNvSpPr/>
          <p:nvPr/>
        </p:nvSpPr>
        <p:spPr>
          <a:xfrm>
            <a:off x="548640" y="3886200"/>
            <a:ext cx="11109960" cy="246888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4023360"/>
            <a:ext cx="100584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 副業代行 : AI Analytics の統合ワークフロー</a:t>
            </a:r>
          </a:p>
        </p:txBody>
      </p:sp>
      <p:sp>
        <p:nvSpPr>
          <p:cNvPr id="30" name="TextBox 29"/>
          <p:cNvSpPr txBox="1"/>
          <p:nvPr/>
        </p:nvSpPr>
        <p:spPr>
          <a:xfrm>
            <a:off x="777240" y="4343400"/>
            <a:ext cx="10972800" cy="196596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1. 月次レポート = Conversational Analytics で要約 → Looker Studio で可視化</a:t>
            </a:r>
          </a:p>
          <a:p>
            <a:pPr algn="l">
              <a:lnSpc>
                <a:spcPct val="160000"/>
              </a:lnSpc>
            </a:pPr>
            <a:r>
              <a:rPr sz="1100" b="0">
                <a:solidFill>
                  <a:srgbClr val="1A1A1A"/>
                </a:solidFill>
                <a:latin typeface="Hiragino Sans"/>
                <a:ea typeface="Hiragino Sans"/>
                <a:cs typeface="Hiragino Sans"/>
              </a:rPr>
              <a:t>2. 異常検知 = GA4 Insights を月次レポートに添付 → 自然言語の解釈付き</a:t>
            </a:r>
          </a:p>
          <a:p>
            <a:pPr algn="l">
              <a:lnSpc>
                <a:spcPct val="160000"/>
              </a:lnSpc>
            </a:pPr>
            <a:r>
              <a:rPr sz="1100" b="0">
                <a:solidFill>
                  <a:srgbClr val="1A1A1A"/>
                </a:solidFill>
                <a:latin typeface="Hiragino Sans"/>
                <a:ea typeface="Hiragino Sans"/>
                <a:cs typeface="Hiragino Sans"/>
              </a:rPr>
              <a:t>3. クライアント窓口 = Looker Studio を共有 → クライアントが自分で深掘り</a:t>
            </a:r>
          </a:p>
          <a:p>
            <a:pPr algn="l">
              <a:lnSpc>
                <a:spcPct val="160000"/>
              </a:lnSpc>
            </a:pPr>
            <a:r>
              <a:rPr sz="1100" b="0">
                <a:solidFill>
                  <a:srgbClr val="1A1A1A"/>
                </a:solidFill>
                <a:latin typeface="Hiragino Sans"/>
                <a:ea typeface="Hiragino Sans"/>
                <a:cs typeface="Hiragino Sans"/>
              </a:rPr>
              <a:t>4. レポート作成時間 = 従来5時間 → 1時間 (8割削減事例)</a:t>
            </a:r>
          </a:p>
          <a:p>
            <a:pPr algn="l">
              <a:lnSpc>
                <a:spcPct val="160000"/>
              </a:lnSpc>
            </a:pPr>
            <a:r>
              <a:rPr sz="1100" b="0">
                <a:solidFill>
                  <a:srgbClr val="1A1A1A"/>
                </a:solidFill>
                <a:latin typeface="Hiragino Sans"/>
                <a:ea typeface="Hiragino Sans"/>
                <a:cs typeface="Hiragino Sans"/>
              </a:rPr>
              <a:t>5. AI Analytics 駆使する人 = 1人で月10-20クライアントの月次レポート対応可</a:t>
            </a:r>
          </a:p>
          <a:p>
            <a:pPr algn="l">
              <a:lnSpc>
                <a:spcPct val="160000"/>
              </a:lnSpc>
            </a:pPr>
            <a:r>
              <a:rPr sz="1100" b="0">
                <a:solidFill>
                  <a:srgbClr val="1A1A1A"/>
                </a:solidFill>
                <a:latin typeface="Hiragino Sans"/>
                <a:ea typeface="Hiragino Sans"/>
                <a:cs typeface="Hiragino Sans"/>
              </a:rPr>
              <a:t>6. クライアント側の質問対応 = ダッシュボードに任せる → 人間は戦略提案のみ</a:t>
            </a:r>
          </a:p>
        </p:txBody>
      </p:sp>
      <p:sp>
        <p:nvSpPr>
          <p:cNvPr id="31" name="TextBox 30"/>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 Agent型広告運用 (2025-2026)</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AIが広告管理画面を直接操作する時代</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P195 / 250</a:t>
            </a:r>
          </a:p>
        </p:txBody>
      </p:sp>
      <p:sp>
        <p:nvSpPr>
          <p:cNvPr id="8" name="Rounded Rectangle 7"/>
          <p:cNvSpPr/>
          <p:nvPr/>
        </p:nvSpPr>
        <p:spPr>
          <a:xfrm>
            <a:off x="548640" y="1371600"/>
            <a:ext cx="11109960" cy="118872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600200"/>
            <a:ext cx="731520" cy="731520"/>
          </a:xfrm>
          <a:prstGeom prst="rect">
            <a:avLst/>
          </a:prstGeom>
          <a:noFill/>
        </p:spPr>
        <p:txBody>
          <a:bodyPr wrap="square" anchor="t" lIns="0" rIns="0" tIns="0" bIns="0">
            <a:spAutoFit/>
          </a:bodyPr>
          <a:lstStyle/>
          <a:p>
            <a:pPr algn="l">
              <a:lnSpc>
                <a:spcPct val="115000"/>
              </a:lnSpc>
            </a:pPr>
            <a:r>
              <a:rPr sz="3000" b="0">
                <a:solidFill>
                  <a:srgbClr val="1A1A1A"/>
                </a:solidFill>
                <a:latin typeface="Hiragino Sans"/>
                <a:ea typeface="Hiragino Sans"/>
                <a:cs typeface="Hiragino Sans"/>
              </a:rPr>
              <a:t>📢</a:t>
            </a:r>
          </a:p>
        </p:txBody>
      </p:sp>
      <p:sp>
        <p:nvSpPr>
          <p:cNvPr id="10" name="TextBox 9"/>
          <p:cNvSpPr txBox="1"/>
          <p:nvPr/>
        </p:nvSpPr>
        <p:spPr>
          <a:xfrm>
            <a:off x="1554480" y="1554480"/>
            <a:ext cx="10058400" cy="365760"/>
          </a:xfrm>
          <a:prstGeom prst="rect">
            <a:avLst/>
          </a:prstGeom>
          <a:noFill/>
        </p:spPr>
        <p:txBody>
          <a:bodyPr wrap="square" anchor="t" lIns="0" rIns="0" tIns="0" bIns="0">
            <a:spAutoFit/>
          </a:bodyPr>
          <a:lstStyle/>
          <a:p>
            <a:pPr algn="l">
              <a:lnSpc>
                <a:spcPct val="115000"/>
              </a:lnSpc>
            </a:pPr>
            <a:r>
              <a:rPr sz="1400" b="1">
                <a:solidFill>
                  <a:srgbClr val="E87722"/>
                </a:solidFill>
                <a:latin typeface="Hiragino Sans"/>
                <a:ea typeface="Hiragino Sans"/>
                <a:cs typeface="Hiragino Sans"/>
              </a:rPr>
              <a:t>新パラダイム : AI が管理画面を見て・クリックして・タスク完遂</a:t>
            </a:r>
          </a:p>
        </p:txBody>
      </p:sp>
      <p:sp>
        <p:nvSpPr>
          <p:cNvPr id="11" name="TextBox 10"/>
          <p:cNvSpPr txBox="1"/>
          <p:nvPr/>
        </p:nvSpPr>
        <p:spPr>
          <a:xfrm>
            <a:off x="1554480" y="1874519"/>
            <a:ext cx="10058400" cy="640080"/>
          </a:xfrm>
          <a:prstGeom prst="rect">
            <a:avLst/>
          </a:prstGeom>
          <a:noFill/>
        </p:spPr>
        <p:txBody>
          <a:bodyPr wrap="square" anchor="t" lIns="0" rIns="0" tIns="0" bIns="0">
            <a:spAutoFit/>
          </a:bodyPr>
          <a:lstStyle/>
          <a:p>
            <a:pPr algn="l">
              <a:lnSpc>
                <a:spcPct val="150000"/>
              </a:lnSpc>
            </a:pPr>
            <a:r>
              <a:rPr sz="1100" b="0">
                <a:solidFill>
                  <a:srgbClr val="FFFFFF"/>
                </a:solidFill>
                <a:latin typeface="Hiragino Sans"/>
                <a:ea typeface="Hiragino Sans"/>
                <a:cs typeface="Hiragino Sans"/>
              </a:rPr>
              <a:t>Claude Computer Use / OpenAI Operator / Microsoft Copilot for Ads / Gemini Workspace。</a:t>
            </a:r>
          </a:p>
          <a:p>
            <a:pPr algn="l">
              <a:lnSpc>
                <a:spcPct val="150000"/>
              </a:lnSpc>
            </a:pPr>
            <a:r>
              <a:rPr sz="1100" b="0">
                <a:solidFill>
                  <a:srgbClr val="FFFFFF"/>
                </a:solidFill>
                <a:latin typeface="Hiragino Sans"/>
                <a:ea typeface="Hiragino Sans"/>
                <a:cs typeface="Hiragino Sans"/>
              </a:rPr>
              <a:t>従来の API連携・自動化スクリプトを超え、人間と同じUI操作が可能に</a:t>
            </a:r>
          </a:p>
        </p:txBody>
      </p:sp>
      <p:sp>
        <p:nvSpPr>
          <p:cNvPr id="12" name="TextBox 11"/>
          <p:cNvSpPr txBox="1"/>
          <p:nvPr/>
        </p:nvSpPr>
        <p:spPr>
          <a:xfrm>
            <a:off x="548640" y="2697480"/>
            <a:ext cx="1097280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Agent型運用の3レイヤー</a:t>
            </a:r>
          </a:p>
        </p:txBody>
      </p:sp>
      <p:sp>
        <p:nvSpPr>
          <p:cNvPr id="13" name="Rounded Rectangle 12"/>
          <p:cNvSpPr/>
          <p:nvPr/>
        </p:nvSpPr>
        <p:spPr>
          <a:xfrm>
            <a:off x="548640" y="3108960"/>
            <a:ext cx="3611880" cy="16916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108960"/>
            <a:ext cx="3611880" cy="5029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227832"/>
            <a:ext cx="3246120" cy="274320"/>
          </a:xfrm>
          <a:prstGeom prst="rect">
            <a:avLst/>
          </a:prstGeom>
          <a:noFill/>
        </p:spPr>
        <p:txBody>
          <a:bodyPr wrap="square" anchor="t" lIns="0" rIns="0" tIns="0" bIns="0">
            <a:spAutoFit/>
          </a:bodyPr>
          <a:lstStyle/>
          <a:p>
            <a:pPr algn="ctr">
              <a:lnSpc>
                <a:spcPct val="115000"/>
              </a:lnSpc>
            </a:pPr>
            <a:r>
              <a:rPr sz="1400" b="1">
                <a:solidFill>
                  <a:srgbClr val="FFFFFF"/>
                </a:solidFill>
                <a:latin typeface="Helvetica Neue"/>
                <a:ea typeface="Helvetica Neue"/>
                <a:cs typeface="Helvetica Neue"/>
              </a:rPr>
              <a:t>L1 : 観察</a:t>
            </a:r>
          </a:p>
        </p:txBody>
      </p:sp>
      <p:sp>
        <p:nvSpPr>
          <p:cNvPr id="16" name="TextBox 15"/>
          <p:cNvSpPr txBox="1"/>
          <p:nvPr/>
        </p:nvSpPr>
        <p:spPr>
          <a:xfrm>
            <a:off x="731520" y="3749040"/>
            <a:ext cx="3246120" cy="1005840"/>
          </a:xfrm>
          <a:prstGeom prst="rect">
            <a:avLst/>
          </a:prstGeom>
          <a:noFill/>
        </p:spPr>
        <p:txBody>
          <a:bodyPr wrap="square" anchor="t" lIns="0" rIns="0" tIns="0" bIns="0">
            <a:spAutoFit/>
          </a:bodyPr>
          <a:lstStyle/>
          <a:p>
            <a:pPr algn="ctr">
              <a:lnSpc>
                <a:spcPct val="160000"/>
              </a:lnSpc>
            </a:pPr>
            <a:r>
              <a:rPr sz="1100" b="0">
                <a:solidFill>
                  <a:srgbClr val="1A1A1A"/>
                </a:solidFill>
                <a:latin typeface="Hiragino Sans"/>
                <a:ea typeface="Hiragino Sans"/>
                <a:cs typeface="Hiragino Sans"/>
              </a:rPr>
              <a:t>管理画面のスクショ取得</a:t>
            </a:r>
          </a:p>
          <a:p>
            <a:pPr algn="ctr">
              <a:lnSpc>
                <a:spcPct val="160000"/>
              </a:lnSpc>
            </a:pPr>
            <a:r>
              <a:rPr sz="1100" b="0">
                <a:solidFill>
                  <a:srgbClr val="1A1A1A"/>
                </a:solidFill>
                <a:latin typeface="Hiragino Sans"/>
                <a:ea typeface="Hiragino Sans"/>
                <a:cs typeface="Hiragino Sans"/>
              </a:rPr>
              <a:t>レポートの自動分析</a:t>
            </a:r>
          </a:p>
        </p:txBody>
      </p:sp>
      <p:sp>
        <p:nvSpPr>
          <p:cNvPr id="17" name="Rounded Rectangle 16"/>
          <p:cNvSpPr/>
          <p:nvPr/>
        </p:nvSpPr>
        <p:spPr>
          <a:xfrm>
            <a:off x="4297680" y="3108960"/>
            <a:ext cx="3611880" cy="16916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297680" y="3108960"/>
            <a:ext cx="3611880" cy="5029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80560" y="3227832"/>
            <a:ext cx="3246120" cy="274320"/>
          </a:xfrm>
          <a:prstGeom prst="rect">
            <a:avLst/>
          </a:prstGeom>
          <a:noFill/>
        </p:spPr>
        <p:txBody>
          <a:bodyPr wrap="square" anchor="t" lIns="0" rIns="0" tIns="0" bIns="0">
            <a:spAutoFit/>
          </a:bodyPr>
          <a:lstStyle/>
          <a:p>
            <a:pPr algn="ctr">
              <a:lnSpc>
                <a:spcPct val="115000"/>
              </a:lnSpc>
            </a:pPr>
            <a:r>
              <a:rPr sz="1400" b="1">
                <a:solidFill>
                  <a:srgbClr val="FFFFFF"/>
                </a:solidFill>
                <a:latin typeface="Helvetica Neue"/>
                <a:ea typeface="Helvetica Neue"/>
                <a:cs typeface="Helvetica Neue"/>
              </a:rPr>
              <a:t>L2 : 提案</a:t>
            </a:r>
          </a:p>
        </p:txBody>
      </p:sp>
      <p:sp>
        <p:nvSpPr>
          <p:cNvPr id="20" name="TextBox 19"/>
          <p:cNvSpPr txBox="1"/>
          <p:nvPr/>
        </p:nvSpPr>
        <p:spPr>
          <a:xfrm>
            <a:off x="4480560" y="3749040"/>
            <a:ext cx="3246120" cy="1005840"/>
          </a:xfrm>
          <a:prstGeom prst="rect">
            <a:avLst/>
          </a:prstGeom>
          <a:noFill/>
        </p:spPr>
        <p:txBody>
          <a:bodyPr wrap="square" anchor="t" lIns="0" rIns="0" tIns="0" bIns="0">
            <a:spAutoFit/>
          </a:bodyPr>
          <a:lstStyle/>
          <a:p>
            <a:pPr algn="ctr">
              <a:lnSpc>
                <a:spcPct val="160000"/>
              </a:lnSpc>
            </a:pPr>
            <a:r>
              <a:rPr sz="1100" b="0">
                <a:solidFill>
                  <a:srgbClr val="1A1A1A"/>
                </a:solidFill>
                <a:latin typeface="Hiragino Sans"/>
                <a:ea typeface="Hiragino Sans"/>
                <a:cs typeface="Hiragino Sans"/>
              </a:rPr>
              <a:t>改善案を自然言語で生成</a:t>
            </a:r>
          </a:p>
          <a:p>
            <a:pPr algn="ctr">
              <a:lnSpc>
                <a:spcPct val="160000"/>
              </a:lnSpc>
            </a:pPr>
            <a:r>
              <a:rPr sz="1100" b="0">
                <a:solidFill>
                  <a:srgbClr val="1A1A1A"/>
                </a:solidFill>
                <a:latin typeface="Hiragino Sans"/>
                <a:ea typeface="Hiragino Sans"/>
                <a:cs typeface="Hiragino Sans"/>
              </a:rPr>
              <a:t>人間が判断</a:t>
            </a:r>
          </a:p>
        </p:txBody>
      </p:sp>
      <p:sp>
        <p:nvSpPr>
          <p:cNvPr id="21" name="Rounded Rectangle 20"/>
          <p:cNvSpPr/>
          <p:nvPr/>
        </p:nvSpPr>
        <p:spPr>
          <a:xfrm>
            <a:off x="8046720" y="3108960"/>
            <a:ext cx="3611880" cy="16916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46720" y="3108960"/>
            <a:ext cx="3611880" cy="5029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0" y="3227832"/>
            <a:ext cx="3246120" cy="274320"/>
          </a:xfrm>
          <a:prstGeom prst="rect">
            <a:avLst/>
          </a:prstGeom>
          <a:noFill/>
        </p:spPr>
        <p:txBody>
          <a:bodyPr wrap="square" anchor="t" lIns="0" rIns="0" tIns="0" bIns="0">
            <a:spAutoFit/>
          </a:bodyPr>
          <a:lstStyle/>
          <a:p>
            <a:pPr algn="ctr">
              <a:lnSpc>
                <a:spcPct val="115000"/>
              </a:lnSpc>
            </a:pPr>
            <a:r>
              <a:rPr sz="1400" b="1">
                <a:solidFill>
                  <a:srgbClr val="FFFFFF"/>
                </a:solidFill>
                <a:latin typeface="Helvetica Neue"/>
                <a:ea typeface="Helvetica Neue"/>
                <a:cs typeface="Helvetica Neue"/>
              </a:rPr>
              <a:t>L3 : 実行</a:t>
            </a:r>
          </a:p>
        </p:txBody>
      </p:sp>
      <p:sp>
        <p:nvSpPr>
          <p:cNvPr id="24" name="TextBox 23"/>
          <p:cNvSpPr txBox="1"/>
          <p:nvPr/>
        </p:nvSpPr>
        <p:spPr>
          <a:xfrm>
            <a:off x="8229600" y="3749040"/>
            <a:ext cx="3246120" cy="1005840"/>
          </a:xfrm>
          <a:prstGeom prst="rect">
            <a:avLst/>
          </a:prstGeom>
          <a:noFill/>
        </p:spPr>
        <p:txBody>
          <a:bodyPr wrap="square" anchor="t" lIns="0" rIns="0" tIns="0" bIns="0">
            <a:spAutoFit/>
          </a:bodyPr>
          <a:lstStyle/>
          <a:p>
            <a:pPr algn="ctr">
              <a:lnSpc>
                <a:spcPct val="160000"/>
              </a:lnSpc>
            </a:pPr>
            <a:r>
              <a:rPr sz="1100" b="0">
                <a:solidFill>
                  <a:srgbClr val="1A1A1A"/>
                </a:solidFill>
                <a:latin typeface="Hiragino Sans"/>
                <a:ea typeface="Hiragino Sans"/>
                <a:cs typeface="Hiragino Sans"/>
              </a:rPr>
              <a:t>実際にクリック・入力で</a:t>
            </a:r>
          </a:p>
          <a:p>
            <a:pPr algn="ctr">
              <a:lnSpc>
                <a:spcPct val="160000"/>
              </a:lnSpc>
            </a:pPr>
            <a:r>
              <a:rPr sz="1100" b="0">
                <a:solidFill>
                  <a:srgbClr val="1A1A1A"/>
                </a:solidFill>
                <a:latin typeface="Hiragino Sans"/>
                <a:ea typeface="Hiragino Sans"/>
                <a:cs typeface="Hiragino Sans"/>
              </a:rPr>
              <a:t>変更を実装 (要承認)</a:t>
            </a:r>
          </a:p>
        </p:txBody>
      </p:sp>
      <p:sp>
        <p:nvSpPr>
          <p:cNvPr id="25" name="Rounded Rectangle 24"/>
          <p:cNvSpPr/>
          <p:nvPr/>
        </p:nvSpPr>
        <p:spPr>
          <a:xfrm>
            <a:off x="548640" y="4937760"/>
            <a:ext cx="11109960" cy="141732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5074920"/>
            <a:ext cx="100584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 副業代行で Agent型を活用する段階</a:t>
            </a:r>
          </a:p>
        </p:txBody>
      </p:sp>
      <p:sp>
        <p:nvSpPr>
          <p:cNvPr id="27" name="TextBox 26"/>
          <p:cNvSpPr txBox="1"/>
          <p:nvPr/>
        </p:nvSpPr>
        <p:spPr>
          <a:xfrm>
            <a:off x="777240" y="5394960"/>
            <a:ext cx="10972800" cy="914400"/>
          </a:xfrm>
          <a:prstGeom prst="rect">
            <a:avLst/>
          </a:prstGeom>
          <a:noFill/>
        </p:spPr>
        <p:txBody>
          <a:bodyPr wrap="square" anchor="t" lIns="0" rIns="0" tIns="0" bIns="0">
            <a:spAutoFit/>
          </a:bodyPr>
          <a:lstStyle/>
          <a:p>
            <a:pPr algn="l">
              <a:lnSpc>
                <a:spcPct val="155000"/>
              </a:lnSpc>
            </a:pPr>
            <a:r>
              <a:rPr sz="1100" b="0">
                <a:solidFill>
                  <a:srgbClr val="1A1A1A"/>
                </a:solidFill>
                <a:latin typeface="Hiragino Sans"/>
                <a:ea typeface="Hiragino Sans"/>
                <a:cs typeface="Hiragino Sans"/>
              </a:rPr>
              <a:t>• 2026年 = L1 (観察) + L2 (提案) は実用段階。L3 (実行) は人間承認必須</a:t>
            </a:r>
          </a:p>
          <a:p>
            <a:pPr algn="l">
              <a:lnSpc>
                <a:spcPct val="155000"/>
              </a:lnSpc>
            </a:pPr>
            <a:r>
              <a:rPr sz="1100" b="0">
                <a:solidFill>
                  <a:srgbClr val="1A1A1A"/>
                </a:solidFill>
                <a:latin typeface="Hiragino Sans"/>
                <a:ea typeface="Hiragino Sans"/>
                <a:cs typeface="Hiragino Sans"/>
              </a:rPr>
              <a:t>• 月次レポート作成・ベンチマーク分析・Negative KW提案 等は AI Agent が完遂可</a:t>
            </a:r>
          </a:p>
          <a:p>
            <a:pPr algn="l">
              <a:lnSpc>
                <a:spcPct val="155000"/>
              </a:lnSpc>
            </a:pPr>
            <a:r>
              <a:rPr sz="1100" b="0">
                <a:solidFill>
                  <a:srgbClr val="1A1A1A"/>
                </a:solidFill>
                <a:latin typeface="Hiragino Sans"/>
                <a:ea typeface="Hiragino Sans"/>
                <a:cs typeface="Hiragino Sans"/>
              </a:rPr>
              <a:t>• 配信変更 (予算・入札・配信停止等) は人間がボタン押す運用が当面標準</a:t>
            </a:r>
          </a:p>
        </p:txBody>
      </p:sp>
      <p:sp>
        <p:nvSpPr>
          <p:cNvPr id="28" name="TextBox 27"/>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Agent : Claude Computer Use (Anthropic)</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デスクトップ・ブラウザ操作を自然言語で</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P196 / 250</a:t>
            </a:r>
          </a:p>
        </p:txBody>
      </p:sp>
      <p:sp>
        <p:nvSpPr>
          <p:cNvPr id="8" name="TextBox 7"/>
          <p:cNvSpPr txBox="1"/>
          <p:nvPr/>
        </p:nvSpPr>
        <p:spPr>
          <a:xfrm>
            <a:off x="548640" y="1417320"/>
            <a:ext cx="1097280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Claude Computer Use の機能</a:t>
            </a:r>
          </a:p>
        </p:txBody>
      </p:sp>
      <p:sp>
        <p:nvSpPr>
          <p:cNvPr id="9" name="Rounded Rectangle 8"/>
          <p:cNvSpPr/>
          <p:nvPr/>
        </p:nvSpPr>
        <p:spPr>
          <a:xfrm>
            <a:off x="548640" y="1828800"/>
            <a:ext cx="5440680" cy="14173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828800"/>
            <a:ext cx="91440" cy="14173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65960"/>
            <a:ext cx="507492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スクリーンショット取得</a:t>
            </a:r>
          </a:p>
        </p:txBody>
      </p:sp>
      <p:sp>
        <p:nvSpPr>
          <p:cNvPr id="12" name="TextBox 11"/>
          <p:cNvSpPr txBox="1"/>
          <p:nvPr/>
        </p:nvSpPr>
        <p:spPr>
          <a:xfrm>
            <a:off x="777240" y="2331720"/>
            <a:ext cx="5074920" cy="274320"/>
          </a:xfrm>
          <a:prstGeom prst="rect">
            <a:avLst/>
          </a:prstGeom>
          <a:noFill/>
        </p:spPr>
        <p:txBody>
          <a:bodyPr wrap="square" anchor="t" lIns="0" rIns="0" tIns="0" bIns="0">
            <a:spAutoFit/>
          </a:bodyPr>
          <a:lstStyle/>
          <a:p>
            <a:pPr algn="l">
              <a:lnSpc>
                <a:spcPct val="115000"/>
              </a:lnSpc>
            </a:pPr>
            <a:r>
              <a:rPr sz="1000" b="1">
                <a:solidFill>
                  <a:srgbClr val="B85E1A"/>
                </a:solidFill>
                <a:latin typeface="Hiragino Sans"/>
                <a:ea typeface="Hiragino Sans"/>
                <a:cs typeface="Hiragino Sans"/>
              </a:rPr>
              <a:t>現在の画面状態を理解</a:t>
            </a:r>
          </a:p>
        </p:txBody>
      </p:sp>
      <p:sp>
        <p:nvSpPr>
          <p:cNvPr id="13" name="TextBox 12"/>
          <p:cNvSpPr txBox="1"/>
          <p:nvPr/>
        </p:nvSpPr>
        <p:spPr>
          <a:xfrm>
            <a:off x="777240" y="2651760"/>
            <a:ext cx="5074920" cy="548640"/>
          </a:xfrm>
          <a:prstGeom prst="rect">
            <a:avLst/>
          </a:prstGeom>
          <a:noFill/>
        </p:spPr>
        <p:txBody>
          <a:bodyPr wrap="square" anchor="t" lIns="0" rIns="0" tIns="0" bIns="0">
            <a:spAutoFit/>
          </a:bodyPr>
          <a:lstStyle/>
          <a:p>
            <a:pPr algn="l">
              <a:lnSpc>
                <a:spcPct val="150000"/>
              </a:lnSpc>
            </a:pPr>
            <a:r>
              <a:rPr sz="1000" b="0">
                <a:solidFill>
                  <a:srgbClr val="1A1A1A"/>
                </a:solidFill>
                <a:latin typeface="Hiragino Sans"/>
                <a:ea typeface="Hiragino Sans"/>
                <a:cs typeface="Hiragino Sans"/>
              </a:rPr>
              <a:t>管理画面・レポートの</a:t>
            </a:r>
          </a:p>
          <a:p>
            <a:pPr algn="l">
              <a:lnSpc>
                <a:spcPct val="150000"/>
              </a:lnSpc>
            </a:pPr>
            <a:r>
              <a:rPr sz="1000" b="0">
                <a:solidFill>
                  <a:srgbClr val="1A1A1A"/>
                </a:solidFill>
                <a:latin typeface="Hiragino Sans"/>
                <a:ea typeface="Hiragino Sans"/>
                <a:cs typeface="Hiragino Sans"/>
              </a:rPr>
              <a:t>読み取り・解釈</a:t>
            </a:r>
          </a:p>
        </p:txBody>
      </p:sp>
      <p:sp>
        <p:nvSpPr>
          <p:cNvPr id="14" name="Rounded Rectangle 13"/>
          <p:cNvSpPr/>
          <p:nvPr/>
        </p:nvSpPr>
        <p:spPr>
          <a:xfrm>
            <a:off x="6172200" y="1828800"/>
            <a:ext cx="5440680" cy="14173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72200" y="1828800"/>
            <a:ext cx="91440" cy="14173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1965960"/>
            <a:ext cx="507492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マウス/キーボード操作</a:t>
            </a:r>
          </a:p>
        </p:txBody>
      </p:sp>
      <p:sp>
        <p:nvSpPr>
          <p:cNvPr id="17" name="TextBox 16"/>
          <p:cNvSpPr txBox="1"/>
          <p:nvPr/>
        </p:nvSpPr>
        <p:spPr>
          <a:xfrm>
            <a:off x="6400800" y="2331720"/>
            <a:ext cx="5074920" cy="274320"/>
          </a:xfrm>
          <a:prstGeom prst="rect">
            <a:avLst/>
          </a:prstGeom>
          <a:noFill/>
        </p:spPr>
        <p:txBody>
          <a:bodyPr wrap="square" anchor="t" lIns="0" rIns="0" tIns="0" bIns="0">
            <a:spAutoFit/>
          </a:bodyPr>
          <a:lstStyle/>
          <a:p>
            <a:pPr algn="l">
              <a:lnSpc>
                <a:spcPct val="115000"/>
              </a:lnSpc>
            </a:pPr>
            <a:r>
              <a:rPr sz="1000" b="1">
                <a:solidFill>
                  <a:srgbClr val="B85E1A"/>
                </a:solidFill>
                <a:latin typeface="Hiragino Sans"/>
                <a:ea typeface="Hiragino Sans"/>
                <a:cs typeface="Hiragino Sans"/>
              </a:rPr>
              <a:t>クリック・入力・スクロール</a:t>
            </a:r>
          </a:p>
        </p:txBody>
      </p:sp>
      <p:sp>
        <p:nvSpPr>
          <p:cNvPr id="18" name="TextBox 17"/>
          <p:cNvSpPr txBox="1"/>
          <p:nvPr/>
        </p:nvSpPr>
        <p:spPr>
          <a:xfrm>
            <a:off x="6400800" y="2651760"/>
            <a:ext cx="5074920" cy="548640"/>
          </a:xfrm>
          <a:prstGeom prst="rect">
            <a:avLst/>
          </a:prstGeom>
          <a:noFill/>
        </p:spPr>
        <p:txBody>
          <a:bodyPr wrap="square" anchor="t" lIns="0" rIns="0" tIns="0" bIns="0">
            <a:spAutoFit/>
          </a:bodyPr>
          <a:lstStyle/>
          <a:p>
            <a:pPr algn="l">
              <a:lnSpc>
                <a:spcPct val="150000"/>
              </a:lnSpc>
            </a:pPr>
            <a:r>
              <a:rPr sz="1000" b="0">
                <a:solidFill>
                  <a:srgbClr val="1A1A1A"/>
                </a:solidFill>
                <a:latin typeface="Hiragino Sans"/>
                <a:ea typeface="Hiragino Sans"/>
                <a:cs typeface="Hiragino Sans"/>
              </a:rPr>
              <a:t>Google Ads / Meta Ads等の</a:t>
            </a:r>
          </a:p>
          <a:p>
            <a:pPr algn="l">
              <a:lnSpc>
                <a:spcPct val="150000"/>
              </a:lnSpc>
            </a:pPr>
            <a:r>
              <a:rPr sz="1000" b="0">
                <a:solidFill>
                  <a:srgbClr val="1A1A1A"/>
                </a:solidFill>
                <a:latin typeface="Hiragino Sans"/>
                <a:ea typeface="Hiragino Sans"/>
                <a:cs typeface="Hiragino Sans"/>
              </a:rPr>
              <a:t>設定変更を実行</a:t>
            </a:r>
          </a:p>
        </p:txBody>
      </p:sp>
      <p:sp>
        <p:nvSpPr>
          <p:cNvPr id="19" name="Rounded Rectangle 18"/>
          <p:cNvSpPr/>
          <p:nvPr/>
        </p:nvSpPr>
        <p:spPr>
          <a:xfrm>
            <a:off x="548640" y="3383280"/>
            <a:ext cx="5440680" cy="14173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383280"/>
            <a:ext cx="91440" cy="14173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3520440"/>
            <a:ext cx="507492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マルチステップタスク</a:t>
            </a:r>
          </a:p>
        </p:txBody>
      </p:sp>
      <p:sp>
        <p:nvSpPr>
          <p:cNvPr id="22" name="TextBox 21"/>
          <p:cNvSpPr txBox="1"/>
          <p:nvPr/>
        </p:nvSpPr>
        <p:spPr>
          <a:xfrm>
            <a:off x="777240" y="3886200"/>
            <a:ext cx="5074920" cy="274320"/>
          </a:xfrm>
          <a:prstGeom prst="rect">
            <a:avLst/>
          </a:prstGeom>
          <a:noFill/>
        </p:spPr>
        <p:txBody>
          <a:bodyPr wrap="square" anchor="t" lIns="0" rIns="0" tIns="0" bIns="0">
            <a:spAutoFit/>
          </a:bodyPr>
          <a:lstStyle/>
          <a:p>
            <a:pPr algn="l">
              <a:lnSpc>
                <a:spcPct val="115000"/>
              </a:lnSpc>
            </a:pPr>
            <a:r>
              <a:rPr sz="1000" b="1">
                <a:solidFill>
                  <a:srgbClr val="B85E1A"/>
                </a:solidFill>
                <a:latin typeface="Hiragino Sans"/>
                <a:ea typeface="Hiragino Sans"/>
                <a:cs typeface="Hiragino Sans"/>
              </a:rPr>
              <a:t>複数ステップを順次実行</a:t>
            </a:r>
          </a:p>
        </p:txBody>
      </p:sp>
      <p:sp>
        <p:nvSpPr>
          <p:cNvPr id="23" name="TextBox 22"/>
          <p:cNvSpPr txBox="1"/>
          <p:nvPr/>
        </p:nvSpPr>
        <p:spPr>
          <a:xfrm>
            <a:off x="777240" y="4206240"/>
            <a:ext cx="5074920" cy="548640"/>
          </a:xfrm>
          <a:prstGeom prst="rect">
            <a:avLst/>
          </a:prstGeom>
          <a:noFill/>
        </p:spPr>
        <p:txBody>
          <a:bodyPr wrap="square" anchor="t" lIns="0" rIns="0" tIns="0" bIns="0">
            <a:spAutoFit/>
          </a:bodyPr>
          <a:lstStyle/>
          <a:p>
            <a:pPr algn="l">
              <a:lnSpc>
                <a:spcPct val="150000"/>
              </a:lnSpc>
            </a:pPr>
            <a:r>
              <a:rPr sz="1000" b="0">
                <a:solidFill>
                  <a:srgbClr val="1A1A1A"/>
                </a:solidFill>
                <a:latin typeface="Hiragino Sans"/>
                <a:ea typeface="Hiragino Sans"/>
                <a:cs typeface="Hiragino Sans"/>
              </a:rPr>
              <a:t>『PMaxの予算を10%削減』</a:t>
            </a:r>
          </a:p>
          <a:p>
            <a:pPr algn="l">
              <a:lnSpc>
                <a:spcPct val="150000"/>
              </a:lnSpc>
            </a:pPr>
            <a:r>
              <a:rPr sz="1000" b="0">
                <a:solidFill>
                  <a:srgbClr val="1A1A1A"/>
                </a:solidFill>
                <a:latin typeface="Hiragino Sans"/>
                <a:ea typeface="Hiragino Sans"/>
                <a:cs typeface="Hiragino Sans"/>
              </a:rPr>
              <a:t>『新しいネガKW追加』等</a:t>
            </a:r>
          </a:p>
        </p:txBody>
      </p:sp>
      <p:sp>
        <p:nvSpPr>
          <p:cNvPr id="24" name="Rounded Rectangle 23"/>
          <p:cNvSpPr/>
          <p:nvPr/>
        </p:nvSpPr>
        <p:spPr>
          <a:xfrm>
            <a:off x="6172200" y="3383280"/>
            <a:ext cx="5440680" cy="14173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72200" y="3383280"/>
            <a:ext cx="91440" cy="14173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0" y="3520440"/>
            <a:ext cx="507492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CSV/データ操作</a:t>
            </a:r>
          </a:p>
        </p:txBody>
      </p:sp>
      <p:sp>
        <p:nvSpPr>
          <p:cNvPr id="27" name="TextBox 26"/>
          <p:cNvSpPr txBox="1"/>
          <p:nvPr/>
        </p:nvSpPr>
        <p:spPr>
          <a:xfrm>
            <a:off x="6400800" y="3886200"/>
            <a:ext cx="5074920" cy="274320"/>
          </a:xfrm>
          <a:prstGeom prst="rect">
            <a:avLst/>
          </a:prstGeom>
          <a:noFill/>
        </p:spPr>
        <p:txBody>
          <a:bodyPr wrap="square" anchor="t" lIns="0" rIns="0" tIns="0" bIns="0">
            <a:spAutoFit/>
          </a:bodyPr>
          <a:lstStyle/>
          <a:p>
            <a:pPr algn="l">
              <a:lnSpc>
                <a:spcPct val="115000"/>
              </a:lnSpc>
            </a:pPr>
            <a:r>
              <a:rPr sz="1000" b="1">
                <a:solidFill>
                  <a:srgbClr val="B85E1A"/>
                </a:solidFill>
                <a:latin typeface="Hiragino Sans"/>
                <a:ea typeface="Hiragino Sans"/>
                <a:cs typeface="Hiragino Sans"/>
              </a:rPr>
              <a:t>ファイル読み書き対応</a:t>
            </a:r>
          </a:p>
        </p:txBody>
      </p:sp>
      <p:sp>
        <p:nvSpPr>
          <p:cNvPr id="28" name="TextBox 27"/>
          <p:cNvSpPr txBox="1"/>
          <p:nvPr/>
        </p:nvSpPr>
        <p:spPr>
          <a:xfrm>
            <a:off x="6400800" y="4206240"/>
            <a:ext cx="5074920" cy="548640"/>
          </a:xfrm>
          <a:prstGeom prst="rect">
            <a:avLst/>
          </a:prstGeom>
          <a:noFill/>
        </p:spPr>
        <p:txBody>
          <a:bodyPr wrap="square" anchor="t" lIns="0" rIns="0" tIns="0" bIns="0">
            <a:spAutoFit/>
          </a:bodyPr>
          <a:lstStyle/>
          <a:p>
            <a:pPr algn="l">
              <a:lnSpc>
                <a:spcPct val="150000"/>
              </a:lnSpc>
            </a:pPr>
            <a:r>
              <a:rPr sz="1000" b="0">
                <a:solidFill>
                  <a:srgbClr val="1A1A1A"/>
                </a:solidFill>
                <a:latin typeface="Hiragino Sans"/>
                <a:ea typeface="Hiragino Sans"/>
                <a:cs typeface="Hiragino Sans"/>
              </a:rPr>
              <a:t>レポートCSVを Claude に渡し</a:t>
            </a:r>
          </a:p>
          <a:p>
            <a:pPr algn="l">
              <a:lnSpc>
                <a:spcPct val="150000"/>
              </a:lnSpc>
            </a:pPr>
            <a:r>
              <a:rPr sz="1000" b="0">
                <a:solidFill>
                  <a:srgbClr val="1A1A1A"/>
                </a:solidFill>
                <a:latin typeface="Hiragino Sans"/>
                <a:ea typeface="Hiragino Sans"/>
                <a:cs typeface="Hiragino Sans"/>
              </a:rPr>
              <a:t>分析→次のアクション</a:t>
            </a:r>
          </a:p>
        </p:txBody>
      </p:sp>
      <p:sp>
        <p:nvSpPr>
          <p:cNvPr id="29" name="Rounded Rectangle 28"/>
          <p:cNvSpPr/>
          <p:nvPr/>
        </p:nvSpPr>
        <p:spPr>
          <a:xfrm>
            <a:off x="548640" y="4937760"/>
            <a:ext cx="11109960" cy="141732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5074920"/>
            <a:ext cx="10058400" cy="320040"/>
          </a:xfrm>
          <a:prstGeom prst="rect">
            <a:avLst/>
          </a:prstGeom>
          <a:noFill/>
        </p:spPr>
        <p:txBody>
          <a:bodyPr wrap="square" anchor="t" lIns="0" rIns="0" tIns="0" bIns="0">
            <a:spAutoFit/>
          </a:bodyPr>
          <a:lstStyle/>
          <a:p>
            <a:pPr algn="l">
              <a:lnSpc>
                <a:spcPct val="115000"/>
              </a:lnSpc>
            </a:pPr>
            <a:r>
              <a:rPr sz="1200" b="1">
                <a:solidFill>
                  <a:srgbClr val="E87722"/>
                </a:solidFill>
                <a:latin typeface="Hiragino Sans"/>
                <a:ea typeface="Hiragino Sans"/>
                <a:cs typeface="Hiragino Sans"/>
              </a:rPr>
              <a:t>💡 副業代行のシナリオ</a:t>
            </a:r>
          </a:p>
        </p:txBody>
      </p:sp>
      <p:sp>
        <p:nvSpPr>
          <p:cNvPr id="31" name="TextBox 30"/>
          <p:cNvSpPr txBox="1"/>
          <p:nvPr/>
        </p:nvSpPr>
        <p:spPr>
          <a:xfrm>
            <a:off x="777240" y="5394960"/>
            <a:ext cx="10972800" cy="914400"/>
          </a:xfrm>
          <a:prstGeom prst="rect">
            <a:avLst/>
          </a:prstGeom>
          <a:noFill/>
        </p:spPr>
        <p:txBody>
          <a:bodyPr wrap="square" anchor="t" lIns="0" rIns="0" tIns="0" bIns="0">
            <a:spAutoFit/>
          </a:bodyPr>
          <a:lstStyle/>
          <a:p>
            <a:pPr algn="l">
              <a:lnSpc>
                <a:spcPct val="155000"/>
              </a:lnSpc>
            </a:pPr>
            <a:r>
              <a:rPr sz="1100" b="0">
                <a:solidFill>
                  <a:srgbClr val="FFFFFF"/>
                </a:solidFill>
                <a:latin typeface="Hiragino Sans"/>
                <a:ea typeface="Hiragino Sans"/>
                <a:cs typeface="Hiragino Sans"/>
              </a:rPr>
              <a:t>• 月次レポート作成 = Claude に管理画面を見せ、レポート要約を生成</a:t>
            </a:r>
          </a:p>
          <a:p>
            <a:pPr algn="l">
              <a:lnSpc>
                <a:spcPct val="155000"/>
              </a:lnSpc>
            </a:pPr>
            <a:r>
              <a:rPr sz="1100" b="0">
                <a:solidFill>
                  <a:srgbClr val="FFFFFF"/>
                </a:solidFill>
                <a:latin typeface="Hiragino Sans"/>
                <a:ea typeface="Hiragino Sans"/>
                <a:cs typeface="Hiragino Sans"/>
              </a:rPr>
              <a:t>• Negative KW提案 = Search Terms Reportを渡して『無駄クエリ』抽出</a:t>
            </a:r>
          </a:p>
          <a:p>
            <a:pPr algn="l">
              <a:lnSpc>
                <a:spcPct val="155000"/>
              </a:lnSpc>
            </a:pPr>
            <a:r>
              <a:rPr sz="1100" b="0">
                <a:solidFill>
                  <a:srgbClr val="FFFFFF"/>
                </a:solidFill>
                <a:latin typeface="Hiragino Sans"/>
                <a:ea typeface="Hiragino Sans"/>
                <a:cs typeface="Hiragino Sans"/>
              </a:rPr>
              <a:t>• Optiscore 提案レビュー = 提案内容を Claude に評価させる</a:t>
            </a:r>
          </a:p>
          <a:p>
            <a:pPr algn="l">
              <a:lnSpc>
                <a:spcPct val="155000"/>
              </a:lnSpc>
            </a:pPr>
            <a:r>
              <a:rPr sz="1100" b="0">
                <a:solidFill>
                  <a:srgbClr val="FFFFFF"/>
                </a:solidFill>
                <a:latin typeface="Hiragino Sans"/>
                <a:ea typeface="Hiragino Sans"/>
                <a:cs typeface="Hiragino Sans"/>
              </a:rPr>
              <a:t>• ⚠ 配信変更系は人間承認チェックポイント必須、自動実行は危険</a:t>
            </a:r>
          </a:p>
        </p:txBody>
      </p:sp>
      <p:sp>
        <p:nvSpPr>
          <p:cNvPr id="32" name="TextBox 31"/>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Agent : OpenAI Operator</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Web ブラウザを操作する ChatGPT エージェント</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P197 / 250</a:t>
            </a:r>
          </a:p>
        </p:txBody>
      </p:sp>
      <p:sp>
        <p:nvSpPr>
          <p:cNvPr id="8" name="Rounded Rectangle 7"/>
          <p:cNvSpPr/>
          <p:nvPr/>
        </p:nvSpPr>
        <p:spPr>
          <a:xfrm>
            <a:off x="548640" y="1371600"/>
            <a:ext cx="11109960" cy="91440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08760"/>
            <a:ext cx="10972800" cy="731520"/>
          </a:xfrm>
          <a:prstGeom prst="rect">
            <a:avLst/>
          </a:prstGeom>
          <a:noFill/>
        </p:spPr>
        <p:txBody>
          <a:bodyPr wrap="square" anchor="t" lIns="0" rIns="0" tIns="0" bIns="0">
            <a:spAutoFit/>
          </a:bodyPr>
          <a:lstStyle/>
          <a:p>
            <a:pPr algn="l">
              <a:lnSpc>
                <a:spcPct val="150000"/>
              </a:lnSpc>
            </a:pPr>
            <a:r>
              <a:rPr sz="1200" b="0">
                <a:solidFill>
                  <a:srgbClr val="FFFFFF"/>
                </a:solidFill>
                <a:latin typeface="Hiragino Sans"/>
                <a:ea typeface="Hiragino Sans"/>
                <a:cs typeface="Hiragino Sans"/>
              </a:rPr>
              <a:t>OpenAI Operator (2025/01 リリース) : ChatGPT Pro 加入者向け、</a:t>
            </a:r>
          </a:p>
          <a:p>
            <a:pPr algn="l">
              <a:lnSpc>
                <a:spcPct val="150000"/>
              </a:lnSpc>
            </a:pPr>
            <a:r>
              <a:rPr sz="1200" b="0">
                <a:solidFill>
                  <a:srgbClr val="FFFFFF"/>
                </a:solidFill>
                <a:latin typeface="Hiragino Sans"/>
                <a:ea typeface="Hiragino Sans"/>
                <a:cs typeface="Hiragino Sans"/>
              </a:rPr>
              <a:t>ブラウザを操作して Web タスクを自律的に完遂する Agent</a:t>
            </a:r>
          </a:p>
        </p:txBody>
      </p:sp>
      <p:sp>
        <p:nvSpPr>
          <p:cNvPr id="10" name="TextBox 9"/>
          <p:cNvSpPr txBox="1"/>
          <p:nvPr/>
        </p:nvSpPr>
        <p:spPr>
          <a:xfrm>
            <a:off x="548640" y="2423160"/>
            <a:ext cx="1097280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広告運用代行のユースケース</a:t>
            </a:r>
          </a:p>
        </p:txBody>
      </p:sp>
      <p:sp>
        <p:nvSpPr>
          <p:cNvPr id="11" name="Rounded Rectangle 10"/>
          <p:cNvSpPr/>
          <p:nvPr/>
        </p:nvSpPr>
        <p:spPr>
          <a:xfrm>
            <a:off x="548640" y="2834640"/>
            <a:ext cx="2697480" cy="18288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834640"/>
            <a:ext cx="26974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063240"/>
            <a:ext cx="2331720" cy="365760"/>
          </a:xfrm>
          <a:prstGeom prst="rect">
            <a:avLst/>
          </a:prstGeom>
          <a:noFill/>
        </p:spPr>
        <p:txBody>
          <a:bodyPr wrap="square" anchor="t" lIns="0" rIns="0" tIns="0" bIns="0">
            <a:spAutoFit/>
          </a:bodyPr>
          <a:lstStyle/>
          <a:p>
            <a:pPr algn="ctr">
              <a:lnSpc>
                <a:spcPct val="115000"/>
              </a:lnSpc>
            </a:pPr>
            <a:r>
              <a:rPr sz="1300" b="1">
                <a:solidFill>
                  <a:srgbClr val="0F2A4F"/>
                </a:solidFill>
                <a:latin typeface="Hiragino Sans"/>
                <a:ea typeface="Hiragino Sans"/>
                <a:cs typeface="Hiragino Sans"/>
              </a:rPr>
              <a:t>レポート自動取得</a:t>
            </a:r>
          </a:p>
        </p:txBody>
      </p:sp>
      <p:sp>
        <p:nvSpPr>
          <p:cNvPr id="14" name="TextBox 13"/>
          <p:cNvSpPr txBox="1"/>
          <p:nvPr/>
        </p:nvSpPr>
        <p:spPr>
          <a:xfrm>
            <a:off x="731520" y="3474720"/>
            <a:ext cx="2331720" cy="1097280"/>
          </a:xfrm>
          <a:prstGeom prst="rect">
            <a:avLst/>
          </a:prstGeom>
          <a:noFill/>
        </p:spPr>
        <p:txBody>
          <a:bodyPr wrap="square" anchor="t" lIns="0" rIns="0" tIns="0" bIns="0">
            <a:spAutoFit/>
          </a:bodyPr>
          <a:lstStyle/>
          <a:p>
            <a:pPr algn="ctr">
              <a:lnSpc>
                <a:spcPct val="155000"/>
              </a:lnSpc>
            </a:pPr>
            <a:r>
              <a:rPr sz="1000" b="0">
                <a:solidFill>
                  <a:srgbClr val="1A1A1A"/>
                </a:solidFill>
                <a:latin typeface="Hiragino Sans"/>
                <a:ea typeface="Hiragino Sans"/>
                <a:cs typeface="Hiragino Sans"/>
              </a:rPr>
              <a:t>Google Ads / Meta Ads等から</a:t>
            </a:r>
          </a:p>
          <a:p>
            <a:pPr algn="ctr">
              <a:lnSpc>
                <a:spcPct val="155000"/>
              </a:lnSpc>
            </a:pPr>
            <a:r>
              <a:rPr sz="1000" b="0">
                <a:solidFill>
                  <a:srgbClr val="1A1A1A"/>
                </a:solidFill>
                <a:latin typeface="Hiragino Sans"/>
                <a:ea typeface="Hiragino Sans"/>
                <a:cs typeface="Hiragino Sans"/>
              </a:rPr>
              <a:t>月次レポートをCSV取得</a:t>
            </a:r>
          </a:p>
        </p:txBody>
      </p:sp>
      <p:sp>
        <p:nvSpPr>
          <p:cNvPr id="15" name="Rounded Rectangle 14"/>
          <p:cNvSpPr/>
          <p:nvPr/>
        </p:nvSpPr>
        <p:spPr>
          <a:xfrm>
            <a:off x="3337560" y="2834640"/>
            <a:ext cx="2697480" cy="18288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37560" y="2834640"/>
            <a:ext cx="26974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20440" y="3063240"/>
            <a:ext cx="2331720" cy="365760"/>
          </a:xfrm>
          <a:prstGeom prst="rect">
            <a:avLst/>
          </a:prstGeom>
          <a:noFill/>
        </p:spPr>
        <p:txBody>
          <a:bodyPr wrap="square" anchor="t" lIns="0" rIns="0" tIns="0" bIns="0">
            <a:spAutoFit/>
          </a:bodyPr>
          <a:lstStyle/>
          <a:p>
            <a:pPr algn="ctr">
              <a:lnSpc>
                <a:spcPct val="115000"/>
              </a:lnSpc>
            </a:pPr>
            <a:r>
              <a:rPr sz="1300" b="1">
                <a:solidFill>
                  <a:srgbClr val="0F2A4F"/>
                </a:solidFill>
                <a:latin typeface="Hiragino Sans"/>
                <a:ea typeface="Hiragino Sans"/>
                <a:cs typeface="Hiragino Sans"/>
              </a:rPr>
              <a:t>競合リサーチ</a:t>
            </a:r>
          </a:p>
        </p:txBody>
      </p:sp>
      <p:sp>
        <p:nvSpPr>
          <p:cNvPr id="18" name="TextBox 17"/>
          <p:cNvSpPr txBox="1"/>
          <p:nvPr/>
        </p:nvSpPr>
        <p:spPr>
          <a:xfrm>
            <a:off x="3520440" y="3474720"/>
            <a:ext cx="2331720" cy="1097280"/>
          </a:xfrm>
          <a:prstGeom prst="rect">
            <a:avLst/>
          </a:prstGeom>
          <a:noFill/>
        </p:spPr>
        <p:txBody>
          <a:bodyPr wrap="square" anchor="t" lIns="0" rIns="0" tIns="0" bIns="0">
            <a:spAutoFit/>
          </a:bodyPr>
          <a:lstStyle/>
          <a:p>
            <a:pPr algn="ctr">
              <a:lnSpc>
                <a:spcPct val="155000"/>
              </a:lnSpc>
            </a:pPr>
            <a:r>
              <a:rPr sz="1000" b="0">
                <a:solidFill>
                  <a:srgbClr val="1A1A1A"/>
                </a:solidFill>
                <a:latin typeface="Hiragino Sans"/>
                <a:ea typeface="Hiragino Sans"/>
                <a:cs typeface="Hiragino Sans"/>
              </a:rPr>
              <a:t>競合LP / 広告ライブラリの</a:t>
            </a:r>
          </a:p>
          <a:p>
            <a:pPr algn="ctr">
              <a:lnSpc>
                <a:spcPct val="155000"/>
              </a:lnSpc>
            </a:pPr>
            <a:r>
              <a:rPr sz="1000" b="0">
                <a:solidFill>
                  <a:srgbClr val="1A1A1A"/>
                </a:solidFill>
                <a:latin typeface="Hiragino Sans"/>
                <a:ea typeface="Hiragino Sans"/>
                <a:cs typeface="Hiragino Sans"/>
              </a:rPr>
              <a:t>自動巡回・スクショ</a:t>
            </a:r>
          </a:p>
        </p:txBody>
      </p:sp>
      <p:sp>
        <p:nvSpPr>
          <p:cNvPr id="19" name="Rounded Rectangle 18"/>
          <p:cNvSpPr/>
          <p:nvPr/>
        </p:nvSpPr>
        <p:spPr>
          <a:xfrm>
            <a:off x="6126480" y="2834640"/>
            <a:ext cx="2697480" cy="18288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26480" y="2834640"/>
            <a:ext cx="26974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9360" y="3063240"/>
            <a:ext cx="2331720" cy="365760"/>
          </a:xfrm>
          <a:prstGeom prst="rect">
            <a:avLst/>
          </a:prstGeom>
          <a:noFill/>
        </p:spPr>
        <p:txBody>
          <a:bodyPr wrap="square" anchor="t" lIns="0" rIns="0" tIns="0" bIns="0">
            <a:spAutoFit/>
          </a:bodyPr>
          <a:lstStyle/>
          <a:p>
            <a:pPr algn="ctr">
              <a:lnSpc>
                <a:spcPct val="115000"/>
              </a:lnSpc>
            </a:pPr>
            <a:r>
              <a:rPr sz="1300" b="1">
                <a:solidFill>
                  <a:srgbClr val="0F2A4F"/>
                </a:solidFill>
                <a:latin typeface="Hiragino Sans"/>
                <a:ea typeface="Hiragino Sans"/>
                <a:cs typeface="Hiragino Sans"/>
              </a:rPr>
              <a:t>クリエイティブベンチマーク</a:t>
            </a:r>
          </a:p>
        </p:txBody>
      </p:sp>
      <p:sp>
        <p:nvSpPr>
          <p:cNvPr id="22" name="TextBox 21"/>
          <p:cNvSpPr txBox="1"/>
          <p:nvPr/>
        </p:nvSpPr>
        <p:spPr>
          <a:xfrm>
            <a:off x="6309360" y="3474720"/>
            <a:ext cx="2331720" cy="1097280"/>
          </a:xfrm>
          <a:prstGeom prst="rect">
            <a:avLst/>
          </a:prstGeom>
          <a:noFill/>
        </p:spPr>
        <p:txBody>
          <a:bodyPr wrap="square" anchor="t" lIns="0" rIns="0" tIns="0" bIns="0">
            <a:spAutoFit/>
          </a:bodyPr>
          <a:lstStyle/>
          <a:p>
            <a:pPr algn="ctr">
              <a:lnSpc>
                <a:spcPct val="155000"/>
              </a:lnSpc>
            </a:pPr>
            <a:r>
              <a:rPr sz="1000" b="0">
                <a:solidFill>
                  <a:srgbClr val="1A1A1A"/>
                </a:solidFill>
                <a:latin typeface="Hiragino Sans"/>
                <a:ea typeface="Hiragino Sans"/>
                <a:cs typeface="Hiragino Sans"/>
              </a:rPr>
              <a:t>TikTok Creative Center 等から</a:t>
            </a:r>
          </a:p>
          <a:p>
            <a:pPr algn="ctr">
              <a:lnSpc>
                <a:spcPct val="155000"/>
              </a:lnSpc>
            </a:pPr>
            <a:r>
              <a:rPr sz="1000" b="0">
                <a:solidFill>
                  <a:srgbClr val="1A1A1A"/>
                </a:solidFill>
                <a:latin typeface="Hiragino Sans"/>
                <a:ea typeface="Hiragino Sans"/>
                <a:cs typeface="Hiragino Sans"/>
              </a:rPr>
              <a:t>Top Ads 自動収集</a:t>
            </a:r>
          </a:p>
        </p:txBody>
      </p:sp>
      <p:sp>
        <p:nvSpPr>
          <p:cNvPr id="23" name="Rounded Rectangle 22"/>
          <p:cNvSpPr/>
          <p:nvPr/>
        </p:nvSpPr>
        <p:spPr>
          <a:xfrm>
            <a:off x="8915400" y="2834640"/>
            <a:ext cx="2697480" cy="18288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15400" y="2834640"/>
            <a:ext cx="26974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98280" y="3063240"/>
            <a:ext cx="2331720" cy="365760"/>
          </a:xfrm>
          <a:prstGeom prst="rect">
            <a:avLst/>
          </a:prstGeom>
          <a:noFill/>
        </p:spPr>
        <p:txBody>
          <a:bodyPr wrap="square" anchor="t" lIns="0" rIns="0" tIns="0" bIns="0">
            <a:spAutoFit/>
          </a:bodyPr>
          <a:lstStyle/>
          <a:p>
            <a:pPr algn="ctr">
              <a:lnSpc>
                <a:spcPct val="115000"/>
              </a:lnSpc>
            </a:pPr>
            <a:r>
              <a:rPr sz="1300" b="1">
                <a:solidFill>
                  <a:srgbClr val="0F2A4F"/>
                </a:solidFill>
                <a:latin typeface="Hiragino Sans"/>
                <a:ea typeface="Hiragino Sans"/>
                <a:cs typeface="Hiragino Sans"/>
              </a:rPr>
              <a:t>簡易設定変更</a:t>
            </a:r>
          </a:p>
        </p:txBody>
      </p:sp>
      <p:sp>
        <p:nvSpPr>
          <p:cNvPr id="26" name="TextBox 25"/>
          <p:cNvSpPr txBox="1"/>
          <p:nvPr/>
        </p:nvSpPr>
        <p:spPr>
          <a:xfrm>
            <a:off x="9098280" y="3474720"/>
            <a:ext cx="2331720" cy="1097280"/>
          </a:xfrm>
          <a:prstGeom prst="rect">
            <a:avLst/>
          </a:prstGeom>
          <a:noFill/>
        </p:spPr>
        <p:txBody>
          <a:bodyPr wrap="square" anchor="t" lIns="0" rIns="0" tIns="0" bIns="0">
            <a:spAutoFit/>
          </a:bodyPr>
          <a:lstStyle/>
          <a:p>
            <a:pPr algn="ctr">
              <a:lnSpc>
                <a:spcPct val="155000"/>
              </a:lnSpc>
            </a:pPr>
            <a:r>
              <a:rPr sz="1000" b="0">
                <a:solidFill>
                  <a:srgbClr val="1A1A1A"/>
                </a:solidFill>
                <a:latin typeface="Hiragino Sans"/>
                <a:ea typeface="Hiragino Sans"/>
                <a:cs typeface="Hiragino Sans"/>
              </a:rPr>
              <a:t>予算停止・キャンペーンON/OFF</a:t>
            </a:r>
          </a:p>
          <a:p>
            <a:pPr algn="ctr">
              <a:lnSpc>
                <a:spcPct val="155000"/>
              </a:lnSpc>
            </a:pPr>
            <a:r>
              <a:rPr sz="1000" b="0">
                <a:solidFill>
                  <a:srgbClr val="1A1A1A"/>
                </a:solidFill>
                <a:latin typeface="Hiragino Sans"/>
                <a:ea typeface="Hiragino Sans"/>
                <a:cs typeface="Hiragino Sans"/>
              </a:rPr>
              <a:t>等の単純操作 (要承認)</a:t>
            </a:r>
          </a:p>
        </p:txBody>
      </p:sp>
      <p:sp>
        <p:nvSpPr>
          <p:cNvPr id="27" name="Rounded Rectangle 26"/>
          <p:cNvSpPr/>
          <p:nvPr/>
        </p:nvSpPr>
        <p:spPr>
          <a:xfrm>
            <a:off x="548640" y="4846320"/>
            <a:ext cx="11109960" cy="150876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4983480"/>
            <a:ext cx="100584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 OpenAI Operator vs Claude Computer Use</a:t>
            </a:r>
          </a:p>
        </p:txBody>
      </p:sp>
      <p:sp>
        <p:nvSpPr>
          <p:cNvPr id="29" name="TextBox 28"/>
          <p:cNvSpPr txBox="1"/>
          <p:nvPr/>
        </p:nvSpPr>
        <p:spPr>
          <a:xfrm>
            <a:off x="777240" y="5303520"/>
            <a:ext cx="10972800" cy="1005840"/>
          </a:xfrm>
          <a:prstGeom prst="rect">
            <a:avLst/>
          </a:prstGeom>
          <a:noFill/>
        </p:spPr>
        <p:txBody>
          <a:bodyPr wrap="square" anchor="t" lIns="0" rIns="0" tIns="0" bIns="0">
            <a:spAutoFit/>
          </a:bodyPr>
          <a:lstStyle/>
          <a:p>
            <a:pPr algn="l">
              <a:lnSpc>
                <a:spcPct val="155000"/>
              </a:lnSpc>
            </a:pPr>
            <a:r>
              <a:rPr sz="1100" b="0">
                <a:solidFill>
                  <a:srgbClr val="1A1A1A"/>
                </a:solidFill>
                <a:latin typeface="Hiragino Sans"/>
                <a:ea typeface="Hiragino Sans"/>
                <a:cs typeface="Hiragino Sans"/>
              </a:rPr>
              <a:t>• Operator : Web タスク特化、UIシンプル、ChatGPT Pro $200/月で利用</a:t>
            </a:r>
          </a:p>
          <a:p>
            <a:pPr algn="l">
              <a:lnSpc>
                <a:spcPct val="155000"/>
              </a:lnSpc>
            </a:pPr>
            <a:r>
              <a:rPr sz="1100" b="0">
                <a:solidFill>
                  <a:srgbClr val="1A1A1A"/>
                </a:solidFill>
                <a:latin typeface="Hiragino Sans"/>
                <a:ea typeface="Hiragino Sans"/>
                <a:cs typeface="Hiragino Sans"/>
              </a:rPr>
              <a:t>• Claude Computer Use : ローカル + Webの両方、API/SDK経由が中心</a:t>
            </a:r>
          </a:p>
          <a:p>
            <a:pPr algn="l">
              <a:lnSpc>
                <a:spcPct val="155000"/>
              </a:lnSpc>
            </a:pPr>
            <a:r>
              <a:rPr sz="1100" b="0">
                <a:solidFill>
                  <a:srgbClr val="1A1A1A"/>
                </a:solidFill>
                <a:latin typeface="Hiragino Sans"/>
                <a:ea typeface="Hiragino Sans"/>
                <a:cs typeface="Hiragino Sans"/>
              </a:rPr>
              <a:t>• 副業代行 : Operator は ChatGPT既契約者の追加機能として最初の選択肢</a:t>
            </a:r>
          </a:p>
          <a:p>
            <a:pPr algn="l">
              <a:lnSpc>
                <a:spcPct val="155000"/>
              </a:lnSpc>
            </a:pPr>
            <a:r>
              <a:rPr sz="1100" b="0">
                <a:solidFill>
                  <a:srgbClr val="1A1A1A"/>
                </a:solidFill>
                <a:latin typeface="Hiragino Sans"/>
                <a:ea typeface="Hiragino Sans"/>
                <a:cs typeface="Hiragino Sans"/>
              </a:rPr>
              <a:t>• 高度な自動化はクライアント案件ごとに API/SDK で構築検討</a:t>
            </a:r>
          </a:p>
        </p:txBody>
      </p:sp>
      <p:sp>
        <p:nvSpPr>
          <p:cNvPr id="30" name="TextBox 29"/>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Agent : Microsoft Copilot / Gemini Workspace</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Office / Workspace 内の AI Agent</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P198 / 250</a:t>
            </a:r>
          </a:p>
        </p:txBody>
      </p:sp>
      <p:sp>
        <p:nvSpPr>
          <p:cNvPr id="8" name="Rounded Rectangle 7"/>
          <p:cNvSpPr/>
          <p:nvPr/>
        </p:nvSpPr>
        <p:spPr>
          <a:xfrm>
            <a:off x="548640" y="1417320"/>
            <a:ext cx="3611880" cy="29260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361188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581912"/>
            <a:ext cx="3246120" cy="411480"/>
          </a:xfrm>
          <a:prstGeom prst="rect">
            <a:avLst/>
          </a:prstGeom>
          <a:noFill/>
        </p:spPr>
        <p:txBody>
          <a:bodyPr wrap="square" anchor="t" lIns="0" rIns="0" tIns="0" bIns="0">
            <a:spAutoFit/>
          </a:bodyPr>
          <a:lstStyle/>
          <a:p>
            <a:pPr algn="l">
              <a:lnSpc>
                <a:spcPct val="120000"/>
              </a:lnSpc>
            </a:pPr>
            <a:r>
              <a:rPr sz="1400" b="1">
                <a:solidFill>
                  <a:srgbClr val="FFFFFF"/>
                </a:solidFill>
                <a:latin typeface="Hiragino Sans"/>
                <a:ea typeface="Hiragino Sans"/>
                <a:cs typeface="Hiragino Sans"/>
              </a:rPr>
              <a:t>Microsoft 365 Copilot</a:t>
            </a:r>
          </a:p>
        </p:txBody>
      </p:sp>
      <p:sp>
        <p:nvSpPr>
          <p:cNvPr id="11" name="TextBox 10"/>
          <p:cNvSpPr txBox="1"/>
          <p:nvPr/>
        </p:nvSpPr>
        <p:spPr>
          <a:xfrm>
            <a:off x="777240" y="1965960"/>
            <a:ext cx="3246120" cy="274320"/>
          </a:xfrm>
          <a:prstGeom prst="rect">
            <a:avLst/>
          </a:prstGeom>
          <a:noFill/>
        </p:spPr>
        <p:txBody>
          <a:bodyPr wrap="square" anchor="t" lIns="0" rIns="0" tIns="0" bIns="0">
            <a:spAutoFit/>
          </a:bodyPr>
          <a:lstStyle/>
          <a:p>
            <a:pPr algn="l">
              <a:lnSpc>
                <a:spcPct val="115000"/>
              </a:lnSpc>
            </a:pPr>
            <a:r>
              <a:rPr sz="1000" b="0">
                <a:solidFill>
                  <a:srgbClr val="FFFFFF"/>
                </a:solidFill>
                <a:latin typeface="Hiragino Sans"/>
                <a:ea typeface="Hiragino Sans"/>
                <a:cs typeface="Hiragino Sans"/>
              </a:rPr>
              <a:t>$30/月/ユーザー</a:t>
            </a:r>
          </a:p>
        </p:txBody>
      </p:sp>
      <p:sp>
        <p:nvSpPr>
          <p:cNvPr id="12" name="TextBox 11"/>
          <p:cNvSpPr txBox="1"/>
          <p:nvPr/>
        </p:nvSpPr>
        <p:spPr>
          <a:xfrm>
            <a:off x="777240" y="2423160"/>
            <a:ext cx="3246120" cy="1874519"/>
          </a:xfrm>
          <a:prstGeom prst="rect">
            <a:avLst/>
          </a:prstGeom>
          <a:noFill/>
        </p:spPr>
        <p:txBody>
          <a:bodyPr wrap="square" anchor="t" lIns="0" rIns="0" tIns="0" bIns="0">
            <a:spAutoFit/>
          </a:bodyPr>
          <a:lstStyle/>
          <a:p>
            <a:pPr algn="l">
              <a:lnSpc>
                <a:spcPct val="165000"/>
              </a:lnSpc>
            </a:pPr>
            <a:r>
              <a:rPr sz="1100" b="0">
                <a:solidFill>
                  <a:srgbClr val="1A1A1A"/>
                </a:solidFill>
                <a:latin typeface="Hiragino Sans"/>
                <a:ea typeface="Hiragino Sans"/>
                <a:cs typeface="Hiragino Sans"/>
              </a:rPr>
              <a:t>Excel / PowerPoint / Outlook /</a:t>
            </a:r>
          </a:p>
          <a:p>
            <a:pPr algn="l">
              <a:lnSpc>
                <a:spcPct val="165000"/>
              </a:lnSpc>
            </a:pPr>
            <a:r>
              <a:rPr sz="1100" b="0">
                <a:solidFill>
                  <a:srgbClr val="1A1A1A"/>
                </a:solidFill>
                <a:latin typeface="Hiragino Sans"/>
                <a:ea typeface="Hiragino Sans"/>
                <a:cs typeface="Hiragino Sans"/>
              </a:rPr>
              <a:t>Teams 内で AI Agent</a:t>
            </a:r>
          </a:p>
          <a:p>
            <a:pPr algn="l">
              <a:lnSpc>
                <a:spcPct val="165000"/>
              </a:lnSpc>
            </a:pPr>
            <a:r>
              <a:rPr sz="1100" b="0">
                <a:solidFill>
                  <a:srgbClr val="1A1A1A"/>
                </a:solidFill>
                <a:latin typeface="Hiragino Sans"/>
                <a:ea typeface="Hiragino Sans"/>
                <a:cs typeface="Hiragino Sans"/>
              </a:rPr>
              <a:t>レポート作成 / 分析 /</a:t>
            </a:r>
          </a:p>
          <a:p>
            <a:pPr algn="l">
              <a:lnSpc>
                <a:spcPct val="165000"/>
              </a:lnSpc>
            </a:pPr>
            <a:r>
              <a:rPr sz="1100" b="0">
                <a:solidFill>
                  <a:srgbClr val="1A1A1A"/>
                </a:solidFill>
                <a:latin typeface="Hiragino Sans"/>
                <a:ea typeface="Hiragino Sans"/>
                <a:cs typeface="Hiragino Sans"/>
              </a:rPr>
              <a:t>メール作成 を補助</a:t>
            </a:r>
          </a:p>
          <a:p>
            <a:pPr algn="l">
              <a:lnSpc>
                <a:spcPct val="165000"/>
              </a:lnSpc>
            </a:pPr>
            <a:r>
              <a:rPr sz="1100" b="0">
                <a:solidFill>
                  <a:srgbClr val="1A1A1A"/>
                </a:solidFill>
                <a:latin typeface="Hiragino Sans"/>
                <a:ea typeface="Hiragino Sans"/>
                <a:cs typeface="Hiragino Sans"/>
              </a:rPr>
              <a:t>副業代行 : Office中心の人向け</a:t>
            </a:r>
          </a:p>
        </p:txBody>
      </p:sp>
      <p:sp>
        <p:nvSpPr>
          <p:cNvPr id="13" name="Rounded Rectangle 12"/>
          <p:cNvSpPr/>
          <p:nvPr/>
        </p:nvSpPr>
        <p:spPr>
          <a:xfrm>
            <a:off x="4297680" y="1417320"/>
            <a:ext cx="3611880" cy="29260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7680" y="1417320"/>
            <a:ext cx="361188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26280" y="1581912"/>
            <a:ext cx="3246120" cy="411480"/>
          </a:xfrm>
          <a:prstGeom prst="rect">
            <a:avLst/>
          </a:prstGeom>
          <a:noFill/>
        </p:spPr>
        <p:txBody>
          <a:bodyPr wrap="square" anchor="t" lIns="0" rIns="0" tIns="0" bIns="0">
            <a:spAutoFit/>
          </a:bodyPr>
          <a:lstStyle/>
          <a:p>
            <a:pPr algn="l">
              <a:lnSpc>
                <a:spcPct val="120000"/>
              </a:lnSpc>
            </a:pPr>
            <a:r>
              <a:rPr sz="1400" b="1">
                <a:solidFill>
                  <a:srgbClr val="FFFFFF"/>
                </a:solidFill>
                <a:latin typeface="Hiragino Sans"/>
                <a:ea typeface="Hiragino Sans"/>
                <a:cs typeface="Hiragino Sans"/>
              </a:rPr>
              <a:t>Microsoft Advertising AI</a:t>
            </a:r>
          </a:p>
        </p:txBody>
      </p:sp>
      <p:sp>
        <p:nvSpPr>
          <p:cNvPr id="16" name="TextBox 15"/>
          <p:cNvSpPr txBox="1"/>
          <p:nvPr/>
        </p:nvSpPr>
        <p:spPr>
          <a:xfrm>
            <a:off x="4526280" y="1965960"/>
            <a:ext cx="3246120" cy="274320"/>
          </a:xfrm>
          <a:prstGeom prst="rect">
            <a:avLst/>
          </a:prstGeom>
          <a:noFill/>
        </p:spPr>
        <p:txBody>
          <a:bodyPr wrap="square" anchor="t" lIns="0" rIns="0" tIns="0" bIns="0">
            <a:spAutoFit/>
          </a:bodyPr>
          <a:lstStyle/>
          <a:p>
            <a:pPr algn="l">
              <a:lnSpc>
                <a:spcPct val="115000"/>
              </a:lnSpc>
            </a:pPr>
            <a:r>
              <a:rPr sz="1000" b="0">
                <a:solidFill>
                  <a:srgbClr val="FFFFFF"/>
                </a:solidFill>
                <a:latin typeface="Hiragino Sans"/>
                <a:ea typeface="Hiragino Sans"/>
                <a:cs typeface="Hiragino Sans"/>
              </a:rPr>
              <a:t>Bing Ads内蔵</a:t>
            </a:r>
          </a:p>
        </p:txBody>
      </p:sp>
      <p:sp>
        <p:nvSpPr>
          <p:cNvPr id="17" name="TextBox 16"/>
          <p:cNvSpPr txBox="1"/>
          <p:nvPr/>
        </p:nvSpPr>
        <p:spPr>
          <a:xfrm>
            <a:off x="4526280" y="2423160"/>
            <a:ext cx="3246120" cy="1874519"/>
          </a:xfrm>
          <a:prstGeom prst="rect">
            <a:avLst/>
          </a:prstGeom>
          <a:noFill/>
        </p:spPr>
        <p:txBody>
          <a:bodyPr wrap="square" anchor="t" lIns="0" rIns="0" tIns="0" bIns="0">
            <a:spAutoFit/>
          </a:bodyPr>
          <a:lstStyle/>
          <a:p>
            <a:pPr algn="l">
              <a:lnSpc>
                <a:spcPct val="165000"/>
              </a:lnSpc>
            </a:pPr>
            <a:r>
              <a:rPr sz="1100" b="0">
                <a:solidFill>
                  <a:srgbClr val="1A1A1A"/>
                </a:solidFill>
                <a:latin typeface="Hiragino Sans"/>
                <a:ea typeface="Hiragino Sans"/>
                <a:cs typeface="Hiragino Sans"/>
              </a:rPr>
              <a:t>Bing Ads (Microsoft広告) 内蔵</a:t>
            </a:r>
          </a:p>
          <a:p>
            <a:pPr algn="l">
              <a:lnSpc>
                <a:spcPct val="165000"/>
              </a:lnSpc>
            </a:pPr>
            <a:r>
              <a:rPr sz="1100" b="0">
                <a:solidFill>
                  <a:srgbClr val="1A1A1A"/>
                </a:solidFill>
                <a:latin typeface="Hiragino Sans"/>
                <a:ea typeface="Hiragino Sans"/>
                <a:cs typeface="Hiragino Sans"/>
              </a:rPr>
              <a:t>Conversational Campaign Builder</a:t>
            </a:r>
          </a:p>
          <a:p>
            <a:pPr algn="l">
              <a:lnSpc>
                <a:spcPct val="165000"/>
              </a:lnSpc>
            </a:pPr>
            <a:r>
              <a:rPr sz="1100" b="0">
                <a:solidFill>
                  <a:srgbClr val="1A1A1A"/>
                </a:solidFill>
                <a:latin typeface="Hiragino Sans"/>
                <a:ea typeface="Hiragino Sans"/>
                <a:cs typeface="Hiragino Sans"/>
              </a:rPr>
              <a:t>提案 + 実装の半自動化</a:t>
            </a:r>
          </a:p>
        </p:txBody>
      </p:sp>
      <p:sp>
        <p:nvSpPr>
          <p:cNvPr id="18" name="Rounded Rectangle 17"/>
          <p:cNvSpPr/>
          <p:nvPr/>
        </p:nvSpPr>
        <p:spPr>
          <a:xfrm>
            <a:off x="8046720" y="1417320"/>
            <a:ext cx="3611880" cy="29260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6720" y="1417320"/>
            <a:ext cx="361188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1581912"/>
            <a:ext cx="3246120" cy="411480"/>
          </a:xfrm>
          <a:prstGeom prst="rect">
            <a:avLst/>
          </a:prstGeom>
          <a:noFill/>
        </p:spPr>
        <p:txBody>
          <a:bodyPr wrap="square" anchor="t" lIns="0" rIns="0" tIns="0" bIns="0">
            <a:spAutoFit/>
          </a:bodyPr>
          <a:lstStyle/>
          <a:p>
            <a:pPr algn="l">
              <a:lnSpc>
                <a:spcPct val="120000"/>
              </a:lnSpc>
            </a:pPr>
            <a:r>
              <a:rPr sz="1400" b="1">
                <a:solidFill>
                  <a:srgbClr val="FFFFFF"/>
                </a:solidFill>
                <a:latin typeface="Hiragino Sans"/>
                <a:ea typeface="Hiragino Sans"/>
                <a:cs typeface="Hiragino Sans"/>
              </a:rPr>
              <a:t>Gemini in Workspace</a:t>
            </a:r>
          </a:p>
        </p:txBody>
      </p:sp>
      <p:sp>
        <p:nvSpPr>
          <p:cNvPr id="21" name="TextBox 20"/>
          <p:cNvSpPr txBox="1"/>
          <p:nvPr/>
        </p:nvSpPr>
        <p:spPr>
          <a:xfrm>
            <a:off x="8275320" y="1965960"/>
            <a:ext cx="3246120" cy="274320"/>
          </a:xfrm>
          <a:prstGeom prst="rect">
            <a:avLst/>
          </a:prstGeom>
          <a:noFill/>
        </p:spPr>
        <p:txBody>
          <a:bodyPr wrap="square" anchor="t" lIns="0" rIns="0" tIns="0" bIns="0">
            <a:spAutoFit/>
          </a:bodyPr>
          <a:lstStyle/>
          <a:p>
            <a:pPr algn="l">
              <a:lnSpc>
                <a:spcPct val="115000"/>
              </a:lnSpc>
            </a:pPr>
            <a:r>
              <a:rPr sz="1000" b="0">
                <a:solidFill>
                  <a:srgbClr val="FFFFFF"/>
                </a:solidFill>
                <a:latin typeface="Hiragino Sans"/>
                <a:ea typeface="Hiragino Sans"/>
                <a:cs typeface="Hiragino Sans"/>
              </a:rPr>
              <a:t>Google One AI Premium</a:t>
            </a:r>
          </a:p>
        </p:txBody>
      </p:sp>
      <p:sp>
        <p:nvSpPr>
          <p:cNvPr id="22" name="TextBox 21"/>
          <p:cNvSpPr txBox="1"/>
          <p:nvPr/>
        </p:nvSpPr>
        <p:spPr>
          <a:xfrm>
            <a:off x="8275320" y="2423160"/>
            <a:ext cx="3246120" cy="1874519"/>
          </a:xfrm>
          <a:prstGeom prst="rect">
            <a:avLst/>
          </a:prstGeom>
          <a:noFill/>
        </p:spPr>
        <p:txBody>
          <a:bodyPr wrap="square" anchor="t" lIns="0" rIns="0" tIns="0" bIns="0">
            <a:spAutoFit/>
          </a:bodyPr>
          <a:lstStyle/>
          <a:p>
            <a:pPr algn="l">
              <a:lnSpc>
                <a:spcPct val="165000"/>
              </a:lnSpc>
            </a:pPr>
            <a:r>
              <a:rPr sz="1100" b="0">
                <a:solidFill>
                  <a:srgbClr val="1A1A1A"/>
                </a:solidFill>
                <a:latin typeface="Hiragino Sans"/>
                <a:ea typeface="Hiragino Sans"/>
                <a:cs typeface="Hiragino Sans"/>
              </a:rPr>
              <a:t>Gmail / Docs / Sheets / Slides</a:t>
            </a:r>
          </a:p>
          <a:p>
            <a:pPr algn="l">
              <a:lnSpc>
                <a:spcPct val="165000"/>
              </a:lnSpc>
            </a:pPr>
            <a:r>
              <a:rPr sz="1100" b="0">
                <a:solidFill>
                  <a:srgbClr val="1A1A1A"/>
                </a:solidFill>
                <a:latin typeface="Hiragino Sans"/>
                <a:ea typeface="Hiragino Sans"/>
                <a:cs typeface="Hiragino Sans"/>
              </a:rPr>
              <a:t>Conversational Analytics</a:t>
            </a:r>
          </a:p>
          <a:p>
            <a:pPr algn="l">
              <a:lnSpc>
                <a:spcPct val="165000"/>
              </a:lnSpc>
            </a:pPr>
            <a:r>
              <a:rPr sz="1100" b="0">
                <a:solidFill>
                  <a:srgbClr val="1A1A1A"/>
                </a:solidFill>
                <a:latin typeface="Hiragino Sans"/>
                <a:ea typeface="Hiragino Sans"/>
                <a:cs typeface="Hiragino Sans"/>
              </a:rPr>
              <a:t>Google Adsとの連携強化</a:t>
            </a:r>
          </a:p>
        </p:txBody>
      </p:sp>
      <p:sp>
        <p:nvSpPr>
          <p:cNvPr id="23" name="Rounded Rectangle 22"/>
          <p:cNvSpPr/>
          <p:nvPr/>
        </p:nvSpPr>
        <p:spPr>
          <a:xfrm>
            <a:off x="548640" y="4480560"/>
            <a:ext cx="11109960" cy="1874519"/>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4617720"/>
            <a:ext cx="10058400" cy="320040"/>
          </a:xfrm>
          <a:prstGeom prst="rect">
            <a:avLst/>
          </a:prstGeom>
          <a:noFill/>
        </p:spPr>
        <p:txBody>
          <a:bodyPr wrap="square" anchor="t" lIns="0" rIns="0" tIns="0" bIns="0">
            <a:spAutoFit/>
          </a:bodyPr>
          <a:lstStyle/>
          <a:p>
            <a:pPr algn="l">
              <a:lnSpc>
                <a:spcPct val="115000"/>
              </a:lnSpc>
            </a:pPr>
            <a:r>
              <a:rPr sz="1200" b="1">
                <a:solidFill>
                  <a:srgbClr val="E87722"/>
                </a:solidFill>
                <a:latin typeface="Hiragino Sans"/>
                <a:ea typeface="Hiragino Sans"/>
                <a:cs typeface="Hiragino Sans"/>
              </a:rPr>
              <a:t>💡 副業代行で Agent ツールの選択</a:t>
            </a:r>
          </a:p>
        </p:txBody>
      </p:sp>
      <p:sp>
        <p:nvSpPr>
          <p:cNvPr id="25" name="TextBox 24"/>
          <p:cNvSpPr txBox="1"/>
          <p:nvPr/>
        </p:nvSpPr>
        <p:spPr>
          <a:xfrm>
            <a:off x="777240" y="4937760"/>
            <a:ext cx="10972800" cy="1371600"/>
          </a:xfrm>
          <a:prstGeom prst="rect">
            <a:avLst/>
          </a:prstGeom>
          <a:noFill/>
        </p:spPr>
        <p:txBody>
          <a:bodyPr wrap="square" anchor="t" lIns="0" rIns="0" tIns="0" bIns="0">
            <a:spAutoFit/>
          </a:bodyPr>
          <a:lstStyle/>
          <a:p>
            <a:pPr algn="l">
              <a:lnSpc>
                <a:spcPct val="160000"/>
              </a:lnSpc>
            </a:pPr>
            <a:r>
              <a:rPr sz="1100" b="0">
                <a:solidFill>
                  <a:srgbClr val="FFFFFF"/>
                </a:solidFill>
                <a:latin typeface="Hiragino Sans"/>
                <a:ea typeface="Hiragino Sans"/>
                <a:cs typeface="Hiragino Sans"/>
              </a:rPr>
              <a:t>• Office 365 環境 = Microsoft Copilot で Excel/PowerPoint レポート効率化</a:t>
            </a:r>
          </a:p>
          <a:p>
            <a:pPr algn="l">
              <a:lnSpc>
                <a:spcPct val="160000"/>
              </a:lnSpc>
            </a:pPr>
            <a:r>
              <a:rPr sz="1100" b="0">
                <a:solidFill>
                  <a:srgbClr val="FFFFFF"/>
                </a:solidFill>
                <a:latin typeface="Hiragino Sans"/>
                <a:ea typeface="Hiragino Sans"/>
                <a:cs typeface="Hiragino Sans"/>
              </a:rPr>
              <a:t>• Google Workspace 環境 = Gemini in Workspace でドキュメント作成効率化</a:t>
            </a:r>
          </a:p>
          <a:p>
            <a:pPr algn="l">
              <a:lnSpc>
                <a:spcPct val="160000"/>
              </a:lnSpc>
            </a:pPr>
            <a:r>
              <a:rPr sz="1100" b="0">
                <a:solidFill>
                  <a:srgbClr val="FFFFFF"/>
                </a:solidFill>
                <a:latin typeface="Hiragino Sans"/>
                <a:ea typeface="Hiragino Sans"/>
                <a:cs typeface="Hiragino Sans"/>
              </a:rPr>
              <a:t>• 媒体側 = Gemini in Google Ads / Conversational Campaign Builder を活用</a:t>
            </a:r>
          </a:p>
          <a:p>
            <a:pPr algn="l">
              <a:lnSpc>
                <a:spcPct val="160000"/>
              </a:lnSpc>
            </a:pPr>
            <a:r>
              <a:rPr sz="1100" b="0">
                <a:solidFill>
                  <a:srgbClr val="FFFFFF"/>
                </a:solidFill>
                <a:latin typeface="Hiragino Sans"/>
                <a:ea typeface="Hiragino Sans"/>
                <a:cs typeface="Hiragino Sans"/>
              </a:rPr>
              <a:t>• 副業代行スイートスポット : Workspace + Gemini で月次レポート自動化</a:t>
            </a:r>
          </a:p>
          <a:p>
            <a:pPr algn="l">
              <a:lnSpc>
                <a:spcPct val="160000"/>
              </a:lnSpc>
            </a:pPr>
            <a:r>
              <a:rPr sz="1100" b="0">
                <a:solidFill>
                  <a:srgbClr val="FFFFFF"/>
                </a:solidFill>
                <a:latin typeface="Hiragino Sans"/>
                <a:ea typeface="Hiragino Sans"/>
                <a:cs typeface="Hiragino Sans"/>
              </a:rPr>
              <a:t>• ROI : 月レポート工数を 5時間→1時間 削減で月Pro契約 $20-30 は即ペイ</a:t>
            </a:r>
          </a:p>
        </p:txBody>
      </p:sp>
      <p:sp>
        <p:nvSpPr>
          <p:cNvPr id="26" name="TextBox 25"/>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プロンプトテンプレ : 戦略立案</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新規案件のキャンペーン戦略を AI と作る</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P199 / 250</a:t>
            </a:r>
          </a:p>
        </p:txBody>
      </p:sp>
      <p:sp>
        <p:nvSpPr>
          <p:cNvPr id="8" name="Rounded Rectangle 7"/>
          <p:cNvSpPr/>
          <p:nvPr/>
        </p:nvSpPr>
        <p:spPr>
          <a:xfrm>
            <a:off x="548640" y="1371600"/>
            <a:ext cx="11109960" cy="4983480"/>
          </a:xfrm>
          <a:prstGeom prst="roundRect">
            <a:avLst>
              <a:gd name="adj" fmla="val 6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71600"/>
            <a:ext cx="137160" cy="498348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554480"/>
            <a:ext cx="1097280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 プロンプトテンプレ : 新規案件のキャンペーン戦略立案</a:t>
            </a:r>
          </a:p>
        </p:txBody>
      </p:sp>
      <p:sp>
        <p:nvSpPr>
          <p:cNvPr id="11" name="TextBox 10"/>
          <p:cNvSpPr txBox="1"/>
          <p:nvPr/>
        </p:nvSpPr>
        <p:spPr>
          <a:xfrm>
            <a:off x="868680" y="1920240"/>
            <a:ext cx="10972800" cy="4434840"/>
          </a:xfrm>
          <a:prstGeom prst="rect">
            <a:avLst/>
          </a:prstGeom>
          <a:noFill/>
        </p:spPr>
        <p:txBody>
          <a:bodyPr wrap="square" anchor="t" lIns="0" rIns="0" tIns="0" bIns="0">
            <a:spAutoFit/>
          </a:bodyPr>
          <a:lstStyle/>
          <a:p>
            <a:pPr algn="l">
              <a:lnSpc>
                <a:spcPct val="140000"/>
              </a:lnSpc>
            </a:pPr>
            <a:r>
              <a:rPr sz="1000" b="0">
                <a:solidFill>
                  <a:srgbClr val="1A1A1A"/>
                </a:solidFill>
                <a:latin typeface="Menlo"/>
                <a:ea typeface="Menlo"/>
                <a:cs typeface="Menlo"/>
              </a:rPr>
              <a:t>あなたは経験豊富な広告運用ストラテジストです。以下の条件で</a:t>
            </a:r>
          </a:p>
          <a:p>
            <a:pPr algn="l">
              <a:lnSpc>
                <a:spcPct val="140000"/>
              </a:lnSpc>
            </a:pPr>
            <a:r>
              <a:rPr sz="1000" b="0">
                <a:solidFill>
                  <a:srgbClr val="1A1A1A"/>
                </a:solidFill>
                <a:latin typeface="Menlo"/>
                <a:ea typeface="Menlo"/>
                <a:cs typeface="Menlo"/>
              </a:rPr>
              <a:t>新規クライアントの広告運用戦略を立案してください。</a:t>
            </a:r>
          </a:p>
          <a:p>
            <a:pPr algn="l">
              <a:lnSpc>
                <a:spcPct val="140000"/>
              </a:lnSpc>
            </a:pPr>
            <a:r>
              <a:rPr sz="1000" b="0">
                <a:solidFill>
                  <a:srgbClr val="1A1A1A"/>
                </a:solidFill>
                <a:latin typeface="Menlo"/>
                <a:ea typeface="Menlo"/>
                <a:cs typeface="Menlo"/>
              </a:rPr>
              <a:t/>
            </a:r>
          </a:p>
          <a:p>
            <a:pPr algn="l">
              <a:lnSpc>
                <a:spcPct val="140000"/>
              </a:lnSpc>
            </a:pPr>
            <a:r>
              <a:rPr sz="1000" b="0">
                <a:solidFill>
                  <a:srgbClr val="1A1A1A"/>
                </a:solidFill>
                <a:latin typeface="Menlo"/>
                <a:ea typeface="Menlo"/>
                <a:cs typeface="Menlo"/>
              </a:rPr>
              <a:t>【クライアント情報】</a:t>
            </a:r>
          </a:p>
          <a:p>
            <a:pPr algn="l">
              <a:lnSpc>
                <a:spcPct val="140000"/>
              </a:lnSpc>
            </a:pPr>
            <a:r>
              <a:rPr sz="1000" b="0">
                <a:solidFill>
                  <a:srgbClr val="1A1A1A"/>
                </a:solidFill>
                <a:latin typeface="Menlo"/>
                <a:ea typeface="Menlo"/>
                <a:cs typeface="Menlo"/>
              </a:rPr>
              <a:t>・業種 : {業種}</a:t>
            </a:r>
          </a:p>
          <a:p>
            <a:pPr algn="l">
              <a:lnSpc>
                <a:spcPct val="140000"/>
              </a:lnSpc>
            </a:pPr>
            <a:r>
              <a:rPr sz="1000" b="0">
                <a:solidFill>
                  <a:srgbClr val="1A1A1A"/>
                </a:solidFill>
                <a:latin typeface="Menlo"/>
                <a:ea typeface="Menlo"/>
                <a:cs typeface="Menlo"/>
              </a:rPr>
              <a:t>・商材 : {商品/サービス概要}</a:t>
            </a:r>
          </a:p>
          <a:p>
            <a:pPr algn="l">
              <a:lnSpc>
                <a:spcPct val="140000"/>
              </a:lnSpc>
            </a:pPr>
            <a:r>
              <a:rPr sz="1000" b="0">
                <a:solidFill>
                  <a:srgbClr val="1A1A1A"/>
                </a:solidFill>
                <a:latin typeface="Menlo"/>
                <a:ea typeface="Menlo"/>
                <a:cs typeface="Menlo"/>
              </a:rPr>
              <a:t>・LP : {LP URL}</a:t>
            </a:r>
          </a:p>
          <a:p>
            <a:pPr algn="l">
              <a:lnSpc>
                <a:spcPct val="140000"/>
              </a:lnSpc>
            </a:pPr>
            <a:r>
              <a:rPr sz="1000" b="0">
                <a:solidFill>
                  <a:srgbClr val="1A1A1A"/>
                </a:solidFill>
                <a:latin typeface="Menlo"/>
                <a:ea typeface="Menlo"/>
                <a:cs typeface="Menlo"/>
              </a:rPr>
              <a:t>・ターゲット : {年齢/性別/属性}</a:t>
            </a:r>
          </a:p>
          <a:p>
            <a:pPr algn="l">
              <a:lnSpc>
                <a:spcPct val="140000"/>
              </a:lnSpc>
            </a:pPr>
            <a:r>
              <a:rPr sz="1000" b="0">
                <a:solidFill>
                  <a:srgbClr val="1A1A1A"/>
                </a:solidFill>
                <a:latin typeface="Menlo"/>
                <a:ea typeface="Menlo"/>
                <a:cs typeface="Menlo"/>
              </a:rPr>
              <a:t>・月予算 : {予算金額}</a:t>
            </a:r>
          </a:p>
          <a:p>
            <a:pPr algn="l">
              <a:lnSpc>
                <a:spcPct val="140000"/>
              </a:lnSpc>
            </a:pPr>
            <a:r>
              <a:rPr sz="1000" b="0">
                <a:solidFill>
                  <a:srgbClr val="1A1A1A"/>
                </a:solidFill>
                <a:latin typeface="Menlo"/>
                <a:ea typeface="Menlo"/>
                <a:cs typeface="Menlo"/>
              </a:rPr>
              <a:t>・KGI/目標 : {売上目標 / リード目標 等}</a:t>
            </a:r>
          </a:p>
          <a:p>
            <a:pPr algn="l">
              <a:lnSpc>
                <a:spcPct val="140000"/>
              </a:lnSpc>
            </a:pPr>
            <a:r>
              <a:rPr sz="1000" b="0">
                <a:solidFill>
                  <a:srgbClr val="1A1A1A"/>
                </a:solidFill>
                <a:latin typeface="Menlo"/>
                <a:ea typeface="Menlo"/>
                <a:cs typeface="Menlo"/>
              </a:rPr>
              <a:t>・既存運用状況 : {現在の媒体・パフォーマンス}</a:t>
            </a:r>
          </a:p>
          <a:p>
            <a:pPr algn="l">
              <a:lnSpc>
                <a:spcPct val="140000"/>
              </a:lnSpc>
            </a:pPr>
            <a:r>
              <a:rPr sz="1000" b="0">
                <a:solidFill>
                  <a:srgbClr val="1A1A1A"/>
                </a:solidFill>
                <a:latin typeface="Menlo"/>
                <a:ea typeface="Menlo"/>
                <a:cs typeface="Menlo"/>
              </a:rPr>
              <a:t/>
            </a:r>
          </a:p>
          <a:p>
            <a:pPr algn="l">
              <a:lnSpc>
                <a:spcPct val="140000"/>
              </a:lnSpc>
            </a:pPr>
            <a:r>
              <a:rPr sz="1000" b="0">
                <a:solidFill>
                  <a:srgbClr val="1A1A1A"/>
                </a:solidFill>
                <a:latin typeface="Menlo"/>
                <a:ea typeface="Menlo"/>
                <a:cs typeface="Menlo"/>
              </a:rPr>
              <a:t>【出力フォーマット】</a:t>
            </a:r>
          </a:p>
          <a:p>
            <a:pPr algn="l">
              <a:lnSpc>
                <a:spcPct val="140000"/>
              </a:lnSpc>
            </a:pPr>
            <a:r>
              <a:rPr sz="1000" b="0">
                <a:solidFill>
                  <a:srgbClr val="1A1A1A"/>
                </a:solidFill>
                <a:latin typeface="Menlo"/>
                <a:ea typeface="Menlo"/>
                <a:cs typeface="Menlo"/>
              </a:rPr>
              <a:t>1. 推奨媒体構成 (媒体名 + 配信目的 + 予算配分%)</a:t>
            </a:r>
          </a:p>
          <a:p>
            <a:pPr algn="l">
              <a:lnSpc>
                <a:spcPct val="140000"/>
              </a:lnSpc>
            </a:pPr>
            <a:r>
              <a:rPr sz="1000" b="0">
                <a:solidFill>
                  <a:srgbClr val="1A1A1A"/>
                </a:solidFill>
                <a:latin typeface="Menlo"/>
                <a:ea typeface="Menlo"/>
                <a:cs typeface="Menlo"/>
              </a:rPr>
              <a:t>2. キャンペーン構造 (媒体別の キャンペーン → 広告セット 設計)</a:t>
            </a:r>
          </a:p>
          <a:p>
            <a:pPr algn="l">
              <a:lnSpc>
                <a:spcPct val="140000"/>
              </a:lnSpc>
            </a:pPr>
            <a:r>
              <a:rPr sz="1000" b="0">
                <a:solidFill>
                  <a:srgbClr val="1A1A1A"/>
                </a:solidFill>
                <a:latin typeface="Menlo"/>
                <a:ea typeface="Menlo"/>
                <a:cs typeface="Menlo"/>
              </a:rPr>
              <a:t>3. オーディエンス戦略 (1PD活用 / Lookalike / ターゲティング)</a:t>
            </a:r>
          </a:p>
          <a:p>
            <a:pPr algn="l">
              <a:lnSpc>
                <a:spcPct val="140000"/>
              </a:lnSpc>
            </a:pPr>
            <a:r>
              <a:rPr sz="1000" b="0">
                <a:solidFill>
                  <a:srgbClr val="1A1A1A"/>
                </a:solidFill>
                <a:latin typeface="Menlo"/>
                <a:ea typeface="Menlo"/>
                <a:cs typeface="Menlo"/>
              </a:rPr>
              <a:t>4. クリエイティブ方針 (訴求軸 3-5案 + 制作本数目安)</a:t>
            </a:r>
          </a:p>
          <a:p>
            <a:pPr algn="l">
              <a:lnSpc>
                <a:spcPct val="140000"/>
              </a:lnSpc>
            </a:pPr>
            <a:r>
              <a:rPr sz="1000" b="0">
                <a:solidFill>
                  <a:srgbClr val="1A1A1A"/>
                </a:solidFill>
                <a:latin typeface="Menlo"/>
                <a:ea typeface="Menlo"/>
                <a:cs typeface="Menlo"/>
              </a:rPr>
              <a:t>5. 計測設計 (CV定義 / Tag / DDA / 検証手法)</a:t>
            </a:r>
          </a:p>
          <a:p>
            <a:pPr algn="l">
              <a:lnSpc>
                <a:spcPct val="140000"/>
              </a:lnSpc>
            </a:pPr>
            <a:r>
              <a:rPr sz="1000" b="0">
                <a:solidFill>
                  <a:srgbClr val="1A1A1A"/>
                </a:solidFill>
                <a:latin typeface="Menlo"/>
                <a:ea typeface="Menlo"/>
                <a:cs typeface="Menlo"/>
              </a:rPr>
              <a:t>6. 30日プランの主要マイルストーン</a:t>
            </a:r>
          </a:p>
        </p:txBody>
      </p:sp>
      <p:sp>
        <p:nvSpPr>
          <p:cNvPr id="12" name="TextBox 11"/>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プロンプトテンプレ : クリエイティブブリーフ</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AI 生成用のブリーフを構造化</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P200 / 250</a:t>
            </a:r>
          </a:p>
        </p:txBody>
      </p:sp>
      <p:sp>
        <p:nvSpPr>
          <p:cNvPr id="8" name="Rounded Rectangle 7"/>
          <p:cNvSpPr/>
          <p:nvPr/>
        </p:nvSpPr>
        <p:spPr>
          <a:xfrm>
            <a:off x="548640" y="1371600"/>
            <a:ext cx="11109960" cy="4983480"/>
          </a:xfrm>
          <a:prstGeom prst="roundRect">
            <a:avLst>
              <a:gd name="adj" fmla="val 6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71600"/>
            <a:ext cx="137160" cy="498348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554480"/>
            <a:ext cx="1097280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 プロンプトテンプレ : 広告クリエイティブブリーフ生成</a:t>
            </a:r>
          </a:p>
        </p:txBody>
      </p:sp>
      <p:sp>
        <p:nvSpPr>
          <p:cNvPr id="11" name="TextBox 10"/>
          <p:cNvSpPr txBox="1"/>
          <p:nvPr/>
        </p:nvSpPr>
        <p:spPr>
          <a:xfrm>
            <a:off x="868680" y="1920240"/>
            <a:ext cx="10972800" cy="4434840"/>
          </a:xfrm>
          <a:prstGeom prst="rect">
            <a:avLst/>
          </a:prstGeom>
          <a:noFill/>
        </p:spPr>
        <p:txBody>
          <a:bodyPr wrap="square" anchor="t" lIns="0" rIns="0" tIns="0" bIns="0">
            <a:spAutoFit/>
          </a:bodyPr>
          <a:lstStyle/>
          <a:p>
            <a:pPr algn="l">
              <a:lnSpc>
                <a:spcPct val="140000"/>
              </a:lnSpc>
            </a:pPr>
            <a:r>
              <a:rPr sz="1000" b="0">
                <a:solidFill>
                  <a:srgbClr val="1A1A1A"/>
                </a:solidFill>
                <a:latin typeface="Menlo"/>
                <a:ea typeface="Menlo"/>
                <a:cs typeface="Menlo"/>
              </a:rPr>
              <a:t>あなたは広告クリエイティブディレクターです。</a:t>
            </a:r>
          </a:p>
          <a:p>
            <a:pPr algn="l">
              <a:lnSpc>
                <a:spcPct val="140000"/>
              </a:lnSpc>
            </a:pPr>
            <a:r>
              <a:rPr sz="1000" b="0">
                <a:solidFill>
                  <a:srgbClr val="1A1A1A"/>
                </a:solidFill>
                <a:latin typeface="Menlo"/>
                <a:ea typeface="Menlo"/>
                <a:cs typeface="Menlo"/>
              </a:rPr>
              <a:t>以下の情報を元に、Midjourney / Sora 用のクリエイティブブリーフを作成してください。</a:t>
            </a:r>
          </a:p>
          <a:p>
            <a:pPr algn="l">
              <a:lnSpc>
                <a:spcPct val="140000"/>
              </a:lnSpc>
            </a:pPr>
            <a:r>
              <a:rPr sz="1000" b="0">
                <a:solidFill>
                  <a:srgbClr val="1A1A1A"/>
                </a:solidFill>
                <a:latin typeface="Menlo"/>
                <a:ea typeface="Menlo"/>
                <a:cs typeface="Menlo"/>
              </a:rPr>
              <a:t/>
            </a:r>
          </a:p>
          <a:p>
            <a:pPr algn="l">
              <a:lnSpc>
                <a:spcPct val="140000"/>
              </a:lnSpc>
            </a:pPr>
            <a:r>
              <a:rPr sz="1000" b="0">
                <a:solidFill>
                  <a:srgbClr val="1A1A1A"/>
                </a:solidFill>
                <a:latin typeface="Menlo"/>
                <a:ea typeface="Menlo"/>
                <a:cs typeface="Menlo"/>
              </a:rPr>
              <a:t>【商品情報】</a:t>
            </a:r>
          </a:p>
          <a:p>
            <a:pPr algn="l">
              <a:lnSpc>
                <a:spcPct val="140000"/>
              </a:lnSpc>
            </a:pPr>
            <a:r>
              <a:rPr sz="1000" b="0">
                <a:solidFill>
                  <a:srgbClr val="1A1A1A"/>
                </a:solidFill>
                <a:latin typeface="Menlo"/>
                <a:ea typeface="Menlo"/>
                <a:cs typeface="Menlo"/>
              </a:rPr>
              <a:t>・商品名 : {商品名}</a:t>
            </a:r>
          </a:p>
          <a:p>
            <a:pPr algn="l">
              <a:lnSpc>
                <a:spcPct val="140000"/>
              </a:lnSpc>
            </a:pPr>
            <a:r>
              <a:rPr sz="1000" b="0">
                <a:solidFill>
                  <a:srgbClr val="1A1A1A"/>
                </a:solidFill>
                <a:latin typeface="Menlo"/>
                <a:ea typeface="Menlo"/>
                <a:cs typeface="Menlo"/>
              </a:rPr>
              <a:t>・特徴/USP : {差別化ポイント 3つ}</a:t>
            </a:r>
          </a:p>
          <a:p>
            <a:pPr algn="l">
              <a:lnSpc>
                <a:spcPct val="140000"/>
              </a:lnSpc>
            </a:pPr>
            <a:r>
              <a:rPr sz="1000" b="0">
                <a:solidFill>
                  <a:srgbClr val="1A1A1A"/>
                </a:solidFill>
                <a:latin typeface="Menlo"/>
                <a:ea typeface="Menlo"/>
                <a:cs typeface="Menlo"/>
              </a:rPr>
              <a:t>・ターゲット : {年齢/性別/状況/関心}</a:t>
            </a:r>
          </a:p>
          <a:p>
            <a:pPr algn="l">
              <a:lnSpc>
                <a:spcPct val="140000"/>
              </a:lnSpc>
            </a:pPr>
            <a:r>
              <a:rPr sz="1000" b="0">
                <a:solidFill>
                  <a:srgbClr val="1A1A1A"/>
                </a:solidFill>
                <a:latin typeface="Menlo"/>
                <a:ea typeface="Menlo"/>
                <a:cs typeface="Menlo"/>
              </a:rPr>
              <a:t>・トーン : {カジュアル / 信頼感 / ユーモア / 高級感 等}</a:t>
            </a:r>
          </a:p>
          <a:p>
            <a:pPr algn="l">
              <a:lnSpc>
                <a:spcPct val="140000"/>
              </a:lnSpc>
            </a:pPr>
            <a:r>
              <a:rPr sz="1000" b="0">
                <a:solidFill>
                  <a:srgbClr val="1A1A1A"/>
                </a:solidFill>
                <a:latin typeface="Menlo"/>
                <a:ea typeface="Menlo"/>
                <a:cs typeface="Menlo"/>
              </a:rPr>
              <a:t/>
            </a:r>
          </a:p>
          <a:p>
            <a:pPr algn="l">
              <a:lnSpc>
                <a:spcPct val="140000"/>
              </a:lnSpc>
            </a:pPr>
            <a:r>
              <a:rPr sz="1000" b="0">
                <a:solidFill>
                  <a:srgbClr val="1A1A1A"/>
                </a:solidFill>
                <a:latin typeface="Menlo"/>
                <a:ea typeface="Menlo"/>
                <a:cs typeface="Menlo"/>
              </a:rPr>
              <a:t>【出力】</a:t>
            </a:r>
          </a:p>
          <a:p>
            <a:pPr algn="l">
              <a:lnSpc>
                <a:spcPct val="140000"/>
              </a:lnSpc>
            </a:pPr>
            <a:r>
              <a:rPr sz="1000" b="0">
                <a:solidFill>
                  <a:srgbClr val="1A1A1A"/>
                </a:solidFill>
                <a:latin typeface="Menlo"/>
                <a:ea typeface="Menlo"/>
                <a:cs typeface="Menlo"/>
              </a:rPr>
              <a:t>1. 訴求軸 5案 (各々 1行で)</a:t>
            </a:r>
          </a:p>
          <a:p>
            <a:pPr algn="l">
              <a:lnSpc>
                <a:spcPct val="140000"/>
              </a:lnSpc>
            </a:pPr>
            <a:r>
              <a:rPr sz="1000" b="0">
                <a:solidFill>
                  <a:srgbClr val="1A1A1A"/>
                </a:solidFill>
                <a:latin typeface="Menlo"/>
                <a:ea typeface="Menlo"/>
                <a:cs typeface="Menlo"/>
              </a:rPr>
              <a:t>2. 訴求軸ごとに以下を生成 :</a:t>
            </a:r>
          </a:p>
          <a:p>
            <a:pPr algn="l">
              <a:lnSpc>
                <a:spcPct val="140000"/>
              </a:lnSpc>
            </a:pPr>
            <a:r>
              <a:rPr sz="1000" b="0">
                <a:solidFill>
                  <a:srgbClr val="1A1A1A"/>
                </a:solidFill>
                <a:latin typeface="Menlo"/>
                <a:ea typeface="Menlo"/>
                <a:cs typeface="Menlo"/>
              </a:rPr>
              <a:t>   - キャプション (見出し10案)</a:t>
            </a:r>
          </a:p>
          <a:p>
            <a:pPr algn="l">
              <a:lnSpc>
                <a:spcPct val="140000"/>
              </a:lnSpc>
            </a:pPr>
            <a:r>
              <a:rPr sz="1000" b="0">
                <a:solidFill>
                  <a:srgbClr val="1A1A1A"/>
                </a:solidFill>
                <a:latin typeface="Menlo"/>
                <a:ea typeface="Menlo"/>
                <a:cs typeface="Menlo"/>
              </a:rPr>
              <a:t>   - 説明文 (3案)</a:t>
            </a:r>
          </a:p>
          <a:p>
            <a:pPr algn="l">
              <a:lnSpc>
                <a:spcPct val="140000"/>
              </a:lnSpc>
            </a:pPr>
            <a:r>
              <a:rPr sz="1000" b="0">
                <a:solidFill>
                  <a:srgbClr val="1A1A1A"/>
                </a:solidFill>
                <a:latin typeface="Menlo"/>
                <a:ea typeface="Menlo"/>
                <a:cs typeface="Menlo"/>
              </a:rPr>
              <a:t>   - Midjourneyプロンプト (英語、--ar 9:16, --v 7)</a:t>
            </a:r>
          </a:p>
          <a:p>
            <a:pPr algn="l">
              <a:lnSpc>
                <a:spcPct val="140000"/>
              </a:lnSpc>
            </a:pPr>
            <a:r>
              <a:rPr sz="1000" b="0">
                <a:solidFill>
                  <a:srgbClr val="1A1A1A"/>
                </a:solidFill>
                <a:latin typeface="Menlo"/>
                <a:ea typeface="Menlo"/>
                <a:cs typeface="Menlo"/>
              </a:rPr>
              <a:t>   - Soraプロンプト (英語、シーン構成3-5秒)</a:t>
            </a:r>
          </a:p>
          <a:p>
            <a:pPr algn="l">
              <a:lnSpc>
                <a:spcPct val="140000"/>
              </a:lnSpc>
            </a:pPr>
            <a:r>
              <a:rPr sz="1000" b="0">
                <a:solidFill>
                  <a:srgbClr val="1A1A1A"/>
                </a:solidFill>
                <a:latin typeface="Menlo"/>
                <a:ea typeface="Menlo"/>
                <a:cs typeface="Menlo"/>
              </a:rPr>
              <a:t>   - 想定NG事項 (媒体審査で落ちる可能性)</a:t>
            </a:r>
          </a:p>
        </p:txBody>
      </p:sp>
      <p:sp>
        <p:nvSpPr>
          <p:cNvPr id="12" name="TextBox 11"/>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プロンプトテンプレ : 月次レポート要約</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数字データから自然言語の要約を生成</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P201 / 250</a:t>
            </a:r>
          </a:p>
        </p:txBody>
      </p:sp>
      <p:sp>
        <p:nvSpPr>
          <p:cNvPr id="8" name="Rounded Rectangle 7"/>
          <p:cNvSpPr/>
          <p:nvPr/>
        </p:nvSpPr>
        <p:spPr>
          <a:xfrm>
            <a:off x="548640" y="1371600"/>
            <a:ext cx="11109960" cy="4983480"/>
          </a:xfrm>
          <a:prstGeom prst="roundRect">
            <a:avLst>
              <a:gd name="adj" fmla="val 6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71600"/>
            <a:ext cx="137160" cy="498348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554480"/>
            <a:ext cx="1097280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 プロンプトテンプレ : 月次レポートの要約 + 提案</a:t>
            </a:r>
          </a:p>
        </p:txBody>
      </p:sp>
      <p:sp>
        <p:nvSpPr>
          <p:cNvPr id="11" name="TextBox 10"/>
          <p:cNvSpPr txBox="1"/>
          <p:nvPr/>
        </p:nvSpPr>
        <p:spPr>
          <a:xfrm>
            <a:off x="868680" y="1920240"/>
            <a:ext cx="10972800" cy="4434840"/>
          </a:xfrm>
          <a:prstGeom prst="rect">
            <a:avLst/>
          </a:prstGeom>
          <a:noFill/>
        </p:spPr>
        <p:txBody>
          <a:bodyPr wrap="square" anchor="t" lIns="0" rIns="0" tIns="0" bIns="0">
            <a:spAutoFit/>
          </a:bodyPr>
          <a:lstStyle/>
          <a:p>
            <a:pPr algn="l">
              <a:lnSpc>
                <a:spcPct val="140000"/>
              </a:lnSpc>
            </a:pPr>
            <a:r>
              <a:rPr sz="1000" b="0">
                <a:solidFill>
                  <a:srgbClr val="1A1A1A"/>
                </a:solidFill>
                <a:latin typeface="Menlo"/>
                <a:ea typeface="Menlo"/>
                <a:cs typeface="Menlo"/>
              </a:rPr>
              <a:t>あなたは広告運用代行のシニアアナリストです。</a:t>
            </a:r>
          </a:p>
          <a:p>
            <a:pPr algn="l">
              <a:lnSpc>
                <a:spcPct val="140000"/>
              </a:lnSpc>
            </a:pPr>
            <a:r>
              <a:rPr sz="1000" b="0">
                <a:solidFill>
                  <a:srgbClr val="1A1A1A"/>
                </a:solidFill>
                <a:latin typeface="Menlo"/>
                <a:ea typeface="Menlo"/>
                <a:cs typeface="Menlo"/>
              </a:rPr>
              <a:t>以下の月次パフォーマンスデータを元に、クライアント向けレポートを作成してください。</a:t>
            </a:r>
          </a:p>
          <a:p>
            <a:pPr algn="l">
              <a:lnSpc>
                <a:spcPct val="140000"/>
              </a:lnSpc>
            </a:pPr>
            <a:r>
              <a:rPr sz="1000" b="0">
                <a:solidFill>
                  <a:srgbClr val="1A1A1A"/>
                </a:solidFill>
                <a:latin typeface="Menlo"/>
                <a:ea typeface="Menlo"/>
                <a:cs typeface="Menlo"/>
              </a:rPr>
              <a:t/>
            </a:r>
          </a:p>
          <a:p>
            <a:pPr algn="l">
              <a:lnSpc>
                <a:spcPct val="140000"/>
              </a:lnSpc>
            </a:pPr>
            <a:r>
              <a:rPr sz="1000" b="0">
                <a:solidFill>
                  <a:srgbClr val="1A1A1A"/>
                </a:solidFill>
                <a:latin typeface="Menlo"/>
                <a:ea typeface="Menlo"/>
                <a:cs typeface="Menlo"/>
              </a:rPr>
              <a:t>【データ (CSV/表を貼付)】</a:t>
            </a:r>
          </a:p>
          <a:p>
            <a:pPr algn="l">
              <a:lnSpc>
                <a:spcPct val="140000"/>
              </a:lnSpc>
            </a:pPr>
            <a:r>
              <a:rPr sz="1000" b="0">
                <a:solidFill>
                  <a:srgbClr val="1A1A1A"/>
                </a:solidFill>
                <a:latin typeface="Menlo"/>
                <a:ea typeface="Menlo"/>
                <a:cs typeface="Menlo"/>
              </a:rPr>
              <a:t>{Google Ads / Meta Ads / GA4 のデータ}</a:t>
            </a:r>
          </a:p>
          <a:p>
            <a:pPr algn="l">
              <a:lnSpc>
                <a:spcPct val="140000"/>
              </a:lnSpc>
            </a:pPr>
            <a:r>
              <a:rPr sz="1000" b="0">
                <a:solidFill>
                  <a:srgbClr val="1A1A1A"/>
                </a:solidFill>
                <a:latin typeface="Menlo"/>
                <a:ea typeface="Menlo"/>
                <a:cs typeface="Menlo"/>
              </a:rPr>
              <a:t/>
            </a:r>
          </a:p>
          <a:p>
            <a:pPr algn="l">
              <a:lnSpc>
                <a:spcPct val="140000"/>
              </a:lnSpc>
            </a:pPr>
            <a:r>
              <a:rPr sz="1000" b="0">
                <a:solidFill>
                  <a:srgbClr val="1A1A1A"/>
                </a:solidFill>
                <a:latin typeface="Menlo"/>
                <a:ea typeface="Menlo"/>
                <a:cs typeface="Menlo"/>
              </a:rPr>
              <a:t>【前月実績】</a:t>
            </a:r>
          </a:p>
          <a:p>
            <a:pPr algn="l">
              <a:lnSpc>
                <a:spcPct val="140000"/>
              </a:lnSpc>
            </a:pPr>
            <a:r>
              <a:rPr sz="1000" b="0">
                <a:solidFill>
                  <a:srgbClr val="1A1A1A"/>
                </a:solidFill>
                <a:latin typeface="Menlo"/>
                <a:ea typeface="Menlo"/>
                <a:cs typeface="Menlo"/>
              </a:rPr>
              <a:t>{前月の数値}</a:t>
            </a:r>
          </a:p>
          <a:p>
            <a:pPr algn="l">
              <a:lnSpc>
                <a:spcPct val="140000"/>
              </a:lnSpc>
            </a:pPr>
            <a:r>
              <a:rPr sz="1000" b="0">
                <a:solidFill>
                  <a:srgbClr val="1A1A1A"/>
                </a:solidFill>
                <a:latin typeface="Menlo"/>
                <a:ea typeface="Menlo"/>
                <a:cs typeface="Menlo"/>
              </a:rPr>
              <a:t/>
            </a:r>
          </a:p>
          <a:p>
            <a:pPr algn="l">
              <a:lnSpc>
                <a:spcPct val="140000"/>
              </a:lnSpc>
            </a:pPr>
            <a:r>
              <a:rPr sz="1000" b="0">
                <a:solidFill>
                  <a:srgbClr val="1A1A1A"/>
                </a:solidFill>
                <a:latin typeface="Menlo"/>
                <a:ea typeface="Menlo"/>
                <a:cs typeface="Menlo"/>
              </a:rPr>
              <a:t>【出力フォーマット】</a:t>
            </a:r>
          </a:p>
          <a:p>
            <a:pPr algn="l">
              <a:lnSpc>
                <a:spcPct val="140000"/>
              </a:lnSpc>
            </a:pPr>
            <a:r>
              <a:rPr sz="1000" b="0">
                <a:solidFill>
                  <a:srgbClr val="1A1A1A"/>
                </a:solidFill>
                <a:latin typeface="Menlo"/>
                <a:ea typeface="Menlo"/>
                <a:cs typeface="Menlo"/>
              </a:rPr>
              <a:t>1. エグゼクティブサマリー (3行 / 数字付き)</a:t>
            </a:r>
          </a:p>
          <a:p>
            <a:pPr algn="l">
              <a:lnSpc>
                <a:spcPct val="140000"/>
              </a:lnSpc>
            </a:pPr>
            <a:r>
              <a:rPr sz="1000" b="0">
                <a:solidFill>
                  <a:srgbClr val="1A1A1A"/>
                </a:solidFill>
                <a:latin typeface="Menlo"/>
                <a:ea typeface="Menlo"/>
                <a:cs typeface="Menlo"/>
              </a:rPr>
              <a:t>2. 媒体別パフォーマンス (前月比 + コメント)</a:t>
            </a:r>
          </a:p>
          <a:p>
            <a:pPr algn="l">
              <a:lnSpc>
                <a:spcPct val="140000"/>
              </a:lnSpc>
            </a:pPr>
            <a:r>
              <a:rPr sz="1000" b="0">
                <a:solidFill>
                  <a:srgbClr val="1A1A1A"/>
                </a:solidFill>
                <a:latin typeface="Menlo"/>
                <a:ea typeface="Menlo"/>
                <a:cs typeface="Menlo"/>
              </a:rPr>
              <a:t>3. 良かった点 (3つ + 数字)</a:t>
            </a:r>
          </a:p>
          <a:p>
            <a:pPr algn="l">
              <a:lnSpc>
                <a:spcPct val="140000"/>
              </a:lnSpc>
            </a:pPr>
            <a:r>
              <a:rPr sz="1000" b="0">
                <a:solidFill>
                  <a:srgbClr val="1A1A1A"/>
                </a:solidFill>
                <a:latin typeface="Menlo"/>
                <a:ea typeface="Menlo"/>
                <a:cs typeface="Menlo"/>
              </a:rPr>
              <a:t>4. 課題と改善ポイント (3つ + アクション)</a:t>
            </a:r>
          </a:p>
          <a:p>
            <a:pPr algn="l">
              <a:lnSpc>
                <a:spcPct val="140000"/>
              </a:lnSpc>
            </a:pPr>
            <a:r>
              <a:rPr sz="1000" b="0">
                <a:solidFill>
                  <a:srgbClr val="1A1A1A"/>
                </a:solidFill>
                <a:latin typeface="Menlo"/>
                <a:ea typeface="Menlo"/>
                <a:cs typeface="Menlo"/>
              </a:rPr>
              <a:t>5. 来月の提案 (具体的アクション 3つ + 期待効果)</a:t>
            </a:r>
          </a:p>
          <a:p>
            <a:pPr algn="l">
              <a:lnSpc>
                <a:spcPct val="140000"/>
              </a:lnSpc>
            </a:pPr>
            <a:r>
              <a:rPr sz="1000" b="0">
                <a:solidFill>
                  <a:srgbClr val="1A1A1A"/>
                </a:solidFill>
                <a:latin typeface="Menlo"/>
                <a:ea typeface="Menlo"/>
                <a:cs typeface="Menlo"/>
              </a:rPr>
              <a:t/>
            </a:r>
          </a:p>
          <a:p>
            <a:pPr algn="l">
              <a:lnSpc>
                <a:spcPct val="140000"/>
              </a:lnSpc>
            </a:pPr>
            <a:r>
              <a:rPr sz="1000" b="0">
                <a:solidFill>
                  <a:srgbClr val="1A1A1A"/>
                </a:solidFill>
                <a:latin typeface="Menlo"/>
                <a:ea typeface="Menlo"/>
                <a:cs typeface="Menlo"/>
              </a:rPr>
              <a:t>【トーン】</a:t>
            </a:r>
          </a:p>
          <a:p>
            <a:pPr algn="l">
              <a:lnSpc>
                <a:spcPct val="140000"/>
              </a:lnSpc>
            </a:pPr>
            <a:r>
              <a:rPr sz="1000" b="0">
                <a:solidFill>
                  <a:srgbClr val="1A1A1A"/>
                </a:solidFill>
                <a:latin typeface="Menlo"/>
                <a:ea typeface="Menlo"/>
                <a:cs typeface="Menlo"/>
              </a:rPr>
              <a:t>・クライアント (経営者層) 向け、専門用語は最小限</a:t>
            </a:r>
          </a:p>
          <a:p>
            <a:pPr algn="l">
              <a:lnSpc>
                <a:spcPct val="140000"/>
              </a:lnSpc>
            </a:pPr>
            <a:r>
              <a:rPr sz="1000" b="0">
                <a:solidFill>
                  <a:srgbClr val="1A1A1A"/>
                </a:solidFill>
                <a:latin typeface="Menlo"/>
                <a:ea typeface="Menlo"/>
                <a:cs typeface="Menlo"/>
              </a:rPr>
              <a:t>・誇張・憶測なし、数字根拠を必ず明示</a:t>
            </a:r>
          </a:p>
          <a:p>
            <a:pPr algn="l">
              <a:lnSpc>
                <a:spcPct val="140000"/>
              </a:lnSpc>
            </a:pPr>
            <a:r>
              <a:rPr sz="1000" b="0">
                <a:solidFill>
                  <a:srgbClr val="1A1A1A"/>
                </a:solidFill>
                <a:latin typeface="Menlo"/>
                <a:ea typeface="Menlo"/>
                <a:cs typeface="Menlo"/>
              </a:rPr>
              <a:t>・改善ポイントはネガティブにならないよう前向きに</a:t>
            </a:r>
          </a:p>
        </p:txBody>
      </p:sp>
      <p:sp>
        <p:nvSpPr>
          <p:cNvPr id="12" name="TextBox 11"/>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プロンプトテンプレ : Negative KW 提案</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Search Terms から無駄クエリを抽出</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P202 / 250</a:t>
            </a:r>
          </a:p>
        </p:txBody>
      </p:sp>
      <p:sp>
        <p:nvSpPr>
          <p:cNvPr id="8" name="Rounded Rectangle 7"/>
          <p:cNvSpPr/>
          <p:nvPr/>
        </p:nvSpPr>
        <p:spPr>
          <a:xfrm>
            <a:off x="548640" y="1371600"/>
            <a:ext cx="11109960" cy="4983480"/>
          </a:xfrm>
          <a:prstGeom prst="roundRect">
            <a:avLst>
              <a:gd name="adj" fmla="val 6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71600"/>
            <a:ext cx="137160" cy="498348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554480"/>
            <a:ext cx="1097280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 プロンプトテンプレ : Negative Keyword 提案</a:t>
            </a:r>
          </a:p>
        </p:txBody>
      </p:sp>
      <p:sp>
        <p:nvSpPr>
          <p:cNvPr id="11" name="TextBox 10"/>
          <p:cNvSpPr txBox="1"/>
          <p:nvPr/>
        </p:nvSpPr>
        <p:spPr>
          <a:xfrm>
            <a:off x="868680" y="1920240"/>
            <a:ext cx="10972800" cy="4434840"/>
          </a:xfrm>
          <a:prstGeom prst="rect">
            <a:avLst/>
          </a:prstGeom>
          <a:noFill/>
        </p:spPr>
        <p:txBody>
          <a:bodyPr wrap="square" anchor="t" lIns="0" rIns="0" tIns="0" bIns="0">
            <a:spAutoFit/>
          </a:bodyPr>
          <a:lstStyle/>
          <a:p>
            <a:pPr algn="l">
              <a:lnSpc>
                <a:spcPct val="140000"/>
              </a:lnSpc>
            </a:pPr>
            <a:r>
              <a:rPr sz="1000" b="0">
                <a:solidFill>
                  <a:srgbClr val="1A1A1A"/>
                </a:solidFill>
                <a:latin typeface="Menlo"/>
                <a:ea typeface="Menlo"/>
                <a:cs typeface="Menlo"/>
              </a:rPr>
              <a:t>あなたは広告運用のSEM専門家です。</a:t>
            </a:r>
          </a:p>
          <a:p>
            <a:pPr algn="l">
              <a:lnSpc>
                <a:spcPct val="140000"/>
              </a:lnSpc>
            </a:pPr>
            <a:r>
              <a:rPr sz="1000" b="0">
                <a:solidFill>
                  <a:srgbClr val="1A1A1A"/>
                </a:solidFill>
                <a:latin typeface="Menlo"/>
                <a:ea typeface="Menlo"/>
                <a:cs typeface="Menlo"/>
              </a:rPr>
              <a:t>以下の Search Terms Report を分析し、追加すべき Negative Keyword を提案してください。</a:t>
            </a:r>
          </a:p>
          <a:p>
            <a:pPr algn="l">
              <a:lnSpc>
                <a:spcPct val="140000"/>
              </a:lnSpc>
            </a:pPr>
            <a:r>
              <a:rPr sz="1000" b="0">
                <a:solidFill>
                  <a:srgbClr val="1A1A1A"/>
                </a:solidFill>
                <a:latin typeface="Menlo"/>
                <a:ea typeface="Menlo"/>
                <a:cs typeface="Menlo"/>
              </a:rPr>
              <a:t/>
            </a:r>
          </a:p>
          <a:p>
            <a:pPr algn="l">
              <a:lnSpc>
                <a:spcPct val="140000"/>
              </a:lnSpc>
            </a:pPr>
            <a:r>
              <a:rPr sz="1000" b="0">
                <a:solidFill>
                  <a:srgbClr val="1A1A1A"/>
                </a:solidFill>
                <a:latin typeface="Menlo"/>
                <a:ea typeface="Menlo"/>
                <a:cs typeface="Menlo"/>
              </a:rPr>
              <a:t>【商材】</a:t>
            </a:r>
          </a:p>
          <a:p>
            <a:pPr algn="l">
              <a:lnSpc>
                <a:spcPct val="140000"/>
              </a:lnSpc>
            </a:pPr>
            <a:r>
              <a:rPr sz="1000" b="0">
                <a:solidFill>
                  <a:srgbClr val="1A1A1A"/>
                </a:solidFill>
                <a:latin typeface="Menlo"/>
                <a:ea typeface="Menlo"/>
                <a:cs typeface="Menlo"/>
              </a:rPr>
              <a:t>・業種 : {業種}</a:t>
            </a:r>
          </a:p>
          <a:p>
            <a:pPr algn="l">
              <a:lnSpc>
                <a:spcPct val="140000"/>
              </a:lnSpc>
            </a:pPr>
            <a:r>
              <a:rPr sz="1000" b="0">
                <a:solidFill>
                  <a:srgbClr val="1A1A1A"/>
                </a:solidFill>
                <a:latin typeface="Menlo"/>
                <a:ea typeface="Menlo"/>
                <a:cs typeface="Menlo"/>
              </a:rPr>
              <a:t>・サービス : {サービス概要}</a:t>
            </a:r>
          </a:p>
          <a:p>
            <a:pPr algn="l">
              <a:lnSpc>
                <a:spcPct val="140000"/>
              </a:lnSpc>
            </a:pPr>
            <a:r>
              <a:rPr sz="1000" b="0">
                <a:solidFill>
                  <a:srgbClr val="1A1A1A"/>
                </a:solidFill>
                <a:latin typeface="Menlo"/>
                <a:ea typeface="Menlo"/>
                <a:cs typeface="Menlo"/>
              </a:rPr>
              <a:t>・ターゲット顧客 : {属性 / 状況}</a:t>
            </a:r>
          </a:p>
          <a:p>
            <a:pPr algn="l">
              <a:lnSpc>
                <a:spcPct val="140000"/>
              </a:lnSpc>
            </a:pPr>
            <a:r>
              <a:rPr sz="1000" b="0">
                <a:solidFill>
                  <a:srgbClr val="1A1A1A"/>
                </a:solidFill>
                <a:latin typeface="Menlo"/>
                <a:ea typeface="Menlo"/>
                <a:cs typeface="Menlo"/>
              </a:rPr>
              <a:t/>
            </a:r>
          </a:p>
          <a:p>
            <a:pPr algn="l">
              <a:lnSpc>
                <a:spcPct val="140000"/>
              </a:lnSpc>
            </a:pPr>
            <a:r>
              <a:rPr sz="1000" b="0">
                <a:solidFill>
                  <a:srgbClr val="1A1A1A"/>
                </a:solidFill>
                <a:latin typeface="Menlo"/>
                <a:ea typeface="Menlo"/>
                <a:cs typeface="Menlo"/>
              </a:rPr>
              <a:t>【Search Terms Report (CSV貼付)】</a:t>
            </a:r>
          </a:p>
          <a:p>
            <a:pPr algn="l">
              <a:lnSpc>
                <a:spcPct val="140000"/>
              </a:lnSpc>
            </a:pPr>
            <a:r>
              <a:rPr sz="1000" b="0">
                <a:solidFill>
                  <a:srgbClr val="1A1A1A"/>
                </a:solidFill>
                <a:latin typeface="Menlo"/>
                <a:ea typeface="Menlo"/>
                <a:cs typeface="Menlo"/>
              </a:rPr>
              <a:t>{search_term, impressions, clicks, conversions, cost}</a:t>
            </a:r>
          </a:p>
          <a:p>
            <a:pPr algn="l">
              <a:lnSpc>
                <a:spcPct val="140000"/>
              </a:lnSpc>
            </a:pPr>
            <a:r>
              <a:rPr sz="1000" b="0">
                <a:solidFill>
                  <a:srgbClr val="1A1A1A"/>
                </a:solidFill>
                <a:latin typeface="Menlo"/>
                <a:ea typeface="Menlo"/>
                <a:cs typeface="Menlo"/>
              </a:rPr>
              <a:t/>
            </a:r>
          </a:p>
          <a:p>
            <a:pPr algn="l">
              <a:lnSpc>
                <a:spcPct val="140000"/>
              </a:lnSpc>
            </a:pPr>
            <a:r>
              <a:rPr sz="1000" b="0">
                <a:solidFill>
                  <a:srgbClr val="1A1A1A"/>
                </a:solidFill>
                <a:latin typeface="Menlo"/>
                <a:ea typeface="Menlo"/>
                <a:cs typeface="Menlo"/>
              </a:rPr>
              <a:t>【判断基準】</a:t>
            </a:r>
          </a:p>
          <a:p>
            <a:pPr algn="l">
              <a:lnSpc>
                <a:spcPct val="140000"/>
              </a:lnSpc>
            </a:pPr>
            <a:r>
              <a:rPr sz="1000" b="0">
                <a:solidFill>
                  <a:srgbClr val="1A1A1A"/>
                </a:solidFill>
                <a:latin typeface="Menlo"/>
                <a:ea typeface="Menlo"/>
                <a:cs typeface="Menlo"/>
              </a:rPr>
              <a:t>・100クリック以上で CV=0 のクエリ</a:t>
            </a:r>
          </a:p>
          <a:p>
            <a:pPr algn="l">
              <a:lnSpc>
                <a:spcPct val="140000"/>
              </a:lnSpc>
            </a:pPr>
            <a:r>
              <a:rPr sz="1000" b="0">
                <a:solidFill>
                  <a:srgbClr val="1A1A1A"/>
                </a:solidFill>
                <a:latin typeface="Menlo"/>
                <a:ea typeface="Menlo"/>
                <a:cs typeface="Menlo"/>
              </a:rPr>
              <a:t>・明らかに意図と外れたクエリ (例: 競合名・無関係用語)</a:t>
            </a:r>
          </a:p>
          <a:p>
            <a:pPr algn="l">
              <a:lnSpc>
                <a:spcPct val="140000"/>
              </a:lnSpc>
            </a:pPr>
            <a:r>
              <a:rPr sz="1000" b="0">
                <a:solidFill>
                  <a:srgbClr val="1A1A1A"/>
                </a:solidFill>
                <a:latin typeface="Menlo"/>
                <a:ea typeface="Menlo"/>
                <a:cs typeface="Menlo"/>
              </a:rPr>
              <a:t>・予算消化の上位だが効率悪いクエリ</a:t>
            </a:r>
          </a:p>
          <a:p>
            <a:pPr algn="l">
              <a:lnSpc>
                <a:spcPct val="140000"/>
              </a:lnSpc>
            </a:pPr>
            <a:r>
              <a:rPr sz="1000" b="0">
                <a:solidFill>
                  <a:srgbClr val="1A1A1A"/>
                </a:solidFill>
                <a:latin typeface="Menlo"/>
                <a:ea typeface="Menlo"/>
                <a:cs typeface="Menlo"/>
              </a:rPr>
              <a:t/>
            </a:r>
          </a:p>
          <a:p>
            <a:pPr algn="l">
              <a:lnSpc>
                <a:spcPct val="140000"/>
              </a:lnSpc>
            </a:pPr>
            <a:r>
              <a:rPr sz="1000" b="0">
                <a:solidFill>
                  <a:srgbClr val="1A1A1A"/>
                </a:solidFill>
                <a:latin typeface="Menlo"/>
                <a:ea typeface="Menlo"/>
                <a:cs typeface="Menlo"/>
              </a:rPr>
              <a:t>【出力】</a:t>
            </a:r>
          </a:p>
          <a:p>
            <a:pPr algn="l">
              <a:lnSpc>
                <a:spcPct val="140000"/>
              </a:lnSpc>
            </a:pPr>
            <a:r>
              <a:rPr sz="1000" b="0">
                <a:solidFill>
                  <a:srgbClr val="1A1A1A"/>
                </a:solidFill>
                <a:latin typeface="Menlo"/>
                <a:ea typeface="Menlo"/>
                <a:cs typeface="Menlo"/>
              </a:rPr>
              <a:t>1. 即追加すべきNegative KW (リスト 10-30件)</a:t>
            </a:r>
          </a:p>
          <a:p>
            <a:pPr algn="l">
              <a:lnSpc>
                <a:spcPct val="140000"/>
              </a:lnSpc>
            </a:pPr>
            <a:r>
              <a:rPr sz="1000" b="0">
                <a:solidFill>
                  <a:srgbClr val="1A1A1A"/>
                </a:solidFill>
                <a:latin typeface="Menlo"/>
                <a:ea typeface="Menlo"/>
                <a:cs typeface="Menlo"/>
              </a:rPr>
              <a:t>2. 追加根拠 (各KWに1行 : なぜ無駄と判断したか)</a:t>
            </a:r>
          </a:p>
          <a:p>
            <a:pPr algn="l">
              <a:lnSpc>
                <a:spcPct val="140000"/>
              </a:lnSpc>
            </a:pPr>
            <a:r>
              <a:rPr sz="1000" b="0">
                <a:solidFill>
                  <a:srgbClr val="1A1A1A"/>
                </a:solidFill>
                <a:latin typeface="Menlo"/>
                <a:ea typeface="Menlo"/>
                <a:cs typeface="Menlo"/>
              </a:rPr>
              <a:t>3. 検証要 (微妙なクエリ、Phrase/Exact化検討等)</a:t>
            </a:r>
          </a:p>
        </p:txBody>
      </p:sp>
      <p:sp>
        <p:nvSpPr>
          <p:cNvPr id="12" name="TextBox 11"/>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AI 副業代行の1日ワークフロー</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朝〜夜の標準的な業務フロー</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P203 / 250</a:t>
            </a:r>
          </a:p>
        </p:txBody>
      </p:sp>
      <p:sp>
        <p:nvSpPr>
          <p:cNvPr id="8" name="Rounded Rectangle 7"/>
          <p:cNvSpPr/>
          <p:nvPr/>
        </p:nvSpPr>
        <p:spPr>
          <a:xfrm>
            <a:off x="548640" y="1417320"/>
            <a:ext cx="2697480" cy="14173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2697480" cy="36576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490472"/>
            <a:ext cx="2423160" cy="228600"/>
          </a:xfrm>
          <a:prstGeom prst="rect">
            <a:avLst/>
          </a:prstGeom>
          <a:noFill/>
        </p:spPr>
        <p:txBody>
          <a:bodyPr wrap="square" anchor="t" lIns="0" rIns="0" tIns="0" bIns="0">
            <a:spAutoFit/>
          </a:bodyPr>
          <a:lstStyle/>
          <a:p>
            <a:pPr algn="ctr">
              <a:lnSpc>
                <a:spcPct val="115000"/>
              </a:lnSpc>
            </a:pPr>
            <a:r>
              <a:rPr sz="1000" b="1">
                <a:solidFill>
                  <a:srgbClr val="E87722"/>
                </a:solidFill>
                <a:latin typeface="Helvetica Neue"/>
                <a:ea typeface="Helvetica Neue"/>
                <a:cs typeface="Helvetica Neue"/>
              </a:rPr>
              <a:t>朝 8:00</a:t>
            </a:r>
          </a:p>
        </p:txBody>
      </p:sp>
      <p:sp>
        <p:nvSpPr>
          <p:cNvPr id="11" name="TextBox 10"/>
          <p:cNvSpPr txBox="1"/>
          <p:nvPr/>
        </p:nvSpPr>
        <p:spPr>
          <a:xfrm>
            <a:off x="685800" y="1874520"/>
            <a:ext cx="2423160" cy="274320"/>
          </a:xfrm>
          <a:prstGeom prst="rect">
            <a:avLst/>
          </a:prstGeom>
          <a:noFill/>
        </p:spPr>
        <p:txBody>
          <a:bodyPr wrap="square" anchor="t" lIns="0" rIns="0" tIns="0" bIns="0">
            <a:spAutoFit/>
          </a:bodyPr>
          <a:lstStyle/>
          <a:p>
            <a:pPr algn="ctr">
              <a:lnSpc>
                <a:spcPct val="115000"/>
              </a:lnSpc>
            </a:pPr>
            <a:r>
              <a:rPr sz="1100" b="1">
                <a:solidFill>
                  <a:srgbClr val="0F2A4F"/>
                </a:solidFill>
                <a:latin typeface="Hiragino Sans"/>
                <a:ea typeface="Hiragino Sans"/>
                <a:cs typeface="Hiragino Sans"/>
              </a:rPr>
              <a:t>ダッシュボード確認</a:t>
            </a:r>
          </a:p>
        </p:txBody>
      </p:sp>
      <p:sp>
        <p:nvSpPr>
          <p:cNvPr id="12" name="TextBox 11"/>
          <p:cNvSpPr txBox="1"/>
          <p:nvPr/>
        </p:nvSpPr>
        <p:spPr>
          <a:xfrm>
            <a:off x="685800" y="2148840"/>
            <a:ext cx="2423160" cy="640080"/>
          </a:xfrm>
          <a:prstGeom prst="rect">
            <a:avLst/>
          </a:prstGeom>
          <a:noFill/>
        </p:spPr>
        <p:txBody>
          <a:bodyPr wrap="square" anchor="t" lIns="0" rIns="0" tIns="0" bIns="0">
            <a:spAutoFit/>
          </a:bodyPr>
          <a:lstStyle/>
          <a:p>
            <a:pPr algn="ctr">
              <a:lnSpc>
                <a:spcPct val="140000"/>
              </a:lnSpc>
            </a:pPr>
            <a:r>
              <a:rPr sz="900" b="0">
                <a:solidFill>
                  <a:srgbClr val="1A1A1A"/>
                </a:solidFill>
                <a:latin typeface="Hiragino Sans"/>
                <a:ea typeface="Hiragino Sans"/>
                <a:cs typeface="Hiragino Sans"/>
              </a:rPr>
              <a:t>GA4 / Looker Studio で</a:t>
            </a:r>
          </a:p>
          <a:p>
            <a:pPr algn="ctr">
              <a:lnSpc>
                <a:spcPct val="140000"/>
              </a:lnSpc>
            </a:pPr>
            <a:r>
              <a:rPr sz="900" b="0">
                <a:solidFill>
                  <a:srgbClr val="1A1A1A"/>
                </a:solidFill>
                <a:latin typeface="Hiragino Sans"/>
                <a:ea typeface="Hiragino Sans"/>
                <a:cs typeface="Hiragino Sans"/>
              </a:rPr>
              <a:t>AI Insights 異常検知</a:t>
            </a:r>
          </a:p>
          <a:p>
            <a:pPr algn="ctr">
              <a:lnSpc>
                <a:spcPct val="140000"/>
              </a:lnSpc>
            </a:pPr>
            <a:r>
              <a:rPr sz="900" b="0">
                <a:solidFill>
                  <a:srgbClr val="1A1A1A"/>
                </a:solidFill>
                <a:latin typeface="Hiragino Sans"/>
                <a:ea typeface="Hiragino Sans"/>
                <a:cs typeface="Hiragino Sans"/>
              </a:rPr>
              <a:t>+ 前日CV確認</a:t>
            </a:r>
          </a:p>
        </p:txBody>
      </p:sp>
      <p:sp>
        <p:nvSpPr>
          <p:cNvPr id="13" name="Rounded Rectangle 12"/>
          <p:cNvSpPr/>
          <p:nvPr/>
        </p:nvSpPr>
        <p:spPr>
          <a:xfrm>
            <a:off x="3337560" y="1417320"/>
            <a:ext cx="2697480" cy="14173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37560" y="1417320"/>
            <a:ext cx="2697480" cy="36576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74720" y="1490472"/>
            <a:ext cx="2423160" cy="228600"/>
          </a:xfrm>
          <a:prstGeom prst="rect">
            <a:avLst/>
          </a:prstGeom>
          <a:noFill/>
        </p:spPr>
        <p:txBody>
          <a:bodyPr wrap="square" anchor="t" lIns="0" rIns="0" tIns="0" bIns="0">
            <a:spAutoFit/>
          </a:bodyPr>
          <a:lstStyle/>
          <a:p>
            <a:pPr algn="ctr">
              <a:lnSpc>
                <a:spcPct val="115000"/>
              </a:lnSpc>
            </a:pPr>
            <a:r>
              <a:rPr sz="1000" b="1">
                <a:solidFill>
                  <a:srgbClr val="E87722"/>
                </a:solidFill>
                <a:latin typeface="Helvetica Neue"/>
                <a:ea typeface="Helvetica Neue"/>
                <a:cs typeface="Helvetica Neue"/>
              </a:rPr>
              <a:t>9:00</a:t>
            </a:r>
          </a:p>
        </p:txBody>
      </p:sp>
      <p:sp>
        <p:nvSpPr>
          <p:cNvPr id="16" name="TextBox 15"/>
          <p:cNvSpPr txBox="1"/>
          <p:nvPr/>
        </p:nvSpPr>
        <p:spPr>
          <a:xfrm>
            <a:off x="3474720" y="1874520"/>
            <a:ext cx="2423160" cy="274320"/>
          </a:xfrm>
          <a:prstGeom prst="rect">
            <a:avLst/>
          </a:prstGeom>
          <a:noFill/>
        </p:spPr>
        <p:txBody>
          <a:bodyPr wrap="square" anchor="t" lIns="0" rIns="0" tIns="0" bIns="0">
            <a:spAutoFit/>
          </a:bodyPr>
          <a:lstStyle/>
          <a:p>
            <a:pPr algn="ctr">
              <a:lnSpc>
                <a:spcPct val="115000"/>
              </a:lnSpc>
            </a:pPr>
            <a:r>
              <a:rPr sz="1100" b="1">
                <a:solidFill>
                  <a:srgbClr val="0F2A4F"/>
                </a:solidFill>
                <a:latin typeface="Hiragino Sans"/>
                <a:ea typeface="Hiragino Sans"/>
                <a:cs typeface="Hiragino Sans"/>
              </a:rPr>
              <a:t>Negative KW分析</a:t>
            </a:r>
          </a:p>
        </p:txBody>
      </p:sp>
      <p:sp>
        <p:nvSpPr>
          <p:cNvPr id="17" name="TextBox 16"/>
          <p:cNvSpPr txBox="1"/>
          <p:nvPr/>
        </p:nvSpPr>
        <p:spPr>
          <a:xfrm>
            <a:off x="3474720" y="2148840"/>
            <a:ext cx="2423160" cy="640080"/>
          </a:xfrm>
          <a:prstGeom prst="rect">
            <a:avLst/>
          </a:prstGeom>
          <a:noFill/>
        </p:spPr>
        <p:txBody>
          <a:bodyPr wrap="square" anchor="t" lIns="0" rIns="0" tIns="0" bIns="0">
            <a:spAutoFit/>
          </a:bodyPr>
          <a:lstStyle/>
          <a:p>
            <a:pPr algn="ctr">
              <a:lnSpc>
                <a:spcPct val="140000"/>
              </a:lnSpc>
            </a:pPr>
            <a:r>
              <a:rPr sz="900" b="0">
                <a:solidFill>
                  <a:srgbClr val="1A1A1A"/>
                </a:solidFill>
                <a:latin typeface="Hiragino Sans"/>
                <a:ea typeface="Hiragino Sans"/>
                <a:cs typeface="Hiragino Sans"/>
              </a:rPr>
              <a:t>Claude/ChatGPT で</a:t>
            </a:r>
          </a:p>
          <a:p>
            <a:pPr algn="ctr">
              <a:lnSpc>
                <a:spcPct val="140000"/>
              </a:lnSpc>
            </a:pPr>
            <a:r>
              <a:rPr sz="900" b="0">
                <a:solidFill>
                  <a:srgbClr val="1A1A1A"/>
                </a:solidFill>
                <a:latin typeface="Hiragino Sans"/>
                <a:ea typeface="Hiragino Sans"/>
                <a:cs typeface="Hiragino Sans"/>
              </a:rPr>
              <a:t>Search Terms 分析</a:t>
            </a:r>
          </a:p>
          <a:p>
            <a:pPr algn="ctr">
              <a:lnSpc>
                <a:spcPct val="140000"/>
              </a:lnSpc>
            </a:pPr>
            <a:r>
              <a:rPr sz="900" b="0">
                <a:solidFill>
                  <a:srgbClr val="1A1A1A"/>
                </a:solidFill>
                <a:latin typeface="Hiragino Sans"/>
                <a:ea typeface="Hiragino Sans"/>
                <a:cs typeface="Hiragino Sans"/>
              </a:rPr>
              <a:t>→ 即追加 (5-10件)</a:t>
            </a:r>
          </a:p>
        </p:txBody>
      </p:sp>
      <p:sp>
        <p:nvSpPr>
          <p:cNvPr id="18" name="Rounded Rectangle 17"/>
          <p:cNvSpPr/>
          <p:nvPr/>
        </p:nvSpPr>
        <p:spPr>
          <a:xfrm>
            <a:off x="6126480" y="1417320"/>
            <a:ext cx="2697480" cy="14173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0" y="1417320"/>
            <a:ext cx="2697480" cy="36576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3640" y="1490472"/>
            <a:ext cx="2423160" cy="228600"/>
          </a:xfrm>
          <a:prstGeom prst="rect">
            <a:avLst/>
          </a:prstGeom>
          <a:noFill/>
        </p:spPr>
        <p:txBody>
          <a:bodyPr wrap="square" anchor="t" lIns="0" rIns="0" tIns="0" bIns="0">
            <a:spAutoFit/>
          </a:bodyPr>
          <a:lstStyle/>
          <a:p>
            <a:pPr algn="ctr">
              <a:lnSpc>
                <a:spcPct val="115000"/>
              </a:lnSpc>
            </a:pPr>
            <a:r>
              <a:rPr sz="1000" b="1">
                <a:solidFill>
                  <a:srgbClr val="E87722"/>
                </a:solidFill>
                <a:latin typeface="Helvetica Neue"/>
                <a:ea typeface="Helvetica Neue"/>
                <a:cs typeface="Helvetica Neue"/>
              </a:rPr>
              <a:t>10-12:00</a:t>
            </a:r>
          </a:p>
        </p:txBody>
      </p:sp>
      <p:sp>
        <p:nvSpPr>
          <p:cNvPr id="21" name="TextBox 20"/>
          <p:cNvSpPr txBox="1"/>
          <p:nvPr/>
        </p:nvSpPr>
        <p:spPr>
          <a:xfrm>
            <a:off x="6263640" y="1874520"/>
            <a:ext cx="2423160" cy="274320"/>
          </a:xfrm>
          <a:prstGeom prst="rect">
            <a:avLst/>
          </a:prstGeom>
          <a:noFill/>
        </p:spPr>
        <p:txBody>
          <a:bodyPr wrap="square" anchor="t" lIns="0" rIns="0" tIns="0" bIns="0">
            <a:spAutoFit/>
          </a:bodyPr>
          <a:lstStyle/>
          <a:p>
            <a:pPr algn="ctr">
              <a:lnSpc>
                <a:spcPct val="115000"/>
              </a:lnSpc>
            </a:pPr>
            <a:r>
              <a:rPr sz="1100" b="1">
                <a:solidFill>
                  <a:srgbClr val="0F2A4F"/>
                </a:solidFill>
                <a:latin typeface="Hiragino Sans"/>
                <a:ea typeface="Hiragino Sans"/>
                <a:cs typeface="Hiragino Sans"/>
              </a:rPr>
              <a:t>クリエイティブ量産</a:t>
            </a:r>
          </a:p>
        </p:txBody>
      </p:sp>
      <p:sp>
        <p:nvSpPr>
          <p:cNvPr id="22" name="TextBox 21"/>
          <p:cNvSpPr txBox="1"/>
          <p:nvPr/>
        </p:nvSpPr>
        <p:spPr>
          <a:xfrm>
            <a:off x="6263640" y="2148840"/>
            <a:ext cx="2423160" cy="640080"/>
          </a:xfrm>
          <a:prstGeom prst="rect">
            <a:avLst/>
          </a:prstGeom>
          <a:noFill/>
        </p:spPr>
        <p:txBody>
          <a:bodyPr wrap="square" anchor="t" lIns="0" rIns="0" tIns="0" bIns="0">
            <a:spAutoFit/>
          </a:bodyPr>
          <a:lstStyle/>
          <a:p>
            <a:pPr algn="ctr">
              <a:lnSpc>
                <a:spcPct val="140000"/>
              </a:lnSpc>
            </a:pPr>
            <a:r>
              <a:rPr sz="900" b="0">
                <a:solidFill>
                  <a:srgbClr val="1A1A1A"/>
                </a:solidFill>
                <a:latin typeface="Hiragino Sans"/>
                <a:ea typeface="Hiragino Sans"/>
                <a:cs typeface="Hiragino Sans"/>
              </a:rPr>
              <a:t>Midjourney / Sora で</a:t>
            </a:r>
          </a:p>
          <a:p>
            <a:pPr algn="ctr">
              <a:lnSpc>
                <a:spcPct val="140000"/>
              </a:lnSpc>
            </a:pPr>
            <a:r>
              <a:rPr sz="900" b="0">
                <a:solidFill>
                  <a:srgbClr val="1A1A1A"/>
                </a:solidFill>
                <a:latin typeface="Hiragino Sans"/>
                <a:ea typeface="Hiragino Sans"/>
                <a:cs typeface="Hiragino Sans"/>
              </a:rPr>
              <a:t>2-3 案件分の素材生成</a:t>
            </a:r>
          </a:p>
          <a:p>
            <a:pPr algn="ctr">
              <a:lnSpc>
                <a:spcPct val="140000"/>
              </a:lnSpc>
            </a:pPr>
            <a:r>
              <a:rPr sz="900" b="0">
                <a:solidFill>
                  <a:srgbClr val="1A1A1A"/>
                </a:solidFill>
                <a:latin typeface="Hiragino Sans"/>
                <a:ea typeface="Hiragino Sans"/>
                <a:cs typeface="Hiragino Sans"/>
              </a:rPr>
              <a:t>+ Symphony 連携</a:t>
            </a:r>
          </a:p>
        </p:txBody>
      </p:sp>
      <p:sp>
        <p:nvSpPr>
          <p:cNvPr id="23" name="Rounded Rectangle 22"/>
          <p:cNvSpPr/>
          <p:nvPr/>
        </p:nvSpPr>
        <p:spPr>
          <a:xfrm>
            <a:off x="8915400" y="1417320"/>
            <a:ext cx="2697480" cy="14173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15400" y="1417320"/>
            <a:ext cx="2697480" cy="36576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52560" y="1490472"/>
            <a:ext cx="2423160" cy="228600"/>
          </a:xfrm>
          <a:prstGeom prst="rect">
            <a:avLst/>
          </a:prstGeom>
          <a:noFill/>
        </p:spPr>
        <p:txBody>
          <a:bodyPr wrap="square" anchor="t" lIns="0" rIns="0" tIns="0" bIns="0">
            <a:spAutoFit/>
          </a:bodyPr>
          <a:lstStyle/>
          <a:p>
            <a:pPr algn="ctr">
              <a:lnSpc>
                <a:spcPct val="115000"/>
              </a:lnSpc>
            </a:pPr>
            <a:r>
              <a:rPr sz="1000" b="1">
                <a:solidFill>
                  <a:srgbClr val="E87722"/>
                </a:solidFill>
                <a:latin typeface="Helvetica Neue"/>
                <a:ea typeface="Helvetica Neue"/>
                <a:cs typeface="Helvetica Neue"/>
              </a:rPr>
              <a:t>13:00</a:t>
            </a:r>
          </a:p>
        </p:txBody>
      </p:sp>
      <p:sp>
        <p:nvSpPr>
          <p:cNvPr id="26" name="TextBox 25"/>
          <p:cNvSpPr txBox="1"/>
          <p:nvPr/>
        </p:nvSpPr>
        <p:spPr>
          <a:xfrm>
            <a:off x="9052560" y="1874520"/>
            <a:ext cx="2423160" cy="274320"/>
          </a:xfrm>
          <a:prstGeom prst="rect">
            <a:avLst/>
          </a:prstGeom>
          <a:noFill/>
        </p:spPr>
        <p:txBody>
          <a:bodyPr wrap="square" anchor="t" lIns="0" rIns="0" tIns="0" bIns="0">
            <a:spAutoFit/>
          </a:bodyPr>
          <a:lstStyle/>
          <a:p>
            <a:pPr algn="ctr">
              <a:lnSpc>
                <a:spcPct val="115000"/>
              </a:lnSpc>
            </a:pPr>
            <a:r>
              <a:rPr sz="1100" b="1">
                <a:solidFill>
                  <a:srgbClr val="0F2A4F"/>
                </a:solidFill>
                <a:latin typeface="Hiragino Sans"/>
                <a:ea typeface="Hiragino Sans"/>
                <a:cs typeface="Hiragino Sans"/>
              </a:rPr>
              <a:t>媒体管理画面</a:t>
            </a:r>
          </a:p>
        </p:txBody>
      </p:sp>
      <p:sp>
        <p:nvSpPr>
          <p:cNvPr id="27" name="TextBox 26"/>
          <p:cNvSpPr txBox="1"/>
          <p:nvPr/>
        </p:nvSpPr>
        <p:spPr>
          <a:xfrm>
            <a:off x="9052560" y="2148840"/>
            <a:ext cx="2423160" cy="640080"/>
          </a:xfrm>
          <a:prstGeom prst="rect">
            <a:avLst/>
          </a:prstGeom>
          <a:noFill/>
        </p:spPr>
        <p:txBody>
          <a:bodyPr wrap="square" anchor="t" lIns="0" rIns="0" tIns="0" bIns="0">
            <a:spAutoFit/>
          </a:bodyPr>
          <a:lstStyle/>
          <a:p>
            <a:pPr algn="ctr">
              <a:lnSpc>
                <a:spcPct val="140000"/>
              </a:lnSpc>
            </a:pPr>
            <a:r>
              <a:rPr sz="900" b="0">
                <a:solidFill>
                  <a:srgbClr val="1A1A1A"/>
                </a:solidFill>
                <a:latin typeface="Hiragino Sans"/>
                <a:ea typeface="Hiragino Sans"/>
                <a:cs typeface="Hiragino Sans"/>
              </a:rPr>
              <a:t>Optiscore提案レビュー</a:t>
            </a:r>
          </a:p>
          <a:p>
            <a:pPr algn="ctr">
              <a:lnSpc>
                <a:spcPct val="140000"/>
              </a:lnSpc>
            </a:pPr>
            <a:r>
              <a:rPr sz="900" b="0">
                <a:solidFill>
                  <a:srgbClr val="1A1A1A"/>
                </a:solidFill>
                <a:latin typeface="Hiragino Sans"/>
                <a:ea typeface="Hiragino Sans"/>
                <a:cs typeface="Hiragino Sans"/>
              </a:rPr>
              <a:t>+ クリエイティブ追加</a:t>
            </a:r>
          </a:p>
          <a:p>
            <a:pPr algn="ctr">
              <a:lnSpc>
                <a:spcPct val="140000"/>
              </a:lnSpc>
            </a:pPr>
            <a:r>
              <a:rPr sz="900" b="0">
                <a:solidFill>
                  <a:srgbClr val="1A1A1A"/>
                </a:solidFill>
                <a:latin typeface="Hiragino Sans"/>
                <a:ea typeface="Hiragino Sans"/>
                <a:cs typeface="Hiragino Sans"/>
              </a:rPr>
              <a:t>+ 入札微調整</a:t>
            </a:r>
          </a:p>
        </p:txBody>
      </p:sp>
      <p:sp>
        <p:nvSpPr>
          <p:cNvPr id="28" name="Rounded Rectangle 27"/>
          <p:cNvSpPr/>
          <p:nvPr/>
        </p:nvSpPr>
        <p:spPr>
          <a:xfrm>
            <a:off x="548640" y="2971800"/>
            <a:ext cx="2697480" cy="14173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2971800"/>
            <a:ext cx="2697480" cy="36576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3044952"/>
            <a:ext cx="2423160" cy="228600"/>
          </a:xfrm>
          <a:prstGeom prst="rect">
            <a:avLst/>
          </a:prstGeom>
          <a:noFill/>
        </p:spPr>
        <p:txBody>
          <a:bodyPr wrap="square" anchor="t" lIns="0" rIns="0" tIns="0" bIns="0">
            <a:spAutoFit/>
          </a:bodyPr>
          <a:lstStyle/>
          <a:p>
            <a:pPr algn="ctr">
              <a:lnSpc>
                <a:spcPct val="115000"/>
              </a:lnSpc>
            </a:pPr>
            <a:r>
              <a:rPr sz="1000" b="1">
                <a:solidFill>
                  <a:srgbClr val="E87722"/>
                </a:solidFill>
                <a:latin typeface="Helvetica Neue"/>
                <a:ea typeface="Helvetica Neue"/>
                <a:cs typeface="Helvetica Neue"/>
              </a:rPr>
              <a:t>14-15:00</a:t>
            </a:r>
          </a:p>
        </p:txBody>
      </p:sp>
      <p:sp>
        <p:nvSpPr>
          <p:cNvPr id="31" name="TextBox 30"/>
          <p:cNvSpPr txBox="1"/>
          <p:nvPr/>
        </p:nvSpPr>
        <p:spPr>
          <a:xfrm>
            <a:off x="685800" y="3429000"/>
            <a:ext cx="2423160" cy="274320"/>
          </a:xfrm>
          <a:prstGeom prst="rect">
            <a:avLst/>
          </a:prstGeom>
          <a:noFill/>
        </p:spPr>
        <p:txBody>
          <a:bodyPr wrap="square" anchor="t" lIns="0" rIns="0" tIns="0" bIns="0">
            <a:spAutoFit/>
          </a:bodyPr>
          <a:lstStyle/>
          <a:p>
            <a:pPr algn="ctr">
              <a:lnSpc>
                <a:spcPct val="115000"/>
              </a:lnSpc>
            </a:pPr>
            <a:r>
              <a:rPr sz="1100" b="1">
                <a:solidFill>
                  <a:srgbClr val="0F2A4F"/>
                </a:solidFill>
                <a:latin typeface="Hiragino Sans"/>
                <a:ea typeface="Hiragino Sans"/>
                <a:cs typeface="Hiragino Sans"/>
              </a:rPr>
              <a:t>クライアント対応</a:t>
            </a:r>
          </a:p>
        </p:txBody>
      </p:sp>
      <p:sp>
        <p:nvSpPr>
          <p:cNvPr id="32" name="TextBox 31"/>
          <p:cNvSpPr txBox="1"/>
          <p:nvPr/>
        </p:nvSpPr>
        <p:spPr>
          <a:xfrm>
            <a:off x="685800" y="3703320"/>
            <a:ext cx="2423160" cy="640080"/>
          </a:xfrm>
          <a:prstGeom prst="rect">
            <a:avLst/>
          </a:prstGeom>
          <a:noFill/>
        </p:spPr>
        <p:txBody>
          <a:bodyPr wrap="square" anchor="t" lIns="0" rIns="0" tIns="0" bIns="0">
            <a:spAutoFit/>
          </a:bodyPr>
          <a:lstStyle/>
          <a:p>
            <a:pPr algn="ctr">
              <a:lnSpc>
                <a:spcPct val="140000"/>
              </a:lnSpc>
            </a:pPr>
            <a:r>
              <a:rPr sz="900" b="0">
                <a:solidFill>
                  <a:srgbClr val="1A1A1A"/>
                </a:solidFill>
                <a:latin typeface="Hiragino Sans"/>
                <a:ea typeface="Hiragino Sans"/>
                <a:cs typeface="Hiragino Sans"/>
              </a:rPr>
              <a:t>Conversational Analytics</a:t>
            </a:r>
          </a:p>
          <a:p>
            <a:pPr algn="ctr">
              <a:lnSpc>
                <a:spcPct val="140000"/>
              </a:lnSpc>
            </a:pPr>
            <a:r>
              <a:rPr sz="900" b="0">
                <a:solidFill>
                  <a:srgbClr val="1A1A1A"/>
                </a:solidFill>
                <a:latin typeface="Hiragino Sans"/>
                <a:ea typeface="Hiragino Sans"/>
                <a:cs typeface="Hiragino Sans"/>
              </a:rPr>
              <a:t>質問回答 / 報告</a:t>
            </a:r>
          </a:p>
          <a:p>
            <a:pPr algn="ctr">
              <a:lnSpc>
                <a:spcPct val="140000"/>
              </a:lnSpc>
            </a:pPr>
            <a:r>
              <a:rPr sz="900" b="0">
                <a:solidFill>
                  <a:srgbClr val="1A1A1A"/>
                </a:solidFill>
                <a:latin typeface="Hiragino Sans"/>
                <a:ea typeface="Hiragino Sans"/>
                <a:cs typeface="Hiragino Sans"/>
              </a:rPr>
              <a:t>+ 提案準備</a:t>
            </a:r>
          </a:p>
        </p:txBody>
      </p:sp>
      <p:sp>
        <p:nvSpPr>
          <p:cNvPr id="33" name="Rounded Rectangle 32"/>
          <p:cNvSpPr/>
          <p:nvPr/>
        </p:nvSpPr>
        <p:spPr>
          <a:xfrm>
            <a:off x="3337560" y="2971800"/>
            <a:ext cx="2697480" cy="14173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337560" y="2971800"/>
            <a:ext cx="2697480" cy="36576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474720" y="3044952"/>
            <a:ext cx="2423160" cy="228600"/>
          </a:xfrm>
          <a:prstGeom prst="rect">
            <a:avLst/>
          </a:prstGeom>
          <a:noFill/>
        </p:spPr>
        <p:txBody>
          <a:bodyPr wrap="square" anchor="t" lIns="0" rIns="0" tIns="0" bIns="0">
            <a:spAutoFit/>
          </a:bodyPr>
          <a:lstStyle/>
          <a:p>
            <a:pPr algn="ctr">
              <a:lnSpc>
                <a:spcPct val="115000"/>
              </a:lnSpc>
            </a:pPr>
            <a:r>
              <a:rPr sz="1000" b="1">
                <a:solidFill>
                  <a:srgbClr val="E87722"/>
                </a:solidFill>
                <a:latin typeface="Helvetica Neue"/>
                <a:ea typeface="Helvetica Neue"/>
                <a:cs typeface="Helvetica Neue"/>
              </a:rPr>
              <a:t>16:00</a:t>
            </a:r>
          </a:p>
        </p:txBody>
      </p:sp>
      <p:sp>
        <p:nvSpPr>
          <p:cNvPr id="36" name="TextBox 35"/>
          <p:cNvSpPr txBox="1"/>
          <p:nvPr/>
        </p:nvSpPr>
        <p:spPr>
          <a:xfrm>
            <a:off x="3474720" y="3429000"/>
            <a:ext cx="2423160" cy="274320"/>
          </a:xfrm>
          <a:prstGeom prst="rect">
            <a:avLst/>
          </a:prstGeom>
          <a:noFill/>
        </p:spPr>
        <p:txBody>
          <a:bodyPr wrap="square" anchor="t" lIns="0" rIns="0" tIns="0" bIns="0">
            <a:spAutoFit/>
          </a:bodyPr>
          <a:lstStyle/>
          <a:p>
            <a:pPr algn="ctr">
              <a:lnSpc>
                <a:spcPct val="115000"/>
              </a:lnSpc>
            </a:pPr>
            <a:r>
              <a:rPr sz="1100" b="1">
                <a:solidFill>
                  <a:srgbClr val="0F2A4F"/>
                </a:solidFill>
                <a:latin typeface="Hiragino Sans"/>
                <a:ea typeface="Hiragino Sans"/>
                <a:cs typeface="Hiragino Sans"/>
              </a:rPr>
              <a:t>新規案件 戦略立案</a:t>
            </a:r>
          </a:p>
        </p:txBody>
      </p:sp>
      <p:sp>
        <p:nvSpPr>
          <p:cNvPr id="37" name="TextBox 36"/>
          <p:cNvSpPr txBox="1"/>
          <p:nvPr/>
        </p:nvSpPr>
        <p:spPr>
          <a:xfrm>
            <a:off x="3474720" y="3703320"/>
            <a:ext cx="2423160" cy="640080"/>
          </a:xfrm>
          <a:prstGeom prst="rect">
            <a:avLst/>
          </a:prstGeom>
          <a:noFill/>
        </p:spPr>
        <p:txBody>
          <a:bodyPr wrap="square" anchor="t" lIns="0" rIns="0" tIns="0" bIns="0">
            <a:spAutoFit/>
          </a:bodyPr>
          <a:lstStyle/>
          <a:p>
            <a:pPr algn="ctr">
              <a:lnSpc>
                <a:spcPct val="140000"/>
              </a:lnSpc>
            </a:pPr>
            <a:r>
              <a:rPr sz="900" b="0">
                <a:solidFill>
                  <a:srgbClr val="1A1A1A"/>
                </a:solidFill>
                <a:latin typeface="Hiragino Sans"/>
                <a:ea typeface="Hiragino Sans"/>
                <a:cs typeface="Hiragino Sans"/>
              </a:rPr>
              <a:t>Claude で戦略テンプレ</a:t>
            </a:r>
          </a:p>
          <a:p>
            <a:pPr algn="ctr">
              <a:lnSpc>
                <a:spcPct val="140000"/>
              </a:lnSpc>
            </a:pPr>
            <a:r>
              <a:rPr sz="900" b="0">
                <a:solidFill>
                  <a:srgbClr val="1A1A1A"/>
                </a:solidFill>
                <a:latin typeface="Hiragino Sans"/>
                <a:ea typeface="Hiragino Sans"/>
                <a:cs typeface="Hiragino Sans"/>
              </a:rPr>
              <a:t>→ クライアント承認待ち</a:t>
            </a:r>
          </a:p>
        </p:txBody>
      </p:sp>
      <p:sp>
        <p:nvSpPr>
          <p:cNvPr id="38" name="Rounded Rectangle 37"/>
          <p:cNvSpPr/>
          <p:nvPr/>
        </p:nvSpPr>
        <p:spPr>
          <a:xfrm>
            <a:off x="6126480" y="2971800"/>
            <a:ext cx="2697480" cy="14173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126480" y="2971800"/>
            <a:ext cx="2697480" cy="36576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263640" y="3044952"/>
            <a:ext cx="2423160" cy="228600"/>
          </a:xfrm>
          <a:prstGeom prst="rect">
            <a:avLst/>
          </a:prstGeom>
          <a:noFill/>
        </p:spPr>
        <p:txBody>
          <a:bodyPr wrap="square" anchor="t" lIns="0" rIns="0" tIns="0" bIns="0">
            <a:spAutoFit/>
          </a:bodyPr>
          <a:lstStyle/>
          <a:p>
            <a:pPr algn="ctr">
              <a:lnSpc>
                <a:spcPct val="115000"/>
              </a:lnSpc>
            </a:pPr>
            <a:r>
              <a:rPr sz="1000" b="1">
                <a:solidFill>
                  <a:srgbClr val="E87722"/>
                </a:solidFill>
                <a:latin typeface="Helvetica Neue"/>
                <a:ea typeface="Helvetica Neue"/>
                <a:cs typeface="Helvetica Neue"/>
              </a:rPr>
              <a:t>17-18:00</a:t>
            </a:r>
          </a:p>
        </p:txBody>
      </p:sp>
      <p:sp>
        <p:nvSpPr>
          <p:cNvPr id="41" name="TextBox 40"/>
          <p:cNvSpPr txBox="1"/>
          <p:nvPr/>
        </p:nvSpPr>
        <p:spPr>
          <a:xfrm>
            <a:off x="6263640" y="3429000"/>
            <a:ext cx="2423160" cy="274320"/>
          </a:xfrm>
          <a:prstGeom prst="rect">
            <a:avLst/>
          </a:prstGeom>
          <a:noFill/>
        </p:spPr>
        <p:txBody>
          <a:bodyPr wrap="square" anchor="t" lIns="0" rIns="0" tIns="0" bIns="0">
            <a:spAutoFit/>
          </a:bodyPr>
          <a:lstStyle/>
          <a:p>
            <a:pPr algn="ctr">
              <a:lnSpc>
                <a:spcPct val="115000"/>
              </a:lnSpc>
            </a:pPr>
            <a:r>
              <a:rPr sz="1100" b="1">
                <a:solidFill>
                  <a:srgbClr val="0F2A4F"/>
                </a:solidFill>
                <a:latin typeface="Hiragino Sans"/>
                <a:ea typeface="Hiragino Sans"/>
                <a:cs typeface="Hiragino Sans"/>
              </a:rPr>
              <a:t>月次レポート</a:t>
            </a:r>
          </a:p>
        </p:txBody>
      </p:sp>
      <p:sp>
        <p:nvSpPr>
          <p:cNvPr id="42" name="TextBox 41"/>
          <p:cNvSpPr txBox="1"/>
          <p:nvPr/>
        </p:nvSpPr>
        <p:spPr>
          <a:xfrm>
            <a:off x="6263640" y="3703320"/>
            <a:ext cx="2423160" cy="640080"/>
          </a:xfrm>
          <a:prstGeom prst="rect">
            <a:avLst/>
          </a:prstGeom>
          <a:noFill/>
        </p:spPr>
        <p:txBody>
          <a:bodyPr wrap="square" anchor="t" lIns="0" rIns="0" tIns="0" bIns="0">
            <a:spAutoFit/>
          </a:bodyPr>
          <a:lstStyle/>
          <a:p>
            <a:pPr algn="ctr">
              <a:lnSpc>
                <a:spcPct val="140000"/>
              </a:lnSpc>
            </a:pPr>
            <a:r>
              <a:rPr sz="900" b="0">
                <a:solidFill>
                  <a:srgbClr val="1A1A1A"/>
                </a:solidFill>
                <a:latin typeface="Hiragino Sans"/>
                <a:ea typeface="Hiragino Sans"/>
                <a:cs typeface="Hiragino Sans"/>
              </a:rPr>
              <a:t>AI Insights 要約 +</a:t>
            </a:r>
          </a:p>
          <a:p>
            <a:pPr algn="ctr">
              <a:lnSpc>
                <a:spcPct val="140000"/>
              </a:lnSpc>
            </a:pPr>
            <a:r>
              <a:rPr sz="900" b="0">
                <a:solidFill>
                  <a:srgbClr val="1A1A1A"/>
                </a:solidFill>
                <a:latin typeface="Hiragino Sans"/>
                <a:ea typeface="Hiragino Sans"/>
                <a:cs typeface="Hiragino Sans"/>
              </a:rPr>
              <a:t>Looker Studio 自動更新</a:t>
            </a:r>
          </a:p>
          <a:p>
            <a:pPr algn="ctr">
              <a:lnSpc>
                <a:spcPct val="140000"/>
              </a:lnSpc>
            </a:pPr>
            <a:r>
              <a:rPr sz="900" b="0">
                <a:solidFill>
                  <a:srgbClr val="1A1A1A"/>
                </a:solidFill>
                <a:latin typeface="Hiragino Sans"/>
                <a:ea typeface="Hiragino Sans"/>
                <a:cs typeface="Hiragino Sans"/>
              </a:rPr>
              <a:t>→ メール送付</a:t>
            </a:r>
          </a:p>
        </p:txBody>
      </p:sp>
      <p:sp>
        <p:nvSpPr>
          <p:cNvPr id="43" name="Rounded Rectangle 42"/>
          <p:cNvSpPr/>
          <p:nvPr/>
        </p:nvSpPr>
        <p:spPr>
          <a:xfrm>
            <a:off x="8915400" y="2971800"/>
            <a:ext cx="2697480" cy="14173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915400" y="2971800"/>
            <a:ext cx="2697480" cy="36576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052560" y="3044952"/>
            <a:ext cx="2423160" cy="228600"/>
          </a:xfrm>
          <a:prstGeom prst="rect">
            <a:avLst/>
          </a:prstGeom>
          <a:noFill/>
        </p:spPr>
        <p:txBody>
          <a:bodyPr wrap="square" anchor="t" lIns="0" rIns="0" tIns="0" bIns="0">
            <a:spAutoFit/>
          </a:bodyPr>
          <a:lstStyle/>
          <a:p>
            <a:pPr algn="ctr">
              <a:lnSpc>
                <a:spcPct val="115000"/>
              </a:lnSpc>
            </a:pPr>
            <a:r>
              <a:rPr sz="1000" b="1">
                <a:solidFill>
                  <a:srgbClr val="E87722"/>
                </a:solidFill>
                <a:latin typeface="Helvetica Neue"/>
                <a:ea typeface="Helvetica Neue"/>
                <a:cs typeface="Helvetica Neue"/>
              </a:rPr>
              <a:t>19:00</a:t>
            </a:r>
          </a:p>
        </p:txBody>
      </p:sp>
      <p:sp>
        <p:nvSpPr>
          <p:cNvPr id="46" name="TextBox 45"/>
          <p:cNvSpPr txBox="1"/>
          <p:nvPr/>
        </p:nvSpPr>
        <p:spPr>
          <a:xfrm>
            <a:off x="9052560" y="3429000"/>
            <a:ext cx="2423160" cy="274320"/>
          </a:xfrm>
          <a:prstGeom prst="rect">
            <a:avLst/>
          </a:prstGeom>
          <a:noFill/>
        </p:spPr>
        <p:txBody>
          <a:bodyPr wrap="square" anchor="t" lIns="0" rIns="0" tIns="0" bIns="0">
            <a:spAutoFit/>
          </a:bodyPr>
          <a:lstStyle/>
          <a:p>
            <a:pPr algn="ctr">
              <a:lnSpc>
                <a:spcPct val="115000"/>
              </a:lnSpc>
            </a:pPr>
            <a:r>
              <a:rPr sz="1100" b="1">
                <a:solidFill>
                  <a:srgbClr val="0F2A4F"/>
                </a:solidFill>
                <a:latin typeface="Hiragino Sans"/>
                <a:ea typeface="Hiragino Sans"/>
                <a:cs typeface="Hiragino Sans"/>
              </a:rPr>
              <a:t>翌日準備</a:t>
            </a:r>
          </a:p>
        </p:txBody>
      </p:sp>
      <p:sp>
        <p:nvSpPr>
          <p:cNvPr id="47" name="TextBox 46"/>
          <p:cNvSpPr txBox="1"/>
          <p:nvPr/>
        </p:nvSpPr>
        <p:spPr>
          <a:xfrm>
            <a:off x="9052560" y="3703320"/>
            <a:ext cx="2423160" cy="640080"/>
          </a:xfrm>
          <a:prstGeom prst="rect">
            <a:avLst/>
          </a:prstGeom>
          <a:noFill/>
        </p:spPr>
        <p:txBody>
          <a:bodyPr wrap="square" anchor="t" lIns="0" rIns="0" tIns="0" bIns="0">
            <a:spAutoFit/>
          </a:bodyPr>
          <a:lstStyle/>
          <a:p>
            <a:pPr algn="ctr">
              <a:lnSpc>
                <a:spcPct val="140000"/>
              </a:lnSpc>
            </a:pPr>
            <a:r>
              <a:rPr sz="900" b="0">
                <a:solidFill>
                  <a:srgbClr val="1A1A1A"/>
                </a:solidFill>
                <a:latin typeface="Hiragino Sans"/>
                <a:ea typeface="Hiragino Sans"/>
                <a:cs typeface="Hiragino Sans"/>
              </a:rPr>
              <a:t>Asana タスク確認</a:t>
            </a:r>
          </a:p>
          <a:p>
            <a:pPr algn="ctr">
              <a:lnSpc>
                <a:spcPct val="140000"/>
              </a:lnSpc>
            </a:pPr>
            <a:r>
              <a:rPr sz="900" b="0">
                <a:solidFill>
                  <a:srgbClr val="1A1A1A"/>
                </a:solidFill>
                <a:latin typeface="Hiragino Sans"/>
                <a:ea typeface="Hiragino Sans"/>
                <a:cs typeface="Hiragino Sans"/>
              </a:rPr>
              <a:t>月次目標進捗確認</a:t>
            </a:r>
          </a:p>
        </p:txBody>
      </p:sp>
      <p:sp>
        <p:nvSpPr>
          <p:cNvPr id="48" name="Rounded Rectangle 47"/>
          <p:cNvSpPr/>
          <p:nvPr/>
        </p:nvSpPr>
        <p:spPr>
          <a:xfrm>
            <a:off x="548640" y="4526280"/>
            <a:ext cx="11109960" cy="182880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77240" y="4663440"/>
            <a:ext cx="100584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 1日で何案件対応できるか</a:t>
            </a:r>
          </a:p>
        </p:txBody>
      </p:sp>
      <p:sp>
        <p:nvSpPr>
          <p:cNvPr id="50" name="TextBox 49"/>
          <p:cNvSpPr txBox="1"/>
          <p:nvPr/>
        </p:nvSpPr>
        <p:spPr>
          <a:xfrm>
            <a:off x="777240" y="4983480"/>
            <a:ext cx="10972800" cy="132588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 AI 駆使前 = 1人で 月3-5クライアント (フル業務)</a:t>
            </a:r>
          </a:p>
          <a:p>
            <a:pPr algn="l">
              <a:lnSpc>
                <a:spcPct val="160000"/>
              </a:lnSpc>
            </a:pPr>
            <a:r>
              <a:rPr sz="1100" b="0">
                <a:solidFill>
                  <a:srgbClr val="1A1A1A"/>
                </a:solidFill>
                <a:latin typeface="Hiragino Sans"/>
                <a:ea typeface="Hiragino Sans"/>
                <a:cs typeface="Hiragino Sans"/>
              </a:rPr>
              <a:t>• AI 駆使後 = 1人で 月10-20クライアント (戦略 + 判断 + クライアント窓口に集中)</a:t>
            </a:r>
          </a:p>
          <a:p>
            <a:pPr algn="l">
              <a:lnSpc>
                <a:spcPct val="160000"/>
              </a:lnSpc>
            </a:pPr>
            <a:r>
              <a:rPr sz="1100" b="0">
                <a:solidFill>
                  <a:srgbClr val="1A1A1A"/>
                </a:solidFill>
                <a:latin typeface="Hiragino Sans"/>
                <a:ea typeface="Hiragino Sans"/>
                <a:cs typeface="Hiragino Sans"/>
              </a:rPr>
              <a:t>• 月次レポート工数 = 5時間/案件 → 1時間/案件 (8割削減)</a:t>
            </a:r>
          </a:p>
          <a:p>
            <a:pPr algn="l">
              <a:lnSpc>
                <a:spcPct val="160000"/>
              </a:lnSpc>
            </a:pPr>
            <a:r>
              <a:rPr sz="1100" b="0">
                <a:solidFill>
                  <a:srgbClr val="1A1A1A"/>
                </a:solidFill>
                <a:latin typeface="Hiragino Sans"/>
                <a:ea typeface="Hiragino Sans"/>
                <a:cs typeface="Hiragino Sans"/>
              </a:rPr>
              <a:t>• クリエイティブ制作工数 = デザイナー外注週次 → AI 即時生成 (日次量産)</a:t>
            </a:r>
          </a:p>
          <a:p>
            <a:pPr algn="l">
              <a:lnSpc>
                <a:spcPct val="160000"/>
              </a:lnSpc>
            </a:pPr>
            <a:r>
              <a:rPr sz="1100" b="0">
                <a:solidFill>
                  <a:srgbClr val="1A1A1A"/>
                </a:solidFill>
                <a:latin typeface="Hiragino Sans"/>
                <a:ea typeface="Hiragino Sans"/>
                <a:cs typeface="Hiragino Sans"/>
              </a:rPr>
              <a:t>• ボトルネック = AIで完遂できない『戦略判断』『クライアント窓口』『契約管理』</a:t>
            </a:r>
          </a:p>
        </p:txBody>
      </p:sp>
      <p:sp>
        <p:nvSpPr>
          <p:cNvPr id="51" name="TextBox 50"/>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Part 5 (AI活用 40p) 完了 → Part 6 へ</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AI 章のまとめ + 次は鉄板運用メソッド</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P204 / 250</a:t>
            </a:r>
          </a:p>
        </p:txBody>
      </p:sp>
      <p:sp>
        <p:nvSpPr>
          <p:cNvPr id="8" name="Rounded Rectangle 7"/>
          <p:cNvSpPr/>
          <p:nvPr/>
        </p:nvSpPr>
        <p:spPr>
          <a:xfrm>
            <a:off x="548640" y="1371600"/>
            <a:ext cx="11109960" cy="8686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71600"/>
            <a:ext cx="137160" cy="86868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90472"/>
            <a:ext cx="914400" cy="548640"/>
          </a:xfrm>
          <a:prstGeom prst="rect">
            <a:avLst/>
          </a:prstGeom>
          <a:noFill/>
        </p:spPr>
        <p:txBody>
          <a:bodyPr wrap="square" anchor="t" lIns="0" rIns="0" tIns="0" bIns="0">
            <a:spAutoFit/>
          </a:bodyPr>
          <a:lstStyle/>
          <a:p>
            <a:pPr algn="l">
              <a:lnSpc>
                <a:spcPct val="115000"/>
              </a:lnSpc>
            </a:pPr>
            <a:r>
              <a:rPr sz="2800" b="1">
                <a:solidFill>
                  <a:srgbClr val="E87722"/>
                </a:solidFill>
                <a:latin typeface="Helvetica Neue"/>
                <a:ea typeface="Helvetica Neue"/>
                <a:cs typeface="Helvetica Neue"/>
              </a:rPr>
              <a:t>01</a:t>
            </a:r>
          </a:p>
        </p:txBody>
      </p:sp>
      <p:sp>
        <p:nvSpPr>
          <p:cNvPr id="11" name="TextBox 10"/>
          <p:cNvSpPr txBox="1"/>
          <p:nvPr/>
        </p:nvSpPr>
        <p:spPr>
          <a:xfrm>
            <a:off x="1874519" y="1481328"/>
            <a:ext cx="9601200" cy="36576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AI クリエイティブ生成 (5-A)</a:t>
            </a:r>
          </a:p>
        </p:txBody>
      </p:sp>
      <p:sp>
        <p:nvSpPr>
          <p:cNvPr id="12" name="TextBox 11"/>
          <p:cNvSpPr txBox="1"/>
          <p:nvPr/>
        </p:nvSpPr>
        <p:spPr>
          <a:xfrm>
            <a:off x="1874519" y="1828800"/>
            <a:ext cx="9601200" cy="457200"/>
          </a:xfrm>
          <a:prstGeom prst="rect">
            <a:avLst/>
          </a:prstGeom>
          <a:noFill/>
        </p:spPr>
        <p:txBody>
          <a:bodyPr wrap="square" anchor="t" lIns="0" rIns="0" tIns="0" bIns="0">
            <a:spAutoFit/>
          </a:bodyPr>
          <a:lstStyle/>
          <a:p>
            <a:pPr algn="l">
              <a:lnSpc>
                <a:spcPct val="155000"/>
              </a:lnSpc>
            </a:pPr>
            <a:r>
              <a:rPr sz="1000" b="0">
                <a:solidFill>
                  <a:srgbClr val="1A1A1A"/>
                </a:solidFill>
                <a:latin typeface="Hiragino Sans"/>
                <a:ea typeface="Hiragino Sans"/>
                <a:cs typeface="Hiragino Sans"/>
              </a:rPr>
              <a:t>コピー / 画像 / 動画 / 媒体ネイティブ生成 まで完備</a:t>
            </a:r>
          </a:p>
          <a:p>
            <a:pPr algn="l">
              <a:lnSpc>
                <a:spcPct val="155000"/>
              </a:lnSpc>
            </a:pPr>
            <a:r>
              <a:rPr sz="1000" b="0">
                <a:solidFill>
                  <a:srgbClr val="1A1A1A"/>
                </a:solidFill>
                <a:latin typeface="Hiragino Sans"/>
                <a:ea typeface="Hiragino Sans"/>
                <a:cs typeface="Hiragino Sans"/>
              </a:rPr>
              <a:t>副業代行のクリエイティブコスト 数十万円 → 数千円に圧縮</a:t>
            </a:r>
          </a:p>
        </p:txBody>
      </p:sp>
      <p:sp>
        <p:nvSpPr>
          <p:cNvPr id="13" name="Rounded Rectangle 12"/>
          <p:cNvSpPr/>
          <p:nvPr/>
        </p:nvSpPr>
        <p:spPr>
          <a:xfrm>
            <a:off x="548640" y="2331720"/>
            <a:ext cx="11109960" cy="8686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2331720"/>
            <a:ext cx="137160" cy="86868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2450592"/>
            <a:ext cx="914400" cy="548640"/>
          </a:xfrm>
          <a:prstGeom prst="rect">
            <a:avLst/>
          </a:prstGeom>
          <a:noFill/>
        </p:spPr>
        <p:txBody>
          <a:bodyPr wrap="square" anchor="t" lIns="0" rIns="0" tIns="0" bIns="0">
            <a:spAutoFit/>
          </a:bodyPr>
          <a:lstStyle/>
          <a:p>
            <a:pPr algn="l">
              <a:lnSpc>
                <a:spcPct val="115000"/>
              </a:lnSpc>
            </a:pPr>
            <a:r>
              <a:rPr sz="2800" b="1">
                <a:solidFill>
                  <a:srgbClr val="E87722"/>
                </a:solidFill>
                <a:latin typeface="Helvetica Neue"/>
                <a:ea typeface="Helvetica Neue"/>
                <a:cs typeface="Helvetica Neue"/>
              </a:rPr>
              <a:t>02</a:t>
            </a:r>
          </a:p>
        </p:txBody>
      </p:sp>
      <p:sp>
        <p:nvSpPr>
          <p:cNvPr id="16" name="TextBox 15"/>
          <p:cNvSpPr txBox="1"/>
          <p:nvPr/>
        </p:nvSpPr>
        <p:spPr>
          <a:xfrm>
            <a:off x="1874519" y="2441448"/>
            <a:ext cx="9601200" cy="36576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AI 運用自動化 + 予測 (5-B 前半)</a:t>
            </a:r>
          </a:p>
        </p:txBody>
      </p:sp>
      <p:sp>
        <p:nvSpPr>
          <p:cNvPr id="17" name="TextBox 16"/>
          <p:cNvSpPr txBox="1"/>
          <p:nvPr/>
        </p:nvSpPr>
        <p:spPr>
          <a:xfrm>
            <a:off x="1874519" y="2788920"/>
            <a:ext cx="9601200" cy="457200"/>
          </a:xfrm>
          <a:prstGeom prst="rect">
            <a:avLst/>
          </a:prstGeom>
          <a:noFill/>
        </p:spPr>
        <p:txBody>
          <a:bodyPr wrap="square" anchor="t" lIns="0" rIns="0" tIns="0" bIns="0">
            <a:spAutoFit/>
          </a:bodyPr>
          <a:lstStyle/>
          <a:p>
            <a:pPr algn="l">
              <a:lnSpc>
                <a:spcPct val="155000"/>
              </a:lnSpc>
            </a:pPr>
            <a:r>
              <a:rPr sz="1000" b="0">
                <a:solidFill>
                  <a:srgbClr val="1A1A1A"/>
                </a:solidFill>
                <a:latin typeface="Hiragino Sans"/>
                <a:ea typeface="Hiragino Sans"/>
                <a:cs typeface="Hiragino Sans"/>
              </a:rPr>
              <a:t>媒体内AI (PMax/Advantage+/Smart+) + 外部運用ツール + 予測LTV</a:t>
            </a:r>
          </a:p>
          <a:p>
            <a:pPr algn="l">
              <a:lnSpc>
                <a:spcPct val="155000"/>
              </a:lnSpc>
            </a:pPr>
            <a:r>
              <a:rPr sz="1000" b="0">
                <a:solidFill>
                  <a:srgbClr val="1A1A1A"/>
                </a:solidFill>
                <a:latin typeface="Hiragino Sans"/>
                <a:ea typeface="Hiragino Sans"/>
                <a:cs typeface="Hiragino Sans"/>
              </a:rPr>
              <a:t>運用工数50%以上削減 + 意思決定の前倒し</a:t>
            </a:r>
          </a:p>
        </p:txBody>
      </p:sp>
      <p:sp>
        <p:nvSpPr>
          <p:cNvPr id="18" name="Rounded Rectangle 17"/>
          <p:cNvSpPr/>
          <p:nvPr/>
        </p:nvSpPr>
        <p:spPr>
          <a:xfrm>
            <a:off x="548640" y="3291840"/>
            <a:ext cx="11109960" cy="8686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291840"/>
            <a:ext cx="137160" cy="86868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3410712"/>
            <a:ext cx="914400" cy="548640"/>
          </a:xfrm>
          <a:prstGeom prst="rect">
            <a:avLst/>
          </a:prstGeom>
          <a:noFill/>
        </p:spPr>
        <p:txBody>
          <a:bodyPr wrap="square" anchor="t" lIns="0" rIns="0" tIns="0" bIns="0">
            <a:spAutoFit/>
          </a:bodyPr>
          <a:lstStyle/>
          <a:p>
            <a:pPr algn="l">
              <a:lnSpc>
                <a:spcPct val="115000"/>
              </a:lnSpc>
            </a:pPr>
            <a:r>
              <a:rPr sz="2800" b="1">
                <a:solidFill>
                  <a:srgbClr val="E87722"/>
                </a:solidFill>
                <a:latin typeface="Helvetica Neue"/>
                <a:ea typeface="Helvetica Neue"/>
                <a:cs typeface="Helvetica Neue"/>
              </a:rPr>
              <a:t>03</a:t>
            </a:r>
          </a:p>
        </p:txBody>
      </p:sp>
      <p:sp>
        <p:nvSpPr>
          <p:cNvPr id="21" name="TextBox 20"/>
          <p:cNvSpPr txBox="1"/>
          <p:nvPr/>
        </p:nvSpPr>
        <p:spPr>
          <a:xfrm>
            <a:off x="1874519" y="3401568"/>
            <a:ext cx="9601200" cy="36576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Agent型広告運用 + プロンプトテンプレ (5-B 後半)</a:t>
            </a:r>
          </a:p>
        </p:txBody>
      </p:sp>
      <p:sp>
        <p:nvSpPr>
          <p:cNvPr id="22" name="TextBox 21"/>
          <p:cNvSpPr txBox="1"/>
          <p:nvPr/>
        </p:nvSpPr>
        <p:spPr>
          <a:xfrm>
            <a:off x="1874519" y="3749040"/>
            <a:ext cx="9601200" cy="457200"/>
          </a:xfrm>
          <a:prstGeom prst="rect">
            <a:avLst/>
          </a:prstGeom>
          <a:noFill/>
        </p:spPr>
        <p:txBody>
          <a:bodyPr wrap="square" anchor="t" lIns="0" rIns="0" tIns="0" bIns="0">
            <a:spAutoFit/>
          </a:bodyPr>
          <a:lstStyle/>
          <a:p>
            <a:pPr algn="l">
              <a:lnSpc>
                <a:spcPct val="155000"/>
              </a:lnSpc>
            </a:pPr>
            <a:r>
              <a:rPr sz="1000" b="0">
                <a:solidFill>
                  <a:srgbClr val="1A1A1A"/>
                </a:solidFill>
                <a:latin typeface="Hiragino Sans"/>
                <a:ea typeface="Hiragino Sans"/>
                <a:cs typeface="Hiragino Sans"/>
              </a:rPr>
              <a:t>Claude Computer Use / Operator / Copilot で管理画面操作も自動化</a:t>
            </a:r>
          </a:p>
          <a:p>
            <a:pPr algn="l">
              <a:lnSpc>
                <a:spcPct val="155000"/>
              </a:lnSpc>
            </a:pPr>
            <a:r>
              <a:rPr sz="1000" b="0">
                <a:solidFill>
                  <a:srgbClr val="1A1A1A"/>
                </a:solidFill>
                <a:latin typeface="Hiragino Sans"/>
                <a:ea typeface="Hiragino Sans"/>
                <a:cs typeface="Hiragino Sans"/>
              </a:rPr>
              <a:t>1人で月10-20クライアント対応が現実的に</a:t>
            </a:r>
          </a:p>
        </p:txBody>
      </p:sp>
      <p:sp>
        <p:nvSpPr>
          <p:cNvPr id="23" name="Rounded Rectangle 22"/>
          <p:cNvSpPr/>
          <p:nvPr/>
        </p:nvSpPr>
        <p:spPr>
          <a:xfrm>
            <a:off x="548640" y="4434840"/>
            <a:ext cx="11109960" cy="192024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4572000"/>
            <a:ext cx="10972800" cy="411480"/>
          </a:xfrm>
          <a:prstGeom prst="rect">
            <a:avLst/>
          </a:prstGeom>
          <a:noFill/>
        </p:spPr>
        <p:txBody>
          <a:bodyPr wrap="square" anchor="t" lIns="0" rIns="0" tIns="0" bIns="0">
            <a:spAutoFit/>
          </a:bodyPr>
          <a:lstStyle/>
          <a:p>
            <a:pPr algn="l">
              <a:lnSpc>
                <a:spcPct val="115000"/>
              </a:lnSpc>
            </a:pPr>
            <a:r>
              <a:rPr sz="1800" b="1">
                <a:solidFill>
                  <a:srgbClr val="E87722"/>
                </a:solidFill>
                <a:latin typeface="Helvetica Neue"/>
                <a:ea typeface="Helvetica Neue"/>
                <a:cs typeface="Helvetica Neue"/>
              </a:rPr>
              <a:t>NEXT →  Part 6  鉄板運用メソッド 2026年版 (15p)</a:t>
            </a:r>
          </a:p>
        </p:txBody>
      </p:sp>
      <p:sp>
        <p:nvSpPr>
          <p:cNvPr id="25" name="TextBox 24"/>
          <p:cNvSpPr txBox="1"/>
          <p:nvPr/>
        </p:nvSpPr>
        <p:spPr>
          <a:xfrm>
            <a:off x="777240" y="5029200"/>
            <a:ext cx="10972800" cy="1280160"/>
          </a:xfrm>
          <a:prstGeom prst="rect">
            <a:avLst/>
          </a:prstGeom>
          <a:noFill/>
        </p:spPr>
        <p:txBody>
          <a:bodyPr wrap="square" anchor="t" lIns="0" rIns="0" tIns="0" bIns="0">
            <a:spAutoFit/>
          </a:bodyPr>
          <a:lstStyle/>
          <a:p>
            <a:pPr algn="l">
              <a:lnSpc>
                <a:spcPct val="155000"/>
              </a:lnSpc>
            </a:pPr>
            <a:r>
              <a:rPr sz="1100" b="0">
                <a:solidFill>
                  <a:srgbClr val="FFFFFF"/>
                </a:solidFill>
                <a:latin typeface="Hiragino Sans"/>
                <a:ea typeface="Hiragino Sans"/>
                <a:cs typeface="Hiragino Sans"/>
              </a:rPr>
              <a:t>Part 6 で扱うトピック (15p) :</a:t>
            </a:r>
          </a:p>
          <a:p>
            <a:pPr algn="l">
              <a:lnSpc>
                <a:spcPct val="155000"/>
              </a:lnSpc>
            </a:pPr>
            <a:r>
              <a:rPr sz="1100" b="0">
                <a:solidFill>
                  <a:srgbClr val="FFFFFF"/>
                </a:solidFill>
                <a:latin typeface="Hiragino Sans"/>
                <a:ea typeface="Hiragino Sans"/>
                <a:cs typeface="Hiragino Sans"/>
              </a:rPr>
              <a:t>• アカウント構造の現代版 (Hub &amp; Spoke)</a:t>
            </a:r>
          </a:p>
          <a:p>
            <a:pPr algn="l">
              <a:lnSpc>
                <a:spcPct val="155000"/>
              </a:lnSpc>
            </a:pPr>
            <a:r>
              <a:rPr sz="1100" b="0">
                <a:solidFill>
                  <a:srgbClr val="FFFFFF"/>
                </a:solidFill>
                <a:latin typeface="Hiragino Sans"/>
                <a:ea typeface="Hiragino Sans"/>
                <a:cs typeface="Hiragino Sans"/>
              </a:rPr>
              <a:t>• 入札戦略選定フロー</a:t>
            </a:r>
          </a:p>
          <a:p>
            <a:pPr algn="l">
              <a:lnSpc>
                <a:spcPct val="155000"/>
              </a:lnSpc>
            </a:pPr>
            <a:r>
              <a:rPr sz="1100" b="0">
                <a:solidFill>
                  <a:srgbClr val="FFFFFF"/>
                </a:solidFill>
                <a:latin typeface="Hiragino Sans"/>
                <a:ea typeface="Hiragino Sans"/>
                <a:cs typeface="Hiragino Sans"/>
              </a:rPr>
              <a:t>• クリエイティブ本数・バリエーション設計</a:t>
            </a:r>
          </a:p>
          <a:p>
            <a:pPr algn="l">
              <a:lnSpc>
                <a:spcPct val="155000"/>
              </a:lnSpc>
            </a:pPr>
            <a:r>
              <a:rPr sz="1100" b="0">
                <a:solidFill>
                  <a:srgbClr val="FFFFFF"/>
                </a:solidFill>
                <a:latin typeface="Hiragino Sans"/>
                <a:ea typeface="Hiragino Sans"/>
                <a:cs typeface="Hiragino Sans"/>
              </a:rPr>
              <a:t>• Learning Phase 突破手順</a:t>
            </a:r>
          </a:p>
          <a:p>
            <a:pPr algn="l">
              <a:lnSpc>
                <a:spcPct val="155000"/>
              </a:lnSpc>
            </a:pPr>
            <a:r>
              <a:rPr sz="1100" b="0">
                <a:solidFill>
                  <a:srgbClr val="FFFFFF"/>
                </a:solidFill>
                <a:latin typeface="Hiragino Sans"/>
                <a:ea typeface="Hiragino Sans"/>
                <a:cs typeface="Hiragino Sans"/>
              </a:rPr>
              <a:t>• 予算配分フレーム / 検証設計</a:t>
            </a:r>
          </a:p>
          <a:p>
            <a:pPr algn="l">
              <a:lnSpc>
                <a:spcPct val="155000"/>
              </a:lnSpc>
            </a:pPr>
            <a:r>
              <a:rPr sz="1100" b="0">
                <a:solidFill>
                  <a:srgbClr val="FFFFFF"/>
                </a:solidFill>
                <a:latin typeface="Hiragino Sans"/>
                <a:ea typeface="Hiragino Sans"/>
                <a:cs typeface="Hiragino Sans"/>
              </a:rPr>
              <a:t>• 月次レポート標準 / クライアント説明スクリプト</a:t>
            </a:r>
          </a:p>
        </p:txBody>
      </p:sp>
      <p:sp>
        <p:nvSpPr>
          <p:cNvPr id="26" name="TextBox 25"/>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AI 運用 pitfalls (補足)</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Agent型運用の注意点</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P205 / 250</a:t>
            </a:r>
          </a:p>
        </p:txBody>
      </p:sp>
      <p:sp>
        <p:nvSpPr>
          <p:cNvPr id="8" name="Rounded Rectangle 7"/>
          <p:cNvSpPr/>
          <p:nvPr/>
        </p:nvSpPr>
        <p:spPr>
          <a:xfrm>
            <a:off x="548640" y="1325880"/>
            <a:ext cx="5440680" cy="15544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25880"/>
            <a:ext cx="91440" cy="1554480"/>
          </a:xfrm>
          <a:prstGeom prst="rect">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63040"/>
            <a:ext cx="457200" cy="320040"/>
          </a:xfrm>
          <a:prstGeom prst="rect">
            <a:avLst/>
          </a:prstGeom>
          <a:noFill/>
        </p:spPr>
        <p:txBody>
          <a:bodyPr wrap="square" anchor="t" lIns="0" rIns="0" tIns="0" bIns="0">
            <a:spAutoFit/>
          </a:bodyPr>
          <a:lstStyle/>
          <a:p>
            <a:pPr algn="l">
              <a:lnSpc>
                <a:spcPct val="115000"/>
              </a:lnSpc>
            </a:pPr>
            <a:r>
              <a:rPr sz="1800" b="1">
                <a:solidFill>
                  <a:srgbClr val="C6452D"/>
                </a:solidFill>
                <a:latin typeface="Hiragino Sans"/>
                <a:ea typeface="Hiragino Sans"/>
                <a:cs typeface="Hiragino Sans"/>
              </a:rPr>
              <a:t>✗</a:t>
            </a:r>
          </a:p>
        </p:txBody>
      </p:sp>
      <p:sp>
        <p:nvSpPr>
          <p:cNvPr id="11" name="TextBox 10"/>
          <p:cNvSpPr txBox="1"/>
          <p:nvPr/>
        </p:nvSpPr>
        <p:spPr>
          <a:xfrm>
            <a:off x="1188720" y="1463040"/>
            <a:ext cx="4663440" cy="365760"/>
          </a:xfrm>
          <a:prstGeom prst="rect">
            <a:avLst/>
          </a:prstGeom>
          <a:noFill/>
        </p:spPr>
        <p:txBody>
          <a:bodyPr wrap="square" anchor="t" lIns="0" rIns="0" tIns="0" bIns="0">
            <a:spAutoFit/>
          </a:bodyPr>
          <a:lstStyle/>
          <a:p>
            <a:pPr algn="l">
              <a:lnSpc>
                <a:spcPct val="130000"/>
              </a:lnSpc>
            </a:pPr>
            <a:r>
              <a:rPr sz="1200" b="1">
                <a:solidFill>
                  <a:srgbClr val="0F2A4F"/>
                </a:solidFill>
                <a:latin typeface="Hiragino Sans"/>
                <a:ea typeface="Hiragino Sans"/>
                <a:cs typeface="Hiragino Sans"/>
              </a:rPr>
              <a:t>Agent型に丸投げ</a:t>
            </a:r>
          </a:p>
        </p:txBody>
      </p:sp>
      <p:sp>
        <p:nvSpPr>
          <p:cNvPr id="12" name="Rectangle 11"/>
          <p:cNvSpPr/>
          <p:nvPr/>
        </p:nvSpPr>
        <p:spPr>
          <a:xfrm>
            <a:off x="777240" y="1965960"/>
            <a:ext cx="507492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057400"/>
            <a:ext cx="5074920" cy="777240"/>
          </a:xfrm>
          <a:prstGeom prst="rect">
            <a:avLst/>
          </a:prstGeom>
          <a:noFill/>
        </p:spPr>
        <p:txBody>
          <a:bodyPr wrap="square" anchor="t" lIns="0" rIns="0" tIns="0" bIns="0">
            <a:spAutoFit/>
          </a:bodyPr>
          <a:lstStyle/>
          <a:p>
            <a:pPr algn="l">
              <a:lnSpc>
                <a:spcPct val="150000"/>
              </a:lnSpc>
            </a:pPr>
            <a:r>
              <a:rPr sz="1000" b="0">
                <a:solidFill>
                  <a:srgbClr val="1A1A1A"/>
                </a:solidFill>
                <a:latin typeface="Hiragino Sans"/>
                <a:ea typeface="Hiragino Sans"/>
                <a:cs typeface="Hiragino Sans"/>
              </a:rPr>
              <a:t>予算系・配信系の自動変更は事故リスク → 人間承認チェックポイント必須</a:t>
            </a:r>
          </a:p>
        </p:txBody>
      </p:sp>
      <p:sp>
        <p:nvSpPr>
          <p:cNvPr id="14" name="Rounded Rectangle 13"/>
          <p:cNvSpPr/>
          <p:nvPr/>
        </p:nvSpPr>
        <p:spPr>
          <a:xfrm>
            <a:off x="6172200" y="1325880"/>
            <a:ext cx="5440680" cy="15544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72200" y="1325880"/>
            <a:ext cx="91440" cy="1554480"/>
          </a:xfrm>
          <a:prstGeom prst="rect">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1463040"/>
            <a:ext cx="457200" cy="320040"/>
          </a:xfrm>
          <a:prstGeom prst="rect">
            <a:avLst/>
          </a:prstGeom>
          <a:noFill/>
        </p:spPr>
        <p:txBody>
          <a:bodyPr wrap="square" anchor="t" lIns="0" rIns="0" tIns="0" bIns="0">
            <a:spAutoFit/>
          </a:bodyPr>
          <a:lstStyle/>
          <a:p>
            <a:pPr algn="l">
              <a:lnSpc>
                <a:spcPct val="115000"/>
              </a:lnSpc>
            </a:pPr>
            <a:r>
              <a:rPr sz="1800" b="1">
                <a:solidFill>
                  <a:srgbClr val="C6452D"/>
                </a:solidFill>
                <a:latin typeface="Hiragino Sans"/>
                <a:ea typeface="Hiragino Sans"/>
                <a:cs typeface="Hiragino Sans"/>
              </a:rPr>
              <a:t>✗</a:t>
            </a:r>
          </a:p>
        </p:txBody>
      </p:sp>
      <p:sp>
        <p:nvSpPr>
          <p:cNvPr id="17" name="TextBox 16"/>
          <p:cNvSpPr txBox="1"/>
          <p:nvPr/>
        </p:nvSpPr>
        <p:spPr>
          <a:xfrm>
            <a:off x="6812280" y="1463040"/>
            <a:ext cx="4663440" cy="365760"/>
          </a:xfrm>
          <a:prstGeom prst="rect">
            <a:avLst/>
          </a:prstGeom>
          <a:noFill/>
        </p:spPr>
        <p:txBody>
          <a:bodyPr wrap="square" anchor="t" lIns="0" rIns="0" tIns="0" bIns="0">
            <a:spAutoFit/>
          </a:bodyPr>
          <a:lstStyle/>
          <a:p>
            <a:pPr algn="l">
              <a:lnSpc>
                <a:spcPct val="130000"/>
              </a:lnSpc>
            </a:pPr>
            <a:r>
              <a:rPr sz="1200" b="1">
                <a:solidFill>
                  <a:srgbClr val="0F2A4F"/>
                </a:solidFill>
                <a:latin typeface="Hiragino Sans"/>
                <a:ea typeface="Hiragino Sans"/>
                <a:cs typeface="Hiragino Sans"/>
              </a:rPr>
              <a:t>プロンプトテンプレの使い回し</a:t>
            </a:r>
          </a:p>
        </p:txBody>
      </p:sp>
      <p:sp>
        <p:nvSpPr>
          <p:cNvPr id="18" name="Rectangle 17"/>
          <p:cNvSpPr/>
          <p:nvPr/>
        </p:nvSpPr>
        <p:spPr>
          <a:xfrm>
            <a:off x="6400800" y="1965960"/>
            <a:ext cx="507492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2057400"/>
            <a:ext cx="5074920" cy="777240"/>
          </a:xfrm>
          <a:prstGeom prst="rect">
            <a:avLst/>
          </a:prstGeom>
          <a:noFill/>
        </p:spPr>
        <p:txBody>
          <a:bodyPr wrap="square" anchor="t" lIns="0" rIns="0" tIns="0" bIns="0">
            <a:spAutoFit/>
          </a:bodyPr>
          <a:lstStyle/>
          <a:p>
            <a:pPr algn="l">
              <a:lnSpc>
                <a:spcPct val="150000"/>
              </a:lnSpc>
            </a:pPr>
            <a:r>
              <a:rPr sz="1000" b="0">
                <a:solidFill>
                  <a:srgbClr val="1A1A1A"/>
                </a:solidFill>
                <a:latin typeface="Hiragino Sans"/>
                <a:ea typeface="Hiragino Sans"/>
                <a:cs typeface="Hiragino Sans"/>
              </a:rPr>
              <a:t>業種・案件で必要な情報が違う → クライアント別にカスタマイズ</a:t>
            </a:r>
          </a:p>
        </p:txBody>
      </p:sp>
      <p:sp>
        <p:nvSpPr>
          <p:cNvPr id="20" name="Rounded Rectangle 19"/>
          <p:cNvSpPr/>
          <p:nvPr/>
        </p:nvSpPr>
        <p:spPr>
          <a:xfrm>
            <a:off x="548640" y="3017520"/>
            <a:ext cx="5440680" cy="15544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3017520"/>
            <a:ext cx="91440" cy="1554480"/>
          </a:xfrm>
          <a:prstGeom prst="rect">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3154680"/>
            <a:ext cx="457200" cy="320040"/>
          </a:xfrm>
          <a:prstGeom prst="rect">
            <a:avLst/>
          </a:prstGeom>
          <a:noFill/>
        </p:spPr>
        <p:txBody>
          <a:bodyPr wrap="square" anchor="t" lIns="0" rIns="0" tIns="0" bIns="0">
            <a:spAutoFit/>
          </a:bodyPr>
          <a:lstStyle/>
          <a:p>
            <a:pPr algn="l">
              <a:lnSpc>
                <a:spcPct val="115000"/>
              </a:lnSpc>
            </a:pPr>
            <a:r>
              <a:rPr sz="1800" b="1">
                <a:solidFill>
                  <a:srgbClr val="C6452D"/>
                </a:solidFill>
                <a:latin typeface="Hiragino Sans"/>
                <a:ea typeface="Hiragino Sans"/>
                <a:cs typeface="Hiragino Sans"/>
              </a:rPr>
              <a:t>✗</a:t>
            </a:r>
          </a:p>
        </p:txBody>
      </p:sp>
      <p:sp>
        <p:nvSpPr>
          <p:cNvPr id="23" name="TextBox 22"/>
          <p:cNvSpPr txBox="1"/>
          <p:nvPr/>
        </p:nvSpPr>
        <p:spPr>
          <a:xfrm>
            <a:off x="1188720" y="3154680"/>
            <a:ext cx="4663440" cy="365760"/>
          </a:xfrm>
          <a:prstGeom prst="rect">
            <a:avLst/>
          </a:prstGeom>
          <a:noFill/>
        </p:spPr>
        <p:txBody>
          <a:bodyPr wrap="square" anchor="t" lIns="0" rIns="0" tIns="0" bIns="0">
            <a:spAutoFit/>
          </a:bodyPr>
          <a:lstStyle/>
          <a:p>
            <a:pPr algn="l">
              <a:lnSpc>
                <a:spcPct val="130000"/>
              </a:lnSpc>
            </a:pPr>
            <a:r>
              <a:rPr sz="1200" b="1">
                <a:solidFill>
                  <a:srgbClr val="0F2A4F"/>
                </a:solidFill>
                <a:latin typeface="Hiragino Sans"/>
                <a:ea typeface="Hiragino Sans"/>
                <a:cs typeface="Hiragino Sans"/>
              </a:rPr>
              <a:t>AI生成レポートの数字未検証</a:t>
            </a:r>
          </a:p>
        </p:txBody>
      </p:sp>
      <p:sp>
        <p:nvSpPr>
          <p:cNvPr id="24" name="Rectangle 23"/>
          <p:cNvSpPr/>
          <p:nvPr/>
        </p:nvSpPr>
        <p:spPr>
          <a:xfrm>
            <a:off x="777240" y="3657600"/>
            <a:ext cx="507492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3749040"/>
            <a:ext cx="5074920" cy="777240"/>
          </a:xfrm>
          <a:prstGeom prst="rect">
            <a:avLst/>
          </a:prstGeom>
          <a:noFill/>
        </p:spPr>
        <p:txBody>
          <a:bodyPr wrap="square" anchor="t" lIns="0" rIns="0" tIns="0" bIns="0">
            <a:spAutoFit/>
          </a:bodyPr>
          <a:lstStyle/>
          <a:p>
            <a:pPr algn="l">
              <a:lnSpc>
                <a:spcPct val="150000"/>
              </a:lnSpc>
            </a:pPr>
            <a:r>
              <a:rPr sz="1000" b="0">
                <a:solidFill>
                  <a:srgbClr val="1A1A1A"/>
                </a:solidFill>
                <a:latin typeface="Hiragino Sans"/>
                <a:ea typeface="Hiragino Sans"/>
                <a:cs typeface="Hiragino Sans"/>
              </a:rPr>
              <a:t>AIが数字を間違えるケース → 必ず管理画面と突き合わせ</a:t>
            </a:r>
          </a:p>
        </p:txBody>
      </p:sp>
      <p:sp>
        <p:nvSpPr>
          <p:cNvPr id="26" name="Rounded Rectangle 25"/>
          <p:cNvSpPr/>
          <p:nvPr/>
        </p:nvSpPr>
        <p:spPr>
          <a:xfrm>
            <a:off x="6172200" y="3017520"/>
            <a:ext cx="5440680" cy="15544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72200" y="3017520"/>
            <a:ext cx="91440" cy="1554480"/>
          </a:xfrm>
          <a:prstGeom prst="rect">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0" y="3154680"/>
            <a:ext cx="457200" cy="320040"/>
          </a:xfrm>
          <a:prstGeom prst="rect">
            <a:avLst/>
          </a:prstGeom>
          <a:noFill/>
        </p:spPr>
        <p:txBody>
          <a:bodyPr wrap="square" anchor="t" lIns="0" rIns="0" tIns="0" bIns="0">
            <a:spAutoFit/>
          </a:bodyPr>
          <a:lstStyle/>
          <a:p>
            <a:pPr algn="l">
              <a:lnSpc>
                <a:spcPct val="115000"/>
              </a:lnSpc>
            </a:pPr>
            <a:r>
              <a:rPr sz="1800" b="1">
                <a:solidFill>
                  <a:srgbClr val="C6452D"/>
                </a:solidFill>
                <a:latin typeface="Hiragino Sans"/>
                <a:ea typeface="Hiragino Sans"/>
                <a:cs typeface="Hiragino Sans"/>
              </a:rPr>
              <a:t>✗</a:t>
            </a:r>
          </a:p>
        </p:txBody>
      </p:sp>
      <p:sp>
        <p:nvSpPr>
          <p:cNvPr id="29" name="TextBox 28"/>
          <p:cNvSpPr txBox="1"/>
          <p:nvPr/>
        </p:nvSpPr>
        <p:spPr>
          <a:xfrm>
            <a:off x="6812280" y="3154680"/>
            <a:ext cx="4663440" cy="365760"/>
          </a:xfrm>
          <a:prstGeom prst="rect">
            <a:avLst/>
          </a:prstGeom>
          <a:noFill/>
        </p:spPr>
        <p:txBody>
          <a:bodyPr wrap="square" anchor="t" lIns="0" rIns="0" tIns="0" bIns="0">
            <a:spAutoFit/>
          </a:bodyPr>
          <a:lstStyle/>
          <a:p>
            <a:pPr algn="l">
              <a:lnSpc>
                <a:spcPct val="130000"/>
              </a:lnSpc>
            </a:pPr>
            <a:r>
              <a:rPr sz="1200" b="1">
                <a:solidFill>
                  <a:srgbClr val="0F2A4F"/>
                </a:solidFill>
                <a:latin typeface="Hiragino Sans"/>
                <a:ea typeface="Hiragino Sans"/>
                <a:cs typeface="Hiragino Sans"/>
              </a:rPr>
              <a:t>外部ツール過剰投資</a:t>
            </a:r>
          </a:p>
        </p:txBody>
      </p:sp>
      <p:sp>
        <p:nvSpPr>
          <p:cNvPr id="30" name="Rectangle 29"/>
          <p:cNvSpPr/>
          <p:nvPr/>
        </p:nvSpPr>
        <p:spPr>
          <a:xfrm>
            <a:off x="6400800" y="3657600"/>
            <a:ext cx="507492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0" y="3749040"/>
            <a:ext cx="5074920" cy="777240"/>
          </a:xfrm>
          <a:prstGeom prst="rect">
            <a:avLst/>
          </a:prstGeom>
          <a:noFill/>
        </p:spPr>
        <p:txBody>
          <a:bodyPr wrap="square" anchor="t" lIns="0" rIns="0" tIns="0" bIns="0">
            <a:spAutoFit/>
          </a:bodyPr>
          <a:lstStyle/>
          <a:p>
            <a:pPr algn="l">
              <a:lnSpc>
                <a:spcPct val="150000"/>
              </a:lnSpc>
            </a:pPr>
            <a:r>
              <a:rPr sz="1000" b="0">
                <a:solidFill>
                  <a:srgbClr val="1A1A1A"/>
                </a:solidFill>
                <a:latin typeface="Hiragino Sans"/>
                <a:ea typeface="Hiragino Sans"/>
                <a:cs typeface="Hiragino Sans"/>
              </a:rPr>
              <a:t>ツール契約の月額が嵩む → 案件規模に応じて選択</a:t>
            </a:r>
          </a:p>
        </p:txBody>
      </p:sp>
      <p:sp>
        <p:nvSpPr>
          <p:cNvPr id="32" name="Rounded Rectangle 31"/>
          <p:cNvSpPr/>
          <p:nvPr/>
        </p:nvSpPr>
        <p:spPr>
          <a:xfrm>
            <a:off x="548640" y="4709160"/>
            <a:ext cx="5440680" cy="15544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 y="4709160"/>
            <a:ext cx="91440" cy="1554480"/>
          </a:xfrm>
          <a:prstGeom prst="rect">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77240" y="4846320"/>
            <a:ext cx="457200" cy="320040"/>
          </a:xfrm>
          <a:prstGeom prst="rect">
            <a:avLst/>
          </a:prstGeom>
          <a:noFill/>
        </p:spPr>
        <p:txBody>
          <a:bodyPr wrap="square" anchor="t" lIns="0" rIns="0" tIns="0" bIns="0">
            <a:spAutoFit/>
          </a:bodyPr>
          <a:lstStyle/>
          <a:p>
            <a:pPr algn="l">
              <a:lnSpc>
                <a:spcPct val="115000"/>
              </a:lnSpc>
            </a:pPr>
            <a:r>
              <a:rPr sz="1800" b="1">
                <a:solidFill>
                  <a:srgbClr val="C6452D"/>
                </a:solidFill>
                <a:latin typeface="Hiragino Sans"/>
                <a:ea typeface="Hiragino Sans"/>
                <a:cs typeface="Hiragino Sans"/>
              </a:rPr>
              <a:t>✗</a:t>
            </a:r>
          </a:p>
        </p:txBody>
      </p:sp>
      <p:sp>
        <p:nvSpPr>
          <p:cNvPr id="35" name="TextBox 34"/>
          <p:cNvSpPr txBox="1"/>
          <p:nvPr/>
        </p:nvSpPr>
        <p:spPr>
          <a:xfrm>
            <a:off x="1188720" y="4846320"/>
            <a:ext cx="4663440" cy="365760"/>
          </a:xfrm>
          <a:prstGeom prst="rect">
            <a:avLst/>
          </a:prstGeom>
          <a:noFill/>
        </p:spPr>
        <p:txBody>
          <a:bodyPr wrap="square" anchor="t" lIns="0" rIns="0" tIns="0" bIns="0">
            <a:spAutoFit/>
          </a:bodyPr>
          <a:lstStyle/>
          <a:p>
            <a:pPr algn="l">
              <a:lnSpc>
                <a:spcPct val="130000"/>
              </a:lnSpc>
            </a:pPr>
            <a:r>
              <a:rPr sz="1200" b="1">
                <a:solidFill>
                  <a:srgbClr val="0F2A4F"/>
                </a:solidFill>
                <a:latin typeface="Hiragino Sans"/>
                <a:ea typeface="Hiragino Sans"/>
                <a:cs typeface="Hiragino Sans"/>
              </a:rPr>
              <a:t>AI Analytics 過信</a:t>
            </a:r>
          </a:p>
        </p:txBody>
      </p:sp>
      <p:sp>
        <p:nvSpPr>
          <p:cNvPr id="36" name="Rectangle 35"/>
          <p:cNvSpPr/>
          <p:nvPr/>
        </p:nvSpPr>
        <p:spPr>
          <a:xfrm>
            <a:off x="777240" y="5349240"/>
            <a:ext cx="507492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77240" y="5440680"/>
            <a:ext cx="5074920" cy="777240"/>
          </a:xfrm>
          <a:prstGeom prst="rect">
            <a:avLst/>
          </a:prstGeom>
          <a:noFill/>
        </p:spPr>
        <p:txBody>
          <a:bodyPr wrap="square" anchor="t" lIns="0" rIns="0" tIns="0" bIns="0">
            <a:spAutoFit/>
          </a:bodyPr>
          <a:lstStyle/>
          <a:p>
            <a:pPr algn="l">
              <a:lnSpc>
                <a:spcPct val="150000"/>
              </a:lnSpc>
            </a:pPr>
            <a:r>
              <a:rPr sz="1000" b="0">
                <a:solidFill>
                  <a:srgbClr val="1A1A1A"/>
                </a:solidFill>
                <a:latin typeface="Hiragino Sans"/>
                <a:ea typeface="Hiragino Sans"/>
                <a:cs typeface="Hiragino Sans"/>
              </a:rPr>
              <a:t>AI解釈は仮説、必ず人間判断 → クライアントには『仮説』として共有</a:t>
            </a:r>
          </a:p>
        </p:txBody>
      </p:sp>
      <p:sp>
        <p:nvSpPr>
          <p:cNvPr id="38" name="Rounded Rectangle 37"/>
          <p:cNvSpPr/>
          <p:nvPr/>
        </p:nvSpPr>
        <p:spPr>
          <a:xfrm>
            <a:off x="6172200" y="4709160"/>
            <a:ext cx="5440680" cy="15544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172200" y="4709160"/>
            <a:ext cx="91440" cy="1554480"/>
          </a:xfrm>
          <a:prstGeom prst="rect">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00800" y="4846320"/>
            <a:ext cx="457200" cy="320040"/>
          </a:xfrm>
          <a:prstGeom prst="rect">
            <a:avLst/>
          </a:prstGeom>
          <a:noFill/>
        </p:spPr>
        <p:txBody>
          <a:bodyPr wrap="square" anchor="t" lIns="0" rIns="0" tIns="0" bIns="0">
            <a:spAutoFit/>
          </a:bodyPr>
          <a:lstStyle/>
          <a:p>
            <a:pPr algn="l">
              <a:lnSpc>
                <a:spcPct val="115000"/>
              </a:lnSpc>
            </a:pPr>
            <a:r>
              <a:rPr sz="1800" b="1">
                <a:solidFill>
                  <a:srgbClr val="C6452D"/>
                </a:solidFill>
                <a:latin typeface="Hiragino Sans"/>
                <a:ea typeface="Hiragino Sans"/>
                <a:cs typeface="Hiragino Sans"/>
              </a:rPr>
              <a:t>✗</a:t>
            </a:r>
          </a:p>
        </p:txBody>
      </p:sp>
      <p:sp>
        <p:nvSpPr>
          <p:cNvPr id="41" name="TextBox 40"/>
          <p:cNvSpPr txBox="1"/>
          <p:nvPr/>
        </p:nvSpPr>
        <p:spPr>
          <a:xfrm>
            <a:off x="6812280" y="4846320"/>
            <a:ext cx="4663440" cy="365760"/>
          </a:xfrm>
          <a:prstGeom prst="rect">
            <a:avLst/>
          </a:prstGeom>
          <a:noFill/>
        </p:spPr>
        <p:txBody>
          <a:bodyPr wrap="square" anchor="t" lIns="0" rIns="0" tIns="0" bIns="0">
            <a:spAutoFit/>
          </a:bodyPr>
          <a:lstStyle/>
          <a:p>
            <a:pPr algn="l">
              <a:lnSpc>
                <a:spcPct val="130000"/>
              </a:lnSpc>
            </a:pPr>
            <a:r>
              <a:rPr sz="1200" b="1">
                <a:solidFill>
                  <a:srgbClr val="0F2A4F"/>
                </a:solidFill>
                <a:latin typeface="Hiragino Sans"/>
                <a:ea typeface="Hiragino Sans"/>
                <a:cs typeface="Hiragino Sans"/>
              </a:rPr>
              <a:t>プロンプト設計を磨かない</a:t>
            </a:r>
          </a:p>
        </p:txBody>
      </p:sp>
      <p:sp>
        <p:nvSpPr>
          <p:cNvPr id="42" name="Rectangle 41"/>
          <p:cNvSpPr/>
          <p:nvPr/>
        </p:nvSpPr>
        <p:spPr>
          <a:xfrm>
            <a:off x="6400800" y="5349240"/>
            <a:ext cx="507492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00800" y="5440680"/>
            <a:ext cx="5074920" cy="777240"/>
          </a:xfrm>
          <a:prstGeom prst="rect">
            <a:avLst/>
          </a:prstGeom>
          <a:noFill/>
        </p:spPr>
        <p:txBody>
          <a:bodyPr wrap="square" anchor="t" lIns="0" rIns="0" tIns="0" bIns="0">
            <a:spAutoFit/>
          </a:bodyPr>
          <a:lstStyle/>
          <a:p>
            <a:pPr algn="l">
              <a:lnSpc>
                <a:spcPct val="150000"/>
              </a:lnSpc>
            </a:pPr>
            <a:r>
              <a:rPr sz="1000" b="0">
                <a:solidFill>
                  <a:srgbClr val="1A1A1A"/>
                </a:solidFill>
                <a:latin typeface="Hiragino Sans"/>
                <a:ea typeface="Hiragino Sans"/>
                <a:cs typeface="Hiragino Sans"/>
              </a:rPr>
              <a:t>AI出力品質が低下 → 月1回はプロンプトテンプレ見直し</a:t>
            </a:r>
          </a:p>
        </p:txBody>
      </p:sp>
      <p:sp>
        <p:nvSpPr>
          <p:cNvPr id="44" name="TextBox 43"/>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37160" cy="46634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097280"/>
            <a:ext cx="3657600" cy="457200"/>
          </a:xfrm>
          <a:prstGeom prst="rect">
            <a:avLst/>
          </a:prstGeom>
          <a:noFill/>
        </p:spPr>
        <p:txBody>
          <a:bodyPr wrap="square" anchor="t" lIns="0" rIns="0" tIns="0" bIns="0">
            <a:spAutoFit/>
          </a:bodyPr>
          <a:lstStyle/>
          <a:p>
            <a:pPr algn="l">
              <a:lnSpc>
                <a:spcPct val="115000"/>
              </a:lnSpc>
            </a:pPr>
            <a:r>
              <a:rPr sz="1800" b="1">
                <a:solidFill>
                  <a:srgbClr val="E87722"/>
                </a:solidFill>
                <a:latin typeface="Helvetica Neue"/>
                <a:ea typeface="Helvetica Neue"/>
                <a:cs typeface="Helvetica Neue"/>
              </a:rPr>
              <a:t>PART 6</a:t>
            </a:r>
          </a:p>
        </p:txBody>
      </p:sp>
      <p:sp>
        <p:nvSpPr>
          <p:cNvPr id="5" name="TextBox 4"/>
          <p:cNvSpPr txBox="1"/>
          <p:nvPr/>
        </p:nvSpPr>
        <p:spPr>
          <a:xfrm>
            <a:off x="1097280" y="1737360"/>
            <a:ext cx="10058400" cy="1371600"/>
          </a:xfrm>
          <a:prstGeom prst="rect">
            <a:avLst/>
          </a:prstGeom>
          <a:noFill/>
        </p:spPr>
        <p:txBody>
          <a:bodyPr wrap="square" anchor="t" lIns="0" rIns="0" tIns="0" bIns="0">
            <a:spAutoFit/>
          </a:bodyPr>
          <a:lstStyle/>
          <a:p>
            <a:pPr algn="l">
              <a:lnSpc>
                <a:spcPct val="110000"/>
              </a:lnSpc>
            </a:pPr>
            <a:r>
              <a:rPr sz="5400" b="1">
                <a:solidFill>
                  <a:srgbClr val="FFFFFF"/>
                </a:solidFill>
                <a:latin typeface="Hiragino Sans"/>
                <a:ea typeface="Hiragino Sans"/>
                <a:cs typeface="Hiragino Sans"/>
              </a:rPr>
              <a:t>鉄板運用メソッド 2026年版</a:t>
            </a:r>
          </a:p>
        </p:txBody>
      </p:sp>
      <p:sp>
        <p:nvSpPr>
          <p:cNvPr id="6" name="TextBox 5"/>
          <p:cNvSpPr txBox="1"/>
          <p:nvPr/>
        </p:nvSpPr>
        <p:spPr>
          <a:xfrm>
            <a:off x="1097280" y="3291840"/>
            <a:ext cx="10058400" cy="548640"/>
          </a:xfrm>
          <a:prstGeom prst="rect">
            <a:avLst/>
          </a:prstGeom>
          <a:noFill/>
        </p:spPr>
        <p:txBody>
          <a:bodyPr wrap="square" anchor="t" lIns="0" rIns="0" tIns="0" bIns="0">
            <a:spAutoFit/>
          </a:bodyPr>
          <a:lstStyle/>
          <a:p>
            <a:pPr algn="l">
              <a:lnSpc>
                <a:spcPct val="130000"/>
              </a:lnSpc>
            </a:pPr>
            <a:r>
              <a:rPr sz="1800" b="0">
                <a:solidFill>
                  <a:srgbClr val="D7DDE8"/>
                </a:solidFill>
                <a:latin typeface="Hiragino Sans"/>
                <a:ea typeface="Hiragino Sans"/>
                <a:cs typeface="Hiragino Sans"/>
              </a:rPr>
              <a:t>副業代行で『これだけ押さえれば成果が出る』運用設計</a:t>
            </a:r>
          </a:p>
        </p:txBody>
      </p:sp>
      <p:sp>
        <p:nvSpPr>
          <p:cNvPr id="7" name="Rectangle 6"/>
          <p:cNvSpPr/>
          <p:nvPr/>
        </p:nvSpPr>
        <p:spPr>
          <a:xfrm>
            <a:off x="1097280" y="4114800"/>
            <a:ext cx="914400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97680"/>
            <a:ext cx="10058400" cy="822960"/>
          </a:xfrm>
          <a:prstGeom prst="rect">
            <a:avLst/>
          </a:prstGeom>
          <a:noFill/>
        </p:spPr>
        <p:txBody>
          <a:bodyPr wrap="square" anchor="t" lIns="0" rIns="0" tIns="0" bIns="0">
            <a:spAutoFit/>
          </a:bodyPr>
          <a:lstStyle/>
          <a:p>
            <a:pPr algn="l">
              <a:lnSpc>
                <a:spcPct val="150000"/>
              </a:lnSpc>
            </a:pPr>
            <a:r>
              <a:rPr sz="1300" b="0">
                <a:solidFill>
                  <a:srgbClr val="D7DDE8"/>
                </a:solidFill>
                <a:latin typeface="Hiragino Sans"/>
                <a:ea typeface="Hiragino Sans"/>
                <a:cs typeface="Hiragino Sans"/>
              </a:rPr>
              <a:t>2026年現在のAI運用時代に合わせた鉄板メソッド。</a:t>
            </a:r>
          </a:p>
          <a:p>
            <a:pPr algn="l">
              <a:lnSpc>
                <a:spcPct val="150000"/>
              </a:lnSpc>
            </a:pPr>
            <a:r>
              <a:rPr sz="1300" b="0">
                <a:solidFill>
                  <a:srgbClr val="D7DDE8"/>
                </a:solidFill>
                <a:latin typeface="Hiragino Sans"/>
                <a:ea typeface="Hiragino Sans"/>
                <a:cs typeface="Hiragino Sans"/>
              </a:rPr>
              <a:t>アカウント構造・入札・クリエイティブ・Learning Phase・検証設計・レポート まで一気通貫。</a:t>
            </a:r>
          </a:p>
          <a:p>
            <a:pPr algn="l">
              <a:lnSpc>
                <a:spcPct val="150000"/>
              </a:lnSpc>
            </a:pPr>
            <a:r>
              <a:rPr sz="1300" b="0">
                <a:solidFill>
                  <a:srgbClr val="D7DDE8"/>
                </a:solidFill>
                <a:latin typeface="Hiragino Sans"/>
                <a:ea typeface="Hiragino Sans"/>
                <a:cs typeface="Hiragino Sans"/>
              </a:rPr>
              <a:t>Part 1-5 を踏まえた『総まとめ』として、新規案件で即活用可能</a:t>
            </a:r>
          </a:p>
        </p:txBody>
      </p:sp>
      <p:sp>
        <p:nvSpPr>
          <p:cNvPr id="9" name="TextBox 8"/>
          <p:cNvSpPr txBox="1"/>
          <p:nvPr/>
        </p:nvSpPr>
        <p:spPr>
          <a:xfrm>
            <a:off x="1097280" y="539496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全体俯瞰</a:t>
            </a:r>
          </a:p>
        </p:txBody>
      </p:sp>
      <p:sp>
        <p:nvSpPr>
          <p:cNvPr id="10" name="TextBox 9"/>
          <p:cNvSpPr txBox="1"/>
          <p:nvPr/>
        </p:nvSpPr>
        <p:spPr>
          <a:xfrm>
            <a:off x="4297680" y="539496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アカウント構造 Hub&amp;Spoke</a:t>
            </a:r>
          </a:p>
        </p:txBody>
      </p:sp>
      <p:sp>
        <p:nvSpPr>
          <p:cNvPr id="11" name="TextBox 10"/>
          <p:cNvSpPr txBox="1"/>
          <p:nvPr/>
        </p:nvSpPr>
        <p:spPr>
          <a:xfrm>
            <a:off x="7498080" y="539496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入札戦略選定フロー</a:t>
            </a:r>
          </a:p>
        </p:txBody>
      </p:sp>
      <p:sp>
        <p:nvSpPr>
          <p:cNvPr id="12" name="TextBox 11"/>
          <p:cNvSpPr txBox="1"/>
          <p:nvPr/>
        </p:nvSpPr>
        <p:spPr>
          <a:xfrm>
            <a:off x="1097280" y="576072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クリエイティブ設計</a:t>
            </a:r>
          </a:p>
        </p:txBody>
      </p:sp>
      <p:sp>
        <p:nvSpPr>
          <p:cNvPr id="13" name="TextBox 12"/>
          <p:cNvSpPr txBox="1"/>
          <p:nvPr/>
        </p:nvSpPr>
        <p:spPr>
          <a:xfrm>
            <a:off x="4297680" y="576072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Learning Phase 突破</a:t>
            </a:r>
          </a:p>
        </p:txBody>
      </p:sp>
      <p:sp>
        <p:nvSpPr>
          <p:cNvPr id="14" name="TextBox 13"/>
          <p:cNvSpPr txBox="1"/>
          <p:nvPr/>
        </p:nvSpPr>
        <p:spPr>
          <a:xfrm>
            <a:off x="7498080" y="576072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予算配分フレーム</a:t>
            </a:r>
          </a:p>
        </p:txBody>
      </p:sp>
      <p:sp>
        <p:nvSpPr>
          <p:cNvPr id="15" name="TextBox 14"/>
          <p:cNvSpPr txBox="1"/>
          <p:nvPr/>
        </p:nvSpPr>
        <p:spPr>
          <a:xfrm>
            <a:off x="1097280" y="612648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検証設計</a:t>
            </a:r>
          </a:p>
        </p:txBody>
      </p:sp>
      <p:sp>
        <p:nvSpPr>
          <p:cNvPr id="16" name="TextBox 15"/>
          <p:cNvSpPr txBox="1"/>
          <p:nvPr/>
        </p:nvSpPr>
        <p:spPr>
          <a:xfrm>
            <a:off x="4297680" y="612648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月次レポート標準</a:t>
            </a:r>
          </a:p>
        </p:txBody>
      </p:sp>
      <p:sp>
        <p:nvSpPr>
          <p:cNvPr id="17" name="TextBox 16"/>
          <p:cNvSpPr txBox="1"/>
          <p:nvPr/>
        </p:nvSpPr>
        <p:spPr>
          <a:xfrm>
            <a:off x="7498080" y="612648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クライアント説明スクリプト</a:t>
            </a:r>
          </a:p>
        </p:txBody>
      </p:sp>
      <p:sp>
        <p:nvSpPr>
          <p:cNvPr id="18" name="TextBox 17"/>
          <p:cNvSpPr txBox="1"/>
          <p:nvPr/>
        </p:nvSpPr>
        <p:spPr>
          <a:xfrm>
            <a:off x="1097280" y="649224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案件タイプ別構成</a:t>
            </a:r>
          </a:p>
        </p:txBody>
      </p:sp>
      <p:sp>
        <p:nvSpPr>
          <p:cNvPr id="19" name="TextBox 18"/>
          <p:cNvSpPr txBox="1"/>
          <p:nvPr/>
        </p:nvSpPr>
        <p:spPr>
          <a:xfrm>
            <a:off x="4297680" y="649224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月次運用サイクル</a:t>
            </a:r>
          </a:p>
        </p:txBody>
      </p:sp>
      <p:sp>
        <p:nvSpPr>
          <p:cNvPr id="20" name="TextBox 19"/>
          <p:cNvSpPr txBox="1"/>
          <p:nvPr/>
        </p:nvSpPr>
        <p:spPr>
          <a:xfrm>
            <a:off x="7498080" y="649224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KPI / KGI 設計</a:t>
            </a:r>
          </a:p>
        </p:txBody>
      </p:sp>
      <p:sp>
        <p:nvSpPr>
          <p:cNvPr id="21" name="TextBox 20"/>
          <p:cNvSpPr txBox="1"/>
          <p:nvPr/>
        </p:nvSpPr>
        <p:spPr>
          <a:xfrm>
            <a:off x="1097280" y="685800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料金設計</a:t>
            </a:r>
          </a:p>
        </p:txBody>
      </p:sp>
      <p:sp>
        <p:nvSpPr>
          <p:cNvPr id="22" name="TextBox 21"/>
          <p:cNvSpPr txBox="1"/>
          <p:nvPr/>
        </p:nvSpPr>
        <p:spPr>
          <a:xfrm>
            <a:off x="4297680" y="685800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Part 7 へ橋渡し</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2026 鉄板運用メソッド 全体俯瞰</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5つの柱 + 1つのサイクル</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P207 / 250</a:t>
            </a:r>
          </a:p>
        </p:txBody>
      </p:sp>
      <p:sp>
        <p:nvSpPr>
          <p:cNvPr id="8" name="Rounded Rectangle 7"/>
          <p:cNvSpPr/>
          <p:nvPr/>
        </p:nvSpPr>
        <p:spPr>
          <a:xfrm>
            <a:off x="548640" y="1417320"/>
            <a:ext cx="2221992" cy="242316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2221992"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81912"/>
            <a:ext cx="1947672" cy="365760"/>
          </a:xfrm>
          <a:prstGeom prst="rect">
            <a:avLst/>
          </a:prstGeom>
          <a:noFill/>
        </p:spPr>
        <p:txBody>
          <a:bodyPr wrap="square" anchor="t" lIns="0" rIns="0" tIns="0" bIns="0">
            <a:spAutoFit/>
          </a:bodyPr>
          <a:lstStyle/>
          <a:p>
            <a:pPr algn="ctr">
              <a:lnSpc>
                <a:spcPct val="115000"/>
              </a:lnSpc>
            </a:pPr>
            <a:r>
              <a:rPr sz="1500" b="1">
                <a:solidFill>
                  <a:srgbClr val="E87722"/>
                </a:solidFill>
                <a:latin typeface="Hiragino Sans"/>
                <a:ea typeface="Hiragino Sans"/>
                <a:cs typeface="Hiragino Sans"/>
              </a:rPr>
              <a:t>構造</a:t>
            </a:r>
          </a:p>
        </p:txBody>
      </p:sp>
      <p:sp>
        <p:nvSpPr>
          <p:cNvPr id="11" name="TextBox 10"/>
          <p:cNvSpPr txBox="1"/>
          <p:nvPr/>
        </p:nvSpPr>
        <p:spPr>
          <a:xfrm>
            <a:off x="685800" y="1965960"/>
            <a:ext cx="1947672" cy="274320"/>
          </a:xfrm>
          <a:prstGeom prst="rect">
            <a:avLst/>
          </a:prstGeom>
          <a:noFill/>
        </p:spPr>
        <p:txBody>
          <a:bodyPr wrap="square" anchor="t" lIns="0" rIns="0" tIns="0" bIns="0">
            <a:spAutoFit/>
          </a:bodyPr>
          <a:lstStyle/>
          <a:p>
            <a:pPr algn="ctr">
              <a:lnSpc>
                <a:spcPct val="115000"/>
              </a:lnSpc>
            </a:pPr>
            <a:r>
              <a:rPr sz="900" b="0">
                <a:solidFill>
                  <a:srgbClr val="FFFFFF"/>
                </a:solidFill>
                <a:latin typeface="Hiragino Sans"/>
                <a:ea typeface="Hiragino Sans"/>
                <a:cs typeface="Hiragino Sans"/>
              </a:rPr>
              <a:t>Hub &amp; Spoke + AIに任せる</a:t>
            </a:r>
          </a:p>
        </p:txBody>
      </p:sp>
      <p:sp>
        <p:nvSpPr>
          <p:cNvPr id="12" name="TextBox 11"/>
          <p:cNvSpPr txBox="1"/>
          <p:nvPr/>
        </p:nvSpPr>
        <p:spPr>
          <a:xfrm>
            <a:off x="685800" y="2377440"/>
            <a:ext cx="1947672" cy="1371600"/>
          </a:xfrm>
          <a:prstGeom prst="rect">
            <a:avLst/>
          </a:prstGeom>
          <a:noFill/>
        </p:spPr>
        <p:txBody>
          <a:bodyPr wrap="square" anchor="t" lIns="0" rIns="0" tIns="0" bIns="0">
            <a:spAutoFit/>
          </a:bodyPr>
          <a:lstStyle/>
          <a:p>
            <a:pPr algn="ctr">
              <a:lnSpc>
                <a:spcPct val="155000"/>
              </a:lnSpc>
            </a:pPr>
            <a:r>
              <a:rPr sz="1000" b="0">
                <a:solidFill>
                  <a:srgbClr val="1A1A1A"/>
                </a:solidFill>
                <a:latin typeface="Hiragino Sans"/>
                <a:ea typeface="Hiragino Sans"/>
                <a:cs typeface="Hiragino Sans"/>
              </a:rPr>
              <a:t>PMax / Advantage+ / Smart+ 中心</a:t>
            </a:r>
          </a:p>
          <a:p>
            <a:pPr algn="ctr">
              <a:lnSpc>
                <a:spcPct val="155000"/>
              </a:lnSpc>
            </a:pPr>
            <a:r>
              <a:rPr sz="1000" b="0">
                <a:solidFill>
                  <a:srgbClr val="1A1A1A"/>
                </a:solidFill>
                <a:latin typeface="Hiragino Sans"/>
                <a:ea typeface="Hiragino Sans"/>
                <a:cs typeface="Hiragino Sans"/>
              </a:rPr>
              <a:t>2-3 ad set + AIで完全自動化</a:t>
            </a:r>
          </a:p>
        </p:txBody>
      </p:sp>
      <p:sp>
        <p:nvSpPr>
          <p:cNvPr id="13" name="Rounded Rectangle 12"/>
          <p:cNvSpPr/>
          <p:nvPr/>
        </p:nvSpPr>
        <p:spPr>
          <a:xfrm>
            <a:off x="2816352" y="1417320"/>
            <a:ext cx="2221992" cy="242316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816352" y="1417320"/>
            <a:ext cx="2221992"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53512" y="1581912"/>
            <a:ext cx="1947672" cy="365760"/>
          </a:xfrm>
          <a:prstGeom prst="rect">
            <a:avLst/>
          </a:prstGeom>
          <a:noFill/>
        </p:spPr>
        <p:txBody>
          <a:bodyPr wrap="square" anchor="t" lIns="0" rIns="0" tIns="0" bIns="0">
            <a:spAutoFit/>
          </a:bodyPr>
          <a:lstStyle/>
          <a:p>
            <a:pPr algn="ctr">
              <a:lnSpc>
                <a:spcPct val="115000"/>
              </a:lnSpc>
            </a:pPr>
            <a:r>
              <a:rPr sz="1500" b="1">
                <a:solidFill>
                  <a:srgbClr val="E87722"/>
                </a:solidFill>
                <a:latin typeface="Hiragino Sans"/>
                <a:ea typeface="Hiragino Sans"/>
                <a:cs typeface="Hiragino Sans"/>
              </a:rPr>
              <a:t>計測</a:t>
            </a:r>
          </a:p>
        </p:txBody>
      </p:sp>
      <p:sp>
        <p:nvSpPr>
          <p:cNvPr id="16" name="TextBox 15"/>
          <p:cNvSpPr txBox="1"/>
          <p:nvPr/>
        </p:nvSpPr>
        <p:spPr>
          <a:xfrm>
            <a:off x="2953512" y="1965960"/>
            <a:ext cx="1947672" cy="274320"/>
          </a:xfrm>
          <a:prstGeom prst="rect">
            <a:avLst/>
          </a:prstGeom>
          <a:noFill/>
        </p:spPr>
        <p:txBody>
          <a:bodyPr wrap="square" anchor="t" lIns="0" rIns="0" tIns="0" bIns="0">
            <a:spAutoFit/>
          </a:bodyPr>
          <a:lstStyle/>
          <a:p>
            <a:pPr algn="ctr">
              <a:lnSpc>
                <a:spcPct val="115000"/>
              </a:lnSpc>
            </a:pPr>
            <a:r>
              <a:rPr sz="900" b="0">
                <a:solidFill>
                  <a:srgbClr val="FFFFFF"/>
                </a:solidFill>
                <a:latin typeface="Hiragino Sans"/>
                <a:ea typeface="Hiragino Sans"/>
                <a:cs typeface="Hiragino Sans"/>
              </a:rPr>
              <a:t>1PD + CAPI + DDA</a:t>
            </a:r>
          </a:p>
        </p:txBody>
      </p:sp>
      <p:sp>
        <p:nvSpPr>
          <p:cNvPr id="17" name="TextBox 16"/>
          <p:cNvSpPr txBox="1"/>
          <p:nvPr/>
        </p:nvSpPr>
        <p:spPr>
          <a:xfrm>
            <a:off x="2953512" y="2377440"/>
            <a:ext cx="1947672" cy="1371600"/>
          </a:xfrm>
          <a:prstGeom prst="rect">
            <a:avLst/>
          </a:prstGeom>
          <a:noFill/>
        </p:spPr>
        <p:txBody>
          <a:bodyPr wrap="square" anchor="t" lIns="0" rIns="0" tIns="0" bIns="0">
            <a:spAutoFit/>
          </a:bodyPr>
          <a:lstStyle/>
          <a:p>
            <a:pPr algn="ctr">
              <a:lnSpc>
                <a:spcPct val="155000"/>
              </a:lnSpc>
            </a:pPr>
            <a:r>
              <a:rPr sz="1000" b="0">
                <a:solidFill>
                  <a:srgbClr val="1A1A1A"/>
                </a:solidFill>
                <a:latin typeface="Hiragino Sans"/>
                <a:ea typeface="Hiragino Sans"/>
                <a:cs typeface="Hiragino Sans"/>
              </a:rPr>
              <a:t>Customer Match / Enhanced Conv</a:t>
            </a:r>
          </a:p>
          <a:p>
            <a:pPr algn="ctr">
              <a:lnSpc>
                <a:spcPct val="155000"/>
              </a:lnSpc>
            </a:pPr>
            <a:r>
              <a:rPr sz="1000" b="0">
                <a:solidFill>
                  <a:srgbClr val="1A1A1A"/>
                </a:solidFill>
                <a:latin typeface="Hiragino Sans"/>
                <a:ea typeface="Hiragino Sans"/>
                <a:cs typeface="Hiragino Sans"/>
              </a:rPr>
              <a:t>SGTM + Conversion API</a:t>
            </a:r>
          </a:p>
        </p:txBody>
      </p:sp>
      <p:sp>
        <p:nvSpPr>
          <p:cNvPr id="18" name="Rounded Rectangle 17"/>
          <p:cNvSpPr/>
          <p:nvPr/>
        </p:nvSpPr>
        <p:spPr>
          <a:xfrm>
            <a:off x="5084064" y="1417320"/>
            <a:ext cx="2221992" cy="242316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84064" y="1417320"/>
            <a:ext cx="2221992"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221224" y="1581912"/>
            <a:ext cx="1947672" cy="365760"/>
          </a:xfrm>
          <a:prstGeom prst="rect">
            <a:avLst/>
          </a:prstGeom>
          <a:noFill/>
        </p:spPr>
        <p:txBody>
          <a:bodyPr wrap="square" anchor="t" lIns="0" rIns="0" tIns="0" bIns="0">
            <a:spAutoFit/>
          </a:bodyPr>
          <a:lstStyle/>
          <a:p>
            <a:pPr algn="ctr">
              <a:lnSpc>
                <a:spcPct val="115000"/>
              </a:lnSpc>
            </a:pPr>
            <a:r>
              <a:rPr sz="1500" b="1">
                <a:solidFill>
                  <a:srgbClr val="E87722"/>
                </a:solidFill>
                <a:latin typeface="Hiragino Sans"/>
                <a:ea typeface="Hiragino Sans"/>
                <a:cs typeface="Hiragino Sans"/>
              </a:rPr>
              <a:t>素材</a:t>
            </a:r>
          </a:p>
        </p:txBody>
      </p:sp>
      <p:sp>
        <p:nvSpPr>
          <p:cNvPr id="21" name="TextBox 20"/>
          <p:cNvSpPr txBox="1"/>
          <p:nvPr/>
        </p:nvSpPr>
        <p:spPr>
          <a:xfrm>
            <a:off x="5221224" y="1965960"/>
            <a:ext cx="1947672" cy="274320"/>
          </a:xfrm>
          <a:prstGeom prst="rect">
            <a:avLst/>
          </a:prstGeom>
          <a:noFill/>
        </p:spPr>
        <p:txBody>
          <a:bodyPr wrap="square" anchor="t" lIns="0" rIns="0" tIns="0" bIns="0">
            <a:spAutoFit/>
          </a:bodyPr>
          <a:lstStyle/>
          <a:p>
            <a:pPr algn="ctr">
              <a:lnSpc>
                <a:spcPct val="115000"/>
              </a:lnSpc>
            </a:pPr>
            <a:r>
              <a:rPr sz="900" b="0">
                <a:solidFill>
                  <a:srgbClr val="FFFFFF"/>
                </a:solidFill>
                <a:latin typeface="Hiragino Sans"/>
                <a:ea typeface="Hiragino Sans"/>
                <a:cs typeface="Hiragino Sans"/>
              </a:rPr>
              <a:t>AI生成 + 媒体ネイティブ</a:t>
            </a:r>
          </a:p>
        </p:txBody>
      </p:sp>
      <p:sp>
        <p:nvSpPr>
          <p:cNvPr id="22" name="TextBox 21"/>
          <p:cNvSpPr txBox="1"/>
          <p:nvPr/>
        </p:nvSpPr>
        <p:spPr>
          <a:xfrm>
            <a:off x="5221224" y="2377440"/>
            <a:ext cx="1947672" cy="1371600"/>
          </a:xfrm>
          <a:prstGeom prst="rect">
            <a:avLst/>
          </a:prstGeom>
          <a:noFill/>
        </p:spPr>
        <p:txBody>
          <a:bodyPr wrap="square" anchor="t" lIns="0" rIns="0" tIns="0" bIns="0">
            <a:spAutoFit/>
          </a:bodyPr>
          <a:lstStyle/>
          <a:p>
            <a:pPr algn="ctr">
              <a:lnSpc>
                <a:spcPct val="155000"/>
              </a:lnSpc>
            </a:pPr>
            <a:r>
              <a:rPr sz="1000" b="0">
                <a:solidFill>
                  <a:srgbClr val="1A1A1A"/>
                </a:solidFill>
                <a:latin typeface="Hiragino Sans"/>
                <a:ea typeface="Hiragino Sans"/>
                <a:cs typeface="Hiragino Sans"/>
              </a:rPr>
              <a:t>Midjourney/Sora で量産 +</a:t>
            </a:r>
          </a:p>
          <a:p>
            <a:pPr algn="ctr">
              <a:lnSpc>
                <a:spcPct val="155000"/>
              </a:lnSpc>
            </a:pPr>
            <a:r>
              <a:rPr sz="1000" b="0">
                <a:solidFill>
                  <a:srgbClr val="1A1A1A"/>
                </a:solidFill>
                <a:latin typeface="Hiragino Sans"/>
                <a:ea typeface="Hiragino Sans"/>
                <a:cs typeface="Hiragino Sans"/>
              </a:rPr>
              <a:t>Advantage+ Creative で拡張</a:t>
            </a:r>
          </a:p>
        </p:txBody>
      </p:sp>
      <p:sp>
        <p:nvSpPr>
          <p:cNvPr id="23" name="Rounded Rectangle 22"/>
          <p:cNvSpPr/>
          <p:nvPr/>
        </p:nvSpPr>
        <p:spPr>
          <a:xfrm>
            <a:off x="7351776" y="1417320"/>
            <a:ext cx="2221992" cy="242316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51776" y="1417320"/>
            <a:ext cx="2221992"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88936" y="1581912"/>
            <a:ext cx="1947672" cy="365760"/>
          </a:xfrm>
          <a:prstGeom prst="rect">
            <a:avLst/>
          </a:prstGeom>
          <a:noFill/>
        </p:spPr>
        <p:txBody>
          <a:bodyPr wrap="square" anchor="t" lIns="0" rIns="0" tIns="0" bIns="0">
            <a:spAutoFit/>
          </a:bodyPr>
          <a:lstStyle/>
          <a:p>
            <a:pPr algn="ctr">
              <a:lnSpc>
                <a:spcPct val="115000"/>
              </a:lnSpc>
            </a:pPr>
            <a:r>
              <a:rPr sz="1500" b="1">
                <a:solidFill>
                  <a:srgbClr val="E87722"/>
                </a:solidFill>
                <a:latin typeface="Hiragino Sans"/>
                <a:ea typeface="Hiragino Sans"/>
                <a:cs typeface="Hiragino Sans"/>
              </a:rPr>
              <a:t>検証</a:t>
            </a:r>
          </a:p>
        </p:txBody>
      </p:sp>
      <p:sp>
        <p:nvSpPr>
          <p:cNvPr id="26" name="TextBox 25"/>
          <p:cNvSpPr txBox="1"/>
          <p:nvPr/>
        </p:nvSpPr>
        <p:spPr>
          <a:xfrm>
            <a:off x="7488936" y="1965960"/>
            <a:ext cx="1947672" cy="274320"/>
          </a:xfrm>
          <a:prstGeom prst="rect">
            <a:avLst/>
          </a:prstGeom>
          <a:noFill/>
        </p:spPr>
        <p:txBody>
          <a:bodyPr wrap="square" anchor="t" lIns="0" rIns="0" tIns="0" bIns="0">
            <a:spAutoFit/>
          </a:bodyPr>
          <a:lstStyle/>
          <a:p>
            <a:pPr algn="ctr">
              <a:lnSpc>
                <a:spcPct val="115000"/>
              </a:lnSpc>
            </a:pPr>
            <a:r>
              <a:rPr sz="900" b="0">
                <a:solidFill>
                  <a:srgbClr val="FFFFFF"/>
                </a:solidFill>
                <a:latin typeface="Hiragino Sans"/>
                <a:ea typeface="Hiragino Sans"/>
                <a:cs typeface="Hiragino Sans"/>
              </a:rPr>
              <a:t>Lift Test + DDA</a:t>
            </a:r>
          </a:p>
        </p:txBody>
      </p:sp>
      <p:sp>
        <p:nvSpPr>
          <p:cNvPr id="27" name="TextBox 26"/>
          <p:cNvSpPr txBox="1"/>
          <p:nvPr/>
        </p:nvSpPr>
        <p:spPr>
          <a:xfrm>
            <a:off x="7488936" y="2377440"/>
            <a:ext cx="1947672" cy="1371600"/>
          </a:xfrm>
          <a:prstGeom prst="rect">
            <a:avLst/>
          </a:prstGeom>
          <a:noFill/>
        </p:spPr>
        <p:txBody>
          <a:bodyPr wrap="square" anchor="t" lIns="0" rIns="0" tIns="0" bIns="0">
            <a:spAutoFit/>
          </a:bodyPr>
          <a:lstStyle/>
          <a:p>
            <a:pPr algn="ctr">
              <a:lnSpc>
                <a:spcPct val="155000"/>
              </a:lnSpc>
            </a:pPr>
            <a:r>
              <a:rPr sz="1000" b="0">
                <a:solidFill>
                  <a:srgbClr val="1A1A1A"/>
                </a:solidFill>
                <a:latin typeface="Hiragino Sans"/>
                <a:ea typeface="Hiragino Sans"/>
                <a:cs typeface="Hiragino Sans"/>
              </a:rPr>
              <a:t>Conversion/Brand Lift で</a:t>
            </a:r>
          </a:p>
          <a:p>
            <a:pPr algn="ctr">
              <a:lnSpc>
                <a:spcPct val="155000"/>
              </a:lnSpc>
            </a:pPr>
            <a:r>
              <a:rPr sz="1000" b="0">
                <a:solidFill>
                  <a:srgbClr val="1A1A1A"/>
                </a:solidFill>
                <a:latin typeface="Hiragino Sans"/>
                <a:ea typeface="Hiragino Sans"/>
                <a:cs typeface="Hiragino Sans"/>
              </a:rPr>
              <a:t>Incremental ROAS 測定</a:t>
            </a:r>
          </a:p>
        </p:txBody>
      </p:sp>
      <p:sp>
        <p:nvSpPr>
          <p:cNvPr id="28" name="Rounded Rectangle 27"/>
          <p:cNvSpPr/>
          <p:nvPr/>
        </p:nvSpPr>
        <p:spPr>
          <a:xfrm>
            <a:off x="9619488" y="1417320"/>
            <a:ext cx="2221992" cy="242316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619488" y="1417320"/>
            <a:ext cx="2221992"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56648" y="1581912"/>
            <a:ext cx="1947672" cy="365760"/>
          </a:xfrm>
          <a:prstGeom prst="rect">
            <a:avLst/>
          </a:prstGeom>
          <a:noFill/>
        </p:spPr>
        <p:txBody>
          <a:bodyPr wrap="square" anchor="t" lIns="0" rIns="0" tIns="0" bIns="0">
            <a:spAutoFit/>
          </a:bodyPr>
          <a:lstStyle/>
          <a:p>
            <a:pPr algn="ctr">
              <a:lnSpc>
                <a:spcPct val="115000"/>
              </a:lnSpc>
            </a:pPr>
            <a:r>
              <a:rPr sz="1500" b="1">
                <a:solidFill>
                  <a:srgbClr val="E87722"/>
                </a:solidFill>
                <a:latin typeface="Hiragino Sans"/>
                <a:ea typeface="Hiragino Sans"/>
                <a:cs typeface="Hiragino Sans"/>
              </a:rPr>
              <a:t>オペレーション</a:t>
            </a:r>
          </a:p>
        </p:txBody>
      </p:sp>
      <p:sp>
        <p:nvSpPr>
          <p:cNvPr id="31" name="TextBox 30"/>
          <p:cNvSpPr txBox="1"/>
          <p:nvPr/>
        </p:nvSpPr>
        <p:spPr>
          <a:xfrm>
            <a:off x="9756648" y="1965960"/>
            <a:ext cx="1947672" cy="274320"/>
          </a:xfrm>
          <a:prstGeom prst="rect">
            <a:avLst/>
          </a:prstGeom>
          <a:noFill/>
        </p:spPr>
        <p:txBody>
          <a:bodyPr wrap="square" anchor="t" lIns="0" rIns="0" tIns="0" bIns="0">
            <a:spAutoFit/>
          </a:bodyPr>
          <a:lstStyle/>
          <a:p>
            <a:pPr algn="ctr">
              <a:lnSpc>
                <a:spcPct val="115000"/>
              </a:lnSpc>
            </a:pPr>
            <a:r>
              <a:rPr sz="900" b="0">
                <a:solidFill>
                  <a:srgbClr val="FFFFFF"/>
                </a:solidFill>
                <a:latin typeface="Hiragino Sans"/>
                <a:ea typeface="Hiragino Sans"/>
                <a:cs typeface="Hiragino Sans"/>
              </a:rPr>
              <a:t>AI Agent + プロンプト</a:t>
            </a:r>
          </a:p>
        </p:txBody>
      </p:sp>
      <p:sp>
        <p:nvSpPr>
          <p:cNvPr id="32" name="TextBox 31"/>
          <p:cNvSpPr txBox="1"/>
          <p:nvPr/>
        </p:nvSpPr>
        <p:spPr>
          <a:xfrm>
            <a:off x="9756648" y="2377440"/>
            <a:ext cx="1947672" cy="1371600"/>
          </a:xfrm>
          <a:prstGeom prst="rect">
            <a:avLst/>
          </a:prstGeom>
          <a:noFill/>
        </p:spPr>
        <p:txBody>
          <a:bodyPr wrap="square" anchor="t" lIns="0" rIns="0" tIns="0" bIns="0">
            <a:spAutoFit/>
          </a:bodyPr>
          <a:lstStyle/>
          <a:p>
            <a:pPr algn="ctr">
              <a:lnSpc>
                <a:spcPct val="155000"/>
              </a:lnSpc>
            </a:pPr>
            <a:r>
              <a:rPr sz="1000" b="0">
                <a:solidFill>
                  <a:srgbClr val="1A1A1A"/>
                </a:solidFill>
                <a:latin typeface="Hiragino Sans"/>
                <a:ea typeface="Hiragino Sans"/>
                <a:cs typeface="Hiragino Sans"/>
              </a:rPr>
              <a:t>Claude/Operator で工数削減</a:t>
            </a:r>
          </a:p>
          <a:p>
            <a:pPr algn="ctr">
              <a:lnSpc>
                <a:spcPct val="155000"/>
              </a:lnSpc>
            </a:pPr>
            <a:r>
              <a:rPr sz="1000" b="0">
                <a:solidFill>
                  <a:srgbClr val="1A1A1A"/>
                </a:solidFill>
                <a:latin typeface="Hiragino Sans"/>
                <a:ea typeface="Hiragino Sans"/>
                <a:cs typeface="Hiragino Sans"/>
              </a:rPr>
              <a:t>レポートも AI 自動化</a:t>
            </a:r>
          </a:p>
        </p:txBody>
      </p:sp>
      <p:sp>
        <p:nvSpPr>
          <p:cNvPr id="33" name="Rounded Rectangle 32"/>
          <p:cNvSpPr/>
          <p:nvPr/>
        </p:nvSpPr>
        <p:spPr>
          <a:xfrm>
            <a:off x="548640" y="4023360"/>
            <a:ext cx="11109960" cy="233172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77240" y="4160520"/>
            <a:ext cx="100584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 1ヶ月の運用サイクル</a:t>
            </a:r>
          </a:p>
        </p:txBody>
      </p:sp>
      <p:sp>
        <p:nvSpPr>
          <p:cNvPr id="35" name="TextBox 34"/>
          <p:cNvSpPr txBox="1"/>
          <p:nvPr/>
        </p:nvSpPr>
        <p:spPr>
          <a:xfrm>
            <a:off x="777240" y="4526280"/>
            <a:ext cx="10972800" cy="182880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Day 0-7  : 計測整備 + キャンペーン構造設計 + Audience Signal投入</a:t>
            </a:r>
          </a:p>
          <a:p>
            <a:pPr algn="l">
              <a:lnSpc>
                <a:spcPct val="160000"/>
              </a:lnSpc>
            </a:pPr>
            <a:r>
              <a:rPr sz="1100" b="0">
                <a:solidFill>
                  <a:srgbClr val="1A1A1A"/>
                </a:solidFill>
                <a:latin typeface="Hiragino Sans"/>
                <a:ea typeface="Hiragino Sans"/>
                <a:cs typeface="Hiragino Sans"/>
              </a:rPr>
              <a:t>Day 8-21 : Learning Phase 突破 (予算 ±20% 安定運用 + 素材追加)</a:t>
            </a:r>
          </a:p>
          <a:p>
            <a:pPr algn="l">
              <a:lnSpc>
                <a:spcPct val="160000"/>
              </a:lnSpc>
            </a:pPr>
            <a:r>
              <a:rPr sz="1100" b="0">
                <a:solidFill>
                  <a:srgbClr val="1A1A1A"/>
                </a:solidFill>
                <a:latin typeface="Hiragino Sans"/>
                <a:ea typeface="Hiragino Sans"/>
                <a:cs typeface="Hiragino Sans"/>
              </a:rPr>
              <a:t>Day 22-30: Lift Test 検証 + Optiscore適用 + 月次レポート + 次月提案</a:t>
            </a:r>
          </a:p>
          <a:p>
            <a:pPr algn="l">
              <a:lnSpc>
                <a:spcPct val="160000"/>
              </a:lnSpc>
            </a:pPr>
            <a:r>
              <a:rPr sz="1100" b="0">
                <a:solidFill>
                  <a:srgbClr val="1A1A1A"/>
                </a:solidFill>
                <a:latin typeface="Hiragino Sans"/>
                <a:ea typeface="Hiragino Sans"/>
                <a:cs typeface="Hiragino Sans"/>
              </a:rPr>
              <a:t/>
            </a:r>
          </a:p>
          <a:p>
            <a:pPr algn="l">
              <a:lnSpc>
                <a:spcPct val="160000"/>
              </a:lnSpc>
            </a:pPr>
            <a:r>
              <a:rPr sz="1100" b="0">
                <a:solidFill>
                  <a:srgbClr val="1A1A1A"/>
                </a:solidFill>
                <a:latin typeface="Hiragino Sans"/>
                <a:ea typeface="Hiragino Sans"/>
                <a:cs typeface="Hiragino Sans"/>
              </a:rPr>
              <a:t>翌月以降 : 月次サイクル継続。Lift結果 × Negative KW × クリエイティブ更新</a:t>
            </a:r>
          </a:p>
          <a:p>
            <a:pPr algn="l">
              <a:lnSpc>
                <a:spcPct val="160000"/>
              </a:lnSpc>
            </a:pPr>
            <a:r>
              <a:rPr sz="1100" b="0">
                <a:solidFill>
                  <a:srgbClr val="1A1A1A"/>
                </a:solidFill>
                <a:latin typeface="Hiragino Sans"/>
                <a:ea typeface="Hiragino Sans"/>
                <a:cs typeface="Hiragino Sans"/>
              </a:rPr>
              <a:t>副業代行 : 1サイクル = 1案件あたり1人月で、AI駆使すれば月10-20案件並行可能</a:t>
            </a:r>
          </a:p>
        </p:txBody>
      </p:sp>
      <p:sp>
        <p:nvSpPr>
          <p:cNvPr id="36" name="TextBox 35"/>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アカウント構造 : Hub &amp; Spoke</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PMax/Advantage+/Smart+ 中心の現代型</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P208 / 250</a:t>
            </a:r>
          </a:p>
        </p:txBody>
      </p:sp>
      <p:sp>
        <p:nvSpPr>
          <p:cNvPr id="8" name="Rounded Rectangle 7"/>
          <p:cNvSpPr/>
          <p:nvPr/>
        </p:nvSpPr>
        <p:spPr>
          <a:xfrm>
            <a:off x="4718304" y="2514600"/>
            <a:ext cx="2743200" cy="1371600"/>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18304" y="2651760"/>
            <a:ext cx="2743200" cy="365760"/>
          </a:xfrm>
          <a:prstGeom prst="rect">
            <a:avLst/>
          </a:prstGeom>
          <a:noFill/>
        </p:spPr>
        <p:txBody>
          <a:bodyPr wrap="square" anchor="t" lIns="0" rIns="0" tIns="0" bIns="0">
            <a:spAutoFit/>
          </a:bodyPr>
          <a:lstStyle/>
          <a:p>
            <a:pPr algn="ctr">
              <a:lnSpc>
                <a:spcPct val="115000"/>
              </a:lnSpc>
            </a:pPr>
            <a:r>
              <a:rPr sz="1800" b="1">
                <a:solidFill>
                  <a:srgbClr val="FFFFFF"/>
                </a:solidFill>
                <a:latin typeface="Hiragino Sans"/>
                <a:ea typeface="Hiragino Sans"/>
                <a:cs typeface="Hiragino Sans"/>
              </a:rPr>
              <a:t>AI配信</a:t>
            </a:r>
          </a:p>
        </p:txBody>
      </p:sp>
      <p:sp>
        <p:nvSpPr>
          <p:cNvPr id="10" name="TextBox 9"/>
          <p:cNvSpPr txBox="1"/>
          <p:nvPr/>
        </p:nvSpPr>
        <p:spPr>
          <a:xfrm>
            <a:off x="4718304" y="3017520"/>
            <a:ext cx="2743200" cy="274320"/>
          </a:xfrm>
          <a:prstGeom prst="rect">
            <a:avLst/>
          </a:prstGeom>
          <a:noFill/>
        </p:spPr>
        <p:txBody>
          <a:bodyPr wrap="square" anchor="t" lIns="0" rIns="0" tIns="0" bIns="0">
            <a:spAutoFit/>
          </a:bodyPr>
          <a:lstStyle/>
          <a:p>
            <a:pPr algn="ctr">
              <a:lnSpc>
                <a:spcPct val="115000"/>
              </a:lnSpc>
            </a:pPr>
            <a:r>
              <a:rPr sz="1100" b="0">
                <a:solidFill>
                  <a:srgbClr val="FFFFFF"/>
                </a:solidFill>
                <a:latin typeface="Hiragino Sans"/>
                <a:ea typeface="Hiragino Sans"/>
                <a:cs typeface="Hiragino Sans"/>
              </a:rPr>
              <a:t>(Hub)</a:t>
            </a:r>
          </a:p>
        </p:txBody>
      </p:sp>
      <p:sp>
        <p:nvSpPr>
          <p:cNvPr id="11" name="Rounded Rectangle 10"/>
          <p:cNvSpPr/>
          <p:nvPr/>
        </p:nvSpPr>
        <p:spPr>
          <a:xfrm>
            <a:off x="1463040" y="1371600"/>
            <a:ext cx="1554480" cy="109728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463040" y="1508760"/>
            <a:ext cx="1554480" cy="365760"/>
          </a:xfrm>
          <a:prstGeom prst="rect">
            <a:avLst/>
          </a:prstGeom>
          <a:noFill/>
        </p:spPr>
        <p:txBody>
          <a:bodyPr wrap="square" anchor="t" lIns="0" rIns="0" tIns="0" bIns="0">
            <a:spAutoFit/>
          </a:bodyPr>
          <a:lstStyle/>
          <a:p>
            <a:pPr algn="ctr">
              <a:lnSpc>
                <a:spcPct val="115000"/>
              </a:lnSpc>
            </a:pPr>
            <a:r>
              <a:rPr sz="1200" b="1">
                <a:solidFill>
                  <a:srgbClr val="E87722"/>
                </a:solidFill>
                <a:latin typeface="Hiragino Sans"/>
                <a:ea typeface="Hiragino Sans"/>
                <a:cs typeface="Hiragino Sans"/>
              </a:rPr>
              <a:t>検索広告</a:t>
            </a:r>
          </a:p>
        </p:txBody>
      </p:sp>
      <p:sp>
        <p:nvSpPr>
          <p:cNvPr id="13" name="TextBox 12"/>
          <p:cNvSpPr txBox="1"/>
          <p:nvPr/>
        </p:nvSpPr>
        <p:spPr>
          <a:xfrm>
            <a:off x="1463040" y="1920240"/>
            <a:ext cx="1554480" cy="502920"/>
          </a:xfrm>
          <a:prstGeom prst="rect">
            <a:avLst/>
          </a:prstGeom>
          <a:noFill/>
        </p:spPr>
        <p:txBody>
          <a:bodyPr wrap="square" anchor="t" lIns="0" rIns="0" tIns="0" bIns="0">
            <a:spAutoFit/>
          </a:bodyPr>
          <a:lstStyle/>
          <a:p>
            <a:pPr algn="ctr">
              <a:lnSpc>
                <a:spcPct val="140000"/>
              </a:lnSpc>
            </a:pPr>
            <a:r>
              <a:rPr sz="900" b="0">
                <a:solidFill>
                  <a:srgbClr val="FFFFFF"/>
                </a:solidFill>
                <a:latin typeface="Hiragino Sans"/>
                <a:ea typeface="Hiragino Sans"/>
                <a:cs typeface="Hiragino Sans"/>
              </a:rPr>
              <a:t>Broad Match</a:t>
            </a:r>
          </a:p>
          <a:p>
            <a:pPr algn="ctr">
              <a:lnSpc>
                <a:spcPct val="140000"/>
              </a:lnSpc>
            </a:pPr>
            <a:r>
              <a:rPr sz="900" b="0">
                <a:solidFill>
                  <a:srgbClr val="FFFFFF"/>
                </a:solidFill>
                <a:latin typeface="Hiragino Sans"/>
                <a:ea typeface="Hiragino Sans"/>
                <a:cs typeface="Hiragino Sans"/>
              </a:rPr>
              <a:t>+ AI Max</a:t>
            </a:r>
          </a:p>
        </p:txBody>
      </p:sp>
      <p:sp>
        <p:nvSpPr>
          <p:cNvPr id="14" name="Rounded Rectangle 13"/>
          <p:cNvSpPr/>
          <p:nvPr/>
        </p:nvSpPr>
        <p:spPr>
          <a:xfrm>
            <a:off x="9692640" y="1371600"/>
            <a:ext cx="1554480" cy="109728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0" y="1508760"/>
            <a:ext cx="1554480" cy="365760"/>
          </a:xfrm>
          <a:prstGeom prst="rect">
            <a:avLst/>
          </a:prstGeom>
          <a:noFill/>
        </p:spPr>
        <p:txBody>
          <a:bodyPr wrap="square" anchor="t" lIns="0" rIns="0" tIns="0" bIns="0">
            <a:spAutoFit/>
          </a:bodyPr>
          <a:lstStyle/>
          <a:p>
            <a:pPr algn="ctr">
              <a:lnSpc>
                <a:spcPct val="115000"/>
              </a:lnSpc>
            </a:pPr>
            <a:r>
              <a:rPr sz="1200" b="1">
                <a:solidFill>
                  <a:srgbClr val="E87722"/>
                </a:solidFill>
                <a:latin typeface="Hiragino Sans"/>
                <a:ea typeface="Hiragino Sans"/>
                <a:cs typeface="Hiragino Sans"/>
              </a:rPr>
              <a:t>PMax / Advantage+</a:t>
            </a:r>
          </a:p>
        </p:txBody>
      </p:sp>
      <p:sp>
        <p:nvSpPr>
          <p:cNvPr id="16" name="TextBox 15"/>
          <p:cNvSpPr txBox="1"/>
          <p:nvPr/>
        </p:nvSpPr>
        <p:spPr>
          <a:xfrm>
            <a:off x="9692640" y="1920240"/>
            <a:ext cx="1554480" cy="502920"/>
          </a:xfrm>
          <a:prstGeom prst="rect">
            <a:avLst/>
          </a:prstGeom>
          <a:noFill/>
        </p:spPr>
        <p:txBody>
          <a:bodyPr wrap="square" anchor="t" lIns="0" rIns="0" tIns="0" bIns="0">
            <a:spAutoFit/>
          </a:bodyPr>
          <a:lstStyle/>
          <a:p>
            <a:pPr algn="ctr">
              <a:lnSpc>
                <a:spcPct val="140000"/>
              </a:lnSpc>
            </a:pPr>
            <a:r>
              <a:rPr sz="900" b="0">
                <a:solidFill>
                  <a:srgbClr val="FFFFFF"/>
                </a:solidFill>
                <a:latin typeface="Hiragino Sans"/>
                <a:ea typeface="Hiragino Sans"/>
                <a:cs typeface="Hiragino Sans"/>
              </a:rPr>
              <a:t>全媒体在庫</a:t>
            </a:r>
          </a:p>
          <a:p>
            <a:pPr algn="ctr">
              <a:lnSpc>
                <a:spcPct val="140000"/>
              </a:lnSpc>
            </a:pPr>
            <a:r>
              <a:rPr sz="900" b="0">
                <a:solidFill>
                  <a:srgbClr val="FFFFFF"/>
                </a:solidFill>
                <a:latin typeface="Hiragino Sans"/>
                <a:ea typeface="Hiragino Sans"/>
                <a:cs typeface="Hiragino Sans"/>
              </a:rPr>
              <a:t>統合配信</a:t>
            </a:r>
          </a:p>
        </p:txBody>
      </p:sp>
      <p:sp>
        <p:nvSpPr>
          <p:cNvPr id="17" name="Rounded Rectangle 16"/>
          <p:cNvSpPr/>
          <p:nvPr/>
        </p:nvSpPr>
        <p:spPr>
          <a:xfrm>
            <a:off x="1463040" y="4572000"/>
            <a:ext cx="1554480" cy="109728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463040" y="4709160"/>
            <a:ext cx="1554480" cy="365760"/>
          </a:xfrm>
          <a:prstGeom prst="rect">
            <a:avLst/>
          </a:prstGeom>
          <a:noFill/>
        </p:spPr>
        <p:txBody>
          <a:bodyPr wrap="square" anchor="t" lIns="0" rIns="0" tIns="0" bIns="0">
            <a:spAutoFit/>
          </a:bodyPr>
          <a:lstStyle/>
          <a:p>
            <a:pPr algn="ctr">
              <a:lnSpc>
                <a:spcPct val="115000"/>
              </a:lnSpc>
            </a:pPr>
            <a:r>
              <a:rPr sz="1200" b="1">
                <a:solidFill>
                  <a:srgbClr val="E87722"/>
                </a:solidFill>
                <a:latin typeface="Hiragino Sans"/>
                <a:ea typeface="Hiragino Sans"/>
                <a:cs typeface="Hiragino Sans"/>
              </a:rPr>
              <a:t>Demand Gen</a:t>
            </a:r>
          </a:p>
        </p:txBody>
      </p:sp>
      <p:sp>
        <p:nvSpPr>
          <p:cNvPr id="19" name="TextBox 18"/>
          <p:cNvSpPr txBox="1"/>
          <p:nvPr/>
        </p:nvSpPr>
        <p:spPr>
          <a:xfrm>
            <a:off x="1463040" y="5120640"/>
            <a:ext cx="1554480" cy="502920"/>
          </a:xfrm>
          <a:prstGeom prst="rect">
            <a:avLst/>
          </a:prstGeom>
          <a:noFill/>
        </p:spPr>
        <p:txBody>
          <a:bodyPr wrap="square" anchor="t" lIns="0" rIns="0" tIns="0" bIns="0">
            <a:spAutoFit/>
          </a:bodyPr>
          <a:lstStyle/>
          <a:p>
            <a:pPr algn="ctr">
              <a:lnSpc>
                <a:spcPct val="140000"/>
              </a:lnSpc>
            </a:pPr>
            <a:r>
              <a:rPr sz="900" b="0">
                <a:solidFill>
                  <a:srgbClr val="FFFFFF"/>
                </a:solidFill>
                <a:latin typeface="Hiragino Sans"/>
                <a:ea typeface="Hiragino Sans"/>
                <a:cs typeface="Hiragino Sans"/>
              </a:rPr>
              <a:t>YouTube/Discover</a:t>
            </a:r>
          </a:p>
          <a:p>
            <a:pPr algn="ctr">
              <a:lnSpc>
                <a:spcPct val="140000"/>
              </a:lnSpc>
            </a:pPr>
            <a:r>
              <a:rPr sz="900" b="0">
                <a:solidFill>
                  <a:srgbClr val="FFFFFF"/>
                </a:solidFill>
                <a:latin typeface="Hiragino Sans"/>
                <a:ea typeface="Hiragino Sans"/>
                <a:cs typeface="Hiragino Sans"/>
              </a:rPr>
              <a:t>Gmail</a:t>
            </a:r>
          </a:p>
        </p:txBody>
      </p:sp>
      <p:sp>
        <p:nvSpPr>
          <p:cNvPr id="20" name="Rounded Rectangle 19"/>
          <p:cNvSpPr/>
          <p:nvPr/>
        </p:nvSpPr>
        <p:spPr>
          <a:xfrm>
            <a:off x="9692640" y="4572000"/>
            <a:ext cx="1554480" cy="109728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92640" y="4709160"/>
            <a:ext cx="1554480" cy="365760"/>
          </a:xfrm>
          <a:prstGeom prst="rect">
            <a:avLst/>
          </a:prstGeom>
          <a:noFill/>
        </p:spPr>
        <p:txBody>
          <a:bodyPr wrap="square" anchor="t" lIns="0" rIns="0" tIns="0" bIns="0">
            <a:spAutoFit/>
          </a:bodyPr>
          <a:lstStyle/>
          <a:p>
            <a:pPr algn="ctr">
              <a:lnSpc>
                <a:spcPct val="115000"/>
              </a:lnSpc>
            </a:pPr>
            <a:r>
              <a:rPr sz="1200" b="1">
                <a:solidFill>
                  <a:srgbClr val="E87722"/>
                </a:solidFill>
                <a:latin typeface="Hiragino Sans"/>
                <a:ea typeface="Hiragino Sans"/>
                <a:cs typeface="Hiragino Sans"/>
              </a:rPr>
              <a:t>Smart+ (TikTok)</a:t>
            </a:r>
          </a:p>
        </p:txBody>
      </p:sp>
      <p:sp>
        <p:nvSpPr>
          <p:cNvPr id="22" name="TextBox 21"/>
          <p:cNvSpPr txBox="1"/>
          <p:nvPr/>
        </p:nvSpPr>
        <p:spPr>
          <a:xfrm>
            <a:off x="9692640" y="5120640"/>
            <a:ext cx="1554480" cy="502920"/>
          </a:xfrm>
          <a:prstGeom prst="rect">
            <a:avLst/>
          </a:prstGeom>
          <a:noFill/>
        </p:spPr>
        <p:txBody>
          <a:bodyPr wrap="square" anchor="t" lIns="0" rIns="0" tIns="0" bIns="0">
            <a:spAutoFit/>
          </a:bodyPr>
          <a:lstStyle/>
          <a:p>
            <a:pPr algn="ctr">
              <a:lnSpc>
                <a:spcPct val="140000"/>
              </a:lnSpc>
            </a:pPr>
            <a:r>
              <a:rPr sz="900" b="0">
                <a:solidFill>
                  <a:srgbClr val="FFFFFF"/>
                </a:solidFill>
                <a:latin typeface="Hiragino Sans"/>
                <a:ea typeface="Hiragino Sans"/>
                <a:cs typeface="Hiragino Sans"/>
              </a:rPr>
              <a:t>縦型動画</a:t>
            </a:r>
          </a:p>
          <a:p>
            <a:pPr algn="ctr">
              <a:lnSpc>
                <a:spcPct val="140000"/>
              </a:lnSpc>
            </a:pPr>
            <a:r>
              <a:rPr sz="900" b="0">
                <a:solidFill>
                  <a:srgbClr val="FFFFFF"/>
                </a:solidFill>
                <a:latin typeface="Hiragino Sans"/>
                <a:ea typeface="Hiragino Sans"/>
                <a:cs typeface="Hiragino Sans"/>
              </a:rPr>
              <a:t>Web/Catalog</a:t>
            </a:r>
          </a:p>
        </p:txBody>
      </p:sp>
      <p:sp>
        <p:nvSpPr>
          <p:cNvPr id="23" name="Rounded Rectangle 22"/>
          <p:cNvSpPr/>
          <p:nvPr/>
        </p:nvSpPr>
        <p:spPr>
          <a:xfrm>
            <a:off x="548640" y="6035040"/>
            <a:ext cx="11109960" cy="32004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6080760"/>
            <a:ext cx="10972800" cy="274320"/>
          </a:xfrm>
          <a:prstGeom prst="rect">
            <a:avLst/>
          </a:prstGeom>
          <a:noFill/>
        </p:spPr>
        <p:txBody>
          <a:bodyPr wrap="square" anchor="t" lIns="0" rIns="0" tIns="0" bIns="0">
            <a:spAutoFit/>
          </a:bodyPr>
          <a:lstStyle/>
          <a:p>
            <a:pPr algn="l">
              <a:lnSpc>
                <a:spcPct val="115000"/>
              </a:lnSpc>
            </a:pPr>
            <a:r>
              <a:rPr sz="1100" b="1">
                <a:solidFill>
                  <a:srgbClr val="B85E1A"/>
                </a:solidFill>
                <a:latin typeface="Hiragino Sans"/>
                <a:ea typeface="Hiragino Sans"/>
                <a:cs typeface="Hiragino Sans"/>
              </a:rPr>
              <a:t>💡 1キャンペーン + 2-3 ad set + AI完全自動化 が現代の鉄板。広告セット細分化はNG</a:t>
            </a:r>
          </a:p>
        </p:txBody>
      </p:sp>
      <p:sp>
        <p:nvSpPr>
          <p:cNvPr id="25" name="TextBox 24"/>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入札戦略 選定フロー</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目的別フローチャート</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P209 / 250</a:t>
            </a:r>
          </a:p>
        </p:txBody>
      </p:sp>
      <p:sp>
        <p:nvSpPr>
          <p:cNvPr id="8" name="Rounded Rectangle 7"/>
          <p:cNvSpPr/>
          <p:nvPr/>
        </p:nvSpPr>
        <p:spPr>
          <a:xfrm>
            <a:off x="548640" y="1417320"/>
            <a:ext cx="3611880" cy="24688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361188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581912"/>
            <a:ext cx="3246120" cy="411480"/>
          </a:xfrm>
          <a:prstGeom prst="rect">
            <a:avLst/>
          </a:prstGeom>
          <a:noFill/>
        </p:spPr>
        <p:txBody>
          <a:bodyPr wrap="square" anchor="t" lIns="0" rIns="0" tIns="0" bIns="0">
            <a:spAutoFit/>
          </a:bodyPr>
          <a:lstStyle/>
          <a:p>
            <a:pPr algn="l">
              <a:lnSpc>
                <a:spcPct val="115000"/>
              </a:lnSpc>
            </a:pPr>
            <a:r>
              <a:rPr sz="1400" b="1">
                <a:solidFill>
                  <a:srgbClr val="FFFFFF"/>
                </a:solidFill>
                <a:latin typeface="Hiragino Sans"/>
                <a:ea typeface="Hiragino Sans"/>
                <a:cs typeface="Hiragino Sans"/>
              </a:rPr>
              <a:t>CV系 (リード/購入)</a:t>
            </a:r>
          </a:p>
        </p:txBody>
      </p:sp>
      <p:sp>
        <p:nvSpPr>
          <p:cNvPr id="11" name="TextBox 10"/>
          <p:cNvSpPr txBox="1"/>
          <p:nvPr/>
        </p:nvSpPr>
        <p:spPr>
          <a:xfrm>
            <a:off x="777240" y="1965960"/>
            <a:ext cx="3246120" cy="274320"/>
          </a:xfrm>
          <a:prstGeom prst="rect">
            <a:avLst/>
          </a:prstGeom>
          <a:noFill/>
        </p:spPr>
        <p:txBody>
          <a:bodyPr wrap="square" anchor="t" lIns="0" rIns="0" tIns="0" bIns="0">
            <a:spAutoFit/>
          </a:bodyPr>
          <a:lstStyle/>
          <a:p>
            <a:pPr algn="l">
              <a:lnSpc>
                <a:spcPct val="115000"/>
              </a:lnSpc>
            </a:pPr>
            <a:r>
              <a:rPr sz="1000" b="0">
                <a:solidFill>
                  <a:srgbClr val="FFFFFF"/>
                </a:solidFill>
                <a:latin typeface="Helvetica Neue"/>
                <a:ea typeface="Helvetica Neue"/>
                <a:cs typeface="Helvetica Neue"/>
              </a:rPr>
              <a:t>Maximize Conversions → Target CPA</a:t>
            </a:r>
          </a:p>
        </p:txBody>
      </p:sp>
      <p:sp>
        <p:nvSpPr>
          <p:cNvPr id="12" name="TextBox 11"/>
          <p:cNvSpPr txBox="1"/>
          <p:nvPr/>
        </p:nvSpPr>
        <p:spPr>
          <a:xfrm>
            <a:off x="777240" y="2423160"/>
            <a:ext cx="3246120" cy="141732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1-2週間でCV30件以上</a:t>
            </a:r>
          </a:p>
          <a:p>
            <a:pPr algn="l">
              <a:lnSpc>
                <a:spcPct val="160000"/>
              </a:lnSpc>
            </a:pPr>
            <a:r>
              <a:rPr sz="1100" b="0">
                <a:solidFill>
                  <a:srgbClr val="1A1A1A"/>
                </a:solidFill>
                <a:latin typeface="Hiragino Sans"/>
                <a:ea typeface="Hiragino Sans"/>
                <a:cs typeface="Hiragino Sans"/>
              </a:rPr>
              <a:t>→ Target CPA に切替</a:t>
            </a:r>
          </a:p>
          <a:p>
            <a:pPr algn="l">
              <a:lnSpc>
                <a:spcPct val="160000"/>
              </a:lnSpc>
            </a:pPr>
            <a:r>
              <a:rPr sz="1100" b="0">
                <a:solidFill>
                  <a:srgbClr val="1A1A1A"/>
                </a:solidFill>
                <a:latin typeface="Hiragino Sans"/>
                <a:ea typeface="Hiragino Sans"/>
                <a:cs typeface="Hiragino Sans"/>
              </a:rPr>
              <a:t>CPAは現状の ±20%以内で設定</a:t>
            </a:r>
          </a:p>
        </p:txBody>
      </p:sp>
      <p:sp>
        <p:nvSpPr>
          <p:cNvPr id="13" name="Rounded Rectangle 12"/>
          <p:cNvSpPr/>
          <p:nvPr/>
        </p:nvSpPr>
        <p:spPr>
          <a:xfrm>
            <a:off x="4297680" y="1417320"/>
            <a:ext cx="3611880" cy="24688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7680" y="1417320"/>
            <a:ext cx="361188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26280" y="1581912"/>
            <a:ext cx="3246120" cy="411480"/>
          </a:xfrm>
          <a:prstGeom prst="rect">
            <a:avLst/>
          </a:prstGeom>
          <a:noFill/>
        </p:spPr>
        <p:txBody>
          <a:bodyPr wrap="square" anchor="t" lIns="0" rIns="0" tIns="0" bIns="0">
            <a:spAutoFit/>
          </a:bodyPr>
          <a:lstStyle/>
          <a:p>
            <a:pPr algn="l">
              <a:lnSpc>
                <a:spcPct val="115000"/>
              </a:lnSpc>
            </a:pPr>
            <a:r>
              <a:rPr sz="1400" b="1">
                <a:solidFill>
                  <a:srgbClr val="FFFFFF"/>
                </a:solidFill>
                <a:latin typeface="Hiragino Sans"/>
                <a:ea typeface="Hiragino Sans"/>
                <a:cs typeface="Hiragino Sans"/>
              </a:rPr>
              <a:t>売上重視 (EC/D2C)</a:t>
            </a:r>
          </a:p>
        </p:txBody>
      </p:sp>
      <p:sp>
        <p:nvSpPr>
          <p:cNvPr id="16" name="TextBox 15"/>
          <p:cNvSpPr txBox="1"/>
          <p:nvPr/>
        </p:nvSpPr>
        <p:spPr>
          <a:xfrm>
            <a:off x="4526280" y="1965960"/>
            <a:ext cx="3246120" cy="274320"/>
          </a:xfrm>
          <a:prstGeom prst="rect">
            <a:avLst/>
          </a:prstGeom>
          <a:noFill/>
        </p:spPr>
        <p:txBody>
          <a:bodyPr wrap="square" anchor="t" lIns="0" rIns="0" tIns="0" bIns="0">
            <a:spAutoFit/>
          </a:bodyPr>
          <a:lstStyle/>
          <a:p>
            <a:pPr algn="l">
              <a:lnSpc>
                <a:spcPct val="115000"/>
              </a:lnSpc>
            </a:pPr>
            <a:r>
              <a:rPr sz="1000" b="0">
                <a:solidFill>
                  <a:srgbClr val="FFFFFF"/>
                </a:solidFill>
                <a:latin typeface="Helvetica Neue"/>
                <a:ea typeface="Helvetica Neue"/>
                <a:cs typeface="Helvetica Neue"/>
              </a:rPr>
              <a:t>Maximize Conv. Value → Target ROAS</a:t>
            </a:r>
          </a:p>
        </p:txBody>
      </p:sp>
      <p:sp>
        <p:nvSpPr>
          <p:cNvPr id="17" name="TextBox 16"/>
          <p:cNvSpPr txBox="1"/>
          <p:nvPr/>
        </p:nvSpPr>
        <p:spPr>
          <a:xfrm>
            <a:off x="4526280" y="2423160"/>
            <a:ext cx="3246120" cy="141732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VBB前提 (CV値送信必須)</a:t>
            </a:r>
          </a:p>
          <a:p>
            <a:pPr algn="l">
              <a:lnSpc>
                <a:spcPct val="160000"/>
              </a:lnSpc>
            </a:pPr>
            <a:r>
              <a:rPr sz="1100" b="0">
                <a:solidFill>
                  <a:srgbClr val="1A1A1A"/>
                </a:solidFill>
                <a:latin typeface="Hiragino Sans"/>
                <a:ea typeface="Hiragino Sans"/>
                <a:cs typeface="Hiragino Sans"/>
              </a:rPr>
              <a:t>CV30件以上で安定後</a:t>
            </a:r>
          </a:p>
          <a:p>
            <a:pPr algn="l">
              <a:lnSpc>
                <a:spcPct val="160000"/>
              </a:lnSpc>
            </a:pPr>
            <a:r>
              <a:rPr sz="1100" b="0">
                <a:solidFill>
                  <a:srgbClr val="1A1A1A"/>
                </a:solidFill>
                <a:latin typeface="Hiragino Sans"/>
                <a:ea typeface="Hiragino Sans"/>
                <a:cs typeface="Hiragino Sans"/>
              </a:rPr>
              <a:t>ROASは現状の +20%目安</a:t>
            </a:r>
          </a:p>
        </p:txBody>
      </p:sp>
      <p:sp>
        <p:nvSpPr>
          <p:cNvPr id="18" name="Rounded Rectangle 17"/>
          <p:cNvSpPr/>
          <p:nvPr/>
        </p:nvSpPr>
        <p:spPr>
          <a:xfrm>
            <a:off x="8046720" y="1417320"/>
            <a:ext cx="3611880" cy="24688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6720" y="1417320"/>
            <a:ext cx="361188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1581912"/>
            <a:ext cx="3246120" cy="411480"/>
          </a:xfrm>
          <a:prstGeom prst="rect">
            <a:avLst/>
          </a:prstGeom>
          <a:noFill/>
        </p:spPr>
        <p:txBody>
          <a:bodyPr wrap="square" anchor="t" lIns="0" rIns="0" tIns="0" bIns="0">
            <a:spAutoFit/>
          </a:bodyPr>
          <a:lstStyle/>
          <a:p>
            <a:pPr algn="l">
              <a:lnSpc>
                <a:spcPct val="115000"/>
              </a:lnSpc>
            </a:pPr>
            <a:r>
              <a:rPr sz="1400" b="1">
                <a:solidFill>
                  <a:srgbClr val="FFFFFF"/>
                </a:solidFill>
                <a:latin typeface="Hiragino Sans"/>
                <a:ea typeface="Hiragino Sans"/>
                <a:cs typeface="Hiragino Sans"/>
              </a:rPr>
              <a:t>認知 (ブランディング)</a:t>
            </a:r>
          </a:p>
        </p:txBody>
      </p:sp>
      <p:sp>
        <p:nvSpPr>
          <p:cNvPr id="21" name="TextBox 20"/>
          <p:cNvSpPr txBox="1"/>
          <p:nvPr/>
        </p:nvSpPr>
        <p:spPr>
          <a:xfrm>
            <a:off x="8275320" y="1965960"/>
            <a:ext cx="3246120" cy="274320"/>
          </a:xfrm>
          <a:prstGeom prst="rect">
            <a:avLst/>
          </a:prstGeom>
          <a:noFill/>
        </p:spPr>
        <p:txBody>
          <a:bodyPr wrap="square" anchor="t" lIns="0" rIns="0" tIns="0" bIns="0">
            <a:spAutoFit/>
          </a:bodyPr>
          <a:lstStyle/>
          <a:p>
            <a:pPr algn="l">
              <a:lnSpc>
                <a:spcPct val="115000"/>
              </a:lnSpc>
            </a:pPr>
            <a:r>
              <a:rPr sz="1000" b="0">
                <a:solidFill>
                  <a:srgbClr val="FFFFFF"/>
                </a:solidFill>
                <a:latin typeface="Helvetica Neue"/>
                <a:ea typeface="Helvetica Neue"/>
                <a:cs typeface="Helvetica Neue"/>
              </a:rPr>
              <a:t>Maximize Reach / Bumper</a:t>
            </a:r>
          </a:p>
        </p:txBody>
      </p:sp>
      <p:sp>
        <p:nvSpPr>
          <p:cNvPr id="22" name="TextBox 21"/>
          <p:cNvSpPr txBox="1"/>
          <p:nvPr/>
        </p:nvSpPr>
        <p:spPr>
          <a:xfrm>
            <a:off x="8275320" y="2423160"/>
            <a:ext cx="3246120" cy="141732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リーチ最大化</a:t>
            </a:r>
          </a:p>
          <a:p>
            <a:pPr algn="l">
              <a:lnSpc>
                <a:spcPct val="160000"/>
              </a:lnSpc>
            </a:pPr>
            <a:r>
              <a:rPr sz="1100" b="0">
                <a:solidFill>
                  <a:srgbClr val="1A1A1A"/>
                </a:solidFill>
                <a:latin typeface="Hiragino Sans"/>
                <a:ea typeface="Hiragino Sans"/>
                <a:cs typeface="Hiragino Sans"/>
              </a:rPr>
              <a:t>Frequency Cap で頻度制御</a:t>
            </a:r>
          </a:p>
          <a:p>
            <a:pPr algn="l">
              <a:lnSpc>
                <a:spcPct val="160000"/>
              </a:lnSpc>
            </a:pPr>
            <a:r>
              <a:rPr sz="1100" b="0">
                <a:solidFill>
                  <a:srgbClr val="1A1A1A"/>
                </a:solidFill>
                <a:latin typeface="Hiragino Sans"/>
                <a:ea typeface="Hiragino Sans"/>
                <a:cs typeface="Hiragino Sans"/>
              </a:rPr>
              <a:t>Brand Lift Study で測定</a:t>
            </a:r>
          </a:p>
        </p:txBody>
      </p:sp>
      <p:sp>
        <p:nvSpPr>
          <p:cNvPr id="23" name="Rounded Rectangle 22"/>
          <p:cNvSpPr/>
          <p:nvPr/>
        </p:nvSpPr>
        <p:spPr>
          <a:xfrm>
            <a:off x="548640" y="4069080"/>
            <a:ext cx="11109960" cy="228600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4206240"/>
            <a:ext cx="10058400" cy="320040"/>
          </a:xfrm>
          <a:prstGeom prst="rect">
            <a:avLst/>
          </a:prstGeom>
          <a:noFill/>
        </p:spPr>
        <p:txBody>
          <a:bodyPr wrap="square" anchor="t" lIns="0" rIns="0" tIns="0" bIns="0">
            <a:spAutoFit/>
          </a:bodyPr>
          <a:lstStyle/>
          <a:p>
            <a:pPr algn="l">
              <a:lnSpc>
                <a:spcPct val="115000"/>
              </a:lnSpc>
            </a:pPr>
            <a:r>
              <a:rPr sz="1200" b="1">
                <a:solidFill>
                  <a:srgbClr val="E87722"/>
                </a:solidFill>
                <a:latin typeface="Hiragino Sans"/>
                <a:ea typeface="Hiragino Sans"/>
                <a:cs typeface="Hiragino Sans"/>
              </a:rPr>
              <a:t>💡 全戦略共通の鉄則</a:t>
            </a:r>
          </a:p>
        </p:txBody>
      </p:sp>
      <p:sp>
        <p:nvSpPr>
          <p:cNvPr id="25" name="TextBox 24"/>
          <p:cNvSpPr txBox="1"/>
          <p:nvPr/>
        </p:nvSpPr>
        <p:spPr>
          <a:xfrm>
            <a:off x="777240" y="4526280"/>
            <a:ext cx="10972800" cy="1783080"/>
          </a:xfrm>
          <a:prstGeom prst="rect">
            <a:avLst/>
          </a:prstGeom>
          <a:noFill/>
        </p:spPr>
        <p:txBody>
          <a:bodyPr wrap="square" anchor="t" lIns="0" rIns="0" tIns="0" bIns="0">
            <a:spAutoFit/>
          </a:bodyPr>
          <a:lstStyle/>
          <a:p>
            <a:pPr algn="l">
              <a:lnSpc>
                <a:spcPct val="160000"/>
              </a:lnSpc>
            </a:pPr>
            <a:r>
              <a:rPr sz="1100" b="0">
                <a:solidFill>
                  <a:srgbClr val="FFFFFF"/>
                </a:solidFill>
                <a:latin typeface="Hiragino Sans"/>
                <a:ea typeface="Hiragino Sans"/>
                <a:cs typeface="Hiragino Sans"/>
              </a:rPr>
              <a:t>• 学習開始 = まず Maximize系 で『AIに学習させる』 (1-2週間)</a:t>
            </a:r>
          </a:p>
          <a:p>
            <a:pPr algn="l">
              <a:lnSpc>
                <a:spcPct val="160000"/>
              </a:lnSpc>
            </a:pPr>
            <a:r>
              <a:rPr sz="1100" b="0">
                <a:solidFill>
                  <a:srgbClr val="FFFFFF"/>
                </a:solidFill>
                <a:latin typeface="Hiragino Sans"/>
                <a:ea typeface="Hiragino Sans"/>
                <a:cs typeface="Hiragino Sans"/>
              </a:rPr>
              <a:t>• 安定後 = Target CPA/ROAS で予算効率を追求</a:t>
            </a:r>
          </a:p>
          <a:p>
            <a:pPr algn="l">
              <a:lnSpc>
                <a:spcPct val="160000"/>
              </a:lnSpc>
            </a:pPr>
            <a:r>
              <a:rPr sz="1100" b="0">
                <a:solidFill>
                  <a:srgbClr val="FFFFFF"/>
                </a:solidFill>
                <a:latin typeface="Hiragino Sans"/>
                <a:ea typeface="Hiragino Sans"/>
                <a:cs typeface="Hiragino Sans"/>
              </a:rPr>
              <a:t>• 設定値 = 現状実績の ±20% 以内 (極端な値は学習リセット)</a:t>
            </a:r>
          </a:p>
          <a:p>
            <a:pPr algn="l">
              <a:lnSpc>
                <a:spcPct val="160000"/>
              </a:lnSpc>
            </a:pPr>
            <a:r>
              <a:rPr sz="1100" b="0">
                <a:solidFill>
                  <a:srgbClr val="FFFFFF"/>
                </a:solidFill>
                <a:latin typeface="Hiragino Sans"/>
                <a:ea typeface="Hiragino Sans"/>
                <a:cs typeface="Hiragino Sans"/>
              </a:rPr>
              <a:t>• 学習中の予算変動 = ±20% 以内 (大きく動かすと学習リセット)</a:t>
            </a:r>
          </a:p>
          <a:p>
            <a:pPr algn="l">
              <a:lnSpc>
                <a:spcPct val="160000"/>
              </a:lnSpc>
            </a:pPr>
            <a:r>
              <a:rPr sz="1100" b="0">
                <a:solidFill>
                  <a:srgbClr val="FFFFFF"/>
                </a:solidFill>
                <a:latin typeface="Hiragino Sans"/>
                <a:ea typeface="Hiragino Sans"/>
                <a:cs typeface="Hiragino Sans"/>
              </a:rPr>
              <a:t>• Manual CPC は使わない (特殊用途のみ)</a:t>
            </a:r>
          </a:p>
          <a:p>
            <a:pPr algn="l">
              <a:lnSpc>
                <a:spcPct val="160000"/>
              </a:lnSpc>
            </a:pPr>
            <a:r>
              <a:rPr sz="1100" b="0">
                <a:solidFill>
                  <a:srgbClr val="FFFFFF"/>
                </a:solidFill>
                <a:latin typeface="Hiragino Sans"/>
                <a:ea typeface="Hiragino Sans"/>
                <a:cs typeface="Hiragino Sans"/>
              </a:rPr>
              <a:t>• Smart Bidding = 全媒体共通の前提、手動入札の時代は終わり</a:t>
            </a:r>
          </a:p>
        </p:txBody>
      </p:sp>
      <p:sp>
        <p:nvSpPr>
          <p:cNvPr id="26" name="TextBox 25"/>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クリエイティブ本数・バリエーション設計</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AI生成時代の量産フレーム</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P210 / 250</a:t>
            </a:r>
          </a:p>
        </p:txBody>
      </p:sp>
      <p:sp>
        <p:nvSpPr>
          <p:cNvPr id="8" name="TextBox 7"/>
          <p:cNvSpPr txBox="1"/>
          <p:nvPr/>
        </p:nvSpPr>
        <p:spPr>
          <a:xfrm>
            <a:off x="548640" y="1417320"/>
            <a:ext cx="1097280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本数の目安 (媒体別 / 月間)</a:t>
            </a:r>
          </a:p>
        </p:txBody>
      </p:sp>
      <p:sp>
        <p:nvSpPr>
          <p:cNvPr id="9" name="Rounded Rectangle 8"/>
          <p:cNvSpPr/>
          <p:nvPr/>
        </p:nvSpPr>
        <p:spPr>
          <a:xfrm>
            <a:off x="548640" y="1828800"/>
            <a:ext cx="2697480" cy="18288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828800"/>
            <a:ext cx="2697480" cy="5029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947672"/>
            <a:ext cx="2423160" cy="274320"/>
          </a:xfrm>
          <a:prstGeom prst="rect">
            <a:avLst/>
          </a:prstGeom>
          <a:noFill/>
        </p:spPr>
        <p:txBody>
          <a:bodyPr wrap="square" anchor="t" lIns="0" rIns="0" tIns="0" bIns="0">
            <a:spAutoFit/>
          </a:bodyPr>
          <a:lstStyle/>
          <a:p>
            <a:pPr algn="ctr">
              <a:lnSpc>
                <a:spcPct val="115000"/>
              </a:lnSpc>
            </a:pPr>
            <a:r>
              <a:rPr sz="1300" b="1">
                <a:solidFill>
                  <a:srgbClr val="FFFFFF"/>
                </a:solidFill>
                <a:latin typeface="Hiragino Sans"/>
                <a:ea typeface="Hiragino Sans"/>
                <a:cs typeface="Hiragino Sans"/>
              </a:rPr>
              <a:t>Google Ads</a:t>
            </a:r>
          </a:p>
        </p:txBody>
      </p:sp>
      <p:sp>
        <p:nvSpPr>
          <p:cNvPr id="12" name="TextBox 11"/>
          <p:cNvSpPr txBox="1"/>
          <p:nvPr/>
        </p:nvSpPr>
        <p:spPr>
          <a:xfrm>
            <a:off x="685800" y="2468880"/>
            <a:ext cx="2423160" cy="1143000"/>
          </a:xfrm>
          <a:prstGeom prst="rect">
            <a:avLst/>
          </a:prstGeom>
          <a:noFill/>
        </p:spPr>
        <p:txBody>
          <a:bodyPr wrap="square" anchor="t" lIns="0" rIns="0" tIns="0" bIns="0">
            <a:spAutoFit/>
          </a:bodyPr>
          <a:lstStyle/>
          <a:p>
            <a:pPr algn="ctr">
              <a:lnSpc>
                <a:spcPct val="160000"/>
              </a:lnSpc>
            </a:pPr>
            <a:r>
              <a:rPr sz="1000" b="0">
                <a:solidFill>
                  <a:srgbClr val="1A1A1A"/>
                </a:solidFill>
                <a:latin typeface="Hiragino Sans"/>
                <a:ea typeface="Hiragino Sans"/>
                <a:cs typeface="Hiragino Sans"/>
              </a:rPr>
              <a:t>RSA: 5-10 ad group</a:t>
            </a:r>
          </a:p>
          <a:p>
            <a:pPr algn="ctr">
              <a:lnSpc>
                <a:spcPct val="160000"/>
              </a:lnSpc>
            </a:pPr>
            <a:r>
              <a:rPr sz="1000" b="0">
                <a:solidFill>
                  <a:srgbClr val="1A1A1A"/>
                </a:solidFill>
                <a:latin typeface="Hiragino Sans"/>
                <a:ea typeface="Hiragino Sans"/>
                <a:cs typeface="Hiragino Sans"/>
              </a:rPr>
              <a:t>見出し15+説明文4 完備</a:t>
            </a:r>
          </a:p>
          <a:p>
            <a:pPr algn="ctr">
              <a:lnSpc>
                <a:spcPct val="160000"/>
              </a:lnSpc>
            </a:pPr>
            <a:r>
              <a:rPr sz="1000" b="0">
                <a:solidFill>
                  <a:srgbClr val="1A1A1A"/>
                </a:solidFill>
                <a:latin typeface="Hiragino Sans"/>
                <a:ea typeface="Hiragino Sans"/>
                <a:cs typeface="Hiragino Sans"/>
              </a:rPr>
              <a:t>+ アセット 6-10種</a:t>
            </a:r>
          </a:p>
        </p:txBody>
      </p:sp>
      <p:sp>
        <p:nvSpPr>
          <p:cNvPr id="13" name="Rounded Rectangle 12"/>
          <p:cNvSpPr/>
          <p:nvPr/>
        </p:nvSpPr>
        <p:spPr>
          <a:xfrm>
            <a:off x="3337560" y="1828800"/>
            <a:ext cx="2697480" cy="18288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37560" y="1828800"/>
            <a:ext cx="2697480" cy="5029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74720" y="1947672"/>
            <a:ext cx="2423160" cy="274320"/>
          </a:xfrm>
          <a:prstGeom prst="rect">
            <a:avLst/>
          </a:prstGeom>
          <a:noFill/>
        </p:spPr>
        <p:txBody>
          <a:bodyPr wrap="square" anchor="t" lIns="0" rIns="0" tIns="0" bIns="0">
            <a:spAutoFit/>
          </a:bodyPr>
          <a:lstStyle/>
          <a:p>
            <a:pPr algn="ctr">
              <a:lnSpc>
                <a:spcPct val="115000"/>
              </a:lnSpc>
            </a:pPr>
            <a:r>
              <a:rPr sz="1300" b="1">
                <a:solidFill>
                  <a:srgbClr val="FFFFFF"/>
                </a:solidFill>
                <a:latin typeface="Hiragino Sans"/>
                <a:ea typeface="Hiragino Sans"/>
                <a:cs typeface="Hiragino Sans"/>
              </a:rPr>
              <a:t>Meta</a:t>
            </a:r>
          </a:p>
        </p:txBody>
      </p:sp>
      <p:sp>
        <p:nvSpPr>
          <p:cNvPr id="16" name="TextBox 15"/>
          <p:cNvSpPr txBox="1"/>
          <p:nvPr/>
        </p:nvSpPr>
        <p:spPr>
          <a:xfrm>
            <a:off x="3474720" y="2468880"/>
            <a:ext cx="2423160" cy="1143000"/>
          </a:xfrm>
          <a:prstGeom prst="rect">
            <a:avLst/>
          </a:prstGeom>
          <a:noFill/>
        </p:spPr>
        <p:txBody>
          <a:bodyPr wrap="square" anchor="t" lIns="0" rIns="0" tIns="0" bIns="0">
            <a:spAutoFit/>
          </a:bodyPr>
          <a:lstStyle/>
          <a:p>
            <a:pPr algn="ctr">
              <a:lnSpc>
                <a:spcPct val="160000"/>
              </a:lnSpc>
            </a:pPr>
            <a:r>
              <a:rPr sz="1000" b="0">
                <a:solidFill>
                  <a:srgbClr val="1A1A1A"/>
                </a:solidFill>
                <a:latin typeface="Hiragino Sans"/>
                <a:ea typeface="Hiragino Sans"/>
                <a:cs typeface="Hiragino Sans"/>
              </a:rPr>
              <a:t>10-30 クリエイティブ/月</a:t>
            </a:r>
          </a:p>
          <a:p>
            <a:pPr algn="ctr">
              <a:lnSpc>
                <a:spcPct val="160000"/>
              </a:lnSpc>
            </a:pPr>
            <a:r>
              <a:rPr sz="1000" b="0">
                <a:solidFill>
                  <a:srgbClr val="1A1A1A"/>
                </a:solidFill>
                <a:latin typeface="Hiragino Sans"/>
                <a:ea typeface="Hiragino Sans"/>
                <a:cs typeface="Hiragino Sans"/>
              </a:rPr>
              <a:t>Advantage+ Creative ON</a:t>
            </a:r>
          </a:p>
          <a:p>
            <a:pPr algn="ctr">
              <a:lnSpc>
                <a:spcPct val="160000"/>
              </a:lnSpc>
            </a:pPr>
            <a:r>
              <a:rPr sz="1000" b="0">
                <a:solidFill>
                  <a:srgbClr val="1A1A1A"/>
                </a:solidFill>
                <a:latin typeface="Hiragino Sans"/>
                <a:ea typeface="Hiragino Sans"/>
                <a:cs typeface="Hiragino Sans"/>
              </a:rPr>
              <a:t>動画+静止画+カルーセル</a:t>
            </a:r>
          </a:p>
        </p:txBody>
      </p:sp>
      <p:sp>
        <p:nvSpPr>
          <p:cNvPr id="17" name="Rounded Rectangle 16"/>
          <p:cNvSpPr/>
          <p:nvPr/>
        </p:nvSpPr>
        <p:spPr>
          <a:xfrm>
            <a:off x="6126480" y="1828800"/>
            <a:ext cx="2697480" cy="18288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26480" y="1828800"/>
            <a:ext cx="2697480" cy="5029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63640" y="1947672"/>
            <a:ext cx="2423160" cy="274320"/>
          </a:xfrm>
          <a:prstGeom prst="rect">
            <a:avLst/>
          </a:prstGeom>
          <a:noFill/>
        </p:spPr>
        <p:txBody>
          <a:bodyPr wrap="square" anchor="t" lIns="0" rIns="0" tIns="0" bIns="0">
            <a:spAutoFit/>
          </a:bodyPr>
          <a:lstStyle/>
          <a:p>
            <a:pPr algn="ctr">
              <a:lnSpc>
                <a:spcPct val="115000"/>
              </a:lnSpc>
            </a:pPr>
            <a:r>
              <a:rPr sz="1300" b="1">
                <a:solidFill>
                  <a:srgbClr val="FFFFFF"/>
                </a:solidFill>
                <a:latin typeface="Hiragino Sans"/>
                <a:ea typeface="Hiragino Sans"/>
                <a:cs typeface="Hiragino Sans"/>
              </a:rPr>
              <a:t>TikTok</a:t>
            </a:r>
          </a:p>
        </p:txBody>
      </p:sp>
      <p:sp>
        <p:nvSpPr>
          <p:cNvPr id="20" name="TextBox 19"/>
          <p:cNvSpPr txBox="1"/>
          <p:nvPr/>
        </p:nvSpPr>
        <p:spPr>
          <a:xfrm>
            <a:off x="6263640" y="2468880"/>
            <a:ext cx="2423160" cy="1143000"/>
          </a:xfrm>
          <a:prstGeom prst="rect">
            <a:avLst/>
          </a:prstGeom>
          <a:noFill/>
        </p:spPr>
        <p:txBody>
          <a:bodyPr wrap="square" anchor="t" lIns="0" rIns="0" tIns="0" bIns="0">
            <a:spAutoFit/>
          </a:bodyPr>
          <a:lstStyle/>
          <a:p>
            <a:pPr algn="ctr">
              <a:lnSpc>
                <a:spcPct val="160000"/>
              </a:lnSpc>
            </a:pPr>
            <a:r>
              <a:rPr sz="1000" b="0">
                <a:solidFill>
                  <a:srgbClr val="1A1A1A"/>
                </a:solidFill>
                <a:latin typeface="Hiragino Sans"/>
                <a:ea typeface="Hiragino Sans"/>
                <a:cs typeface="Hiragino Sans"/>
              </a:rPr>
              <a:t>20-30 動画/月</a:t>
            </a:r>
          </a:p>
          <a:p>
            <a:pPr algn="ctr">
              <a:lnSpc>
                <a:spcPct val="160000"/>
              </a:lnSpc>
            </a:pPr>
            <a:r>
              <a:rPr sz="1000" b="0">
                <a:solidFill>
                  <a:srgbClr val="1A1A1A"/>
                </a:solidFill>
                <a:latin typeface="Hiragino Sans"/>
                <a:ea typeface="Hiragino Sans"/>
                <a:cs typeface="Hiragino Sans"/>
              </a:rPr>
              <a:t>Spark Ads (Creator) +</a:t>
            </a:r>
          </a:p>
          <a:p>
            <a:pPr algn="ctr">
              <a:lnSpc>
                <a:spcPct val="160000"/>
              </a:lnSpc>
            </a:pPr>
            <a:r>
              <a:rPr sz="1000" b="0">
                <a:solidFill>
                  <a:srgbClr val="1A1A1A"/>
                </a:solidFill>
                <a:latin typeface="Hiragino Sans"/>
                <a:ea typeface="Hiragino Sans"/>
                <a:cs typeface="Hiragino Sans"/>
              </a:rPr>
              <a:t>Symphony (AI生成) ミックス</a:t>
            </a:r>
          </a:p>
        </p:txBody>
      </p:sp>
      <p:sp>
        <p:nvSpPr>
          <p:cNvPr id="21" name="Rounded Rectangle 20"/>
          <p:cNvSpPr/>
          <p:nvPr/>
        </p:nvSpPr>
        <p:spPr>
          <a:xfrm>
            <a:off x="8915400" y="1828800"/>
            <a:ext cx="2697480" cy="18288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915400" y="1828800"/>
            <a:ext cx="2697480" cy="5029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052560" y="1947672"/>
            <a:ext cx="2423160" cy="274320"/>
          </a:xfrm>
          <a:prstGeom prst="rect">
            <a:avLst/>
          </a:prstGeom>
          <a:noFill/>
        </p:spPr>
        <p:txBody>
          <a:bodyPr wrap="square" anchor="t" lIns="0" rIns="0" tIns="0" bIns="0">
            <a:spAutoFit/>
          </a:bodyPr>
          <a:lstStyle/>
          <a:p>
            <a:pPr algn="ctr">
              <a:lnSpc>
                <a:spcPct val="115000"/>
              </a:lnSpc>
            </a:pPr>
            <a:r>
              <a:rPr sz="1300" b="1">
                <a:solidFill>
                  <a:srgbClr val="FFFFFF"/>
                </a:solidFill>
                <a:latin typeface="Hiragino Sans"/>
                <a:ea typeface="Hiragino Sans"/>
                <a:cs typeface="Hiragino Sans"/>
              </a:rPr>
              <a:t>YouTube</a:t>
            </a:r>
          </a:p>
        </p:txBody>
      </p:sp>
      <p:sp>
        <p:nvSpPr>
          <p:cNvPr id="24" name="TextBox 23"/>
          <p:cNvSpPr txBox="1"/>
          <p:nvPr/>
        </p:nvSpPr>
        <p:spPr>
          <a:xfrm>
            <a:off x="9052560" y="2468880"/>
            <a:ext cx="2423160" cy="1143000"/>
          </a:xfrm>
          <a:prstGeom prst="rect">
            <a:avLst/>
          </a:prstGeom>
          <a:noFill/>
        </p:spPr>
        <p:txBody>
          <a:bodyPr wrap="square" anchor="t" lIns="0" rIns="0" tIns="0" bIns="0">
            <a:spAutoFit/>
          </a:bodyPr>
          <a:lstStyle/>
          <a:p>
            <a:pPr algn="ctr">
              <a:lnSpc>
                <a:spcPct val="160000"/>
              </a:lnSpc>
            </a:pPr>
            <a:r>
              <a:rPr sz="1000" b="0">
                <a:solidFill>
                  <a:srgbClr val="1A1A1A"/>
                </a:solidFill>
                <a:latin typeface="Hiragino Sans"/>
                <a:ea typeface="Hiragino Sans"/>
                <a:cs typeface="Hiragino Sans"/>
              </a:rPr>
              <a:t>5-15 動画/月</a:t>
            </a:r>
          </a:p>
          <a:p>
            <a:pPr algn="ctr">
              <a:lnSpc>
                <a:spcPct val="160000"/>
              </a:lnSpc>
            </a:pPr>
            <a:r>
              <a:rPr sz="1000" b="0">
                <a:solidFill>
                  <a:srgbClr val="1A1A1A"/>
                </a:solidFill>
                <a:latin typeface="Hiragino Sans"/>
                <a:ea typeface="Hiragino Sans"/>
                <a:cs typeface="Hiragino Sans"/>
              </a:rPr>
              <a:t>6/15/30秒 + 縦型 9:16</a:t>
            </a:r>
          </a:p>
          <a:p>
            <a:pPr algn="ctr">
              <a:lnSpc>
                <a:spcPct val="160000"/>
              </a:lnSpc>
            </a:pPr>
            <a:r>
              <a:rPr sz="1000" b="0">
                <a:solidFill>
                  <a:srgbClr val="1A1A1A"/>
                </a:solidFill>
                <a:latin typeface="Hiragino Sans"/>
                <a:ea typeface="Hiragino Sans"/>
                <a:cs typeface="Hiragino Sans"/>
              </a:rPr>
              <a:t>ABCD原則準拠</a:t>
            </a:r>
          </a:p>
        </p:txBody>
      </p:sp>
      <p:sp>
        <p:nvSpPr>
          <p:cNvPr id="25" name="Rounded Rectangle 24"/>
          <p:cNvSpPr/>
          <p:nvPr/>
        </p:nvSpPr>
        <p:spPr>
          <a:xfrm>
            <a:off x="548640" y="3886200"/>
            <a:ext cx="11109960" cy="246888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4023360"/>
            <a:ext cx="100584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 バリエーション設計の鉄則</a:t>
            </a:r>
          </a:p>
        </p:txBody>
      </p:sp>
      <p:sp>
        <p:nvSpPr>
          <p:cNvPr id="27" name="TextBox 26"/>
          <p:cNvSpPr txBox="1"/>
          <p:nvPr/>
        </p:nvSpPr>
        <p:spPr>
          <a:xfrm>
            <a:off x="777240" y="4343400"/>
            <a:ext cx="10972800" cy="196596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 訴求軸 = 5案 (価格 / 機能 / 体験 / 信頼 / 感情)</a:t>
            </a:r>
          </a:p>
          <a:p>
            <a:pPr algn="l">
              <a:lnSpc>
                <a:spcPct val="160000"/>
              </a:lnSpc>
            </a:pPr>
            <a:r>
              <a:rPr sz="1100" b="0">
                <a:solidFill>
                  <a:srgbClr val="1A1A1A"/>
                </a:solidFill>
                <a:latin typeface="Hiragino Sans"/>
                <a:ea typeface="Hiragino Sans"/>
                <a:cs typeface="Hiragino Sans"/>
              </a:rPr>
              <a:t>• 訴求軸 × 訴求要素 (人物有 / 商品単体 / Before-After / 数字 / トレンド) でマトリクス</a:t>
            </a:r>
          </a:p>
          <a:p>
            <a:pPr algn="l">
              <a:lnSpc>
                <a:spcPct val="160000"/>
              </a:lnSpc>
            </a:pPr>
            <a:r>
              <a:rPr sz="1100" b="0">
                <a:solidFill>
                  <a:srgbClr val="1A1A1A"/>
                </a:solidFill>
                <a:latin typeface="Hiragino Sans"/>
                <a:ea typeface="Hiragino Sans"/>
                <a:cs typeface="Hiragino Sans"/>
              </a:rPr>
              <a:t>• 月初に大量量産 → 月中で勝ちパターン抽出 → 月末に勝ちパターン強化版を量産</a:t>
            </a:r>
          </a:p>
          <a:p>
            <a:pPr algn="l">
              <a:lnSpc>
                <a:spcPct val="160000"/>
              </a:lnSpc>
            </a:pPr>
            <a:r>
              <a:rPr sz="1100" b="0">
                <a:solidFill>
                  <a:srgbClr val="1A1A1A"/>
                </a:solidFill>
                <a:latin typeface="Hiragino Sans"/>
                <a:ea typeface="Hiragino Sans"/>
                <a:cs typeface="Hiragino Sans"/>
              </a:rPr>
              <a:t>• 媒体ネイティブ生成 (Advantage+ Creative / Symphony) で更にバリエーション拡張</a:t>
            </a:r>
          </a:p>
          <a:p>
            <a:pPr algn="l">
              <a:lnSpc>
                <a:spcPct val="160000"/>
              </a:lnSpc>
            </a:pPr>
            <a:r>
              <a:rPr sz="1100" b="0">
                <a:solidFill>
                  <a:srgbClr val="1A1A1A"/>
                </a:solidFill>
                <a:latin typeface="Hiragino Sans"/>
                <a:ea typeface="Hiragino Sans"/>
                <a:cs typeface="Hiragino Sans"/>
              </a:rPr>
              <a:t>• AI 生成の品質チェック : 全部ではなく『勝ちそう20%』のみ人間レビュー</a:t>
            </a:r>
          </a:p>
        </p:txBody>
      </p:sp>
      <p:sp>
        <p:nvSpPr>
          <p:cNvPr id="28" name="TextBox 27"/>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Learning Phase 突破手順</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学習期間で失敗しないための7ルール</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P211 / 250</a:t>
            </a:r>
          </a:p>
        </p:txBody>
      </p:sp>
      <p:sp>
        <p:nvSpPr>
          <p:cNvPr id="8" name="Rounded Rectangle 7"/>
          <p:cNvSpPr/>
          <p:nvPr/>
        </p:nvSpPr>
        <p:spPr>
          <a:xfrm>
            <a:off x="548640" y="1417320"/>
            <a:ext cx="2697480" cy="14173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600200"/>
            <a:ext cx="457200" cy="457200"/>
          </a:xfrm>
          <a:prstGeom prst="rect">
            <a:avLst/>
          </a:prstGeom>
          <a:noFill/>
        </p:spPr>
        <p:txBody>
          <a:bodyPr wrap="square" anchor="t" lIns="0" rIns="0" tIns="0" bIns="0">
            <a:spAutoFit/>
          </a:bodyPr>
          <a:lstStyle/>
          <a:p>
            <a:pPr algn="l">
              <a:lnSpc>
                <a:spcPct val="115000"/>
              </a:lnSpc>
            </a:pPr>
            <a:r>
              <a:rPr sz="2400" b="1">
                <a:solidFill>
                  <a:srgbClr val="E87722"/>
                </a:solidFill>
                <a:latin typeface="Helvetica Neue"/>
                <a:ea typeface="Helvetica Neue"/>
                <a:cs typeface="Helvetica Neue"/>
              </a:rPr>
              <a:t>①</a:t>
            </a:r>
          </a:p>
        </p:txBody>
      </p:sp>
      <p:sp>
        <p:nvSpPr>
          <p:cNvPr id="10" name="TextBox 9"/>
          <p:cNvSpPr txBox="1"/>
          <p:nvPr/>
        </p:nvSpPr>
        <p:spPr>
          <a:xfrm>
            <a:off x="1325880" y="1600200"/>
            <a:ext cx="1783080" cy="411480"/>
          </a:xfrm>
          <a:prstGeom prst="rect">
            <a:avLst/>
          </a:prstGeom>
          <a:noFill/>
        </p:spPr>
        <p:txBody>
          <a:bodyPr wrap="square" anchor="t" lIns="0" rIns="0" tIns="0" bIns="0">
            <a:spAutoFit/>
          </a:bodyPr>
          <a:lstStyle/>
          <a:p>
            <a:pPr algn="l">
              <a:lnSpc>
                <a:spcPct val="130000"/>
              </a:lnSpc>
            </a:pPr>
            <a:r>
              <a:rPr sz="1200" b="1">
                <a:solidFill>
                  <a:srgbClr val="0F2A4F"/>
                </a:solidFill>
                <a:latin typeface="Hiragino Sans"/>
                <a:ea typeface="Hiragino Sans"/>
                <a:cs typeface="Hiragino Sans"/>
              </a:rPr>
              <a:t>予算 ±20% 以内に固定</a:t>
            </a:r>
          </a:p>
        </p:txBody>
      </p:sp>
      <p:sp>
        <p:nvSpPr>
          <p:cNvPr id="11" name="TextBox 10"/>
          <p:cNvSpPr txBox="1"/>
          <p:nvPr/>
        </p:nvSpPr>
        <p:spPr>
          <a:xfrm>
            <a:off x="731520" y="2286000"/>
            <a:ext cx="2331720" cy="502920"/>
          </a:xfrm>
          <a:prstGeom prst="rect">
            <a:avLst/>
          </a:prstGeom>
          <a:noFill/>
        </p:spPr>
        <p:txBody>
          <a:bodyPr wrap="square" anchor="t" lIns="0" rIns="0" tIns="0" bIns="0">
            <a:spAutoFit/>
          </a:bodyPr>
          <a:lstStyle/>
          <a:p>
            <a:pPr algn="l">
              <a:lnSpc>
                <a:spcPct val="145000"/>
              </a:lnSpc>
            </a:pPr>
            <a:r>
              <a:rPr sz="1000" b="0">
                <a:solidFill>
                  <a:srgbClr val="1A1A1A"/>
                </a:solidFill>
                <a:latin typeface="Hiragino Sans"/>
                <a:ea typeface="Hiragino Sans"/>
                <a:cs typeface="Hiragino Sans"/>
              </a:rPr>
              <a:t>学習中の予算変動はリセット要因</a:t>
            </a:r>
          </a:p>
        </p:txBody>
      </p:sp>
      <p:sp>
        <p:nvSpPr>
          <p:cNvPr id="12" name="Rounded Rectangle 11"/>
          <p:cNvSpPr/>
          <p:nvPr/>
        </p:nvSpPr>
        <p:spPr>
          <a:xfrm>
            <a:off x="3337560" y="1417320"/>
            <a:ext cx="2697480" cy="14173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20440" y="1600200"/>
            <a:ext cx="457200" cy="457200"/>
          </a:xfrm>
          <a:prstGeom prst="rect">
            <a:avLst/>
          </a:prstGeom>
          <a:noFill/>
        </p:spPr>
        <p:txBody>
          <a:bodyPr wrap="square" anchor="t" lIns="0" rIns="0" tIns="0" bIns="0">
            <a:spAutoFit/>
          </a:bodyPr>
          <a:lstStyle/>
          <a:p>
            <a:pPr algn="l">
              <a:lnSpc>
                <a:spcPct val="115000"/>
              </a:lnSpc>
            </a:pPr>
            <a:r>
              <a:rPr sz="2400" b="1">
                <a:solidFill>
                  <a:srgbClr val="E87722"/>
                </a:solidFill>
                <a:latin typeface="Helvetica Neue"/>
                <a:ea typeface="Helvetica Neue"/>
                <a:cs typeface="Helvetica Neue"/>
              </a:rPr>
              <a:t>②</a:t>
            </a:r>
          </a:p>
        </p:txBody>
      </p:sp>
      <p:sp>
        <p:nvSpPr>
          <p:cNvPr id="14" name="TextBox 13"/>
          <p:cNvSpPr txBox="1"/>
          <p:nvPr/>
        </p:nvSpPr>
        <p:spPr>
          <a:xfrm>
            <a:off x="4114800" y="1600200"/>
            <a:ext cx="1783080" cy="411480"/>
          </a:xfrm>
          <a:prstGeom prst="rect">
            <a:avLst/>
          </a:prstGeom>
          <a:noFill/>
        </p:spPr>
        <p:txBody>
          <a:bodyPr wrap="square" anchor="t" lIns="0" rIns="0" tIns="0" bIns="0">
            <a:spAutoFit/>
          </a:bodyPr>
          <a:lstStyle/>
          <a:p>
            <a:pPr algn="l">
              <a:lnSpc>
                <a:spcPct val="130000"/>
              </a:lnSpc>
            </a:pPr>
            <a:r>
              <a:rPr sz="1200" b="1">
                <a:solidFill>
                  <a:srgbClr val="0F2A4F"/>
                </a:solidFill>
                <a:latin typeface="Hiragino Sans"/>
                <a:ea typeface="Hiragino Sans"/>
                <a:cs typeface="Hiragino Sans"/>
              </a:rPr>
              <a:t>目標値も ±20% 以内に</a:t>
            </a:r>
          </a:p>
        </p:txBody>
      </p:sp>
      <p:sp>
        <p:nvSpPr>
          <p:cNvPr id="15" name="TextBox 14"/>
          <p:cNvSpPr txBox="1"/>
          <p:nvPr/>
        </p:nvSpPr>
        <p:spPr>
          <a:xfrm>
            <a:off x="3520440" y="2286000"/>
            <a:ext cx="2331720" cy="502920"/>
          </a:xfrm>
          <a:prstGeom prst="rect">
            <a:avLst/>
          </a:prstGeom>
          <a:noFill/>
        </p:spPr>
        <p:txBody>
          <a:bodyPr wrap="square" anchor="t" lIns="0" rIns="0" tIns="0" bIns="0">
            <a:spAutoFit/>
          </a:bodyPr>
          <a:lstStyle/>
          <a:p>
            <a:pPr algn="l">
              <a:lnSpc>
                <a:spcPct val="145000"/>
              </a:lnSpc>
            </a:pPr>
            <a:r>
              <a:rPr sz="1000" b="0">
                <a:solidFill>
                  <a:srgbClr val="1A1A1A"/>
                </a:solidFill>
                <a:latin typeface="Hiragino Sans"/>
                <a:ea typeface="Hiragino Sans"/>
                <a:cs typeface="Hiragino Sans"/>
              </a:rPr>
              <a:t>tCPA/tROAS の極端な値変更NG</a:t>
            </a:r>
          </a:p>
        </p:txBody>
      </p:sp>
      <p:sp>
        <p:nvSpPr>
          <p:cNvPr id="16" name="Rounded Rectangle 15"/>
          <p:cNvSpPr/>
          <p:nvPr/>
        </p:nvSpPr>
        <p:spPr>
          <a:xfrm>
            <a:off x="6126480" y="1417320"/>
            <a:ext cx="2697480" cy="14173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9360" y="1600200"/>
            <a:ext cx="457200" cy="457200"/>
          </a:xfrm>
          <a:prstGeom prst="rect">
            <a:avLst/>
          </a:prstGeom>
          <a:noFill/>
        </p:spPr>
        <p:txBody>
          <a:bodyPr wrap="square" anchor="t" lIns="0" rIns="0" tIns="0" bIns="0">
            <a:spAutoFit/>
          </a:bodyPr>
          <a:lstStyle/>
          <a:p>
            <a:pPr algn="l">
              <a:lnSpc>
                <a:spcPct val="115000"/>
              </a:lnSpc>
            </a:pPr>
            <a:r>
              <a:rPr sz="2400" b="1">
                <a:solidFill>
                  <a:srgbClr val="E87722"/>
                </a:solidFill>
                <a:latin typeface="Helvetica Neue"/>
                <a:ea typeface="Helvetica Neue"/>
                <a:cs typeface="Helvetica Neue"/>
              </a:rPr>
              <a:t>③</a:t>
            </a:r>
          </a:p>
        </p:txBody>
      </p:sp>
      <p:sp>
        <p:nvSpPr>
          <p:cNvPr id="18" name="TextBox 17"/>
          <p:cNvSpPr txBox="1"/>
          <p:nvPr/>
        </p:nvSpPr>
        <p:spPr>
          <a:xfrm>
            <a:off x="6903720" y="1600200"/>
            <a:ext cx="1783080" cy="411480"/>
          </a:xfrm>
          <a:prstGeom prst="rect">
            <a:avLst/>
          </a:prstGeom>
          <a:noFill/>
        </p:spPr>
        <p:txBody>
          <a:bodyPr wrap="square" anchor="t" lIns="0" rIns="0" tIns="0" bIns="0">
            <a:spAutoFit/>
          </a:bodyPr>
          <a:lstStyle/>
          <a:p>
            <a:pPr algn="l">
              <a:lnSpc>
                <a:spcPct val="130000"/>
              </a:lnSpc>
            </a:pPr>
            <a:r>
              <a:rPr sz="1200" b="1">
                <a:solidFill>
                  <a:srgbClr val="0F2A4F"/>
                </a:solidFill>
                <a:latin typeface="Hiragino Sans"/>
                <a:ea typeface="Hiragino Sans"/>
                <a:cs typeface="Hiragino Sans"/>
              </a:rPr>
              <a:t>週単位でCVを30件以上目標</a:t>
            </a:r>
          </a:p>
        </p:txBody>
      </p:sp>
      <p:sp>
        <p:nvSpPr>
          <p:cNvPr id="19" name="TextBox 18"/>
          <p:cNvSpPr txBox="1"/>
          <p:nvPr/>
        </p:nvSpPr>
        <p:spPr>
          <a:xfrm>
            <a:off x="6309360" y="2286000"/>
            <a:ext cx="2331720" cy="502920"/>
          </a:xfrm>
          <a:prstGeom prst="rect">
            <a:avLst/>
          </a:prstGeom>
          <a:noFill/>
        </p:spPr>
        <p:txBody>
          <a:bodyPr wrap="square" anchor="t" lIns="0" rIns="0" tIns="0" bIns="0">
            <a:spAutoFit/>
          </a:bodyPr>
          <a:lstStyle/>
          <a:p>
            <a:pPr algn="l">
              <a:lnSpc>
                <a:spcPct val="145000"/>
              </a:lnSpc>
            </a:pPr>
            <a:r>
              <a:rPr sz="1000" b="0">
                <a:solidFill>
                  <a:srgbClr val="1A1A1A"/>
                </a:solidFill>
                <a:latin typeface="Hiragino Sans"/>
                <a:ea typeface="Hiragino Sans"/>
                <a:cs typeface="Hiragino Sans"/>
              </a:rPr>
              <a:t>下回るキャンペーンは構造見直し</a:t>
            </a:r>
          </a:p>
        </p:txBody>
      </p:sp>
      <p:sp>
        <p:nvSpPr>
          <p:cNvPr id="20" name="Rounded Rectangle 19"/>
          <p:cNvSpPr/>
          <p:nvPr/>
        </p:nvSpPr>
        <p:spPr>
          <a:xfrm>
            <a:off x="8915400" y="1417320"/>
            <a:ext cx="2697480" cy="14173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98280" y="1600200"/>
            <a:ext cx="457200" cy="457200"/>
          </a:xfrm>
          <a:prstGeom prst="rect">
            <a:avLst/>
          </a:prstGeom>
          <a:noFill/>
        </p:spPr>
        <p:txBody>
          <a:bodyPr wrap="square" anchor="t" lIns="0" rIns="0" tIns="0" bIns="0">
            <a:spAutoFit/>
          </a:bodyPr>
          <a:lstStyle/>
          <a:p>
            <a:pPr algn="l">
              <a:lnSpc>
                <a:spcPct val="115000"/>
              </a:lnSpc>
            </a:pPr>
            <a:r>
              <a:rPr sz="2400" b="1">
                <a:solidFill>
                  <a:srgbClr val="E87722"/>
                </a:solidFill>
                <a:latin typeface="Helvetica Neue"/>
                <a:ea typeface="Helvetica Neue"/>
                <a:cs typeface="Helvetica Neue"/>
              </a:rPr>
              <a:t>④</a:t>
            </a:r>
          </a:p>
        </p:txBody>
      </p:sp>
      <p:sp>
        <p:nvSpPr>
          <p:cNvPr id="22" name="TextBox 21"/>
          <p:cNvSpPr txBox="1"/>
          <p:nvPr/>
        </p:nvSpPr>
        <p:spPr>
          <a:xfrm>
            <a:off x="9692640" y="1600200"/>
            <a:ext cx="1783080" cy="411480"/>
          </a:xfrm>
          <a:prstGeom prst="rect">
            <a:avLst/>
          </a:prstGeom>
          <a:noFill/>
        </p:spPr>
        <p:txBody>
          <a:bodyPr wrap="square" anchor="t" lIns="0" rIns="0" tIns="0" bIns="0">
            <a:spAutoFit/>
          </a:bodyPr>
          <a:lstStyle/>
          <a:p>
            <a:pPr algn="l">
              <a:lnSpc>
                <a:spcPct val="130000"/>
              </a:lnSpc>
            </a:pPr>
            <a:r>
              <a:rPr sz="1200" b="1">
                <a:solidFill>
                  <a:srgbClr val="0F2A4F"/>
                </a:solidFill>
                <a:latin typeface="Hiragino Sans"/>
                <a:ea typeface="Hiragino Sans"/>
                <a:cs typeface="Hiragino Sans"/>
              </a:rPr>
              <a:t>アセット追加は週1回程度</a:t>
            </a:r>
          </a:p>
        </p:txBody>
      </p:sp>
      <p:sp>
        <p:nvSpPr>
          <p:cNvPr id="23" name="TextBox 22"/>
          <p:cNvSpPr txBox="1"/>
          <p:nvPr/>
        </p:nvSpPr>
        <p:spPr>
          <a:xfrm>
            <a:off x="9098280" y="2286000"/>
            <a:ext cx="2331720" cy="502920"/>
          </a:xfrm>
          <a:prstGeom prst="rect">
            <a:avLst/>
          </a:prstGeom>
          <a:noFill/>
        </p:spPr>
        <p:txBody>
          <a:bodyPr wrap="square" anchor="t" lIns="0" rIns="0" tIns="0" bIns="0">
            <a:spAutoFit/>
          </a:bodyPr>
          <a:lstStyle/>
          <a:p>
            <a:pPr algn="l">
              <a:lnSpc>
                <a:spcPct val="145000"/>
              </a:lnSpc>
            </a:pPr>
            <a:r>
              <a:rPr sz="1000" b="0">
                <a:solidFill>
                  <a:srgbClr val="1A1A1A"/>
                </a:solidFill>
                <a:latin typeface="Hiragino Sans"/>
                <a:ea typeface="Hiragino Sans"/>
                <a:cs typeface="Hiragino Sans"/>
              </a:rPr>
              <a:t>頻繁な変更で学習がリセット</a:t>
            </a:r>
          </a:p>
        </p:txBody>
      </p:sp>
      <p:sp>
        <p:nvSpPr>
          <p:cNvPr id="24" name="Rounded Rectangle 23"/>
          <p:cNvSpPr/>
          <p:nvPr/>
        </p:nvSpPr>
        <p:spPr>
          <a:xfrm>
            <a:off x="548640" y="2971800"/>
            <a:ext cx="2697480" cy="14173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3154680"/>
            <a:ext cx="457200" cy="457200"/>
          </a:xfrm>
          <a:prstGeom prst="rect">
            <a:avLst/>
          </a:prstGeom>
          <a:noFill/>
        </p:spPr>
        <p:txBody>
          <a:bodyPr wrap="square" anchor="t" lIns="0" rIns="0" tIns="0" bIns="0">
            <a:spAutoFit/>
          </a:bodyPr>
          <a:lstStyle/>
          <a:p>
            <a:pPr algn="l">
              <a:lnSpc>
                <a:spcPct val="115000"/>
              </a:lnSpc>
            </a:pPr>
            <a:r>
              <a:rPr sz="2400" b="1">
                <a:solidFill>
                  <a:srgbClr val="E87722"/>
                </a:solidFill>
                <a:latin typeface="Helvetica Neue"/>
                <a:ea typeface="Helvetica Neue"/>
                <a:cs typeface="Helvetica Neue"/>
              </a:rPr>
              <a:t>⑤</a:t>
            </a:r>
          </a:p>
        </p:txBody>
      </p:sp>
      <p:sp>
        <p:nvSpPr>
          <p:cNvPr id="26" name="TextBox 25"/>
          <p:cNvSpPr txBox="1"/>
          <p:nvPr/>
        </p:nvSpPr>
        <p:spPr>
          <a:xfrm>
            <a:off x="1325880" y="3154680"/>
            <a:ext cx="1783080" cy="411480"/>
          </a:xfrm>
          <a:prstGeom prst="rect">
            <a:avLst/>
          </a:prstGeom>
          <a:noFill/>
        </p:spPr>
        <p:txBody>
          <a:bodyPr wrap="square" anchor="t" lIns="0" rIns="0" tIns="0" bIns="0">
            <a:spAutoFit/>
          </a:bodyPr>
          <a:lstStyle/>
          <a:p>
            <a:pPr algn="l">
              <a:lnSpc>
                <a:spcPct val="130000"/>
              </a:lnSpc>
            </a:pPr>
            <a:r>
              <a:rPr sz="1200" b="1">
                <a:solidFill>
                  <a:srgbClr val="0F2A4F"/>
                </a:solidFill>
                <a:latin typeface="Hiragino Sans"/>
                <a:ea typeface="Hiragino Sans"/>
                <a:cs typeface="Hiragino Sans"/>
              </a:rPr>
              <a:t>ad set 統合 (細分化NG)</a:t>
            </a:r>
          </a:p>
        </p:txBody>
      </p:sp>
      <p:sp>
        <p:nvSpPr>
          <p:cNvPr id="27" name="TextBox 26"/>
          <p:cNvSpPr txBox="1"/>
          <p:nvPr/>
        </p:nvSpPr>
        <p:spPr>
          <a:xfrm>
            <a:off x="731520" y="3840480"/>
            <a:ext cx="2331720" cy="502920"/>
          </a:xfrm>
          <a:prstGeom prst="rect">
            <a:avLst/>
          </a:prstGeom>
          <a:noFill/>
        </p:spPr>
        <p:txBody>
          <a:bodyPr wrap="square" anchor="t" lIns="0" rIns="0" tIns="0" bIns="0">
            <a:spAutoFit/>
          </a:bodyPr>
          <a:lstStyle/>
          <a:p>
            <a:pPr algn="l">
              <a:lnSpc>
                <a:spcPct val="145000"/>
              </a:lnSpc>
            </a:pPr>
            <a:r>
              <a:rPr sz="1000" b="0">
                <a:solidFill>
                  <a:srgbClr val="1A1A1A"/>
                </a:solidFill>
                <a:latin typeface="Hiragino Sans"/>
                <a:ea typeface="Hiragino Sans"/>
                <a:cs typeface="Hiragino Sans"/>
              </a:rPr>
              <a:t>1キャンペーン 2-3 ad set 推奨</a:t>
            </a:r>
          </a:p>
        </p:txBody>
      </p:sp>
      <p:sp>
        <p:nvSpPr>
          <p:cNvPr id="28" name="Rounded Rectangle 27"/>
          <p:cNvSpPr/>
          <p:nvPr/>
        </p:nvSpPr>
        <p:spPr>
          <a:xfrm>
            <a:off x="3337560" y="2971800"/>
            <a:ext cx="2697480" cy="14173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520440" y="3154680"/>
            <a:ext cx="457200" cy="457200"/>
          </a:xfrm>
          <a:prstGeom prst="rect">
            <a:avLst/>
          </a:prstGeom>
          <a:noFill/>
        </p:spPr>
        <p:txBody>
          <a:bodyPr wrap="square" anchor="t" lIns="0" rIns="0" tIns="0" bIns="0">
            <a:spAutoFit/>
          </a:bodyPr>
          <a:lstStyle/>
          <a:p>
            <a:pPr algn="l">
              <a:lnSpc>
                <a:spcPct val="115000"/>
              </a:lnSpc>
            </a:pPr>
            <a:r>
              <a:rPr sz="2400" b="1">
                <a:solidFill>
                  <a:srgbClr val="E87722"/>
                </a:solidFill>
                <a:latin typeface="Helvetica Neue"/>
                <a:ea typeface="Helvetica Neue"/>
                <a:cs typeface="Helvetica Neue"/>
              </a:rPr>
              <a:t>⑥</a:t>
            </a:r>
          </a:p>
        </p:txBody>
      </p:sp>
      <p:sp>
        <p:nvSpPr>
          <p:cNvPr id="30" name="TextBox 29"/>
          <p:cNvSpPr txBox="1"/>
          <p:nvPr/>
        </p:nvSpPr>
        <p:spPr>
          <a:xfrm>
            <a:off x="4114800" y="3154680"/>
            <a:ext cx="1783080" cy="411480"/>
          </a:xfrm>
          <a:prstGeom prst="rect">
            <a:avLst/>
          </a:prstGeom>
          <a:noFill/>
        </p:spPr>
        <p:txBody>
          <a:bodyPr wrap="square" anchor="t" lIns="0" rIns="0" tIns="0" bIns="0">
            <a:spAutoFit/>
          </a:bodyPr>
          <a:lstStyle/>
          <a:p>
            <a:pPr algn="l">
              <a:lnSpc>
                <a:spcPct val="130000"/>
              </a:lnSpc>
            </a:pPr>
            <a:r>
              <a:rPr sz="1200" b="1">
                <a:solidFill>
                  <a:srgbClr val="0F2A4F"/>
                </a:solidFill>
                <a:latin typeface="Hiragino Sans"/>
                <a:ea typeface="Hiragino Sans"/>
                <a:cs typeface="Hiragino Sans"/>
              </a:rPr>
              <a:t>Audience Signal を充実</a:t>
            </a:r>
          </a:p>
        </p:txBody>
      </p:sp>
      <p:sp>
        <p:nvSpPr>
          <p:cNvPr id="31" name="TextBox 30"/>
          <p:cNvSpPr txBox="1"/>
          <p:nvPr/>
        </p:nvSpPr>
        <p:spPr>
          <a:xfrm>
            <a:off x="3520440" y="3840480"/>
            <a:ext cx="2331720" cy="502920"/>
          </a:xfrm>
          <a:prstGeom prst="rect">
            <a:avLst/>
          </a:prstGeom>
          <a:noFill/>
        </p:spPr>
        <p:txBody>
          <a:bodyPr wrap="square" anchor="t" lIns="0" rIns="0" tIns="0" bIns="0">
            <a:spAutoFit/>
          </a:bodyPr>
          <a:lstStyle/>
          <a:p>
            <a:pPr algn="l">
              <a:lnSpc>
                <a:spcPct val="145000"/>
              </a:lnSpc>
            </a:pPr>
            <a:r>
              <a:rPr sz="1000" b="0">
                <a:solidFill>
                  <a:srgbClr val="1A1A1A"/>
                </a:solidFill>
                <a:latin typeface="Hiragino Sans"/>
                <a:ea typeface="Hiragino Sans"/>
                <a:cs typeface="Hiragino Sans"/>
              </a:rPr>
              <a:t>1PD投入 + Intent Segments</a:t>
            </a:r>
          </a:p>
        </p:txBody>
      </p:sp>
      <p:sp>
        <p:nvSpPr>
          <p:cNvPr id="32" name="Rounded Rectangle 31"/>
          <p:cNvSpPr/>
          <p:nvPr/>
        </p:nvSpPr>
        <p:spPr>
          <a:xfrm>
            <a:off x="3337560" y="4526280"/>
            <a:ext cx="2697480" cy="14173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520440" y="4709160"/>
            <a:ext cx="457200" cy="457200"/>
          </a:xfrm>
          <a:prstGeom prst="rect">
            <a:avLst/>
          </a:prstGeom>
          <a:noFill/>
        </p:spPr>
        <p:txBody>
          <a:bodyPr wrap="square" anchor="t" lIns="0" rIns="0" tIns="0" bIns="0">
            <a:spAutoFit/>
          </a:bodyPr>
          <a:lstStyle/>
          <a:p>
            <a:pPr algn="l">
              <a:lnSpc>
                <a:spcPct val="115000"/>
              </a:lnSpc>
            </a:pPr>
            <a:r>
              <a:rPr sz="2400" b="1">
                <a:solidFill>
                  <a:srgbClr val="E87722"/>
                </a:solidFill>
                <a:latin typeface="Helvetica Neue"/>
                <a:ea typeface="Helvetica Neue"/>
                <a:cs typeface="Helvetica Neue"/>
              </a:rPr>
              <a:t>⑦</a:t>
            </a:r>
          </a:p>
        </p:txBody>
      </p:sp>
      <p:sp>
        <p:nvSpPr>
          <p:cNvPr id="34" name="TextBox 33"/>
          <p:cNvSpPr txBox="1"/>
          <p:nvPr/>
        </p:nvSpPr>
        <p:spPr>
          <a:xfrm>
            <a:off x="4114800" y="4709160"/>
            <a:ext cx="1783080" cy="411480"/>
          </a:xfrm>
          <a:prstGeom prst="rect">
            <a:avLst/>
          </a:prstGeom>
          <a:noFill/>
        </p:spPr>
        <p:txBody>
          <a:bodyPr wrap="square" anchor="t" lIns="0" rIns="0" tIns="0" bIns="0">
            <a:spAutoFit/>
          </a:bodyPr>
          <a:lstStyle/>
          <a:p>
            <a:pPr algn="l">
              <a:lnSpc>
                <a:spcPct val="130000"/>
              </a:lnSpc>
            </a:pPr>
            <a:r>
              <a:rPr sz="1200" b="1">
                <a:solidFill>
                  <a:srgbClr val="0F2A4F"/>
                </a:solidFill>
                <a:latin typeface="Hiragino Sans"/>
                <a:ea typeface="Hiragino Sans"/>
                <a:cs typeface="Hiragino Sans"/>
              </a:rPr>
              <a:t>Optiscore は計測系から適用</a:t>
            </a:r>
          </a:p>
        </p:txBody>
      </p:sp>
      <p:sp>
        <p:nvSpPr>
          <p:cNvPr id="35" name="TextBox 34"/>
          <p:cNvSpPr txBox="1"/>
          <p:nvPr/>
        </p:nvSpPr>
        <p:spPr>
          <a:xfrm>
            <a:off x="3520440" y="5394960"/>
            <a:ext cx="2331720" cy="502920"/>
          </a:xfrm>
          <a:prstGeom prst="rect">
            <a:avLst/>
          </a:prstGeom>
          <a:noFill/>
        </p:spPr>
        <p:txBody>
          <a:bodyPr wrap="square" anchor="t" lIns="0" rIns="0" tIns="0" bIns="0">
            <a:spAutoFit/>
          </a:bodyPr>
          <a:lstStyle/>
          <a:p>
            <a:pPr algn="l">
              <a:lnSpc>
                <a:spcPct val="145000"/>
              </a:lnSpc>
            </a:pPr>
            <a:r>
              <a:rPr sz="1000" b="0">
                <a:solidFill>
                  <a:srgbClr val="1A1A1A"/>
                </a:solidFill>
                <a:latin typeface="Hiragino Sans"/>
                <a:ea typeface="Hiragino Sans"/>
                <a:cs typeface="Hiragino Sans"/>
              </a:rPr>
              <a:t>Enhanced Conv / DDA等 学習補助系</a:t>
            </a:r>
          </a:p>
        </p:txBody>
      </p:sp>
      <p:sp>
        <p:nvSpPr>
          <p:cNvPr id="36" name="TextBox 35"/>
          <p:cNvSpPr txBox="1"/>
          <p:nvPr/>
        </p:nvSpPr>
        <p:spPr>
          <a:xfrm>
            <a:off x="548640" y="6080760"/>
            <a:ext cx="1097280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 Learning Phaseは『AIを育てる時間』。我慢して触らないのが最大のベストプラクティス</a:t>
            </a:r>
          </a:p>
        </p:txBody>
      </p:sp>
      <p:sp>
        <p:nvSpPr>
          <p:cNvPr id="37" name="TextBox 36"/>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予算配分フレーム</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媒体別配分の目安と動的調整</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P212 / 250</a:t>
            </a:r>
          </a:p>
        </p:txBody>
      </p:sp>
      <p:sp>
        <p:nvSpPr>
          <p:cNvPr id="8" name="TextBox 7"/>
          <p:cNvSpPr txBox="1"/>
          <p:nvPr/>
        </p:nvSpPr>
        <p:spPr>
          <a:xfrm>
            <a:off x="548640" y="1417320"/>
            <a:ext cx="1097280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業種別の標準配分 (Google : Meta : 他媒体)</a:t>
            </a:r>
          </a:p>
        </p:txBody>
      </p:sp>
      <p:sp>
        <p:nvSpPr>
          <p:cNvPr id="9" name="Rounded Rectangle 8"/>
          <p:cNvSpPr/>
          <p:nvPr/>
        </p:nvSpPr>
        <p:spPr>
          <a:xfrm>
            <a:off x="548640" y="1828800"/>
            <a:ext cx="5440680" cy="14173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828800"/>
            <a:ext cx="91440" cy="14173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47672"/>
            <a:ext cx="5074920" cy="32004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EC / D2C</a:t>
            </a:r>
          </a:p>
        </p:txBody>
      </p:sp>
      <p:sp>
        <p:nvSpPr>
          <p:cNvPr id="12" name="TextBox 11"/>
          <p:cNvSpPr txBox="1"/>
          <p:nvPr/>
        </p:nvSpPr>
        <p:spPr>
          <a:xfrm>
            <a:off x="777240" y="2286000"/>
            <a:ext cx="5074920" cy="274320"/>
          </a:xfrm>
          <a:prstGeom prst="rect">
            <a:avLst/>
          </a:prstGeom>
          <a:noFill/>
        </p:spPr>
        <p:txBody>
          <a:bodyPr wrap="square" anchor="t" lIns="0" rIns="0" tIns="0" bIns="0">
            <a:spAutoFit/>
          </a:bodyPr>
          <a:lstStyle/>
          <a:p>
            <a:pPr algn="l">
              <a:lnSpc>
                <a:spcPct val="115000"/>
              </a:lnSpc>
            </a:pPr>
            <a:r>
              <a:rPr sz="1100" b="1">
                <a:solidFill>
                  <a:srgbClr val="B85E1A"/>
                </a:solidFill>
                <a:latin typeface="Helvetica Neue"/>
                <a:ea typeface="Helvetica Neue"/>
                <a:cs typeface="Helvetica Neue"/>
              </a:rPr>
              <a:t>Google 40 / Meta 40 / TikTok 20</a:t>
            </a:r>
          </a:p>
        </p:txBody>
      </p:sp>
      <p:sp>
        <p:nvSpPr>
          <p:cNvPr id="13" name="TextBox 12"/>
          <p:cNvSpPr txBox="1"/>
          <p:nvPr/>
        </p:nvSpPr>
        <p:spPr>
          <a:xfrm>
            <a:off x="777240" y="2606040"/>
            <a:ext cx="5074920" cy="594360"/>
          </a:xfrm>
          <a:prstGeom prst="rect">
            <a:avLst/>
          </a:prstGeom>
          <a:noFill/>
        </p:spPr>
        <p:txBody>
          <a:bodyPr wrap="square" anchor="t" lIns="0" rIns="0" tIns="0" bIns="0">
            <a:spAutoFit/>
          </a:bodyPr>
          <a:lstStyle/>
          <a:p>
            <a:pPr algn="l">
              <a:lnSpc>
                <a:spcPct val="150000"/>
              </a:lnSpc>
            </a:pPr>
            <a:r>
              <a:rPr sz="1000" b="0">
                <a:solidFill>
                  <a:srgbClr val="1A1A1A"/>
                </a:solidFill>
                <a:latin typeface="Hiragino Sans"/>
                <a:ea typeface="Hiragino Sans"/>
                <a:cs typeface="Hiragino Sans"/>
              </a:rPr>
              <a:t>PMax + Advantage+ Sales + Smart+</a:t>
            </a:r>
          </a:p>
          <a:p>
            <a:pPr algn="l">
              <a:lnSpc>
                <a:spcPct val="150000"/>
              </a:lnSpc>
            </a:pPr>
            <a:r>
              <a:rPr sz="1000" b="0">
                <a:solidFill>
                  <a:srgbClr val="1A1A1A"/>
                </a:solidFill>
                <a:latin typeface="Hiragino Sans"/>
                <a:ea typeface="Hiragino Sans"/>
                <a:cs typeface="Hiragino Sans"/>
              </a:rPr>
              <a:t>の3軸構成が鉄板</a:t>
            </a:r>
          </a:p>
        </p:txBody>
      </p:sp>
      <p:sp>
        <p:nvSpPr>
          <p:cNvPr id="14" name="Rounded Rectangle 13"/>
          <p:cNvSpPr/>
          <p:nvPr/>
        </p:nvSpPr>
        <p:spPr>
          <a:xfrm>
            <a:off x="6172200" y="1828800"/>
            <a:ext cx="5440680" cy="14173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72200" y="1828800"/>
            <a:ext cx="91440" cy="14173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1947672"/>
            <a:ext cx="5074920" cy="32004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BtoBリード</a:t>
            </a:r>
          </a:p>
        </p:txBody>
      </p:sp>
      <p:sp>
        <p:nvSpPr>
          <p:cNvPr id="17" name="TextBox 16"/>
          <p:cNvSpPr txBox="1"/>
          <p:nvPr/>
        </p:nvSpPr>
        <p:spPr>
          <a:xfrm>
            <a:off x="6400800" y="2286000"/>
            <a:ext cx="5074920" cy="274320"/>
          </a:xfrm>
          <a:prstGeom prst="rect">
            <a:avLst/>
          </a:prstGeom>
          <a:noFill/>
        </p:spPr>
        <p:txBody>
          <a:bodyPr wrap="square" anchor="t" lIns="0" rIns="0" tIns="0" bIns="0">
            <a:spAutoFit/>
          </a:bodyPr>
          <a:lstStyle/>
          <a:p>
            <a:pPr algn="l">
              <a:lnSpc>
                <a:spcPct val="115000"/>
              </a:lnSpc>
            </a:pPr>
            <a:r>
              <a:rPr sz="1100" b="1">
                <a:solidFill>
                  <a:srgbClr val="B85E1A"/>
                </a:solidFill>
                <a:latin typeface="Helvetica Neue"/>
                <a:ea typeface="Helvetica Neue"/>
                <a:cs typeface="Helvetica Neue"/>
              </a:rPr>
              <a:t>Google 50 / Meta 20 / LinkedIn 30</a:t>
            </a:r>
          </a:p>
        </p:txBody>
      </p:sp>
      <p:sp>
        <p:nvSpPr>
          <p:cNvPr id="18" name="TextBox 17"/>
          <p:cNvSpPr txBox="1"/>
          <p:nvPr/>
        </p:nvSpPr>
        <p:spPr>
          <a:xfrm>
            <a:off x="6400800" y="2606040"/>
            <a:ext cx="5074920" cy="594360"/>
          </a:xfrm>
          <a:prstGeom prst="rect">
            <a:avLst/>
          </a:prstGeom>
          <a:noFill/>
        </p:spPr>
        <p:txBody>
          <a:bodyPr wrap="square" anchor="t" lIns="0" rIns="0" tIns="0" bIns="0">
            <a:spAutoFit/>
          </a:bodyPr>
          <a:lstStyle/>
          <a:p>
            <a:pPr algn="l">
              <a:lnSpc>
                <a:spcPct val="150000"/>
              </a:lnSpc>
            </a:pPr>
            <a:r>
              <a:rPr sz="1000" b="0">
                <a:solidFill>
                  <a:srgbClr val="1A1A1A"/>
                </a:solidFill>
                <a:latin typeface="Hiragino Sans"/>
                <a:ea typeface="Hiragino Sans"/>
                <a:cs typeface="Hiragino Sans"/>
              </a:rPr>
              <a:t>Search広告 + Lead Form 中心</a:t>
            </a:r>
          </a:p>
          <a:p>
            <a:pPr algn="l">
              <a:lnSpc>
                <a:spcPct val="150000"/>
              </a:lnSpc>
            </a:pPr>
            <a:r>
              <a:rPr sz="1000" b="0">
                <a:solidFill>
                  <a:srgbClr val="1A1A1A"/>
                </a:solidFill>
                <a:latin typeface="Hiragino Sans"/>
                <a:ea typeface="Hiragino Sans"/>
                <a:cs typeface="Hiragino Sans"/>
              </a:rPr>
              <a:t>LinkedIn ABM で深掘り</a:t>
            </a:r>
          </a:p>
        </p:txBody>
      </p:sp>
      <p:sp>
        <p:nvSpPr>
          <p:cNvPr id="19" name="Rounded Rectangle 18"/>
          <p:cNvSpPr/>
          <p:nvPr/>
        </p:nvSpPr>
        <p:spPr>
          <a:xfrm>
            <a:off x="548640" y="3383280"/>
            <a:ext cx="5440680" cy="14173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383280"/>
            <a:ext cx="91440" cy="14173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3502152"/>
            <a:ext cx="5074920" cy="32004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飲食/美容/ローカル</a:t>
            </a:r>
          </a:p>
        </p:txBody>
      </p:sp>
      <p:sp>
        <p:nvSpPr>
          <p:cNvPr id="22" name="TextBox 21"/>
          <p:cNvSpPr txBox="1"/>
          <p:nvPr/>
        </p:nvSpPr>
        <p:spPr>
          <a:xfrm>
            <a:off x="777240" y="3840480"/>
            <a:ext cx="5074920" cy="274320"/>
          </a:xfrm>
          <a:prstGeom prst="rect">
            <a:avLst/>
          </a:prstGeom>
          <a:noFill/>
        </p:spPr>
        <p:txBody>
          <a:bodyPr wrap="square" anchor="t" lIns="0" rIns="0" tIns="0" bIns="0">
            <a:spAutoFit/>
          </a:bodyPr>
          <a:lstStyle/>
          <a:p>
            <a:pPr algn="l">
              <a:lnSpc>
                <a:spcPct val="115000"/>
              </a:lnSpc>
            </a:pPr>
            <a:r>
              <a:rPr sz="1100" b="1">
                <a:solidFill>
                  <a:srgbClr val="B85E1A"/>
                </a:solidFill>
                <a:latin typeface="Helvetica Neue"/>
                <a:ea typeface="Helvetica Neue"/>
                <a:cs typeface="Helvetica Neue"/>
              </a:rPr>
              <a:t>Google 50 / Meta 30 / LINE 20</a:t>
            </a:r>
          </a:p>
        </p:txBody>
      </p:sp>
      <p:sp>
        <p:nvSpPr>
          <p:cNvPr id="23" name="TextBox 22"/>
          <p:cNvSpPr txBox="1"/>
          <p:nvPr/>
        </p:nvSpPr>
        <p:spPr>
          <a:xfrm>
            <a:off x="777240" y="4160520"/>
            <a:ext cx="5074920" cy="594360"/>
          </a:xfrm>
          <a:prstGeom prst="rect">
            <a:avLst/>
          </a:prstGeom>
          <a:noFill/>
        </p:spPr>
        <p:txBody>
          <a:bodyPr wrap="square" anchor="t" lIns="0" rIns="0" tIns="0" bIns="0">
            <a:spAutoFit/>
          </a:bodyPr>
          <a:lstStyle/>
          <a:p>
            <a:pPr algn="l">
              <a:lnSpc>
                <a:spcPct val="150000"/>
              </a:lnSpc>
            </a:pPr>
            <a:r>
              <a:rPr sz="1000" b="0">
                <a:solidFill>
                  <a:srgbClr val="1A1A1A"/>
                </a:solidFill>
                <a:latin typeface="Hiragino Sans"/>
                <a:ea typeface="Hiragino Sans"/>
                <a:cs typeface="Hiragino Sans"/>
              </a:rPr>
              <a:t>Google Maps + Local + Meta Reels +</a:t>
            </a:r>
          </a:p>
          <a:p>
            <a:pPr algn="l">
              <a:lnSpc>
                <a:spcPct val="150000"/>
              </a:lnSpc>
            </a:pPr>
            <a:r>
              <a:rPr sz="1000" b="0">
                <a:solidFill>
                  <a:srgbClr val="1A1A1A"/>
                </a:solidFill>
                <a:latin typeface="Hiragino Sans"/>
                <a:ea typeface="Hiragino Sans"/>
                <a:cs typeface="Hiragino Sans"/>
              </a:rPr>
              <a:t>LINE公式アカウント連携</a:t>
            </a:r>
          </a:p>
        </p:txBody>
      </p:sp>
      <p:sp>
        <p:nvSpPr>
          <p:cNvPr id="24" name="Rounded Rectangle 23"/>
          <p:cNvSpPr/>
          <p:nvPr/>
        </p:nvSpPr>
        <p:spPr>
          <a:xfrm>
            <a:off x="6172200" y="3383280"/>
            <a:ext cx="5440680" cy="14173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72200" y="3383280"/>
            <a:ext cx="91440" cy="14173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0" y="3502152"/>
            <a:ext cx="5074920" cy="32004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認知獲得型</a:t>
            </a:r>
          </a:p>
        </p:txBody>
      </p:sp>
      <p:sp>
        <p:nvSpPr>
          <p:cNvPr id="27" name="TextBox 26"/>
          <p:cNvSpPr txBox="1"/>
          <p:nvPr/>
        </p:nvSpPr>
        <p:spPr>
          <a:xfrm>
            <a:off x="6400800" y="3840480"/>
            <a:ext cx="5074920" cy="274320"/>
          </a:xfrm>
          <a:prstGeom prst="rect">
            <a:avLst/>
          </a:prstGeom>
          <a:noFill/>
        </p:spPr>
        <p:txBody>
          <a:bodyPr wrap="square" anchor="t" lIns="0" rIns="0" tIns="0" bIns="0">
            <a:spAutoFit/>
          </a:bodyPr>
          <a:lstStyle/>
          <a:p>
            <a:pPr algn="l">
              <a:lnSpc>
                <a:spcPct val="115000"/>
              </a:lnSpc>
            </a:pPr>
            <a:r>
              <a:rPr sz="1100" b="1">
                <a:solidFill>
                  <a:srgbClr val="B85E1A"/>
                </a:solidFill>
                <a:latin typeface="Helvetica Neue"/>
                <a:ea typeface="Helvetica Neue"/>
                <a:cs typeface="Helvetica Neue"/>
              </a:rPr>
              <a:t>YouTube 40 / Meta 30 / TikTok 30</a:t>
            </a:r>
          </a:p>
        </p:txBody>
      </p:sp>
      <p:sp>
        <p:nvSpPr>
          <p:cNvPr id="28" name="TextBox 27"/>
          <p:cNvSpPr txBox="1"/>
          <p:nvPr/>
        </p:nvSpPr>
        <p:spPr>
          <a:xfrm>
            <a:off x="6400800" y="4160520"/>
            <a:ext cx="5074920" cy="594360"/>
          </a:xfrm>
          <a:prstGeom prst="rect">
            <a:avLst/>
          </a:prstGeom>
          <a:noFill/>
        </p:spPr>
        <p:txBody>
          <a:bodyPr wrap="square" anchor="t" lIns="0" rIns="0" tIns="0" bIns="0">
            <a:spAutoFit/>
          </a:bodyPr>
          <a:lstStyle/>
          <a:p>
            <a:pPr algn="l">
              <a:lnSpc>
                <a:spcPct val="150000"/>
              </a:lnSpc>
            </a:pPr>
            <a:r>
              <a:rPr sz="1000" b="0">
                <a:solidFill>
                  <a:srgbClr val="1A1A1A"/>
                </a:solidFill>
                <a:latin typeface="Hiragino Sans"/>
                <a:ea typeface="Hiragino Sans"/>
                <a:cs typeface="Hiragino Sans"/>
              </a:rPr>
              <a:t>VRC + Reels + Smart+ で</a:t>
            </a:r>
          </a:p>
          <a:p>
            <a:pPr algn="l">
              <a:lnSpc>
                <a:spcPct val="150000"/>
              </a:lnSpc>
            </a:pPr>
            <a:r>
              <a:rPr sz="1000" b="0">
                <a:solidFill>
                  <a:srgbClr val="1A1A1A"/>
                </a:solidFill>
                <a:latin typeface="Hiragino Sans"/>
                <a:ea typeface="Hiragino Sans"/>
                <a:cs typeface="Hiragino Sans"/>
              </a:rPr>
              <a:t>縦型/横型動画ミックス</a:t>
            </a:r>
          </a:p>
        </p:txBody>
      </p:sp>
      <p:sp>
        <p:nvSpPr>
          <p:cNvPr id="29" name="Rounded Rectangle 28"/>
          <p:cNvSpPr/>
          <p:nvPr/>
        </p:nvSpPr>
        <p:spPr>
          <a:xfrm>
            <a:off x="548640" y="5029200"/>
            <a:ext cx="11109960" cy="132588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5166360"/>
            <a:ext cx="10058400" cy="320040"/>
          </a:xfrm>
          <a:prstGeom prst="rect">
            <a:avLst/>
          </a:prstGeom>
          <a:noFill/>
        </p:spPr>
        <p:txBody>
          <a:bodyPr wrap="square" anchor="t" lIns="0" rIns="0" tIns="0" bIns="0">
            <a:spAutoFit/>
          </a:bodyPr>
          <a:lstStyle/>
          <a:p>
            <a:pPr algn="l">
              <a:lnSpc>
                <a:spcPct val="115000"/>
              </a:lnSpc>
            </a:pPr>
            <a:r>
              <a:rPr sz="1200" b="1">
                <a:solidFill>
                  <a:srgbClr val="E87722"/>
                </a:solidFill>
                <a:latin typeface="Hiragino Sans"/>
                <a:ea typeface="Hiragino Sans"/>
                <a:cs typeface="Hiragino Sans"/>
              </a:rPr>
              <a:t>💡 動的調整の原則</a:t>
            </a:r>
          </a:p>
        </p:txBody>
      </p:sp>
      <p:sp>
        <p:nvSpPr>
          <p:cNvPr id="31" name="TextBox 30"/>
          <p:cNvSpPr txBox="1"/>
          <p:nvPr/>
        </p:nvSpPr>
        <p:spPr>
          <a:xfrm>
            <a:off x="777240" y="5486400"/>
            <a:ext cx="10972800" cy="777240"/>
          </a:xfrm>
          <a:prstGeom prst="rect">
            <a:avLst/>
          </a:prstGeom>
          <a:noFill/>
        </p:spPr>
        <p:txBody>
          <a:bodyPr wrap="square" anchor="t" lIns="0" rIns="0" tIns="0" bIns="0">
            <a:spAutoFit/>
          </a:bodyPr>
          <a:lstStyle/>
          <a:p>
            <a:pPr algn="l">
              <a:lnSpc>
                <a:spcPct val="155000"/>
              </a:lnSpc>
            </a:pPr>
            <a:r>
              <a:rPr sz="1100" b="0">
                <a:solidFill>
                  <a:srgbClr val="FFFFFF"/>
                </a:solidFill>
                <a:latin typeface="Hiragino Sans"/>
                <a:ea typeface="Hiragino Sans"/>
                <a:cs typeface="Hiragino Sans"/>
              </a:rPr>
              <a:t>• 月次でROAS/CPA基準で配分見直し (媒体間で予算移動)</a:t>
            </a:r>
          </a:p>
          <a:p>
            <a:pPr algn="l">
              <a:lnSpc>
                <a:spcPct val="155000"/>
              </a:lnSpc>
            </a:pPr>
            <a:r>
              <a:rPr sz="1100" b="0">
                <a:solidFill>
                  <a:srgbClr val="FFFFFF"/>
                </a:solidFill>
                <a:latin typeface="Hiragino Sans"/>
                <a:ea typeface="Hiragino Sans"/>
                <a:cs typeface="Hiragino Sans"/>
              </a:rPr>
              <a:t>• 大きな動かしは ±20% 以内 (学習リセット回避)</a:t>
            </a:r>
          </a:p>
          <a:p>
            <a:pPr algn="l">
              <a:lnSpc>
                <a:spcPct val="155000"/>
              </a:lnSpc>
            </a:pPr>
            <a:r>
              <a:rPr sz="1100" b="0">
                <a:solidFill>
                  <a:srgbClr val="FFFFFF"/>
                </a:solidFill>
                <a:latin typeface="Hiragino Sans"/>
                <a:ea typeface="Hiragino Sans"/>
                <a:cs typeface="Hiragino Sans"/>
              </a:rPr>
              <a:t>• MMM結果で再配分 (中規模以上、月予算500万円〜)</a:t>
            </a:r>
          </a:p>
        </p:txBody>
      </p:sp>
      <p:sp>
        <p:nvSpPr>
          <p:cNvPr id="32" name="TextBox 31"/>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検証設計 — Incrementality + A/B + Lift</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ラストクリック超えの効果測定</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P213 / 250</a:t>
            </a:r>
          </a:p>
        </p:txBody>
      </p:sp>
      <p:sp>
        <p:nvSpPr>
          <p:cNvPr id="8" name="Rounded Rectangle 7"/>
          <p:cNvSpPr/>
          <p:nvPr/>
        </p:nvSpPr>
        <p:spPr>
          <a:xfrm>
            <a:off x="548640" y="1417320"/>
            <a:ext cx="2697480" cy="2286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269748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81912"/>
            <a:ext cx="2423160" cy="411480"/>
          </a:xfrm>
          <a:prstGeom prst="rect">
            <a:avLst/>
          </a:prstGeom>
          <a:noFill/>
        </p:spPr>
        <p:txBody>
          <a:bodyPr wrap="square" anchor="t" lIns="0" rIns="0" tIns="0" bIns="0">
            <a:spAutoFit/>
          </a:bodyPr>
          <a:lstStyle/>
          <a:p>
            <a:pPr algn="ctr">
              <a:lnSpc>
                <a:spcPct val="120000"/>
              </a:lnSpc>
            </a:pPr>
            <a:r>
              <a:rPr sz="1300" b="1">
                <a:solidFill>
                  <a:srgbClr val="E87722"/>
                </a:solidFill>
                <a:latin typeface="Hiragino Sans"/>
                <a:ea typeface="Hiragino Sans"/>
                <a:cs typeface="Hiragino Sans"/>
              </a:rPr>
              <a:t>Conversion Lift</a:t>
            </a:r>
          </a:p>
        </p:txBody>
      </p:sp>
      <p:sp>
        <p:nvSpPr>
          <p:cNvPr id="11" name="TextBox 10"/>
          <p:cNvSpPr txBox="1"/>
          <p:nvPr/>
        </p:nvSpPr>
        <p:spPr>
          <a:xfrm>
            <a:off x="685800" y="1965960"/>
            <a:ext cx="242316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媒体内 (Meta/Google/TikTok)</a:t>
            </a:r>
          </a:p>
        </p:txBody>
      </p:sp>
      <p:sp>
        <p:nvSpPr>
          <p:cNvPr id="12" name="TextBox 11"/>
          <p:cNvSpPr txBox="1"/>
          <p:nvPr/>
        </p:nvSpPr>
        <p:spPr>
          <a:xfrm>
            <a:off x="685800" y="2377440"/>
            <a:ext cx="2423160" cy="1280160"/>
          </a:xfrm>
          <a:prstGeom prst="rect">
            <a:avLst/>
          </a:prstGeom>
          <a:noFill/>
        </p:spPr>
        <p:txBody>
          <a:bodyPr wrap="square" anchor="t" lIns="0" rIns="0" tIns="0" bIns="0">
            <a:spAutoFit/>
          </a:bodyPr>
          <a:lstStyle/>
          <a:p>
            <a:pPr algn="ctr">
              <a:lnSpc>
                <a:spcPct val="155000"/>
              </a:lnSpc>
            </a:pPr>
            <a:r>
              <a:rPr sz="1000" b="0">
                <a:solidFill>
                  <a:srgbClr val="1A1A1A"/>
                </a:solidFill>
                <a:latin typeface="Hiragino Sans"/>
                <a:ea typeface="Hiragino Sans"/>
                <a:cs typeface="Hiragino Sans"/>
              </a:rPr>
              <a:t>Test/Control群でCV率比較</a:t>
            </a:r>
          </a:p>
          <a:p>
            <a:pPr algn="ctr">
              <a:lnSpc>
                <a:spcPct val="155000"/>
              </a:lnSpc>
            </a:pPr>
            <a:r>
              <a:rPr sz="1000" b="0">
                <a:solidFill>
                  <a:srgbClr val="1A1A1A"/>
                </a:solidFill>
                <a:latin typeface="Hiragino Sans"/>
                <a:ea typeface="Hiragino Sans"/>
                <a:cs typeface="Hiragino Sans"/>
              </a:rPr>
              <a:t>月100万以上で月次標準化</a:t>
            </a:r>
          </a:p>
        </p:txBody>
      </p:sp>
      <p:sp>
        <p:nvSpPr>
          <p:cNvPr id="13" name="Rounded Rectangle 12"/>
          <p:cNvSpPr/>
          <p:nvPr/>
        </p:nvSpPr>
        <p:spPr>
          <a:xfrm>
            <a:off x="3337560" y="1417320"/>
            <a:ext cx="2697480" cy="2286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37560" y="1417320"/>
            <a:ext cx="269748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74720" y="1581912"/>
            <a:ext cx="2423160" cy="411480"/>
          </a:xfrm>
          <a:prstGeom prst="rect">
            <a:avLst/>
          </a:prstGeom>
          <a:noFill/>
        </p:spPr>
        <p:txBody>
          <a:bodyPr wrap="square" anchor="t" lIns="0" rIns="0" tIns="0" bIns="0">
            <a:spAutoFit/>
          </a:bodyPr>
          <a:lstStyle/>
          <a:p>
            <a:pPr algn="ctr">
              <a:lnSpc>
                <a:spcPct val="120000"/>
              </a:lnSpc>
            </a:pPr>
            <a:r>
              <a:rPr sz="1300" b="1">
                <a:solidFill>
                  <a:srgbClr val="E87722"/>
                </a:solidFill>
                <a:latin typeface="Hiragino Sans"/>
                <a:ea typeface="Hiragino Sans"/>
                <a:cs typeface="Hiragino Sans"/>
              </a:rPr>
              <a:t>Brand Lift Study</a:t>
            </a:r>
          </a:p>
        </p:txBody>
      </p:sp>
      <p:sp>
        <p:nvSpPr>
          <p:cNvPr id="16" name="TextBox 15"/>
          <p:cNvSpPr txBox="1"/>
          <p:nvPr/>
        </p:nvSpPr>
        <p:spPr>
          <a:xfrm>
            <a:off x="3474720" y="1965960"/>
            <a:ext cx="242316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認知系効果測定</a:t>
            </a:r>
          </a:p>
        </p:txBody>
      </p:sp>
      <p:sp>
        <p:nvSpPr>
          <p:cNvPr id="17" name="TextBox 16"/>
          <p:cNvSpPr txBox="1"/>
          <p:nvPr/>
        </p:nvSpPr>
        <p:spPr>
          <a:xfrm>
            <a:off x="3474720" y="2377440"/>
            <a:ext cx="2423160" cy="1280160"/>
          </a:xfrm>
          <a:prstGeom prst="rect">
            <a:avLst/>
          </a:prstGeom>
          <a:noFill/>
        </p:spPr>
        <p:txBody>
          <a:bodyPr wrap="square" anchor="t" lIns="0" rIns="0" tIns="0" bIns="0">
            <a:spAutoFit/>
          </a:bodyPr>
          <a:lstStyle/>
          <a:p>
            <a:pPr algn="ctr">
              <a:lnSpc>
                <a:spcPct val="155000"/>
              </a:lnSpc>
            </a:pPr>
            <a:r>
              <a:rPr sz="1000" b="0">
                <a:solidFill>
                  <a:srgbClr val="1A1A1A"/>
                </a:solidFill>
                <a:latin typeface="Hiragino Sans"/>
                <a:ea typeface="Hiragino Sans"/>
                <a:cs typeface="Hiragino Sans"/>
              </a:rPr>
              <a:t>Ad Recall/Awareness/Intent</a:t>
            </a:r>
          </a:p>
          <a:p>
            <a:pPr algn="ctr">
              <a:lnSpc>
                <a:spcPct val="155000"/>
              </a:lnSpc>
            </a:pPr>
            <a:r>
              <a:rPr sz="1000" b="0">
                <a:solidFill>
                  <a:srgbClr val="1A1A1A"/>
                </a:solidFill>
                <a:latin typeface="Hiragino Sans"/>
                <a:ea typeface="Hiragino Sans"/>
                <a:cs typeface="Hiragino Sans"/>
              </a:rPr>
              <a:t>ブランディング案件で必須</a:t>
            </a:r>
          </a:p>
        </p:txBody>
      </p:sp>
      <p:sp>
        <p:nvSpPr>
          <p:cNvPr id="18" name="Rounded Rectangle 17"/>
          <p:cNvSpPr/>
          <p:nvPr/>
        </p:nvSpPr>
        <p:spPr>
          <a:xfrm>
            <a:off x="6126480" y="1417320"/>
            <a:ext cx="2697480" cy="2286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0" y="1417320"/>
            <a:ext cx="269748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3640" y="1581912"/>
            <a:ext cx="2423160" cy="411480"/>
          </a:xfrm>
          <a:prstGeom prst="rect">
            <a:avLst/>
          </a:prstGeom>
          <a:noFill/>
        </p:spPr>
        <p:txBody>
          <a:bodyPr wrap="square" anchor="t" lIns="0" rIns="0" tIns="0" bIns="0">
            <a:spAutoFit/>
          </a:bodyPr>
          <a:lstStyle/>
          <a:p>
            <a:pPr algn="ctr">
              <a:lnSpc>
                <a:spcPct val="120000"/>
              </a:lnSpc>
            </a:pPr>
            <a:r>
              <a:rPr sz="1300" b="1">
                <a:solidFill>
                  <a:srgbClr val="E87722"/>
                </a:solidFill>
                <a:latin typeface="Hiragino Sans"/>
                <a:ea typeface="Hiragino Sans"/>
                <a:cs typeface="Hiragino Sans"/>
              </a:rPr>
              <a:t>Search Lift</a:t>
            </a:r>
          </a:p>
        </p:txBody>
      </p:sp>
      <p:sp>
        <p:nvSpPr>
          <p:cNvPr id="21" name="TextBox 20"/>
          <p:cNvSpPr txBox="1"/>
          <p:nvPr/>
        </p:nvSpPr>
        <p:spPr>
          <a:xfrm>
            <a:off x="6263640" y="1965960"/>
            <a:ext cx="242316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Google YouTube独自</a:t>
            </a:r>
          </a:p>
        </p:txBody>
      </p:sp>
      <p:sp>
        <p:nvSpPr>
          <p:cNvPr id="22" name="TextBox 21"/>
          <p:cNvSpPr txBox="1"/>
          <p:nvPr/>
        </p:nvSpPr>
        <p:spPr>
          <a:xfrm>
            <a:off x="6263640" y="2377440"/>
            <a:ext cx="2423160" cy="1280160"/>
          </a:xfrm>
          <a:prstGeom prst="rect">
            <a:avLst/>
          </a:prstGeom>
          <a:noFill/>
        </p:spPr>
        <p:txBody>
          <a:bodyPr wrap="square" anchor="t" lIns="0" rIns="0" tIns="0" bIns="0">
            <a:spAutoFit/>
          </a:bodyPr>
          <a:lstStyle/>
          <a:p>
            <a:pPr algn="ctr">
              <a:lnSpc>
                <a:spcPct val="155000"/>
              </a:lnSpc>
            </a:pPr>
            <a:r>
              <a:rPr sz="1000" b="0">
                <a:solidFill>
                  <a:srgbClr val="1A1A1A"/>
                </a:solidFill>
                <a:latin typeface="Hiragino Sans"/>
                <a:ea typeface="Hiragino Sans"/>
                <a:cs typeface="Hiragino Sans"/>
              </a:rPr>
              <a:t>ブランド検索数の上昇</a:t>
            </a:r>
          </a:p>
          <a:p>
            <a:pPr algn="ctr">
              <a:lnSpc>
                <a:spcPct val="155000"/>
              </a:lnSpc>
            </a:pPr>
            <a:r>
              <a:rPr sz="1000" b="0">
                <a:solidFill>
                  <a:srgbClr val="1A1A1A"/>
                </a:solidFill>
                <a:latin typeface="Hiragino Sans"/>
                <a:ea typeface="Hiragino Sans"/>
                <a:cs typeface="Hiragino Sans"/>
              </a:rPr>
              <a:t>認知 → 検索 導線を測定</a:t>
            </a:r>
          </a:p>
        </p:txBody>
      </p:sp>
      <p:sp>
        <p:nvSpPr>
          <p:cNvPr id="23" name="Rounded Rectangle 22"/>
          <p:cNvSpPr/>
          <p:nvPr/>
        </p:nvSpPr>
        <p:spPr>
          <a:xfrm>
            <a:off x="8915400" y="1417320"/>
            <a:ext cx="2697480" cy="2286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15400" y="1417320"/>
            <a:ext cx="269748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52560" y="1581912"/>
            <a:ext cx="2423160" cy="411480"/>
          </a:xfrm>
          <a:prstGeom prst="rect">
            <a:avLst/>
          </a:prstGeom>
          <a:noFill/>
        </p:spPr>
        <p:txBody>
          <a:bodyPr wrap="square" anchor="t" lIns="0" rIns="0" tIns="0" bIns="0">
            <a:spAutoFit/>
          </a:bodyPr>
          <a:lstStyle/>
          <a:p>
            <a:pPr algn="ctr">
              <a:lnSpc>
                <a:spcPct val="120000"/>
              </a:lnSpc>
            </a:pPr>
            <a:r>
              <a:rPr sz="1300" b="1">
                <a:solidFill>
                  <a:srgbClr val="E87722"/>
                </a:solidFill>
                <a:latin typeface="Hiragino Sans"/>
                <a:ea typeface="Hiragino Sans"/>
                <a:cs typeface="Hiragino Sans"/>
              </a:rPr>
              <a:t>Geo Lift Test</a:t>
            </a:r>
          </a:p>
        </p:txBody>
      </p:sp>
      <p:sp>
        <p:nvSpPr>
          <p:cNvPr id="26" name="TextBox 25"/>
          <p:cNvSpPr txBox="1"/>
          <p:nvPr/>
        </p:nvSpPr>
        <p:spPr>
          <a:xfrm>
            <a:off x="9052560" y="1965960"/>
            <a:ext cx="242316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地域別非配信実験</a:t>
            </a:r>
          </a:p>
        </p:txBody>
      </p:sp>
      <p:sp>
        <p:nvSpPr>
          <p:cNvPr id="27" name="TextBox 26"/>
          <p:cNvSpPr txBox="1"/>
          <p:nvPr/>
        </p:nvSpPr>
        <p:spPr>
          <a:xfrm>
            <a:off x="9052560" y="2377440"/>
            <a:ext cx="2423160" cy="1280160"/>
          </a:xfrm>
          <a:prstGeom prst="rect">
            <a:avLst/>
          </a:prstGeom>
          <a:noFill/>
        </p:spPr>
        <p:txBody>
          <a:bodyPr wrap="square" anchor="t" lIns="0" rIns="0" tIns="0" bIns="0">
            <a:spAutoFit/>
          </a:bodyPr>
          <a:lstStyle/>
          <a:p>
            <a:pPr algn="ctr">
              <a:lnSpc>
                <a:spcPct val="155000"/>
              </a:lnSpc>
            </a:pPr>
            <a:r>
              <a:rPr sz="1000" b="0">
                <a:solidFill>
                  <a:srgbClr val="1A1A1A"/>
                </a:solidFill>
                <a:latin typeface="Hiragino Sans"/>
                <a:ea typeface="Hiragino Sans"/>
                <a:cs typeface="Hiragino Sans"/>
              </a:rPr>
              <a:t>TVCM併用ブランド</a:t>
            </a:r>
          </a:p>
          <a:p>
            <a:pPr algn="ctr">
              <a:lnSpc>
                <a:spcPct val="155000"/>
              </a:lnSpc>
            </a:pPr>
            <a:r>
              <a:rPr sz="1000" b="0">
                <a:solidFill>
                  <a:srgbClr val="1A1A1A"/>
                </a:solidFill>
                <a:latin typeface="Hiragino Sans"/>
                <a:ea typeface="Hiragino Sans"/>
                <a:cs typeface="Hiragino Sans"/>
              </a:rPr>
              <a:t>商用ツール (Geolift等)</a:t>
            </a:r>
          </a:p>
        </p:txBody>
      </p:sp>
      <p:sp>
        <p:nvSpPr>
          <p:cNvPr id="28" name="Rounded Rectangle 27"/>
          <p:cNvSpPr/>
          <p:nvPr/>
        </p:nvSpPr>
        <p:spPr>
          <a:xfrm>
            <a:off x="548640" y="3886200"/>
            <a:ext cx="11109960" cy="246888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4023360"/>
            <a:ext cx="100584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 副業代行で検証設計を提案するシナリオ</a:t>
            </a:r>
          </a:p>
        </p:txBody>
      </p:sp>
      <p:sp>
        <p:nvSpPr>
          <p:cNvPr id="30" name="TextBox 29"/>
          <p:cNvSpPr txBox="1"/>
          <p:nvPr/>
        </p:nvSpPr>
        <p:spPr>
          <a:xfrm>
            <a:off x="777240" y="4343400"/>
            <a:ext cx="10972800" cy="196596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 月予算 100万円以上のCV系 = Conversion Lift Test を月次で実施 (無料)</a:t>
            </a:r>
          </a:p>
          <a:p>
            <a:pPr algn="l">
              <a:lnSpc>
                <a:spcPct val="160000"/>
              </a:lnSpc>
            </a:pPr>
            <a:r>
              <a:rPr sz="1100" b="0">
                <a:solidFill>
                  <a:srgbClr val="1A1A1A"/>
                </a:solidFill>
                <a:latin typeface="Hiragino Sans"/>
                <a:ea typeface="Hiragino Sans"/>
                <a:cs typeface="Hiragino Sans"/>
              </a:rPr>
              <a:t>• 月予算 100万円以上の認知系 = Brand Lift Study (媒体側無料、Meta/Google/TikTok)</a:t>
            </a:r>
          </a:p>
          <a:p>
            <a:pPr algn="l">
              <a:lnSpc>
                <a:spcPct val="160000"/>
              </a:lnSpc>
            </a:pPr>
            <a:r>
              <a:rPr sz="1100" b="0">
                <a:solidFill>
                  <a:srgbClr val="1A1A1A"/>
                </a:solidFill>
                <a:latin typeface="Hiragino Sans"/>
                <a:ea typeface="Hiragino Sans"/>
                <a:cs typeface="Hiragino Sans"/>
              </a:rPr>
              <a:t>• YouTube認知 = Brand Lift + Search Lift で『認知 → 検索』導線確認</a:t>
            </a:r>
          </a:p>
          <a:p>
            <a:pPr algn="l">
              <a:lnSpc>
                <a:spcPct val="160000"/>
              </a:lnSpc>
            </a:pPr>
            <a:r>
              <a:rPr sz="1100" b="0">
                <a:solidFill>
                  <a:srgbClr val="1A1A1A"/>
                </a:solidFill>
                <a:latin typeface="Hiragino Sans"/>
                <a:ea typeface="Hiragino Sans"/>
                <a:cs typeface="Hiragino Sans"/>
              </a:rPr>
              <a:t>• 月予算 500万円以上 + 多媒体 = MMM (Robyn/Meridian) で全体配分検証</a:t>
            </a:r>
          </a:p>
          <a:p>
            <a:pPr algn="l">
              <a:lnSpc>
                <a:spcPct val="160000"/>
              </a:lnSpc>
            </a:pPr>
            <a:r>
              <a:rPr sz="1100" b="0">
                <a:solidFill>
                  <a:srgbClr val="1A1A1A"/>
                </a:solidFill>
                <a:latin typeface="Hiragino Sans"/>
                <a:ea typeface="Hiragino Sans"/>
                <a:cs typeface="Hiragino Sans"/>
              </a:rPr>
              <a:t>• クライアントレポートに『Incremental ROAS』を必ず記載 (差別化要素)</a:t>
            </a:r>
          </a:p>
        </p:txBody>
      </p:sp>
      <p:sp>
        <p:nvSpPr>
          <p:cNvPr id="31" name="TextBox 30"/>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月次レポート標準フォーマット</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クライアント向けの『これだけ載せれば信頼』</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P214 / 250</a:t>
            </a:r>
          </a:p>
        </p:txBody>
      </p:sp>
      <p:sp>
        <p:nvSpPr>
          <p:cNvPr id="8" name="Rounded Rectangle 7"/>
          <p:cNvSpPr/>
          <p:nvPr/>
        </p:nvSpPr>
        <p:spPr>
          <a:xfrm>
            <a:off x="548640" y="1417320"/>
            <a:ext cx="3611880" cy="14173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14173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554480"/>
            <a:ext cx="2286000" cy="274320"/>
          </a:xfrm>
          <a:prstGeom prst="rect">
            <a:avLst/>
          </a:prstGeom>
          <a:noFill/>
        </p:spPr>
        <p:txBody>
          <a:bodyPr wrap="square" anchor="t" lIns="0" rIns="0" tIns="0" bIns="0">
            <a:spAutoFit/>
          </a:bodyPr>
          <a:lstStyle/>
          <a:p>
            <a:pPr algn="l">
              <a:lnSpc>
                <a:spcPct val="115000"/>
              </a:lnSpc>
            </a:pPr>
            <a:r>
              <a:rPr sz="1100" b="1">
                <a:solidFill>
                  <a:srgbClr val="B85E1A"/>
                </a:solidFill>
                <a:latin typeface="Helvetica Neue"/>
                <a:ea typeface="Helvetica Neue"/>
                <a:cs typeface="Helvetica Neue"/>
              </a:rPr>
              <a:t>Section 1</a:t>
            </a:r>
          </a:p>
        </p:txBody>
      </p:sp>
      <p:sp>
        <p:nvSpPr>
          <p:cNvPr id="11" name="TextBox 10"/>
          <p:cNvSpPr txBox="1"/>
          <p:nvPr/>
        </p:nvSpPr>
        <p:spPr>
          <a:xfrm>
            <a:off x="777240" y="1828800"/>
            <a:ext cx="324612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エグゼクティブサマリー</a:t>
            </a:r>
          </a:p>
        </p:txBody>
      </p:sp>
      <p:sp>
        <p:nvSpPr>
          <p:cNvPr id="12" name="TextBox 11"/>
          <p:cNvSpPr txBox="1"/>
          <p:nvPr/>
        </p:nvSpPr>
        <p:spPr>
          <a:xfrm>
            <a:off x="777240" y="2240280"/>
            <a:ext cx="3246120" cy="548640"/>
          </a:xfrm>
          <a:prstGeom prst="rect">
            <a:avLst/>
          </a:prstGeom>
          <a:noFill/>
        </p:spPr>
        <p:txBody>
          <a:bodyPr wrap="square" anchor="t" lIns="0" rIns="0" tIns="0" bIns="0">
            <a:spAutoFit/>
          </a:bodyPr>
          <a:lstStyle/>
          <a:p>
            <a:pPr algn="l">
              <a:lnSpc>
                <a:spcPct val="145000"/>
              </a:lnSpc>
            </a:pPr>
            <a:r>
              <a:rPr sz="1000" b="0">
                <a:solidFill>
                  <a:srgbClr val="1A1A1A"/>
                </a:solidFill>
                <a:latin typeface="Hiragino Sans"/>
                <a:ea typeface="Hiragino Sans"/>
                <a:cs typeface="Hiragino Sans"/>
              </a:rPr>
              <a:t>3-5行 + 主要数字</a:t>
            </a:r>
          </a:p>
          <a:p>
            <a:pPr algn="l">
              <a:lnSpc>
                <a:spcPct val="145000"/>
              </a:lnSpc>
            </a:pPr>
            <a:r>
              <a:rPr sz="1000" b="0">
                <a:solidFill>
                  <a:srgbClr val="1A1A1A"/>
                </a:solidFill>
                <a:latin typeface="Hiragino Sans"/>
                <a:ea typeface="Hiragino Sans"/>
                <a:cs typeface="Hiragino Sans"/>
              </a:rPr>
              <a:t>月の総括 + 今月の論点</a:t>
            </a:r>
          </a:p>
        </p:txBody>
      </p:sp>
      <p:sp>
        <p:nvSpPr>
          <p:cNvPr id="13" name="Rounded Rectangle 12"/>
          <p:cNvSpPr/>
          <p:nvPr/>
        </p:nvSpPr>
        <p:spPr>
          <a:xfrm>
            <a:off x="4297680" y="1417320"/>
            <a:ext cx="3611880" cy="14173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7680" y="1417320"/>
            <a:ext cx="91440" cy="14173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26280" y="1554480"/>
            <a:ext cx="2286000" cy="274320"/>
          </a:xfrm>
          <a:prstGeom prst="rect">
            <a:avLst/>
          </a:prstGeom>
          <a:noFill/>
        </p:spPr>
        <p:txBody>
          <a:bodyPr wrap="square" anchor="t" lIns="0" rIns="0" tIns="0" bIns="0">
            <a:spAutoFit/>
          </a:bodyPr>
          <a:lstStyle/>
          <a:p>
            <a:pPr algn="l">
              <a:lnSpc>
                <a:spcPct val="115000"/>
              </a:lnSpc>
            </a:pPr>
            <a:r>
              <a:rPr sz="1100" b="1">
                <a:solidFill>
                  <a:srgbClr val="B85E1A"/>
                </a:solidFill>
                <a:latin typeface="Helvetica Neue"/>
                <a:ea typeface="Helvetica Neue"/>
                <a:cs typeface="Helvetica Neue"/>
              </a:rPr>
              <a:t>Section 2</a:t>
            </a:r>
          </a:p>
        </p:txBody>
      </p:sp>
      <p:sp>
        <p:nvSpPr>
          <p:cNvPr id="16" name="TextBox 15"/>
          <p:cNvSpPr txBox="1"/>
          <p:nvPr/>
        </p:nvSpPr>
        <p:spPr>
          <a:xfrm>
            <a:off x="4526280" y="1828800"/>
            <a:ext cx="324612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KGI / KPI ダッシュボード</a:t>
            </a:r>
          </a:p>
        </p:txBody>
      </p:sp>
      <p:sp>
        <p:nvSpPr>
          <p:cNvPr id="17" name="TextBox 16"/>
          <p:cNvSpPr txBox="1"/>
          <p:nvPr/>
        </p:nvSpPr>
        <p:spPr>
          <a:xfrm>
            <a:off x="4526280" y="2240280"/>
            <a:ext cx="3246120" cy="548640"/>
          </a:xfrm>
          <a:prstGeom prst="rect">
            <a:avLst/>
          </a:prstGeom>
          <a:noFill/>
        </p:spPr>
        <p:txBody>
          <a:bodyPr wrap="square" anchor="t" lIns="0" rIns="0" tIns="0" bIns="0">
            <a:spAutoFit/>
          </a:bodyPr>
          <a:lstStyle/>
          <a:p>
            <a:pPr algn="l">
              <a:lnSpc>
                <a:spcPct val="145000"/>
              </a:lnSpc>
            </a:pPr>
            <a:r>
              <a:rPr sz="1000" b="0">
                <a:solidFill>
                  <a:srgbClr val="1A1A1A"/>
                </a:solidFill>
                <a:latin typeface="Hiragino Sans"/>
                <a:ea typeface="Hiragino Sans"/>
                <a:cs typeface="Hiragino Sans"/>
              </a:rPr>
              <a:t>売上 / CV / CPA / ROAS</a:t>
            </a:r>
          </a:p>
          <a:p>
            <a:pPr algn="l">
              <a:lnSpc>
                <a:spcPct val="145000"/>
              </a:lnSpc>
            </a:pPr>
            <a:r>
              <a:rPr sz="1000" b="0">
                <a:solidFill>
                  <a:srgbClr val="1A1A1A"/>
                </a:solidFill>
                <a:latin typeface="Hiragino Sans"/>
                <a:ea typeface="Hiragino Sans"/>
                <a:cs typeface="Hiragino Sans"/>
              </a:rPr>
              <a:t>前月比・目標比</a:t>
            </a:r>
          </a:p>
        </p:txBody>
      </p:sp>
      <p:sp>
        <p:nvSpPr>
          <p:cNvPr id="18" name="Rounded Rectangle 17"/>
          <p:cNvSpPr/>
          <p:nvPr/>
        </p:nvSpPr>
        <p:spPr>
          <a:xfrm>
            <a:off x="8046720" y="1417320"/>
            <a:ext cx="3611880" cy="14173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6720" y="1417320"/>
            <a:ext cx="91440" cy="14173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1554480"/>
            <a:ext cx="2286000" cy="274320"/>
          </a:xfrm>
          <a:prstGeom prst="rect">
            <a:avLst/>
          </a:prstGeom>
          <a:noFill/>
        </p:spPr>
        <p:txBody>
          <a:bodyPr wrap="square" anchor="t" lIns="0" rIns="0" tIns="0" bIns="0">
            <a:spAutoFit/>
          </a:bodyPr>
          <a:lstStyle/>
          <a:p>
            <a:pPr algn="l">
              <a:lnSpc>
                <a:spcPct val="115000"/>
              </a:lnSpc>
            </a:pPr>
            <a:r>
              <a:rPr sz="1100" b="1">
                <a:solidFill>
                  <a:srgbClr val="B85E1A"/>
                </a:solidFill>
                <a:latin typeface="Helvetica Neue"/>
                <a:ea typeface="Helvetica Neue"/>
                <a:cs typeface="Helvetica Neue"/>
              </a:rPr>
              <a:t>Section 3</a:t>
            </a:r>
          </a:p>
        </p:txBody>
      </p:sp>
      <p:sp>
        <p:nvSpPr>
          <p:cNvPr id="21" name="TextBox 20"/>
          <p:cNvSpPr txBox="1"/>
          <p:nvPr/>
        </p:nvSpPr>
        <p:spPr>
          <a:xfrm>
            <a:off x="8275320" y="1828800"/>
            <a:ext cx="324612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媒体別パフォーマンス</a:t>
            </a:r>
          </a:p>
        </p:txBody>
      </p:sp>
      <p:sp>
        <p:nvSpPr>
          <p:cNvPr id="22" name="TextBox 21"/>
          <p:cNvSpPr txBox="1"/>
          <p:nvPr/>
        </p:nvSpPr>
        <p:spPr>
          <a:xfrm>
            <a:off x="8275320" y="2240280"/>
            <a:ext cx="3246120" cy="548640"/>
          </a:xfrm>
          <a:prstGeom prst="rect">
            <a:avLst/>
          </a:prstGeom>
          <a:noFill/>
        </p:spPr>
        <p:txBody>
          <a:bodyPr wrap="square" anchor="t" lIns="0" rIns="0" tIns="0" bIns="0">
            <a:spAutoFit/>
          </a:bodyPr>
          <a:lstStyle/>
          <a:p>
            <a:pPr algn="l">
              <a:lnSpc>
                <a:spcPct val="145000"/>
              </a:lnSpc>
            </a:pPr>
            <a:r>
              <a:rPr sz="1000" b="0">
                <a:solidFill>
                  <a:srgbClr val="1A1A1A"/>
                </a:solidFill>
                <a:latin typeface="Hiragino Sans"/>
                <a:ea typeface="Hiragino Sans"/>
                <a:cs typeface="Hiragino Sans"/>
              </a:rPr>
              <a:t>媒体別の数字 + コメント</a:t>
            </a:r>
          </a:p>
          <a:p>
            <a:pPr algn="l">
              <a:lnSpc>
                <a:spcPct val="145000"/>
              </a:lnSpc>
            </a:pPr>
            <a:r>
              <a:rPr sz="1000" b="0">
                <a:solidFill>
                  <a:srgbClr val="1A1A1A"/>
                </a:solidFill>
                <a:latin typeface="Hiragino Sans"/>
                <a:ea typeface="Hiragino Sans"/>
                <a:cs typeface="Hiragino Sans"/>
              </a:rPr>
              <a:t>良かった点・課題</a:t>
            </a:r>
          </a:p>
        </p:txBody>
      </p:sp>
      <p:sp>
        <p:nvSpPr>
          <p:cNvPr id="23" name="Rounded Rectangle 22"/>
          <p:cNvSpPr/>
          <p:nvPr/>
        </p:nvSpPr>
        <p:spPr>
          <a:xfrm>
            <a:off x="548640" y="2971800"/>
            <a:ext cx="3611880" cy="14173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2971800"/>
            <a:ext cx="91440" cy="14173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3108960"/>
            <a:ext cx="2286000" cy="274320"/>
          </a:xfrm>
          <a:prstGeom prst="rect">
            <a:avLst/>
          </a:prstGeom>
          <a:noFill/>
        </p:spPr>
        <p:txBody>
          <a:bodyPr wrap="square" anchor="t" lIns="0" rIns="0" tIns="0" bIns="0">
            <a:spAutoFit/>
          </a:bodyPr>
          <a:lstStyle/>
          <a:p>
            <a:pPr algn="l">
              <a:lnSpc>
                <a:spcPct val="115000"/>
              </a:lnSpc>
            </a:pPr>
            <a:r>
              <a:rPr sz="1100" b="1">
                <a:solidFill>
                  <a:srgbClr val="B85E1A"/>
                </a:solidFill>
                <a:latin typeface="Helvetica Neue"/>
                <a:ea typeface="Helvetica Neue"/>
                <a:cs typeface="Helvetica Neue"/>
              </a:rPr>
              <a:t>Section 4</a:t>
            </a:r>
          </a:p>
        </p:txBody>
      </p:sp>
      <p:sp>
        <p:nvSpPr>
          <p:cNvPr id="26" name="TextBox 25"/>
          <p:cNvSpPr txBox="1"/>
          <p:nvPr/>
        </p:nvSpPr>
        <p:spPr>
          <a:xfrm>
            <a:off x="777240" y="3383280"/>
            <a:ext cx="324612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クリエイティブ分析</a:t>
            </a:r>
          </a:p>
        </p:txBody>
      </p:sp>
      <p:sp>
        <p:nvSpPr>
          <p:cNvPr id="27" name="TextBox 26"/>
          <p:cNvSpPr txBox="1"/>
          <p:nvPr/>
        </p:nvSpPr>
        <p:spPr>
          <a:xfrm>
            <a:off x="777240" y="3794760"/>
            <a:ext cx="3246120" cy="548640"/>
          </a:xfrm>
          <a:prstGeom prst="rect">
            <a:avLst/>
          </a:prstGeom>
          <a:noFill/>
        </p:spPr>
        <p:txBody>
          <a:bodyPr wrap="square" anchor="t" lIns="0" rIns="0" tIns="0" bIns="0">
            <a:spAutoFit/>
          </a:bodyPr>
          <a:lstStyle/>
          <a:p>
            <a:pPr algn="l">
              <a:lnSpc>
                <a:spcPct val="145000"/>
              </a:lnSpc>
            </a:pPr>
            <a:r>
              <a:rPr sz="1000" b="0">
                <a:solidFill>
                  <a:srgbClr val="1A1A1A"/>
                </a:solidFill>
                <a:latin typeface="Hiragino Sans"/>
                <a:ea typeface="Hiragino Sans"/>
                <a:cs typeface="Hiragino Sans"/>
              </a:rPr>
              <a:t>Best/Low クリエイティブ</a:t>
            </a:r>
          </a:p>
          <a:p>
            <a:pPr algn="l">
              <a:lnSpc>
                <a:spcPct val="145000"/>
              </a:lnSpc>
            </a:pPr>
            <a:r>
              <a:rPr sz="1000" b="0">
                <a:solidFill>
                  <a:srgbClr val="1A1A1A"/>
                </a:solidFill>
                <a:latin typeface="Hiragino Sans"/>
                <a:ea typeface="Hiragino Sans"/>
                <a:cs typeface="Hiragino Sans"/>
              </a:rPr>
              <a:t>勝ちパターン抽出</a:t>
            </a:r>
          </a:p>
        </p:txBody>
      </p:sp>
      <p:sp>
        <p:nvSpPr>
          <p:cNvPr id="28" name="Rounded Rectangle 27"/>
          <p:cNvSpPr/>
          <p:nvPr/>
        </p:nvSpPr>
        <p:spPr>
          <a:xfrm>
            <a:off x="4297680" y="2971800"/>
            <a:ext cx="3611880" cy="14173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297680" y="2971800"/>
            <a:ext cx="91440" cy="14173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26280" y="3108960"/>
            <a:ext cx="2286000" cy="274320"/>
          </a:xfrm>
          <a:prstGeom prst="rect">
            <a:avLst/>
          </a:prstGeom>
          <a:noFill/>
        </p:spPr>
        <p:txBody>
          <a:bodyPr wrap="square" anchor="t" lIns="0" rIns="0" tIns="0" bIns="0">
            <a:spAutoFit/>
          </a:bodyPr>
          <a:lstStyle/>
          <a:p>
            <a:pPr algn="l">
              <a:lnSpc>
                <a:spcPct val="115000"/>
              </a:lnSpc>
            </a:pPr>
            <a:r>
              <a:rPr sz="1100" b="1">
                <a:solidFill>
                  <a:srgbClr val="B85E1A"/>
                </a:solidFill>
                <a:latin typeface="Helvetica Neue"/>
                <a:ea typeface="Helvetica Neue"/>
                <a:cs typeface="Helvetica Neue"/>
              </a:rPr>
              <a:t>Section 5</a:t>
            </a:r>
          </a:p>
        </p:txBody>
      </p:sp>
      <p:sp>
        <p:nvSpPr>
          <p:cNvPr id="31" name="TextBox 30"/>
          <p:cNvSpPr txBox="1"/>
          <p:nvPr/>
        </p:nvSpPr>
        <p:spPr>
          <a:xfrm>
            <a:off x="4526280" y="3383280"/>
            <a:ext cx="324612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Lift Test結果</a:t>
            </a:r>
          </a:p>
        </p:txBody>
      </p:sp>
      <p:sp>
        <p:nvSpPr>
          <p:cNvPr id="32" name="TextBox 31"/>
          <p:cNvSpPr txBox="1"/>
          <p:nvPr/>
        </p:nvSpPr>
        <p:spPr>
          <a:xfrm>
            <a:off x="4526280" y="3794760"/>
            <a:ext cx="3246120" cy="548640"/>
          </a:xfrm>
          <a:prstGeom prst="rect">
            <a:avLst/>
          </a:prstGeom>
          <a:noFill/>
        </p:spPr>
        <p:txBody>
          <a:bodyPr wrap="square" anchor="t" lIns="0" rIns="0" tIns="0" bIns="0">
            <a:spAutoFit/>
          </a:bodyPr>
          <a:lstStyle/>
          <a:p>
            <a:pPr algn="l">
              <a:lnSpc>
                <a:spcPct val="145000"/>
              </a:lnSpc>
            </a:pPr>
            <a:r>
              <a:rPr sz="1000" b="0">
                <a:solidFill>
                  <a:srgbClr val="1A1A1A"/>
                </a:solidFill>
                <a:latin typeface="Hiragino Sans"/>
                <a:ea typeface="Hiragino Sans"/>
                <a:cs typeface="Hiragino Sans"/>
              </a:rPr>
              <a:t>Incremental ROAS</a:t>
            </a:r>
          </a:p>
          <a:p>
            <a:pPr algn="l">
              <a:lnSpc>
                <a:spcPct val="145000"/>
              </a:lnSpc>
            </a:pPr>
            <a:r>
              <a:rPr sz="1000" b="0">
                <a:solidFill>
                  <a:srgbClr val="1A1A1A"/>
                </a:solidFill>
                <a:latin typeface="Hiragino Sans"/>
                <a:ea typeface="Hiragino Sans"/>
                <a:cs typeface="Hiragino Sans"/>
              </a:rPr>
              <a:t>認知系は Brand Lift</a:t>
            </a:r>
          </a:p>
        </p:txBody>
      </p:sp>
      <p:sp>
        <p:nvSpPr>
          <p:cNvPr id="33" name="Rounded Rectangle 32"/>
          <p:cNvSpPr/>
          <p:nvPr/>
        </p:nvSpPr>
        <p:spPr>
          <a:xfrm>
            <a:off x="8046720" y="2971800"/>
            <a:ext cx="3611880" cy="14173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046720" y="2971800"/>
            <a:ext cx="91440" cy="14173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75320" y="3108960"/>
            <a:ext cx="2286000" cy="274320"/>
          </a:xfrm>
          <a:prstGeom prst="rect">
            <a:avLst/>
          </a:prstGeom>
          <a:noFill/>
        </p:spPr>
        <p:txBody>
          <a:bodyPr wrap="square" anchor="t" lIns="0" rIns="0" tIns="0" bIns="0">
            <a:spAutoFit/>
          </a:bodyPr>
          <a:lstStyle/>
          <a:p>
            <a:pPr algn="l">
              <a:lnSpc>
                <a:spcPct val="115000"/>
              </a:lnSpc>
            </a:pPr>
            <a:r>
              <a:rPr sz="1100" b="1">
                <a:solidFill>
                  <a:srgbClr val="B85E1A"/>
                </a:solidFill>
                <a:latin typeface="Helvetica Neue"/>
                <a:ea typeface="Helvetica Neue"/>
                <a:cs typeface="Helvetica Neue"/>
              </a:rPr>
              <a:t>Section 6</a:t>
            </a:r>
          </a:p>
        </p:txBody>
      </p:sp>
      <p:sp>
        <p:nvSpPr>
          <p:cNvPr id="36" name="TextBox 35"/>
          <p:cNvSpPr txBox="1"/>
          <p:nvPr/>
        </p:nvSpPr>
        <p:spPr>
          <a:xfrm>
            <a:off x="8275320" y="3383280"/>
            <a:ext cx="324612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来月の提案 + 予算配分</a:t>
            </a:r>
          </a:p>
        </p:txBody>
      </p:sp>
      <p:sp>
        <p:nvSpPr>
          <p:cNvPr id="37" name="TextBox 36"/>
          <p:cNvSpPr txBox="1"/>
          <p:nvPr/>
        </p:nvSpPr>
        <p:spPr>
          <a:xfrm>
            <a:off x="8275320" y="3794760"/>
            <a:ext cx="3246120" cy="548640"/>
          </a:xfrm>
          <a:prstGeom prst="rect">
            <a:avLst/>
          </a:prstGeom>
          <a:noFill/>
        </p:spPr>
        <p:txBody>
          <a:bodyPr wrap="square" anchor="t" lIns="0" rIns="0" tIns="0" bIns="0">
            <a:spAutoFit/>
          </a:bodyPr>
          <a:lstStyle/>
          <a:p>
            <a:pPr algn="l">
              <a:lnSpc>
                <a:spcPct val="145000"/>
              </a:lnSpc>
            </a:pPr>
            <a:r>
              <a:rPr sz="1000" b="0">
                <a:solidFill>
                  <a:srgbClr val="1A1A1A"/>
                </a:solidFill>
                <a:latin typeface="Hiragino Sans"/>
                <a:ea typeface="Hiragino Sans"/>
                <a:cs typeface="Hiragino Sans"/>
              </a:rPr>
              <a:t>アクション3つ + 期待効果</a:t>
            </a:r>
          </a:p>
          <a:p>
            <a:pPr algn="l">
              <a:lnSpc>
                <a:spcPct val="145000"/>
              </a:lnSpc>
            </a:pPr>
            <a:r>
              <a:rPr sz="1000" b="0">
                <a:solidFill>
                  <a:srgbClr val="1A1A1A"/>
                </a:solidFill>
                <a:latin typeface="Hiragino Sans"/>
                <a:ea typeface="Hiragino Sans"/>
                <a:cs typeface="Hiragino Sans"/>
              </a:rPr>
              <a:t>予算変更の提案</a:t>
            </a:r>
          </a:p>
        </p:txBody>
      </p:sp>
      <p:sp>
        <p:nvSpPr>
          <p:cNvPr id="38" name="Rounded Rectangle 37"/>
          <p:cNvSpPr/>
          <p:nvPr/>
        </p:nvSpPr>
        <p:spPr>
          <a:xfrm>
            <a:off x="548640" y="5029200"/>
            <a:ext cx="11109960" cy="132588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77240" y="5166360"/>
            <a:ext cx="100584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 レポート作成効率化</a:t>
            </a:r>
          </a:p>
        </p:txBody>
      </p:sp>
      <p:sp>
        <p:nvSpPr>
          <p:cNvPr id="40" name="TextBox 39"/>
          <p:cNvSpPr txBox="1"/>
          <p:nvPr/>
        </p:nvSpPr>
        <p:spPr>
          <a:xfrm>
            <a:off x="777240" y="5486400"/>
            <a:ext cx="10972800" cy="777240"/>
          </a:xfrm>
          <a:prstGeom prst="rect">
            <a:avLst/>
          </a:prstGeom>
          <a:noFill/>
        </p:spPr>
        <p:txBody>
          <a:bodyPr wrap="square" anchor="t" lIns="0" rIns="0" tIns="0" bIns="0">
            <a:spAutoFit/>
          </a:bodyPr>
          <a:lstStyle/>
          <a:p>
            <a:pPr algn="l">
              <a:lnSpc>
                <a:spcPct val="155000"/>
              </a:lnSpc>
            </a:pPr>
            <a:r>
              <a:rPr sz="1100" b="0">
                <a:solidFill>
                  <a:srgbClr val="1A1A1A"/>
                </a:solidFill>
                <a:latin typeface="Hiragino Sans"/>
                <a:ea typeface="Hiragino Sans"/>
                <a:cs typeface="Hiragino Sans"/>
              </a:rPr>
              <a:t>• Looker Studio でテンプレ化 → 月次自動更新</a:t>
            </a:r>
          </a:p>
          <a:p>
            <a:pPr algn="l">
              <a:lnSpc>
                <a:spcPct val="155000"/>
              </a:lnSpc>
            </a:pPr>
            <a:r>
              <a:rPr sz="1100" b="0">
                <a:solidFill>
                  <a:srgbClr val="1A1A1A"/>
                </a:solidFill>
                <a:latin typeface="Hiragino Sans"/>
                <a:ea typeface="Hiragino Sans"/>
                <a:cs typeface="Hiragino Sans"/>
              </a:rPr>
              <a:t>• Conversational Analytics で要約自動生成</a:t>
            </a:r>
          </a:p>
          <a:p>
            <a:pPr algn="l">
              <a:lnSpc>
                <a:spcPct val="155000"/>
              </a:lnSpc>
            </a:pPr>
            <a:r>
              <a:rPr sz="1100" b="0">
                <a:solidFill>
                  <a:srgbClr val="1A1A1A"/>
                </a:solidFill>
                <a:latin typeface="Hiragino Sans"/>
                <a:ea typeface="Hiragino Sans"/>
                <a:cs typeface="Hiragino Sans"/>
              </a:rPr>
              <a:t>• Section 1, 6 のみ人間執筆、他は AI Insights 活用 → 工数 5h → 1h 削減</a:t>
            </a:r>
          </a:p>
        </p:txBody>
      </p:sp>
      <p:sp>
        <p:nvSpPr>
          <p:cNvPr id="41" name="TextBox 40"/>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クライアント説明スクリプト</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鉄板の伝え方 5パターン</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P215 / 250</a:t>
            </a:r>
          </a:p>
        </p:txBody>
      </p:sp>
      <p:sp>
        <p:nvSpPr>
          <p:cNvPr id="8" name="Rounded Rectangle 7"/>
          <p:cNvSpPr/>
          <p:nvPr/>
        </p:nvSpPr>
        <p:spPr>
          <a:xfrm>
            <a:off x="548640" y="1371600"/>
            <a:ext cx="11109960" cy="9144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71600"/>
            <a:ext cx="91440" cy="91440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90472"/>
            <a:ext cx="10515600" cy="27432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 数字が悪い時</a:t>
            </a:r>
          </a:p>
        </p:txBody>
      </p:sp>
      <p:sp>
        <p:nvSpPr>
          <p:cNvPr id="11" name="TextBox 10"/>
          <p:cNvSpPr txBox="1"/>
          <p:nvPr/>
        </p:nvSpPr>
        <p:spPr>
          <a:xfrm>
            <a:off x="777240" y="1783080"/>
            <a:ext cx="10515600" cy="502920"/>
          </a:xfrm>
          <a:prstGeom prst="rect">
            <a:avLst/>
          </a:prstGeom>
          <a:noFill/>
        </p:spPr>
        <p:txBody>
          <a:bodyPr wrap="square" anchor="t" lIns="0" rIns="0" tIns="0" bIns="0">
            <a:spAutoFit/>
          </a:bodyPr>
          <a:lstStyle/>
          <a:p>
            <a:pPr algn="l">
              <a:lnSpc>
                <a:spcPct val="155000"/>
              </a:lnSpc>
            </a:pPr>
            <a:r>
              <a:rPr sz="1000" b="0">
                <a:solidFill>
                  <a:srgbClr val="1A1A1A"/>
                </a:solidFill>
                <a:latin typeface="Hiragino Sans"/>
                <a:ea typeface="Hiragino Sans"/>
                <a:cs typeface="Hiragino Sans"/>
              </a:rPr>
              <a:t>『今月のCPAは目標を上回りましたが、Lift Test では Incremental ROAS が改善しています。</a:t>
            </a:r>
          </a:p>
          <a:p>
            <a:pPr algn="l">
              <a:lnSpc>
                <a:spcPct val="155000"/>
              </a:lnSpc>
            </a:pPr>
            <a:r>
              <a:rPr sz="1000" b="0">
                <a:solidFill>
                  <a:srgbClr val="1A1A1A"/>
                </a:solidFill>
                <a:latin typeface="Hiragino Sans"/>
                <a:ea typeface="Hiragino Sans"/>
                <a:cs typeface="Hiragino Sans"/>
              </a:rPr>
              <a:t>これは AI学習が進み、表示頻度が最適化された結果。来月は X を試します』</a:t>
            </a:r>
          </a:p>
        </p:txBody>
      </p:sp>
      <p:sp>
        <p:nvSpPr>
          <p:cNvPr id="12" name="Rounded Rectangle 11"/>
          <p:cNvSpPr/>
          <p:nvPr/>
        </p:nvSpPr>
        <p:spPr>
          <a:xfrm>
            <a:off x="548640" y="2377440"/>
            <a:ext cx="11109960" cy="9144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377440"/>
            <a:ext cx="91440" cy="91440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496312"/>
            <a:ext cx="10515600" cy="27432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 数字が良い時</a:t>
            </a:r>
          </a:p>
        </p:txBody>
      </p:sp>
      <p:sp>
        <p:nvSpPr>
          <p:cNvPr id="15" name="TextBox 14"/>
          <p:cNvSpPr txBox="1"/>
          <p:nvPr/>
        </p:nvSpPr>
        <p:spPr>
          <a:xfrm>
            <a:off x="777240" y="2788920"/>
            <a:ext cx="10515600" cy="502920"/>
          </a:xfrm>
          <a:prstGeom prst="rect">
            <a:avLst/>
          </a:prstGeom>
          <a:noFill/>
        </p:spPr>
        <p:txBody>
          <a:bodyPr wrap="square" anchor="t" lIns="0" rIns="0" tIns="0" bIns="0">
            <a:spAutoFit/>
          </a:bodyPr>
          <a:lstStyle/>
          <a:p>
            <a:pPr algn="l">
              <a:lnSpc>
                <a:spcPct val="155000"/>
              </a:lnSpc>
            </a:pPr>
            <a:r>
              <a:rPr sz="1000" b="0">
                <a:solidFill>
                  <a:srgbClr val="1A1A1A"/>
                </a:solidFill>
                <a:latin typeface="Hiragino Sans"/>
                <a:ea typeface="Hiragino Sans"/>
                <a:cs typeface="Hiragino Sans"/>
              </a:rPr>
              <a:t>『今月の好調要因は A/B/C の3つです。来月は B を更に伸ばすため X を試します。</a:t>
            </a:r>
          </a:p>
          <a:p>
            <a:pPr algn="l">
              <a:lnSpc>
                <a:spcPct val="155000"/>
              </a:lnSpc>
            </a:pPr>
            <a:r>
              <a:rPr sz="1000" b="0">
                <a:solidFill>
                  <a:srgbClr val="1A1A1A"/>
                </a:solidFill>
                <a:latin typeface="Hiragino Sans"/>
                <a:ea typeface="Hiragino Sans"/>
                <a:cs typeface="Hiragino Sans"/>
              </a:rPr>
              <a:t>ただし AI配信の特性上、再現性を保つには検証期間が必要です』</a:t>
            </a:r>
          </a:p>
        </p:txBody>
      </p:sp>
      <p:sp>
        <p:nvSpPr>
          <p:cNvPr id="16" name="Rounded Rectangle 15"/>
          <p:cNvSpPr/>
          <p:nvPr/>
        </p:nvSpPr>
        <p:spPr>
          <a:xfrm>
            <a:off x="548640" y="3383280"/>
            <a:ext cx="11109960" cy="9144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383280"/>
            <a:ext cx="91440" cy="91440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3502152"/>
            <a:ext cx="10515600" cy="27432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 大きな変更を提案</a:t>
            </a:r>
          </a:p>
        </p:txBody>
      </p:sp>
      <p:sp>
        <p:nvSpPr>
          <p:cNvPr id="19" name="TextBox 18"/>
          <p:cNvSpPr txBox="1"/>
          <p:nvPr/>
        </p:nvSpPr>
        <p:spPr>
          <a:xfrm>
            <a:off x="777240" y="3794760"/>
            <a:ext cx="10515600" cy="502920"/>
          </a:xfrm>
          <a:prstGeom prst="rect">
            <a:avLst/>
          </a:prstGeom>
          <a:noFill/>
        </p:spPr>
        <p:txBody>
          <a:bodyPr wrap="square" anchor="t" lIns="0" rIns="0" tIns="0" bIns="0">
            <a:spAutoFit/>
          </a:bodyPr>
          <a:lstStyle/>
          <a:p>
            <a:pPr algn="l">
              <a:lnSpc>
                <a:spcPct val="155000"/>
              </a:lnSpc>
            </a:pPr>
            <a:r>
              <a:rPr sz="1000" b="0">
                <a:solidFill>
                  <a:srgbClr val="1A1A1A"/>
                </a:solidFill>
                <a:latin typeface="Hiragino Sans"/>
                <a:ea typeface="Hiragino Sans"/>
                <a:cs typeface="Hiragino Sans"/>
              </a:rPr>
              <a:t>『現状はXX%で安定していますが、Y を導入することで短期的にZ%改善見込み。</a:t>
            </a:r>
          </a:p>
          <a:p>
            <a:pPr algn="l">
              <a:lnSpc>
                <a:spcPct val="155000"/>
              </a:lnSpc>
            </a:pPr>
            <a:r>
              <a:rPr sz="1000" b="0">
                <a:solidFill>
                  <a:srgbClr val="1A1A1A"/>
                </a:solidFill>
                <a:latin typeface="Hiragino Sans"/>
                <a:ea typeface="Hiragino Sans"/>
                <a:cs typeface="Hiragino Sans"/>
              </a:rPr>
              <a:t>ただし学習期間1-2週間で一時的にCPA上昇のリスクあります』</a:t>
            </a:r>
          </a:p>
        </p:txBody>
      </p:sp>
      <p:sp>
        <p:nvSpPr>
          <p:cNvPr id="20" name="Rounded Rectangle 19"/>
          <p:cNvSpPr/>
          <p:nvPr/>
        </p:nvSpPr>
        <p:spPr>
          <a:xfrm>
            <a:off x="548640" y="4389120"/>
            <a:ext cx="11109960" cy="9144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389120"/>
            <a:ext cx="91440" cy="91440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507992"/>
            <a:ext cx="10515600" cy="27432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 予算増額提案</a:t>
            </a:r>
          </a:p>
        </p:txBody>
      </p:sp>
      <p:sp>
        <p:nvSpPr>
          <p:cNvPr id="23" name="TextBox 22"/>
          <p:cNvSpPr txBox="1"/>
          <p:nvPr/>
        </p:nvSpPr>
        <p:spPr>
          <a:xfrm>
            <a:off x="777240" y="4800600"/>
            <a:ext cx="10515600" cy="502920"/>
          </a:xfrm>
          <a:prstGeom prst="rect">
            <a:avLst/>
          </a:prstGeom>
          <a:noFill/>
        </p:spPr>
        <p:txBody>
          <a:bodyPr wrap="square" anchor="t" lIns="0" rIns="0" tIns="0" bIns="0">
            <a:spAutoFit/>
          </a:bodyPr>
          <a:lstStyle/>
          <a:p>
            <a:pPr algn="l">
              <a:lnSpc>
                <a:spcPct val="155000"/>
              </a:lnSpc>
            </a:pPr>
            <a:r>
              <a:rPr sz="1000" b="0">
                <a:solidFill>
                  <a:srgbClr val="1A1A1A"/>
                </a:solidFill>
                <a:latin typeface="Hiragino Sans"/>
                <a:ea typeface="Hiragino Sans"/>
                <a:cs typeface="Hiragino Sans"/>
              </a:rPr>
              <a:t>『現在のCPAは目標内、ROASも改善傾向。予算+30%で月CV +25%を見込めます。</a:t>
            </a:r>
          </a:p>
          <a:p>
            <a:pPr algn="l">
              <a:lnSpc>
                <a:spcPct val="155000"/>
              </a:lnSpc>
            </a:pPr>
            <a:r>
              <a:rPr sz="1000" b="0">
                <a:solidFill>
                  <a:srgbClr val="1A1A1A"/>
                </a:solidFill>
                <a:latin typeface="Hiragino Sans"/>
                <a:ea typeface="Hiragino Sans"/>
                <a:cs typeface="Hiragino Sans"/>
              </a:rPr>
              <a:t>Lift Test結果から Incremental ROASも維持される見込みです』</a:t>
            </a:r>
          </a:p>
        </p:txBody>
      </p:sp>
      <p:sp>
        <p:nvSpPr>
          <p:cNvPr id="24" name="Rounded Rectangle 23"/>
          <p:cNvSpPr/>
          <p:nvPr/>
        </p:nvSpPr>
        <p:spPr>
          <a:xfrm>
            <a:off x="548640" y="5394960"/>
            <a:ext cx="11109960" cy="9144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5394960"/>
            <a:ext cx="91440" cy="91440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5513832"/>
            <a:ext cx="10515600" cy="27432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 予算削減を求められた時</a:t>
            </a:r>
          </a:p>
        </p:txBody>
      </p:sp>
      <p:sp>
        <p:nvSpPr>
          <p:cNvPr id="27" name="TextBox 26"/>
          <p:cNvSpPr txBox="1"/>
          <p:nvPr/>
        </p:nvSpPr>
        <p:spPr>
          <a:xfrm>
            <a:off x="777240" y="5806440"/>
            <a:ext cx="10515600" cy="502920"/>
          </a:xfrm>
          <a:prstGeom prst="rect">
            <a:avLst/>
          </a:prstGeom>
          <a:noFill/>
        </p:spPr>
        <p:txBody>
          <a:bodyPr wrap="square" anchor="t" lIns="0" rIns="0" tIns="0" bIns="0">
            <a:spAutoFit/>
          </a:bodyPr>
          <a:lstStyle/>
          <a:p>
            <a:pPr algn="l">
              <a:lnSpc>
                <a:spcPct val="155000"/>
              </a:lnSpc>
            </a:pPr>
            <a:r>
              <a:rPr sz="1000" b="0">
                <a:solidFill>
                  <a:srgbClr val="1A1A1A"/>
                </a:solidFill>
                <a:latin typeface="Hiragino Sans"/>
                <a:ea typeface="Hiragino Sans"/>
                <a:cs typeface="Hiragino Sans"/>
              </a:rPr>
              <a:t>『削減は可能ですが、Learning Phaseリセットで一時的にCPA悪化のリスクあります。</a:t>
            </a:r>
          </a:p>
          <a:p>
            <a:pPr algn="l">
              <a:lnSpc>
                <a:spcPct val="155000"/>
              </a:lnSpc>
            </a:pPr>
            <a:r>
              <a:rPr sz="1000" b="0">
                <a:solidFill>
                  <a:srgbClr val="1A1A1A"/>
                </a:solidFill>
                <a:latin typeface="Hiragino Sans"/>
                <a:ea typeface="Hiragino Sans"/>
                <a:cs typeface="Hiragino Sans"/>
              </a:rPr>
              <a:t>段階的に -20%/週 で動かす方が学習継続できる選択肢もあります』</a:t>
            </a:r>
          </a:p>
        </p:txBody>
      </p:sp>
      <p:sp>
        <p:nvSpPr>
          <p:cNvPr id="28" name="TextBox 27"/>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案件タイプ別の鉄板構成</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業種別の標準パッケージ</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P216 / 250</a:t>
            </a:r>
          </a:p>
        </p:txBody>
      </p:sp>
      <p:sp>
        <p:nvSpPr>
          <p:cNvPr id="8" name="Rounded Rectangle 7"/>
          <p:cNvSpPr/>
          <p:nvPr/>
        </p:nvSpPr>
        <p:spPr>
          <a:xfrm>
            <a:off x="548640" y="1417320"/>
            <a:ext cx="5440680" cy="2286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544068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581912"/>
            <a:ext cx="5074920" cy="411480"/>
          </a:xfrm>
          <a:prstGeom prst="rect">
            <a:avLst/>
          </a:prstGeom>
          <a:noFill/>
        </p:spPr>
        <p:txBody>
          <a:bodyPr wrap="square" anchor="t" lIns="0" rIns="0" tIns="0" bIns="0">
            <a:spAutoFit/>
          </a:bodyPr>
          <a:lstStyle/>
          <a:p>
            <a:pPr algn="l">
              <a:lnSpc>
                <a:spcPct val="115000"/>
              </a:lnSpc>
            </a:pPr>
            <a:r>
              <a:rPr sz="1500" b="1">
                <a:solidFill>
                  <a:srgbClr val="E87722"/>
                </a:solidFill>
                <a:latin typeface="Hiragino Sans"/>
                <a:ea typeface="Hiragino Sans"/>
                <a:cs typeface="Hiragino Sans"/>
              </a:rPr>
              <a:t>EC / D2C</a:t>
            </a:r>
          </a:p>
        </p:txBody>
      </p:sp>
      <p:sp>
        <p:nvSpPr>
          <p:cNvPr id="11" name="TextBox 10"/>
          <p:cNvSpPr txBox="1"/>
          <p:nvPr/>
        </p:nvSpPr>
        <p:spPr>
          <a:xfrm>
            <a:off x="777240" y="1965960"/>
            <a:ext cx="5074920" cy="274320"/>
          </a:xfrm>
          <a:prstGeom prst="rect">
            <a:avLst/>
          </a:prstGeom>
          <a:noFill/>
        </p:spPr>
        <p:txBody>
          <a:bodyPr wrap="square" anchor="t" lIns="0" rIns="0" tIns="0" bIns="0">
            <a:spAutoFit/>
          </a:bodyPr>
          <a:lstStyle/>
          <a:p>
            <a:pPr algn="l">
              <a:lnSpc>
                <a:spcPct val="115000"/>
              </a:lnSpc>
            </a:pPr>
            <a:r>
              <a:rPr sz="1000" b="0">
                <a:solidFill>
                  <a:srgbClr val="FFFFFF"/>
                </a:solidFill>
                <a:latin typeface="Helvetica Neue"/>
                <a:ea typeface="Helvetica Neue"/>
                <a:cs typeface="Helvetica Neue"/>
              </a:rPr>
              <a:t>PMax + Advantage+ Sales + Smart+</a:t>
            </a:r>
          </a:p>
        </p:txBody>
      </p:sp>
      <p:sp>
        <p:nvSpPr>
          <p:cNvPr id="12" name="TextBox 11"/>
          <p:cNvSpPr txBox="1"/>
          <p:nvPr/>
        </p:nvSpPr>
        <p:spPr>
          <a:xfrm>
            <a:off x="777240" y="2423160"/>
            <a:ext cx="5074920" cy="123444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Customer Match + Lookalike</a:t>
            </a:r>
          </a:p>
          <a:p>
            <a:pPr algn="l">
              <a:lnSpc>
                <a:spcPct val="160000"/>
              </a:lnSpc>
            </a:pPr>
            <a:r>
              <a:rPr sz="1100" b="0">
                <a:solidFill>
                  <a:srgbClr val="1A1A1A"/>
                </a:solidFill>
                <a:latin typeface="Hiragino Sans"/>
                <a:ea typeface="Hiragino Sans"/>
                <a:cs typeface="Hiragino Sans"/>
              </a:rPr>
              <a:t>動画+静止画 月20-30本</a:t>
            </a:r>
          </a:p>
          <a:p>
            <a:pPr algn="l">
              <a:lnSpc>
                <a:spcPct val="160000"/>
              </a:lnSpc>
            </a:pPr>
            <a:r>
              <a:rPr sz="1100" b="0">
                <a:solidFill>
                  <a:srgbClr val="1A1A1A"/>
                </a:solidFill>
                <a:latin typeface="Hiragino Sans"/>
                <a:ea typeface="Hiragino Sans"/>
                <a:cs typeface="Hiragino Sans"/>
              </a:rPr>
              <a:t>Brand Lift + Conversion Lift</a:t>
            </a:r>
          </a:p>
        </p:txBody>
      </p:sp>
      <p:sp>
        <p:nvSpPr>
          <p:cNvPr id="13" name="Rounded Rectangle 12"/>
          <p:cNvSpPr/>
          <p:nvPr/>
        </p:nvSpPr>
        <p:spPr>
          <a:xfrm>
            <a:off x="6172200" y="1417320"/>
            <a:ext cx="5440680" cy="2286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1417320"/>
            <a:ext cx="544068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581912"/>
            <a:ext cx="5074920" cy="411480"/>
          </a:xfrm>
          <a:prstGeom prst="rect">
            <a:avLst/>
          </a:prstGeom>
          <a:noFill/>
        </p:spPr>
        <p:txBody>
          <a:bodyPr wrap="square" anchor="t" lIns="0" rIns="0" tIns="0" bIns="0">
            <a:spAutoFit/>
          </a:bodyPr>
          <a:lstStyle/>
          <a:p>
            <a:pPr algn="l">
              <a:lnSpc>
                <a:spcPct val="115000"/>
              </a:lnSpc>
            </a:pPr>
            <a:r>
              <a:rPr sz="1500" b="1">
                <a:solidFill>
                  <a:srgbClr val="E87722"/>
                </a:solidFill>
                <a:latin typeface="Hiragino Sans"/>
                <a:ea typeface="Hiragino Sans"/>
                <a:cs typeface="Hiragino Sans"/>
              </a:rPr>
              <a:t>リード獲得 (B2B)</a:t>
            </a:r>
          </a:p>
        </p:txBody>
      </p:sp>
      <p:sp>
        <p:nvSpPr>
          <p:cNvPr id="16" name="TextBox 15"/>
          <p:cNvSpPr txBox="1"/>
          <p:nvPr/>
        </p:nvSpPr>
        <p:spPr>
          <a:xfrm>
            <a:off x="6400800" y="1965960"/>
            <a:ext cx="5074920" cy="274320"/>
          </a:xfrm>
          <a:prstGeom prst="rect">
            <a:avLst/>
          </a:prstGeom>
          <a:noFill/>
        </p:spPr>
        <p:txBody>
          <a:bodyPr wrap="square" anchor="t" lIns="0" rIns="0" tIns="0" bIns="0">
            <a:spAutoFit/>
          </a:bodyPr>
          <a:lstStyle/>
          <a:p>
            <a:pPr algn="l">
              <a:lnSpc>
                <a:spcPct val="115000"/>
              </a:lnSpc>
            </a:pPr>
            <a:r>
              <a:rPr sz="1000" b="0">
                <a:solidFill>
                  <a:srgbClr val="FFFFFF"/>
                </a:solidFill>
                <a:latin typeface="Helvetica Neue"/>
                <a:ea typeface="Helvetica Neue"/>
                <a:cs typeface="Helvetica Neue"/>
              </a:rPr>
              <a:t>Google Search + Meta Lead + LinkedIn ABM</a:t>
            </a:r>
          </a:p>
        </p:txBody>
      </p:sp>
      <p:sp>
        <p:nvSpPr>
          <p:cNvPr id="17" name="TextBox 16"/>
          <p:cNvSpPr txBox="1"/>
          <p:nvPr/>
        </p:nvSpPr>
        <p:spPr>
          <a:xfrm>
            <a:off x="6400800" y="2423160"/>
            <a:ext cx="5074920" cy="123444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LeadGen Form + EC for Leads</a:t>
            </a:r>
          </a:p>
          <a:p>
            <a:pPr algn="l">
              <a:lnSpc>
                <a:spcPct val="160000"/>
              </a:lnSpc>
            </a:pPr>
            <a:r>
              <a:rPr sz="1100" b="0">
                <a:solidFill>
                  <a:srgbClr val="1A1A1A"/>
                </a:solidFill>
                <a:latin typeface="Hiragino Sans"/>
                <a:ea typeface="Hiragino Sans"/>
                <a:cs typeface="Hiragino Sans"/>
              </a:rPr>
              <a:t>Sponsored + Thought Leader</a:t>
            </a:r>
          </a:p>
          <a:p>
            <a:pPr algn="l">
              <a:lnSpc>
                <a:spcPct val="160000"/>
              </a:lnSpc>
            </a:pPr>
            <a:r>
              <a:rPr sz="1100" b="0">
                <a:solidFill>
                  <a:srgbClr val="1A1A1A"/>
                </a:solidFill>
                <a:latin typeface="Hiragino Sans"/>
                <a:ea typeface="Hiragino Sans"/>
                <a:cs typeface="Hiragino Sans"/>
              </a:rPr>
              <a:t>CRM連携 (Closed-Loop)</a:t>
            </a:r>
          </a:p>
        </p:txBody>
      </p:sp>
      <p:sp>
        <p:nvSpPr>
          <p:cNvPr id="18" name="Rounded Rectangle 17"/>
          <p:cNvSpPr/>
          <p:nvPr/>
        </p:nvSpPr>
        <p:spPr>
          <a:xfrm>
            <a:off x="548640" y="3840480"/>
            <a:ext cx="5440680" cy="2286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840480"/>
            <a:ext cx="544068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4005072"/>
            <a:ext cx="5074920" cy="411480"/>
          </a:xfrm>
          <a:prstGeom prst="rect">
            <a:avLst/>
          </a:prstGeom>
          <a:noFill/>
        </p:spPr>
        <p:txBody>
          <a:bodyPr wrap="square" anchor="t" lIns="0" rIns="0" tIns="0" bIns="0">
            <a:spAutoFit/>
          </a:bodyPr>
          <a:lstStyle/>
          <a:p>
            <a:pPr algn="l">
              <a:lnSpc>
                <a:spcPct val="115000"/>
              </a:lnSpc>
            </a:pPr>
            <a:r>
              <a:rPr sz="1500" b="1">
                <a:solidFill>
                  <a:srgbClr val="E87722"/>
                </a:solidFill>
                <a:latin typeface="Hiragino Sans"/>
                <a:ea typeface="Hiragino Sans"/>
                <a:cs typeface="Hiragino Sans"/>
              </a:rPr>
              <a:t>飲食/美容/ローカル</a:t>
            </a:r>
          </a:p>
        </p:txBody>
      </p:sp>
      <p:sp>
        <p:nvSpPr>
          <p:cNvPr id="21" name="TextBox 20"/>
          <p:cNvSpPr txBox="1"/>
          <p:nvPr/>
        </p:nvSpPr>
        <p:spPr>
          <a:xfrm>
            <a:off x="777240" y="4389120"/>
            <a:ext cx="5074920" cy="274320"/>
          </a:xfrm>
          <a:prstGeom prst="rect">
            <a:avLst/>
          </a:prstGeom>
          <a:noFill/>
        </p:spPr>
        <p:txBody>
          <a:bodyPr wrap="square" anchor="t" lIns="0" rIns="0" tIns="0" bIns="0">
            <a:spAutoFit/>
          </a:bodyPr>
          <a:lstStyle/>
          <a:p>
            <a:pPr algn="l">
              <a:lnSpc>
                <a:spcPct val="115000"/>
              </a:lnSpc>
            </a:pPr>
            <a:r>
              <a:rPr sz="1000" b="0">
                <a:solidFill>
                  <a:srgbClr val="FFFFFF"/>
                </a:solidFill>
                <a:latin typeface="Helvetica Neue"/>
                <a:ea typeface="Helvetica Neue"/>
                <a:cs typeface="Helvetica Neue"/>
              </a:rPr>
              <a:t>Google PMax (Store Goals) + Meta Reels + LINE</a:t>
            </a:r>
          </a:p>
        </p:txBody>
      </p:sp>
      <p:sp>
        <p:nvSpPr>
          <p:cNvPr id="22" name="TextBox 21"/>
          <p:cNvSpPr txBox="1"/>
          <p:nvPr/>
        </p:nvSpPr>
        <p:spPr>
          <a:xfrm>
            <a:off x="777240" y="4846320"/>
            <a:ext cx="5074920" cy="123444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Google Business Profile連携</a:t>
            </a:r>
          </a:p>
          <a:p>
            <a:pPr algn="l">
              <a:lnSpc>
                <a:spcPct val="160000"/>
              </a:lnSpc>
            </a:pPr>
            <a:r>
              <a:rPr sz="1100" b="0">
                <a:solidFill>
                  <a:srgbClr val="1A1A1A"/>
                </a:solidFill>
                <a:latin typeface="Hiragino Sans"/>
                <a:ea typeface="Hiragino Sans"/>
                <a:cs typeface="Hiragino Sans"/>
              </a:rPr>
              <a:t>LINE公式アカウント連携</a:t>
            </a:r>
          </a:p>
          <a:p>
            <a:pPr algn="l">
              <a:lnSpc>
                <a:spcPct val="160000"/>
              </a:lnSpc>
            </a:pPr>
            <a:r>
              <a:rPr sz="1100" b="0">
                <a:solidFill>
                  <a:srgbClr val="1A1A1A"/>
                </a:solidFill>
                <a:latin typeface="Hiragino Sans"/>
                <a:ea typeface="Hiragino Sans"/>
                <a:cs typeface="Hiragino Sans"/>
              </a:rPr>
              <a:t>クーポン配布で来店促進</a:t>
            </a:r>
          </a:p>
        </p:txBody>
      </p:sp>
      <p:sp>
        <p:nvSpPr>
          <p:cNvPr id="23" name="Rounded Rectangle 22"/>
          <p:cNvSpPr/>
          <p:nvPr/>
        </p:nvSpPr>
        <p:spPr>
          <a:xfrm>
            <a:off x="6172200" y="3840480"/>
            <a:ext cx="5440680" cy="2286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72200" y="3840480"/>
            <a:ext cx="544068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0" y="4005072"/>
            <a:ext cx="5074920" cy="411480"/>
          </a:xfrm>
          <a:prstGeom prst="rect">
            <a:avLst/>
          </a:prstGeom>
          <a:noFill/>
        </p:spPr>
        <p:txBody>
          <a:bodyPr wrap="square" anchor="t" lIns="0" rIns="0" tIns="0" bIns="0">
            <a:spAutoFit/>
          </a:bodyPr>
          <a:lstStyle/>
          <a:p>
            <a:pPr algn="l">
              <a:lnSpc>
                <a:spcPct val="115000"/>
              </a:lnSpc>
            </a:pPr>
            <a:r>
              <a:rPr sz="1500" b="1">
                <a:solidFill>
                  <a:srgbClr val="E87722"/>
                </a:solidFill>
                <a:latin typeface="Hiragino Sans"/>
                <a:ea typeface="Hiragino Sans"/>
                <a:cs typeface="Hiragino Sans"/>
              </a:rPr>
              <a:t>認知獲得 (ブランド)</a:t>
            </a:r>
          </a:p>
        </p:txBody>
      </p:sp>
      <p:sp>
        <p:nvSpPr>
          <p:cNvPr id="26" name="TextBox 25"/>
          <p:cNvSpPr txBox="1"/>
          <p:nvPr/>
        </p:nvSpPr>
        <p:spPr>
          <a:xfrm>
            <a:off x="6400800" y="4389120"/>
            <a:ext cx="5074920" cy="274320"/>
          </a:xfrm>
          <a:prstGeom prst="rect">
            <a:avLst/>
          </a:prstGeom>
          <a:noFill/>
        </p:spPr>
        <p:txBody>
          <a:bodyPr wrap="square" anchor="t" lIns="0" rIns="0" tIns="0" bIns="0">
            <a:spAutoFit/>
          </a:bodyPr>
          <a:lstStyle/>
          <a:p>
            <a:pPr algn="l">
              <a:lnSpc>
                <a:spcPct val="115000"/>
              </a:lnSpc>
            </a:pPr>
            <a:r>
              <a:rPr sz="1000" b="0">
                <a:solidFill>
                  <a:srgbClr val="FFFFFF"/>
                </a:solidFill>
                <a:latin typeface="Helvetica Neue"/>
                <a:ea typeface="Helvetica Neue"/>
                <a:cs typeface="Helvetica Neue"/>
              </a:rPr>
              <a:t>YouTube VRC + Meta Reels + TikTok Smart+</a:t>
            </a:r>
          </a:p>
        </p:txBody>
      </p:sp>
      <p:sp>
        <p:nvSpPr>
          <p:cNvPr id="27" name="TextBox 26"/>
          <p:cNvSpPr txBox="1"/>
          <p:nvPr/>
        </p:nvSpPr>
        <p:spPr>
          <a:xfrm>
            <a:off x="6400800" y="4846320"/>
            <a:ext cx="5074920" cy="123444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Bumper + 縦型 6/15/30秒</a:t>
            </a:r>
          </a:p>
          <a:p>
            <a:pPr algn="l">
              <a:lnSpc>
                <a:spcPct val="160000"/>
              </a:lnSpc>
            </a:pPr>
            <a:r>
              <a:rPr sz="1100" b="0">
                <a:solidFill>
                  <a:srgbClr val="1A1A1A"/>
                </a:solidFill>
                <a:latin typeface="Hiragino Sans"/>
                <a:ea typeface="Hiragino Sans"/>
                <a:cs typeface="Hiragino Sans"/>
              </a:rPr>
              <a:t>Brand Lift Study 必須</a:t>
            </a:r>
          </a:p>
          <a:p>
            <a:pPr algn="l">
              <a:lnSpc>
                <a:spcPct val="160000"/>
              </a:lnSpc>
            </a:pPr>
            <a:r>
              <a:rPr sz="1100" b="0">
                <a:solidFill>
                  <a:srgbClr val="1A1A1A"/>
                </a:solidFill>
                <a:latin typeface="Hiragino Sans"/>
                <a:ea typeface="Hiragino Sans"/>
                <a:cs typeface="Hiragino Sans"/>
              </a:rPr>
              <a:t>Reach + Frequency最適化</a:t>
            </a:r>
          </a:p>
        </p:txBody>
      </p:sp>
      <p:sp>
        <p:nvSpPr>
          <p:cNvPr id="28" name="TextBox 27"/>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副業代行の月次運用サイクル</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週単位のタスクスケジュール</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P217 / 250</a:t>
            </a:r>
          </a:p>
        </p:txBody>
      </p:sp>
      <p:sp>
        <p:nvSpPr>
          <p:cNvPr id="8" name="Rounded Rectangle 7"/>
          <p:cNvSpPr/>
          <p:nvPr/>
        </p:nvSpPr>
        <p:spPr>
          <a:xfrm>
            <a:off x="548640" y="1417320"/>
            <a:ext cx="2697480" cy="23774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2697480" cy="5029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36192"/>
            <a:ext cx="2423160" cy="274320"/>
          </a:xfrm>
          <a:prstGeom prst="rect">
            <a:avLst/>
          </a:prstGeom>
          <a:noFill/>
        </p:spPr>
        <p:txBody>
          <a:bodyPr wrap="square" anchor="t" lIns="0" rIns="0" tIns="0" bIns="0">
            <a:spAutoFit/>
          </a:bodyPr>
          <a:lstStyle/>
          <a:p>
            <a:pPr algn="ctr">
              <a:lnSpc>
                <a:spcPct val="115000"/>
              </a:lnSpc>
            </a:pPr>
            <a:r>
              <a:rPr sz="1200" b="1">
                <a:solidFill>
                  <a:srgbClr val="FFFFFF"/>
                </a:solidFill>
                <a:latin typeface="Helvetica Neue"/>
                <a:ea typeface="Helvetica Neue"/>
                <a:cs typeface="Helvetica Neue"/>
              </a:rPr>
              <a:t>Week 1</a:t>
            </a:r>
          </a:p>
        </p:txBody>
      </p:sp>
      <p:sp>
        <p:nvSpPr>
          <p:cNvPr id="11" name="TextBox 10"/>
          <p:cNvSpPr txBox="1"/>
          <p:nvPr/>
        </p:nvSpPr>
        <p:spPr>
          <a:xfrm>
            <a:off x="685800" y="2057400"/>
            <a:ext cx="2423160" cy="365760"/>
          </a:xfrm>
          <a:prstGeom prst="rect">
            <a:avLst/>
          </a:prstGeom>
          <a:noFill/>
        </p:spPr>
        <p:txBody>
          <a:bodyPr wrap="square" anchor="t" lIns="0" rIns="0" tIns="0" bIns="0">
            <a:spAutoFit/>
          </a:bodyPr>
          <a:lstStyle/>
          <a:p>
            <a:pPr algn="ctr">
              <a:lnSpc>
                <a:spcPct val="115000"/>
              </a:lnSpc>
            </a:pPr>
            <a:r>
              <a:rPr sz="1300" b="1">
                <a:solidFill>
                  <a:srgbClr val="0F2A4F"/>
                </a:solidFill>
                <a:latin typeface="Hiragino Sans"/>
                <a:ea typeface="Hiragino Sans"/>
                <a:cs typeface="Hiragino Sans"/>
              </a:rPr>
              <a:t>計測整備 + 構造設計</a:t>
            </a:r>
          </a:p>
        </p:txBody>
      </p:sp>
      <p:sp>
        <p:nvSpPr>
          <p:cNvPr id="12" name="TextBox 11"/>
          <p:cNvSpPr txBox="1"/>
          <p:nvPr/>
        </p:nvSpPr>
        <p:spPr>
          <a:xfrm>
            <a:off x="685800" y="2514600"/>
            <a:ext cx="2423160" cy="1234440"/>
          </a:xfrm>
          <a:prstGeom prst="rect">
            <a:avLst/>
          </a:prstGeom>
          <a:noFill/>
        </p:spPr>
        <p:txBody>
          <a:bodyPr wrap="square" anchor="t" lIns="0" rIns="0" tIns="0" bIns="0">
            <a:spAutoFit/>
          </a:bodyPr>
          <a:lstStyle/>
          <a:p>
            <a:pPr algn="l">
              <a:lnSpc>
                <a:spcPct val="170000"/>
              </a:lnSpc>
            </a:pPr>
            <a:r>
              <a:rPr sz="1000" b="0">
                <a:solidFill>
                  <a:srgbClr val="1A1A1A"/>
                </a:solidFill>
                <a:latin typeface="Hiragino Sans"/>
                <a:ea typeface="Hiragino Sans"/>
                <a:cs typeface="Hiragino Sans"/>
              </a:rPr>
              <a:t>・GA4/Tag/CAPI 確認</a:t>
            </a:r>
          </a:p>
          <a:p>
            <a:pPr algn="l">
              <a:lnSpc>
                <a:spcPct val="170000"/>
              </a:lnSpc>
            </a:pPr>
            <a:r>
              <a:rPr sz="1000" b="0">
                <a:solidFill>
                  <a:srgbClr val="1A1A1A"/>
                </a:solidFill>
                <a:latin typeface="Hiragino Sans"/>
                <a:ea typeface="Hiragino Sans"/>
                <a:cs typeface="Hiragino Sans"/>
              </a:rPr>
              <a:t>・キャンペーン構造決定</a:t>
            </a:r>
          </a:p>
          <a:p>
            <a:pPr algn="l">
              <a:lnSpc>
                <a:spcPct val="170000"/>
              </a:lnSpc>
            </a:pPr>
            <a:r>
              <a:rPr sz="1000" b="0">
                <a:solidFill>
                  <a:srgbClr val="1A1A1A"/>
                </a:solidFill>
                <a:latin typeface="Hiragino Sans"/>
                <a:ea typeface="Hiragino Sans"/>
                <a:cs typeface="Hiragino Sans"/>
              </a:rPr>
              <a:t>・初期クリエイティブ投入</a:t>
            </a:r>
          </a:p>
          <a:p>
            <a:pPr algn="l">
              <a:lnSpc>
                <a:spcPct val="170000"/>
              </a:lnSpc>
            </a:pPr>
            <a:r>
              <a:rPr sz="1000" b="0">
                <a:solidFill>
                  <a:srgbClr val="1A1A1A"/>
                </a:solidFill>
                <a:latin typeface="Hiragino Sans"/>
                <a:ea typeface="Hiragino Sans"/>
                <a:cs typeface="Hiragino Sans"/>
              </a:rPr>
              <a:t>・Audience Signal設定</a:t>
            </a:r>
          </a:p>
        </p:txBody>
      </p:sp>
      <p:sp>
        <p:nvSpPr>
          <p:cNvPr id="13" name="Rounded Rectangle 12"/>
          <p:cNvSpPr/>
          <p:nvPr/>
        </p:nvSpPr>
        <p:spPr>
          <a:xfrm>
            <a:off x="3337560" y="1417320"/>
            <a:ext cx="2697480" cy="23774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37560" y="1417320"/>
            <a:ext cx="2697480" cy="5029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74720" y="1536192"/>
            <a:ext cx="2423160" cy="274320"/>
          </a:xfrm>
          <a:prstGeom prst="rect">
            <a:avLst/>
          </a:prstGeom>
          <a:noFill/>
        </p:spPr>
        <p:txBody>
          <a:bodyPr wrap="square" anchor="t" lIns="0" rIns="0" tIns="0" bIns="0">
            <a:spAutoFit/>
          </a:bodyPr>
          <a:lstStyle/>
          <a:p>
            <a:pPr algn="ctr">
              <a:lnSpc>
                <a:spcPct val="115000"/>
              </a:lnSpc>
            </a:pPr>
            <a:r>
              <a:rPr sz="1200" b="1">
                <a:solidFill>
                  <a:srgbClr val="FFFFFF"/>
                </a:solidFill>
                <a:latin typeface="Helvetica Neue"/>
                <a:ea typeface="Helvetica Neue"/>
                <a:cs typeface="Helvetica Neue"/>
              </a:rPr>
              <a:t>Week 2</a:t>
            </a:r>
          </a:p>
        </p:txBody>
      </p:sp>
      <p:sp>
        <p:nvSpPr>
          <p:cNvPr id="16" name="TextBox 15"/>
          <p:cNvSpPr txBox="1"/>
          <p:nvPr/>
        </p:nvSpPr>
        <p:spPr>
          <a:xfrm>
            <a:off x="3474720" y="2057400"/>
            <a:ext cx="2423160" cy="365760"/>
          </a:xfrm>
          <a:prstGeom prst="rect">
            <a:avLst/>
          </a:prstGeom>
          <a:noFill/>
        </p:spPr>
        <p:txBody>
          <a:bodyPr wrap="square" anchor="t" lIns="0" rIns="0" tIns="0" bIns="0">
            <a:spAutoFit/>
          </a:bodyPr>
          <a:lstStyle/>
          <a:p>
            <a:pPr algn="ctr">
              <a:lnSpc>
                <a:spcPct val="115000"/>
              </a:lnSpc>
            </a:pPr>
            <a:r>
              <a:rPr sz="1300" b="1">
                <a:solidFill>
                  <a:srgbClr val="0F2A4F"/>
                </a:solidFill>
                <a:latin typeface="Hiragino Sans"/>
                <a:ea typeface="Hiragino Sans"/>
                <a:cs typeface="Hiragino Sans"/>
              </a:rPr>
              <a:t>Learning Phase</a:t>
            </a:r>
          </a:p>
        </p:txBody>
      </p:sp>
      <p:sp>
        <p:nvSpPr>
          <p:cNvPr id="17" name="TextBox 16"/>
          <p:cNvSpPr txBox="1"/>
          <p:nvPr/>
        </p:nvSpPr>
        <p:spPr>
          <a:xfrm>
            <a:off x="3474720" y="2514600"/>
            <a:ext cx="2423160" cy="1234440"/>
          </a:xfrm>
          <a:prstGeom prst="rect">
            <a:avLst/>
          </a:prstGeom>
          <a:noFill/>
        </p:spPr>
        <p:txBody>
          <a:bodyPr wrap="square" anchor="t" lIns="0" rIns="0" tIns="0" bIns="0">
            <a:spAutoFit/>
          </a:bodyPr>
          <a:lstStyle/>
          <a:p>
            <a:pPr algn="l">
              <a:lnSpc>
                <a:spcPct val="170000"/>
              </a:lnSpc>
            </a:pPr>
            <a:r>
              <a:rPr sz="1000" b="0">
                <a:solidFill>
                  <a:srgbClr val="1A1A1A"/>
                </a:solidFill>
                <a:latin typeface="Hiragino Sans"/>
                <a:ea typeface="Hiragino Sans"/>
                <a:cs typeface="Hiragino Sans"/>
              </a:rPr>
              <a:t>・予算 ±20% 安定運用</a:t>
            </a:r>
          </a:p>
          <a:p>
            <a:pPr algn="l">
              <a:lnSpc>
                <a:spcPct val="170000"/>
              </a:lnSpc>
            </a:pPr>
            <a:r>
              <a:rPr sz="1000" b="0">
                <a:solidFill>
                  <a:srgbClr val="1A1A1A"/>
                </a:solidFill>
                <a:latin typeface="Hiragino Sans"/>
                <a:ea typeface="Hiragino Sans"/>
                <a:cs typeface="Hiragino Sans"/>
              </a:rPr>
              <a:t>・週末にSearch Terms確認</a:t>
            </a:r>
          </a:p>
          <a:p>
            <a:pPr algn="l">
              <a:lnSpc>
                <a:spcPct val="170000"/>
              </a:lnSpc>
            </a:pPr>
            <a:r>
              <a:rPr sz="1000" b="0">
                <a:solidFill>
                  <a:srgbClr val="1A1A1A"/>
                </a:solidFill>
                <a:latin typeface="Hiragino Sans"/>
                <a:ea typeface="Hiragino Sans"/>
                <a:cs typeface="Hiragino Sans"/>
              </a:rPr>
              <a:t>・Negative KW 5-10件追加</a:t>
            </a:r>
          </a:p>
          <a:p>
            <a:pPr algn="l">
              <a:lnSpc>
                <a:spcPct val="170000"/>
              </a:lnSpc>
            </a:pPr>
            <a:r>
              <a:rPr sz="1000" b="0">
                <a:solidFill>
                  <a:srgbClr val="1A1A1A"/>
                </a:solidFill>
                <a:latin typeface="Hiragino Sans"/>
                <a:ea typeface="Hiragino Sans"/>
                <a:cs typeface="Hiragino Sans"/>
              </a:rPr>
              <a:t>・素材追加は最小限</a:t>
            </a:r>
          </a:p>
        </p:txBody>
      </p:sp>
      <p:sp>
        <p:nvSpPr>
          <p:cNvPr id="18" name="Rounded Rectangle 17"/>
          <p:cNvSpPr/>
          <p:nvPr/>
        </p:nvSpPr>
        <p:spPr>
          <a:xfrm>
            <a:off x="6126480" y="1417320"/>
            <a:ext cx="2697480" cy="23774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0" y="1417320"/>
            <a:ext cx="2697480" cy="5029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3640" y="1536192"/>
            <a:ext cx="2423160" cy="274320"/>
          </a:xfrm>
          <a:prstGeom prst="rect">
            <a:avLst/>
          </a:prstGeom>
          <a:noFill/>
        </p:spPr>
        <p:txBody>
          <a:bodyPr wrap="square" anchor="t" lIns="0" rIns="0" tIns="0" bIns="0">
            <a:spAutoFit/>
          </a:bodyPr>
          <a:lstStyle/>
          <a:p>
            <a:pPr algn="ctr">
              <a:lnSpc>
                <a:spcPct val="115000"/>
              </a:lnSpc>
            </a:pPr>
            <a:r>
              <a:rPr sz="1200" b="1">
                <a:solidFill>
                  <a:srgbClr val="FFFFFF"/>
                </a:solidFill>
                <a:latin typeface="Helvetica Neue"/>
                <a:ea typeface="Helvetica Neue"/>
                <a:cs typeface="Helvetica Neue"/>
              </a:rPr>
              <a:t>Week 3</a:t>
            </a:r>
          </a:p>
        </p:txBody>
      </p:sp>
      <p:sp>
        <p:nvSpPr>
          <p:cNvPr id="21" name="TextBox 20"/>
          <p:cNvSpPr txBox="1"/>
          <p:nvPr/>
        </p:nvSpPr>
        <p:spPr>
          <a:xfrm>
            <a:off x="6263640" y="2057400"/>
            <a:ext cx="2423160" cy="365760"/>
          </a:xfrm>
          <a:prstGeom prst="rect">
            <a:avLst/>
          </a:prstGeom>
          <a:noFill/>
        </p:spPr>
        <p:txBody>
          <a:bodyPr wrap="square" anchor="t" lIns="0" rIns="0" tIns="0" bIns="0">
            <a:spAutoFit/>
          </a:bodyPr>
          <a:lstStyle/>
          <a:p>
            <a:pPr algn="ctr">
              <a:lnSpc>
                <a:spcPct val="115000"/>
              </a:lnSpc>
            </a:pPr>
            <a:r>
              <a:rPr sz="1300" b="1">
                <a:solidFill>
                  <a:srgbClr val="0F2A4F"/>
                </a:solidFill>
                <a:latin typeface="Hiragino Sans"/>
                <a:ea typeface="Hiragino Sans"/>
                <a:cs typeface="Hiragino Sans"/>
              </a:rPr>
              <a:t>中間レビュー</a:t>
            </a:r>
          </a:p>
        </p:txBody>
      </p:sp>
      <p:sp>
        <p:nvSpPr>
          <p:cNvPr id="22" name="TextBox 21"/>
          <p:cNvSpPr txBox="1"/>
          <p:nvPr/>
        </p:nvSpPr>
        <p:spPr>
          <a:xfrm>
            <a:off x="6263640" y="2514600"/>
            <a:ext cx="2423160" cy="1234440"/>
          </a:xfrm>
          <a:prstGeom prst="rect">
            <a:avLst/>
          </a:prstGeom>
          <a:noFill/>
        </p:spPr>
        <p:txBody>
          <a:bodyPr wrap="square" anchor="t" lIns="0" rIns="0" tIns="0" bIns="0">
            <a:spAutoFit/>
          </a:bodyPr>
          <a:lstStyle/>
          <a:p>
            <a:pPr algn="l">
              <a:lnSpc>
                <a:spcPct val="170000"/>
              </a:lnSpc>
            </a:pPr>
            <a:r>
              <a:rPr sz="1000" b="0">
                <a:solidFill>
                  <a:srgbClr val="1A1A1A"/>
                </a:solidFill>
                <a:latin typeface="Hiragino Sans"/>
                <a:ea typeface="Hiragino Sans"/>
                <a:cs typeface="Hiragino Sans"/>
              </a:rPr>
              <a:t>・Best/Low クリエイティブ抽出</a:t>
            </a:r>
          </a:p>
          <a:p>
            <a:pPr algn="l">
              <a:lnSpc>
                <a:spcPct val="170000"/>
              </a:lnSpc>
            </a:pPr>
            <a:r>
              <a:rPr sz="1000" b="0">
                <a:solidFill>
                  <a:srgbClr val="1A1A1A"/>
                </a:solidFill>
                <a:latin typeface="Hiragino Sans"/>
                <a:ea typeface="Hiragino Sans"/>
                <a:cs typeface="Hiragino Sans"/>
              </a:rPr>
              <a:t>・Lift Test 申請 (該当時)</a:t>
            </a:r>
          </a:p>
          <a:p>
            <a:pPr algn="l">
              <a:lnSpc>
                <a:spcPct val="170000"/>
              </a:lnSpc>
            </a:pPr>
            <a:r>
              <a:rPr sz="1000" b="0">
                <a:solidFill>
                  <a:srgbClr val="1A1A1A"/>
                </a:solidFill>
                <a:latin typeface="Hiragino Sans"/>
                <a:ea typeface="Hiragino Sans"/>
                <a:cs typeface="Hiragino Sans"/>
              </a:rPr>
              <a:t>・Optiscore 適用</a:t>
            </a:r>
          </a:p>
          <a:p>
            <a:pPr algn="l">
              <a:lnSpc>
                <a:spcPct val="170000"/>
              </a:lnSpc>
            </a:pPr>
            <a:r>
              <a:rPr sz="1000" b="0">
                <a:solidFill>
                  <a:srgbClr val="1A1A1A"/>
                </a:solidFill>
                <a:latin typeface="Hiragino Sans"/>
                <a:ea typeface="Hiragino Sans"/>
                <a:cs typeface="Hiragino Sans"/>
              </a:rPr>
              <a:t>・クリエイティブ追加 5-10本</a:t>
            </a:r>
          </a:p>
        </p:txBody>
      </p:sp>
      <p:sp>
        <p:nvSpPr>
          <p:cNvPr id="23" name="Rounded Rectangle 22"/>
          <p:cNvSpPr/>
          <p:nvPr/>
        </p:nvSpPr>
        <p:spPr>
          <a:xfrm>
            <a:off x="8915400" y="1417320"/>
            <a:ext cx="2697480" cy="23774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15400" y="1417320"/>
            <a:ext cx="2697480" cy="5029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52560" y="1536192"/>
            <a:ext cx="2423160" cy="274320"/>
          </a:xfrm>
          <a:prstGeom prst="rect">
            <a:avLst/>
          </a:prstGeom>
          <a:noFill/>
        </p:spPr>
        <p:txBody>
          <a:bodyPr wrap="square" anchor="t" lIns="0" rIns="0" tIns="0" bIns="0">
            <a:spAutoFit/>
          </a:bodyPr>
          <a:lstStyle/>
          <a:p>
            <a:pPr algn="ctr">
              <a:lnSpc>
                <a:spcPct val="115000"/>
              </a:lnSpc>
            </a:pPr>
            <a:r>
              <a:rPr sz="1200" b="1">
                <a:solidFill>
                  <a:srgbClr val="FFFFFF"/>
                </a:solidFill>
                <a:latin typeface="Helvetica Neue"/>
                <a:ea typeface="Helvetica Neue"/>
                <a:cs typeface="Helvetica Neue"/>
              </a:rPr>
              <a:t>Week 4</a:t>
            </a:r>
          </a:p>
        </p:txBody>
      </p:sp>
      <p:sp>
        <p:nvSpPr>
          <p:cNvPr id="26" name="TextBox 25"/>
          <p:cNvSpPr txBox="1"/>
          <p:nvPr/>
        </p:nvSpPr>
        <p:spPr>
          <a:xfrm>
            <a:off x="9052560" y="2057400"/>
            <a:ext cx="2423160" cy="365760"/>
          </a:xfrm>
          <a:prstGeom prst="rect">
            <a:avLst/>
          </a:prstGeom>
          <a:noFill/>
        </p:spPr>
        <p:txBody>
          <a:bodyPr wrap="square" anchor="t" lIns="0" rIns="0" tIns="0" bIns="0">
            <a:spAutoFit/>
          </a:bodyPr>
          <a:lstStyle/>
          <a:p>
            <a:pPr algn="ctr">
              <a:lnSpc>
                <a:spcPct val="115000"/>
              </a:lnSpc>
            </a:pPr>
            <a:r>
              <a:rPr sz="1300" b="1">
                <a:solidFill>
                  <a:srgbClr val="0F2A4F"/>
                </a:solidFill>
                <a:latin typeface="Hiragino Sans"/>
                <a:ea typeface="Hiragino Sans"/>
                <a:cs typeface="Hiragino Sans"/>
              </a:rPr>
              <a:t>レポート + 提案</a:t>
            </a:r>
          </a:p>
        </p:txBody>
      </p:sp>
      <p:sp>
        <p:nvSpPr>
          <p:cNvPr id="27" name="TextBox 26"/>
          <p:cNvSpPr txBox="1"/>
          <p:nvPr/>
        </p:nvSpPr>
        <p:spPr>
          <a:xfrm>
            <a:off x="9052560" y="2514600"/>
            <a:ext cx="2423160" cy="1234440"/>
          </a:xfrm>
          <a:prstGeom prst="rect">
            <a:avLst/>
          </a:prstGeom>
          <a:noFill/>
        </p:spPr>
        <p:txBody>
          <a:bodyPr wrap="square" anchor="t" lIns="0" rIns="0" tIns="0" bIns="0">
            <a:spAutoFit/>
          </a:bodyPr>
          <a:lstStyle/>
          <a:p>
            <a:pPr algn="l">
              <a:lnSpc>
                <a:spcPct val="170000"/>
              </a:lnSpc>
            </a:pPr>
            <a:r>
              <a:rPr sz="1000" b="0">
                <a:solidFill>
                  <a:srgbClr val="1A1A1A"/>
                </a:solidFill>
                <a:latin typeface="Hiragino Sans"/>
                <a:ea typeface="Hiragino Sans"/>
                <a:cs typeface="Hiragino Sans"/>
              </a:rPr>
              <a:t>・月次レポート作成 (AI活用)</a:t>
            </a:r>
          </a:p>
          <a:p>
            <a:pPr algn="l">
              <a:lnSpc>
                <a:spcPct val="170000"/>
              </a:lnSpc>
            </a:pPr>
            <a:r>
              <a:rPr sz="1000" b="0">
                <a:solidFill>
                  <a:srgbClr val="1A1A1A"/>
                </a:solidFill>
                <a:latin typeface="Hiragino Sans"/>
                <a:ea typeface="Hiragino Sans"/>
                <a:cs typeface="Hiragino Sans"/>
              </a:rPr>
              <a:t>・Lift Test 結果分析</a:t>
            </a:r>
          </a:p>
          <a:p>
            <a:pPr algn="l">
              <a:lnSpc>
                <a:spcPct val="170000"/>
              </a:lnSpc>
            </a:pPr>
            <a:r>
              <a:rPr sz="1000" b="0">
                <a:solidFill>
                  <a:srgbClr val="1A1A1A"/>
                </a:solidFill>
                <a:latin typeface="Hiragino Sans"/>
                <a:ea typeface="Hiragino Sans"/>
                <a:cs typeface="Hiragino Sans"/>
              </a:rPr>
              <a:t>・来月予算配分提案</a:t>
            </a:r>
          </a:p>
          <a:p>
            <a:pPr algn="l">
              <a:lnSpc>
                <a:spcPct val="170000"/>
              </a:lnSpc>
            </a:pPr>
            <a:r>
              <a:rPr sz="1000" b="0">
                <a:solidFill>
                  <a:srgbClr val="1A1A1A"/>
                </a:solidFill>
                <a:latin typeface="Hiragino Sans"/>
                <a:ea typeface="Hiragino Sans"/>
                <a:cs typeface="Hiragino Sans"/>
              </a:rPr>
              <a:t>・クライアントMTG</a:t>
            </a:r>
          </a:p>
        </p:txBody>
      </p:sp>
      <p:sp>
        <p:nvSpPr>
          <p:cNvPr id="28" name="Rounded Rectangle 27"/>
          <p:cNvSpPr/>
          <p:nvPr/>
        </p:nvSpPr>
        <p:spPr>
          <a:xfrm>
            <a:off x="548640" y="4023360"/>
            <a:ext cx="11109960" cy="233172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4160520"/>
            <a:ext cx="100584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 1ヶ月の工数目安 (1案件あたり)</a:t>
            </a:r>
          </a:p>
        </p:txBody>
      </p:sp>
      <p:sp>
        <p:nvSpPr>
          <p:cNvPr id="30" name="TextBox 29"/>
          <p:cNvSpPr txBox="1"/>
          <p:nvPr/>
        </p:nvSpPr>
        <p:spPr>
          <a:xfrm>
            <a:off x="777240" y="4526280"/>
            <a:ext cx="10972800" cy="182880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 Week 1 (構造設計) : 8-10h (初月のみ、2ヶ月目以降は2-3h)</a:t>
            </a:r>
          </a:p>
          <a:p>
            <a:pPr algn="l">
              <a:lnSpc>
                <a:spcPct val="160000"/>
              </a:lnSpc>
            </a:pPr>
            <a:r>
              <a:rPr sz="1100" b="0">
                <a:solidFill>
                  <a:srgbClr val="1A1A1A"/>
                </a:solidFill>
                <a:latin typeface="Hiragino Sans"/>
                <a:ea typeface="Hiragino Sans"/>
                <a:cs typeface="Hiragino Sans"/>
              </a:rPr>
              <a:t>• Week 2 (Learning) : 2-3h (確認 + 微調整中心)</a:t>
            </a:r>
          </a:p>
          <a:p>
            <a:pPr algn="l">
              <a:lnSpc>
                <a:spcPct val="160000"/>
              </a:lnSpc>
            </a:pPr>
            <a:r>
              <a:rPr sz="1100" b="0">
                <a:solidFill>
                  <a:srgbClr val="1A1A1A"/>
                </a:solidFill>
                <a:latin typeface="Hiragino Sans"/>
                <a:ea typeface="Hiragino Sans"/>
                <a:cs typeface="Hiragino Sans"/>
              </a:rPr>
              <a:t>• Week 3 (中間レビュー) : 4-5h (素材追加 + Optiscore適用)</a:t>
            </a:r>
          </a:p>
          <a:p>
            <a:pPr algn="l">
              <a:lnSpc>
                <a:spcPct val="160000"/>
              </a:lnSpc>
            </a:pPr>
            <a:r>
              <a:rPr sz="1100" b="0">
                <a:solidFill>
                  <a:srgbClr val="1A1A1A"/>
                </a:solidFill>
                <a:latin typeface="Hiragino Sans"/>
                <a:ea typeface="Hiragino Sans"/>
                <a:cs typeface="Hiragino Sans"/>
              </a:rPr>
              <a:t>• Week 4 (レポート + 提案) : 4-5h (AI活用で 2h 程度に圧縮可)</a:t>
            </a:r>
          </a:p>
          <a:p>
            <a:pPr algn="l">
              <a:lnSpc>
                <a:spcPct val="160000"/>
              </a:lnSpc>
            </a:pPr>
            <a:r>
              <a:rPr sz="1100" b="0">
                <a:solidFill>
                  <a:srgbClr val="1A1A1A"/>
                </a:solidFill>
                <a:latin typeface="Hiragino Sans"/>
                <a:ea typeface="Hiragino Sans"/>
                <a:cs typeface="Hiragino Sans"/>
              </a:rPr>
              <a:t>= 月間合計 : 初月 18-23h、2ヶ月目以降 12-15h</a:t>
            </a:r>
          </a:p>
          <a:p>
            <a:pPr algn="l">
              <a:lnSpc>
                <a:spcPct val="160000"/>
              </a:lnSpc>
            </a:pPr>
            <a:r>
              <a:rPr sz="1100" b="0">
                <a:solidFill>
                  <a:srgbClr val="1A1A1A"/>
                </a:solidFill>
                <a:latin typeface="Hiragino Sans"/>
                <a:ea typeface="Hiragino Sans"/>
                <a:cs typeface="Hiragino Sans"/>
              </a:rPr>
              <a:t>= 1人で月10-15案件並行 (AI 駆使前提) が現実的</a:t>
            </a:r>
          </a:p>
        </p:txBody>
      </p:sp>
      <p:sp>
        <p:nvSpPr>
          <p:cNvPr id="31" name="TextBox 30"/>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KPI / KGI 設計</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クライアントと合意するべき数字</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P218 / 250</a:t>
            </a:r>
          </a:p>
        </p:txBody>
      </p:sp>
      <p:sp>
        <p:nvSpPr>
          <p:cNvPr id="8" name="Rounded Rectangle 7"/>
          <p:cNvSpPr/>
          <p:nvPr/>
        </p:nvSpPr>
        <p:spPr>
          <a:xfrm>
            <a:off x="548640" y="1417320"/>
            <a:ext cx="5440680" cy="2286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544068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581912"/>
            <a:ext cx="5074920" cy="411480"/>
          </a:xfrm>
          <a:prstGeom prst="rect">
            <a:avLst/>
          </a:prstGeom>
          <a:noFill/>
        </p:spPr>
        <p:txBody>
          <a:bodyPr wrap="square" anchor="t" lIns="0" rIns="0" tIns="0" bIns="0">
            <a:spAutoFit/>
          </a:bodyPr>
          <a:lstStyle/>
          <a:p>
            <a:pPr algn="l">
              <a:lnSpc>
                <a:spcPct val="115000"/>
              </a:lnSpc>
            </a:pPr>
            <a:r>
              <a:rPr sz="1400" b="1">
                <a:solidFill>
                  <a:srgbClr val="FFFFFF"/>
                </a:solidFill>
                <a:latin typeface="Hiragino Sans"/>
                <a:ea typeface="Hiragino Sans"/>
                <a:cs typeface="Hiragino Sans"/>
              </a:rPr>
              <a:t>KGI (最終目標)</a:t>
            </a:r>
          </a:p>
        </p:txBody>
      </p:sp>
      <p:sp>
        <p:nvSpPr>
          <p:cNvPr id="11" name="TextBox 10"/>
          <p:cNvSpPr txBox="1"/>
          <p:nvPr/>
        </p:nvSpPr>
        <p:spPr>
          <a:xfrm>
            <a:off x="777240" y="1965960"/>
            <a:ext cx="5074920" cy="274320"/>
          </a:xfrm>
          <a:prstGeom prst="rect">
            <a:avLst/>
          </a:prstGeom>
          <a:noFill/>
        </p:spPr>
        <p:txBody>
          <a:bodyPr wrap="square" anchor="t" lIns="0" rIns="0" tIns="0" bIns="0">
            <a:spAutoFit/>
          </a:bodyPr>
          <a:lstStyle/>
          <a:p>
            <a:pPr algn="l">
              <a:lnSpc>
                <a:spcPct val="115000"/>
              </a:lnSpc>
            </a:pPr>
            <a:r>
              <a:rPr sz="1000" b="0">
                <a:solidFill>
                  <a:srgbClr val="FFFFFF"/>
                </a:solidFill>
                <a:latin typeface="Helvetica Neue"/>
                <a:ea typeface="Helvetica Neue"/>
                <a:cs typeface="Helvetica Neue"/>
              </a:rPr>
              <a:t>売上 / リード件数 / LTV</a:t>
            </a:r>
          </a:p>
        </p:txBody>
      </p:sp>
      <p:sp>
        <p:nvSpPr>
          <p:cNvPr id="12" name="TextBox 11"/>
          <p:cNvSpPr txBox="1"/>
          <p:nvPr/>
        </p:nvSpPr>
        <p:spPr>
          <a:xfrm>
            <a:off x="777240" y="2423160"/>
            <a:ext cx="5074920" cy="123444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クライアントのビジネス目標</a:t>
            </a:r>
          </a:p>
          <a:p>
            <a:pPr algn="l">
              <a:lnSpc>
                <a:spcPct val="160000"/>
              </a:lnSpc>
            </a:pPr>
            <a:r>
              <a:rPr sz="1100" b="0">
                <a:solidFill>
                  <a:srgbClr val="1A1A1A"/>
                </a:solidFill>
                <a:latin typeface="Hiragino Sans"/>
                <a:ea typeface="Hiragino Sans"/>
                <a:cs typeface="Hiragino Sans"/>
              </a:rPr>
              <a:t>月次・四半期で合意</a:t>
            </a:r>
          </a:p>
          <a:p>
            <a:pPr algn="l">
              <a:lnSpc>
                <a:spcPct val="160000"/>
              </a:lnSpc>
            </a:pPr>
            <a:r>
              <a:rPr sz="1100" b="0">
                <a:solidFill>
                  <a:srgbClr val="1A1A1A"/>
                </a:solidFill>
                <a:latin typeface="Hiragino Sans"/>
                <a:ea typeface="Hiragino Sans"/>
                <a:cs typeface="Hiragino Sans"/>
              </a:rPr>
              <a:t>例: 月売上1,000万円 / 月50リード</a:t>
            </a:r>
          </a:p>
        </p:txBody>
      </p:sp>
      <p:sp>
        <p:nvSpPr>
          <p:cNvPr id="13" name="Rounded Rectangle 12"/>
          <p:cNvSpPr/>
          <p:nvPr/>
        </p:nvSpPr>
        <p:spPr>
          <a:xfrm>
            <a:off x="6172200" y="1417320"/>
            <a:ext cx="5440680" cy="2286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1417320"/>
            <a:ext cx="544068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581912"/>
            <a:ext cx="5074920" cy="411480"/>
          </a:xfrm>
          <a:prstGeom prst="rect">
            <a:avLst/>
          </a:prstGeom>
          <a:noFill/>
        </p:spPr>
        <p:txBody>
          <a:bodyPr wrap="square" anchor="t" lIns="0" rIns="0" tIns="0" bIns="0">
            <a:spAutoFit/>
          </a:bodyPr>
          <a:lstStyle/>
          <a:p>
            <a:pPr algn="l">
              <a:lnSpc>
                <a:spcPct val="115000"/>
              </a:lnSpc>
            </a:pPr>
            <a:r>
              <a:rPr sz="1400" b="1">
                <a:solidFill>
                  <a:srgbClr val="FFFFFF"/>
                </a:solidFill>
                <a:latin typeface="Hiragino Sans"/>
                <a:ea typeface="Hiragino Sans"/>
                <a:cs typeface="Hiragino Sans"/>
              </a:rPr>
              <a:t>KPI 主指標</a:t>
            </a:r>
          </a:p>
        </p:txBody>
      </p:sp>
      <p:sp>
        <p:nvSpPr>
          <p:cNvPr id="16" name="TextBox 15"/>
          <p:cNvSpPr txBox="1"/>
          <p:nvPr/>
        </p:nvSpPr>
        <p:spPr>
          <a:xfrm>
            <a:off x="6400800" y="1965960"/>
            <a:ext cx="5074920" cy="274320"/>
          </a:xfrm>
          <a:prstGeom prst="rect">
            <a:avLst/>
          </a:prstGeom>
          <a:noFill/>
        </p:spPr>
        <p:txBody>
          <a:bodyPr wrap="square" anchor="t" lIns="0" rIns="0" tIns="0" bIns="0">
            <a:spAutoFit/>
          </a:bodyPr>
          <a:lstStyle/>
          <a:p>
            <a:pPr algn="l">
              <a:lnSpc>
                <a:spcPct val="115000"/>
              </a:lnSpc>
            </a:pPr>
            <a:r>
              <a:rPr sz="1000" b="0">
                <a:solidFill>
                  <a:srgbClr val="FFFFFF"/>
                </a:solidFill>
                <a:latin typeface="Helvetica Neue"/>
                <a:ea typeface="Helvetica Neue"/>
                <a:cs typeface="Helvetica Neue"/>
              </a:rPr>
              <a:t>CV件数 / ROAS / CPA / CPL</a:t>
            </a:r>
          </a:p>
        </p:txBody>
      </p:sp>
      <p:sp>
        <p:nvSpPr>
          <p:cNvPr id="17" name="TextBox 16"/>
          <p:cNvSpPr txBox="1"/>
          <p:nvPr/>
        </p:nvSpPr>
        <p:spPr>
          <a:xfrm>
            <a:off x="6400800" y="2423160"/>
            <a:ext cx="5074920" cy="123444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広告運用で直接動かせる指標</a:t>
            </a:r>
          </a:p>
          <a:p>
            <a:pPr algn="l">
              <a:lnSpc>
                <a:spcPct val="160000"/>
              </a:lnSpc>
            </a:pPr>
            <a:r>
              <a:rPr sz="1100" b="0">
                <a:solidFill>
                  <a:srgbClr val="1A1A1A"/>
                </a:solidFill>
                <a:latin typeface="Hiragino Sans"/>
                <a:ea typeface="Hiragino Sans"/>
                <a:cs typeface="Hiragino Sans"/>
              </a:rPr>
              <a:t>KGIに連動する形で設定</a:t>
            </a:r>
          </a:p>
          <a:p>
            <a:pPr algn="l">
              <a:lnSpc>
                <a:spcPct val="160000"/>
              </a:lnSpc>
            </a:pPr>
            <a:r>
              <a:rPr sz="1100" b="0">
                <a:solidFill>
                  <a:srgbClr val="1A1A1A"/>
                </a:solidFill>
                <a:latin typeface="Hiragino Sans"/>
                <a:ea typeface="Hiragino Sans"/>
                <a:cs typeface="Hiragino Sans"/>
              </a:rPr>
              <a:t>例: CPL 5,000円以下 / ROAS 200%以上</a:t>
            </a:r>
          </a:p>
        </p:txBody>
      </p:sp>
      <p:sp>
        <p:nvSpPr>
          <p:cNvPr id="18" name="Rounded Rectangle 17"/>
          <p:cNvSpPr/>
          <p:nvPr/>
        </p:nvSpPr>
        <p:spPr>
          <a:xfrm>
            <a:off x="548640" y="3840480"/>
            <a:ext cx="5440680" cy="2286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840480"/>
            <a:ext cx="544068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4005072"/>
            <a:ext cx="5074920" cy="411480"/>
          </a:xfrm>
          <a:prstGeom prst="rect">
            <a:avLst/>
          </a:prstGeom>
          <a:noFill/>
        </p:spPr>
        <p:txBody>
          <a:bodyPr wrap="square" anchor="t" lIns="0" rIns="0" tIns="0" bIns="0">
            <a:spAutoFit/>
          </a:bodyPr>
          <a:lstStyle/>
          <a:p>
            <a:pPr algn="l">
              <a:lnSpc>
                <a:spcPct val="115000"/>
              </a:lnSpc>
            </a:pPr>
            <a:r>
              <a:rPr sz="1400" b="1">
                <a:solidFill>
                  <a:srgbClr val="FFFFFF"/>
                </a:solidFill>
                <a:latin typeface="Hiragino Sans"/>
                <a:ea typeface="Hiragino Sans"/>
                <a:cs typeface="Hiragino Sans"/>
              </a:rPr>
              <a:t>KPI 副指標</a:t>
            </a:r>
          </a:p>
        </p:txBody>
      </p:sp>
      <p:sp>
        <p:nvSpPr>
          <p:cNvPr id="21" name="TextBox 20"/>
          <p:cNvSpPr txBox="1"/>
          <p:nvPr/>
        </p:nvSpPr>
        <p:spPr>
          <a:xfrm>
            <a:off x="777240" y="4389120"/>
            <a:ext cx="5074920" cy="274320"/>
          </a:xfrm>
          <a:prstGeom prst="rect">
            <a:avLst/>
          </a:prstGeom>
          <a:noFill/>
        </p:spPr>
        <p:txBody>
          <a:bodyPr wrap="square" anchor="t" lIns="0" rIns="0" tIns="0" bIns="0">
            <a:spAutoFit/>
          </a:bodyPr>
          <a:lstStyle/>
          <a:p>
            <a:pPr algn="l">
              <a:lnSpc>
                <a:spcPct val="115000"/>
              </a:lnSpc>
            </a:pPr>
            <a:r>
              <a:rPr sz="1000" b="0">
                <a:solidFill>
                  <a:srgbClr val="FFFFFF"/>
                </a:solidFill>
                <a:latin typeface="Helvetica Neue"/>
                <a:ea typeface="Helvetica Neue"/>
                <a:cs typeface="Helvetica Neue"/>
              </a:rPr>
              <a:t>CTR / CVR / IS / Frequency</a:t>
            </a:r>
          </a:p>
        </p:txBody>
      </p:sp>
      <p:sp>
        <p:nvSpPr>
          <p:cNvPr id="22" name="TextBox 21"/>
          <p:cNvSpPr txBox="1"/>
          <p:nvPr/>
        </p:nvSpPr>
        <p:spPr>
          <a:xfrm>
            <a:off x="777240" y="4846320"/>
            <a:ext cx="5074920" cy="123444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改善の手がかりとなる指標</a:t>
            </a:r>
          </a:p>
          <a:p>
            <a:pPr algn="l">
              <a:lnSpc>
                <a:spcPct val="160000"/>
              </a:lnSpc>
            </a:pPr>
            <a:r>
              <a:rPr sz="1100" b="0">
                <a:solidFill>
                  <a:srgbClr val="1A1A1A"/>
                </a:solidFill>
                <a:latin typeface="Hiragino Sans"/>
                <a:ea typeface="Hiragino Sans"/>
                <a:cs typeface="Hiragino Sans"/>
              </a:rPr>
              <a:t>月次レポートで言及</a:t>
            </a:r>
          </a:p>
          <a:p>
            <a:pPr algn="l">
              <a:lnSpc>
                <a:spcPct val="160000"/>
              </a:lnSpc>
            </a:pPr>
            <a:r>
              <a:rPr sz="1100" b="0">
                <a:solidFill>
                  <a:srgbClr val="1A1A1A"/>
                </a:solidFill>
                <a:latin typeface="Hiragino Sans"/>
                <a:ea typeface="Hiragino Sans"/>
                <a:cs typeface="Hiragino Sans"/>
              </a:rPr>
              <a:t>例: CTR 2%以上 / IS 60%以上</a:t>
            </a:r>
          </a:p>
        </p:txBody>
      </p:sp>
      <p:sp>
        <p:nvSpPr>
          <p:cNvPr id="23" name="Rounded Rectangle 22"/>
          <p:cNvSpPr/>
          <p:nvPr/>
        </p:nvSpPr>
        <p:spPr>
          <a:xfrm>
            <a:off x="6172200" y="3840480"/>
            <a:ext cx="5440680" cy="2286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72200" y="3840480"/>
            <a:ext cx="544068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0" y="4005072"/>
            <a:ext cx="5074920" cy="411480"/>
          </a:xfrm>
          <a:prstGeom prst="rect">
            <a:avLst/>
          </a:prstGeom>
          <a:noFill/>
        </p:spPr>
        <p:txBody>
          <a:bodyPr wrap="square" anchor="t" lIns="0" rIns="0" tIns="0" bIns="0">
            <a:spAutoFit/>
          </a:bodyPr>
          <a:lstStyle/>
          <a:p>
            <a:pPr algn="l">
              <a:lnSpc>
                <a:spcPct val="115000"/>
              </a:lnSpc>
            </a:pPr>
            <a:r>
              <a:rPr sz="1400" b="1">
                <a:solidFill>
                  <a:srgbClr val="FFFFFF"/>
                </a:solidFill>
                <a:latin typeface="Hiragino Sans"/>
                <a:ea typeface="Hiragino Sans"/>
                <a:cs typeface="Hiragino Sans"/>
              </a:rPr>
              <a:t>健全性指標</a:t>
            </a:r>
          </a:p>
        </p:txBody>
      </p:sp>
      <p:sp>
        <p:nvSpPr>
          <p:cNvPr id="26" name="TextBox 25"/>
          <p:cNvSpPr txBox="1"/>
          <p:nvPr/>
        </p:nvSpPr>
        <p:spPr>
          <a:xfrm>
            <a:off x="6400800" y="4389120"/>
            <a:ext cx="5074920" cy="274320"/>
          </a:xfrm>
          <a:prstGeom prst="rect">
            <a:avLst/>
          </a:prstGeom>
          <a:noFill/>
        </p:spPr>
        <p:txBody>
          <a:bodyPr wrap="square" anchor="t" lIns="0" rIns="0" tIns="0" bIns="0">
            <a:spAutoFit/>
          </a:bodyPr>
          <a:lstStyle/>
          <a:p>
            <a:pPr algn="l">
              <a:lnSpc>
                <a:spcPct val="115000"/>
              </a:lnSpc>
            </a:pPr>
            <a:r>
              <a:rPr sz="1000" b="0">
                <a:solidFill>
                  <a:srgbClr val="FFFFFF"/>
                </a:solidFill>
                <a:latin typeface="Helvetica Neue"/>
                <a:ea typeface="Helvetica Neue"/>
                <a:cs typeface="Helvetica Neue"/>
              </a:rPr>
              <a:t>Quality Score / Optiscore / EMQ</a:t>
            </a:r>
          </a:p>
        </p:txBody>
      </p:sp>
      <p:sp>
        <p:nvSpPr>
          <p:cNvPr id="27" name="TextBox 26"/>
          <p:cNvSpPr txBox="1"/>
          <p:nvPr/>
        </p:nvSpPr>
        <p:spPr>
          <a:xfrm>
            <a:off x="6400800" y="4846320"/>
            <a:ext cx="5074920" cy="123444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アカウント健全性</a:t>
            </a:r>
          </a:p>
          <a:p>
            <a:pPr algn="l">
              <a:lnSpc>
                <a:spcPct val="160000"/>
              </a:lnSpc>
            </a:pPr>
            <a:r>
              <a:rPr sz="1100" b="0">
                <a:solidFill>
                  <a:srgbClr val="1A1A1A"/>
                </a:solidFill>
                <a:latin typeface="Hiragino Sans"/>
                <a:ea typeface="Hiragino Sans"/>
                <a:cs typeface="Hiragino Sans"/>
              </a:rPr>
              <a:t>クライアントには非報告でも内部監視</a:t>
            </a:r>
          </a:p>
          <a:p>
            <a:pPr algn="l">
              <a:lnSpc>
                <a:spcPct val="160000"/>
              </a:lnSpc>
            </a:pPr>
            <a:r>
              <a:rPr sz="1100" b="0">
                <a:solidFill>
                  <a:srgbClr val="1A1A1A"/>
                </a:solidFill>
                <a:latin typeface="Hiragino Sans"/>
                <a:ea typeface="Hiragino Sans"/>
                <a:cs typeface="Hiragino Sans"/>
              </a:rPr>
              <a:t>例: Optiscore 80%以上</a:t>
            </a:r>
          </a:p>
        </p:txBody>
      </p:sp>
      <p:sp>
        <p:nvSpPr>
          <p:cNvPr id="28" name="TextBox 27"/>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副業代行の料金設計</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案件規模別の標準料金</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P219 / 250</a:t>
            </a:r>
          </a:p>
        </p:txBody>
      </p:sp>
      <p:sp>
        <p:nvSpPr>
          <p:cNvPr id="8" name="Rounded Rectangle 7"/>
          <p:cNvSpPr/>
          <p:nvPr/>
        </p:nvSpPr>
        <p:spPr>
          <a:xfrm>
            <a:off x="548640" y="1417320"/>
            <a:ext cx="2697480" cy="2286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269748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81912"/>
            <a:ext cx="2423160" cy="411480"/>
          </a:xfrm>
          <a:prstGeom prst="rect">
            <a:avLst/>
          </a:prstGeom>
          <a:noFill/>
        </p:spPr>
        <p:txBody>
          <a:bodyPr wrap="square" anchor="t" lIns="0" rIns="0" tIns="0" bIns="0">
            <a:spAutoFit/>
          </a:bodyPr>
          <a:lstStyle/>
          <a:p>
            <a:pPr algn="ctr">
              <a:lnSpc>
                <a:spcPct val="120000"/>
              </a:lnSpc>
            </a:pPr>
            <a:r>
              <a:rPr sz="1300" b="1">
                <a:solidFill>
                  <a:srgbClr val="E87722"/>
                </a:solidFill>
                <a:latin typeface="Hiragino Sans"/>
                <a:ea typeface="Hiragino Sans"/>
                <a:cs typeface="Hiragino Sans"/>
              </a:rPr>
              <a:t>Tier 1 : SMB</a:t>
            </a:r>
          </a:p>
        </p:txBody>
      </p:sp>
      <p:sp>
        <p:nvSpPr>
          <p:cNvPr id="11" name="TextBox 10"/>
          <p:cNvSpPr txBox="1"/>
          <p:nvPr/>
        </p:nvSpPr>
        <p:spPr>
          <a:xfrm>
            <a:off x="685800" y="1965960"/>
            <a:ext cx="242316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月予算 30-100万円</a:t>
            </a:r>
          </a:p>
        </p:txBody>
      </p:sp>
      <p:sp>
        <p:nvSpPr>
          <p:cNvPr id="12" name="TextBox 11"/>
          <p:cNvSpPr txBox="1"/>
          <p:nvPr/>
        </p:nvSpPr>
        <p:spPr>
          <a:xfrm>
            <a:off x="685800" y="2423160"/>
            <a:ext cx="2423160" cy="1234440"/>
          </a:xfrm>
          <a:prstGeom prst="rect">
            <a:avLst/>
          </a:prstGeom>
          <a:noFill/>
        </p:spPr>
        <p:txBody>
          <a:bodyPr wrap="square" anchor="t" lIns="0" rIns="0" tIns="0" bIns="0">
            <a:spAutoFit/>
          </a:bodyPr>
          <a:lstStyle/>
          <a:p>
            <a:pPr algn="ctr">
              <a:lnSpc>
                <a:spcPct val="165000"/>
              </a:lnSpc>
            </a:pPr>
            <a:r>
              <a:rPr sz="1100" b="0">
                <a:solidFill>
                  <a:srgbClr val="1A1A1A"/>
                </a:solidFill>
                <a:latin typeface="Hiragino Sans"/>
                <a:ea typeface="Hiragino Sans"/>
                <a:cs typeface="Hiragino Sans"/>
              </a:rPr>
              <a:t>代行料 月3-5万円</a:t>
            </a:r>
          </a:p>
          <a:p>
            <a:pPr algn="ctr">
              <a:lnSpc>
                <a:spcPct val="165000"/>
              </a:lnSpc>
            </a:pPr>
            <a:r>
              <a:rPr sz="1100" b="0">
                <a:solidFill>
                  <a:srgbClr val="1A1A1A"/>
                </a:solidFill>
                <a:latin typeface="Hiragino Sans"/>
                <a:ea typeface="Hiragino Sans"/>
                <a:cs typeface="Hiragino Sans"/>
              </a:rPr>
              <a:t>固定報酬</a:t>
            </a:r>
          </a:p>
          <a:p>
            <a:pPr algn="ctr">
              <a:lnSpc>
                <a:spcPct val="165000"/>
              </a:lnSpc>
            </a:pPr>
            <a:r>
              <a:rPr sz="1100" b="0">
                <a:solidFill>
                  <a:srgbClr val="1A1A1A"/>
                </a:solidFill>
                <a:latin typeface="Hiragino Sans"/>
                <a:ea typeface="Hiragino Sans"/>
                <a:cs typeface="Hiragino Sans"/>
              </a:rPr>
              <a:t>媒体 1-2軸</a:t>
            </a:r>
          </a:p>
        </p:txBody>
      </p:sp>
      <p:sp>
        <p:nvSpPr>
          <p:cNvPr id="13" name="Rounded Rectangle 12"/>
          <p:cNvSpPr/>
          <p:nvPr/>
        </p:nvSpPr>
        <p:spPr>
          <a:xfrm>
            <a:off x="3337560" y="1417320"/>
            <a:ext cx="2697480" cy="2286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37560" y="1417320"/>
            <a:ext cx="269748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74720" y="1581912"/>
            <a:ext cx="2423160" cy="411480"/>
          </a:xfrm>
          <a:prstGeom prst="rect">
            <a:avLst/>
          </a:prstGeom>
          <a:noFill/>
        </p:spPr>
        <p:txBody>
          <a:bodyPr wrap="square" anchor="t" lIns="0" rIns="0" tIns="0" bIns="0">
            <a:spAutoFit/>
          </a:bodyPr>
          <a:lstStyle/>
          <a:p>
            <a:pPr algn="ctr">
              <a:lnSpc>
                <a:spcPct val="120000"/>
              </a:lnSpc>
            </a:pPr>
            <a:r>
              <a:rPr sz="1300" b="1">
                <a:solidFill>
                  <a:srgbClr val="E87722"/>
                </a:solidFill>
                <a:latin typeface="Hiragino Sans"/>
                <a:ea typeface="Hiragino Sans"/>
                <a:cs typeface="Hiragino Sans"/>
              </a:rPr>
              <a:t>Tier 2 : 中堅</a:t>
            </a:r>
          </a:p>
        </p:txBody>
      </p:sp>
      <p:sp>
        <p:nvSpPr>
          <p:cNvPr id="16" name="TextBox 15"/>
          <p:cNvSpPr txBox="1"/>
          <p:nvPr/>
        </p:nvSpPr>
        <p:spPr>
          <a:xfrm>
            <a:off x="3474720" y="1965960"/>
            <a:ext cx="242316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月予算 100-500万円</a:t>
            </a:r>
          </a:p>
        </p:txBody>
      </p:sp>
      <p:sp>
        <p:nvSpPr>
          <p:cNvPr id="17" name="TextBox 16"/>
          <p:cNvSpPr txBox="1"/>
          <p:nvPr/>
        </p:nvSpPr>
        <p:spPr>
          <a:xfrm>
            <a:off x="3474720" y="2423160"/>
            <a:ext cx="2423160" cy="1234440"/>
          </a:xfrm>
          <a:prstGeom prst="rect">
            <a:avLst/>
          </a:prstGeom>
          <a:noFill/>
        </p:spPr>
        <p:txBody>
          <a:bodyPr wrap="square" anchor="t" lIns="0" rIns="0" tIns="0" bIns="0">
            <a:spAutoFit/>
          </a:bodyPr>
          <a:lstStyle/>
          <a:p>
            <a:pPr algn="ctr">
              <a:lnSpc>
                <a:spcPct val="165000"/>
              </a:lnSpc>
            </a:pPr>
            <a:r>
              <a:rPr sz="1100" b="0">
                <a:solidFill>
                  <a:srgbClr val="1A1A1A"/>
                </a:solidFill>
                <a:latin typeface="Hiragino Sans"/>
                <a:ea typeface="Hiragino Sans"/>
                <a:cs typeface="Hiragino Sans"/>
              </a:rPr>
              <a:t>代行料 月5-15万円</a:t>
            </a:r>
          </a:p>
          <a:p>
            <a:pPr algn="ctr">
              <a:lnSpc>
                <a:spcPct val="165000"/>
              </a:lnSpc>
            </a:pPr>
            <a:r>
              <a:rPr sz="1100" b="0">
                <a:solidFill>
                  <a:srgbClr val="1A1A1A"/>
                </a:solidFill>
                <a:latin typeface="Hiragino Sans"/>
                <a:ea typeface="Hiragino Sans"/>
                <a:cs typeface="Hiragino Sans"/>
              </a:rPr>
              <a:t>固定 + 成果報酬</a:t>
            </a:r>
          </a:p>
          <a:p>
            <a:pPr algn="ctr">
              <a:lnSpc>
                <a:spcPct val="165000"/>
              </a:lnSpc>
            </a:pPr>
            <a:r>
              <a:rPr sz="1100" b="0">
                <a:solidFill>
                  <a:srgbClr val="1A1A1A"/>
                </a:solidFill>
                <a:latin typeface="Hiragino Sans"/>
                <a:ea typeface="Hiragino Sans"/>
                <a:cs typeface="Hiragino Sans"/>
              </a:rPr>
              <a:t>媒体 2-3軸</a:t>
            </a:r>
          </a:p>
        </p:txBody>
      </p:sp>
      <p:sp>
        <p:nvSpPr>
          <p:cNvPr id="18" name="Rounded Rectangle 17"/>
          <p:cNvSpPr/>
          <p:nvPr/>
        </p:nvSpPr>
        <p:spPr>
          <a:xfrm>
            <a:off x="6126480" y="1417320"/>
            <a:ext cx="2697480" cy="2286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0" y="1417320"/>
            <a:ext cx="269748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3640" y="1581912"/>
            <a:ext cx="2423160" cy="411480"/>
          </a:xfrm>
          <a:prstGeom prst="rect">
            <a:avLst/>
          </a:prstGeom>
          <a:noFill/>
        </p:spPr>
        <p:txBody>
          <a:bodyPr wrap="square" anchor="t" lIns="0" rIns="0" tIns="0" bIns="0">
            <a:spAutoFit/>
          </a:bodyPr>
          <a:lstStyle/>
          <a:p>
            <a:pPr algn="ctr">
              <a:lnSpc>
                <a:spcPct val="120000"/>
              </a:lnSpc>
            </a:pPr>
            <a:r>
              <a:rPr sz="1300" b="1">
                <a:solidFill>
                  <a:srgbClr val="E87722"/>
                </a:solidFill>
                <a:latin typeface="Hiragino Sans"/>
                <a:ea typeface="Hiragino Sans"/>
                <a:cs typeface="Hiragino Sans"/>
              </a:rPr>
              <a:t>Tier 3 : 中規模</a:t>
            </a:r>
          </a:p>
        </p:txBody>
      </p:sp>
      <p:sp>
        <p:nvSpPr>
          <p:cNvPr id="21" name="TextBox 20"/>
          <p:cNvSpPr txBox="1"/>
          <p:nvPr/>
        </p:nvSpPr>
        <p:spPr>
          <a:xfrm>
            <a:off x="6263640" y="1965960"/>
            <a:ext cx="242316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月予算 500-2,000万円</a:t>
            </a:r>
          </a:p>
        </p:txBody>
      </p:sp>
      <p:sp>
        <p:nvSpPr>
          <p:cNvPr id="22" name="TextBox 21"/>
          <p:cNvSpPr txBox="1"/>
          <p:nvPr/>
        </p:nvSpPr>
        <p:spPr>
          <a:xfrm>
            <a:off x="6263640" y="2423160"/>
            <a:ext cx="2423160" cy="1234440"/>
          </a:xfrm>
          <a:prstGeom prst="rect">
            <a:avLst/>
          </a:prstGeom>
          <a:noFill/>
        </p:spPr>
        <p:txBody>
          <a:bodyPr wrap="square" anchor="t" lIns="0" rIns="0" tIns="0" bIns="0">
            <a:spAutoFit/>
          </a:bodyPr>
          <a:lstStyle/>
          <a:p>
            <a:pPr algn="ctr">
              <a:lnSpc>
                <a:spcPct val="165000"/>
              </a:lnSpc>
            </a:pPr>
            <a:r>
              <a:rPr sz="1100" b="0">
                <a:solidFill>
                  <a:srgbClr val="1A1A1A"/>
                </a:solidFill>
                <a:latin typeface="Hiragino Sans"/>
                <a:ea typeface="Hiragino Sans"/>
                <a:cs typeface="Hiragino Sans"/>
              </a:rPr>
              <a:t>代行料 月20-50万円</a:t>
            </a:r>
          </a:p>
          <a:p>
            <a:pPr algn="ctr">
              <a:lnSpc>
                <a:spcPct val="165000"/>
              </a:lnSpc>
            </a:pPr>
            <a:r>
              <a:rPr sz="1100" b="0">
                <a:solidFill>
                  <a:srgbClr val="1A1A1A"/>
                </a:solidFill>
                <a:latin typeface="Hiragino Sans"/>
                <a:ea typeface="Hiragino Sans"/>
                <a:cs typeface="Hiragino Sans"/>
              </a:rPr>
              <a:t>固定 + ROAS連動</a:t>
            </a:r>
          </a:p>
          <a:p>
            <a:pPr algn="ctr">
              <a:lnSpc>
                <a:spcPct val="165000"/>
              </a:lnSpc>
            </a:pPr>
            <a:r>
              <a:rPr sz="1100" b="0">
                <a:solidFill>
                  <a:srgbClr val="1A1A1A"/>
                </a:solidFill>
                <a:latin typeface="Hiragino Sans"/>
                <a:ea typeface="Hiragino Sans"/>
                <a:cs typeface="Hiragino Sans"/>
              </a:rPr>
              <a:t>全媒体構成</a:t>
            </a:r>
          </a:p>
        </p:txBody>
      </p:sp>
      <p:sp>
        <p:nvSpPr>
          <p:cNvPr id="23" name="Rounded Rectangle 22"/>
          <p:cNvSpPr/>
          <p:nvPr/>
        </p:nvSpPr>
        <p:spPr>
          <a:xfrm>
            <a:off x="8915400" y="1417320"/>
            <a:ext cx="2697480" cy="2286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15400" y="1417320"/>
            <a:ext cx="269748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52560" y="1581912"/>
            <a:ext cx="2423160" cy="411480"/>
          </a:xfrm>
          <a:prstGeom prst="rect">
            <a:avLst/>
          </a:prstGeom>
          <a:noFill/>
        </p:spPr>
        <p:txBody>
          <a:bodyPr wrap="square" anchor="t" lIns="0" rIns="0" tIns="0" bIns="0">
            <a:spAutoFit/>
          </a:bodyPr>
          <a:lstStyle/>
          <a:p>
            <a:pPr algn="ctr">
              <a:lnSpc>
                <a:spcPct val="120000"/>
              </a:lnSpc>
            </a:pPr>
            <a:r>
              <a:rPr sz="1300" b="1">
                <a:solidFill>
                  <a:srgbClr val="E87722"/>
                </a:solidFill>
                <a:latin typeface="Hiragino Sans"/>
                <a:ea typeface="Hiragino Sans"/>
                <a:cs typeface="Hiragino Sans"/>
              </a:rPr>
              <a:t>Tier 4 : 大手</a:t>
            </a:r>
          </a:p>
        </p:txBody>
      </p:sp>
      <p:sp>
        <p:nvSpPr>
          <p:cNvPr id="26" name="TextBox 25"/>
          <p:cNvSpPr txBox="1"/>
          <p:nvPr/>
        </p:nvSpPr>
        <p:spPr>
          <a:xfrm>
            <a:off x="9052560" y="1965960"/>
            <a:ext cx="242316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月予算 2,000万円以上</a:t>
            </a:r>
          </a:p>
        </p:txBody>
      </p:sp>
      <p:sp>
        <p:nvSpPr>
          <p:cNvPr id="27" name="TextBox 26"/>
          <p:cNvSpPr txBox="1"/>
          <p:nvPr/>
        </p:nvSpPr>
        <p:spPr>
          <a:xfrm>
            <a:off x="9052560" y="2423160"/>
            <a:ext cx="2423160" cy="1234440"/>
          </a:xfrm>
          <a:prstGeom prst="rect">
            <a:avLst/>
          </a:prstGeom>
          <a:noFill/>
        </p:spPr>
        <p:txBody>
          <a:bodyPr wrap="square" anchor="t" lIns="0" rIns="0" tIns="0" bIns="0">
            <a:spAutoFit/>
          </a:bodyPr>
          <a:lstStyle/>
          <a:p>
            <a:pPr algn="ctr">
              <a:lnSpc>
                <a:spcPct val="165000"/>
              </a:lnSpc>
            </a:pPr>
            <a:r>
              <a:rPr sz="1100" b="0">
                <a:solidFill>
                  <a:srgbClr val="1A1A1A"/>
                </a:solidFill>
                <a:latin typeface="Hiragino Sans"/>
                <a:ea typeface="Hiragino Sans"/>
                <a:cs typeface="Hiragino Sans"/>
              </a:rPr>
              <a:t>代行料 月50万円〜</a:t>
            </a:r>
          </a:p>
          <a:p>
            <a:pPr algn="ctr">
              <a:lnSpc>
                <a:spcPct val="165000"/>
              </a:lnSpc>
            </a:pPr>
            <a:r>
              <a:rPr sz="1100" b="0">
                <a:solidFill>
                  <a:srgbClr val="1A1A1A"/>
                </a:solidFill>
                <a:latin typeface="Hiragino Sans"/>
                <a:ea typeface="Hiragino Sans"/>
                <a:cs typeface="Hiragino Sans"/>
              </a:rPr>
              <a:t>業績連動契約</a:t>
            </a:r>
          </a:p>
          <a:p>
            <a:pPr algn="ctr">
              <a:lnSpc>
                <a:spcPct val="165000"/>
              </a:lnSpc>
            </a:pPr>
            <a:r>
              <a:rPr sz="1100" b="0">
                <a:solidFill>
                  <a:srgbClr val="1A1A1A"/>
                </a:solidFill>
                <a:latin typeface="Hiragino Sans"/>
                <a:ea typeface="Hiragino Sans"/>
                <a:cs typeface="Hiragino Sans"/>
              </a:rPr>
              <a:t>MMM / 専門ツール込</a:t>
            </a:r>
          </a:p>
        </p:txBody>
      </p:sp>
      <p:sp>
        <p:nvSpPr>
          <p:cNvPr id="28" name="Rounded Rectangle 27"/>
          <p:cNvSpPr/>
          <p:nvPr/>
        </p:nvSpPr>
        <p:spPr>
          <a:xfrm>
            <a:off x="548640" y="3886200"/>
            <a:ext cx="11109960" cy="246888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4023360"/>
            <a:ext cx="100584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 副業代行スタートの推奨</a:t>
            </a:r>
          </a:p>
        </p:txBody>
      </p:sp>
      <p:sp>
        <p:nvSpPr>
          <p:cNvPr id="30" name="TextBox 29"/>
          <p:cNvSpPr txBox="1"/>
          <p:nvPr/>
        </p:nvSpPr>
        <p:spPr>
          <a:xfrm>
            <a:off x="777240" y="4343400"/>
            <a:ext cx="10972800" cy="196596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 最初の3-5案件 = Tier 1 (月3-5万円固定) で実績作り</a:t>
            </a:r>
          </a:p>
          <a:p>
            <a:pPr algn="l">
              <a:lnSpc>
                <a:spcPct val="160000"/>
              </a:lnSpc>
            </a:pPr>
            <a:r>
              <a:rPr sz="1100" b="0">
                <a:solidFill>
                  <a:srgbClr val="1A1A1A"/>
                </a:solidFill>
                <a:latin typeface="Hiragino Sans"/>
                <a:ea typeface="Hiragino Sans"/>
                <a:cs typeface="Hiragino Sans"/>
              </a:rPr>
              <a:t>• 6-10案件目 = Tier 2 を狙う (実績 + ROAS事例 + Lift Test 提示)</a:t>
            </a:r>
          </a:p>
          <a:p>
            <a:pPr algn="l">
              <a:lnSpc>
                <a:spcPct val="160000"/>
              </a:lnSpc>
            </a:pPr>
            <a:r>
              <a:rPr sz="1100" b="0">
                <a:solidFill>
                  <a:srgbClr val="1A1A1A"/>
                </a:solidFill>
                <a:latin typeface="Hiragino Sans"/>
                <a:ea typeface="Hiragino Sans"/>
                <a:cs typeface="Hiragino Sans"/>
              </a:rPr>
              <a:t>• 月収目標 = Tier 1 × 5社 + Tier 2 × 3社 = 月30-60万円が現実的</a:t>
            </a:r>
          </a:p>
          <a:p>
            <a:pPr algn="l">
              <a:lnSpc>
                <a:spcPct val="160000"/>
              </a:lnSpc>
            </a:pPr>
            <a:r>
              <a:rPr sz="1100" b="0">
                <a:solidFill>
                  <a:srgbClr val="1A1A1A"/>
                </a:solidFill>
                <a:latin typeface="Hiragino Sans"/>
                <a:ea typeface="Hiragino Sans"/>
                <a:cs typeface="Hiragino Sans"/>
              </a:rPr>
              <a:t>• AI 駆使前提なら Tier 3 (月予算500万以上) を1社受注で月40万円も可能</a:t>
            </a:r>
          </a:p>
          <a:p>
            <a:pPr algn="l">
              <a:lnSpc>
                <a:spcPct val="160000"/>
              </a:lnSpc>
            </a:pPr>
            <a:r>
              <a:rPr sz="1100" b="0">
                <a:solidFill>
                  <a:srgbClr val="1A1A1A"/>
                </a:solidFill>
                <a:latin typeface="Hiragino Sans"/>
                <a:ea typeface="Hiragino Sans"/>
                <a:cs typeface="Hiragino Sans"/>
              </a:rPr>
              <a:t>• 単価上げの鍵 = Lift Test / DDA / Cross-channel 等の差別化スキル</a:t>
            </a:r>
          </a:p>
        </p:txBody>
      </p:sp>
      <p:sp>
        <p:nvSpPr>
          <p:cNvPr id="31" name="TextBox 30"/>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Part 6 まとめ → Part 7 へ</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鉄板運用メソッド の総括 + 次は BSA 実装</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P220 / 250</a:t>
            </a:r>
          </a:p>
        </p:txBody>
      </p:sp>
      <p:sp>
        <p:nvSpPr>
          <p:cNvPr id="8" name="Rounded Rectangle 7"/>
          <p:cNvSpPr/>
          <p:nvPr/>
        </p:nvSpPr>
        <p:spPr>
          <a:xfrm>
            <a:off x="548640" y="1371600"/>
            <a:ext cx="11109960" cy="8686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71600"/>
            <a:ext cx="137160" cy="86868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90472"/>
            <a:ext cx="914400" cy="548640"/>
          </a:xfrm>
          <a:prstGeom prst="rect">
            <a:avLst/>
          </a:prstGeom>
          <a:noFill/>
        </p:spPr>
        <p:txBody>
          <a:bodyPr wrap="square" anchor="t" lIns="0" rIns="0" tIns="0" bIns="0">
            <a:spAutoFit/>
          </a:bodyPr>
          <a:lstStyle/>
          <a:p>
            <a:pPr algn="l">
              <a:lnSpc>
                <a:spcPct val="115000"/>
              </a:lnSpc>
            </a:pPr>
            <a:r>
              <a:rPr sz="2800" b="1">
                <a:solidFill>
                  <a:srgbClr val="E87722"/>
                </a:solidFill>
                <a:latin typeface="Helvetica Neue"/>
                <a:ea typeface="Helvetica Neue"/>
                <a:cs typeface="Helvetica Neue"/>
              </a:rPr>
              <a:t>01</a:t>
            </a:r>
          </a:p>
        </p:txBody>
      </p:sp>
      <p:sp>
        <p:nvSpPr>
          <p:cNvPr id="11" name="TextBox 10"/>
          <p:cNvSpPr txBox="1"/>
          <p:nvPr/>
        </p:nvSpPr>
        <p:spPr>
          <a:xfrm>
            <a:off x="1874519" y="1481328"/>
            <a:ext cx="9601200" cy="36576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AI を導く運用が現代の標準</a:t>
            </a:r>
          </a:p>
        </p:txBody>
      </p:sp>
      <p:sp>
        <p:nvSpPr>
          <p:cNvPr id="12" name="TextBox 11"/>
          <p:cNvSpPr txBox="1"/>
          <p:nvPr/>
        </p:nvSpPr>
        <p:spPr>
          <a:xfrm>
            <a:off x="1874519" y="1828800"/>
            <a:ext cx="9601200" cy="457200"/>
          </a:xfrm>
          <a:prstGeom prst="rect">
            <a:avLst/>
          </a:prstGeom>
          <a:noFill/>
        </p:spPr>
        <p:txBody>
          <a:bodyPr wrap="square" anchor="t" lIns="0" rIns="0" tIns="0" bIns="0">
            <a:spAutoFit/>
          </a:bodyPr>
          <a:lstStyle/>
          <a:p>
            <a:pPr algn="l">
              <a:lnSpc>
                <a:spcPct val="155000"/>
              </a:lnSpc>
            </a:pPr>
            <a:r>
              <a:rPr sz="1000" b="0">
                <a:solidFill>
                  <a:srgbClr val="1A1A1A"/>
                </a:solidFill>
                <a:latin typeface="Hiragino Sans"/>
                <a:ea typeface="Hiragino Sans"/>
                <a:cs typeface="Hiragino Sans"/>
              </a:rPr>
              <a:t>PMax / Advantage+ / Smart+ で構造設計 + AI に任せる + 検証</a:t>
            </a:r>
          </a:p>
          <a:p>
            <a:pPr algn="l">
              <a:lnSpc>
                <a:spcPct val="155000"/>
              </a:lnSpc>
            </a:pPr>
            <a:r>
              <a:rPr sz="1000" b="0">
                <a:solidFill>
                  <a:srgbClr val="1A1A1A"/>
                </a:solidFill>
                <a:latin typeface="Hiragino Sans"/>
                <a:ea typeface="Hiragino Sans"/>
                <a:cs typeface="Hiragino Sans"/>
              </a:rPr>
              <a:t>手動入札 / 細分化 / 頻繁な変更は学習リセットの原因</a:t>
            </a:r>
          </a:p>
        </p:txBody>
      </p:sp>
      <p:sp>
        <p:nvSpPr>
          <p:cNvPr id="13" name="Rounded Rectangle 12"/>
          <p:cNvSpPr/>
          <p:nvPr/>
        </p:nvSpPr>
        <p:spPr>
          <a:xfrm>
            <a:off x="548640" y="2331720"/>
            <a:ext cx="11109960" cy="8686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2331720"/>
            <a:ext cx="137160" cy="86868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2450592"/>
            <a:ext cx="914400" cy="548640"/>
          </a:xfrm>
          <a:prstGeom prst="rect">
            <a:avLst/>
          </a:prstGeom>
          <a:noFill/>
        </p:spPr>
        <p:txBody>
          <a:bodyPr wrap="square" anchor="t" lIns="0" rIns="0" tIns="0" bIns="0">
            <a:spAutoFit/>
          </a:bodyPr>
          <a:lstStyle/>
          <a:p>
            <a:pPr algn="l">
              <a:lnSpc>
                <a:spcPct val="115000"/>
              </a:lnSpc>
            </a:pPr>
            <a:r>
              <a:rPr sz="2800" b="1">
                <a:solidFill>
                  <a:srgbClr val="E87722"/>
                </a:solidFill>
                <a:latin typeface="Helvetica Neue"/>
                <a:ea typeface="Helvetica Neue"/>
                <a:cs typeface="Helvetica Neue"/>
              </a:rPr>
              <a:t>02</a:t>
            </a:r>
          </a:p>
        </p:txBody>
      </p:sp>
      <p:sp>
        <p:nvSpPr>
          <p:cNvPr id="16" name="TextBox 15"/>
          <p:cNvSpPr txBox="1"/>
          <p:nvPr/>
        </p:nvSpPr>
        <p:spPr>
          <a:xfrm>
            <a:off x="1874519" y="2441448"/>
            <a:ext cx="9601200" cy="36576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計測 + 検証 が差別化要素</a:t>
            </a:r>
          </a:p>
        </p:txBody>
      </p:sp>
      <p:sp>
        <p:nvSpPr>
          <p:cNvPr id="17" name="TextBox 16"/>
          <p:cNvSpPr txBox="1"/>
          <p:nvPr/>
        </p:nvSpPr>
        <p:spPr>
          <a:xfrm>
            <a:off x="1874519" y="2788920"/>
            <a:ext cx="9601200" cy="457200"/>
          </a:xfrm>
          <a:prstGeom prst="rect">
            <a:avLst/>
          </a:prstGeom>
          <a:noFill/>
        </p:spPr>
        <p:txBody>
          <a:bodyPr wrap="square" anchor="t" lIns="0" rIns="0" tIns="0" bIns="0">
            <a:spAutoFit/>
          </a:bodyPr>
          <a:lstStyle/>
          <a:p>
            <a:pPr algn="l">
              <a:lnSpc>
                <a:spcPct val="155000"/>
              </a:lnSpc>
            </a:pPr>
            <a:r>
              <a:rPr sz="1000" b="0">
                <a:solidFill>
                  <a:srgbClr val="1A1A1A"/>
                </a:solidFill>
                <a:latin typeface="Hiragino Sans"/>
                <a:ea typeface="Hiragino Sans"/>
                <a:cs typeface="Hiragino Sans"/>
              </a:rPr>
              <a:t>1PD / SGTM / CAPI / DDA を全案件で標準化</a:t>
            </a:r>
          </a:p>
          <a:p>
            <a:pPr algn="l">
              <a:lnSpc>
                <a:spcPct val="155000"/>
              </a:lnSpc>
            </a:pPr>
            <a:r>
              <a:rPr sz="1000" b="0">
                <a:solidFill>
                  <a:srgbClr val="1A1A1A"/>
                </a:solidFill>
                <a:latin typeface="Hiragino Sans"/>
                <a:ea typeface="Hiragino Sans"/>
                <a:cs typeface="Hiragino Sans"/>
              </a:rPr>
              <a:t>Conversion Lift / Brand Lift で『Incremental ROAS』を提示</a:t>
            </a:r>
          </a:p>
        </p:txBody>
      </p:sp>
      <p:sp>
        <p:nvSpPr>
          <p:cNvPr id="18" name="Rounded Rectangle 17"/>
          <p:cNvSpPr/>
          <p:nvPr/>
        </p:nvSpPr>
        <p:spPr>
          <a:xfrm>
            <a:off x="548640" y="3291840"/>
            <a:ext cx="11109960" cy="8686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291840"/>
            <a:ext cx="137160" cy="86868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3410712"/>
            <a:ext cx="914400" cy="548640"/>
          </a:xfrm>
          <a:prstGeom prst="rect">
            <a:avLst/>
          </a:prstGeom>
          <a:noFill/>
        </p:spPr>
        <p:txBody>
          <a:bodyPr wrap="square" anchor="t" lIns="0" rIns="0" tIns="0" bIns="0">
            <a:spAutoFit/>
          </a:bodyPr>
          <a:lstStyle/>
          <a:p>
            <a:pPr algn="l">
              <a:lnSpc>
                <a:spcPct val="115000"/>
              </a:lnSpc>
            </a:pPr>
            <a:r>
              <a:rPr sz="2800" b="1">
                <a:solidFill>
                  <a:srgbClr val="E87722"/>
                </a:solidFill>
                <a:latin typeface="Helvetica Neue"/>
                <a:ea typeface="Helvetica Neue"/>
                <a:cs typeface="Helvetica Neue"/>
              </a:rPr>
              <a:t>03</a:t>
            </a:r>
          </a:p>
        </p:txBody>
      </p:sp>
      <p:sp>
        <p:nvSpPr>
          <p:cNvPr id="21" name="TextBox 20"/>
          <p:cNvSpPr txBox="1"/>
          <p:nvPr/>
        </p:nvSpPr>
        <p:spPr>
          <a:xfrm>
            <a:off x="1874519" y="3401568"/>
            <a:ext cx="9601200" cy="36576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AI 駆使で1人月10-20案件並行</a:t>
            </a:r>
          </a:p>
        </p:txBody>
      </p:sp>
      <p:sp>
        <p:nvSpPr>
          <p:cNvPr id="22" name="TextBox 21"/>
          <p:cNvSpPr txBox="1"/>
          <p:nvPr/>
        </p:nvSpPr>
        <p:spPr>
          <a:xfrm>
            <a:off x="1874519" y="3749040"/>
            <a:ext cx="9601200" cy="457200"/>
          </a:xfrm>
          <a:prstGeom prst="rect">
            <a:avLst/>
          </a:prstGeom>
          <a:noFill/>
        </p:spPr>
        <p:txBody>
          <a:bodyPr wrap="square" anchor="t" lIns="0" rIns="0" tIns="0" bIns="0">
            <a:spAutoFit/>
          </a:bodyPr>
          <a:lstStyle/>
          <a:p>
            <a:pPr algn="l">
              <a:lnSpc>
                <a:spcPct val="155000"/>
              </a:lnSpc>
            </a:pPr>
            <a:r>
              <a:rPr sz="1000" b="0">
                <a:solidFill>
                  <a:srgbClr val="1A1A1A"/>
                </a:solidFill>
                <a:latin typeface="Hiragino Sans"/>
                <a:ea typeface="Hiragino Sans"/>
                <a:cs typeface="Hiragino Sans"/>
              </a:rPr>
              <a:t>クリエイティブ生成・レポート・Negative KW を AI 自動化</a:t>
            </a:r>
          </a:p>
          <a:p>
            <a:pPr algn="l">
              <a:lnSpc>
                <a:spcPct val="155000"/>
              </a:lnSpc>
            </a:pPr>
            <a:r>
              <a:rPr sz="1000" b="0">
                <a:solidFill>
                  <a:srgbClr val="1A1A1A"/>
                </a:solidFill>
                <a:latin typeface="Hiragino Sans"/>
                <a:ea typeface="Hiragino Sans"/>
                <a:cs typeface="Hiragino Sans"/>
              </a:rPr>
              <a:t>戦略・判断・クライアント窓口 が人間の主戦場</a:t>
            </a:r>
          </a:p>
        </p:txBody>
      </p:sp>
      <p:sp>
        <p:nvSpPr>
          <p:cNvPr id="23" name="Rounded Rectangle 22"/>
          <p:cNvSpPr/>
          <p:nvPr/>
        </p:nvSpPr>
        <p:spPr>
          <a:xfrm>
            <a:off x="548640" y="4434840"/>
            <a:ext cx="11109960" cy="192024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4572000"/>
            <a:ext cx="10972800" cy="411480"/>
          </a:xfrm>
          <a:prstGeom prst="rect">
            <a:avLst/>
          </a:prstGeom>
          <a:noFill/>
        </p:spPr>
        <p:txBody>
          <a:bodyPr wrap="square" anchor="t" lIns="0" rIns="0" tIns="0" bIns="0">
            <a:spAutoFit/>
          </a:bodyPr>
          <a:lstStyle/>
          <a:p>
            <a:pPr algn="l">
              <a:lnSpc>
                <a:spcPct val="115000"/>
              </a:lnSpc>
            </a:pPr>
            <a:r>
              <a:rPr sz="1800" b="1">
                <a:solidFill>
                  <a:srgbClr val="E87722"/>
                </a:solidFill>
                <a:latin typeface="Helvetica Neue"/>
                <a:ea typeface="Helvetica Neue"/>
                <a:cs typeface="Helvetica Neue"/>
              </a:rPr>
              <a:t>NEXT →  Part 7  BSA L3 実装ガイド (10p, P221-P230)</a:t>
            </a:r>
          </a:p>
        </p:txBody>
      </p:sp>
      <p:sp>
        <p:nvSpPr>
          <p:cNvPr id="25" name="TextBox 24"/>
          <p:cNvSpPr txBox="1"/>
          <p:nvPr/>
        </p:nvSpPr>
        <p:spPr>
          <a:xfrm>
            <a:off x="777240" y="5029200"/>
            <a:ext cx="10972800" cy="1280160"/>
          </a:xfrm>
          <a:prstGeom prst="rect">
            <a:avLst/>
          </a:prstGeom>
          <a:noFill/>
        </p:spPr>
        <p:txBody>
          <a:bodyPr wrap="square" anchor="t" lIns="0" rIns="0" tIns="0" bIns="0">
            <a:spAutoFit/>
          </a:bodyPr>
          <a:lstStyle/>
          <a:p>
            <a:pPr algn="l">
              <a:lnSpc>
                <a:spcPct val="155000"/>
              </a:lnSpc>
            </a:pPr>
            <a:r>
              <a:rPr sz="1100" b="0">
                <a:solidFill>
                  <a:srgbClr val="FFFFFF"/>
                </a:solidFill>
                <a:latin typeface="Hiragino Sans"/>
                <a:ea typeface="Hiragino Sans"/>
                <a:cs typeface="Hiragino Sans"/>
              </a:rPr>
              <a:t>Part 7 で扱うトピック (10p) :</a:t>
            </a:r>
          </a:p>
          <a:p>
            <a:pPr algn="l">
              <a:lnSpc>
                <a:spcPct val="155000"/>
              </a:lnSpc>
            </a:pPr>
            <a:r>
              <a:rPr sz="1100" b="0">
                <a:solidFill>
                  <a:srgbClr val="FFFFFF"/>
                </a:solidFill>
                <a:latin typeface="Hiragino Sans"/>
                <a:ea typeface="Hiragino Sans"/>
                <a:cs typeface="Hiragino Sans"/>
              </a:rPr>
              <a:t>• L3商品定義 (HP制作 + 広告運用初月セット 10万円 / 96時間)</a:t>
            </a:r>
          </a:p>
          <a:p>
            <a:pPr algn="l">
              <a:lnSpc>
                <a:spcPct val="155000"/>
              </a:lnSpc>
            </a:pPr>
            <a:r>
              <a:rPr sz="1100" b="0">
                <a:solidFill>
                  <a:srgbClr val="FFFFFF"/>
                </a:solidFill>
                <a:latin typeface="Hiragino Sans"/>
                <a:ea typeface="Hiragino Sans"/>
                <a:cs typeface="Hiragino Sans"/>
              </a:rPr>
              <a:t>• 30日プラン (Day 0-3 / 3-5 / 5-7 / Wk2-4)</a:t>
            </a:r>
          </a:p>
          <a:p>
            <a:pPr algn="l">
              <a:lnSpc>
                <a:spcPct val="155000"/>
              </a:lnSpc>
            </a:pPr>
            <a:r>
              <a:rPr sz="1100" b="0">
                <a:solidFill>
                  <a:srgbClr val="FFFFFF"/>
                </a:solidFill>
                <a:latin typeface="Hiragino Sans"/>
                <a:ea typeface="Hiragino Sans"/>
                <a:cs typeface="Hiragino Sans"/>
              </a:rPr>
              <a:t>• クリエイティブAI活用手順</a:t>
            </a:r>
          </a:p>
          <a:p>
            <a:pPr algn="l">
              <a:lnSpc>
                <a:spcPct val="155000"/>
              </a:lnSpc>
            </a:pPr>
            <a:r>
              <a:rPr sz="1100" b="0">
                <a:solidFill>
                  <a:srgbClr val="FFFFFF"/>
                </a:solidFill>
                <a:latin typeface="Hiragino Sans"/>
                <a:ea typeface="Hiragino Sans"/>
                <a:cs typeface="Hiragino Sans"/>
              </a:rPr>
              <a:t>• 価格・工数のリアル / 詰まりポイント集</a:t>
            </a:r>
          </a:p>
          <a:p>
            <a:pPr algn="l">
              <a:lnSpc>
                <a:spcPct val="155000"/>
              </a:lnSpc>
            </a:pPr>
            <a:r>
              <a:rPr sz="1100" b="0">
                <a:solidFill>
                  <a:srgbClr val="FFFFFF"/>
                </a:solidFill>
                <a:latin typeface="Hiragino Sans"/>
                <a:ea typeface="Hiragino Sans"/>
                <a:cs typeface="Hiragino Sans"/>
              </a:rPr>
              <a:t/>
            </a:r>
          </a:p>
          <a:p>
            <a:pPr algn="l">
              <a:lnSpc>
                <a:spcPct val="155000"/>
              </a:lnSpc>
            </a:pPr>
            <a:r>
              <a:rPr sz="1100" b="0">
                <a:solidFill>
                  <a:srgbClr val="FFFFFF"/>
                </a:solidFill>
                <a:latin typeface="Hiragino Sans"/>
                <a:ea typeface="Hiragino Sans"/>
                <a:cs typeface="Hiragino Sans"/>
              </a:rPr>
              <a:t>Part 1-6 を BSA L3 案件で即活用するための実装ガイド</a:t>
            </a:r>
          </a:p>
        </p:txBody>
      </p:sp>
      <p:sp>
        <p:nvSpPr>
          <p:cNvPr id="26" name="TextBox 25"/>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37160" cy="46634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097280"/>
            <a:ext cx="3657600" cy="457200"/>
          </a:xfrm>
          <a:prstGeom prst="rect">
            <a:avLst/>
          </a:prstGeom>
          <a:noFill/>
        </p:spPr>
        <p:txBody>
          <a:bodyPr wrap="square" anchor="t" lIns="0" rIns="0" tIns="0" bIns="0">
            <a:spAutoFit/>
          </a:bodyPr>
          <a:lstStyle/>
          <a:p>
            <a:pPr algn="l">
              <a:lnSpc>
                <a:spcPct val="115000"/>
              </a:lnSpc>
            </a:pPr>
            <a:r>
              <a:rPr sz="1800" b="1">
                <a:solidFill>
                  <a:srgbClr val="E87722"/>
                </a:solidFill>
                <a:latin typeface="Helvetica Neue"/>
                <a:ea typeface="Helvetica Neue"/>
                <a:cs typeface="Helvetica Neue"/>
              </a:rPr>
              <a:t>PART 7</a:t>
            </a:r>
          </a:p>
        </p:txBody>
      </p:sp>
      <p:sp>
        <p:nvSpPr>
          <p:cNvPr id="5" name="TextBox 4"/>
          <p:cNvSpPr txBox="1"/>
          <p:nvPr/>
        </p:nvSpPr>
        <p:spPr>
          <a:xfrm>
            <a:off x="1097280" y="1737360"/>
            <a:ext cx="10058400" cy="1371600"/>
          </a:xfrm>
          <a:prstGeom prst="rect">
            <a:avLst/>
          </a:prstGeom>
          <a:noFill/>
        </p:spPr>
        <p:txBody>
          <a:bodyPr wrap="square" anchor="t" lIns="0" rIns="0" tIns="0" bIns="0">
            <a:spAutoFit/>
          </a:bodyPr>
          <a:lstStyle/>
          <a:p>
            <a:pPr algn="l">
              <a:lnSpc>
                <a:spcPct val="110000"/>
              </a:lnSpc>
            </a:pPr>
            <a:r>
              <a:rPr sz="5400" b="1">
                <a:solidFill>
                  <a:srgbClr val="FFFFFF"/>
                </a:solidFill>
                <a:latin typeface="Hiragino Sans"/>
                <a:ea typeface="Hiragino Sans"/>
                <a:cs typeface="Hiragino Sans"/>
              </a:rPr>
              <a:t>BSA L3 実装ガイド</a:t>
            </a:r>
          </a:p>
        </p:txBody>
      </p:sp>
      <p:sp>
        <p:nvSpPr>
          <p:cNvPr id="6" name="TextBox 5"/>
          <p:cNvSpPr txBox="1"/>
          <p:nvPr/>
        </p:nvSpPr>
        <p:spPr>
          <a:xfrm>
            <a:off x="1097280" y="3291840"/>
            <a:ext cx="10058400" cy="548640"/>
          </a:xfrm>
          <a:prstGeom prst="rect">
            <a:avLst/>
          </a:prstGeom>
          <a:noFill/>
        </p:spPr>
        <p:txBody>
          <a:bodyPr wrap="square" anchor="t" lIns="0" rIns="0" tIns="0" bIns="0">
            <a:spAutoFit/>
          </a:bodyPr>
          <a:lstStyle/>
          <a:p>
            <a:pPr algn="l">
              <a:lnSpc>
                <a:spcPct val="130000"/>
              </a:lnSpc>
            </a:pPr>
            <a:r>
              <a:rPr sz="1800" b="0">
                <a:solidFill>
                  <a:srgbClr val="D7DDE8"/>
                </a:solidFill>
                <a:latin typeface="Hiragino Sans"/>
                <a:ea typeface="Hiragino Sans"/>
                <a:cs typeface="Hiragino Sans"/>
              </a:rPr>
              <a:t>Rapid LP + 広告運用初月セット / 100,000円 / 96時間</a:t>
            </a:r>
          </a:p>
        </p:txBody>
      </p:sp>
      <p:sp>
        <p:nvSpPr>
          <p:cNvPr id="7" name="Rectangle 6"/>
          <p:cNvSpPr/>
          <p:nvPr/>
        </p:nvSpPr>
        <p:spPr>
          <a:xfrm>
            <a:off x="1097280" y="4114800"/>
            <a:ext cx="914400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97680"/>
            <a:ext cx="10058400" cy="822960"/>
          </a:xfrm>
          <a:prstGeom prst="rect">
            <a:avLst/>
          </a:prstGeom>
          <a:noFill/>
        </p:spPr>
        <p:txBody>
          <a:bodyPr wrap="square" anchor="t" lIns="0" rIns="0" tIns="0" bIns="0">
            <a:spAutoFit/>
          </a:bodyPr>
          <a:lstStyle/>
          <a:p>
            <a:pPr algn="l">
              <a:lnSpc>
                <a:spcPct val="150000"/>
              </a:lnSpc>
            </a:pPr>
            <a:r>
              <a:rPr sz="1300" b="0">
                <a:solidFill>
                  <a:srgbClr val="D7DDE8"/>
                </a:solidFill>
                <a:latin typeface="Hiragino Sans"/>
                <a:ea typeface="Hiragino Sans"/>
                <a:cs typeface="Hiragino Sans"/>
              </a:rPr>
              <a:t>BSA戦略 L3 商品 (HP制作 + 広告運用初月) を最初の30日で完遂するための実装ガイド。</a:t>
            </a:r>
          </a:p>
          <a:p>
            <a:pPr algn="l">
              <a:lnSpc>
                <a:spcPct val="150000"/>
              </a:lnSpc>
            </a:pPr>
            <a:r>
              <a:rPr sz="1300" b="0">
                <a:solidFill>
                  <a:srgbClr val="D7DDE8"/>
                </a:solidFill>
                <a:latin typeface="Hiragino Sans"/>
                <a:ea typeface="Hiragino Sans"/>
                <a:cs typeface="Hiragino Sans"/>
              </a:rPr>
              <a:t>Part 1-6 の知識を BSA案件に直接落とし込んだ手順書。</a:t>
            </a:r>
          </a:p>
          <a:p>
            <a:pPr algn="l">
              <a:lnSpc>
                <a:spcPct val="150000"/>
              </a:lnSpc>
            </a:pPr>
            <a:r>
              <a:rPr sz="1300" b="0">
                <a:solidFill>
                  <a:srgbClr val="D7DDE8"/>
                </a:solidFill>
                <a:latin typeface="Hiragino Sans"/>
                <a:ea typeface="Hiragino Sans"/>
                <a:cs typeface="Hiragino Sans"/>
              </a:rPr>
              <a:t>受注 → 96時間でLP納品 → 広告運用 30日 → レポート + 継続提案 まで</a:t>
            </a:r>
          </a:p>
        </p:txBody>
      </p:sp>
      <p:sp>
        <p:nvSpPr>
          <p:cNvPr id="9" name="TextBox 8"/>
          <p:cNvSpPr txBox="1"/>
          <p:nvPr/>
        </p:nvSpPr>
        <p:spPr>
          <a:xfrm>
            <a:off x="1097280" y="539496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L3 商品定義 + 価値提案</a:t>
            </a:r>
          </a:p>
        </p:txBody>
      </p:sp>
      <p:sp>
        <p:nvSpPr>
          <p:cNvPr id="10" name="TextBox 9"/>
          <p:cNvSpPr txBox="1"/>
          <p:nvPr/>
        </p:nvSpPr>
        <p:spPr>
          <a:xfrm>
            <a:off x="4297680" y="539496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30日プラン 全体俯瞰</a:t>
            </a:r>
          </a:p>
        </p:txBody>
      </p:sp>
      <p:sp>
        <p:nvSpPr>
          <p:cNvPr id="11" name="TextBox 10"/>
          <p:cNvSpPr txBox="1"/>
          <p:nvPr/>
        </p:nvSpPr>
        <p:spPr>
          <a:xfrm>
            <a:off x="7498080" y="539496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Day 0-3 : ヒアリング+計測</a:t>
            </a:r>
          </a:p>
        </p:txBody>
      </p:sp>
      <p:sp>
        <p:nvSpPr>
          <p:cNvPr id="12" name="TextBox 11"/>
          <p:cNvSpPr txBox="1"/>
          <p:nvPr/>
        </p:nvSpPr>
        <p:spPr>
          <a:xfrm>
            <a:off x="1097280" y="576072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Day 3-5 : アカウント構築</a:t>
            </a:r>
          </a:p>
        </p:txBody>
      </p:sp>
      <p:sp>
        <p:nvSpPr>
          <p:cNvPr id="13" name="TextBox 12"/>
          <p:cNvSpPr txBox="1"/>
          <p:nvPr/>
        </p:nvSpPr>
        <p:spPr>
          <a:xfrm>
            <a:off x="4297680" y="576072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Day 5-7 : クリエイティブ制作</a:t>
            </a:r>
          </a:p>
        </p:txBody>
      </p:sp>
      <p:sp>
        <p:nvSpPr>
          <p:cNvPr id="14" name="TextBox 13"/>
          <p:cNvSpPr txBox="1"/>
          <p:nvPr/>
        </p:nvSpPr>
        <p:spPr>
          <a:xfrm>
            <a:off x="7498080" y="576072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Week 2 : Learning Phase</a:t>
            </a:r>
          </a:p>
        </p:txBody>
      </p:sp>
      <p:sp>
        <p:nvSpPr>
          <p:cNvPr id="15" name="TextBox 14"/>
          <p:cNvSpPr txBox="1"/>
          <p:nvPr/>
        </p:nvSpPr>
        <p:spPr>
          <a:xfrm>
            <a:off x="1097280" y="612648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Week 3 : 検証 + 最適化</a:t>
            </a:r>
          </a:p>
        </p:txBody>
      </p:sp>
      <p:sp>
        <p:nvSpPr>
          <p:cNvPr id="16" name="TextBox 15"/>
          <p:cNvSpPr txBox="1"/>
          <p:nvPr/>
        </p:nvSpPr>
        <p:spPr>
          <a:xfrm>
            <a:off x="4297680" y="612648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Week 4 : レポート + 継続提案</a:t>
            </a:r>
          </a:p>
        </p:txBody>
      </p:sp>
      <p:sp>
        <p:nvSpPr>
          <p:cNvPr id="17" name="TextBox 16"/>
          <p:cNvSpPr txBox="1"/>
          <p:nvPr/>
        </p:nvSpPr>
        <p:spPr>
          <a:xfrm>
            <a:off x="7498080" y="612648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価格・工数 + 詰まりポイント</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L3 商品定義 + 価値提案</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Rapid LP + 広告運用初月 = 10万円 / 96時間</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P222 / 250</a:t>
            </a:r>
          </a:p>
        </p:txBody>
      </p:sp>
      <p:sp>
        <p:nvSpPr>
          <p:cNvPr id="8" name="Rounded Rectangle 7"/>
          <p:cNvSpPr/>
          <p:nvPr/>
        </p:nvSpPr>
        <p:spPr>
          <a:xfrm>
            <a:off x="548640" y="1371600"/>
            <a:ext cx="11109960" cy="118872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08760"/>
            <a:ext cx="10058400" cy="365760"/>
          </a:xfrm>
          <a:prstGeom prst="rect">
            <a:avLst/>
          </a:prstGeom>
          <a:noFill/>
        </p:spPr>
        <p:txBody>
          <a:bodyPr wrap="square" anchor="t" lIns="0" rIns="0" tIns="0" bIns="0">
            <a:spAutoFit/>
          </a:bodyPr>
          <a:lstStyle/>
          <a:p>
            <a:pPr algn="l">
              <a:lnSpc>
                <a:spcPct val="115000"/>
              </a:lnSpc>
            </a:pPr>
            <a:r>
              <a:rPr sz="1400" b="1">
                <a:solidFill>
                  <a:srgbClr val="E87722"/>
                </a:solidFill>
                <a:latin typeface="Hiragino Sans"/>
                <a:ea typeface="Hiragino Sans"/>
                <a:cs typeface="Hiragino Sans"/>
              </a:rPr>
              <a:t>L3 商品概要 (BSA戦略)</a:t>
            </a:r>
          </a:p>
        </p:txBody>
      </p:sp>
      <p:sp>
        <p:nvSpPr>
          <p:cNvPr id="10" name="TextBox 9"/>
          <p:cNvSpPr txBox="1"/>
          <p:nvPr/>
        </p:nvSpPr>
        <p:spPr>
          <a:xfrm>
            <a:off x="777240" y="1828800"/>
            <a:ext cx="10972800" cy="685800"/>
          </a:xfrm>
          <a:prstGeom prst="rect">
            <a:avLst/>
          </a:prstGeom>
          <a:noFill/>
        </p:spPr>
        <p:txBody>
          <a:bodyPr wrap="square" anchor="t" lIns="0" rIns="0" tIns="0" bIns="0">
            <a:spAutoFit/>
          </a:bodyPr>
          <a:lstStyle/>
          <a:p>
            <a:pPr algn="l">
              <a:lnSpc>
                <a:spcPct val="150000"/>
              </a:lnSpc>
            </a:pPr>
            <a:r>
              <a:rPr sz="1200" b="0">
                <a:solidFill>
                  <a:srgbClr val="FFFFFF"/>
                </a:solidFill>
                <a:latin typeface="Hiragino Sans"/>
                <a:ea typeface="Hiragino Sans"/>
                <a:cs typeface="Hiragino Sans"/>
              </a:rPr>
              <a:t>Rapid Single LP 制作 + Google広告運用初月セット</a:t>
            </a:r>
          </a:p>
          <a:p>
            <a:pPr algn="l">
              <a:lnSpc>
                <a:spcPct val="150000"/>
              </a:lnSpc>
            </a:pPr>
            <a:r>
              <a:rPr sz="1200" b="0">
                <a:solidFill>
                  <a:srgbClr val="FFFFFF"/>
                </a:solidFill>
                <a:latin typeface="Hiragino Sans"/>
                <a:ea typeface="Hiragino Sans"/>
                <a:cs typeface="Hiragino Sans"/>
              </a:rPr>
              <a:t>100,000円 / 96時間納品 (LP) + 30日運用 / SLA : 納期超過時 20%返金 or 翌日無料修正</a:t>
            </a:r>
          </a:p>
        </p:txBody>
      </p:sp>
      <p:sp>
        <p:nvSpPr>
          <p:cNvPr id="11" name="Rounded Rectangle 10"/>
          <p:cNvSpPr/>
          <p:nvPr/>
        </p:nvSpPr>
        <p:spPr>
          <a:xfrm>
            <a:off x="548640" y="2697480"/>
            <a:ext cx="3611880" cy="2286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697480"/>
            <a:ext cx="361188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862072"/>
            <a:ext cx="3246120" cy="411480"/>
          </a:xfrm>
          <a:prstGeom prst="rect">
            <a:avLst/>
          </a:prstGeom>
          <a:noFill/>
        </p:spPr>
        <p:txBody>
          <a:bodyPr wrap="square" anchor="t" lIns="0" rIns="0" tIns="0" bIns="0">
            <a:spAutoFit/>
          </a:bodyPr>
          <a:lstStyle/>
          <a:p>
            <a:pPr algn="l">
              <a:lnSpc>
                <a:spcPct val="115000"/>
              </a:lnSpc>
            </a:pPr>
            <a:r>
              <a:rPr sz="1500" b="1">
                <a:solidFill>
                  <a:srgbClr val="FFFFFF"/>
                </a:solidFill>
                <a:latin typeface="Hiragino Sans"/>
                <a:ea typeface="Hiragino Sans"/>
                <a:cs typeface="Hiragino Sans"/>
              </a:rPr>
              <a:t>LP 制作</a:t>
            </a:r>
          </a:p>
        </p:txBody>
      </p:sp>
      <p:sp>
        <p:nvSpPr>
          <p:cNvPr id="14" name="TextBox 13"/>
          <p:cNvSpPr txBox="1"/>
          <p:nvPr/>
        </p:nvSpPr>
        <p:spPr>
          <a:xfrm>
            <a:off x="777240" y="3246120"/>
            <a:ext cx="3246120" cy="274320"/>
          </a:xfrm>
          <a:prstGeom prst="rect">
            <a:avLst/>
          </a:prstGeom>
          <a:noFill/>
        </p:spPr>
        <p:txBody>
          <a:bodyPr wrap="square" anchor="t" lIns="0" rIns="0" tIns="0" bIns="0">
            <a:spAutoFit/>
          </a:bodyPr>
          <a:lstStyle/>
          <a:p>
            <a:pPr algn="l">
              <a:lnSpc>
                <a:spcPct val="115000"/>
              </a:lnSpc>
            </a:pPr>
            <a:r>
              <a:rPr sz="1000" b="0">
                <a:solidFill>
                  <a:srgbClr val="FFFFFF"/>
                </a:solidFill>
                <a:latin typeface="Hiragino Sans"/>
                <a:ea typeface="Hiragino Sans"/>
                <a:cs typeface="Hiragino Sans"/>
              </a:rPr>
              <a:t>96時間納品</a:t>
            </a:r>
          </a:p>
        </p:txBody>
      </p:sp>
      <p:sp>
        <p:nvSpPr>
          <p:cNvPr id="15" name="TextBox 14"/>
          <p:cNvSpPr txBox="1"/>
          <p:nvPr/>
        </p:nvSpPr>
        <p:spPr>
          <a:xfrm>
            <a:off x="777240" y="3703320"/>
            <a:ext cx="3246120" cy="123444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ヒアリング → デザイン →</a:t>
            </a:r>
          </a:p>
          <a:p>
            <a:pPr algn="l">
              <a:lnSpc>
                <a:spcPct val="160000"/>
              </a:lnSpc>
            </a:pPr>
            <a:r>
              <a:rPr sz="1100" b="0">
                <a:solidFill>
                  <a:srgbClr val="1A1A1A"/>
                </a:solidFill>
                <a:latin typeface="Hiragino Sans"/>
                <a:ea typeface="Hiragino Sans"/>
                <a:cs typeface="Hiragino Sans"/>
              </a:rPr>
              <a:t>実装 → 公開まで</a:t>
            </a:r>
          </a:p>
          <a:p>
            <a:pPr algn="l">
              <a:lnSpc>
                <a:spcPct val="160000"/>
              </a:lnSpc>
            </a:pPr>
            <a:r>
              <a:rPr sz="1100" b="0">
                <a:solidFill>
                  <a:srgbClr val="1A1A1A"/>
                </a:solidFill>
                <a:latin typeface="Hiragino Sans"/>
                <a:ea typeface="Hiragino Sans"/>
                <a:cs typeface="Hiragino Sans"/>
              </a:rPr>
              <a:t>96時間以内</a:t>
            </a:r>
          </a:p>
        </p:txBody>
      </p:sp>
      <p:sp>
        <p:nvSpPr>
          <p:cNvPr id="16" name="Rounded Rectangle 15"/>
          <p:cNvSpPr/>
          <p:nvPr/>
        </p:nvSpPr>
        <p:spPr>
          <a:xfrm>
            <a:off x="4297680" y="2697480"/>
            <a:ext cx="3611880" cy="2286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297680" y="2697480"/>
            <a:ext cx="361188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26280" y="2862072"/>
            <a:ext cx="3246120" cy="411480"/>
          </a:xfrm>
          <a:prstGeom prst="rect">
            <a:avLst/>
          </a:prstGeom>
          <a:noFill/>
        </p:spPr>
        <p:txBody>
          <a:bodyPr wrap="square" anchor="t" lIns="0" rIns="0" tIns="0" bIns="0">
            <a:spAutoFit/>
          </a:bodyPr>
          <a:lstStyle/>
          <a:p>
            <a:pPr algn="l">
              <a:lnSpc>
                <a:spcPct val="115000"/>
              </a:lnSpc>
            </a:pPr>
            <a:r>
              <a:rPr sz="1500" b="1">
                <a:solidFill>
                  <a:srgbClr val="FFFFFF"/>
                </a:solidFill>
                <a:latin typeface="Hiragino Sans"/>
                <a:ea typeface="Hiragino Sans"/>
                <a:cs typeface="Hiragino Sans"/>
              </a:rPr>
              <a:t>広告アカウント構築</a:t>
            </a:r>
          </a:p>
        </p:txBody>
      </p:sp>
      <p:sp>
        <p:nvSpPr>
          <p:cNvPr id="19" name="TextBox 18"/>
          <p:cNvSpPr txBox="1"/>
          <p:nvPr/>
        </p:nvSpPr>
        <p:spPr>
          <a:xfrm>
            <a:off x="4526280" y="3246120"/>
            <a:ext cx="3246120" cy="274320"/>
          </a:xfrm>
          <a:prstGeom prst="rect">
            <a:avLst/>
          </a:prstGeom>
          <a:noFill/>
        </p:spPr>
        <p:txBody>
          <a:bodyPr wrap="square" anchor="t" lIns="0" rIns="0" tIns="0" bIns="0">
            <a:spAutoFit/>
          </a:bodyPr>
          <a:lstStyle/>
          <a:p>
            <a:pPr algn="l">
              <a:lnSpc>
                <a:spcPct val="115000"/>
              </a:lnSpc>
            </a:pPr>
            <a:r>
              <a:rPr sz="1000" b="0">
                <a:solidFill>
                  <a:srgbClr val="FFFFFF"/>
                </a:solidFill>
                <a:latin typeface="Hiragino Sans"/>
                <a:ea typeface="Hiragino Sans"/>
                <a:cs typeface="Hiragino Sans"/>
              </a:rPr>
              <a:t>Google中心 + 必要時Meta</a:t>
            </a:r>
          </a:p>
        </p:txBody>
      </p:sp>
      <p:sp>
        <p:nvSpPr>
          <p:cNvPr id="20" name="TextBox 19"/>
          <p:cNvSpPr txBox="1"/>
          <p:nvPr/>
        </p:nvSpPr>
        <p:spPr>
          <a:xfrm>
            <a:off x="4526280" y="3703320"/>
            <a:ext cx="3246120" cy="123444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計測タグ実装 +</a:t>
            </a:r>
          </a:p>
          <a:p>
            <a:pPr algn="l">
              <a:lnSpc>
                <a:spcPct val="160000"/>
              </a:lnSpc>
            </a:pPr>
            <a:r>
              <a:rPr sz="1100" b="0">
                <a:solidFill>
                  <a:srgbClr val="1A1A1A"/>
                </a:solidFill>
                <a:latin typeface="Hiragino Sans"/>
                <a:ea typeface="Hiragino Sans"/>
                <a:cs typeface="Hiragino Sans"/>
              </a:rPr>
              <a:t>キャンペーン構造設計 +</a:t>
            </a:r>
          </a:p>
          <a:p>
            <a:pPr algn="l">
              <a:lnSpc>
                <a:spcPct val="160000"/>
              </a:lnSpc>
            </a:pPr>
            <a:r>
              <a:rPr sz="1100" b="0">
                <a:solidFill>
                  <a:srgbClr val="1A1A1A"/>
                </a:solidFill>
                <a:latin typeface="Hiragino Sans"/>
                <a:ea typeface="Hiragino Sans"/>
                <a:cs typeface="Hiragino Sans"/>
              </a:rPr>
              <a:t>クリエイティブ初期投入</a:t>
            </a:r>
          </a:p>
        </p:txBody>
      </p:sp>
      <p:sp>
        <p:nvSpPr>
          <p:cNvPr id="21" name="Rounded Rectangle 20"/>
          <p:cNvSpPr/>
          <p:nvPr/>
        </p:nvSpPr>
        <p:spPr>
          <a:xfrm>
            <a:off x="8046720" y="2697480"/>
            <a:ext cx="3611880" cy="2286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46720" y="2697480"/>
            <a:ext cx="361188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320" y="2862072"/>
            <a:ext cx="3246120" cy="411480"/>
          </a:xfrm>
          <a:prstGeom prst="rect">
            <a:avLst/>
          </a:prstGeom>
          <a:noFill/>
        </p:spPr>
        <p:txBody>
          <a:bodyPr wrap="square" anchor="t" lIns="0" rIns="0" tIns="0" bIns="0">
            <a:spAutoFit/>
          </a:bodyPr>
          <a:lstStyle/>
          <a:p>
            <a:pPr algn="l">
              <a:lnSpc>
                <a:spcPct val="115000"/>
              </a:lnSpc>
            </a:pPr>
            <a:r>
              <a:rPr sz="1500" b="1">
                <a:solidFill>
                  <a:srgbClr val="FFFFFF"/>
                </a:solidFill>
                <a:latin typeface="Hiragino Sans"/>
                <a:ea typeface="Hiragino Sans"/>
                <a:cs typeface="Hiragino Sans"/>
              </a:rPr>
              <a:t>運用30日</a:t>
            </a:r>
          </a:p>
        </p:txBody>
      </p:sp>
      <p:sp>
        <p:nvSpPr>
          <p:cNvPr id="24" name="TextBox 23"/>
          <p:cNvSpPr txBox="1"/>
          <p:nvPr/>
        </p:nvSpPr>
        <p:spPr>
          <a:xfrm>
            <a:off x="8275320" y="3246120"/>
            <a:ext cx="3246120" cy="274320"/>
          </a:xfrm>
          <a:prstGeom prst="rect">
            <a:avLst/>
          </a:prstGeom>
          <a:noFill/>
        </p:spPr>
        <p:txBody>
          <a:bodyPr wrap="square" anchor="t" lIns="0" rIns="0" tIns="0" bIns="0">
            <a:spAutoFit/>
          </a:bodyPr>
          <a:lstStyle/>
          <a:p>
            <a:pPr algn="l">
              <a:lnSpc>
                <a:spcPct val="115000"/>
              </a:lnSpc>
            </a:pPr>
            <a:r>
              <a:rPr sz="1000" b="0">
                <a:solidFill>
                  <a:srgbClr val="FFFFFF"/>
                </a:solidFill>
                <a:latin typeface="Hiragino Sans"/>
                <a:ea typeface="Hiragino Sans"/>
                <a:cs typeface="Hiragino Sans"/>
              </a:rPr>
              <a:t>Day 1-30</a:t>
            </a:r>
          </a:p>
        </p:txBody>
      </p:sp>
      <p:sp>
        <p:nvSpPr>
          <p:cNvPr id="25" name="TextBox 24"/>
          <p:cNvSpPr txBox="1"/>
          <p:nvPr/>
        </p:nvSpPr>
        <p:spPr>
          <a:xfrm>
            <a:off x="8275320" y="3703320"/>
            <a:ext cx="3246120" cy="123444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Learning Phase + 最適化</a:t>
            </a:r>
          </a:p>
          <a:p>
            <a:pPr algn="l">
              <a:lnSpc>
                <a:spcPct val="160000"/>
              </a:lnSpc>
            </a:pPr>
            <a:r>
              <a:rPr sz="1100" b="0">
                <a:solidFill>
                  <a:srgbClr val="1A1A1A"/>
                </a:solidFill>
                <a:latin typeface="Hiragino Sans"/>
                <a:ea typeface="Hiragino Sans"/>
                <a:cs typeface="Hiragino Sans"/>
              </a:rPr>
              <a:t>月次レポート +</a:t>
            </a:r>
          </a:p>
          <a:p>
            <a:pPr algn="l">
              <a:lnSpc>
                <a:spcPct val="160000"/>
              </a:lnSpc>
            </a:pPr>
            <a:r>
              <a:rPr sz="1100" b="0">
                <a:solidFill>
                  <a:srgbClr val="1A1A1A"/>
                </a:solidFill>
                <a:latin typeface="Hiragino Sans"/>
                <a:ea typeface="Hiragino Sans"/>
                <a:cs typeface="Hiragino Sans"/>
              </a:rPr>
              <a:t>継続提案 (L3 → L1/L2へ)</a:t>
            </a:r>
          </a:p>
        </p:txBody>
      </p:sp>
      <p:sp>
        <p:nvSpPr>
          <p:cNvPr id="26" name="Rounded Rectangle 25"/>
          <p:cNvSpPr/>
          <p:nvPr/>
        </p:nvSpPr>
        <p:spPr>
          <a:xfrm>
            <a:off x="548640" y="5212080"/>
            <a:ext cx="11109960" cy="114300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5349240"/>
            <a:ext cx="100584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 L3 の差別化価値</a:t>
            </a:r>
          </a:p>
        </p:txBody>
      </p:sp>
      <p:sp>
        <p:nvSpPr>
          <p:cNvPr id="28" name="TextBox 27"/>
          <p:cNvSpPr txBox="1"/>
          <p:nvPr/>
        </p:nvSpPr>
        <p:spPr>
          <a:xfrm>
            <a:off x="777240" y="5669280"/>
            <a:ext cx="10972800" cy="640080"/>
          </a:xfrm>
          <a:prstGeom prst="rect">
            <a:avLst/>
          </a:prstGeom>
          <a:noFill/>
        </p:spPr>
        <p:txBody>
          <a:bodyPr wrap="square" anchor="t" lIns="0" rIns="0" tIns="0" bIns="0">
            <a:spAutoFit/>
          </a:bodyPr>
          <a:lstStyle/>
          <a:p>
            <a:pPr algn="l">
              <a:lnSpc>
                <a:spcPct val="155000"/>
              </a:lnSpc>
            </a:pPr>
            <a:r>
              <a:rPr sz="1100" b="0">
                <a:solidFill>
                  <a:srgbClr val="1A1A1A"/>
                </a:solidFill>
                <a:latin typeface="Hiragino Sans"/>
                <a:ea typeface="Hiragino Sans"/>
                <a:cs typeface="Hiragino Sans"/>
              </a:rPr>
              <a:t>• LP制作だけ ≠ 売上に直結しない / 広告だけ ≠ LP不適合で効率悪い</a:t>
            </a:r>
          </a:p>
          <a:p>
            <a:pPr algn="l">
              <a:lnSpc>
                <a:spcPct val="155000"/>
              </a:lnSpc>
            </a:pPr>
            <a:r>
              <a:rPr sz="1100" b="0">
                <a:solidFill>
                  <a:srgbClr val="1A1A1A"/>
                </a:solidFill>
                <a:latin typeface="Hiragino Sans"/>
                <a:ea typeface="Hiragino Sans"/>
                <a:cs typeface="Hiragino Sans"/>
              </a:rPr>
              <a:t>• 『LP + 広告 + 運用』をワンストップで提供 → クライアントの実質ROI最大化</a:t>
            </a:r>
          </a:p>
          <a:p>
            <a:pPr algn="l">
              <a:lnSpc>
                <a:spcPct val="155000"/>
              </a:lnSpc>
            </a:pPr>
            <a:r>
              <a:rPr sz="1100" b="0">
                <a:solidFill>
                  <a:srgbClr val="1A1A1A"/>
                </a:solidFill>
                <a:latin typeface="Hiragino Sans"/>
                <a:ea typeface="Hiragino Sans"/>
                <a:cs typeface="Hiragino Sans"/>
              </a:rPr>
              <a:t>• 96時間納品 + 30日運用 = 工務店等の中小企業オーナーには『驚きの早さ』</a:t>
            </a:r>
          </a:p>
        </p:txBody>
      </p:sp>
      <p:sp>
        <p:nvSpPr>
          <p:cNvPr id="29" name="TextBox 28"/>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L3 30日プラン全体俯瞰</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受注 → 96h LP → 30日運用 → 継続提案</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P223 / 250</a:t>
            </a:r>
          </a:p>
        </p:txBody>
      </p:sp>
      <p:sp>
        <p:nvSpPr>
          <p:cNvPr id="8" name="Rounded Rectangle 7"/>
          <p:cNvSpPr/>
          <p:nvPr/>
        </p:nvSpPr>
        <p:spPr>
          <a:xfrm>
            <a:off x="548640" y="1417320"/>
            <a:ext cx="1828800" cy="23317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1828800" cy="5029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536192"/>
            <a:ext cx="1645920" cy="274320"/>
          </a:xfrm>
          <a:prstGeom prst="rect">
            <a:avLst/>
          </a:prstGeom>
          <a:noFill/>
        </p:spPr>
        <p:txBody>
          <a:bodyPr wrap="square" anchor="t" lIns="0" rIns="0" tIns="0" bIns="0">
            <a:spAutoFit/>
          </a:bodyPr>
          <a:lstStyle/>
          <a:p>
            <a:pPr algn="ctr">
              <a:lnSpc>
                <a:spcPct val="115000"/>
              </a:lnSpc>
            </a:pPr>
            <a:r>
              <a:rPr sz="1100" b="1">
                <a:solidFill>
                  <a:srgbClr val="FFFFFF"/>
                </a:solidFill>
                <a:latin typeface="Helvetica Neue"/>
                <a:ea typeface="Helvetica Neue"/>
                <a:cs typeface="Helvetica Neue"/>
              </a:rPr>
              <a:t>Day 0-3</a:t>
            </a:r>
          </a:p>
        </p:txBody>
      </p:sp>
      <p:sp>
        <p:nvSpPr>
          <p:cNvPr id="11" name="TextBox 10"/>
          <p:cNvSpPr txBox="1"/>
          <p:nvPr/>
        </p:nvSpPr>
        <p:spPr>
          <a:xfrm>
            <a:off x="640080" y="2057400"/>
            <a:ext cx="1645920" cy="457200"/>
          </a:xfrm>
          <a:prstGeom prst="rect">
            <a:avLst/>
          </a:prstGeom>
          <a:noFill/>
        </p:spPr>
        <p:txBody>
          <a:bodyPr wrap="square" anchor="t" lIns="0" rIns="0" tIns="0" bIns="0">
            <a:spAutoFit/>
          </a:bodyPr>
          <a:lstStyle/>
          <a:p>
            <a:pPr algn="ctr">
              <a:lnSpc>
                <a:spcPct val="120000"/>
              </a:lnSpc>
            </a:pPr>
            <a:r>
              <a:rPr sz="1100" b="1">
                <a:solidFill>
                  <a:srgbClr val="0F2A4F"/>
                </a:solidFill>
                <a:latin typeface="Hiragino Sans"/>
                <a:ea typeface="Hiragino Sans"/>
                <a:cs typeface="Hiragino Sans"/>
              </a:rPr>
              <a:t>ヒアリング+計測設計</a:t>
            </a:r>
          </a:p>
        </p:txBody>
      </p:sp>
      <p:sp>
        <p:nvSpPr>
          <p:cNvPr id="12" name="TextBox 11"/>
          <p:cNvSpPr txBox="1"/>
          <p:nvPr/>
        </p:nvSpPr>
        <p:spPr>
          <a:xfrm>
            <a:off x="640080" y="2606040"/>
            <a:ext cx="1645920" cy="1097280"/>
          </a:xfrm>
          <a:prstGeom prst="rect">
            <a:avLst/>
          </a:prstGeom>
          <a:noFill/>
        </p:spPr>
        <p:txBody>
          <a:bodyPr wrap="square" anchor="t" lIns="0" rIns="0" tIns="0" bIns="0">
            <a:spAutoFit/>
          </a:bodyPr>
          <a:lstStyle/>
          <a:p>
            <a:pPr algn="ctr">
              <a:lnSpc>
                <a:spcPct val="150000"/>
              </a:lnSpc>
            </a:pPr>
            <a:r>
              <a:rPr sz="900" b="0">
                <a:solidFill>
                  <a:srgbClr val="1A1A1A"/>
                </a:solidFill>
                <a:latin typeface="Hiragino Sans"/>
                <a:ea typeface="Hiragino Sans"/>
                <a:cs typeface="Hiragino Sans"/>
              </a:rPr>
              <a:t>クライアントMTG</a:t>
            </a:r>
          </a:p>
          <a:p>
            <a:pPr algn="ctr">
              <a:lnSpc>
                <a:spcPct val="150000"/>
              </a:lnSpc>
            </a:pPr>
            <a:r>
              <a:rPr sz="900" b="0">
                <a:solidFill>
                  <a:srgbClr val="1A1A1A"/>
                </a:solidFill>
                <a:latin typeface="Hiragino Sans"/>
                <a:ea typeface="Hiragino Sans"/>
                <a:cs typeface="Hiragino Sans"/>
              </a:rPr>
              <a:t>LPワイヤー作成</a:t>
            </a:r>
          </a:p>
          <a:p>
            <a:pPr algn="ctr">
              <a:lnSpc>
                <a:spcPct val="150000"/>
              </a:lnSpc>
            </a:pPr>
            <a:r>
              <a:rPr sz="900" b="0">
                <a:solidFill>
                  <a:srgbClr val="1A1A1A"/>
                </a:solidFill>
                <a:latin typeface="Hiragino Sans"/>
                <a:ea typeface="Hiragino Sans"/>
                <a:cs typeface="Hiragino Sans"/>
              </a:rPr>
              <a:t>GA4/Tag設置</a:t>
            </a:r>
          </a:p>
        </p:txBody>
      </p:sp>
      <p:sp>
        <p:nvSpPr>
          <p:cNvPr id="13" name="Rounded Rectangle 12"/>
          <p:cNvSpPr/>
          <p:nvPr/>
        </p:nvSpPr>
        <p:spPr>
          <a:xfrm>
            <a:off x="2423160" y="1417320"/>
            <a:ext cx="1828800" cy="23317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423160" y="1417320"/>
            <a:ext cx="1828800" cy="5029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14600" y="1536192"/>
            <a:ext cx="1645920" cy="274320"/>
          </a:xfrm>
          <a:prstGeom prst="rect">
            <a:avLst/>
          </a:prstGeom>
          <a:noFill/>
        </p:spPr>
        <p:txBody>
          <a:bodyPr wrap="square" anchor="t" lIns="0" rIns="0" tIns="0" bIns="0">
            <a:spAutoFit/>
          </a:bodyPr>
          <a:lstStyle/>
          <a:p>
            <a:pPr algn="ctr">
              <a:lnSpc>
                <a:spcPct val="115000"/>
              </a:lnSpc>
            </a:pPr>
            <a:r>
              <a:rPr sz="1100" b="1">
                <a:solidFill>
                  <a:srgbClr val="FFFFFF"/>
                </a:solidFill>
                <a:latin typeface="Helvetica Neue"/>
                <a:ea typeface="Helvetica Neue"/>
                <a:cs typeface="Helvetica Neue"/>
              </a:rPr>
              <a:t>Day 3-5</a:t>
            </a:r>
          </a:p>
        </p:txBody>
      </p:sp>
      <p:sp>
        <p:nvSpPr>
          <p:cNvPr id="16" name="TextBox 15"/>
          <p:cNvSpPr txBox="1"/>
          <p:nvPr/>
        </p:nvSpPr>
        <p:spPr>
          <a:xfrm>
            <a:off x="2514600" y="2057400"/>
            <a:ext cx="1645920" cy="457200"/>
          </a:xfrm>
          <a:prstGeom prst="rect">
            <a:avLst/>
          </a:prstGeom>
          <a:noFill/>
        </p:spPr>
        <p:txBody>
          <a:bodyPr wrap="square" anchor="t" lIns="0" rIns="0" tIns="0" bIns="0">
            <a:spAutoFit/>
          </a:bodyPr>
          <a:lstStyle/>
          <a:p>
            <a:pPr algn="ctr">
              <a:lnSpc>
                <a:spcPct val="120000"/>
              </a:lnSpc>
            </a:pPr>
            <a:r>
              <a:rPr sz="1100" b="1">
                <a:solidFill>
                  <a:srgbClr val="0F2A4F"/>
                </a:solidFill>
                <a:latin typeface="Hiragino Sans"/>
                <a:ea typeface="Hiragino Sans"/>
                <a:cs typeface="Hiragino Sans"/>
              </a:rPr>
              <a:t>LP実装+アカウント構築</a:t>
            </a:r>
          </a:p>
        </p:txBody>
      </p:sp>
      <p:sp>
        <p:nvSpPr>
          <p:cNvPr id="17" name="TextBox 16"/>
          <p:cNvSpPr txBox="1"/>
          <p:nvPr/>
        </p:nvSpPr>
        <p:spPr>
          <a:xfrm>
            <a:off x="2514600" y="2606040"/>
            <a:ext cx="1645920" cy="1097280"/>
          </a:xfrm>
          <a:prstGeom prst="rect">
            <a:avLst/>
          </a:prstGeom>
          <a:noFill/>
        </p:spPr>
        <p:txBody>
          <a:bodyPr wrap="square" anchor="t" lIns="0" rIns="0" tIns="0" bIns="0">
            <a:spAutoFit/>
          </a:bodyPr>
          <a:lstStyle/>
          <a:p>
            <a:pPr algn="ctr">
              <a:lnSpc>
                <a:spcPct val="150000"/>
              </a:lnSpc>
            </a:pPr>
            <a:r>
              <a:rPr sz="900" b="0">
                <a:solidFill>
                  <a:srgbClr val="1A1A1A"/>
                </a:solidFill>
                <a:latin typeface="Hiragino Sans"/>
                <a:ea typeface="Hiragino Sans"/>
                <a:cs typeface="Hiragino Sans"/>
              </a:rPr>
              <a:t>LP公開</a:t>
            </a:r>
          </a:p>
          <a:p>
            <a:pPr algn="ctr">
              <a:lnSpc>
                <a:spcPct val="150000"/>
              </a:lnSpc>
            </a:pPr>
            <a:r>
              <a:rPr sz="900" b="0">
                <a:solidFill>
                  <a:srgbClr val="1A1A1A"/>
                </a:solidFill>
                <a:latin typeface="Hiragino Sans"/>
                <a:ea typeface="Hiragino Sans"/>
                <a:cs typeface="Hiragino Sans"/>
              </a:rPr>
              <a:t>Google Ads構造設計</a:t>
            </a:r>
          </a:p>
          <a:p>
            <a:pPr algn="ctr">
              <a:lnSpc>
                <a:spcPct val="150000"/>
              </a:lnSpc>
            </a:pPr>
            <a:r>
              <a:rPr sz="900" b="0">
                <a:solidFill>
                  <a:srgbClr val="1A1A1A"/>
                </a:solidFill>
                <a:latin typeface="Hiragino Sans"/>
                <a:ea typeface="Hiragino Sans"/>
                <a:cs typeface="Hiragino Sans"/>
              </a:rPr>
              <a:t>CAPI/EC実装</a:t>
            </a:r>
          </a:p>
        </p:txBody>
      </p:sp>
      <p:sp>
        <p:nvSpPr>
          <p:cNvPr id="18" name="Rounded Rectangle 17"/>
          <p:cNvSpPr/>
          <p:nvPr/>
        </p:nvSpPr>
        <p:spPr>
          <a:xfrm>
            <a:off x="4297680" y="1417320"/>
            <a:ext cx="1828800" cy="23317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297680" y="1417320"/>
            <a:ext cx="1828800" cy="5029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89120" y="1536192"/>
            <a:ext cx="1645920" cy="274320"/>
          </a:xfrm>
          <a:prstGeom prst="rect">
            <a:avLst/>
          </a:prstGeom>
          <a:noFill/>
        </p:spPr>
        <p:txBody>
          <a:bodyPr wrap="square" anchor="t" lIns="0" rIns="0" tIns="0" bIns="0">
            <a:spAutoFit/>
          </a:bodyPr>
          <a:lstStyle/>
          <a:p>
            <a:pPr algn="ctr">
              <a:lnSpc>
                <a:spcPct val="115000"/>
              </a:lnSpc>
            </a:pPr>
            <a:r>
              <a:rPr sz="1100" b="1">
                <a:solidFill>
                  <a:srgbClr val="FFFFFF"/>
                </a:solidFill>
                <a:latin typeface="Helvetica Neue"/>
                <a:ea typeface="Helvetica Neue"/>
                <a:cs typeface="Helvetica Neue"/>
              </a:rPr>
              <a:t>Day 5-7</a:t>
            </a:r>
          </a:p>
        </p:txBody>
      </p:sp>
      <p:sp>
        <p:nvSpPr>
          <p:cNvPr id="21" name="TextBox 20"/>
          <p:cNvSpPr txBox="1"/>
          <p:nvPr/>
        </p:nvSpPr>
        <p:spPr>
          <a:xfrm>
            <a:off x="4389120" y="2057400"/>
            <a:ext cx="1645920" cy="457200"/>
          </a:xfrm>
          <a:prstGeom prst="rect">
            <a:avLst/>
          </a:prstGeom>
          <a:noFill/>
        </p:spPr>
        <p:txBody>
          <a:bodyPr wrap="square" anchor="t" lIns="0" rIns="0" tIns="0" bIns="0">
            <a:spAutoFit/>
          </a:bodyPr>
          <a:lstStyle/>
          <a:p>
            <a:pPr algn="ctr">
              <a:lnSpc>
                <a:spcPct val="120000"/>
              </a:lnSpc>
            </a:pPr>
            <a:r>
              <a:rPr sz="1100" b="1">
                <a:solidFill>
                  <a:srgbClr val="0F2A4F"/>
                </a:solidFill>
                <a:latin typeface="Hiragino Sans"/>
                <a:ea typeface="Hiragino Sans"/>
                <a:cs typeface="Hiragino Sans"/>
              </a:rPr>
              <a:t>クリエイティブ制作</a:t>
            </a:r>
          </a:p>
        </p:txBody>
      </p:sp>
      <p:sp>
        <p:nvSpPr>
          <p:cNvPr id="22" name="TextBox 21"/>
          <p:cNvSpPr txBox="1"/>
          <p:nvPr/>
        </p:nvSpPr>
        <p:spPr>
          <a:xfrm>
            <a:off x="4389120" y="2606040"/>
            <a:ext cx="1645920" cy="1097280"/>
          </a:xfrm>
          <a:prstGeom prst="rect">
            <a:avLst/>
          </a:prstGeom>
          <a:noFill/>
        </p:spPr>
        <p:txBody>
          <a:bodyPr wrap="square" anchor="t" lIns="0" rIns="0" tIns="0" bIns="0">
            <a:spAutoFit/>
          </a:bodyPr>
          <a:lstStyle/>
          <a:p>
            <a:pPr algn="ctr">
              <a:lnSpc>
                <a:spcPct val="150000"/>
              </a:lnSpc>
            </a:pPr>
            <a:r>
              <a:rPr sz="900" b="0">
                <a:solidFill>
                  <a:srgbClr val="1A1A1A"/>
                </a:solidFill>
                <a:latin typeface="Hiragino Sans"/>
                <a:ea typeface="Hiragino Sans"/>
                <a:cs typeface="Hiragino Sans"/>
              </a:rPr>
              <a:t>AI生成 (Midjourney等)</a:t>
            </a:r>
          </a:p>
          <a:p>
            <a:pPr algn="ctr">
              <a:lnSpc>
                <a:spcPct val="150000"/>
              </a:lnSpc>
            </a:pPr>
            <a:r>
              <a:rPr sz="900" b="0">
                <a:solidFill>
                  <a:srgbClr val="1A1A1A"/>
                </a:solidFill>
                <a:latin typeface="Hiragino Sans"/>
                <a:ea typeface="Hiragino Sans"/>
                <a:cs typeface="Hiragino Sans"/>
              </a:rPr>
              <a:t>広告コピー生成</a:t>
            </a:r>
          </a:p>
          <a:p>
            <a:pPr algn="ctr">
              <a:lnSpc>
                <a:spcPct val="150000"/>
              </a:lnSpc>
            </a:pPr>
            <a:r>
              <a:rPr sz="900" b="0">
                <a:solidFill>
                  <a:srgbClr val="1A1A1A"/>
                </a:solidFill>
                <a:latin typeface="Hiragino Sans"/>
                <a:ea typeface="Hiragino Sans"/>
                <a:cs typeface="Hiragino Sans"/>
              </a:rPr>
              <a:t>配信開始</a:t>
            </a:r>
          </a:p>
        </p:txBody>
      </p:sp>
      <p:sp>
        <p:nvSpPr>
          <p:cNvPr id="23" name="Rounded Rectangle 22"/>
          <p:cNvSpPr/>
          <p:nvPr/>
        </p:nvSpPr>
        <p:spPr>
          <a:xfrm>
            <a:off x="6172200" y="1417320"/>
            <a:ext cx="1828800" cy="23317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72200" y="1417320"/>
            <a:ext cx="1828800" cy="50292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63640" y="1536192"/>
            <a:ext cx="1645920" cy="274320"/>
          </a:xfrm>
          <a:prstGeom prst="rect">
            <a:avLst/>
          </a:prstGeom>
          <a:noFill/>
        </p:spPr>
        <p:txBody>
          <a:bodyPr wrap="square" anchor="t" lIns="0" rIns="0" tIns="0" bIns="0">
            <a:spAutoFit/>
          </a:bodyPr>
          <a:lstStyle/>
          <a:p>
            <a:pPr algn="ctr">
              <a:lnSpc>
                <a:spcPct val="115000"/>
              </a:lnSpc>
            </a:pPr>
            <a:r>
              <a:rPr sz="1100" b="1">
                <a:solidFill>
                  <a:srgbClr val="FFFFFF"/>
                </a:solidFill>
                <a:latin typeface="Helvetica Neue"/>
                <a:ea typeface="Helvetica Neue"/>
                <a:cs typeface="Helvetica Neue"/>
              </a:rPr>
              <a:t>Week 2</a:t>
            </a:r>
          </a:p>
        </p:txBody>
      </p:sp>
      <p:sp>
        <p:nvSpPr>
          <p:cNvPr id="26" name="TextBox 25"/>
          <p:cNvSpPr txBox="1"/>
          <p:nvPr/>
        </p:nvSpPr>
        <p:spPr>
          <a:xfrm>
            <a:off x="6263640" y="2057400"/>
            <a:ext cx="1645920" cy="457200"/>
          </a:xfrm>
          <a:prstGeom prst="rect">
            <a:avLst/>
          </a:prstGeom>
          <a:noFill/>
        </p:spPr>
        <p:txBody>
          <a:bodyPr wrap="square" anchor="t" lIns="0" rIns="0" tIns="0" bIns="0">
            <a:spAutoFit/>
          </a:bodyPr>
          <a:lstStyle/>
          <a:p>
            <a:pPr algn="ctr">
              <a:lnSpc>
                <a:spcPct val="120000"/>
              </a:lnSpc>
            </a:pPr>
            <a:r>
              <a:rPr sz="1100" b="1">
                <a:solidFill>
                  <a:srgbClr val="0F2A4F"/>
                </a:solidFill>
                <a:latin typeface="Hiragino Sans"/>
                <a:ea typeface="Hiragino Sans"/>
                <a:cs typeface="Hiragino Sans"/>
              </a:rPr>
              <a:t>Learning Phase</a:t>
            </a:r>
          </a:p>
        </p:txBody>
      </p:sp>
      <p:sp>
        <p:nvSpPr>
          <p:cNvPr id="27" name="TextBox 26"/>
          <p:cNvSpPr txBox="1"/>
          <p:nvPr/>
        </p:nvSpPr>
        <p:spPr>
          <a:xfrm>
            <a:off x="6263640" y="2606040"/>
            <a:ext cx="1645920" cy="1097280"/>
          </a:xfrm>
          <a:prstGeom prst="rect">
            <a:avLst/>
          </a:prstGeom>
          <a:noFill/>
        </p:spPr>
        <p:txBody>
          <a:bodyPr wrap="square" anchor="t" lIns="0" rIns="0" tIns="0" bIns="0">
            <a:spAutoFit/>
          </a:bodyPr>
          <a:lstStyle/>
          <a:p>
            <a:pPr algn="ctr">
              <a:lnSpc>
                <a:spcPct val="150000"/>
              </a:lnSpc>
            </a:pPr>
            <a:r>
              <a:rPr sz="900" b="0">
                <a:solidFill>
                  <a:srgbClr val="1A1A1A"/>
                </a:solidFill>
                <a:latin typeface="Hiragino Sans"/>
                <a:ea typeface="Hiragino Sans"/>
                <a:cs typeface="Hiragino Sans"/>
              </a:rPr>
              <a:t>予算 ±20% 安定運用</a:t>
            </a:r>
          </a:p>
          <a:p>
            <a:pPr algn="ctr">
              <a:lnSpc>
                <a:spcPct val="150000"/>
              </a:lnSpc>
            </a:pPr>
            <a:r>
              <a:rPr sz="900" b="0">
                <a:solidFill>
                  <a:srgbClr val="1A1A1A"/>
                </a:solidFill>
                <a:latin typeface="Hiragino Sans"/>
                <a:ea typeface="Hiragino Sans"/>
                <a:cs typeface="Hiragino Sans"/>
              </a:rPr>
              <a:t>素材週1追加</a:t>
            </a:r>
          </a:p>
          <a:p>
            <a:pPr algn="ctr">
              <a:lnSpc>
                <a:spcPct val="150000"/>
              </a:lnSpc>
            </a:pPr>
            <a:r>
              <a:rPr sz="900" b="0">
                <a:solidFill>
                  <a:srgbClr val="1A1A1A"/>
                </a:solidFill>
                <a:latin typeface="Hiragino Sans"/>
                <a:ea typeface="Hiragino Sans"/>
                <a:cs typeface="Hiragino Sans"/>
              </a:rPr>
              <a:t>中間チェック</a:t>
            </a:r>
          </a:p>
        </p:txBody>
      </p:sp>
      <p:sp>
        <p:nvSpPr>
          <p:cNvPr id="28" name="Rounded Rectangle 27"/>
          <p:cNvSpPr/>
          <p:nvPr/>
        </p:nvSpPr>
        <p:spPr>
          <a:xfrm>
            <a:off x="8046720" y="1417320"/>
            <a:ext cx="1828800" cy="23317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46720" y="1417320"/>
            <a:ext cx="1828800" cy="50292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38160" y="1536192"/>
            <a:ext cx="1645920" cy="274320"/>
          </a:xfrm>
          <a:prstGeom prst="rect">
            <a:avLst/>
          </a:prstGeom>
          <a:noFill/>
        </p:spPr>
        <p:txBody>
          <a:bodyPr wrap="square" anchor="t" lIns="0" rIns="0" tIns="0" bIns="0">
            <a:spAutoFit/>
          </a:bodyPr>
          <a:lstStyle/>
          <a:p>
            <a:pPr algn="ctr">
              <a:lnSpc>
                <a:spcPct val="115000"/>
              </a:lnSpc>
            </a:pPr>
            <a:r>
              <a:rPr sz="1100" b="1">
                <a:solidFill>
                  <a:srgbClr val="FFFFFF"/>
                </a:solidFill>
                <a:latin typeface="Helvetica Neue"/>
                <a:ea typeface="Helvetica Neue"/>
                <a:cs typeface="Helvetica Neue"/>
              </a:rPr>
              <a:t>Week 3</a:t>
            </a:r>
          </a:p>
        </p:txBody>
      </p:sp>
      <p:sp>
        <p:nvSpPr>
          <p:cNvPr id="31" name="TextBox 30"/>
          <p:cNvSpPr txBox="1"/>
          <p:nvPr/>
        </p:nvSpPr>
        <p:spPr>
          <a:xfrm>
            <a:off x="8138160" y="2057400"/>
            <a:ext cx="1645920" cy="457200"/>
          </a:xfrm>
          <a:prstGeom prst="rect">
            <a:avLst/>
          </a:prstGeom>
          <a:noFill/>
        </p:spPr>
        <p:txBody>
          <a:bodyPr wrap="square" anchor="t" lIns="0" rIns="0" tIns="0" bIns="0">
            <a:spAutoFit/>
          </a:bodyPr>
          <a:lstStyle/>
          <a:p>
            <a:pPr algn="ctr">
              <a:lnSpc>
                <a:spcPct val="120000"/>
              </a:lnSpc>
            </a:pPr>
            <a:r>
              <a:rPr sz="1100" b="1">
                <a:solidFill>
                  <a:srgbClr val="0F2A4F"/>
                </a:solidFill>
                <a:latin typeface="Hiragino Sans"/>
                <a:ea typeface="Hiragino Sans"/>
                <a:cs typeface="Hiragino Sans"/>
              </a:rPr>
              <a:t>検証+最適化</a:t>
            </a:r>
          </a:p>
        </p:txBody>
      </p:sp>
      <p:sp>
        <p:nvSpPr>
          <p:cNvPr id="32" name="TextBox 31"/>
          <p:cNvSpPr txBox="1"/>
          <p:nvPr/>
        </p:nvSpPr>
        <p:spPr>
          <a:xfrm>
            <a:off x="8138160" y="2606040"/>
            <a:ext cx="1645920" cy="1097280"/>
          </a:xfrm>
          <a:prstGeom prst="rect">
            <a:avLst/>
          </a:prstGeom>
          <a:noFill/>
        </p:spPr>
        <p:txBody>
          <a:bodyPr wrap="square" anchor="t" lIns="0" rIns="0" tIns="0" bIns="0">
            <a:spAutoFit/>
          </a:bodyPr>
          <a:lstStyle/>
          <a:p>
            <a:pPr algn="ctr">
              <a:lnSpc>
                <a:spcPct val="150000"/>
              </a:lnSpc>
            </a:pPr>
            <a:r>
              <a:rPr sz="900" b="0">
                <a:solidFill>
                  <a:srgbClr val="1A1A1A"/>
                </a:solidFill>
                <a:latin typeface="Hiragino Sans"/>
                <a:ea typeface="Hiragino Sans"/>
                <a:cs typeface="Hiragino Sans"/>
              </a:rPr>
              <a:t>Lift Test 申請</a:t>
            </a:r>
          </a:p>
          <a:p>
            <a:pPr algn="ctr">
              <a:lnSpc>
                <a:spcPct val="150000"/>
              </a:lnSpc>
            </a:pPr>
            <a:r>
              <a:rPr sz="900" b="0">
                <a:solidFill>
                  <a:srgbClr val="1A1A1A"/>
                </a:solidFill>
                <a:latin typeface="Hiragino Sans"/>
                <a:ea typeface="Hiragino Sans"/>
                <a:cs typeface="Hiragino Sans"/>
              </a:rPr>
              <a:t>Neg KW 追加</a:t>
            </a:r>
          </a:p>
          <a:p>
            <a:pPr algn="ctr">
              <a:lnSpc>
                <a:spcPct val="150000"/>
              </a:lnSpc>
            </a:pPr>
            <a:r>
              <a:rPr sz="900" b="0">
                <a:solidFill>
                  <a:srgbClr val="1A1A1A"/>
                </a:solidFill>
                <a:latin typeface="Hiragino Sans"/>
                <a:ea typeface="Hiragino Sans"/>
                <a:cs typeface="Hiragino Sans"/>
              </a:rPr>
              <a:t>クリエイティブ入替</a:t>
            </a:r>
          </a:p>
        </p:txBody>
      </p:sp>
      <p:sp>
        <p:nvSpPr>
          <p:cNvPr id="33" name="Rounded Rectangle 32"/>
          <p:cNvSpPr/>
          <p:nvPr/>
        </p:nvSpPr>
        <p:spPr>
          <a:xfrm>
            <a:off x="9921240" y="1417320"/>
            <a:ext cx="1828800" cy="23317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921240" y="1417320"/>
            <a:ext cx="1828800" cy="50292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012680" y="1536192"/>
            <a:ext cx="1645920" cy="274320"/>
          </a:xfrm>
          <a:prstGeom prst="rect">
            <a:avLst/>
          </a:prstGeom>
          <a:noFill/>
        </p:spPr>
        <p:txBody>
          <a:bodyPr wrap="square" anchor="t" lIns="0" rIns="0" tIns="0" bIns="0">
            <a:spAutoFit/>
          </a:bodyPr>
          <a:lstStyle/>
          <a:p>
            <a:pPr algn="ctr">
              <a:lnSpc>
                <a:spcPct val="115000"/>
              </a:lnSpc>
            </a:pPr>
            <a:r>
              <a:rPr sz="1100" b="1">
                <a:solidFill>
                  <a:srgbClr val="FFFFFF"/>
                </a:solidFill>
                <a:latin typeface="Helvetica Neue"/>
                <a:ea typeface="Helvetica Neue"/>
                <a:cs typeface="Helvetica Neue"/>
              </a:rPr>
              <a:t>Week 4</a:t>
            </a:r>
          </a:p>
        </p:txBody>
      </p:sp>
      <p:sp>
        <p:nvSpPr>
          <p:cNvPr id="36" name="TextBox 35"/>
          <p:cNvSpPr txBox="1"/>
          <p:nvPr/>
        </p:nvSpPr>
        <p:spPr>
          <a:xfrm>
            <a:off x="10012680" y="2057400"/>
            <a:ext cx="1645920" cy="457200"/>
          </a:xfrm>
          <a:prstGeom prst="rect">
            <a:avLst/>
          </a:prstGeom>
          <a:noFill/>
        </p:spPr>
        <p:txBody>
          <a:bodyPr wrap="square" anchor="t" lIns="0" rIns="0" tIns="0" bIns="0">
            <a:spAutoFit/>
          </a:bodyPr>
          <a:lstStyle/>
          <a:p>
            <a:pPr algn="ctr">
              <a:lnSpc>
                <a:spcPct val="120000"/>
              </a:lnSpc>
            </a:pPr>
            <a:r>
              <a:rPr sz="1100" b="1">
                <a:solidFill>
                  <a:srgbClr val="0F2A4F"/>
                </a:solidFill>
                <a:latin typeface="Hiragino Sans"/>
                <a:ea typeface="Hiragino Sans"/>
                <a:cs typeface="Hiragino Sans"/>
              </a:rPr>
              <a:t>レポート+継続提案</a:t>
            </a:r>
          </a:p>
        </p:txBody>
      </p:sp>
      <p:sp>
        <p:nvSpPr>
          <p:cNvPr id="37" name="TextBox 36"/>
          <p:cNvSpPr txBox="1"/>
          <p:nvPr/>
        </p:nvSpPr>
        <p:spPr>
          <a:xfrm>
            <a:off x="10012680" y="2606040"/>
            <a:ext cx="1645920" cy="1097280"/>
          </a:xfrm>
          <a:prstGeom prst="rect">
            <a:avLst/>
          </a:prstGeom>
          <a:noFill/>
        </p:spPr>
        <p:txBody>
          <a:bodyPr wrap="square" anchor="t" lIns="0" rIns="0" tIns="0" bIns="0">
            <a:spAutoFit/>
          </a:bodyPr>
          <a:lstStyle/>
          <a:p>
            <a:pPr algn="ctr">
              <a:lnSpc>
                <a:spcPct val="150000"/>
              </a:lnSpc>
            </a:pPr>
            <a:r>
              <a:rPr sz="900" b="0">
                <a:solidFill>
                  <a:srgbClr val="1A1A1A"/>
                </a:solidFill>
                <a:latin typeface="Hiragino Sans"/>
                <a:ea typeface="Hiragino Sans"/>
                <a:cs typeface="Hiragino Sans"/>
              </a:rPr>
              <a:t>月次レポート (AI活用)</a:t>
            </a:r>
          </a:p>
          <a:p>
            <a:pPr algn="ctr">
              <a:lnSpc>
                <a:spcPct val="150000"/>
              </a:lnSpc>
            </a:pPr>
            <a:r>
              <a:rPr sz="900" b="0">
                <a:solidFill>
                  <a:srgbClr val="1A1A1A"/>
                </a:solidFill>
                <a:latin typeface="Hiragino Sans"/>
                <a:ea typeface="Hiragino Sans"/>
                <a:cs typeface="Hiragino Sans"/>
              </a:rPr>
              <a:t>継続契約提案</a:t>
            </a:r>
          </a:p>
          <a:p>
            <a:pPr algn="ctr">
              <a:lnSpc>
                <a:spcPct val="150000"/>
              </a:lnSpc>
            </a:pPr>
            <a:r>
              <a:rPr sz="900" b="0">
                <a:solidFill>
                  <a:srgbClr val="1A1A1A"/>
                </a:solidFill>
                <a:latin typeface="Hiragino Sans"/>
                <a:ea typeface="Hiragino Sans"/>
                <a:cs typeface="Hiragino Sans"/>
              </a:rPr>
              <a:t>来月予算配分</a:t>
            </a:r>
          </a:p>
        </p:txBody>
      </p:sp>
      <p:sp>
        <p:nvSpPr>
          <p:cNvPr id="38" name="Rounded Rectangle 37"/>
          <p:cNvSpPr/>
          <p:nvPr/>
        </p:nvSpPr>
        <p:spPr>
          <a:xfrm>
            <a:off x="548640" y="3931920"/>
            <a:ext cx="11109960" cy="242316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77240" y="4069080"/>
            <a:ext cx="10058400" cy="320040"/>
          </a:xfrm>
          <a:prstGeom prst="rect">
            <a:avLst/>
          </a:prstGeom>
          <a:noFill/>
        </p:spPr>
        <p:txBody>
          <a:bodyPr wrap="square" anchor="t" lIns="0" rIns="0" tIns="0" bIns="0">
            <a:spAutoFit/>
          </a:bodyPr>
          <a:lstStyle/>
          <a:p>
            <a:pPr algn="l">
              <a:lnSpc>
                <a:spcPct val="115000"/>
              </a:lnSpc>
            </a:pPr>
            <a:r>
              <a:rPr sz="1200" b="1">
                <a:solidFill>
                  <a:srgbClr val="E87722"/>
                </a:solidFill>
                <a:latin typeface="Hiragino Sans"/>
                <a:ea typeface="Hiragino Sans"/>
                <a:cs typeface="Hiragino Sans"/>
              </a:rPr>
              <a:t>📌 主要マイルストーン</a:t>
            </a:r>
          </a:p>
        </p:txBody>
      </p:sp>
      <p:sp>
        <p:nvSpPr>
          <p:cNvPr id="40" name="TextBox 39"/>
          <p:cNvSpPr txBox="1"/>
          <p:nvPr/>
        </p:nvSpPr>
        <p:spPr>
          <a:xfrm>
            <a:off x="777240" y="4389120"/>
            <a:ext cx="10972800" cy="1920240"/>
          </a:xfrm>
          <a:prstGeom prst="rect">
            <a:avLst/>
          </a:prstGeom>
          <a:noFill/>
        </p:spPr>
        <p:txBody>
          <a:bodyPr wrap="square" anchor="t" lIns="0" rIns="0" tIns="0" bIns="0">
            <a:spAutoFit/>
          </a:bodyPr>
          <a:lstStyle/>
          <a:p>
            <a:pPr algn="l">
              <a:lnSpc>
                <a:spcPct val="160000"/>
              </a:lnSpc>
            </a:pPr>
            <a:r>
              <a:rPr sz="1100" b="0">
                <a:solidFill>
                  <a:srgbClr val="FFFFFF"/>
                </a:solidFill>
                <a:latin typeface="Hiragino Sans"/>
                <a:ea typeface="Hiragino Sans"/>
                <a:cs typeface="Hiragino Sans"/>
              </a:rPr>
              <a:t>Day 4 : LP公開 (96時間SLA厳守)</a:t>
            </a:r>
          </a:p>
          <a:p>
            <a:pPr algn="l">
              <a:lnSpc>
                <a:spcPct val="160000"/>
              </a:lnSpc>
            </a:pPr>
            <a:r>
              <a:rPr sz="1100" b="0">
                <a:solidFill>
                  <a:srgbClr val="FFFFFF"/>
                </a:solidFill>
                <a:latin typeface="Hiragino Sans"/>
                <a:ea typeface="Hiragino Sans"/>
                <a:cs typeface="Hiragino Sans"/>
              </a:rPr>
              <a:t>Day 7 : 広告配信開始 (Google Ads)</a:t>
            </a:r>
          </a:p>
          <a:p>
            <a:pPr algn="l">
              <a:lnSpc>
                <a:spcPct val="160000"/>
              </a:lnSpc>
            </a:pPr>
            <a:r>
              <a:rPr sz="1100" b="0">
                <a:solidFill>
                  <a:srgbClr val="FFFFFF"/>
                </a:solidFill>
                <a:latin typeface="Hiragino Sans"/>
                <a:ea typeface="Hiragino Sans"/>
                <a:cs typeface="Hiragino Sans"/>
              </a:rPr>
              <a:t>Day 14 : Learning Phase 突破 (CV30件以上目標)</a:t>
            </a:r>
          </a:p>
          <a:p>
            <a:pPr algn="l">
              <a:lnSpc>
                <a:spcPct val="160000"/>
              </a:lnSpc>
            </a:pPr>
            <a:r>
              <a:rPr sz="1100" b="0">
                <a:solidFill>
                  <a:srgbClr val="FFFFFF"/>
                </a:solidFill>
                <a:latin typeface="Hiragino Sans"/>
                <a:ea typeface="Hiragino Sans"/>
                <a:cs typeface="Hiragino Sans"/>
              </a:rPr>
              <a:t>Day 21 : Lift Test 結果 + Optiscore 80%以上</a:t>
            </a:r>
          </a:p>
          <a:p>
            <a:pPr algn="l">
              <a:lnSpc>
                <a:spcPct val="160000"/>
              </a:lnSpc>
            </a:pPr>
            <a:r>
              <a:rPr sz="1100" b="0">
                <a:solidFill>
                  <a:srgbClr val="FFFFFF"/>
                </a:solidFill>
                <a:latin typeface="Hiragino Sans"/>
                <a:ea typeface="Hiragino Sans"/>
                <a:cs typeface="Hiragino Sans"/>
              </a:rPr>
              <a:t>Day 30 : 月次レポート提出 + 継続契約提案 (L1 / L2 アップセル含む)</a:t>
            </a:r>
          </a:p>
          <a:p>
            <a:pPr algn="l">
              <a:lnSpc>
                <a:spcPct val="160000"/>
              </a:lnSpc>
            </a:pPr>
            <a:r>
              <a:rPr sz="1100" b="0">
                <a:solidFill>
                  <a:srgbClr val="FFFFFF"/>
                </a:solidFill>
                <a:latin typeface="Hiragino Sans"/>
                <a:ea typeface="Hiragino Sans"/>
                <a:cs typeface="Hiragino Sans"/>
              </a:rPr>
              <a:t/>
            </a:r>
          </a:p>
          <a:p>
            <a:pPr algn="l">
              <a:lnSpc>
                <a:spcPct val="160000"/>
              </a:lnSpc>
            </a:pPr>
            <a:r>
              <a:rPr sz="1100" b="0">
                <a:solidFill>
                  <a:srgbClr val="FFFFFF"/>
                </a:solidFill>
                <a:latin typeface="Hiragino Sans"/>
                <a:ea typeface="Hiragino Sans"/>
                <a:cs typeface="Hiragino Sans"/>
              </a:rPr>
              <a:t>💡 SLA違反時 = 料金20%返金 or 翌日以内無料修正 — 実務的には事前準備で防ぐ</a:t>
            </a:r>
          </a:p>
        </p:txBody>
      </p:sp>
      <p:sp>
        <p:nvSpPr>
          <p:cNvPr id="41" name="TextBox 40"/>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Day 0-3 : ヒアリング + 計測設計</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クライアントMTG → ワイヤー → 計測準備</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P224 / 250</a:t>
            </a:r>
          </a:p>
        </p:txBody>
      </p:sp>
      <p:sp>
        <p:nvSpPr>
          <p:cNvPr id="8" name="Rounded Rectangle 7"/>
          <p:cNvSpPr/>
          <p:nvPr/>
        </p:nvSpPr>
        <p:spPr>
          <a:xfrm>
            <a:off x="548640" y="1417320"/>
            <a:ext cx="2697480" cy="23317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2697480" cy="5029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36192"/>
            <a:ext cx="2423160" cy="274320"/>
          </a:xfrm>
          <a:prstGeom prst="rect">
            <a:avLst/>
          </a:prstGeom>
          <a:noFill/>
        </p:spPr>
        <p:txBody>
          <a:bodyPr wrap="square" anchor="t" lIns="0" rIns="0" tIns="0" bIns="0">
            <a:spAutoFit/>
          </a:bodyPr>
          <a:lstStyle/>
          <a:p>
            <a:pPr algn="ctr">
              <a:lnSpc>
                <a:spcPct val="115000"/>
              </a:lnSpc>
            </a:pPr>
            <a:r>
              <a:rPr sz="1200" b="1">
                <a:solidFill>
                  <a:srgbClr val="FFFFFF"/>
                </a:solidFill>
                <a:latin typeface="Helvetica Neue"/>
                <a:ea typeface="Helvetica Neue"/>
                <a:cs typeface="Helvetica Neue"/>
              </a:rPr>
              <a:t>Day 0</a:t>
            </a:r>
          </a:p>
        </p:txBody>
      </p:sp>
      <p:sp>
        <p:nvSpPr>
          <p:cNvPr id="11" name="TextBox 10"/>
          <p:cNvSpPr txBox="1"/>
          <p:nvPr/>
        </p:nvSpPr>
        <p:spPr>
          <a:xfrm>
            <a:off x="685800" y="2057400"/>
            <a:ext cx="2423160" cy="411480"/>
          </a:xfrm>
          <a:prstGeom prst="rect">
            <a:avLst/>
          </a:prstGeom>
          <a:noFill/>
        </p:spPr>
        <p:txBody>
          <a:bodyPr wrap="square" anchor="t" lIns="0" rIns="0" tIns="0" bIns="0">
            <a:spAutoFit/>
          </a:bodyPr>
          <a:lstStyle/>
          <a:p>
            <a:pPr algn="ctr">
              <a:lnSpc>
                <a:spcPct val="125000"/>
              </a:lnSpc>
            </a:pPr>
            <a:r>
              <a:rPr sz="1300" b="1">
                <a:solidFill>
                  <a:srgbClr val="0F2A4F"/>
                </a:solidFill>
                <a:latin typeface="Hiragino Sans"/>
                <a:ea typeface="Hiragino Sans"/>
                <a:cs typeface="Hiragino Sans"/>
              </a:rPr>
              <a:t>受注確定 + 初回MTG</a:t>
            </a:r>
          </a:p>
        </p:txBody>
      </p:sp>
      <p:sp>
        <p:nvSpPr>
          <p:cNvPr id="12" name="TextBox 11"/>
          <p:cNvSpPr txBox="1"/>
          <p:nvPr/>
        </p:nvSpPr>
        <p:spPr>
          <a:xfrm>
            <a:off x="685800" y="2560320"/>
            <a:ext cx="2423160" cy="1143000"/>
          </a:xfrm>
          <a:prstGeom prst="rect">
            <a:avLst/>
          </a:prstGeom>
          <a:noFill/>
        </p:spPr>
        <p:txBody>
          <a:bodyPr wrap="square" anchor="t" lIns="0" rIns="0" tIns="0" bIns="0">
            <a:spAutoFit/>
          </a:bodyPr>
          <a:lstStyle/>
          <a:p>
            <a:pPr algn="ctr">
              <a:lnSpc>
                <a:spcPct val="170000"/>
              </a:lnSpc>
            </a:pPr>
            <a:r>
              <a:rPr sz="1000" b="0">
                <a:solidFill>
                  <a:srgbClr val="1A1A1A"/>
                </a:solidFill>
                <a:latin typeface="Hiragino Sans"/>
                <a:ea typeface="Hiragino Sans"/>
                <a:cs typeface="Hiragino Sans"/>
              </a:rPr>
              <a:t>・契約書 + 入金確認</a:t>
            </a:r>
          </a:p>
          <a:p>
            <a:pPr algn="ctr">
              <a:lnSpc>
                <a:spcPct val="170000"/>
              </a:lnSpc>
            </a:pPr>
            <a:r>
              <a:rPr sz="1000" b="0">
                <a:solidFill>
                  <a:srgbClr val="1A1A1A"/>
                </a:solidFill>
                <a:latin typeface="Hiragino Sans"/>
                <a:ea typeface="Hiragino Sans"/>
                <a:cs typeface="Hiragino Sans"/>
              </a:rPr>
              <a:t>・ヒアリングシート送付</a:t>
            </a:r>
          </a:p>
          <a:p>
            <a:pPr algn="ctr">
              <a:lnSpc>
                <a:spcPct val="170000"/>
              </a:lnSpc>
            </a:pPr>
            <a:r>
              <a:rPr sz="1000" b="0">
                <a:solidFill>
                  <a:srgbClr val="1A1A1A"/>
                </a:solidFill>
                <a:latin typeface="Hiragino Sans"/>
                <a:ea typeface="Hiragino Sans"/>
                <a:cs typeface="Hiragino Sans"/>
              </a:rPr>
              <a:t>・キックオフMTG (1.5h)</a:t>
            </a:r>
          </a:p>
        </p:txBody>
      </p:sp>
      <p:sp>
        <p:nvSpPr>
          <p:cNvPr id="13" name="Rounded Rectangle 12"/>
          <p:cNvSpPr/>
          <p:nvPr/>
        </p:nvSpPr>
        <p:spPr>
          <a:xfrm>
            <a:off x="3337560" y="1417320"/>
            <a:ext cx="2697480" cy="23317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37560" y="1417320"/>
            <a:ext cx="2697480" cy="5029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74720" y="1536192"/>
            <a:ext cx="2423160" cy="274320"/>
          </a:xfrm>
          <a:prstGeom prst="rect">
            <a:avLst/>
          </a:prstGeom>
          <a:noFill/>
        </p:spPr>
        <p:txBody>
          <a:bodyPr wrap="square" anchor="t" lIns="0" rIns="0" tIns="0" bIns="0">
            <a:spAutoFit/>
          </a:bodyPr>
          <a:lstStyle/>
          <a:p>
            <a:pPr algn="ctr">
              <a:lnSpc>
                <a:spcPct val="115000"/>
              </a:lnSpc>
            </a:pPr>
            <a:r>
              <a:rPr sz="1200" b="1">
                <a:solidFill>
                  <a:srgbClr val="FFFFFF"/>
                </a:solidFill>
                <a:latin typeface="Helvetica Neue"/>
                <a:ea typeface="Helvetica Neue"/>
                <a:cs typeface="Helvetica Neue"/>
              </a:rPr>
              <a:t>Day 1</a:t>
            </a:r>
          </a:p>
        </p:txBody>
      </p:sp>
      <p:sp>
        <p:nvSpPr>
          <p:cNvPr id="16" name="TextBox 15"/>
          <p:cNvSpPr txBox="1"/>
          <p:nvPr/>
        </p:nvSpPr>
        <p:spPr>
          <a:xfrm>
            <a:off x="3474720" y="2057400"/>
            <a:ext cx="2423160" cy="411480"/>
          </a:xfrm>
          <a:prstGeom prst="rect">
            <a:avLst/>
          </a:prstGeom>
          <a:noFill/>
        </p:spPr>
        <p:txBody>
          <a:bodyPr wrap="square" anchor="t" lIns="0" rIns="0" tIns="0" bIns="0">
            <a:spAutoFit/>
          </a:bodyPr>
          <a:lstStyle/>
          <a:p>
            <a:pPr algn="ctr">
              <a:lnSpc>
                <a:spcPct val="125000"/>
              </a:lnSpc>
            </a:pPr>
            <a:r>
              <a:rPr sz="1300" b="1">
                <a:solidFill>
                  <a:srgbClr val="0F2A4F"/>
                </a:solidFill>
                <a:latin typeface="Hiragino Sans"/>
                <a:ea typeface="Hiragino Sans"/>
                <a:cs typeface="Hiragino Sans"/>
              </a:rPr>
              <a:t>ヒアリング深掘り</a:t>
            </a:r>
          </a:p>
        </p:txBody>
      </p:sp>
      <p:sp>
        <p:nvSpPr>
          <p:cNvPr id="17" name="TextBox 16"/>
          <p:cNvSpPr txBox="1"/>
          <p:nvPr/>
        </p:nvSpPr>
        <p:spPr>
          <a:xfrm>
            <a:off x="3474720" y="2560320"/>
            <a:ext cx="2423160" cy="1143000"/>
          </a:xfrm>
          <a:prstGeom prst="rect">
            <a:avLst/>
          </a:prstGeom>
          <a:noFill/>
        </p:spPr>
        <p:txBody>
          <a:bodyPr wrap="square" anchor="t" lIns="0" rIns="0" tIns="0" bIns="0">
            <a:spAutoFit/>
          </a:bodyPr>
          <a:lstStyle/>
          <a:p>
            <a:pPr algn="ctr">
              <a:lnSpc>
                <a:spcPct val="170000"/>
              </a:lnSpc>
            </a:pPr>
            <a:r>
              <a:rPr sz="1000" b="0">
                <a:solidFill>
                  <a:srgbClr val="1A1A1A"/>
                </a:solidFill>
                <a:latin typeface="Hiragino Sans"/>
                <a:ea typeface="Hiragino Sans"/>
                <a:cs typeface="Hiragino Sans"/>
              </a:rPr>
              <a:t>・商材詳細 / USP</a:t>
            </a:r>
          </a:p>
          <a:p>
            <a:pPr algn="ctr">
              <a:lnSpc>
                <a:spcPct val="170000"/>
              </a:lnSpc>
            </a:pPr>
            <a:r>
              <a:rPr sz="1000" b="0">
                <a:solidFill>
                  <a:srgbClr val="1A1A1A"/>
                </a:solidFill>
                <a:latin typeface="Hiragino Sans"/>
                <a:ea typeface="Hiragino Sans"/>
                <a:cs typeface="Hiragino Sans"/>
              </a:rPr>
              <a:t>・ターゲット / 競合</a:t>
            </a:r>
          </a:p>
          <a:p>
            <a:pPr algn="ctr">
              <a:lnSpc>
                <a:spcPct val="170000"/>
              </a:lnSpc>
            </a:pPr>
            <a:r>
              <a:rPr sz="1000" b="0">
                <a:solidFill>
                  <a:srgbClr val="1A1A1A"/>
                </a:solidFill>
                <a:latin typeface="Hiragino Sans"/>
                <a:ea typeface="Hiragino Sans"/>
                <a:cs typeface="Hiragino Sans"/>
              </a:rPr>
              <a:t>・KGI/KPI 合意</a:t>
            </a:r>
          </a:p>
        </p:txBody>
      </p:sp>
      <p:sp>
        <p:nvSpPr>
          <p:cNvPr id="18" name="Rounded Rectangle 17"/>
          <p:cNvSpPr/>
          <p:nvPr/>
        </p:nvSpPr>
        <p:spPr>
          <a:xfrm>
            <a:off x="6126480" y="1417320"/>
            <a:ext cx="2697480" cy="23317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0" y="1417320"/>
            <a:ext cx="2697480" cy="5029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3640" y="1536192"/>
            <a:ext cx="2423160" cy="274320"/>
          </a:xfrm>
          <a:prstGeom prst="rect">
            <a:avLst/>
          </a:prstGeom>
          <a:noFill/>
        </p:spPr>
        <p:txBody>
          <a:bodyPr wrap="square" anchor="t" lIns="0" rIns="0" tIns="0" bIns="0">
            <a:spAutoFit/>
          </a:bodyPr>
          <a:lstStyle/>
          <a:p>
            <a:pPr algn="ctr">
              <a:lnSpc>
                <a:spcPct val="115000"/>
              </a:lnSpc>
            </a:pPr>
            <a:r>
              <a:rPr sz="1200" b="1">
                <a:solidFill>
                  <a:srgbClr val="FFFFFF"/>
                </a:solidFill>
                <a:latin typeface="Helvetica Neue"/>
                <a:ea typeface="Helvetica Neue"/>
                <a:cs typeface="Helvetica Neue"/>
              </a:rPr>
              <a:t>Day 2</a:t>
            </a:r>
          </a:p>
        </p:txBody>
      </p:sp>
      <p:sp>
        <p:nvSpPr>
          <p:cNvPr id="21" name="TextBox 20"/>
          <p:cNvSpPr txBox="1"/>
          <p:nvPr/>
        </p:nvSpPr>
        <p:spPr>
          <a:xfrm>
            <a:off x="6263640" y="2057400"/>
            <a:ext cx="2423160" cy="411480"/>
          </a:xfrm>
          <a:prstGeom prst="rect">
            <a:avLst/>
          </a:prstGeom>
          <a:noFill/>
        </p:spPr>
        <p:txBody>
          <a:bodyPr wrap="square" anchor="t" lIns="0" rIns="0" tIns="0" bIns="0">
            <a:spAutoFit/>
          </a:bodyPr>
          <a:lstStyle/>
          <a:p>
            <a:pPr algn="ctr">
              <a:lnSpc>
                <a:spcPct val="125000"/>
              </a:lnSpc>
            </a:pPr>
            <a:r>
              <a:rPr sz="1300" b="1">
                <a:solidFill>
                  <a:srgbClr val="0F2A4F"/>
                </a:solidFill>
                <a:latin typeface="Hiragino Sans"/>
                <a:ea typeface="Hiragino Sans"/>
                <a:cs typeface="Hiragino Sans"/>
              </a:rPr>
              <a:t>LP ワイヤー + 設計</a:t>
            </a:r>
          </a:p>
        </p:txBody>
      </p:sp>
      <p:sp>
        <p:nvSpPr>
          <p:cNvPr id="22" name="TextBox 21"/>
          <p:cNvSpPr txBox="1"/>
          <p:nvPr/>
        </p:nvSpPr>
        <p:spPr>
          <a:xfrm>
            <a:off x="6263640" y="2560320"/>
            <a:ext cx="2423160" cy="1143000"/>
          </a:xfrm>
          <a:prstGeom prst="rect">
            <a:avLst/>
          </a:prstGeom>
          <a:noFill/>
        </p:spPr>
        <p:txBody>
          <a:bodyPr wrap="square" anchor="t" lIns="0" rIns="0" tIns="0" bIns="0">
            <a:spAutoFit/>
          </a:bodyPr>
          <a:lstStyle/>
          <a:p>
            <a:pPr algn="ctr">
              <a:lnSpc>
                <a:spcPct val="170000"/>
              </a:lnSpc>
            </a:pPr>
            <a:r>
              <a:rPr sz="1000" b="0">
                <a:solidFill>
                  <a:srgbClr val="1A1A1A"/>
                </a:solidFill>
                <a:latin typeface="Hiragino Sans"/>
                <a:ea typeface="Hiragino Sans"/>
                <a:cs typeface="Hiragino Sans"/>
              </a:rPr>
              <a:t>・FV / セクション設計</a:t>
            </a:r>
          </a:p>
          <a:p>
            <a:pPr algn="ctr">
              <a:lnSpc>
                <a:spcPct val="170000"/>
              </a:lnSpc>
            </a:pPr>
            <a:r>
              <a:rPr sz="1000" b="0">
                <a:solidFill>
                  <a:srgbClr val="1A1A1A"/>
                </a:solidFill>
                <a:latin typeface="Hiragino Sans"/>
                <a:ea typeface="Hiragino Sans"/>
                <a:cs typeface="Hiragino Sans"/>
              </a:rPr>
              <a:t>・コピーライティング</a:t>
            </a:r>
          </a:p>
          <a:p>
            <a:pPr algn="ctr">
              <a:lnSpc>
                <a:spcPct val="170000"/>
              </a:lnSpc>
            </a:pPr>
            <a:r>
              <a:rPr sz="1000" b="0">
                <a:solidFill>
                  <a:srgbClr val="1A1A1A"/>
                </a:solidFill>
                <a:latin typeface="Hiragino Sans"/>
                <a:ea typeface="Hiragino Sans"/>
                <a:cs typeface="Hiragino Sans"/>
              </a:rPr>
              <a:t>・デザインカンプ</a:t>
            </a:r>
          </a:p>
        </p:txBody>
      </p:sp>
      <p:sp>
        <p:nvSpPr>
          <p:cNvPr id="23" name="Rounded Rectangle 22"/>
          <p:cNvSpPr/>
          <p:nvPr/>
        </p:nvSpPr>
        <p:spPr>
          <a:xfrm>
            <a:off x="8915400" y="1417320"/>
            <a:ext cx="2697480" cy="23317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15400" y="1417320"/>
            <a:ext cx="2697480" cy="5029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52560" y="1536192"/>
            <a:ext cx="2423160" cy="274320"/>
          </a:xfrm>
          <a:prstGeom prst="rect">
            <a:avLst/>
          </a:prstGeom>
          <a:noFill/>
        </p:spPr>
        <p:txBody>
          <a:bodyPr wrap="square" anchor="t" lIns="0" rIns="0" tIns="0" bIns="0">
            <a:spAutoFit/>
          </a:bodyPr>
          <a:lstStyle/>
          <a:p>
            <a:pPr algn="ctr">
              <a:lnSpc>
                <a:spcPct val="115000"/>
              </a:lnSpc>
            </a:pPr>
            <a:r>
              <a:rPr sz="1200" b="1">
                <a:solidFill>
                  <a:srgbClr val="FFFFFF"/>
                </a:solidFill>
                <a:latin typeface="Helvetica Neue"/>
                <a:ea typeface="Helvetica Neue"/>
                <a:cs typeface="Helvetica Neue"/>
              </a:rPr>
              <a:t>Day 3</a:t>
            </a:r>
          </a:p>
        </p:txBody>
      </p:sp>
      <p:sp>
        <p:nvSpPr>
          <p:cNvPr id="26" name="TextBox 25"/>
          <p:cNvSpPr txBox="1"/>
          <p:nvPr/>
        </p:nvSpPr>
        <p:spPr>
          <a:xfrm>
            <a:off x="9052560" y="2057400"/>
            <a:ext cx="2423160" cy="411480"/>
          </a:xfrm>
          <a:prstGeom prst="rect">
            <a:avLst/>
          </a:prstGeom>
          <a:noFill/>
        </p:spPr>
        <p:txBody>
          <a:bodyPr wrap="square" anchor="t" lIns="0" rIns="0" tIns="0" bIns="0">
            <a:spAutoFit/>
          </a:bodyPr>
          <a:lstStyle/>
          <a:p>
            <a:pPr algn="ctr">
              <a:lnSpc>
                <a:spcPct val="125000"/>
              </a:lnSpc>
            </a:pPr>
            <a:r>
              <a:rPr sz="1300" b="1">
                <a:solidFill>
                  <a:srgbClr val="0F2A4F"/>
                </a:solidFill>
                <a:latin typeface="Hiragino Sans"/>
                <a:ea typeface="Hiragino Sans"/>
                <a:cs typeface="Hiragino Sans"/>
              </a:rPr>
              <a:t>計測基盤準備</a:t>
            </a:r>
          </a:p>
        </p:txBody>
      </p:sp>
      <p:sp>
        <p:nvSpPr>
          <p:cNvPr id="27" name="TextBox 26"/>
          <p:cNvSpPr txBox="1"/>
          <p:nvPr/>
        </p:nvSpPr>
        <p:spPr>
          <a:xfrm>
            <a:off x="9052560" y="2560320"/>
            <a:ext cx="2423160" cy="1143000"/>
          </a:xfrm>
          <a:prstGeom prst="rect">
            <a:avLst/>
          </a:prstGeom>
          <a:noFill/>
        </p:spPr>
        <p:txBody>
          <a:bodyPr wrap="square" anchor="t" lIns="0" rIns="0" tIns="0" bIns="0">
            <a:spAutoFit/>
          </a:bodyPr>
          <a:lstStyle/>
          <a:p>
            <a:pPr algn="ctr">
              <a:lnSpc>
                <a:spcPct val="170000"/>
              </a:lnSpc>
            </a:pPr>
            <a:r>
              <a:rPr sz="1000" b="0">
                <a:solidFill>
                  <a:srgbClr val="1A1A1A"/>
                </a:solidFill>
                <a:latin typeface="Hiragino Sans"/>
                <a:ea typeface="Hiragino Sans"/>
                <a:cs typeface="Hiragino Sans"/>
              </a:rPr>
              <a:t>・GA4 アカウント</a:t>
            </a:r>
          </a:p>
          <a:p>
            <a:pPr algn="ctr">
              <a:lnSpc>
                <a:spcPct val="170000"/>
              </a:lnSpc>
            </a:pPr>
            <a:r>
              <a:rPr sz="1000" b="0">
                <a:solidFill>
                  <a:srgbClr val="1A1A1A"/>
                </a:solidFill>
                <a:latin typeface="Hiragino Sans"/>
                <a:ea typeface="Hiragino Sans"/>
                <a:cs typeface="Hiragino Sans"/>
              </a:rPr>
              <a:t>・GTM コンテナ</a:t>
            </a:r>
          </a:p>
          <a:p>
            <a:pPr algn="ctr">
              <a:lnSpc>
                <a:spcPct val="170000"/>
              </a:lnSpc>
            </a:pPr>
            <a:r>
              <a:rPr sz="1000" b="0">
                <a:solidFill>
                  <a:srgbClr val="1A1A1A"/>
                </a:solidFill>
                <a:latin typeface="Hiragino Sans"/>
                <a:ea typeface="Hiragino Sans"/>
                <a:cs typeface="Hiragino Sans"/>
              </a:rPr>
              <a:t>・ドメイン/サーバー</a:t>
            </a:r>
          </a:p>
        </p:txBody>
      </p:sp>
      <p:sp>
        <p:nvSpPr>
          <p:cNvPr id="28" name="Rounded Rectangle 27"/>
          <p:cNvSpPr/>
          <p:nvPr/>
        </p:nvSpPr>
        <p:spPr>
          <a:xfrm>
            <a:off x="548640" y="3931920"/>
            <a:ext cx="11109960" cy="242316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4069080"/>
            <a:ext cx="100584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 ヒアリング必須項目 (Day 0-1)</a:t>
            </a:r>
          </a:p>
        </p:txBody>
      </p:sp>
      <p:sp>
        <p:nvSpPr>
          <p:cNvPr id="30" name="TextBox 29"/>
          <p:cNvSpPr txBox="1"/>
          <p:nvPr/>
        </p:nvSpPr>
        <p:spPr>
          <a:xfrm>
            <a:off x="777240" y="4389120"/>
            <a:ext cx="10972800" cy="192024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1. 商材 : 何を売る? USP 3つ</a:t>
            </a:r>
          </a:p>
          <a:p>
            <a:pPr algn="l">
              <a:lnSpc>
                <a:spcPct val="160000"/>
              </a:lnSpc>
            </a:pPr>
            <a:r>
              <a:rPr sz="1100" b="0">
                <a:solidFill>
                  <a:srgbClr val="1A1A1A"/>
                </a:solidFill>
                <a:latin typeface="Hiragino Sans"/>
                <a:ea typeface="Hiragino Sans"/>
                <a:cs typeface="Hiragino Sans"/>
              </a:rPr>
              <a:t>2. ターゲット : 年齢/性別/状況/関心</a:t>
            </a:r>
          </a:p>
          <a:p>
            <a:pPr algn="l">
              <a:lnSpc>
                <a:spcPct val="160000"/>
              </a:lnSpc>
            </a:pPr>
            <a:r>
              <a:rPr sz="1100" b="0">
                <a:solidFill>
                  <a:srgbClr val="1A1A1A"/>
                </a:solidFill>
                <a:latin typeface="Hiragino Sans"/>
                <a:ea typeface="Hiragino Sans"/>
                <a:cs typeface="Hiragino Sans"/>
              </a:rPr>
              <a:t>3. KGI : 月間売上 / リード件数 目標</a:t>
            </a:r>
          </a:p>
          <a:p>
            <a:pPr algn="l">
              <a:lnSpc>
                <a:spcPct val="160000"/>
              </a:lnSpc>
            </a:pPr>
            <a:r>
              <a:rPr sz="1100" b="0">
                <a:solidFill>
                  <a:srgbClr val="1A1A1A"/>
                </a:solidFill>
                <a:latin typeface="Hiragino Sans"/>
                <a:ea typeface="Hiragino Sans"/>
                <a:cs typeface="Hiragino Sans"/>
              </a:rPr>
              <a:t>4. 競合 : 主要競合 3社 (LP URL)</a:t>
            </a:r>
          </a:p>
          <a:p>
            <a:pPr algn="l">
              <a:lnSpc>
                <a:spcPct val="160000"/>
              </a:lnSpc>
            </a:pPr>
            <a:r>
              <a:rPr sz="1100" b="0">
                <a:solidFill>
                  <a:srgbClr val="1A1A1A"/>
                </a:solidFill>
                <a:latin typeface="Hiragino Sans"/>
                <a:ea typeface="Hiragino Sans"/>
                <a:cs typeface="Hiragino Sans"/>
              </a:rPr>
              <a:t>5. 既存LP/Webサイト : URL + GA / 旧運用データ</a:t>
            </a:r>
          </a:p>
          <a:p>
            <a:pPr algn="l">
              <a:lnSpc>
                <a:spcPct val="160000"/>
              </a:lnSpc>
            </a:pPr>
            <a:r>
              <a:rPr sz="1100" b="0">
                <a:solidFill>
                  <a:srgbClr val="1A1A1A"/>
                </a:solidFill>
                <a:latin typeface="Hiragino Sans"/>
                <a:ea typeface="Hiragino Sans"/>
                <a:cs typeface="Hiragino Sans"/>
              </a:rPr>
              <a:t>6. 既存顧客リスト : 件数 + 形式 (Customer Match 用)</a:t>
            </a:r>
          </a:p>
          <a:p>
            <a:pPr algn="l">
              <a:lnSpc>
                <a:spcPct val="160000"/>
              </a:lnSpc>
            </a:pPr>
            <a:r>
              <a:rPr sz="1100" b="0">
                <a:solidFill>
                  <a:srgbClr val="1A1A1A"/>
                </a:solidFill>
                <a:latin typeface="Hiragino Sans"/>
                <a:ea typeface="Hiragino Sans"/>
                <a:cs typeface="Hiragino Sans"/>
              </a:rPr>
              <a:t>7. クリエイティブ素材 : 商品写真 / 動画 / ロゴ</a:t>
            </a:r>
          </a:p>
          <a:p>
            <a:pPr algn="l">
              <a:lnSpc>
                <a:spcPct val="160000"/>
              </a:lnSpc>
            </a:pPr>
            <a:r>
              <a:rPr sz="1100" b="0">
                <a:solidFill>
                  <a:srgbClr val="1A1A1A"/>
                </a:solidFill>
                <a:latin typeface="Hiragino Sans"/>
                <a:ea typeface="Hiragino Sans"/>
                <a:cs typeface="Hiragino Sans"/>
              </a:rPr>
              <a:t>8. 予算 : 初月広告予算 + 想定継続予算</a:t>
            </a:r>
          </a:p>
        </p:txBody>
      </p:sp>
      <p:sp>
        <p:nvSpPr>
          <p:cNvPr id="31" name="TextBox 30"/>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Day 3-5 : LP実装 + アカウント構築</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96h SLA を守りつつ広告基盤を整える</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P225 / 250</a:t>
            </a:r>
          </a:p>
        </p:txBody>
      </p:sp>
      <p:sp>
        <p:nvSpPr>
          <p:cNvPr id="8" name="TextBox 7"/>
          <p:cNvSpPr txBox="1"/>
          <p:nvPr/>
        </p:nvSpPr>
        <p:spPr>
          <a:xfrm>
            <a:off x="548640" y="1417320"/>
            <a:ext cx="5486400" cy="365760"/>
          </a:xfrm>
          <a:prstGeom prst="rect">
            <a:avLst/>
          </a:prstGeom>
          <a:noFill/>
        </p:spPr>
        <p:txBody>
          <a:bodyPr wrap="square" anchor="t" lIns="0" rIns="0" tIns="0" bIns="0">
            <a:spAutoFit/>
          </a:bodyPr>
          <a:lstStyle/>
          <a:p>
            <a:pPr algn="l">
              <a:lnSpc>
                <a:spcPct val="115000"/>
              </a:lnSpc>
            </a:pPr>
            <a:r>
              <a:rPr sz="1400" b="1">
                <a:solidFill>
                  <a:srgbClr val="E87722"/>
                </a:solidFill>
                <a:latin typeface="Hiragino Sans"/>
                <a:ea typeface="Hiragino Sans"/>
                <a:cs typeface="Hiragino Sans"/>
              </a:rPr>
              <a:t>LP実装 (Day 3-4)</a:t>
            </a:r>
          </a:p>
        </p:txBody>
      </p:sp>
      <p:sp>
        <p:nvSpPr>
          <p:cNvPr id="9" name="TextBox 8"/>
          <p:cNvSpPr txBox="1"/>
          <p:nvPr/>
        </p:nvSpPr>
        <p:spPr>
          <a:xfrm>
            <a:off x="6400800" y="1417320"/>
            <a:ext cx="5486400" cy="36576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アカウント構築 (Day 4-5)</a:t>
            </a:r>
          </a:p>
        </p:txBody>
      </p:sp>
      <p:sp>
        <p:nvSpPr>
          <p:cNvPr id="10" name="Rounded Rectangle 9"/>
          <p:cNvSpPr/>
          <p:nvPr/>
        </p:nvSpPr>
        <p:spPr>
          <a:xfrm>
            <a:off x="548640" y="1874519"/>
            <a:ext cx="5486400" cy="365760"/>
          </a:xfrm>
          <a:prstGeom prst="roundRect">
            <a:avLst>
              <a:gd name="adj" fmla="val 6000"/>
            </a:avLst>
          </a:prstGeom>
          <a:solidFill>
            <a:srgbClr val="FFF3E6"/>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947671"/>
            <a:ext cx="27432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a:t>
            </a:r>
          </a:p>
        </p:txBody>
      </p:sp>
      <p:sp>
        <p:nvSpPr>
          <p:cNvPr id="12" name="TextBox 11"/>
          <p:cNvSpPr txBox="1"/>
          <p:nvPr/>
        </p:nvSpPr>
        <p:spPr>
          <a:xfrm>
            <a:off x="1005840" y="1965959"/>
            <a:ext cx="438912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デザインカンプ → 実装 (HTML/CSS/JS)</a:t>
            </a:r>
          </a:p>
        </p:txBody>
      </p:sp>
      <p:sp>
        <p:nvSpPr>
          <p:cNvPr id="13" name="Rounded Rectangle 12"/>
          <p:cNvSpPr/>
          <p:nvPr/>
        </p:nvSpPr>
        <p:spPr>
          <a:xfrm>
            <a:off x="548640" y="2285999"/>
            <a:ext cx="5486400" cy="365760"/>
          </a:xfrm>
          <a:prstGeom prst="roundRect">
            <a:avLst>
              <a:gd name="adj" fmla="val 6000"/>
            </a:avLst>
          </a:prstGeom>
          <a:solidFill>
            <a:srgbClr val="FFF3E6"/>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2359151"/>
            <a:ext cx="27432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a:t>
            </a:r>
          </a:p>
        </p:txBody>
      </p:sp>
      <p:sp>
        <p:nvSpPr>
          <p:cNvPr id="15" name="TextBox 14"/>
          <p:cNvSpPr txBox="1"/>
          <p:nvPr/>
        </p:nvSpPr>
        <p:spPr>
          <a:xfrm>
            <a:off x="1005840" y="2377439"/>
            <a:ext cx="438912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レスポンシブ対応 (モバイル90%以上)</a:t>
            </a:r>
          </a:p>
        </p:txBody>
      </p:sp>
      <p:sp>
        <p:nvSpPr>
          <p:cNvPr id="16" name="Rounded Rectangle 15"/>
          <p:cNvSpPr/>
          <p:nvPr/>
        </p:nvSpPr>
        <p:spPr>
          <a:xfrm>
            <a:off x="548640" y="2697479"/>
            <a:ext cx="5486400" cy="365760"/>
          </a:xfrm>
          <a:prstGeom prst="roundRect">
            <a:avLst>
              <a:gd name="adj" fmla="val 6000"/>
            </a:avLst>
          </a:prstGeom>
          <a:solidFill>
            <a:srgbClr val="FFF3E6"/>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2770631"/>
            <a:ext cx="27432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a:t>
            </a:r>
          </a:p>
        </p:txBody>
      </p:sp>
      <p:sp>
        <p:nvSpPr>
          <p:cNvPr id="18" name="TextBox 17"/>
          <p:cNvSpPr txBox="1"/>
          <p:nvPr/>
        </p:nvSpPr>
        <p:spPr>
          <a:xfrm>
            <a:off x="1005840" y="2788919"/>
            <a:ext cx="438912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フォーム / CTAボタン (Form to GA4)</a:t>
            </a:r>
          </a:p>
        </p:txBody>
      </p:sp>
      <p:sp>
        <p:nvSpPr>
          <p:cNvPr id="19" name="Rounded Rectangle 18"/>
          <p:cNvSpPr/>
          <p:nvPr/>
        </p:nvSpPr>
        <p:spPr>
          <a:xfrm>
            <a:off x="548640" y="3108959"/>
            <a:ext cx="5486400" cy="365760"/>
          </a:xfrm>
          <a:prstGeom prst="roundRect">
            <a:avLst>
              <a:gd name="adj" fmla="val 6000"/>
            </a:avLst>
          </a:prstGeom>
          <a:solidFill>
            <a:srgbClr val="FFF3E6"/>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3182111"/>
            <a:ext cx="27432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a:t>
            </a:r>
          </a:p>
        </p:txBody>
      </p:sp>
      <p:sp>
        <p:nvSpPr>
          <p:cNvPr id="21" name="TextBox 20"/>
          <p:cNvSpPr txBox="1"/>
          <p:nvPr/>
        </p:nvSpPr>
        <p:spPr>
          <a:xfrm>
            <a:off x="1005840" y="3200399"/>
            <a:ext cx="438912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GA4 + GTM タグ実装</a:t>
            </a:r>
          </a:p>
        </p:txBody>
      </p:sp>
      <p:sp>
        <p:nvSpPr>
          <p:cNvPr id="22" name="Rounded Rectangle 21"/>
          <p:cNvSpPr/>
          <p:nvPr/>
        </p:nvSpPr>
        <p:spPr>
          <a:xfrm>
            <a:off x="548640" y="3520439"/>
            <a:ext cx="5486400" cy="365760"/>
          </a:xfrm>
          <a:prstGeom prst="roundRect">
            <a:avLst>
              <a:gd name="adj" fmla="val 6000"/>
            </a:avLst>
          </a:prstGeom>
          <a:solidFill>
            <a:srgbClr val="FFF3E6"/>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593591"/>
            <a:ext cx="27432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a:t>
            </a:r>
          </a:p>
        </p:txBody>
      </p:sp>
      <p:sp>
        <p:nvSpPr>
          <p:cNvPr id="24" name="TextBox 23"/>
          <p:cNvSpPr txBox="1"/>
          <p:nvPr/>
        </p:nvSpPr>
        <p:spPr>
          <a:xfrm>
            <a:off x="1005840" y="3611879"/>
            <a:ext cx="438912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公開 (Vercel等) + ドメイン設定</a:t>
            </a:r>
          </a:p>
        </p:txBody>
      </p:sp>
      <p:sp>
        <p:nvSpPr>
          <p:cNvPr id="25" name="Rounded Rectangle 24"/>
          <p:cNvSpPr/>
          <p:nvPr/>
        </p:nvSpPr>
        <p:spPr>
          <a:xfrm>
            <a:off x="548640" y="3931919"/>
            <a:ext cx="5486400" cy="365760"/>
          </a:xfrm>
          <a:prstGeom prst="roundRect">
            <a:avLst>
              <a:gd name="adj" fmla="val 6000"/>
            </a:avLst>
          </a:prstGeom>
          <a:solidFill>
            <a:srgbClr val="FFF3E6"/>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005071"/>
            <a:ext cx="27432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a:t>
            </a:r>
          </a:p>
        </p:txBody>
      </p:sp>
      <p:sp>
        <p:nvSpPr>
          <p:cNvPr id="27" name="TextBox 26"/>
          <p:cNvSpPr txBox="1"/>
          <p:nvPr/>
        </p:nvSpPr>
        <p:spPr>
          <a:xfrm>
            <a:off x="1005840" y="4023359"/>
            <a:ext cx="438912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テスト (CV / Tag / Pixel発火確認)</a:t>
            </a:r>
          </a:p>
        </p:txBody>
      </p:sp>
      <p:sp>
        <p:nvSpPr>
          <p:cNvPr id="28" name="Rounded Rectangle 27"/>
          <p:cNvSpPr/>
          <p:nvPr/>
        </p:nvSpPr>
        <p:spPr>
          <a:xfrm>
            <a:off x="6400800" y="1874519"/>
            <a:ext cx="5349240" cy="36576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0" y="1947671"/>
            <a:ext cx="27432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a:t>
            </a:r>
          </a:p>
        </p:txBody>
      </p:sp>
      <p:sp>
        <p:nvSpPr>
          <p:cNvPr id="30" name="TextBox 29"/>
          <p:cNvSpPr txBox="1"/>
          <p:nvPr/>
        </p:nvSpPr>
        <p:spPr>
          <a:xfrm>
            <a:off x="6903720" y="1965959"/>
            <a:ext cx="457200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Google Ads アカウント作成 / 招待</a:t>
            </a:r>
          </a:p>
        </p:txBody>
      </p:sp>
      <p:sp>
        <p:nvSpPr>
          <p:cNvPr id="31" name="Rounded Rectangle 30"/>
          <p:cNvSpPr/>
          <p:nvPr/>
        </p:nvSpPr>
        <p:spPr>
          <a:xfrm>
            <a:off x="6400800" y="2285999"/>
            <a:ext cx="5349240" cy="36576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83680" y="2359151"/>
            <a:ext cx="27432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a:t>
            </a:r>
          </a:p>
        </p:txBody>
      </p:sp>
      <p:sp>
        <p:nvSpPr>
          <p:cNvPr id="33" name="TextBox 32"/>
          <p:cNvSpPr txBox="1"/>
          <p:nvPr/>
        </p:nvSpPr>
        <p:spPr>
          <a:xfrm>
            <a:off x="6903720" y="2377439"/>
            <a:ext cx="457200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Google Tag Manager + GA4 連携</a:t>
            </a:r>
          </a:p>
        </p:txBody>
      </p:sp>
      <p:sp>
        <p:nvSpPr>
          <p:cNvPr id="34" name="Rounded Rectangle 33"/>
          <p:cNvSpPr/>
          <p:nvPr/>
        </p:nvSpPr>
        <p:spPr>
          <a:xfrm>
            <a:off x="6400800" y="2697479"/>
            <a:ext cx="5349240" cy="36576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83680" y="2770631"/>
            <a:ext cx="27432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a:t>
            </a:r>
          </a:p>
        </p:txBody>
      </p:sp>
      <p:sp>
        <p:nvSpPr>
          <p:cNvPr id="36" name="TextBox 35"/>
          <p:cNvSpPr txBox="1"/>
          <p:nvPr/>
        </p:nvSpPr>
        <p:spPr>
          <a:xfrm>
            <a:off x="6903720" y="2788919"/>
            <a:ext cx="457200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Conversion設定 (Purchase / Lead等)</a:t>
            </a:r>
          </a:p>
        </p:txBody>
      </p:sp>
      <p:sp>
        <p:nvSpPr>
          <p:cNvPr id="37" name="Rounded Rectangle 36"/>
          <p:cNvSpPr/>
          <p:nvPr/>
        </p:nvSpPr>
        <p:spPr>
          <a:xfrm>
            <a:off x="6400800" y="3108959"/>
            <a:ext cx="5349240" cy="36576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83680" y="3182111"/>
            <a:ext cx="27432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a:t>
            </a:r>
          </a:p>
        </p:txBody>
      </p:sp>
      <p:sp>
        <p:nvSpPr>
          <p:cNvPr id="39" name="TextBox 38"/>
          <p:cNvSpPr txBox="1"/>
          <p:nvPr/>
        </p:nvSpPr>
        <p:spPr>
          <a:xfrm>
            <a:off x="6903720" y="3200399"/>
            <a:ext cx="457200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Enhanced Conversions 有効化</a:t>
            </a:r>
          </a:p>
        </p:txBody>
      </p:sp>
      <p:sp>
        <p:nvSpPr>
          <p:cNvPr id="40" name="Rounded Rectangle 39"/>
          <p:cNvSpPr/>
          <p:nvPr/>
        </p:nvSpPr>
        <p:spPr>
          <a:xfrm>
            <a:off x="6400800" y="3520439"/>
            <a:ext cx="5349240" cy="36576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83680" y="3593591"/>
            <a:ext cx="27432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a:t>
            </a:r>
          </a:p>
        </p:txBody>
      </p:sp>
      <p:sp>
        <p:nvSpPr>
          <p:cNvPr id="42" name="TextBox 41"/>
          <p:cNvSpPr txBox="1"/>
          <p:nvPr/>
        </p:nvSpPr>
        <p:spPr>
          <a:xfrm>
            <a:off x="6903720" y="3611879"/>
            <a:ext cx="457200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Customer Match リストアップロード</a:t>
            </a:r>
          </a:p>
        </p:txBody>
      </p:sp>
      <p:sp>
        <p:nvSpPr>
          <p:cNvPr id="43" name="Rounded Rectangle 42"/>
          <p:cNvSpPr/>
          <p:nvPr/>
        </p:nvSpPr>
        <p:spPr>
          <a:xfrm>
            <a:off x="6400800" y="3931919"/>
            <a:ext cx="5349240" cy="36576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583680" y="4005071"/>
            <a:ext cx="27432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a:t>
            </a:r>
          </a:p>
        </p:txBody>
      </p:sp>
      <p:sp>
        <p:nvSpPr>
          <p:cNvPr id="45" name="TextBox 44"/>
          <p:cNvSpPr txBox="1"/>
          <p:nvPr/>
        </p:nvSpPr>
        <p:spPr>
          <a:xfrm>
            <a:off x="6903720" y="4023359"/>
            <a:ext cx="457200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PMax + Search キャンペーン構造設計</a:t>
            </a:r>
          </a:p>
        </p:txBody>
      </p:sp>
      <p:sp>
        <p:nvSpPr>
          <p:cNvPr id="46" name="Rounded Rectangle 45"/>
          <p:cNvSpPr/>
          <p:nvPr/>
        </p:nvSpPr>
        <p:spPr>
          <a:xfrm>
            <a:off x="548640" y="4572000"/>
            <a:ext cx="11109960" cy="178308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77240" y="4709160"/>
            <a:ext cx="10058400" cy="320040"/>
          </a:xfrm>
          <a:prstGeom prst="rect">
            <a:avLst/>
          </a:prstGeom>
          <a:noFill/>
        </p:spPr>
        <p:txBody>
          <a:bodyPr wrap="square" anchor="t" lIns="0" rIns="0" tIns="0" bIns="0">
            <a:spAutoFit/>
          </a:bodyPr>
          <a:lstStyle/>
          <a:p>
            <a:pPr algn="l">
              <a:lnSpc>
                <a:spcPct val="115000"/>
              </a:lnSpc>
            </a:pPr>
            <a:r>
              <a:rPr sz="1200" b="1">
                <a:solidFill>
                  <a:srgbClr val="E87722"/>
                </a:solidFill>
                <a:latin typeface="Hiragino Sans"/>
                <a:ea typeface="Hiragino Sans"/>
                <a:cs typeface="Hiragino Sans"/>
              </a:rPr>
              <a:t>💡 96h SLA 厳守のコツ</a:t>
            </a:r>
          </a:p>
        </p:txBody>
      </p:sp>
      <p:sp>
        <p:nvSpPr>
          <p:cNvPr id="48" name="TextBox 47"/>
          <p:cNvSpPr txBox="1"/>
          <p:nvPr/>
        </p:nvSpPr>
        <p:spPr>
          <a:xfrm>
            <a:off x="777240" y="5029200"/>
            <a:ext cx="10972800" cy="1280160"/>
          </a:xfrm>
          <a:prstGeom prst="rect">
            <a:avLst/>
          </a:prstGeom>
          <a:noFill/>
        </p:spPr>
        <p:txBody>
          <a:bodyPr wrap="square" anchor="t" lIns="0" rIns="0" tIns="0" bIns="0">
            <a:spAutoFit/>
          </a:bodyPr>
          <a:lstStyle/>
          <a:p>
            <a:pPr algn="l">
              <a:lnSpc>
                <a:spcPct val="155000"/>
              </a:lnSpc>
            </a:pPr>
            <a:r>
              <a:rPr sz="1100" b="0">
                <a:solidFill>
                  <a:srgbClr val="FFFFFF"/>
                </a:solidFill>
                <a:latin typeface="Hiragino Sans"/>
                <a:ea typeface="Hiragino Sans"/>
                <a:cs typeface="Hiragino Sans"/>
              </a:rPr>
              <a:t>• LPテンプレート化 : Tailwind + Shadcn 等で骨組みを再利用、毎回ゼロから作らない</a:t>
            </a:r>
          </a:p>
          <a:p>
            <a:pPr algn="l">
              <a:lnSpc>
                <a:spcPct val="155000"/>
              </a:lnSpc>
            </a:pPr>
            <a:r>
              <a:rPr sz="1100" b="0">
                <a:solidFill>
                  <a:srgbClr val="FFFFFF"/>
                </a:solidFill>
                <a:latin typeface="Hiragino Sans"/>
                <a:ea typeface="Hiragino Sans"/>
                <a:cs typeface="Hiragino Sans"/>
              </a:rPr>
              <a:t>• AI活用 : Claude/ChatGPT でコピー量産、Midjourney/Firefly で画像</a:t>
            </a:r>
          </a:p>
          <a:p>
            <a:pPr algn="l">
              <a:lnSpc>
                <a:spcPct val="155000"/>
              </a:lnSpc>
            </a:pPr>
            <a:r>
              <a:rPr sz="1100" b="0">
                <a:solidFill>
                  <a:srgbClr val="FFFFFF"/>
                </a:solidFill>
                <a:latin typeface="Hiragino Sans"/>
                <a:ea typeface="Hiragino Sans"/>
                <a:cs typeface="Hiragino Sans"/>
              </a:rPr>
              <a:t>• Vercel デプロイ : git push → 自動公開で工数最小</a:t>
            </a:r>
          </a:p>
          <a:p>
            <a:pPr algn="l">
              <a:lnSpc>
                <a:spcPct val="155000"/>
              </a:lnSpc>
            </a:pPr>
            <a:r>
              <a:rPr sz="1100" b="0">
                <a:solidFill>
                  <a:srgbClr val="FFFFFF"/>
                </a:solidFill>
                <a:latin typeface="Hiragino Sans"/>
                <a:ea typeface="Hiragino Sans"/>
                <a:cs typeface="Hiragino Sans"/>
              </a:rPr>
              <a:t>• Day 4 : LP仮公開 → クライアント確認 → Day 4 終わりまでに本公開</a:t>
            </a:r>
          </a:p>
          <a:p>
            <a:pPr algn="l">
              <a:lnSpc>
                <a:spcPct val="155000"/>
              </a:lnSpc>
            </a:pPr>
            <a:r>
              <a:rPr sz="1100" b="0">
                <a:solidFill>
                  <a:srgbClr val="FFFFFF"/>
                </a:solidFill>
                <a:latin typeface="Hiragino Sans"/>
                <a:ea typeface="Hiragino Sans"/>
                <a:cs typeface="Hiragino Sans"/>
              </a:rPr>
              <a:t>• Day 5 : 広告アカウント構築 + テスト配信 (少額)、Day 7 で本格配信開始</a:t>
            </a:r>
          </a:p>
        </p:txBody>
      </p:sp>
      <p:sp>
        <p:nvSpPr>
          <p:cNvPr id="49" name="TextBox 48"/>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Day 5-7 : クリエイティブ制作 (AI活用)</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AI で量産 + 媒体ネイティブ機能で拡張</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P226 / 250</a:t>
            </a:r>
          </a:p>
        </p:txBody>
      </p:sp>
      <p:sp>
        <p:nvSpPr>
          <p:cNvPr id="8" name="Rounded Rectangle 7"/>
          <p:cNvSpPr/>
          <p:nvPr/>
        </p:nvSpPr>
        <p:spPr>
          <a:xfrm>
            <a:off x="548640" y="1417320"/>
            <a:ext cx="3611880" cy="2286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3611880" cy="5029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536192"/>
            <a:ext cx="3246120" cy="274320"/>
          </a:xfrm>
          <a:prstGeom prst="rect">
            <a:avLst/>
          </a:prstGeom>
          <a:noFill/>
        </p:spPr>
        <p:txBody>
          <a:bodyPr wrap="square" anchor="t" lIns="0" rIns="0" tIns="0" bIns="0">
            <a:spAutoFit/>
          </a:bodyPr>
          <a:lstStyle/>
          <a:p>
            <a:pPr algn="ctr">
              <a:lnSpc>
                <a:spcPct val="115000"/>
              </a:lnSpc>
            </a:pPr>
            <a:r>
              <a:rPr sz="1200" b="1">
                <a:solidFill>
                  <a:srgbClr val="FFFFFF"/>
                </a:solidFill>
                <a:latin typeface="Helvetica Neue"/>
                <a:ea typeface="Helvetica Neue"/>
                <a:cs typeface="Helvetica Neue"/>
              </a:rPr>
              <a:t>Day 5</a:t>
            </a:r>
          </a:p>
        </p:txBody>
      </p:sp>
      <p:sp>
        <p:nvSpPr>
          <p:cNvPr id="11" name="TextBox 10"/>
          <p:cNvSpPr txBox="1"/>
          <p:nvPr/>
        </p:nvSpPr>
        <p:spPr>
          <a:xfrm>
            <a:off x="731520" y="2057400"/>
            <a:ext cx="3246120" cy="411480"/>
          </a:xfrm>
          <a:prstGeom prst="rect">
            <a:avLst/>
          </a:prstGeom>
          <a:noFill/>
        </p:spPr>
        <p:txBody>
          <a:bodyPr wrap="square" anchor="t" lIns="0" rIns="0" tIns="0" bIns="0">
            <a:spAutoFit/>
          </a:bodyPr>
          <a:lstStyle/>
          <a:p>
            <a:pPr algn="ctr">
              <a:lnSpc>
                <a:spcPct val="115000"/>
              </a:lnSpc>
            </a:pPr>
            <a:r>
              <a:rPr sz="1400" b="1">
                <a:solidFill>
                  <a:srgbClr val="0F2A4F"/>
                </a:solidFill>
                <a:latin typeface="Hiragino Sans"/>
                <a:ea typeface="Hiragino Sans"/>
                <a:cs typeface="Hiragino Sans"/>
              </a:rPr>
              <a:t>コピー量産</a:t>
            </a:r>
          </a:p>
        </p:txBody>
      </p:sp>
      <p:sp>
        <p:nvSpPr>
          <p:cNvPr id="12" name="TextBox 11"/>
          <p:cNvSpPr txBox="1"/>
          <p:nvPr/>
        </p:nvSpPr>
        <p:spPr>
          <a:xfrm>
            <a:off x="731520" y="2514600"/>
            <a:ext cx="3246120" cy="1143000"/>
          </a:xfrm>
          <a:prstGeom prst="rect">
            <a:avLst/>
          </a:prstGeom>
          <a:noFill/>
        </p:spPr>
        <p:txBody>
          <a:bodyPr wrap="square" anchor="t" lIns="0" rIns="0" tIns="0" bIns="0">
            <a:spAutoFit/>
          </a:bodyPr>
          <a:lstStyle/>
          <a:p>
            <a:pPr algn="ctr">
              <a:lnSpc>
                <a:spcPct val="160000"/>
              </a:lnSpc>
            </a:pPr>
            <a:r>
              <a:rPr sz="1100" b="0">
                <a:solidFill>
                  <a:srgbClr val="1A1A1A"/>
                </a:solidFill>
                <a:latin typeface="Hiragino Sans"/>
                <a:ea typeface="Hiragino Sans"/>
                <a:cs typeface="Hiragino Sans"/>
              </a:rPr>
              <a:t>ChatGPT/Claude で</a:t>
            </a:r>
          </a:p>
          <a:p>
            <a:pPr algn="ctr">
              <a:lnSpc>
                <a:spcPct val="160000"/>
              </a:lnSpc>
            </a:pPr>
            <a:r>
              <a:rPr sz="1100" b="0">
                <a:solidFill>
                  <a:srgbClr val="1A1A1A"/>
                </a:solidFill>
                <a:latin typeface="Hiragino Sans"/>
                <a:ea typeface="Hiragino Sans"/>
                <a:cs typeface="Hiragino Sans"/>
              </a:rPr>
              <a:t>見出し30案 + 説明文10案</a:t>
            </a:r>
          </a:p>
          <a:p>
            <a:pPr algn="ctr">
              <a:lnSpc>
                <a:spcPct val="160000"/>
              </a:lnSpc>
            </a:pPr>
            <a:r>
              <a:rPr sz="1100" b="0">
                <a:solidFill>
                  <a:srgbClr val="1A1A1A"/>
                </a:solidFill>
                <a:latin typeface="Hiragino Sans"/>
                <a:ea typeface="Hiragino Sans"/>
                <a:cs typeface="Hiragino Sans"/>
              </a:rPr>
              <a:t>クライアント承認</a:t>
            </a:r>
          </a:p>
        </p:txBody>
      </p:sp>
      <p:sp>
        <p:nvSpPr>
          <p:cNvPr id="13" name="Rounded Rectangle 12"/>
          <p:cNvSpPr/>
          <p:nvPr/>
        </p:nvSpPr>
        <p:spPr>
          <a:xfrm>
            <a:off x="4297680" y="1417320"/>
            <a:ext cx="3611880" cy="2286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7680" y="1417320"/>
            <a:ext cx="3611880" cy="5029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0560" y="1536192"/>
            <a:ext cx="3246120" cy="274320"/>
          </a:xfrm>
          <a:prstGeom prst="rect">
            <a:avLst/>
          </a:prstGeom>
          <a:noFill/>
        </p:spPr>
        <p:txBody>
          <a:bodyPr wrap="square" anchor="t" lIns="0" rIns="0" tIns="0" bIns="0">
            <a:spAutoFit/>
          </a:bodyPr>
          <a:lstStyle/>
          <a:p>
            <a:pPr algn="ctr">
              <a:lnSpc>
                <a:spcPct val="115000"/>
              </a:lnSpc>
            </a:pPr>
            <a:r>
              <a:rPr sz="1200" b="1">
                <a:solidFill>
                  <a:srgbClr val="FFFFFF"/>
                </a:solidFill>
                <a:latin typeface="Helvetica Neue"/>
                <a:ea typeface="Helvetica Neue"/>
                <a:cs typeface="Helvetica Neue"/>
              </a:rPr>
              <a:t>Day 6</a:t>
            </a:r>
          </a:p>
        </p:txBody>
      </p:sp>
      <p:sp>
        <p:nvSpPr>
          <p:cNvPr id="16" name="TextBox 15"/>
          <p:cNvSpPr txBox="1"/>
          <p:nvPr/>
        </p:nvSpPr>
        <p:spPr>
          <a:xfrm>
            <a:off x="4480560" y="2057400"/>
            <a:ext cx="3246120" cy="411480"/>
          </a:xfrm>
          <a:prstGeom prst="rect">
            <a:avLst/>
          </a:prstGeom>
          <a:noFill/>
        </p:spPr>
        <p:txBody>
          <a:bodyPr wrap="square" anchor="t" lIns="0" rIns="0" tIns="0" bIns="0">
            <a:spAutoFit/>
          </a:bodyPr>
          <a:lstStyle/>
          <a:p>
            <a:pPr algn="ctr">
              <a:lnSpc>
                <a:spcPct val="115000"/>
              </a:lnSpc>
            </a:pPr>
            <a:r>
              <a:rPr sz="1400" b="1">
                <a:solidFill>
                  <a:srgbClr val="0F2A4F"/>
                </a:solidFill>
                <a:latin typeface="Hiragino Sans"/>
                <a:ea typeface="Hiragino Sans"/>
                <a:cs typeface="Hiragino Sans"/>
              </a:rPr>
              <a:t>画像量産</a:t>
            </a:r>
          </a:p>
        </p:txBody>
      </p:sp>
      <p:sp>
        <p:nvSpPr>
          <p:cNvPr id="17" name="TextBox 16"/>
          <p:cNvSpPr txBox="1"/>
          <p:nvPr/>
        </p:nvSpPr>
        <p:spPr>
          <a:xfrm>
            <a:off x="4480560" y="2514600"/>
            <a:ext cx="3246120" cy="1143000"/>
          </a:xfrm>
          <a:prstGeom prst="rect">
            <a:avLst/>
          </a:prstGeom>
          <a:noFill/>
        </p:spPr>
        <p:txBody>
          <a:bodyPr wrap="square" anchor="t" lIns="0" rIns="0" tIns="0" bIns="0">
            <a:spAutoFit/>
          </a:bodyPr>
          <a:lstStyle/>
          <a:p>
            <a:pPr algn="ctr">
              <a:lnSpc>
                <a:spcPct val="160000"/>
              </a:lnSpc>
            </a:pPr>
            <a:r>
              <a:rPr sz="1100" b="0">
                <a:solidFill>
                  <a:srgbClr val="1A1A1A"/>
                </a:solidFill>
                <a:latin typeface="Hiragino Sans"/>
                <a:ea typeface="Hiragino Sans"/>
                <a:cs typeface="Hiragino Sans"/>
              </a:rPr>
              <a:t>Midjourney / Firefly で</a:t>
            </a:r>
          </a:p>
          <a:p>
            <a:pPr algn="ctr">
              <a:lnSpc>
                <a:spcPct val="160000"/>
              </a:lnSpc>
            </a:pPr>
            <a:r>
              <a:rPr sz="1100" b="0">
                <a:solidFill>
                  <a:srgbClr val="1A1A1A"/>
                </a:solidFill>
                <a:latin typeface="Hiragino Sans"/>
                <a:ea typeface="Hiragino Sans"/>
                <a:cs typeface="Hiragino Sans"/>
              </a:rPr>
              <a:t>10-15本 (バナー/正方形)</a:t>
            </a:r>
          </a:p>
          <a:p>
            <a:pPr algn="ctr">
              <a:lnSpc>
                <a:spcPct val="160000"/>
              </a:lnSpc>
            </a:pPr>
            <a:r>
              <a:rPr sz="1100" b="0">
                <a:solidFill>
                  <a:srgbClr val="1A1A1A"/>
                </a:solidFill>
                <a:latin typeface="Hiragino Sans"/>
                <a:ea typeface="Hiragino Sans"/>
                <a:cs typeface="Hiragino Sans"/>
              </a:rPr>
              <a:t>アスペクト比対応</a:t>
            </a:r>
          </a:p>
        </p:txBody>
      </p:sp>
      <p:sp>
        <p:nvSpPr>
          <p:cNvPr id="18" name="Rounded Rectangle 17"/>
          <p:cNvSpPr/>
          <p:nvPr/>
        </p:nvSpPr>
        <p:spPr>
          <a:xfrm>
            <a:off x="8046720" y="1417320"/>
            <a:ext cx="3611880" cy="2286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6720" y="1417320"/>
            <a:ext cx="3611880" cy="5029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0" y="1536192"/>
            <a:ext cx="3246120" cy="274320"/>
          </a:xfrm>
          <a:prstGeom prst="rect">
            <a:avLst/>
          </a:prstGeom>
          <a:noFill/>
        </p:spPr>
        <p:txBody>
          <a:bodyPr wrap="square" anchor="t" lIns="0" rIns="0" tIns="0" bIns="0">
            <a:spAutoFit/>
          </a:bodyPr>
          <a:lstStyle/>
          <a:p>
            <a:pPr algn="ctr">
              <a:lnSpc>
                <a:spcPct val="115000"/>
              </a:lnSpc>
            </a:pPr>
            <a:r>
              <a:rPr sz="1200" b="1">
                <a:solidFill>
                  <a:srgbClr val="FFFFFF"/>
                </a:solidFill>
                <a:latin typeface="Helvetica Neue"/>
                <a:ea typeface="Helvetica Neue"/>
                <a:cs typeface="Helvetica Neue"/>
              </a:rPr>
              <a:t>Day 7</a:t>
            </a:r>
          </a:p>
        </p:txBody>
      </p:sp>
      <p:sp>
        <p:nvSpPr>
          <p:cNvPr id="21" name="TextBox 20"/>
          <p:cNvSpPr txBox="1"/>
          <p:nvPr/>
        </p:nvSpPr>
        <p:spPr>
          <a:xfrm>
            <a:off x="8229600" y="2057400"/>
            <a:ext cx="3246120" cy="411480"/>
          </a:xfrm>
          <a:prstGeom prst="rect">
            <a:avLst/>
          </a:prstGeom>
          <a:noFill/>
        </p:spPr>
        <p:txBody>
          <a:bodyPr wrap="square" anchor="t" lIns="0" rIns="0" tIns="0" bIns="0">
            <a:spAutoFit/>
          </a:bodyPr>
          <a:lstStyle/>
          <a:p>
            <a:pPr algn="ctr">
              <a:lnSpc>
                <a:spcPct val="115000"/>
              </a:lnSpc>
            </a:pPr>
            <a:r>
              <a:rPr sz="1400" b="1">
                <a:solidFill>
                  <a:srgbClr val="0F2A4F"/>
                </a:solidFill>
                <a:latin typeface="Hiragino Sans"/>
                <a:ea typeface="Hiragino Sans"/>
                <a:cs typeface="Hiragino Sans"/>
              </a:rPr>
              <a:t>RSA / アセット投入</a:t>
            </a:r>
          </a:p>
        </p:txBody>
      </p:sp>
      <p:sp>
        <p:nvSpPr>
          <p:cNvPr id="22" name="TextBox 21"/>
          <p:cNvSpPr txBox="1"/>
          <p:nvPr/>
        </p:nvSpPr>
        <p:spPr>
          <a:xfrm>
            <a:off x="8229600" y="2514600"/>
            <a:ext cx="3246120" cy="1143000"/>
          </a:xfrm>
          <a:prstGeom prst="rect">
            <a:avLst/>
          </a:prstGeom>
          <a:noFill/>
        </p:spPr>
        <p:txBody>
          <a:bodyPr wrap="square" anchor="t" lIns="0" rIns="0" tIns="0" bIns="0">
            <a:spAutoFit/>
          </a:bodyPr>
          <a:lstStyle/>
          <a:p>
            <a:pPr algn="ctr">
              <a:lnSpc>
                <a:spcPct val="160000"/>
              </a:lnSpc>
            </a:pPr>
            <a:r>
              <a:rPr sz="1100" b="0">
                <a:solidFill>
                  <a:srgbClr val="1A1A1A"/>
                </a:solidFill>
                <a:latin typeface="Hiragino Sans"/>
                <a:ea typeface="Hiragino Sans"/>
                <a:cs typeface="Hiragino Sans"/>
              </a:rPr>
              <a:t>Google Ads RSA で</a:t>
            </a:r>
          </a:p>
          <a:p>
            <a:pPr algn="ctr">
              <a:lnSpc>
                <a:spcPct val="160000"/>
              </a:lnSpc>
            </a:pPr>
            <a:r>
              <a:rPr sz="1100" b="0">
                <a:solidFill>
                  <a:srgbClr val="1A1A1A"/>
                </a:solidFill>
                <a:latin typeface="Hiragino Sans"/>
                <a:ea typeface="Hiragino Sans"/>
                <a:cs typeface="Hiragino Sans"/>
              </a:rPr>
              <a:t>見出し15+説明4 完備</a:t>
            </a:r>
          </a:p>
          <a:p>
            <a:pPr algn="ctr">
              <a:lnSpc>
                <a:spcPct val="160000"/>
              </a:lnSpc>
            </a:pPr>
            <a:r>
              <a:rPr sz="1100" b="0">
                <a:solidFill>
                  <a:srgbClr val="1A1A1A"/>
                </a:solidFill>
                <a:latin typeface="Hiragino Sans"/>
                <a:ea typeface="Hiragino Sans"/>
                <a:cs typeface="Hiragino Sans"/>
              </a:rPr>
              <a:t>アセット6種以上</a:t>
            </a:r>
          </a:p>
        </p:txBody>
      </p:sp>
      <p:sp>
        <p:nvSpPr>
          <p:cNvPr id="23" name="Rounded Rectangle 22"/>
          <p:cNvSpPr/>
          <p:nvPr/>
        </p:nvSpPr>
        <p:spPr>
          <a:xfrm>
            <a:off x="548640" y="3931920"/>
            <a:ext cx="11109960" cy="242316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4069080"/>
            <a:ext cx="100584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 L3 でのAI活用 鉄板パターン</a:t>
            </a:r>
          </a:p>
        </p:txBody>
      </p:sp>
      <p:sp>
        <p:nvSpPr>
          <p:cNvPr id="25" name="TextBox 24"/>
          <p:cNvSpPr txBox="1"/>
          <p:nvPr/>
        </p:nvSpPr>
        <p:spPr>
          <a:xfrm>
            <a:off x="777240" y="4389120"/>
            <a:ext cx="10972800" cy="192024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 ChatGPT/Claude (US$20/月) でコピー : 1案件あたり 10分で30案</a:t>
            </a:r>
          </a:p>
          <a:p>
            <a:pPr algn="l">
              <a:lnSpc>
                <a:spcPct val="160000"/>
              </a:lnSpc>
            </a:pPr>
            <a:r>
              <a:rPr sz="1100" b="0">
                <a:solidFill>
                  <a:srgbClr val="1A1A1A"/>
                </a:solidFill>
                <a:latin typeface="Hiragino Sans"/>
                <a:ea typeface="Hiragino Sans"/>
                <a:cs typeface="Hiragino Sans"/>
              </a:rPr>
              <a:t>• Midjourney Standard ($30/月) で画像 : 1案件あたり 30分で15本</a:t>
            </a:r>
          </a:p>
          <a:p>
            <a:pPr algn="l">
              <a:lnSpc>
                <a:spcPct val="160000"/>
              </a:lnSpc>
            </a:pPr>
            <a:r>
              <a:rPr sz="1100" b="0">
                <a:solidFill>
                  <a:srgbClr val="1A1A1A"/>
                </a:solidFill>
                <a:latin typeface="Hiragino Sans"/>
                <a:ea typeface="Hiragino Sans"/>
                <a:cs typeface="Hiragino Sans"/>
              </a:rPr>
              <a:t>• 全L3案件で共通利用 → AI ツール費 = 案件あたり数百円程度に</a:t>
            </a:r>
          </a:p>
          <a:p>
            <a:pPr algn="l">
              <a:lnSpc>
                <a:spcPct val="160000"/>
              </a:lnSpc>
            </a:pPr>
            <a:r>
              <a:rPr sz="1100" b="0">
                <a:solidFill>
                  <a:srgbClr val="1A1A1A"/>
                </a:solidFill>
                <a:latin typeface="Hiragino Sans"/>
                <a:ea typeface="Hiragino Sans"/>
                <a:cs typeface="Hiragino Sans"/>
              </a:rPr>
              <a:t>• 上記で素材コスト削減分が利益率に直結 (デザイナー外注 5-10万円 → AI 数百円)</a:t>
            </a:r>
          </a:p>
          <a:p>
            <a:pPr algn="l">
              <a:lnSpc>
                <a:spcPct val="160000"/>
              </a:lnSpc>
            </a:pPr>
            <a:r>
              <a:rPr sz="1100" b="0">
                <a:solidFill>
                  <a:srgbClr val="1A1A1A"/>
                </a:solidFill>
                <a:latin typeface="Hiragino Sans"/>
                <a:ea typeface="Hiragino Sans"/>
                <a:cs typeface="Hiragino Sans"/>
              </a:rPr>
              <a:t>• Day 7 配信開始時 = 初期素材としては十分、Week 2-3 で追加投入</a:t>
            </a:r>
          </a:p>
        </p:txBody>
      </p:sp>
      <p:sp>
        <p:nvSpPr>
          <p:cNvPr id="26" name="TextBox 25"/>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Week 2 : Learning Phase</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AIを育てる8-14日 / 触らない強さ</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P227 / 250</a:t>
            </a:r>
          </a:p>
        </p:txBody>
      </p:sp>
      <p:sp>
        <p:nvSpPr>
          <p:cNvPr id="8" name="Rounded Rectangle 7"/>
          <p:cNvSpPr/>
          <p:nvPr/>
        </p:nvSpPr>
        <p:spPr>
          <a:xfrm>
            <a:off x="548640" y="1417320"/>
            <a:ext cx="2221992" cy="18288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581912"/>
            <a:ext cx="457200" cy="548640"/>
          </a:xfrm>
          <a:prstGeom prst="rect">
            <a:avLst/>
          </a:prstGeom>
          <a:noFill/>
        </p:spPr>
        <p:txBody>
          <a:bodyPr wrap="square" anchor="t" lIns="0" rIns="0" tIns="0" bIns="0">
            <a:spAutoFit/>
          </a:bodyPr>
          <a:lstStyle/>
          <a:p>
            <a:pPr algn="l">
              <a:lnSpc>
                <a:spcPct val="115000"/>
              </a:lnSpc>
            </a:pPr>
            <a:r>
              <a:rPr sz="2400" b="1">
                <a:solidFill>
                  <a:srgbClr val="E87722"/>
                </a:solidFill>
                <a:latin typeface="Helvetica Neue"/>
                <a:ea typeface="Helvetica Neue"/>
                <a:cs typeface="Helvetica Neue"/>
              </a:rPr>
              <a:t>①</a:t>
            </a:r>
          </a:p>
        </p:txBody>
      </p:sp>
      <p:sp>
        <p:nvSpPr>
          <p:cNvPr id="10" name="TextBox 9"/>
          <p:cNvSpPr txBox="1"/>
          <p:nvPr/>
        </p:nvSpPr>
        <p:spPr>
          <a:xfrm>
            <a:off x="731520" y="2194560"/>
            <a:ext cx="1856232" cy="502920"/>
          </a:xfrm>
          <a:prstGeom prst="rect">
            <a:avLst/>
          </a:prstGeom>
          <a:noFill/>
        </p:spPr>
        <p:txBody>
          <a:bodyPr wrap="square" anchor="t" lIns="0" rIns="0" tIns="0" bIns="0">
            <a:spAutoFit/>
          </a:bodyPr>
          <a:lstStyle/>
          <a:p>
            <a:pPr algn="l">
              <a:lnSpc>
                <a:spcPct val="130000"/>
              </a:lnSpc>
            </a:pPr>
            <a:r>
              <a:rPr sz="1100" b="1">
                <a:solidFill>
                  <a:srgbClr val="0F2A4F"/>
                </a:solidFill>
                <a:latin typeface="Hiragino Sans"/>
                <a:ea typeface="Hiragino Sans"/>
                <a:cs typeface="Hiragino Sans"/>
              </a:rPr>
              <a:t>予算は ±20% 以内</a:t>
            </a:r>
          </a:p>
        </p:txBody>
      </p:sp>
      <p:sp>
        <p:nvSpPr>
          <p:cNvPr id="11" name="TextBox 10"/>
          <p:cNvSpPr txBox="1"/>
          <p:nvPr/>
        </p:nvSpPr>
        <p:spPr>
          <a:xfrm>
            <a:off x="731520" y="2743200"/>
            <a:ext cx="1856232" cy="457200"/>
          </a:xfrm>
          <a:prstGeom prst="rect">
            <a:avLst/>
          </a:prstGeom>
          <a:noFill/>
        </p:spPr>
        <p:txBody>
          <a:bodyPr wrap="square" anchor="t" lIns="0" rIns="0" tIns="0" bIns="0">
            <a:spAutoFit/>
          </a:bodyPr>
          <a:lstStyle/>
          <a:p>
            <a:pPr algn="l">
              <a:lnSpc>
                <a:spcPct val="145000"/>
              </a:lnSpc>
            </a:pPr>
            <a:r>
              <a:rPr sz="1000" b="0">
                <a:solidFill>
                  <a:srgbClr val="1A1A1A"/>
                </a:solidFill>
                <a:latin typeface="Hiragino Sans"/>
                <a:ea typeface="Hiragino Sans"/>
                <a:cs typeface="Hiragino Sans"/>
              </a:rPr>
              <a:t>学習リセット回避</a:t>
            </a:r>
          </a:p>
        </p:txBody>
      </p:sp>
      <p:sp>
        <p:nvSpPr>
          <p:cNvPr id="12" name="Rounded Rectangle 11"/>
          <p:cNvSpPr/>
          <p:nvPr/>
        </p:nvSpPr>
        <p:spPr>
          <a:xfrm>
            <a:off x="2816352" y="1417320"/>
            <a:ext cx="2221992" cy="18288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99232" y="1581912"/>
            <a:ext cx="457200" cy="548640"/>
          </a:xfrm>
          <a:prstGeom prst="rect">
            <a:avLst/>
          </a:prstGeom>
          <a:noFill/>
        </p:spPr>
        <p:txBody>
          <a:bodyPr wrap="square" anchor="t" lIns="0" rIns="0" tIns="0" bIns="0">
            <a:spAutoFit/>
          </a:bodyPr>
          <a:lstStyle/>
          <a:p>
            <a:pPr algn="l">
              <a:lnSpc>
                <a:spcPct val="115000"/>
              </a:lnSpc>
            </a:pPr>
            <a:r>
              <a:rPr sz="2400" b="1">
                <a:solidFill>
                  <a:srgbClr val="E87722"/>
                </a:solidFill>
                <a:latin typeface="Helvetica Neue"/>
                <a:ea typeface="Helvetica Neue"/>
                <a:cs typeface="Helvetica Neue"/>
              </a:rPr>
              <a:t>②</a:t>
            </a:r>
          </a:p>
        </p:txBody>
      </p:sp>
      <p:sp>
        <p:nvSpPr>
          <p:cNvPr id="14" name="TextBox 13"/>
          <p:cNvSpPr txBox="1"/>
          <p:nvPr/>
        </p:nvSpPr>
        <p:spPr>
          <a:xfrm>
            <a:off x="2999232" y="2194560"/>
            <a:ext cx="1856232" cy="502920"/>
          </a:xfrm>
          <a:prstGeom prst="rect">
            <a:avLst/>
          </a:prstGeom>
          <a:noFill/>
        </p:spPr>
        <p:txBody>
          <a:bodyPr wrap="square" anchor="t" lIns="0" rIns="0" tIns="0" bIns="0">
            <a:spAutoFit/>
          </a:bodyPr>
          <a:lstStyle/>
          <a:p>
            <a:pPr algn="l">
              <a:lnSpc>
                <a:spcPct val="130000"/>
              </a:lnSpc>
            </a:pPr>
            <a:r>
              <a:rPr sz="1100" b="1">
                <a:solidFill>
                  <a:srgbClr val="0F2A4F"/>
                </a:solidFill>
                <a:latin typeface="Hiragino Sans"/>
                <a:ea typeface="Hiragino Sans"/>
                <a:cs typeface="Hiragino Sans"/>
              </a:rPr>
              <a:t>目標CPA も ±20% 以内</a:t>
            </a:r>
          </a:p>
        </p:txBody>
      </p:sp>
      <p:sp>
        <p:nvSpPr>
          <p:cNvPr id="15" name="TextBox 14"/>
          <p:cNvSpPr txBox="1"/>
          <p:nvPr/>
        </p:nvSpPr>
        <p:spPr>
          <a:xfrm>
            <a:off x="2999232" y="2743200"/>
            <a:ext cx="1856232" cy="457200"/>
          </a:xfrm>
          <a:prstGeom prst="rect">
            <a:avLst/>
          </a:prstGeom>
          <a:noFill/>
        </p:spPr>
        <p:txBody>
          <a:bodyPr wrap="square" anchor="t" lIns="0" rIns="0" tIns="0" bIns="0">
            <a:spAutoFit/>
          </a:bodyPr>
          <a:lstStyle/>
          <a:p>
            <a:pPr algn="l">
              <a:lnSpc>
                <a:spcPct val="145000"/>
              </a:lnSpc>
            </a:pPr>
            <a:r>
              <a:rPr sz="1000" b="0">
                <a:solidFill>
                  <a:srgbClr val="1A1A1A"/>
                </a:solidFill>
                <a:latin typeface="Hiragino Sans"/>
                <a:ea typeface="Hiragino Sans"/>
                <a:cs typeface="Hiragino Sans"/>
              </a:rPr>
              <a:t>極端な値変更NG</a:t>
            </a:r>
          </a:p>
        </p:txBody>
      </p:sp>
      <p:sp>
        <p:nvSpPr>
          <p:cNvPr id="16" name="Rounded Rectangle 15"/>
          <p:cNvSpPr/>
          <p:nvPr/>
        </p:nvSpPr>
        <p:spPr>
          <a:xfrm>
            <a:off x="5084064" y="1417320"/>
            <a:ext cx="2221992" cy="18288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66944" y="1581912"/>
            <a:ext cx="457200" cy="548640"/>
          </a:xfrm>
          <a:prstGeom prst="rect">
            <a:avLst/>
          </a:prstGeom>
          <a:noFill/>
        </p:spPr>
        <p:txBody>
          <a:bodyPr wrap="square" anchor="t" lIns="0" rIns="0" tIns="0" bIns="0">
            <a:spAutoFit/>
          </a:bodyPr>
          <a:lstStyle/>
          <a:p>
            <a:pPr algn="l">
              <a:lnSpc>
                <a:spcPct val="115000"/>
              </a:lnSpc>
            </a:pPr>
            <a:r>
              <a:rPr sz="2400" b="1">
                <a:solidFill>
                  <a:srgbClr val="E87722"/>
                </a:solidFill>
                <a:latin typeface="Helvetica Neue"/>
                <a:ea typeface="Helvetica Neue"/>
                <a:cs typeface="Helvetica Neue"/>
              </a:rPr>
              <a:t>③</a:t>
            </a:r>
          </a:p>
        </p:txBody>
      </p:sp>
      <p:sp>
        <p:nvSpPr>
          <p:cNvPr id="18" name="TextBox 17"/>
          <p:cNvSpPr txBox="1"/>
          <p:nvPr/>
        </p:nvSpPr>
        <p:spPr>
          <a:xfrm>
            <a:off x="5266944" y="2194560"/>
            <a:ext cx="1856232" cy="502920"/>
          </a:xfrm>
          <a:prstGeom prst="rect">
            <a:avLst/>
          </a:prstGeom>
          <a:noFill/>
        </p:spPr>
        <p:txBody>
          <a:bodyPr wrap="square" anchor="t" lIns="0" rIns="0" tIns="0" bIns="0">
            <a:spAutoFit/>
          </a:bodyPr>
          <a:lstStyle/>
          <a:p>
            <a:pPr algn="l">
              <a:lnSpc>
                <a:spcPct val="130000"/>
              </a:lnSpc>
            </a:pPr>
            <a:r>
              <a:rPr sz="1100" b="1">
                <a:solidFill>
                  <a:srgbClr val="0F2A4F"/>
                </a:solidFill>
                <a:latin typeface="Hiragino Sans"/>
                <a:ea typeface="Hiragino Sans"/>
                <a:cs typeface="Hiragino Sans"/>
              </a:rPr>
              <a:t>アセット追加は週1回</a:t>
            </a:r>
          </a:p>
        </p:txBody>
      </p:sp>
      <p:sp>
        <p:nvSpPr>
          <p:cNvPr id="19" name="TextBox 18"/>
          <p:cNvSpPr txBox="1"/>
          <p:nvPr/>
        </p:nvSpPr>
        <p:spPr>
          <a:xfrm>
            <a:off x="5266944" y="2743200"/>
            <a:ext cx="1856232" cy="457200"/>
          </a:xfrm>
          <a:prstGeom prst="rect">
            <a:avLst/>
          </a:prstGeom>
          <a:noFill/>
        </p:spPr>
        <p:txBody>
          <a:bodyPr wrap="square" anchor="t" lIns="0" rIns="0" tIns="0" bIns="0">
            <a:spAutoFit/>
          </a:bodyPr>
          <a:lstStyle/>
          <a:p>
            <a:pPr algn="l">
              <a:lnSpc>
                <a:spcPct val="145000"/>
              </a:lnSpc>
            </a:pPr>
            <a:r>
              <a:rPr sz="1000" b="0">
                <a:solidFill>
                  <a:srgbClr val="1A1A1A"/>
                </a:solidFill>
                <a:latin typeface="Hiragino Sans"/>
                <a:ea typeface="Hiragino Sans"/>
                <a:cs typeface="Hiragino Sans"/>
              </a:rPr>
              <a:t>頻繁な変更で学習弱体</a:t>
            </a:r>
          </a:p>
        </p:txBody>
      </p:sp>
      <p:sp>
        <p:nvSpPr>
          <p:cNvPr id="20" name="Rounded Rectangle 19"/>
          <p:cNvSpPr/>
          <p:nvPr/>
        </p:nvSpPr>
        <p:spPr>
          <a:xfrm>
            <a:off x="7351776" y="1417320"/>
            <a:ext cx="2221992" cy="18288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34656" y="1581912"/>
            <a:ext cx="457200" cy="548640"/>
          </a:xfrm>
          <a:prstGeom prst="rect">
            <a:avLst/>
          </a:prstGeom>
          <a:noFill/>
        </p:spPr>
        <p:txBody>
          <a:bodyPr wrap="square" anchor="t" lIns="0" rIns="0" tIns="0" bIns="0">
            <a:spAutoFit/>
          </a:bodyPr>
          <a:lstStyle/>
          <a:p>
            <a:pPr algn="l">
              <a:lnSpc>
                <a:spcPct val="115000"/>
              </a:lnSpc>
            </a:pPr>
            <a:r>
              <a:rPr sz="2400" b="1">
                <a:solidFill>
                  <a:srgbClr val="E87722"/>
                </a:solidFill>
                <a:latin typeface="Helvetica Neue"/>
                <a:ea typeface="Helvetica Neue"/>
                <a:cs typeface="Helvetica Neue"/>
              </a:rPr>
              <a:t>④</a:t>
            </a:r>
          </a:p>
        </p:txBody>
      </p:sp>
      <p:sp>
        <p:nvSpPr>
          <p:cNvPr id="22" name="TextBox 21"/>
          <p:cNvSpPr txBox="1"/>
          <p:nvPr/>
        </p:nvSpPr>
        <p:spPr>
          <a:xfrm>
            <a:off x="7534656" y="2194560"/>
            <a:ext cx="1856232" cy="502920"/>
          </a:xfrm>
          <a:prstGeom prst="rect">
            <a:avLst/>
          </a:prstGeom>
          <a:noFill/>
        </p:spPr>
        <p:txBody>
          <a:bodyPr wrap="square" anchor="t" lIns="0" rIns="0" tIns="0" bIns="0">
            <a:spAutoFit/>
          </a:bodyPr>
          <a:lstStyle/>
          <a:p>
            <a:pPr algn="l">
              <a:lnSpc>
                <a:spcPct val="130000"/>
              </a:lnSpc>
            </a:pPr>
            <a:r>
              <a:rPr sz="1100" b="1">
                <a:solidFill>
                  <a:srgbClr val="0F2A4F"/>
                </a:solidFill>
                <a:latin typeface="Hiragino Sans"/>
                <a:ea typeface="Hiragino Sans"/>
                <a:cs typeface="Hiragino Sans"/>
              </a:rPr>
              <a:t>Negative KW は週末に</a:t>
            </a:r>
          </a:p>
        </p:txBody>
      </p:sp>
      <p:sp>
        <p:nvSpPr>
          <p:cNvPr id="23" name="TextBox 22"/>
          <p:cNvSpPr txBox="1"/>
          <p:nvPr/>
        </p:nvSpPr>
        <p:spPr>
          <a:xfrm>
            <a:off x="7534656" y="2743200"/>
            <a:ext cx="1856232" cy="457200"/>
          </a:xfrm>
          <a:prstGeom prst="rect">
            <a:avLst/>
          </a:prstGeom>
          <a:noFill/>
        </p:spPr>
        <p:txBody>
          <a:bodyPr wrap="square" anchor="t" lIns="0" rIns="0" tIns="0" bIns="0">
            <a:spAutoFit/>
          </a:bodyPr>
          <a:lstStyle/>
          <a:p>
            <a:pPr algn="l">
              <a:lnSpc>
                <a:spcPct val="145000"/>
              </a:lnSpc>
            </a:pPr>
            <a:r>
              <a:rPr sz="1000" b="0">
                <a:solidFill>
                  <a:srgbClr val="1A1A1A"/>
                </a:solidFill>
                <a:latin typeface="Hiragino Sans"/>
                <a:ea typeface="Hiragino Sans"/>
                <a:cs typeface="Hiragino Sans"/>
              </a:rPr>
              <a:t>Search Termsで判断</a:t>
            </a:r>
          </a:p>
        </p:txBody>
      </p:sp>
      <p:sp>
        <p:nvSpPr>
          <p:cNvPr id="24" name="Rounded Rectangle 23"/>
          <p:cNvSpPr/>
          <p:nvPr/>
        </p:nvSpPr>
        <p:spPr>
          <a:xfrm>
            <a:off x="9619488" y="1417320"/>
            <a:ext cx="2221992" cy="18288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02368" y="1581912"/>
            <a:ext cx="457200" cy="548640"/>
          </a:xfrm>
          <a:prstGeom prst="rect">
            <a:avLst/>
          </a:prstGeom>
          <a:noFill/>
        </p:spPr>
        <p:txBody>
          <a:bodyPr wrap="square" anchor="t" lIns="0" rIns="0" tIns="0" bIns="0">
            <a:spAutoFit/>
          </a:bodyPr>
          <a:lstStyle/>
          <a:p>
            <a:pPr algn="l">
              <a:lnSpc>
                <a:spcPct val="115000"/>
              </a:lnSpc>
            </a:pPr>
            <a:r>
              <a:rPr sz="2400" b="1">
                <a:solidFill>
                  <a:srgbClr val="E87722"/>
                </a:solidFill>
                <a:latin typeface="Helvetica Neue"/>
                <a:ea typeface="Helvetica Neue"/>
                <a:cs typeface="Helvetica Neue"/>
              </a:rPr>
              <a:t>⑤</a:t>
            </a:r>
          </a:p>
        </p:txBody>
      </p:sp>
      <p:sp>
        <p:nvSpPr>
          <p:cNvPr id="26" name="TextBox 25"/>
          <p:cNvSpPr txBox="1"/>
          <p:nvPr/>
        </p:nvSpPr>
        <p:spPr>
          <a:xfrm>
            <a:off x="9802368" y="2194560"/>
            <a:ext cx="1856232" cy="502920"/>
          </a:xfrm>
          <a:prstGeom prst="rect">
            <a:avLst/>
          </a:prstGeom>
          <a:noFill/>
        </p:spPr>
        <p:txBody>
          <a:bodyPr wrap="square" anchor="t" lIns="0" rIns="0" tIns="0" bIns="0">
            <a:spAutoFit/>
          </a:bodyPr>
          <a:lstStyle/>
          <a:p>
            <a:pPr algn="l">
              <a:lnSpc>
                <a:spcPct val="130000"/>
              </a:lnSpc>
            </a:pPr>
            <a:r>
              <a:rPr sz="1100" b="1">
                <a:solidFill>
                  <a:srgbClr val="0F2A4F"/>
                </a:solidFill>
                <a:latin typeface="Hiragino Sans"/>
                <a:ea typeface="Hiragino Sans"/>
                <a:cs typeface="Hiragino Sans"/>
              </a:rPr>
              <a:t>クライアント連絡は週次</a:t>
            </a:r>
          </a:p>
        </p:txBody>
      </p:sp>
      <p:sp>
        <p:nvSpPr>
          <p:cNvPr id="27" name="TextBox 26"/>
          <p:cNvSpPr txBox="1"/>
          <p:nvPr/>
        </p:nvSpPr>
        <p:spPr>
          <a:xfrm>
            <a:off x="9802368" y="2743200"/>
            <a:ext cx="1856232" cy="457200"/>
          </a:xfrm>
          <a:prstGeom prst="rect">
            <a:avLst/>
          </a:prstGeom>
          <a:noFill/>
        </p:spPr>
        <p:txBody>
          <a:bodyPr wrap="square" anchor="t" lIns="0" rIns="0" tIns="0" bIns="0">
            <a:spAutoFit/>
          </a:bodyPr>
          <a:lstStyle/>
          <a:p>
            <a:pPr algn="l">
              <a:lnSpc>
                <a:spcPct val="145000"/>
              </a:lnSpc>
            </a:pPr>
            <a:r>
              <a:rPr sz="1000" b="0">
                <a:solidFill>
                  <a:srgbClr val="1A1A1A"/>
                </a:solidFill>
                <a:latin typeface="Hiragino Sans"/>
                <a:ea typeface="Hiragino Sans"/>
                <a:cs typeface="Hiragino Sans"/>
              </a:rPr>
              <a:t>日次の数字反応はNG</a:t>
            </a:r>
          </a:p>
        </p:txBody>
      </p:sp>
      <p:sp>
        <p:nvSpPr>
          <p:cNvPr id="28" name="Rounded Rectangle 27"/>
          <p:cNvSpPr/>
          <p:nvPr/>
        </p:nvSpPr>
        <p:spPr>
          <a:xfrm>
            <a:off x="548640" y="3520440"/>
            <a:ext cx="11109960" cy="283464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3657600"/>
            <a:ext cx="10058400" cy="320040"/>
          </a:xfrm>
          <a:prstGeom prst="rect">
            <a:avLst/>
          </a:prstGeom>
          <a:noFill/>
        </p:spPr>
        <p:txBody>
          <a:bodyPr wrap="square" anchor="t" lIns="0" rIns="0" tIns="0" bIns="0">
            <a:spAutoFit/>
          </a:bodyPr>
          <a:lstStyle/>
          <a:p>
            <a:pPr algn="l">
              <a:lnSpc>
                <a:spcPct val="115000"/>
              </a:lnSpc>
            </a:pPr>
            <a:r>
              <a:rPr sz="1200" b="1">
                <a:solidFill>
                  <a:srgbClr val="E87722"/>
                </a:solidFill>
                <a:latin typeface="Hiragino Sans"/>
                <a:ea typeface="Hiragino Sans"/>
                <a:cs typeface="Hiragino Sans"/>
              </a:rPr>
              <a:t>📋 Week 2 の日次チェック項目 (5分以内)</a:t>
            </a:r>
          </a:p>
        </p:txBody>
      </p:sp>
      <p:sp>
        <p:nvSpPr>
          <p:cNvPr id="30" name="TextBox 29"/>
          <p:cNvSpPr txBox="1"/>
          <p:nvPr/>
        </p:nvSpPr>
        <p:spPr>
          <a:xfrm>
            <a:off x="777240" y="4023360"/>
            <a:ext cx="10972800" cy="2240280"/>
          </a:xfrm>
          <a:prstGeom prst="rect">
            <a:avLst/>
          </a:prstGeom>
          <a:noFill/>
        </p:spPr>
        <p:txBody>
          <a:bodyPr wrap="square" anchor="t" lIns="0" rIns="0" tIns="0" bIns="0">
            <a:spAutoFit/>
          </a:bodyPr>
          <a:lstStyle/>
          <a:p>
            <a:pPr algn="l">
              <a:lnSpc>
                <a:spcPct val="165000"/>
              </a:lnSpc>
            </a:pPr>
            <a:r>
              <a:rPr sz="1100" b="0">
                <a:solidFill>
                  <a:srgbClr val="FFFFFF"/>
                </a:solidFill>
                <a:latin typeface="Hiragino Sans"/>
                <a:ea typeface="Hiragino Sans"/>
                <a:cs typeface="Hiragino Sans"/>
              </a:rPr>
              <a:t>✓ 予算消化率 (適正範囲か / 異常な急減・急増ないか)</a:t>
            </a:r>
          </a:p>
          <a:p>
            <a:pPr algn="l">
              <a:lnSpc>
                <a:spcPct val="165000"/>
              </a:lnSpc>
            </a:pPr>
            <a:r>
              <a:rPr sz="1100" b="0">
                <a:solidFill>
                  <a:srgbClr val="FFFFFF"/>
                </a:solidFill>
                <a:latin typeface="Hiragino Sans"/>
                <a:ea typeface="Hiragino Sans"/>
                <a:cs typeface="Hiragino Sans"/>
              </a:rPr>
              <a:t>✓ CV発生数 (週末に30件以上の見込みか)</a:t>
            </a:r>
          </a:p>
          <a:p>
            <a:pPr algn="l">
              <a:lnSpc>
                <a:spcPct val="165000"/>
              </a:lnSpc>
            </a:pPr>
            <a:r>
              <a:rPr sz="1100" b="0">
                <a:solidFill>
                  <a:srgbClr val="FFFFFF"/>
                </a:solidFill>
                <a:latin typeface="Hiragino Sans"/>
                <a:ea typeface="Hiragino Sans"/>
                <a:cs typeface="Hiragino Sans"/>
              </a:rPr>
              <a:t>✓ Optiscore (大きく下がっていないか)</a:t>
            </a:r>
          </a:p>
          <a:p>
            <a:pPr algn="l">
              <a:lnSpc>
                <a:spcPct val="165000"/>
              </a:lnSpc>
            </a:pPr>
            <a:r>
              <a:rPr sz="1100" b="0">
                <a:solidFill>
                  <a:srgbClr val="FFFFFF"/>
                </a:solidFill>
                <a:latin typeface="Hiragino Sans"/>
                <a:ea typeface="Hiragino Sans"/>
                <a:cs typeface="Hiragino Sans"/>
              </a:rPr>
              <a:t>✓ Search Terms (明らかに無駄な大量クエリないか)</a:t>
            </a:r>
          </a:p>
          <a:p>
            <a:pPr algn="l">
              <a:lnSpc>
                <a:spcPct val="165000"/>
              </a:lnSpc>
            </a:pPr>
            <a:r>
              <a:rPr sz="1100" b="0">
                <a:solidFill>
                  <a:srgbClr val="FFFFFF"/>
                </a:solidFill>
                <a:latin typeface="Hiragino Sans"/>
                <a:ea typeface="Hiragino Sans"/>
                <a:cs typeface="Hiragino Sans"/>
              </a:rPr>
              <a:t>✓ Pixel/Tag 発火 (突然停止していないか)</a:t>
            </a:r>
          </a:p>
          <a:p>
            <a:pPr algn="l">
              <a:lnSpc>
                <a:spcPct val="165000"/>
              </a:lnSpc>
            </a:pPr>
            <a:r>
              <a:rPr sz="1100" b="0">
                <a:solidFill>
                  <a:srgbClr val="FFFFFF"/>
                </a:solidFill>
                <a:latin typeface="Hiragino Sans"/>
                <a:ea typeface="Hiragino Sans"/>
                <a:cs typeface="Hiragino Sans"/>
              </a:rPr>
              <a:t>✓ 配信制限/エラー (Disapprovedな広告ないか)</a:t>
            </a:r>
          </a:p>
          <a:p>
            <a:pPr algn="l">
              <a:lnSpc>
                <a:spcPct val="165000"/>
              </a:lnSpc>
            </a:pPr>
            <a:r>
              <a:rPr sz="1100" b="0">
                <a:solidFill>
                  <a:srgbClr val="FFFFFF"/>
                </a:solidFill>
                <a:latin typeface="Hiragino Sans"/>
                <a:ea typeface="Hiragino Sans"/>
                <a:cs typeface="Hiragino Sans"/>
              </a:rPr>
              <a:t/>
            </a:r>
          </a:p>
          <a:p>
            <a:pPr algn="l">
              <a:lnSpc>
                <a:spcPct val="165000"/>
              </a:lnSpc>
            </a:pPr>
            <a:r>
              <a:rPr sz="1100" b="0">
                <a:solidFill>
                  <a:srgbClr val="FFFFFF"/>
                </a:solidFill>
                <a:latin typeface="Hiragino Sans"/>
                <a:ea typeface="Hiragino Sans"/>
                <a:cs typeface="Hiragino Sans"/>
              </a:rPr>
              <a:t>💡 異常がなければ何もしない (=正解)。Week 3で本格的な最適化を行う</a:t>
            </a:r>
          </a:p>
        </p:txBody>
      </p:sp>
      <p:sp>
        <p:nvSpPr>
          <p:cNvPr id="31" name="TextBox 30"/>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Week 3 : 検証 + 最適化</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Lift Test + Negative KW + クリエイティブ入替</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P228 / 250</a:t>
            </a:r>
          </a:p>
        </p:txBody>
      </p:sp>
      <p:sp>
        <p:nvSpPr>
          <p:cNvPr id="8" name="Rounded Rectangle 7"/>
          <p:cNvSpPr/>
          <p:nvPr/>
        </p:nvSpPr>
        <p:spPr>
          <a:xfrm>
            <a:off x="548640" y="1417320"/>
            <a:ext cx="2697480" cy="24688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269748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581912"/>
            <a:ext cx="2331720" cy="411480"/>
          </a:xfrm>
          <a:prstGeom prst="rect">
            <a:avLst/>
          </a:prstGeom>
          <a:noFill/>
        </p:spPr>
        <p:txBody>
          <a:bodyPr wrap="square" anchor="t" lIns="0" rIns="0" tIns="0" bIns="0">
            <a:spAutoFit/>
          </a:bodyPr>
          <a:lstStyle/>
          <a:p>
            <a:pPr algn="ctr">
              <a:lnSpc>
                <a:spcPct val="120000"/>
              </a:lnSpc>
            </a:pPr>
            <a:r>
              <a:rPr sz="1300" b="1">
                <a:solidFill>
                  <a:srgbClr val="FFFFFF"/>
                </a:solidFill>
                <a:latin typeface="Hiragino Sans"/>
                <a:ea typeface="Hiragino Sans"/>
                <a:cs typeface="Hiragino Sans"/>
              </a:rPr>
              <a:t>Lift Test 申請</a:t>
            </a:r>
          </a:p>
        </p:txBody>
      </p:sp>
      <p:sp>
        <p:nvSpPr>
          <p:cNvPr id="11" name="TextBox 10"/>
          <p:cNvSpPr txBox="1"/>
          <p:nvPr/>
        </p:nvSpPr>
        <p:spPr>
          <a:xfrm>
            <a:off x="731520" y="1965960"/>
            <a:ext cx="233172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媒体内 (Google/Meta)</a:t>
            </a:r>
          </a:p>
        </p:txBody>
      </p:sp>
      <p:sp>
        <p:nvSpPr>
          <p:cNvPr id="12" name="TextBox 11"/>
          <p:cNvSpPr txBox="1"/>
          <p:nvPr/>
        </p:nvSpPr>
        <p:spPr>
          <a:xfrm>
            <a:off x="731520" y="2423160"/>
            <a:ext cx="2331720" cy="1417320"/>
          </a:xfrm>
          <a:prstGeom prst="rect">
            <a:avLst/>
          </a:prstGeom>
          <a:noFill/>
        </p:spPr>
        <p:txBody>
          <a:bodyPr wrap="square" anchor="t" lIns="0" rIns="0" tIns="0" bIns="0">
            <a:spAutoFit/>
          </a:bodyPr>
          <a:lstStyle/>
          <a:p>
            <a:pPr algn="ctr">
              <a:lnSpc>
                <a:spcPct val="160000"/>
              </a:lnSpc>
            </a:pPr>
            <a:r>
              <a:rPr sz="1100" b="0">
                <a:solidFill>
                  <a:srgbClr val="1A1A1A"/>
                </a:solidFill>
                <a:latin typeface="Hiragino Sans"/>
                <a:ea typeface="Hiragino Sans"/>
                <a:cs typeface="Hiragino Sans"/>
              </a:rPr>
              <a:t>Conversion Lift で</a:t>
            </a:r>
          </a:p>
          <a:p>
            <a:pPr algn="ctr">
              <a:lnSpc>
                <a:spcPct val="160000"/>
              </a:lnSpc>
            </a:pPr>
            <a:r>
              <a:rPr sz="1100" b="0">
                <a:solidFill>
                  <a:srgbClr val="1A1A1A"/>
                </a:solidFill>
                <a:latin typeface="Hiragino Sans"/>
                <a:ea typeface="Hiragino Sans"/>
                <a:cs typeface="Hiragino Sans"/>
              </a:rPr>
              <a:t>Incremental ROAS 測定</a:t>
            </a:r>
          </a:p>
          <a:p>
            <a:pPr algn="ctr">
              <a:lnSpc>
                <a:spcPct val="160000"/>
              </a:lnSpc>
            </a:pPr>
            <a:r>
              <a:rPr sz="1100" b="0">
                <a:solidFill>
                  <a:srgbClr val="1A1A1A"/>
                </a:solidFill>
                <a:latin typeface="Hiragino Sans"/>
                <a:ea typeface="Hiragino Sans"/>
                <a:cs typeface="Hiragino Sans"/>
              </a:rPr>
              <a:t>申請後2週間で結果</a:t>
            </a:r>
          </a:p>
        </p:txBody>
      </p:sp>
      <p:sp>
        <p:nvSpPr>
          <p:cNvPr id="13" name="Rounded Rectangle 12"/>
          <p:cNvSpPr/>
          <p:nvPr/>
        </p:nvSpPr>
        <p:spPr>
          <a:xfrm>
            <a:off x="3337560" y="1417320"/>
            <a:ext cx="2697480" cy="24688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37560" y="1417320"/>
            <a:ext cx="269748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20440" y="1581912"/>
            <a:ext cx="2331720" cy="411480"/>
          </a:xfrm>
          <a:prstGeom prst="rect">
            <a:avLst/>
          </a:prstGeom>
          <a:noFill/>
        </p:spPr>
        <p:txBody>
          <a:bodyPr wrap="square" anchor="t" lIns="0" rIns="0" tIns="0" bIns="0">
            <a:spAutoFit/>
          </a:bodyPr>
          <a:lstStyle/>
          <a:p>
            <a:pPr algn="ctr">
              <a:lnSpc>
                <a:spcPct val="120000"/>
              </a:lnSpc>
            </a:pPr>
            <a:r>
              <a:rPr sz="1300" b="1">
                <a:solidFill>
                  <a:srgbClr val="FFFFFF"/>
                </a:solidFill>
                <a:latin typeface="Hiragino Sans"/>
                <a:ea typeface="Hiragino Sans"/>
                <a:cs typeface="Hiragino Sans"/>
              </a:rPr>
              <a:t>Search Terms 分析</a:t>
            </a:r>
          </a:p>
        </p:txBody>
      </p:sp>
      <p:sp>
        <p:nvSpPr>
          <p:cNvPr id="16" name="TextBox 15"/>
          <p:cNvSpPr txBox="1"/>
          <p:nvPr/>
        </p:nvSpPr>
        <p:spPr>
          <a:xfrm>
            <a:off x="3520440" y="1965960"/>
            <a:ext cx="233172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AI で無駄クエリ抽出</a:t>
            </a:r>
          </a:p>
        </p:txBody>
      </p:sp>
      <p:sp>
        <p:nvSpPr>
          <p:cNvPr id="17" name="TextBox 16"/>
          <p:cNvSpPr txBox="1"/>
          <p:nvPr/>
        </p:nvSpPr>
        <p:spPr>
          <a:xfrm>
            <a:off x="3520440" y="2423160"/>
            <a:ext cx="2331720" cy="1417320"/>
          </a:xfrm>
          <a:prstGeom prst="rect">
            <a:avLst/>
          </a:prstGeom>
          <a:noFill/>
        </p:spPr>
        <p:txBody>
          <a:bodyPr wrap="square" anchor="t" lIns="0" rIns="0" tIns="0" bIns="0">
            <a:spAutoFit/>
          </a:bodyPr>
          <a:lstStyle/>
          <a:p>
            <a:pPr algn="ctr">
              <a:lnSpc>
                <a:spcPct val="160000"/>
              </a:lnSpc>
            </a:pPr>
            <a:r>
              <a:rPr sz="1100" b="0">
                <a:solidFill>
                  <a:srgbClr val="1A1A1A"/>
                </a:solidFill>
                <a:latin typeface="Hiragino Sans"/>
                <a:ea typeface="Hiragino Sans"/>
                <a:cs typeface="Hiragino Sans"/>
              </a:rPr>
              <a:t>Claude/ChatGPT に</a:t>
            </a:r>
          </a:p>
          <a:p>
            <a:pPr algn="ctr">
              <a:lnSpc>
                <a:spcPct val="160000"/>
              </a:lnSpc>
            </a:pPr>
            <a:r>
              <a:rPr sz="1100" b="0">
                <a:solidFill>
                  <a:srgbClr val="1A1A1A"/>
                </a:solidFill>
                <a:latin typeface="Hiragino Sans"/>
                <a:ea typeface="Hiragino Sans"/>
                <a:cs typeface="Hiragino Sans"/>
              </a:rPr>
              <a:t>Reportを貼って分析</a:t>
            </a:r>
          </a:p>
          <a:p>
            <a:pPr algn="ctr">
              <a:lnSpc>
                <a:spcPct val="160000"/>
              </a:lnSpc>
            </a:pPr>
            <a:r>
              <a:rPr sz="1100" b="0">
                <a:solidFill>
                  <a:srgbClr val="1A1A1A"/>
                </a:solidFill>
                <a:latin typeface="Hiragino Sans"/>
                <a:ea typeface="Hiragino Sans"/>
                <a:cs typeface="Hiragino Sans"/>
              </a:rPr>
              <a:t>Negative KW 10-30件追加</a:t>
            </a:r>
          </a:p>
        </p:txBody>
      </p:sp>
      <p:sp>
        <p:nvSpPr>
          <p:cNvPr id="18" name="Rounded Rectangle 17"/>
          <p:cNvSpPr/>
          <p:nvPr/>
        </p:nvSpPr>
        <p:spPr>
          <a:xfrm>
            <a:off x="6126480" y="1417320"/>
            <a:ext cx="2697480" cy="24688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0" y="1417320"/>
            <a:ext cx="269748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1581912"/>
            <a:ext cx="2331720" cy="411480"/>
          </a:xfrm>
          <a:prstGeom prst="rect">
            <a:avLst/>
          </a:prstGeom>
          <a:noFill/>
        </p:spPr>
        <p:txBody>
          <a:bodyPr wrap="square" anchor="t" lIns="0" rIns="0" tIns="0" bIns="0">
            <a:spAutoFit/>
          </a:bodyPr>
          <a:lstStyle/>
          <a:p>
            <a:pPr algn="ctr">
              <a:lnSpc>
                <a:spcPct val="120000"/>
              </a:lnSpc>
            </a:pPr>
            <a:r>
              <a:rPr sz="1300" b="1">
                <a:solidFill>
                  <a:srgbClr val="FFFFFF"/>
                </a:solidFill>
                <a:latin typeface="Hiragino Sans"/>
                <a:ea typeface="Hiragino Sans"/>
                <a:cs typeface="Hiragino Sans"/>
              </a:rPr>
              <a:t>クリエイティブ Best/Low</a:t>
            </a:r>
          </a:p>
        </p:txBody>
      </p:sp>
      <p:sp>
        <p:nvSpPr>
          <p:cNvPr id="21" name="TextBox 20"/>
          <p:cNvSpPr txBox="1"/>
          <p:nvPr/>
        </p:nvSpPr>
        <p:spPr>
          <a:xfrm>
            <a:off x="6309360" y="1965960"/>
            <a:ext cx="233172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アセット入替</a:t>
            </a:r>
          </a:p>
        </p:txBody>
      </p:sp>
      <p:sp>
        <p:nvSpPr>
          <p:cNvPr id="22" name="TextBox 21"/>
          <p:cNvSpPr txBox="1"/>
          <p:nvPr/>
        </p:nvSpPr>
        <p:spPr>
          <a:xfrm>
            <a:off x="6309360" y="2423160"/>
            <a:ext cx="2331720" cy="1417320"/>
          </a:xfrm>
          <a:prstGeom prst="rect">
            <a:avLst/>
          </a:prstGeom>
          <a:noFill/>
        </p:spPr>
        <p:txBody>
          <a:bodyPr wrap="square" anchor="t" lIns="0" rIns="0" tIns="0" bIns="0">
            <a:spAutoFit/>
          </a:bodyPr>
          <a:lstStyle/>
          <a:p>
            <a:pPr algn="ctr">
              <a:lnSpc>
                <a:spcPct val="160000"/>
              </a:lnSpc>
            </a:pPr>
            <a:r>
              <a:rPr sz="1100" b="0">
                <a:solidFill>
                  <a:srgbClr val="1A1A1A"/>
                </a:solidFill>
                <a:latin typeface="Hiragino Sans"/>
                <a:ea typeface="Hiragino Sans"/>
                <a:cs typeface="Hiragino Sans"/>
              </a:rPr>
              <a:t>Best 5本 → 強化版</a:t>
            </a:r>
          </a:p>
          <a:p>
            <a:pPr algn="ctr">
              <a:lnSpc>
                <a:spcPct val="160000"/>
              </a:lnSpc>
            </a:pPr>
            <a:r>
              <a:rPr sz="1100" b="0">
                <a:solidFill>
                  <a:srgbClr val="1A1A1A"/>
                </a:solidFill>
                <a:latin typeface="Hiragino Sans"/>
                <a:ea typeface="Hiragino Sans"/>
                <a:cs typeface="Hiragino Sans"/>
              </a:rPr>
              <a:t>Low 5本 → 削除</a:t>
            </a:r>
          </a:p>
          <a:p>
            <a:pPr algn="ctr">
              <a:lnSpc>
                <a:spcPct val="160000"/>
              </a:lnSpc>
            </a:pPr>
            <a:r>
              <a:rPr sz="1100" b="0">
                <a:solidFill>
                  <a:srgbClr val="1A1A1A"/>
                </a:solidFill>
                <a:latin typeface="Hiragino Sans"/>
                <a:ea typeface="Hiragino Sans"/>
                <a:cs typeface="Hiragino Sans"/>
              </a:rPr>
              <a:t>新規 3-5本 追加</a:t>
            </a:r>
          </a:p>
        </p:txBody>
      </p:sp>
      <p:sp>
        <p:nvSpPr>
          <p:cNvPr id="23" name="Rounded Rectangle 22"/>
          <p:cNvSpPr/>
          <p:nvPr/>
        </p:nvSpPr>
        <p:spPr>
          <a:xfrm>
            <a:off x="8915400" y="1417320"/>
            <a:ext cx="2697480" cy="24688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15400" y="1417320"/>
            <a:ext cx="2697480" cy="7772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98280" y="1581912"/>
            <a:ext cx="2331720" cy="411480"/>
          </a:xfrm>
          <a:prstGeom prst="rect">
            <a:avLst/>
          </a:prstGeom>
          <a:noFill/>
        </p:spPr>
        <p:txBody>
          <a:bodyPr wrap="square" anchor="t" lIns="0" rIns="0" tIns="0" bIns="0">
            <a:spAutoFit/>
          </a:bodyPr>
          <a:lstStyle/>
          <a:p>
            <a:pPr algn="ctr">
              <a:lnSpc>
                <a:spcPct val="120000"/>
              </a:lnSpc>
            </a:pPr>
            <a:r>
              <a:rPr sz="1300" b="1">
                <a:solidFill>
                  <a:srgbClr val="FFFFFF"/>
                </a:solidFill>
                <a:latin typeface="Hiragino Sans"/>
                <a:ea typeface="Hiragino Sans"/>
                <a:cs typeface="Hiragino Sans"/>
              </a:rPr>
              <a:t>Optiscore 適用</a:t>
            </a:r>
          </a:p>
        </p:txBody>
      </p:sp>
      <p:sp>
        <p:nvSpPr>
          <p:cNvPr id="26" name="TextBox 25"/>
          <p:cNvSpPr txBox="1"/>
          <p:nvPr/>
        </p:nvSpPr>
        <p:spPr>
          <a:xfrm>
            <a:off x="9098280" y="1965960"/>
            <a:ext cx="2331720" cy="274320"/>
          </a:xfrm>
          <a:prstGeom prst="rect">
            <a:avLst/>
          </a:prstGeom>
          <a:noFill/>
        </p:spPr>
        <p:txBody>
          <a:bodyPr wrap="square" anchor="t" lIns="0" rIns="0" tIns="0" bIns="0">
            <a:spAutoFit/>
          </a:bodyPr>
          <a:lstStyle/>
          <a:p>
            <a:pPr algn="ctr">
              <a:lnSpc>
                <a:spcPct val="115000"/>
              </a:lnSpc>
            </a:pPr>
            <a:r>
              <a:rPr sz="1000" b="0">
                <a:solidFill>
                  <a:srgbClr val="FFFFFF"/>
                </a:solidFill>
                <a:latin typeface="Hiragino Sans"/>
                <a:ea typeface="Hiragino Sans"/>
                <a:cs typeface="Hiragino Sans"/>
              </a:rPr>
              <a:t>計測系から優先</a:t>
            </a:r>
          </a:p>
        </p:txBody>
      </p:sp>
      <p:sp>
        <p:nvSpPr>
          <p:cNvPr id="27" name="TextBox 26"/>
          <p:cNvSpPr txBox="1"/>
          <p:nvPr/>
        </p:nvSpPr>
        <p:spPr>
          <a:xfrm>
            <a:off x="9098280" y="2423160"/>
            <a:ext cx="2331720" cy="1417320"/>
          </a:xfrm>
          <a:prstGeom prst="rect">
            <a:avLst/>
          </a:prstGeom>
          <a:noFill/>
        </p:spPr>
        <p:txBody>
          <a:bodyPr wrap="square" anchor="t" lIns="0" rIns="0" tIns="0" bIns="0">
            <a:spAutoFit/>
          </a:bodyPr>
          <a:lstStyle/>
          <a:p>
            <a:pPr algn="ctr">
              <a:lnSpc>
                <a:spcPct val="160000"/>
              </a:lnSpc>
            </a:pPr>
            <a:r>
              <a:rPr sz="1100" b="0">
                <a:solidFill>
                  <a:srgbClr val="1A1A1A"/>
                </a:solidFill>
                <a:latin typeface="Hiragino Sans"/>
                <a:ea typeface="Hiragino Sans"/>
                <a:cs typeface="Hiragino Sans"/>
              </a:rPr>
              <a:t>Enhanced Conv / DDA等</a:t>
            </a:r>
          </a:p>
          <a:p>
            <a:pPr algn="ctr">
              <a:lnSpc>
                <a:spcPct val="160000"/>
              </a:lnSpc>
            </a:pPr>
            <a:r>
              <a:rPr sz="1100" b="0">
                <a:solidFill>
                  <a:srgbClr val="1A1A1A"/>
                </a:solidFill>
                <a:latin typeface="Hiragino Sans"/>
                <a:ea typeface="Hiragino Sans"/>
                <a:cs typeface="Hiragino Sans"/>
              </a:rPr>
              <a:t>の提案を適用</a:t>
            </a:r>
          </a:p>
          <a:p>
            <a:pPr algn="ctr">
              <a:lnSpc>
                <a:spcPct val="160000"/>
              </a:lnSpc>
            </a:pPr>
            <a:r>
              <a:rPr sz="1100" b="0">
                <a:solidFill>
                  <a:srgbClr val="1A1A1A"/>
                </a:solidFill>
                <a:latin typeface="Hiragino Sans"/>
                <a:ea typeface="Hiragino Sans"/>
                <a:cs typeface="Hiragino Sans"/>
              </a:rPr>
              <a:t>予算系は慎重</a:t>
            </a:r>
          </a:p>
        </p:txBody>
      </p:sp>
      <p:sp>
        <p:nvSpPr>
          <p:cNvPr id="28" name="Rounded Rectangle 27"/>
          <p:cNvSpPr/>
          <p:nvPr/>
        </p:nvSpPr>
        <p:spPr>
          <a:xfrm>
            <a:off x="548640" y="4069080"/>
            <a:ext cx="11109960" cy="228600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4206240"/>
            <a:ext cx="100584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 Week 3 の優先順位</a:t>
            </a:r>
          </a:p>
        </p:txBody>
      </p:sp>
      <p:sp>
        <p:nvSpPr>
          <p:cNvPr id="30" name="TextBox 29"/>
          <p:cNvSpPr txBox="1"/>
          <p:nvPr/>
        </p:nvSpPr>
        <p:spPr>
          <a:xfrm>
            <a:off x="777240" y="4526280"/>
            <a:ext cx="10972800" cy="178308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1. 計測精度向上 = Enhanced Conversions / Consent Mode v2 が未実装なら即適用</a:t>
            </a:r>
          </a:p>
          <a:p>
            <a:pPr algn="l">
              <a:lnSpc>
                <a:spcPct val="160000"/>
              </a:lnSpc>
            </a:pPr>
            <a:r>
              <a:rPr sz="1100" b="0">
                <a:solidFill>
                  <a:srgbClr val="1A1A1A"/>
                </a:solidFill>
                <a:latin typeface="Hiragino Sans"/>
                <a:ea typeface="Hiragino Sans"/>
                <a:cs typeface="Hiragino Sans"/>
              </a:rPr>
              <a:t>2. 無駄削減 = Negative KW 一気に追加 (CV0クエリ + 関連性低クエリ)</a:t>
            </a:r>
          </a:p>
          <a:p>
            <a:pPr algn="l">
              <a:lnSpc>
                <a:spcPct val="160000"/>
              </a:lnSpc>
            </a:pPr>
            <a:r>
              <a:rPr sz="1100" b="0">
                <a:solidFill>
                  <a:srgbClr val="1A1A1A"/>
                </a:solidFill>
                <a:latin typeface="Hiragino Sans"/>
                <a:ea typeface="Hiragino Sans"/>
                <a:cs typeface="Hiragino Sans"/>
              </a:rPr>
              <a:t>3. クリエイティブ強化 = Best パターンの強化版 + 新規訴求軸</a:t>
            </a:r>
          </a:p>
          <a:p>
            <a:pPr algn="l">
              <a:lnSpc>
                <a:spcPct val="160000"/>
              </a:lnSpc>
            </a:pPr>
            <a:r>
              <a:rPr sz="1100" b="0">
                <a:solidFill>
                  <a:srgbClr val="1A1A1A"/>
                </a:solidFill>
                <a:latin typeface="Hiragino Sans"/>
                <a:ea typeface="Hiragino Sans"/>
                <a:cs typeface="Hiragino Sans"/>
              </a:rPr>
              <a:t>4. Lift Test 申請 = Week 4 の月次レポートに『Incremental ROAS』を載せるため</a:t>
            </a:r>
          </a:p>
          <a:p>
            <a:pPr algn="l">
              <a:lnSpc>
                <a:spcPct val="160000"/>
              </a:lnSpc>
            </a:pPr>
            <a:r>
              <a:rPr sz="1100" b="0">
                <a:solidFill>
                  <a:srgbClr val="1A1A1A"/>
                </a:solidFill>
                <a:latin typeface="Hiragino Sans"/>
                <a:ea typeface="Hiragino Sans"/>
                <a:cs typeface="Hiragino Sans"/>
              </a:rPr>
              <a:t>5. 予算配分見直し = 媒体別ROIで微調整 (大きな変更は来月)</a:t>
            </a:r>
          </a:p>
        </p:txBody>
      </p:sp>
      <p:sp>
        <p:nvSpPr>
          <p:cNvPr id="31" name="TextBox 30"/>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Week 4 : レポート + 継続提案</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L3 → L1/L2 へのアップセル</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P229 / 250</a:t>
            </a:r>
          </a:p>
        </p:txBody>
      </p:sp>
      <p:sp>
        <p:nvSpPr>
          <p:cNvPr id="8" name="Rounded Rectangle 7"/>
          <p:cNvSpPr/>
          <p:nvPr/>
        </p:nvSpPr>
        <p:spPr>
          <a:xfrm>
            <a:off x="548640" y="1417320"/>
            <a:ext cx="3611880" cy="24688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361188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581912"/>
            <a:ext cx="3246120" cy="411480"/>
          </a:xfrm>
          <a:prstGeom prst="rect">
            <a:avLst/>
          </a:prstGeom>
          <a:noFill/>
        </p:spPr>
        <p:txBody>
          <a:bodyPr wrap="square" anchor="t" lIns="0" rIns="0" tIns="0" bIns="0">
            <a:spAutoFit/>
          </a:bodyPr>
          <a:lstStyle/>
          <a:p>
            <a:pPr algn="l">
              <a:lnSpc>
                <a:spcPct val="115000"/>
              </a:lnSpc>
            </a:pPr>
            <a:r>
              <a:rPr sz="1500" b="1">
                <a:solidFill>
                  <a:srgbClr val="E87722"/>
                </a:solidFill>
                <a:latin typeface="Hiragino Sans"/>
                <a:ea typeface="Hiragino Sans"/>
                <a:cs typeface="Hiragino Sans"/>
              </a:rPr>
              <a:t>月次レポート</a:t>
            </a:r>
          </a:p>
        </p:txBody>
      </p:sp>
      <p:sp>
        <p:nvSpPr>
          <p:cNvPr id="11" name="TextBox 10"/>
          <p:cNvSpPr txBox="1"/>
          <p:nvPr/>
        </p:nvSpPr>
        <p:spPr>
          <a:xfrm>
            <a:off x="777240" y="1965960"/>
            <a:ext cx="3246120" cy="274320"/>
          </a:xfrm>
          <a:prstGeom prst="rect">
            <a:avLst/>
          </a:prstGeom>
          <a:noFill/>
        </p:spPr>
        <p:txBody>
          <a:bodyPr wrap="square" anchor="t" lIns="0" rIns="0" tIns="0" bIns="0">
            <a:spAutoFit/>
          </a:bodyPr>
          <a:lstStyle/>
          <a:p>
            <a:pPr algn="l">
              <a:lnSpc>
                <a:spcPct val="115000"/>
              </a:lnSpc>
            </a:pPr>
            <a:r>
              <a:rPr sz="1000" b="0">
                <a:solidFill>
                  <a:srgbClr val="FFFFFF"/>
                </a:solidFill>
                <a:latin typeface="Hiragino Sans"/>
                <a:ea typeface="Hiragino Sans"/>
                <a:cs typeface="Hiragino Sans"/>
              </a:rPr>
              <a:t>標準フォーマット</a:t>
            </a:r>
          </a:p>
        </p:txBody>
      </p:sp>
      <p:sp>
        <p:nvSpPr>
          <p:cNvPr id="12" name="TextBox 11"/>
          <p:cNvSpPr txBox="1"/>
          <p:nvPr/>
        </p:nvSpPr>
        <p:spPr>
          <a:xfrm>
            <a:off x="777240" y="2423160"/>
            <a:ext cx="3246120" cy="1417320"/>
          </a:xfrm>
          <a:prstGeom prst="rect">
            <a:avLst/>
          </a:prstGeom>
          <a:noFill/>
        </p:spPr>
        <p:txBody>
          <a:bodyPr wrap="square" anchor="t" lIns="0" rIns="0" tIns="0" bIns="0">
            <a:spAutoFit/>
          </a:bodyPr>
          <a:lstStyle/>
          <a:p>
            <a:pPr algn="l">
              <a:lnSpc>
                <a:spcPct val="165000"/>
              </a:lnSpc>
            </a:pPr>
            <a:r>
              <a:rPr sz="1100" b="0">
                <a:solidFill>
                  <a:srgbClr val="1A1A1A"/>
                </a:solidFill>
                <a:latin typeface="Hiragino Sans"/>
                <a:ea typeface="Hiragino Sans"/>
                <a:cs typeface="Hiragino Sans"/>
              </a:rPr>
              <a:t>・KGI/KPI ダッシュボード</a:t>
            </a:r>
          </a:p>
          <a:p>
            <a:pPr algn="l">
              <a:lnSpc>
                <a:spcPct val="165000"/>
              </a:lnSpc>
            </a:pPr>
            <a:r>
              <a:rPr sz="1100" b="0">
                <a:solidFill>
                  <a:srgbClr val="1A1A1A"/>
                </a:solidFill>
                <a:latin typeface="Hiragino Sans"/>
                <a:ea typeface="Hiragino Sans"/>
                <a:cs typeface="Hiragino Sans"/>
              </a:rPr>
              <a:t>・媒体別パフォーマンス</a:t>
            </a:r>
          </a:p>
          <a:p>
            <a:pPr algn="l">
              <a:lnSpc>
                <a:spcPct val="165000"/>
              </a:lnSpc>
            </a:pPr>
            <a:r>
              <a:rPr sz="1100" b="0">
                <a:solidFill>
                  <a:srgbClr val="1A1A1A"/>
                </a:solidFill>
                <a:latin typeface="Hiragino Sans"/>
                <a:ea typeface="Hiragino Sans"/>
                <a:cs typeface="Hiragino Sans"/>
              </a:rPr>
              <a:t>・Lift Test 結果</a:t>
            </a:r>
          </a:p>
          <a:p>
            <a:pPr algn="l">
              <a:lnSpc>
                <a:spcPct val="165000"/>
              </a:lnSpc>
            </a:pPr>
            <a:r>
              <a:rPr sz="1100" b="0">
                <a:solidFill>
                  <a:srgbClr val="1A1A1A"/>
                </a:solidFill>
                <a:latin typeface="Hiragino Sans"/>
                <a:ea typeface="Hiragino Sans"/>
                <a:cs typeface="Hiragino Sans"/>
              </a:rPr>
              <a:t>・来月予算配分提案</a:t>
            </a:r>
          </a:p>
        </p:txBody>
      </p:sp>
      <p:sp>
        <p:nvSpPr>
          <p:cNvPr id="13" name="Rounded Rectangle 12"/>
          <p:cNvSpPr/>
          <p:nvPr/>
        </p:nvSpPr>
        <p:spPr>
          <a:xfrm>
            <a:off x="4297680" y="1417320"/>
            <a:ext cx="3611880" cy="24688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7680" y="1417320"/>
            <a:ext cx="361188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26280" y="1581912"/>
            <a:ext cx="3246120" cy="411480"/>
          </a:xfrm>
          <a:prstGeom prst="rect">
            <a:avLst/>
          </a:prstGeom>
          <a:noFill/>
        </p:spPr>
        <p:txBody>
          <a:bodyPr wrap="square" anchor="t" lIns="0" rIns="0" tIns="0" bIns="0">
            <a:spAutoFit/>
          </a:bodyPr>
          <a:lstStyle/>
          <a:p>
            <a:pPr algn="l">
              <a:lnSpc>
                <a:spcPct val="115000"/>
              </a:lnSpc>
            </a:pPr>
            <a:r>
              <a:rPr sz="1500" b="1">
                <a:solidFill>
                  <a:srgbClr val="E87722"/>
                </a:solidFill>
                <a:latin typeface="Hiragino Sans"/>
                <a:ea typeface="Hiragino Sans"/>
                <a:cs typeface="Hiragino Sans"/>
              </a:rPr>
              <a:t>継続契約提案</a:t>
            </a:r>
          </a:p>
        </p:txBody>
      </p:sp>
      <p:sp>
        <p:nvSpPr>
          <p:cNvPr id="16" name="TextBox 15"/>
          <p:cNvSpPr txBox="1"/>
          <p:nvPr/>
        </p:nvSpPr>
        <p:spPr>
          <a:xfrm>
            <a:off x="4526280" y="1965960"/>
            <a:ext cx="3246120" cy="274320"/>
          </a:xfrm>
          <a:prstGeom prst="rect">
            <a:avLst/>
          </a:prstGeom>
          <a:noFill/>
        </p:spPr>
        <p:txBody>
          <a:bodyPr wrap="square" anchor="t" lIns="0" rIns="0" tIns="0" bIns="0">
            <a:spAutoFit/>
          </a:bodyPr>
          <a:lstStyle/>
          <a:p>
            <a:pPr algn="l">
              <a:lnSpc>
                <a:spcPct val="115000"/>
              </a:lnSpc>
            </a:pPr>
            <a:r>
              <a:rPr sz="1000" b="0">
                <a:solidFill>
                  <a:srgbClr val="FFFFFF"/>
                </a:solidFill>
                <a:latin typeface="Hiragino Sans"/>
                <a:ea typeface="Hiragino Sans"/>
                <a:cs typeface="Hiragino Sans"/>
              </a:rPr>
              <a:t>L3 → 継続運用へ</a:t>
            </a:r>
          </a:p>
        </p:txBody>
      </p:sp>
      <p:sp>
        <p:nvSpPr>
          <p:cNvPr id="17" name="TextBox 16"/>
          <p:cNvSpPr txBox="1"/>
          <p:nvPr/>
        </p:nvSpPr>
        <p:spPr>
          <a:xfrm>
            <a:off x="4526280" y="2423160"/>
            <a:ext cx="3246120" cy="1417320"/>
          </a:xfrm>
          <a:prstGeom prst="rect">
            <a:avLst/>
          </a:prstGeom>
          <a:noFill/>
        </p:spPr>
        <p:txBody>
          <a:bodyPr wrap="square" anchor="t" lIns="0" rIns="0" tIns="0" bIns="0">
            <a:spAutoFit/>
          </a:bodyPr>
          <a:lstStyle/>
          <a:p>
            <a:pPr algn="l">
              <a:lnSpc>
                <a:spcPct val="165000"/>
              </a:lnSpc>
            </a:pPr>
            <a:r>
              <a:rPr sz="1100" b="0">
                <a:solidFill>
                  <a:srgbClr val="1A1A1A"/>
                </a:solidFill>
                <a:latin typeface="Hiragino Sans"/>
                <a:ea typeface="Hiragino Sans"/>
                <a:cs typeface="Hiragino Sans"/>
              </a:rPr>
              <a:t>・初月実績の数字根拠</a:t>
            </a:r>
          </a:p>
          <a:p>
            <a:pPr algn="l">
              <a:lnSpc>
                <a:spcPct val="165000"/>
              </a:lnSpc>
            </a:pPr>
            <a:r>
              <a:rPr sz="1100" b="0">
                <a:solidFill>
                  <a:srgbClr val="1A1A1A"/>
                </a:solidFill>
                <a:latin typeface="Hiragino Sans"/>
                <a:ea typeface="Hiragino Sans"/>
                <a:cs typeface="Hiragino Sans"/>
              </a:rPr>
              <a:t>・3ヶ月運用での見込み数字</a:t>
            </a:r>
          </a:p>
          <a:p>
            <a:pPr algn="l">
              <a:lnSpc>
                <a:spcPct val="165000"/>
              </a:lnSpc>
            </a:pPr>
            <a:r>
              <a:rPr sz="1100" b="0">
                <a:solidFill>
                  <a:srgbClr val="1A1A1A"/>
                </a:solidFill>
                <a:latin typeface="Hiragino Sans"/>
                <a:ea typeface="Hiragino Sans"/>
                <a:cs typeface="Hiragino Sans"/>
              </a:rPr>
              <a:t>・継続料金 (例: 月5万円〜)</a:t>
            </a:r>
          </a:p>
          <a:p>
            <a:pPr algn="l">
              <a:lnSpc>
                <a:spcPct val="165000"/>
              </a:lnSpc>
            </a:pPr>
            <a:r>
              <a:rPr sz="1100" b="0">
                <a:solidFill>
                  <a:srgbClr val="1A1A1A"/>
                </a:solidFill>
                <a:latin typeface="Hiragino Sans"/>
                <a:ea typeface="Hiragino Sans"/>
                <a:cs typeface="Hiragino Sans"/>
              </a:rPr>
              <a:t>・契約条件 (3ヶ月ミニマム)</a:t>
            </a:r>
          </a:p>
        </p:txBody>
      </p:sp>
      <p:sp>
        <p:nvSpPr>
          <p:cNvPr id="18" name="Rounded Rectangle 17"/>
          <p:cNvSpPr/>
          <p:nvPr/>
        </p:nvSpPr>
        <p:spPr>
          <a:xfrm>
            <a:off x="8046720" y="1417320"/>
            <a:ext cx="3611880" cy="24688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6720" y="1417320"/>
            <a:ext cx="361188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1581912"/>
            <a:ext cx="3246120" cy="411480"/>
          </a:xfrm>
          <a:prstGeom prst="rect">
            <a:avLst/>
          </a:prstGeom>
          <a:noFill/>
        </p:spPr>
        <p:txBody>
          <a:bodyPr wrap="square" anchor="t" lIns="0" rIns="0" tIns="0" bIns="0">
            <a:spAutoFit/>
          </a:bodyPr>
          <a:lstStyle/>
          <a:p>
            <a:pPr algn="l">
              <a:lnSpc>
                <a:spcPct val="115000"/>
              </a:lnSpc>
            </a:pPr>
            <a:r>
              <a:rPr sz="1500" b="1">
                <a:solidFill>
                  <a:srgbClr val="E87722"/>
                </a:solidFill>
                <a:latin typeface="Hiragino Sans"/>
                <a:ea typeface="Hiragino Sans"/>
                <a:cs typeface="Hiragino Sans"/>
              </a:rPr>
              <a:t>アップセル提案</a:t>
            </a:r>
          </a:p>
        </p:txBody>
      </p:sp>
      <p:sp>
        <p:nvSpPr>
          <p:cNvPr id="21" name="TextBox 20"/>
          <p:cNvSpPr txBox="1"/>
          <p:nvPr/>
        </p:nvSpPr>
        <p:spPr>
          <a:xfrm>
            <a:off x="8275320" y="1965960"/>
            <a:ext cx="3246120" cy="274320"/>
          </a:xfrm>
          <a:prstGeom prst="rect">
            <a:avLst/>
          </a:prstGeom>
          <a:noFill/>
        </p:spPr>
        <p:txBody>
          <a:bodyPr wrap="square" anchor="t" lIns="0" rIns="0" tIns="0" bIns="0">
            <a:spAutoFit/>
          </a:bodyPr>
          <a:lstStyle/>
          <a:p>
            <a:pPr algn="l">
              <a:lnSpc>
                <a:spcPct val="115000"/>
              </a:lnSpc>
            </a:pPr>
            <a:r>
              <a:rPr sz="1000" b="0">
                <a:solidFill>
                  <a:srgbClr val="FFFFFF"/>
                </a:solidFill>
                <a:latin typeface="Hiragino Sans"/>
                <a:ea typeface="Hiragino Sans"/>
                <a:cs typeface="Hiragino Sans"/>
              </a:rPr>
              <a:t>L1 / L2 / 追加サービス</a:t>
            </a:r>
          </a:p>
        </p:txBody>
      </p:sp>
      <p:sp>
        <p:nvSpPr>
          <p:cNvPr id="22" name="TextBox 21"/>
          <p:cNvSpPr txBox="1"/>
          <p:nvPr/>
        </p:nvSpPr>
        <p:spPr>
          <a:xfrm>
            <a:off x="8275320" y="2423160"/>
            <a:ext cx="3246120" cy="1417320"/>
          </a:xfrm>
          <a:prstGeom prst="rect">
            <a:avLst/>
          </a:prstGeom>
          <a:noFill/>
        </p:spPr>
        <p:txBody>
          <a:bodyPr wrap="square" anchor="t" lIns="0" rIns="0" tIns="0" bIns="0">
            <a:spAutoFit/>
          </a:bodyPr>
          <a:lstStyle/>
          <a:p>
            <a:pPr algn="l">
              <a:lnSpc>
                <a:spcPct val="165000"/>
              </a:lnSpc>
            </a:pPr>
            <a:r>
              <a:rPr sz="1100" b="0">
                <a:solidFill>
                  <a:srgbClr val="1A1A1A"/>
                </a:solidFill>
                <a:latin typeface="Hiragino Sans"/>
                <a:ea typeface="Hiragino Sans"/>
                <a:cs typeface="Hiragino Sans"/>
              </a:rPr>
              <a:t>・追加LP制作 (L1)</a:t>
            </a:r>
          </a:p>
          <a:p>
            <a:pPr algn="l">
              <a:lnSpc>
                <a:spcPct val="165000"/>
              </a:lnSpc>
            </a:pPr>
            <a:r>
              <a:rPr sz="1100" b="0">
                <a:solidFill>
                  <a:srgbClr val="1A1A1A"/>
                </a:solidFill>
                <a:latin typeface="Hiragino Sans"/>
                <a:ea typeface="Hiragino Sans"/>
                <a:cs typeface="Hiragino Sans"/>
              </a:rPr>
              <a:t>・複数ページサイト (L2)</a:t>
            </a:r>
          </a:p>
          <a:p>
            <a:pPr algn="l">
              <a:lnSpc>
                <a:spcPct val="165000"/>
              </a:lnSpc>
            </a:pPr>
            <a:r>
              <a:rPr sz="1100" b="0">
                <a:solidFill>
                  <a:srgbClr val="1A1A1A"/>
                </a:solidFill>
                <a:latin typeface="Hiragino Sans"/>
                <a:ea typeface="Hiragino Sans"/>
                <a:cs typeface="Hiragino Sans"/>
              </a:rPr>
              <a:t>・SNS運用 / SEO対策</a:t>
            </a:r>
          </a:p>
          <a:p>
            <a:pPr algn="l">
              <a:lnSpc>
                <a:spcPct val="165000"/>
              </a:lnSpc>
            </a:pPr>
            <a:r>
              <a:rPr sz="1100" b="0">
                <a:solidFill>
                  <a:srgbClr val="1A1A1A"/>
                </a:solidFill>
                <a:latin typeface="Hiragino Sans"/>
                <a:ea typeface="Hiragino Sans"/>
                <a:cs typeface="Hiragino Sans"/>
              </a:rPr>
              <a:t>・MMM等の高単価サービス</a:t>
            </a:r>
          </a:p>
        </p:txBody>
      </p:sp>
      <p:sp>
        <p:nvSpPr>
          <p:cNvPr id="23" name="Rounded Rectangle 22"/>
          <p:cNvSpPr/>
          <p:nvPr/>
        </p:nvSpPr>
        <p:spPr>
          <a:xfrm>
            <a:off x="548640" y="4069080"/>
            <a:ext cx="11109960" cy="228600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4206240"/>
            <a:ext cx="100584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 L3 受注 → 継続率を上げる工夫</a:t>
            </a:r>
          </a:p>
        </p:txBody>
      </p:sp>
      <p:sp>
        <p:nvSpPr>
          <p:cNvPr id="25" name="TextBox 24"/>
          <p:cNvSpPr txBox="1"/>
          <p:nvPr/>
        </p:nvSpPr>
        <p:spPr>
          <a:xfrm>
            <a:off x="777240" y="4526280"/>
            <a:ext cx="10972800" cy="1783080"/>
          </a:xfrm>
          <a:prstGeom prst="rect">
            <a:avLst/>
          </a:prstGeom>
          <a:noFill/>
        </p:spPr>
        <p:txBody>
          <a:bodyPr wrap="square" anchor="t" lIns="0" rIns="0" tIns="0" bIns="0">
            <a:spAutoFit/>
          </a:bodyPr>
          <a:lstStyle/>
          <a:p>
            <a:pPr algn="l">
              <a:lnSpc>
                <a:spcPct val="160000"/>
              </a:lnSpc>
            </a:pPr>
            <a:r>
              <a:rPr sz="1100" b="0">
                <a:solidFill>
                  <a:srgbClr val="1A1A1A"/>
                </a:solidFill>
                <a:latin typeface="Hiragino Sans"/>
                <a:ea typeface="Hiragino Sans"/>
                <a:cs typeface="Hiragino Sans"/>
              </a:rPr>
              <a:t>• 月次レポートで『Incremental ROAS』を必ず提示 (Lift Test結果)</a:t>
            </a:r>
          </a:p>
          <a:p>
            <a:pPr algn="l">
              <a:lnSpc>
                <a:spcPct val="160000"/>
              </a:lnSpc>
            </a:pPr>
            <a:r>
              <a:rPr sz="1100" b="0">
                <a:solidFill>
                  <a:srgbClr val="1A1A1A"/>
                </a:solidFill>
                <a:latin typeface="Hiragino Sans"/>
                <a:ea typeface="Hiragino Sans"/>
                <a:cs typeface="Hiragino Sans"/>
              </a:rPr>
              <a:t>• 来月の具体アクション3つ + 期待数字を明示 (継続したくなる動機)</a:t>
            </a:r>
          </a:p>
          <a:p>
            <a:pPr algn="l">
              <a:lnSpc>
                <a:spcPct val="160000"/>
              </a:lnSpc>
            </a:pPr>
            <a:r>
              <a:rPr sz="1100" b="0">
                <a:solidFill>
                  <a:srgbClr val="1A1A1A"/>
                </a:solidFill>
                <a:latin typeface="Hiragino Sans"/>
                <a:ea typeface="Hiragino Sans"/>
                <a:cs typeface="Hiragino Sans"/>
              </a:rPr>
              <a:t>• L3 (10万) → 継続 (月5-7万) で ARPU 確保 + 安定収益化</a:t>
            </a:r>
          </a:p>
          <a:p>
            <a:pPr algn="l">
              <a:lnSpc>
                <a:spcPct val="160000"/>
              </a:lnSpc>
            </a:pPr>
            <a:r>
              <a:rPr sz="1100" b="0">
                <a:solidFill>
                  <a:srgbClr val="1A1A1A"/>
                </a:solidFill>
                <a:latin typeface="Hiragino Sans"/>
                <a:ea typeface="Hiragino Sans"/>
                <a:cs typeface="Hiragino Sans"/>
              </a:rPr>
              <a:t>• 高単価アップセル = MMM / Brand Lift / 専門ツール導入 等の差別化要素</a:t>
            </a:r>
          </a:p>
          <a:p>
            <a:pPr algn="l">
              <a:lnSpc>
                <a:spcPct val="160000"/>
              </a:lnSpc>
            </a:pPr>
            <a:r>
              <a:rPr sz="1100" b="0">
                <a:solidFill>
                  <a:srgbClr val="1A1A1A"/>
                </a:solidFill>
                <a:latin typeface="Hiragino Sans"/>
                <a:ea typeface="Hiragino Sans"/>
                <a:cs typeface="Hiragino Sans"/>
              </a:rPr>
              <a:t>• 副業代行で月10案件継続 = 月50-70万円の安定収益基盤</a:t>
            </a:r>
          </a:p>
        </p:txBody>
      </p:sp>
      <p:sp>
        <p:nvSpPr>
          <p:cNvPr id="26" name="TextBox 25"/>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L3 価格・工数のリアル + 詰まりポイント集</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副業代行で『L3 あるある』を防ぐ + Part 8 へ</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P230 / 250</a:t>
            </a:r>
          </a:p>
        </p:txBody>
      </p:sp>
      <p:sp>
        <p:nvSpPr>
          <p:cNvPr id="8" name="Rounded Rectangle 7"/>
          <p:cNvSpPr/>
          <p:nvPr/>
        </p:nvSpPr>
        <p:spPr>
          <a:xfrm>
            <a:off x="548640" y="1371600"/>
            <a:ext cx="5440680" cy="237744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463040"/>
            <a:ext cx="502920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 L3 1案件のコスト+利益試算</a:t>
            </a:r>
          </a:p>
        </p:txBody>
      </p:sp>
      <p:sp>
        <p:nvSpPr>
          <p:cNvPr id="10" name="TextBox 9"/>
          <p:cNvSpPr txBox="1"/>
          <p:nvPr/>
        </p:nvSpPr>
        <p:spPr>
          <a:xfrm>
            <a:off x="777240" y="1783080"/>
            <a:ext cx="5029200" cy="1920240"/>
          </a:xfrm>
          <a:prstGeom prst="rect">
            <a:avLst/>
          </a:prstGeom>
          <a:noFill/>
        </p:spPr>
        <p:txBody>
          <a:bodyPr wrap="square" anchor="t" lIns="0" rIns="0" tIns="0" bIns="0">
            <a:spAutoFit/>
          </a:bodyPr>
          <a:lstStyle/>
          <a:p>
            <a:pPr algn="l">
              <a:lnSpc>
                <a:spcPct val="140000"/>
              </a:lnSpc>
            </a:pPr>
            <a:r>
              <a:rPr sz="1000" b="0">
                <a:solidFill>
                  <a:srgbClr val="FFFFFF"/>
                </a:solidFill>
                <a:latin typeface="Hiragino Sans"/>
                <a:ea typeface="Hiragino Sans"/>
                <a:cs typeface="Hiragino Sans"/>
              </a:rPr>
              <a:t>■ 売上 : 10万円 (L3 商品)</a:t>
            </a:r>
          </a:p>
          <a:p>
            <a:pPr algn="l">
              <a:lnSpc>
                <a:spcPct val="140000"/>
              </a:lnSpc>
            </a:pPr>
            <a:r>
              <a:rPr sz="1000" b="0">
                <a:solidFill>
                  <a:srgbClr val="FFFFFF"/>
                </a:solidFill>
                <a:latin typeface="Hiragino Sans"/>
                <a:ea typeface="Hiragino Sans"/>
                <a:cs typeface="Hiragino Sans"/>
              </a:rPr>
              <a:t>■ コスト :</a:t>
            </a:r>
          </a:p>
          <a:p>
            <a:pPr algn="l">
              <a:lnSpc>
                <a:spcPct val="140000"/>
              </a:lnSpc>
            </a:pPr>
            <a:r>
              <a:rPr sz="1000" b="0">
                <a:solidFill>
                  <a:srgbClr val="FFFFFF"/>
                </a:solidFill>
                <a:latin typeface="Hiragino Sans"/>
                <a:ea typeface="Hiragino Sans"/>
                <a:cs typeface="Hiragino Sans"/>
              </a:rPr>
              <a:t>  ・AIツール : 約1,000円</a:t>
            </a:r>
          </a:p>
          <a:p>
            <a:pPr algn="l">
              <a:lnSpc>
                <a:spcPct val="140000"/>
              </a:lnSpc>
            </a:pPr>
            <a:r>
              <a:rPr sz="1000" b="0">
                <a:solidFill>
                  <a:srgbClr val="FFFFFF"/>
                </a:solidFill>
                <a:latin typeface="Hiragino Sans"/>
                <a:ea typeface="Hiragino Sans"/>
                <a:cs typeface="Hiragino Sans"/>
              </a:rPr>
              <a:t>  ・サーバー (Vercel等) : 0円</a:t>
            </a:r>
          </a:p>
          <a:p>
            <a:pPr algn="l">
              <a:lnSpc>
                <a:spcPct val="140000"/>
              </a:lnSpc>
            </a:pPr>
            <a:r>
              <a:rPr sz="1000" b="0">
                <a:solidFill>
                  <a:srgbClr val="FFFFFF"/>
                </a:solidFill>
                <a:latin typeface="Hiragino Sans"/>
                <a:ea typeface="Hiragino Sans"/>
                <a:cs typeface="Hiragino Sans"/>
              </a:rPr>
              <a:t>  ・自分の人件費 (20h × 5,000円) : 10万円</a:t>
            </a:r>
          </a:p>
          <a:p>
            <a:pPr algn="l">
              <a:lnSpc>
                <a:spcPct val="140000"/>
              </a:lnSpc>
            </a:pPr>
            <a:r>
              <a:rPr sz="1000" b="0">
                <a:solidFill>
                  <a:srgbClr val="FFFFFF"/>
                </a:solidFill>
                <a:latin typeface="Hiragino Sans"/>
                <a:ea typeface="Hiragino Sans"/>
                <a:cs typeface="Hiragino Sans"/>
              </a:rPr>
              <a:t>■ 初月粗利 : 約マイナス1,000円〜0円</a:t>
            </a:r>
          </a:p>
          <a:p>
            <a:pPr algn="l">
              <a:lnSpc>
                <a:spcPct val="140000"/>
              </a:lnSpc>
            </a:pPr>
            <a:r>
              <a:rPr sz="1000" b="0">
                <a:solidFill>
                  <a:srgbClr val="FFFFFF"/>
                </a:solidFill>
                <a:latin typeface="Hiragino Sans"/>
                <a:ea typeface="Hiragino Sans"/>
                <a:cs typeface="Hiragino Sans"/>
              </a:rPr>
              <a:t>■ 継続契約 : 月5万円 = 安定収益基盤</a:t>
            </a:r>
          </a:p>
          <a:p>
            <a:pPr algn="l">
              <a:lnSpc>
                <a:spcPct val="140000"/>
              </a:lnSpc>
            </a:pPr>
            <a:r>
              <a:rPr sz="1000" b="0">
                <a:solidFill>
                  <a:srgbClr val="FFFFFF"/>
                </a:solidFill>
                <a:latin typeface="Hiragino Sans"/>
                <a:ea typeface="Hiragino Sans"/>
                <a:cs typeface="Hiragino Sans"/>
              </a:rPr>
              <a:t>→ L3 単発は薄利、継続化が事業の肝</a:t>
            </a:r>
          </a:p>
        </p:txBody>
      </p:sp>
      <p:sp>
        <p:nvSpPr>
          <p:cNvPr id="11" name="TextBox 10"/>
          <p:cNvSpPr txBox="1"/>
          <p:nvPr/>
        </p:nvSpPr>
        <p:spPr>
          <a:xfrm>
            <a:off x="6400800" y="1417320"/>
            <a:ext cx="5486400" cy="365760"/>
          </a:xfrm>
          <a:prstGeom prst="rect">
            <a:avLst/>
          </a:prstGeom>
          <a:noFill/>
        </p:spPr>
        <p:txBody>
          <a:bodyPr wrap="square" anchor="t" lIns="0" rIns="0" tIns="0" bIns="0">
            <a:spAutoFit/>
          </a:bodyPr>
          <a:lstStyle/>
          <a:p>
            <a:pPr algn="l">
              <a:lnSpc>
                <a:spcPct val="115000"/>
              </a:lnSpc>
            </a:pPr>
            <a:r>
              <a:rPr sz="1300" b="1">
                <a:solidFill>
                  <a:srgbClr val="C6452D"/>
                </a:solidFill>
                <a:latin typeface="Hiragino Sans"/>
                <a:ea typeface="Hiragino Sans"/>
                <a:cs typeface="Hiragino Sans"/>
              </a:rPr>
              <a:t>⚠ 詰まりポイント TOP5</a:t>
            </a:r>
          </a:p>
        </p:txBody>
      </p:sp>
      <p:sp>
        <p:nvSpPr>
          <p:cNvPr id="12" name="Rounded Rectangle 11"/>
          <p:cNvSpPr/>
          <p:nvPr/>
        </p:nvSpPr>
        <p:spPr>
          <a:xfrm>
            <a:off x="6400800" y="1828800"/>
            <a:ext cx="5349240" cy="384048"/>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0" y="1828800"/>
            <a:ext cx="73152" cy="384048"/>
          </a:xfrm>
          <a:prstGeom prst="rect">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0" y="1883664"/>
            <a:ext cx="228600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96h SLA超過</a:t>
            </a:r>
          </a:p>
        </p:txBody>
      </p:sp>
      <p:sp>
        <p:nvSpPr>
          <p:cNvPr id="15" name="TextBox 14"/>
          <p:cNvSpPr txBox="1"/>
          <p:nvPr/>
        </p:nvSpPr>
        <p:spPr>
          <a:xfrm>
            <a:off x="8961120" y="1901952"/>
            <a:ext cx="2743200" cy="274320"/>
          </a:xfrm>
          <a:prstGeom prst="rect">
            <a:avLst/>
          </a:prstGeom>
          <a:noFill/>
        </p:spPr>
        <p:txBody>
          <a:bodyPr wrap="square" anchor="t" lIns="0" rIns="0" tIns="0" bIns="0">
            <a:spAutoFit/>
          </a:bodyPr>
          <a:lstStyle/>
          <a:p>
            <a:pPr algn="l">
              <a:lnSpc>
                <a:spcPct val="115000"/>
              </a:lnSpc>
            </a:pPr>
            <a:r>
              <a:rPr sz="900" b="0">
                <a:solidFill>
                  <a:srgbClr val="5A6A80"/>
                </a:solidFill>
                <a:latin typeface="Hiragino Sans"/>
                <a:ea typeface="Hiragino Sans"/>
                <a:cs typeface="Hiragino Sans"/>
              </a:rPr>
              <a:t>テンプレ化+AI活用で工数圧縮</a:t>
            </a:r>
          </a:p>
        </p:txBody>
      </p:sp>
      <p:sp>
        <p:nvSpPr>
          <p:cNvPr id="16" name="Rounded Rectangle 15"/>
          <p:cNvSpPr/>
          <p:nvPr/>
        </p:nvSpPr>
        <p:spPr>
          <a:xfrm>
            <a:off x="6400800" y="2258568"/>
            <a:ext cx="5349240" cy="384048"/>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0" y="2258568"/>
            <a:ext cx="73152" cy="384048"/>
          </a:xfrm>
          <a:prstGeom prst="rect">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0" y="2313432"/>
            <a:ext cx="228600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計測未実装で配信</a:t>
            </a:r>
          </a:p>
        </p:txBody>
      </p:sp>
      <p:sp>
        <p:nvSpPr>
          <p:cNvPr id="19" name="TextBox 18"/>
          <p:cNvSpPr txBox="1"/>
          <p:nvPr/>
        </p:nvSpPr>
        <p:spPr>
          <a:xfrm>
            <a:off x="8961120" y="2331720"/>
            <a:ext cx="2743200" cy="274320"/>
          </a:xfrm>
          <a:prstGeom prst="rect">
            <a:avLst/>
          </a:prstGeom>
          <a:noFill/>
        </p:spPr>
        <p:txBody>
          <a:bodyPr wrap="square" anchor="t" lIns="0" rIns="0" tIns="0" bIns="0">
            <a:spAutoFit/>
          </a:bodyPr>
          <a:lstStyle/>
          <a:p>
            <a:pPr algn="l">
              <a:lnSpc>
                <a:spcPct val="115000"/>
              </a:lnSpc>
            </a:pPr>
            <a:r>
              <a:rPr sz="900" b="0">
                <a:solidFill>
                  <a:srgbClr val="5A6A80"/>
                </a:solidFill>
                <a:latin typeface="Hiragino Sans"/>
                <a:ea typeface="Hiragino Sans"/>
                <a:cs typeface="Hiragino Sans"/>
              </a:rPr>
              <a:t>Day 3で必ずテスト発火確認</a:t>
            </a:r>
          </a:p>
        </p:txBody>
      </p:sp>
      <p:sp>
        <p:nvSpPr>
          <p:cNvPr id="20" name="Rounded Rectangle 19"/>
          <p:cNvSpPr/>
          <p:nvPr/>
        </p:nvSpPr>
        <p:spPr>
          <a:xfrm>
            <a:off x="6400800" y="2688336"/>
            <a:ext cx="5349240" cy="384048"/>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400800" y="2688336"/>
            <a:ext cx="73152" cy="384048"/>
          </a:xfrm>
          <a:prstGeom prst="rect">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80" y="2743200"/>
            <a:ext cx="228600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Learning Phase妨害</a:t>
            </a:r>
          </a:p>
        </p:txBody>
      </p:sp>
      <p:sp>
        <p:nvSpPr>
          <p:cNvPr id="23" name="TextBox 22"/>
          <p:cNvSpPr txBox="1"/>
          <p:nvPr/>
        </p:nvSpPr>
        <p:spPr>
          <a:xfrm>
            <a:off x="8961120" y="2761488"/>
            <a:ext cx="2743200" cy="274320"/>
          </a:xfrm>
          <a:prstGeom prst="rect">
            <a:avLst/>
          </a:prstGeom>
          <a:noFill/>
        </p:spPr>
        <p:txBody>
          <a:bodyPr wrap="square" anchor="t" lIns="0" rIns="0" tIns="0" bIns="0">
            <a:spAutoFit/>
          </a:bodyPr>
          <a:lstStyle/>
          <a:p>
            <a:pPr algn="l">
              <a:lnSpc>
                <a:spcPct val="115000"/>
              </a:lnSpc>
            </a:pPr>
            <a:r>
              <a:rPr sz="900" b="0">
                <a:solidFill>
                  <a:srgbClr val="5A6A80"/>
                </a:solidFill>
                <a:latin typeface="Hiragino Sans"/>
                <a:ea typeface="Hiragino Sans"/>
                <a:cs typeface="Hiragino Sans"/>
              </a:rPr>
              <a:t>Week 2は触らない徹底</a:t>
            </a:r>
          </a:p>
        </p:txBody>
      </p:sp>
      <p:sp>
        <p:nvSpPr>
          <p:cNvPr id="24" name="Rounded Rectangle 23"/>
          <p:cNvSpPr/>
          <p:nvPr/>
        </p:nvSpPr>
        <p:spPr>
          <a:xfrm>
            <a:off x="6400800" y="3118104"/>
            <a:ext cx="5349240" cy="384048"/>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00800" y="3118104"/>
            <a:ext cx="73152" cy="384048"/>
          </a:xfrm>
          <a:prstGeom prst="rect">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0" y="3172968"/>
            <a:ext cx="228600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継続提案を Week 4最終日に</a:t>
            </a:r>
          </a:p>
        </p:txBody>
      </p:sp>
      <p:sp>
        <p:nvSpPr>
          <p:cNvPr id="27" name="TextBox 26"/>
          <p:cNvSpPr txBox="1"/>
          <p:nvPr/>
        </p:nvSpPr>
        <p:spPr>
          <a:xfrm>
            <a:off x="8961120" y="3191256"/>
            <a:ext cx="2743200" cy="274320"/>
          </a:xfrm>
          <a:prstGeom prst="rect">
            <a:avLst/>
          </a:prstGeom>
          <a:noFill/>
        </p:spPr>
        <p:txBody>
          <a:bodyPr wrap="square" anchor="t" lIns="0" rIns="0" tIns="0" bIns="0">
            <a:spAutoFit/>
          </a:bodyPr>
          <a:lstStyle/>
          <a:p>
            <a:pPr algn="l">
              <a:lnSpc>
                <a:spcPct val="115000"/>
              </a:lnSpc>
            </a:pPr>
            <a:r>
              <a:rPr sz="900" b="0">
                <a:solidFill>
                  <a:srgbClr val="5A6A80"/>
                </a:solidFill>
                <a:latin typeface="Hiragino Sans"/>
                <a:ea typeface="Hiragino Sans"/>
                <a:cs typeface="Hiragino Sans"/>
              </a:rPr>
              <a:t>Week 3から準備、Day 28-30で提案</a:t>
            </a:r>
          </a:p>
        </p:txBody>
      </p:sp>
      <p:sp>
        <p:nvSpPr>
          <p:cNvPr id="28" name="Rounded Rectangle 27"/>
          <p:cNvSpPr/>
          <p:nvPr/>
        </p:nvSpPr>
        <p:spPr>
          <a:xfrm>
            <a:off x="6400800" y="3547872"/>
            <a:ext cx="5349240" cy="384048"/>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400800" y="3547872"/>
            <a:ext cx="73152" cy="384048"/>
          </a:xfrm>
          <a:prstGeom prst="rect">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0" y="3602736"/>
            <a:ext cx="228600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素材不足で停滞</a:t>
            </a:r>
          </a:p>
        </p:txBody>
      </p:sp>
      <p:sp>
        <p:nvSpPr>
          <p:cNvPr id="31" name="TextBox 30"/>
          <p:cNvSpPr txBox="1"/>
          <p:nvPr/>
        </p:nvSpPr>
        <p:spPr>
          <a:xfrm>
            <a:off x="8961120" y="3621024"/>
            <a:ext cx="2743200" cy="274320"/>
          </a:xfrm>
          <a:prstGeom prst="rect">
            <a:avLst/>
          </a:prstGeom>
          <a:noFill/>
        </p:spPr>
        <p:txBody>
          <a:bodyPr wrap="square" anchor="t" lIns="0" rIns="0" tIns="0" bIns="0">
            <a:spAutoFit/>
          </a:bodyPr>
          <a:lstStyle/>
          <a:p>
            <a:pPr algn="l">
              <a:lnSpc>
                <a:spcPct val="115000"/>
              </a:lnSpc>
            </a:pPr>
            <a:r>
              <a:rPr sz="900" b="0">
                <a:solidFill>
                  <a:srgbClr val="5A6A80"/>
                </a:solidFill>
                <a:latin typeface="Hiragino Sans"/>
                <a:ea typeface="Hiragino Sans"/>
                <a:cs typeface="Hiragino Sans"/>
              </a:rPr>
              <a:t>Day 5-7に多めに量産、Week 3用も</a:t>
            </a:r>
          </a:p>
        </p:txBody>
      </p:sp>
      <p:sp>
        <p:nvSpPr>
          <p:cNvPr id="32" name="Rounded Rectangle 31"/>
          <p:cNvSpPr/>
          <p:nvPr/>
        </p:nvSpPr>
        <p:spPr>
          <a:xfrm>
            <a:off x="548640" y="4069080"/>
            <a:ext cx="11109960" cy="228600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7240" y="4206240"/>
            <a:ext cx="10972800" cy="411480"/>
          </a:xfrm>
          <a:prstGeom prst="rect">
            <a:avLst/>
          </a:prstGeom>
          <a:noFill/>
        </p:spPr>
        <p:txBody>
          <a:bodyPr wrap="square" anchor="t" lIns="0" rIns="0" tIns="0" bIns="0">
            <a:spAutoFit/>
          </a:bodyPr>
          <a:lstStyle/>
          <a:p>
            <a:pPr algn="l">
              <a:lnSpc>
                <a:spcPct val="115000"/>
              </a:lnSpc>
            </a:pPr>
            <a:r>
              <a:rPr sz="1800" b="1">
                <a:solidFill>
                  <a:srgbClr val="E87722"/>
                </a:solidFill>
                <a:latin typeface="Helvetica Neue"/>
                <a:ea typeface="Helvetica Neue"/>
                <a:cs typeface="Helvetica Neue"/>
              </a:rPr>
              <a:t>NEXT →  Part 8 付録 (15p, P231-P245)</a:t>
            </a:r>
          </a:p>
        </p:txBody>
      </p:sp>
      <p:sp>
        <p:nvSpPr>
          <p:cNvPr id="34" name="TextBox 33"/>
          <p:cNvSpPr txBox="1"/>
          <p:nvPr/>
        </p:nvSpPr>
        <p:spPr>
          <a:xfrm>
            <a:off x="777240" y="4663440"/>
            <a:ext cx="10972800" cy="1691640"/>
          </a:xfrm>
          <a:prstGeom prst="rect">
            <a:avLst/>
          </a:prstGeom>
          <a:noFill/>
        </p:spPr>
        <p:txBody>
          <a:bodyPr wrap="square" anchor="t" lIns="0" rIns="0" tIns="0" bIns="0">
            <a:spAutoFit/>
          </a:bodyPr>
          <a:lstStyle/>
          <a:p>
            <a:pPr algn="l">
              <a:lnSpc>
                <a:spcPct val="160000"/>
              </a:lnSpc>
            </a:pPr>
            <a:r>
              <a:rPr sz="1100" b="0">
                <a:solidFill>
                  <a:srgbClr val="FFFFFF"/>
                </a:solidFill>
                <a:latin typeface="Hiragino Sans"/>
                <a:ea typeface="Hiragino Sans"/>
                <a:cs typeface="Hiragino Sans"/>
              </a:rPr>
              <a:t>Part 8 で扱うトピック (15p) :</a:t>
            </a:r>
          </a:p>
          <a:p>
            <a:pPr algn="l">
              <a:lnSpc>
                <a:spcPct val="160000"/>
              </a:lnSpc>
            </a:pPr>
            <a:r>
              <a:rPr sz="1100" b="0">
                <a:solidFill>
                  <a:srgbClr val="FFFFFF"/>
                </a:solidFill>
                <a:latin typeface="Hiragino Sans"/>
                <a:ea typeface="Hiragino Sans"/>
                <a:cs typeface="Hiragino Sans"/>
              </a:rPr>
              <a:t>• 用語集 (2024-2026 新語中心)</a:t>
            </a:r>
          </a:p>
          <a:p>
            <a:pPr algn="l">
              <a:lnSpc>
                <a:spcPct val="160000"/>
              </a:lnSpc>
            </a:pPr>
            <a:r>
              <a:rPr sz="1100" b="0">
                <a:solidFill>
                  <a:srgbClr val="FFFFFF"/>
                </a:solidFill>
                <a:latin typeface="Hiragino Sans"/>
                <a:ea typeface="Hiragino Sans"/>
                <a:cs typeface="Hiragino Sans"/>
              </a:rPr>
              <a:t>• 主要ツール比較表 (AI広告 / 計測 / 運用)</a:t>
            </a:r>
          </a:p>
          <a:p>
            <a:pPr algn="l">
              <a:lnSpc>
                <a:spcPct val="160000"/>
              </a:lnSpc>
            </a:pPr>
            <a:r>
              <a:rPr sz="1100" b="0">
                <a:solidFill>
                  <a:srgbClr val="FFFFFF"/>
                </a:solidFill>
                <a:latin typeface="Hiragino Sans"/>
                <a:ea typeface="Hiragino Sans"/>
                <a:cs typeface="Hiragino Sans"/>
              </a:rPr>
              <a:t>• 情報源リスト (Search Engine Land / 日経XTREND等)</a:t>
            </a:r>
          </a:p>
          <a:p>
            <a:pPr algn="l">
              <a:lnSpc>
                <a:spcPct val="160000"/>
              </a:lnSpc>
            </a:pPr>
            <a:r>
              <a:rPr sz="1100" b="0">
                <a:solidFill>
                  <a:srgbClr val="FFFFFF"/>
                </a:solidFill>
                <a:latin typeface="Hiragino Sans"/>
                <a:ea typeface="Hiragino Sans"/>
                <a:cs typeface="Hiragino Sans"/>
              </a:rPr>
              <a:t>• プロンプト集 (運用者向け)</a:t>
            </a:r>
          </a:p>
          <a:p>
            <a:pPr algn="l">
              <a:lnSpc>
                <a:spcPct val="160000"/>
              </a:lnSpc>
            </a:pPr>
            <a:r>
              <a:rPr sz="1100" b="0">
                <a:solidFill>
                  <a:srgbClr val="FFFFFF"/>
                </a:solidFill>
                <a:latin typeface="Hiragino Sans"/>
                <a:ea typeface="Hiragino Sans"/>
                <a:cs typeface="Hiragino Sans"/>
              </a:rPr>
              <a:t>• クライアント FAQ 10選</a:t>
            </a:r>
          </a:p>
          <a:p>
            <a:pPr algn="l">
              <a:lnSpc>
                <a:spcPct val="160000"/>
              </a:lnSpc>
            </a:pPr>
            <a:r>
              <a:rPr sz="1100" b="0">
                <a:solidFill>
                  <a:srgbClr val="FFFFFF"/>
                </a:solidFill>
                <a:latin typeface="Hiragino Sans"/>
                <a:ea typeface="Hiragino Sans"/>
                <a:cs typeface="Hiragino Sans"/>
              </a:rPr>
              <a:t>• 副業復帰チェックリスト</a:t>
            </a:r>
          </a:p>
        </p:txBody>
      </p:sp>
      <p:sp>
        <p:nvSpPr>
          <p:cNvPr id="35" name="TextBox 34"/>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37160" cy="46634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097280"/>
            <a:ext cx="3657600" cy="457200"/>
          </a:xfrm>
          <a:prstGeom prst="rect">
            <a:avLst/>
          </a:prstGeom>
          <a:noFill/>
        </p:spPr>
        <p:txBody>
          <a:bodyPr wrap="square" anchor="t" lIns="0" rIns="0" tIns="0" bIns="0">
            <a:spAutoFit/>
          </a:bodyPr>
          <a:lstStyle/>
          <a:p>
            <a:pPr algn="l">
              <a:lnSpc>
                <a:spcPct val="115000"/>
              </a:lnSpc>
            </a:pPr>
            <a:r>
              <a:rPr sz="1800" b="1">
                <a:solidFill>
                  <a:srgbClr val="E87722"/>
                </a:solidFill>
                <a:latin typeface="Helvetica Neue"/>
                <a:ea typeface="Helvetica Neue"/>
                <a:cs typeface="Helvetica Neue"/>
              </a:rPr>
              <a:t>PART 8</a:t>
            </a:r>
          </a:p>
        </p:txBody>
      </p:sp>
      <p:sp>
        <p:nvSpPr>
          <p:cNvPr id="5" name="TextBox 4"/>
          <p:cNvSpPr txBox="1"/>
          <p:nvPr/>
        </p:nvSpPr>
        <p:spPr>
          <a:xfrm>
            <a:off x="1097280" y="1737360"/>
            <a:ext cx="10058400" cy="1371600"/>
          </a:xfrm>
          <a:prstGeom prst="rect">
            <a:avLst/>
          </a:prstGeom>
          <a:noFill/>
        </p:spPr>
        <p:txBody>
          <a:bodyPr wrap="square" anchor="t" lIns="0" rIns="0" tIns="0" bIns="0">
            <a:spAutoFit/>
          </a:bodyPr>
          <a:lstStyle/>
          <a:p>
            <a:pPr algn="l">
              <a:lnSpc>
                <a:spcPct val="110000"/>
              </a:lnSpc>
            </a:pPr>
            <a:r>
              <a:rPr sz="5400" b="1">
                <a:solidFill>
                  <a:srgbClr val="FFFFFF"/>
                </a:solidFill>
                <a:latin typeface="Hiragino Sans"/>
                <a:ea typeface="Hiragino Sans"/>
                <a:cs typeface="Hiragino Sans"/>
              </a:rPr>
              <a:t>付録</a:t>
            </a:r>
          </a:p>
        </p:txBody>
      </p:sp>
      <p:sp>
        <p:nvSpPr>
          <p:cNvPr id="6" name="TextBox 5"/>
          <p:cNvSpPr txBox="1"/>
          <p:nvPr/>
        </p:nvSpPr>
        <p:spPr>
          <a:xfrm>
            <a:off x="1097280" y="3291840"/>
            <a:ext cx="10058400" cy="548640"/>
          </a:xfrm>
          <a:prstGeom prst="rect">
            <a:avLst/>
          </a:prstGeom>
          <a:noFill/>
        </p:spPr>
        <p:txBody>
          <a:bodyPr wrap="square" anchor="t" lIns="0" rIns="0" tIns="0" bIns="0">
            <a:spAutoFit/>
          </a:bodyPr>
          <a:lstStyle/>
          <a:p>
            <a:pPr algn="l">
              <a:lnSpc>
                <a:spcPct val="130000"/>
              </a:lnSpc>
            </a:pPr>
            <a:r>
              <a:rPr sz="1800" b="0">
                <a:solidFill>
                  <a:srgbClr val="D7DDE8"/>
                </a:solidFill>
                <a:latin typeface="Hiragino Sans"/>
                <a:ea typeface="Hiragino Sans"/>
                <a:cs typeface="Hiragino Sans"/>
              </a:rPr>
              <a:t>リファレンス + チェックリスト + 全体まとめ</a:t>
            </a:r>
          </a:p>
        </p:txBody>
      </p:sp>
      <p:sp>
        <p:nvSpPr>
          <p:cNvPr id="7" name="Rectangle 6"/>
          <p:cNvSpPr/>
          <p:nvPr/>
        </p:nvSpPr>
        <p:spPr>
          <a:xfrm>
            <a:off x="1097280" y="4114800"/>
            <a:ext cx="914400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97680"/>
            <a:ext cx="10058400" cy="822960"/>
          </a:xfrm>
          <a:prstGeom prst="rect">
            <a:avLst/>
          </a:prstGeom>
          <a:noFill/>
        </p:spPr>
        <p:txBody>
          <a:bodyPr wrap="square" anchor="t" lIns="0" rIns="0" tIns="0" bIns="0">
            <a:spAutoFit/>
          </a:bodyPr>
          <a:lstStyle/>
          <a:p>
            <a:pPr algn="l">
              <a:lnSpc>
                <a:spcPct val="150000"/>
              </a:lnSpc>
            </a:pPr>
            <a:r>
              <a:rPr sz="1300" b="0">
                <a:solidFill>
                  <a:srgbClr val="D7DDE8"/>
                </a:solidFill>
                <a:latin typeface="Hiragino Sans"/>
                <a:ea typeface="Hiragino Sans"/>
                <a:cs typeface="Hiragino Sans"/>
              </a:rPr>
              <a:t>用語集 / 主要ツール比較表 / 情報源リスト / プロンプト集 /</a:t>
            </a:r>
          </a:p>
          <a:p>
            <a:pPr algn="l">
              <a:lnSpc>
                <a:spcPct val="150000"/>
              </a:lnSpc>
            </a:pPr>
            <a:r>
              <a:rPr sz="1300" b="0">
                <a:solidFill>
                  <a:srgbClr val="D7DDE8"/>
                </a:solidFill>
                <a:latin typeface="Hiragino Sans"/>
                <a:ea typeface="Hiragino Sans"/>
                <a:cs typeface="Hiragino Sans"/>
              </a:rPr>
              <a:t>クライアント FAQ / 副業復帰チェックリスト / AI ツール月額一覧 /</a:t>
            </a:r>
          </a:p>
          <a:p>
            <a:pPr algn="l">
              <a:lnSpc>
                <a:spcPct val="150000"/>
              </a:lnSpc>
            </a:pPr>
            <a:r>
              <a:rPr sz="1300" b="0">
                <a:solidFill>
                  <a:srgbClr val="D7DDE8"/>
                </a:solidFill>
                <a:latin typeface="Hiragino Sans"/>
                <a:ea typeface="Hiragino Sans"/>
                <a:cs typeface="Hiragino Sans"/>
              </a:rPr>
              <a:t>Part 1-7 を即引きできるリファレンス章</a:t>
            </a:r>
          </a:p>
        </p:txBody>
      </p:sp>
      <p:sp>
        <p:nvSpPr>
          <p:cNvPr id="9" name="TextBox 8"/>
          <p:cNvSpPr txBox="1"/>
          <p:nvPr/>
        </p:nvSpPr>
        <p:spPr>
          <a:xfrm>
            <a:off x="1097280" y="539496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用語集 ×3p</a:t>
            </a:r>
          </a:p>
        </p:txBody>
      </p:sp>
      <p:sp>
        <p:nvSpPr>
          <p:cNvPr id="10" name="TextBox 9"/>
          <p:cNvSpPr txBox="1"/>
          <p:nvPr/>
        </p:nvSpPr>
        <p:spPr>
          <a:xfrm>
            <a:off x="4297680" y="539496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ツール比較 (AI/運用/計測)</a:t>
            </a:r>
          </a:p>
        </p:txBody>
      </p:sp>
      <p:sp>
        <p:nvSpPr>
          <p:cNvPr id="11" name="TextBox 10"/>
          <p:cNvSpPr txBox="1"/>
          <p:nvPr/>
        </p:nvSpPr>
        <p:spPr>
          <a:xfrm>
            <a:off x="7498080" y="539496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情報源リスト (英/日)</a:t>
            </a:r>
          </a:p>
        </p:txBody>
      </p:sp>
      <p:sp>
        <p:nvSpPr>
          <p:cNvPr id="12" name="TextBox 11"/>
          <p:cNvSpPr txBox="1"/>
          <p:nvPr/>
        </p:nvSpPr>
        <p:spPr>
          <a:xfrm>
            <a:off x="1097280" y="576072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プロンプト集</a:t>
            </a:r>
          </a:p>
        </p:txBody>
      </p:sp>
      <p:sp>
        <p:nvSpPr>
          <p:cNvPr id="13" name="TextBox 12"/>
          <p:cNvSpPr txBox="1"/>
          <p:nvPr/>
        </p:nvSpPr>
        <p:spPr>
          <a:xfrm>
            <a:off x="4297680" y="576072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クライアント FAQ ×2p</a:t>
            </a:r>
          </a:p>
        </p:txBody>
      </p:sp>
      <p:sp>
        <p:nvSpPr>
          <p:cNvPr id="14" name="TextBox 13"/>
          <p:cNvSpPr txBox="1"/>
          <p:nvPr/>
        </p:nvSpPr>
        <p:spPr>
          <a:xfrm>
            <a:off x="7498080" y="576072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副業復帰チェックリスト</a:t>
            </a:r>
          </a:p>
        </p:txBody>
      </p:sp>
      <p:sp>
        <p:nvSpPr>
          <p:cNvPr id="15" name="TextBox 14"/>
          <p:cNvSpPr txBox="1"/>
          <p:nvPr/>
        </p:nvSpPr>
        <p:spPr>
          <a:xfrm>
            <a:off x="1097280" y="612648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AI ツール月額一覧</a:t>
            </a:r>
          </a:p>
        </p:txBody>
      </p:sp>
      <p:sp>
        <p:nvSpPr>
          <p:cNvPr id="16" name="TextBox 15"/>
          <p:cNvSpPr txBox="1"/>
          <p:nvPr/>
        </p:nvSpPr>
        <p:spPr>
          <a:xfrm>
            <a:off x="4297680" y="612648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全体まとめ + 出典</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用語集 (1/3) : A - B</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2024-2026 業界用語集 (副業代行で頻出)</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P232 / 250</a:t>
            </a:r>
          </a:p>
        </p:txBody>
      </p:sp>
      <p:sp>
        <p:nvSpPr>
          <p:cNvPr id="8" name="Rounded Rectangle 7"/>
          <p:cNvSpPr/>
          <p:nvPr/>
        </p:nvSpPr>
        <p:spPr>
          <a:xfrm>
            <a:off x="548640" y="1417320"/>
            <a:ext cx="2697480" cy="11887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73152" cy="11887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527048"/>
            <a:ext cx="2423160" cy="365760"/>
          </a:xfrm>
          <a:prstGeom prst="rect">
            <a:avLst/>
          </a:prstGeom>
          <a:noFill/>
        </p:spPr>
        <p:txBody>
          <a:bodyPr wrap="square" anchor="t" lIns="0" rIns="0" tIns="0" bIns="0">
            <a:spAutoFit/>
          </a:bodyPr>
          <a:lstStyle/>
          <a:p>
            <a:pPr algn="l">
              <a:lnSpc>
                <a:spcPct val="120000"/>
              </a:lnSpc>
            </a:pPr>
            <a:r>
              <a:rPr sz="1200" b="1">
                <a:solidFill>
                  <a:srgbClr val="0F2A4F"/>
                </a:solidFill>
                <a:latin typeface="Helvetica Neue"/>
                <a:ea typeface="Helvetica Neue"/>
                <a:cs typeface="Helvetica Neue"/>
              </a:rPr>
              <a:t>Advantage+</a:t>
            </a:r>
          </a:p>
          <a:p>
            <a:pPr algn="l">
              <a:lnSpc>
                <a:spcPct val="120000"/>
              </a:lnSpc>
            </a:pPr>
            <a:r>
              <a:rPr sz="1200" b="1">
                <a:solidFill>
                  <a:srgbClr val="0F2A4F"/>
                </a:solidFill>
                <a:latin typeface="Helvetica Neue"/>
                <a:ea typeface="Helvetica Neue"/>
                <a:cs typeface="Helvetica Neue"/>
              </a:rPr>
              <a:t>Shopping (ASC)</a:t>
            </a:r>
          </a:p>
        </p:txBody>
      </p:sp>
      <p:sp>
        <p:nvSpPr>
          <p:cNvPr id="11" name="TextBox 10"/>
          <p:cNvSpPr txBox="1"/>
          <p:nvPr/>
        </p:nvSpPr>
        <p:spPr>
          <a:xfrm>
            <a:off x="731520" y="1920240"/>
            <a:ext cx="2423160" cy="640080"/>
          </a:xfrm>
          <a:prstGeom prst="rect">
            <a:avLst/>
          </a:prstGeom>
          <a:noFill/>
        </p:spPr>
        <p:txBody>
          <a:bodyPr wrap="square" anchor="t" lIns="0" rIns="0" tIns="0" bIns="0">
            <a:spAutoFit/>
          </a:bodyPr>
          <a:lstStyle/>
          <a:p>
            <a:pPr algn="l">
              <a:lnSpc>
                <a:spcPct val="145000"/>
              </a:lnSpc>
            </a:pPr>
            <a:r>
              <a:rPr sz="900" b="0">
                <a:solidFill>
                  <a:srgbClr val="1A1A1A"/>
                </a:solidFill>
                <a:latin typeface="Hiragino Sans"/>
                <a:ea typeface="Hiragino Sans"/>
                <a:cs typeface="Hiragino Sans"/>
              </a:rPr>
              <a:t>Meta統合AI配信 (旧). 2025/02 から Advantage+ Sales にリブランド</a:t>
            </a:r>
          </a:p>
        </p:txBody>
      </p:sp>
      <p:sp>
        <p:nvSpPr>
          <p:cNvPr id="12" name="Rounded Rectangle 11"/>
          <p:cNvSpPr/>
          <p:nvPr/>
        </p:nvSpPr>
        <p:spPr>
          <a:xfrm>
            <a:off x="3337560" y="1417320"/>
            <a:ext cx="2697480" cy="11887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37560" y="1417320"/>
            <a:ext cx="73152" cy="11887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20440" y="1527048"/>
            <a:ext cx="2423160" cy="365760"/>
          </a:xfrm>
          <a:prstGeom prst="rect">
            <a:avLst/>
          </a:prstGeom>
          <a:noFill/>
        </p:spPr>
        <p:txBody>
          <a:bodyPr wrap="square" anchor="t" lIns="0" rIns="0" tIns="0" bIns="0">
            <a:spAutoFit/>
          </a:bodyPr>
          <a:lstStyle/>
          <a:p>
            <a:pPr algn="l">
              <a:lnSpc>
                <a:spcPct val="120000"/>
              </a:lnSpc>
            </a:pPr>
            <a:r>
              <a:rPr sz="1200" b="1">
                <a:solidFill>
                  <a:srgbClr val="0F2A4F"/>
                </a:solidFill>
                <a:latin typeface="Helvetica Neue"/>
                <a:ea typeface="Helvetica Neue"/>
                <a:cs typeface="Helvetica Neue"/>
              </a:rPr>
              <a:t>Advantage+ Sales</a:t>
            </a:r>
          </a:p>
        </p:txBody>
      </p:sp>
      <p:sp>
        <p:nvSpPr>
          <p:cNvPr id="15" name="TextBox 14"/>
          <p:cNvSpPr txBox="1"/>
          <p:nvPr/>
        </p:nvSpPr>
        <p:spPr>
          <a:xfrm>
            <a:off x="3520440" y="1920240"/>
            <a:ext cx="2423160" cy="640080"/>
          </a:xfrm>
          <a:prstGeom prst="rect">
            <a:avLst/>
          </a:prstGeom>
          <a:noFill/>
        </p:spPr>
        <p:txBody>
          <a:bodyPr wrap="square" anchor="t" lIns="0" rIns="0" tIns="0" bIns="0">
            <a:spAutoFit/>
          </a:bodyPr>
          <a:lstStyle/>
          <a:p>
            <a:pPr algn="l">
              <a:lnSpc>
                <a:spcPct val="145000"/>
              </a:lnSpc>
            </a:pPr>
            <a:r>
              <a:rPr sz="900" b="0">
                <a:solidFill>
                  <a:srgbClr val="1A1A1A"/>
                </a:solidFill>
                <a:latin typeface="Hiragino Sans"/>
                <a:ea typeface="Hiragino Sans"/>
                <a:cs typeface="Hiragino Sans"/>
              </a:rPr>
              <a:t>Meta Sales目的の統合AI配信. 2025/02 リブランド + 多用途化</a:t>
            </a:r>
          </a:p>
        </p:txBody>
      </p:sp>
      <p:sp>
        <p:nvSpPr>
          <p:cNvPr id="16" name="Rounded Rectangle 15"/>
          <p:cNvSpPr/>
          <p:nvPr/>
        </p:nvSpPr>
        <p:spPr>
          <a:xfrm>
            <a:off x="6126480" y="1417320"/>
            <a:ext cx="2697480" cy="11887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0" y="1417320"/>
            <a:ext cx="73152" cy="11887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60" y="1527048"/>
            <a:ext cx="2423160" cy="365760"/>
          </a:xfrm>
          <a:prstGeom prst="rect">
            <a:avLst/>
          </a:prstGeom>
          <a:noFill/>
        </p:spPr>
        <p:txBody>
          <a:bodyPr wrap="square" anchor="t" lIns="0" rIns="0" tIns="0" bIns="0">
            <a:spAutoFit/>
          </a:bodyPr>
          <a:lstStyle/>
          <a:p>
            <a:pPr algn="l">
              <a:lnSpc>
                <a:spcPct val="120000"/>
              </a:lnSpc>
            </a:pPr>
            <a:r>
              <a:rPr sz="1200" b="1">
                <a:solidFill>
                  <a:srgbClr val="0F2A4F"/>
                </a:solidFill>
                <a:latin typeface="Helvetica Neue"/>
                <a:ea typeface="Helvetica Neue"/>
                <a:cs typeface="Helvetica Neue"/>
              </a:rPr>
              <a:t>Andromeda</a:t>
            </a:r>
          </a:p>
        </p:txBody>
      </p:sp>
      <p:sp>
        <p:nvSpPr>
          <p:cNvPr id="19" name="TextBox 18"/>
          <p:cNvSpPr txBox="1"/>
          <p:nvPr/>
        </p:nvSpPr>
        <p:spPr>
          <a:xfrm>
            <a:off x="6309360" y="1920240"/>
            <a:ext cx="2423160" cy="640080"/>
          </a:xfrm>
          <a:prstGeom prst="rect">
            <a:avLst/>
          </a:prstGeom>
          <a:noFill/>
        </p:spPr>
        <p:txBody>
          <a:bodyPr wrap="square" anchor="t" lIns="0" rIns="0" tIns="0" bIns="0">
            <a:spAutoFit/>
          </a:bodyPr>
          <a:lstStyle/>
          <a:p>
            <a:pPr algn="l">
              <a:lnSpc>
                <a:spcPct val="145000"/>
              </a:lnSpc>
            </a:pPr>
            <a:r>
              <a:rPr sz="900" b="0">
                <a:solidFill>
                  <a:srgbClr val="1A1A1A"/>
                </a:solidFill>
                <a:latin typeface="Hiragino Sans"/>
                <a:ea typeface="Hiragino Sans"/>
                <a:cs typeface="Hiragino Sans"/>
              </a:rPr>
              <a:t>Meta配信ML世代 (2024末). 10,000x モデル複雑度, Quality +8%</a:t>
            </a:r>
          </a:p>
        </p:txBody>
      </p:sp>
      <p:sp>
        <p:nvSpPr>
          <p:cNvPr id="20" name="Rounded Rectangle 19"/>
          <p:cNvSpPr/>
          <p:nvPr/>
        </p:nvSpPr>
        <p:spPr>
          <a:xfrm>
            <a:off x="8915400" y="1417320"/>
            <a:ext cx="2697480" cy="11887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915400" y="1417320"/>
            <a:ext cx="73152" cy="11887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98280" y="1527048"/>
            <a:ext cx="2423160" cy="365760"/>
          </a:xfrm>
          <a:prstGeom prst="rect">
            <a:avLst/>
          </a:prstGeom>
          <a:noFill/>
        </p:spPr>
        <p:txBody>
          <a:bodyPr wrap="square" anchor="t" lIns="0" rIns="0" tIns="0" bIns="0">
            <a:spAutoFit/>
          </a:bodyPr>
          <a:lstStyle/>
          <a:p>
            <a:pPr algn="l">
              <a:lnSpc>
                <a:spcPct val="120000"/>
              </a:lnSpc>
            </a:pPr>
            <a:r>
              <a:rPr sz="1200" b="1">
                <a:solidFill>
                  <a:srgbClr val="0F2A4F"/>
                </a:solidFill>
                <a:latin typeface="Helvetica Neue"/>
                <a:ea typeface="Helvetica Neue"/>
                <a:cs typeface="Helvetica Neue"/>
              </a:rPr>
              <a:t>AEM</a:t>
            </a:r>
          </a:p>
        </p:txBody>
      </p:sp>
      <p:sp>
        <p:nvSpPr>
          <p:cNvPr id="23" name="TextBox 22"/>
          <p:cNvSpPr txBox="1"/>
          <p:nvPr/>
        </p:nvSpPr>
        <p:spPr>
          <a:xfrm>
            <a:off x="9098280" y="1920240"/>
            <a:ext cx="2423160" cy="640080"/>
          </a:xfrm>
          <a:prstGeom prst="rect">
            <a:avLst/>
          </a:prstGeom>
          <a:noFill/>
        </p:spPr>
        <p:txBody>
          <a:bodyPr wrap="square" anchor="t" lIns="0" rIns="0" tIns="0" bIns="0">
            <a:spAutoFit/>
          </a:bodyPr>
          <a:lstStyle/>
          <a:p>
            <a:pPr algn="l">
              <a:lnSpc>
                <a:spcPct val="145000"/>
              </a:lnSpc>
            </a:pPr>
            <a:r>
              <a:rPr sz="900" b="0">
                <a:solidFill>
                  <a:srgbClr val="1A1A1A"/>
                </a:solidFill>
                <a:latin typeface="Hiragino Sans"/>
                <a:ea typeface="Hiragino Sans"/>
                <a:cs typeface="Hiragino Sans"/>
              </a:rPr>
              <a:t>Aggregated Event Measurement. iOSの差分プライバシー計測 (Meta)</a:t>
            </a:r>
          </a:p>
        </p:txBody>
      </p:sp>
      <p:sp>
        <p:nvSpPr>
          <p:cNvPr id="24" name="Rounded Rectangle 23"/>
          <p:cNvSpPr/>
          <p:nvPr/>
        </p:nvSpPr>
        <p:spPr>
          <a:xfrm>
            <a:off x="548640" y="2697480"/>
            <a:ext cx="2697480" cy="11887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2697480"/>
            <a:ext cx="73152" cy="11887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2807208"/>
            <a:ext cx="2423160" cy="365760"/>
          </a:xfrm>
          <a:prstGeom prst="rect">
            <a:avLst/>
          </a:prstGeom>
          <a:noFill/>
        </p:spPr>
        <p:txBody>
          <a:bodyPr wrap="square" anchor="t" lIns="0" rIns="0" tIns="0" bIns="0">
            <a:spAutoFit/>
          </a:bodyPr>
          <a:lstStyle/>
          <a:p>
            <a:pPr algn="l">
              <a:lnSpc>
                <a:spcPct val="120000"/>
              </a:lnSpc>
            </a:pPr>
            <a:r>
              <a:rPr sz="1200" b="1">
                <a:solidFill>
                  <a:srgbClr val="0F2A4F"/>
                </a:solidFill>
                <a:latin typeface="Helvetica Neue"/>
                <a:ea typeface="Helvetica Neue"/>
                <a:cs typeface="Helvetica Neue"/>
              </a:rPr>
              <a:t>AI Max for Search</a:t>
            </a:r>
          </a:p>
        </p:txBody>
      </p:sp>
      <p:sp>
        <p:nvSpPr>
          <p:cNvPr id="27" name="TextBox 26"/>
          <p:cNvSpPr txBox="1"/>
          <p:nvPr/>
        </p:nvSpPr>
        <p:spPr>
          <a:xfrm>
            <a:off x="731520" y="3200400"/>
            <a:ext cx="2423160" cy="640080"/>
          </a:xfrm>
          <a:prstGeom prst="rect">
            <a:avLst/>
          </a:prstGeom>
          <a:noFill/>
        </p:spPr>
        <p:txBody>
          <a:bodyPr wrap="square" anchor="t" lIns="0" rIns="0" tIns="0" bIns="0">
            <a:spAutoFit/>
          </a:bodyPr>
          <a:lstStyle/>
          <a:p>
            <a:pPr algn="l">
              <a:lnSpc>
                <a:spcPct val="145000"/>
              </a:lnSpc>
            </a:pPr>
            <a:r>
              <a:rPr sz="900" b="0">
                <a:solidFill>
                  <a:srgbClr val="1A1A1A"/>
                </a:solidFill>
                <a:latin typeface="Hiragino Sans"/>
                <a:ea typeface="Hiragino Sans"/>
                <a:cs typeface="Hiragino Sans"/>
              </a:rPr>
              <a:t>Google検索広告のAI拡張層 (2025/05). DSA置換予定</a:t>
            </a:r>
          </a:p>
        </p:txBody>
      </p:sp>
      <p:sp>
        <p:nvSpPr>
          <p:cNvPr id="28" name="Rounded Rectangle 27"/>
          <p:cNvSpPr/>
          <p:nvPr/>
        </p:nvSpPr>
        <p:spPr>
          <a:xfrm>
            <a:off x="3337560" y="2697480"/>
            <a:ext cx="2697480" cy="11887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337560" y="2697480"/>
            <a:ext cx="73152" cy="11887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520440" y="2807208"/>
            <a:ext cx="2423160" cy="365760"/>
          </a:xfrm>
          <a:prstGeom prst="rect">
            <a:avLst/>
          </a:prstGeom>
          <a:noFill/>
        </p:spPr>
        <p:txBody>
          <a:bodyPr wrap="square" anchor="t" lIns="0" rIns="0" tIns="0" bIns="0">
            <a:spAutoFit/>
          </a:bodyPr>
          <a:lstStyle/>
          <a:p>
            <a:pPr algn="l">
              <a:lnSpc>
                <a:spcPct val="120000"/>
              </a:lnSpc>
            </a:pPr>
            <a:r>
              <a:rPr sz="1200" b="1">
                <a:solidFill>
                  <a:srgbClr val="0F2A4F"/>
                </a:solidFill>
                <a:latin typeface="Helvetica Neue"/>
                <a:ea typeface="Helvetica Neue"/>
                <a:cs typeface="Helvetica Neue"/>
              </a:rPr>
              <a:t>ATT</a:t>
            </a:r>
          </a:p>
        </p:txBody>
      </p:sp>
      <p:sp>
        <p:nvSpPr>
          <p:cNvPr id="31" name="TextBox 30"/>
          <p:cNvSpPr txBox="1"/>
          <p:nvPr/>
        </p:nvSpPr>
        <p:spPr>
          <a:xfrm>
            <a:off x="3520440" y="3200400"/>
            <a:ext cx="2423160" cy="640080"/>
          </a:xfrm>
          <a:prstGeom prst="rect">
            <a:avLst/>
          </a:prstGeom>
          <a:noFill/>
        </p:spPr>
        <p:txBody>
          <a:bodyPr wrap="square" anchor="t" lIns="0" rIns="0" tIns="0" bIns="0">
            <a:spAutoFit/>
          </a:bodyPr>
          <a:lstStyle/>
          <a:p>
            <a:pPr algn="l">
              <a:lnSpc>
                <a:spcPct val="145000"/>
              </a:lnSpc>
            </a:pPr>
            <a:r>
              <a:rPr sz="900" b="0">
                <a:solidFill>
                  <a:srgbClr val="1A1A1A"/>
                </a:solidFill>
                <a:latin typeface="Hiragino Sans"/>
                <a:ea typeface="Hiragino Sans"/>
                <a:cs typeface="Hiragino Sans"/>
              </a:rPr>
              <a:t>App Tracking Transparency (Apple). 2021/04~ iOS計測シグナル減</a:t>
            </a:r>
          </a:p>
        </p:txBody>
      </p:sp>
      <p:sp>
        <p:nvSpPr>
          <p:cNvPr id="32" name="Rounded Rectangle 31"/>
          <p:cNvSpPr/>
          <p:nvPr/>
        </p:nvSpPr>
        <p:spPr>
          <a:xfrm>
            <a:off x="6126480" y="2697480"/>
            <a:ext cx="2697480" cy="11887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26480" y="2697480"/>
            <a:ext cx="73152" cy="11887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09360" y="2807208"/>
            <a:ext cx="2423160" cy="365760"/>
          </a:xfrm>
          <a:prstGeom prst="rect">
            <a:avLst/>
          </a:prstGeom>
          <a:noFill/>
        </p:spPr>
        <p:txBody>
          <a:bodyPr wrap="square" anchor="t" lIns="0" rIns="0" tIns="0" bIns="0">
            <a:spAutoFit/>
          </a:bodyPr>
          <a:lstStyle/>
          <a:p>
            <a:pPr algn="l">
              <a:lnSpc>
                <a:spcPct val="120000"/>
              </a:lnSpc>
            </a:pPr>
            <a:r>
              <a:rPr sz="1200" b="1">
                <a:solidFill>
                  <a:srgbClr val="0F2A4F"/>
                </a:solidFill>
                <a:latin typeface="Helvetica Neue"/>
                <a:ea typeface="Helvetica Neue"/>
                <a:cs typeface="Helvetica Neue"/>
              </a:rPr>
              <a:t>Bid Strategy</a:t>
            </a:r>
          </a:p>
        </p:txBody>
      </p:sp>
      <p:sp>
        <p:nvSpPr>
          <p:cNvPr id="35" name="TextBox 34"/>
          <p:cNvSpPr txBox="1"/>
          <p:nvPr/>
        </p:nvSpPr>
        <p:spPr>
          <a:xfrm>
            <a:off x="6309360" y="3200400"/>
            <a:ext cx="2423160" cy="640080"/>
          </a:xfrm>
          <a:prstGeom prst="rect">
            <a:avLst/>
          </a:prstGeom>
          <a:noFill/>
        </p:spPr>
        <p:txBody>
          <a:bodyPr wrap="square" anchor="t" lIns="0" rIns="0" tIns="0" bIns="0">
            <a:spAutoFit/>
          </a:bodyPr>
          <a:lstStyle/>
          <a:p>
            <a:pPr algn="l">
              <a:lnSpc>
                <a:spcPct val="145000"/>
              </a:lnSpc>
            </a:pPr>
            <a:r>
              <a:rPr sz="900" b="0">
                <a:solidFill>
                  <a:srgbClr val="1A1A1A"/>
                </a:solidFill>
                <a:latin typeface="Hiragino Sans"/>
                <a:ea typeface="Hiragino Sans"/>
                <a:cs typeface="Hiragino Sans"/>
              </a:rPr>
              <a:t>入札戦略. tCPA/tROAS/MaxConv等</a:t>
            </a:r>
          </a:p>
        </p:txBody>
      </p:sp>
      <p:sp>
        <p:nvSpPr>
          <p:cNvPr id="36" name="Rounded Rectangle 35"/>
          <p:cNvSpPr/>
          <p:nvPr/>
        </p:nvSpPr>
        <p:spPr>
          <a:xfrm>
            <a:off x="8915400" y="2697480"/>
            <a:ext cx="2697480" cy="11887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915400" y="2697480"/>
            <a:ext cx="73152" cy="11887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98280" y="2807208"/>
            <a:ext cx="2423160" cy="365760"/>
          </a:xfrm>
          <a:prstGeom prst="rect">
            <a:avLst/>
          </a:prstGeom>
          <a:noFill/>
        </p:spPr>
        <p:txBody>
          <a:bodyPr wrap="square" anchor="t" lIns="0" rIns="0" tIns="0" bIns="0">
            <a:spAutoFit/>
          </a:bodyPr>
          <a:lstStyle/>
          <a:p>
            <a:pPr algn="l">
              <a:lnSpc>
                <a:spcPct val="120000"/>
              </a:lnSpc>
            </a:pPr>
            <a:r>
              <a:rPr sz="1200" b="1">
                <a:solidFill>
                  <a:srgbClr val="0F2A4F"/>
                </a:solidFill>
                <a:latin typeface="Helvetica Neue"/>
                <a:ea typeface="Helvetica Neue"/>
                <a:cs typeface="Helvetica Neue"/>
              </a:rPr>
              <a:t>BrandConnect</a:t>
            </a:r>
          </a:p>
        </p:txBody>
      </p:sp>
      <p:sp>
        <p:nvSpPr>
          <p:cNvPr id="39" name="TextBox 38"/>
          <p:cNvSpPr txBox="1"/>
          <p:nvPr/>
        </p:nvSpPr>
        <p:spPr>
          <a:xfrm>
            <a:off x="9098280" y="3200400"/>
            <a:ext cx="2423160" cy="640080"/>
          </a:xfrm>
          <a:prstGeom prst="rect">
            <a:avLst/>
          </a:prstGeom>
          <a:noFill/>
        </p:spPr>
        <p:txBody>
          <a:bodyPr wrap="square" anchor="t" lIns="0" rIns="0" tIns="0" bIns="0">
            <a:spAutoFit/>
          </a:bodyPr>
          <a:lstStyle/>
          <a:p>
            <a:pPr algn="l">
              <a:lnSpc>
                <a:spcPct val="145000"/>
              </a:lnSpc>
            </a:pPr>
            <a:r>
              <a:rPr sz="900" b="0">
                <a:solidFill>
                  <a:srgbClr val="1A1A1A"/>
                </a:solidFill>
                <a:latin typeface="Hiragino Sans"/>
                <a:ea typeface="Hiragino Sans"/>
                <a:cs typeface="Hiragino Sans"/>
              </a:rPr>
              <a:t>YouTube公式クリエイター連携プログラム</a:t>
            </a:r>
          </a:p>
        </p:txBody>
      </p:sp>
      <p:sp>
        <p:nvSpPr>
          <p:cNvPr id="40" name="TextBox 39"/>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用語集 (2/3) : C - E</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2024-2026 業界用語集 (副業代行で頻出)</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P233 / 250</a:t>
            </a:r>
          </a:p>
        </p:txBody>
      </p:sp>
      <p:sp>
        <p:nvSpPr>
          <p:cNvPr id="8" name="Rounded Rectangle 7"/>
          <p:cNvSpPr/>
          <p:nvPr/>
        </p:nvSpPr>
        <p:spPr>
          <a:xfrm>
            <a:off x="548640" y="1417320"/>
            <a:ext cx="2697480" cy="11887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73152" cy="11887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527048"/>
            <a:ext cx="2423160" cy="365760"/>
          </a:xfrm>
          <a:prstGeom prst="rect">
            <a:avLst/>
          </a:prstGeom>
          <a:noFill/>
        </p:spPr>
        <p:txBody>
          <a:bodyPr wrap="square" anchor="t" lIns="0" rIns="0" tIns="0" bIns="0">
            <a:spAutoFit/>
          </a:bodyPr>
          <a:lstStyle/>
          <a:p>
            <a:pPr algn="l">
              <a:lnSpc>
                <a:spcPct val="120000"/>
              </a:lnSpc>
            </a:pPr>
            <a:r>
              <a:rPr sz="1200" b="1">
                <a:solidFill>
                  <a:srgbClr val="0F2A4F"/>
                </a:solidFill>
                <a:latin typeface="Helvetica Neue"/>
                <a:ea typeface="Helvetica Neue"/>
                <a:cs typeface="Helvetica Neue"/>
              </a:rPr>
              <a:t>CAPI</a:t>
            </a:r>
          </a:p>
        </p:txBody>
      </p:sp>
      <p:sp>
        <p:nvSpPr>
          <p:cNvPr id="11" name="TextBox 10"/>
          <p:cNvSpPr txBox="1"/>
          <p:nvPr/>
        </p:nvSpPr>
        <p:spPr>
          <a:xfrm>
            <a:off x="731520" y="1920240"/>
            <a:ext cx="2423160" cy="640080"/>
          </a:xfrm>
          <a:prstGeom prst="rect">
            <a:avLst/>
          </a:prstGeom>
          <a:noFill/>
        </p:spPr>
        <p:txBody>
          <a:bodyPr wrap="square" anchor="t" lIns="0" rIns="0" tIns="0" bIns="0">
            <a:spAutoFit/>
          </a:bodyPr>
          <a:lstStyle/>
          <a:p>
            <a:pPr algn="l">
              <a:lnSpc>
                <a:spcPct val="145000"/>
              </a:lnSpc>
            </a:pPr>
            <a:r>
              <a:rPr sz="900" b="0">
                <a:solidFill>
                  <a:srgbClr val="1A1A1A"/>
                </a:solidFill>
                <a:latin typeface="Hiragino Sans"/>
                <a:ea typeface="Hiragino Sans"/>
                <a:cs typeface="Hiragino Sans"/>
              </a:rPr>
              <a:t>Conversion API. サーバーサイド計測の業界標準</a:t>
            </a:r>
          </a:p>
        </p:txBody>
      </p:sp>
      <p:sp>
        <p:nvSpPr>
          <p:cNvPr id="12" name="Rounded Rectangle 11"/>
          <p:cNvSpPr/>
          <p:nvPr/>
        </p:nvSpPr>
        <p:spPr>
          <a:xfrm>
            <a:off x="3337560" y="1417320"/>
            <a:ext cx="2697480" cy="11887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37560" y="1417320"/>
            <a:ext cx="73152" cy="11887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20440" y="1527048"/>
            <a:ext cx="2423160" cy="365760"/>
          </a:xfrm>
          <a:prstGeom prst="rect">
            <a:avLst/>
          </a:prstGeom>
          <a:noFill/>
        </p:spPr>
        <p:txBody>
          <a:bodyPr wrap="square" anchor="t" lIns="0" rIns="0" tIns="0" bIns="0">
            <a:spAutoFit/>
          </a:bodyPr>
          <a:lstStyle/>
          <a:p>
            <a:pPr algn="l">
              <a:lnSpc>
                <a:spcPct val="120000"/>
              </a:lnSpc>
            </a:pPr>
            <a:r>
              <a:rPr sz="1200" b="1">
                <a:solidFill>
                  <a:srgbClr val="0F2A4F"/>
                </a:solidFill>
                <a:latin typeface="Helvetica Neue"/>
                <a:ea typeface="Helvetica Neue"/>
                <a:cs typeface="Helvetica Neue"/>
              </a:rPr>
              <a:t>Consent Mode v2</a:t>
            </a:r>
          </a:p>
        </p:txBody>
      </p:sp>
      <p:sp>
        <p:nvSpPr>
          <p:cNvPr id="15" name="TextBox 14"/>
          <p:cNvSpPr txBox="1"/>
          <p:nvPr/>
        </p:nvSpPr>
        <p:spPr>
          <a:xfrm>
            <a:off x="3520440" y="1920240"/>
            <a:ext cx="2423160" cy="640080"/>
          </a:xfrm>
          <a:prstGeom prst="rect">
            <a:avLst/>
          </a:prstGeom>
          <a:noFill/>
        </p:spPr>
        <p:txBody>
          <a:bodyPr wrap="square" anchor="t" lIns="0" rIns="0" tIns="0" bIns="0">
            <a:spAutoFit/>
          </a:bodyPr>
          <a:lstStyle/>
          <a:p>
            <a:pPr algn="l">
              <a:lnSpc>
                <a:spcPct val="145000"/>
              </a:lnSpc>
            </a:pPr>
            <a:r>
              <a:rPr sz="900" b="0">
                <a:solidFill>
                  <a:srgbClr val="1A1A1A"/>
                </a:solidFill>
                <a:latin typeface="Hiragino Sans"/>
                <a:ea typeface="Hiragino Sans"/>
                <a:cs typeface="Hiragino Sans"/>
              </a:rPr>
              <a:t>Google同意管理. EEA 2024/03 義務化</a:t>
            </a:r>
          </a:p>
        </p:txBody>
      </p:sp>
      <p:sp>
        <p:nvSpPr>
          <p:cNvPr id="16" name="Rounded Rectangle 15"/>
          <p:cNvSpPr/>
          <p:nvPr/>
        </p:nvSpPr>
        <p:spPr>
          <a:xfrm>
            <a:off x="6126480" y="1417320"/>
            <a:ext cx="2697480" cy="11887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0" y="1417320"/>
            <a:ext cx="73152" cy="11887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60" y="1527048"/>
            <a:ext cx="2423160" cy="365760"/>
          </a:xfrm>
          <a:prstGeom prst="rect">
            <a:avLst/>
          </a:prstGeom>
          <a:noFill/>
        </p:spPr>
        <p:txBody>
          <a:bodyPr wrap="square" anchor="t" lIns="0" rIns="0" tIns="0" bIns="0">
            <a:spAutoFit/>
          </a:bodyPr>
          <a:lstStyle/>
          <a:p>
            <a:pPr algn="l">
              <a:lnSpc>
                <a:spcPct val="120000"/>
              </a:lnSpc>
            </a:pPr>
            <a:r>
              <a:rPr sz="1200" b="1">
                <a:solidFill>
                  <a:srgbClr val="0F2A4F"/>
                </a:solidFill>
                <a:latin typeface="Helvetica Neue"/>
                <a:ea typeface="Helvetica Neue"/>
                <a:cs typeface="Helvetica Neue"/>
              </a:rPr>
              <a:t>CDP</a:t>
            </a:r>
          </a:p>
        </p:txBody>
      </p:sp>
      <p:sp>
        <p:nvSpPr>
          <p:cNvPr id="19" name="TextBox 18"/>
          <p:cNvSpPr txBox="1"/>
          <p:nvPr/>
        </p:nvSpPr>
        <p:spPr>
          <a:xfrm>
            <a:off x="6309360" y="1920240"/>
            <a:ext cx="2423160" cy="640080"/>
          </a:xfrm>
          <a:prstGeom prst="rect">
            <a:avLst/>
          </a:prstGeom>
          <a:noFill/>
        </p:spPr>
        <p:txBody>
          <a:bodyPr wrap="square" anchor="t" lIns="0" rIns="0" tIns="0" bIns="0">
            <a:spAutoFit/>
          </a:bodyPr>
          <a:lstStyle/>
          <a:p>
            <a:pPr algn="l">
              <a:lnSpc>
                <a:spcPct val="145000"/>
              </a:lnSpc>
            </a:pPr>
            <a:r>
              <a:rPr sz="900" b="0">
                <a:solidFill>
                  <a:srgbClr val="1A1A1A"/>
                </a:solidFill>
                <a:latin typeface="Hiragino Sans"/>
                <a:ea typeface="Hiragino Sans"/>
                <a:cs typeface="Hiragino Sans"/>
              </a:rPr>
              <a:t>Customer Data Platform. 1PD統合配信プラットフォーム</a:t>
            </a:r>
          </a:p>
        </p:txBody>
      </p:sp>
      <p:sp>
        <p:nvSpPr>
          <p:cNvPr id="20" name="Rounded Rectangle 19"/>
          <p:cNvSpPr/>
          <p:nvPr/>
        </p:nvSpPr>
        <p:spPr>
          <a:xfrm>
            <a:off x="8915400" y="1417320"/>
            <a:ext cx="2697480" cy="11887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915400" y="1417320"/>
            <a:ext cx="73152" cy="11887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98280" y="1527048"/>
            <a:ext cx="2423160" cy="365760"/>
          </a:xfrm>
          <a:prstGeom prst="rect">
            <a:avLst/>
          </a:prstGeom>
          <a:noFill/>
        </p:spPr>
        <p:txBody>
          <a:bodyPr wrap="square" anchor="t" lIns="0" rIns="0" tIns="0" bIns="0">
            <a:spAutoFit/>
          </a:bodyPr>
          <a:lstStyle/>
          <a:p>
            <a:pPr algn="l">
              <a:lnSpc>
                <a:spcPct val="120000"/>
              </a:lnSpc>
            </a:pPr>
            <a:r>
              <a:rPr sz="1200" b="1">
                <a:solidFill>
                  <a:srgbClr val="0F2A4F"/>
                </a:solidFill>
                <a:latin typeface="Helvetica Neue"/>
                <a:ea typeface="Helvetica Neue"/>
                <a:cs typeface="Helvetica Neue"/>
              </a:rPr>
              <a:t>Customer Match</a:t>
            </a:r>
          </a:p>
        </p:txBody>
      </p:sp>
      <p:sp>
        <p:nvSpPr>
          <p:cNvPr id="23" name="TextBox 22"/>
          <p:cNvSpPr txBox="1"/>
          <p:nvPr/>
        </p:nvSpPr>
        <p:spPr>
          <a:xfrm>
            <a:off x="9098280" y="1920240"/>
            <a:ext cx="2423160" cy="640080"/>
          </a:xfrm>
          <a:prstGeom prst="rect">
            <a:avLst/>
          </a:prstGeom>
          <a:noFill/>
        </p:spPr>
        <p:txBody>
          <a:bodyPr wrap="square" anchor="t" lIns="0" rIns="0" tIns="0" bIns="0">
            <a:spAutoFit/>
          </a:bodyPr>
          <a:lstStyle/>
          <a:p>
            <a:pPr algn="l">
              <a:lnSpc>
                <a:spcPct val="145000"/>
              </a:lnSpc>
            </a:pPr>
            <a:r>
              <a:rPr sz="900" b="0">
                <a:solidFill>
                  <a:srgbClr val="1A1A1A"/>
                </a:solidFill>
                <a:latin typeface="Hiragino Sans"/>
                <a:ea typeface="Hiragino Sans"/>
                <a:cs typeface="Hiragino Sans"/>
              </a:rPr>
              <a:t>顧客リスト広告連携. 全媒体で標準機能</a:t>
            </a:r>
          </a:p>
        </p:txBody>
      </p:sp>
      <p:sp>
        <p:nvSpPr>
          <p:cNvPr id="24" name="Rounded Rectangle 23"/>
          <p:cNvSpPr/>
          <p:nvPr/>
        </p:nvSpPr>
        <p:spPr>
          <a:xfrm>
            <a:off x="548640" y="2697480"/>
            <a:ext cx="2697480" cy="11887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2697480"/>
            <a:ext cx="73152" cy="11887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2807208"/>
            <a:ext cx="2423160" cy="365760"/>
          </a:xfrm>
          <a:prstGeom prst="rect">
            <a:avLst/>
          </a:prstGeom>
          <a:noFill/>
        </p:spPr>
        <p:txBody>
          <a:bodyPr wrap="square" anchor="t" lIns="0" rIns="0" tIns="0" bIns="0">
            <a:spAutoFit/>
          </a:bodyPr>
          <a:lstStyle/>
          <a:p>
            <a:pPr algn="l">
              <a:lnSpc>
                <a:spcPct val="120000"/>
              </a:lnSpc>
            </a:pPr>
            <a:r>
              <a:rPr sz="1200" b="1">
                <a:solidFill>
                  <a:srgbClr val="0F2A4F"/>
                </a:solidFill>
                <a:latin typeface="Helvetica Neue"/>
                <a:ea typeface="Helvetica Neue"/>
                <a:cs typeface="Helvetica Neue"/>
              </a:rPr>
              <a:t>DDA</a:t>
            </a:r>
          </a:p>
        </p:txBody>
      </p:sp>
      <p:sp>
        <p:nvSpPr>
          <p:cNvPr id="27" name="TextBox 26"/>
          <p:cNvSpPr txBox="1"/>
          <p:nvPr/>
        </p:nvSpPr>
        <p:spPr>
          <a:xfrm>
            <a:off x="731520" y="3200400"/>
            <a:ext cx="2423160" cy="640080"/>
          </a:xfrm>
          <a:prstGeom prst="rect">
            <a:avLst/>
          </a:prstGeom>
          <a:noFill/>
        </p:spPr>
        <p:txBody>
          <a:bodyPr wrap="square" anchor="t" lIns="0" rIns="0" tIns="0" bIns="0">
            <a:spAutoFit/>
          </a:bodyPr>
          <a:lstStyle/>
          <a:p>
            <a:pPr algn="l">
              <a:lnSpc>
                <a:spcPct val="145000"/>
              </a:lnSpc>
            </a:pPr>
            <a:r>
              <a:rPr sz="900" b="0">
                <a:solidFill>
                  <a:srgbClr val="1A1A1A"/>
                </a:solidFill>
                <a:latin typeface="Hiragino Sans"/>
                <a:ea typeface="Hiragino Sans"/>
                <a:cs typeface="Hiragino Sans"/>
              </a:rPr>
              <a:t>Data-Driven Attribution. ML基盤のCV配分. GA4/GAds標準</a:t>
            </a:r>
          </a:p>
        </p:txBody>
      </p:sp>
      <p:sp>
        <p:nvSpPr>
          <p:cNvPr id="28" name="Rounded Rectangle 27"/>
          <p:cNvSpPr/>
          <p:nvPr/>
        </p:nvSpPr>
        <p:spPr>
          <a:xfrm>
            <a:off x="3337560" y="2697480"/>
            <a:ext cx="2697480" cy="11887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337560" y="2697480"/>
            <a:ext cx="73152" cy="11887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520440" y="2807208"/>
            <a:ext cx="2423160" cy="365760"/>
          </a:xfrm>
          <a:prstGeom prst="rect">
            <a:avLst/>
          </a:prstGeom>
          <a:noFill/>
        </p:spPr>
        <p:txBody>
          <a:bodyPr wrap="square" anchor="t" lIns="0" rIns="0" tIns="0" bIns="0">
            <a:spAutoFit/>
          </a:bodyPr>
          <a:lstStyle/>
          <a:p>
            <a:pPr algn="l">
              <a:lnSpc>
                <a:spcPct val="120000"/>
              </a:lnSpc>
            </a:pPr>
            <a:r>
              <a:rPr sz="1200" b="1">
                <a:solidFill>
                  <a:srgbClr val="0F2A4F"/>
                </a:solidFill>
                <a:latin typeface="Helvetica Neue"/>
                <a:ea typeface="Helvetica Neue"/>
                <a:cs typeface="Helvetica Neue"/>
              </a:rPr>
              <a:t>Demand Gen</a:t>
            </a:r>
          </a:p>
        </p:txBody>
      </p:sp>
      <p:sp>
        <p:nvSpPr>
          <p:cNvPr id="31" name="TextBox 30"/>
          <p:cNvSpPr txBox="1"/>
          <p:nvPr/>
        </p:nvSpPr>
        <p:spPr>
          <a:xfrm>
            <a:off x="3520440" y="3200400"/>
            <a:ext cx="2423160" cy="640080"/>
          </a:xfrm>
          <a:prstGeom prst="rect">
            <a:avLst/>
          </a:prstGeom>
          <a:noFill/>
        </p:spPr>
        <p:txBody>
          <a:bodyPr wrap="square" anchor="t" lIns="0" rIns="0" tIns="0" bIns="0">
            <a:spAutoFit/>
          </a:bodyPr>
          <a:lstStyle/>
          <a:p>
            <a:pPr algn="l">
              <a:lnSpc>
                <a:spcPct val="145000"/>
              </a:lnSpc>
            </a:pPr>
            <a:r>
              <a:rPr sz="900" b="0">
                <a:solidFill>
                  <a:srgbClr val="1A1A1A"/>
                </a:solidFill>
                <a:latin typeface="Hiragino Sans"/>
                <a:ea typeface="Hiragino Sans"/>
                <a:cs typeface="Hiragino Sans"/>
              </a:rPr>
              <a:t>Google需要喚起型 (2023/10 Discovery統合)</a:t>
            </a:r>
          </a:p>
        </p:txBody>
      </p:sp>
      <p:sp>
        <p:nvSpPr>
          <p:cNvPr id="32" name="Rounded Rectangle 31"/>
          <p:cNvSpPr/>
          <p:nvPr/>
        </p:nvSpPr>
        <p:spPr>
          <a:xfrm>
            <a:off x="6126480" y="2697480"/>
            <a:ext cx="2697480" cy="11887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26480" y="2697480"/>
            <a:ext cx="73152" cy="11887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09360" y="2807208"/>
            <a:ext cx="2423160" cy="365760"/>
          </a:xfrm>
          <a:prstGeom prst="rect">
            <a:avLst/>
          </a:prstGeom>
          <a:noFill/>
        </p:spPr>
        <p:txBody>
          <a:bodyPr wrap="square" anchor="t" lIns="0" rIns="0" tIns="0" bIns="0">
            <a:spAutoFit/>
          </a:bodyPr>
          <a:lstStyle/>
          <a:p>
            <a:pPr algn="l">
              <a:lnSpc>
                <a:spcPct val="120000"/>
              </a:lnSpc>
            </a:pPr>
            <a:r>
              <a:rPr sz="1200" b="1">
                <a:solidFill>
                  <a:srgbClr val="0F2A4F"/>
                </a:solidFill>
                <a:latin typeface="Helvetica Neue"/>
                <a:ea typeface="Helvetica Neue"/>
                <a:cs typeface="Helvetica Neue"/>
              </a:rPr>
              <a:t>EMQ</a:t>
            </a:r>
          </a:p>
        </p:txBody>
      </p:sp>
      <p:sp>
        <p:nvSpPr>
          <p:cNvPr id="35" name="TextBox 34"/>
          <p:cNvSpPr txBox="1"/>
          <p:nvPr/>
        </p:nvSpPr>
        <p:spPr>
          <a:xfrm>
            <a:off x="6309360" y="3200400"/>
            <a:ext cx="2423160" cy="640080"/>
          </a:xfrm>
          <a:prstGeom prst="rect">
            <a:avLst/>
          </a:prstGeom>
          <a:noFill/>
        </p:spPr>
        <p:txBody>
          <a:bodyPr wrap="square" anchor="t" lIns="0" rIns="0" tIns="0" bIns="0">
            <a:spAutoFit/>
          </a:bodyPr>
          <a:lstStyle/>
          <a:p>
            <a:pPr algn="l">
              <a:lnSpc>
                <a:spcPct val="145000"/>
              </a:lnSpc>
            </a:pPr>
            <a:r>
              <a:rPr sz="900" b="0">
                <a:solidFill>
                  <a:srgbClr val="1A1A1A"/>
                </a:solidFill>
                <a:latin typeface="Hiragino Sans"/>
                <a:ea typeface="Hiragino Sans"/>
                <a:cs typeface="Hiragino Sans"/>
              </a:rPr>
              <a:t>Event Match Quality. CAPI送信品質スコア (Meta)</a:t>
            </a:r>
          </a:p>
        </p:txBody>
      </p:sp>
      <p:sp>
        <p:nvSpPr>
          <p:cNvPr id="36" name="Rounded Rectangle 35"/>
          <p:cNvSpPr/>
          <p:nvPr/>
        </p:nvSpPr>
        <p:spPr>
          <a:xfrm>
            <a:off x="8915400" y="2697480"/>
            <a:ext cx="2697480" cy="11887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915400" y="2697480"/>
            <a:ext cx="73152" cy="11887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98280" y="2807208"/>
            <a:ext cx="2423160" cy="365760"/>
          </a:xfrm>
          <a:prstGeom prst="rect">
            <a:avLst/>
          </a:prstGeom>
          <a:noFill/>
        </p:spPr>
        <p:txBody>
          <a:bodyPr wrap="square" anchor="t" lIns="0" rIns="0" tIns="0" bIns="0">
            <a:spAutoFit/>
          </a:bodyPr>
          <a:lstStyle/>
          <a:p>
            <a:pPr algn="l">
              <a:lnSpc>
                <a:spcPct val="120000"/>
              </a:lnSpc>
            </a:pPr>
            <a:r>
              <a:rPr sz="1200" b="1">
                <a:solidFill>
                  <a:srgbClr val="0F2A4F"/>
                </a:solidFill>
                <a:latin typeface="Helvetica Neue"/>
                <a:ea typeface="Helvetica Neue"/>
                <a:cs typeface="Helvetica Neue"/>
              </a:rPr>
              <a:t>Enhanced</a:t>
            </a:r>
          </a:p>
          <a:p>
            <a:pPr algn="l">
              <a:lnSpc>
                <a:spcPct val="120000"/>
              </a:lnSpc>
            </a:pPr>
            <a:r>
              <a:rPr sz="1200" b="1">
                <a:solidFill>
                  <a:srgbClr val="0F2A4F"/>
                </a:solidFill>
                <a:latin typeface="Helvetica Neue"/>
                <a:ea typeface="Helvetica Neue"/>
                <a:cs typeface="Helvetica Neue"/>
              </a:rPr>
              <a:t>Conversions</a:t>
            </a:r>
          </a:p>
        </p:txBody>
      </p:sp>
      <p:sp>
        <p:nvSpPr>
          <p:cNvPr id="39" name="TextBox 38"/>
          <p:cNvSpPr txBox="1"/>
          <p:nvPr/>
        </p:nvSpPr>
        <p:spPr>
          <a:xfrm>
            <a:off x="9098280" y="3200400"/>
            <a:ext cx="2423160" cy="640080"/>
          </a:xfrm>
          <a:prstGeom prst="rect">
            <a:avLst/>
          </a:prstGeom>
          <a:noFill/>
        </p:spPr>
        <p:txBody>
          <a:bodyPr wrap="square" anchor="t" lIns="0" rIns="0" tIns="0" bIns="0">
            <a:spAutoFit/>
          </a:bodyPr>
          <a:lstStyle/>
          <a:p>
            <a:pPr algn="l">
              <a:lnSpc>
                <a:spcPct val="145000"/>
              </a:lnSpc>
            </a:pPr>
            <a:r>
              <a:rPr sz="900" b="0">
                <a:solidFill>
                  <a:srgbClr val="1A1A1A"/>
                </a:solidFill>
                <a:latin typeface="Hiragino Sans"/>
                <a:ea typeface="Hiragino Sans"/>
                <a:cs typeface="Hiragino Sans"/>
              </a:rPr>
              <a:t>Google拡張CV. ハッシュ化1PDで計測補強</a:t>
            </a:r>
          </a:p>
        </p:txBody>
      </p:sp>
      <p:sp>
        <p:nvSpPr>
          <p:cNvPr id="40" name="TextBox 39"/>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用語集 (3/3) : G - T</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2024-2026 業界用語集</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P234 / 250</a:t>
            </a:r>
          </a:p>
        </p:txBody>
      </p:sp>
      <p:sp>
        <p:nvSpPr>
          <p:cNvPr id="8" name="Rounded Rectangle 7"/>
          <p:cNvSpPr/>
          <p:nvPr/>
        </p:nvSpPr>
        <p:spPr>
          <a:xfrm>
            <a:off x="548640" y="1325880"/>
            <a:ext cx="2697480" cy="9601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25880"/>
            <a:ext cx="73152" cy="9601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417320"/>
            <a:ext cx="2423160" cy="320040"/>
          </a:xfrm>
          <a:prstGeom prst="rect">
            <a:avLst/>
          </a:prstGeom>
          <a:noFill/>
        </p:spPr>
        <p:txBody>
          <a:bodyPr wrap="square" anchor="t" lIns="0" rIns="0" tIns="0" bIns="0">
            <a:spAutoFit/>
          </a:bodyPr>
          <a:lstStyle/>
          <a:p>
            <a:pPr algn="l">
              <a:lnSpc>
                <a:spcPct val="115000"/>
              </a:lnSpc>
            </a:pPr>
            <a:r>
              <a:rPr sz="1100" b="1">
                <a:solidFill>
                  <a:srgbClr val="0F2A4F"/>
                </a:solidFill>
                <a:latin typeface="Helvetica Neue"/>
                <a:ea typeface="Helvetica Neue"/>
                <a:cs typeface="Helvetica Neue"/>
              </a:rPr>
              <a:t>GEO</a:t>
            </a:r>
          </a:p>
        </p:txBody>
      </p:sp>
      <p:sp>
        <p:nvSpPr>
          <p:cNvPr id="11" name="TextBox 10"/>
          <p:cNvSpPr txBox="1"/>
          <p:nvPr/>
        </p:nvSpPr>
        <p:spPr>
          <a:xfrm>
            <a:off x="731520" y="1737360"/>
            <a:ext cx="2423160" cy="502920"/>
          </a:xfrm>
          <a:prstGeom prst="rect">
            <a:avLst/>
          </a:prstGeom>
          <a:noFill/>
        </p:spPr>
        <p:txBody>
          <a:bodyPr wrap="square" anchor="t" lIns="0" rIns="0" tIns="0" bIns="0">
            <a:spAutoFit/>
          </a:bodyPr>
          <a:lstStyle/>
          <a:p>
            <a:pPr algn="l">
              <a:lnSpc>
                <a:spcPct val="140000"/>
              </a:lnSpc>
            </a:pPr>
            <a:r>
              <a:rPr sz="900" b="0">
                <a:solidFill>
                  <a:srgbClr val="1A1A1A"/>
                </a:solidFill>
                <a:latin typeface="Hiragino Sans"/>
                <a:ea typeface="Hiragino Sans"/>
                <a:cs typeface="Hiragino Sans"/>
              </a:rPr>
              <a:t>Generative Engine Optimization. LLM検索向け最適化</a:t>
            </a:r>
          </a:p>
        </p:txBody>
      </p:sp>
      <p:sp>
        <p:nvSpPr>
          <p:cNvPr id="12" name="Rounded Rectangle 11"/>
          <p:cNvSpPr/>
          <p:nvPr/>
        </p:nvSpPr>
        <p:spPr>
          <a:xfrm>
            <a:off x="3337560" y="1325880"/>
            <a:ext cx="2697480" cy="9601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37560" y="1325880"/>
            <a:ext cx="73152" cy="9601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20440" y="1417320"/>
            <a:ext cx="2423160" cy="320040"/>
          </a:xfrm>
          <a:prstGeom prst="rect">
            <a:avLst/>
          </a:prstGeom>
          <a:noFill/>
        </p:spPr>
        <p:txBody>
          <a:bodyPr wrap="square" anchor="t" lIns="0" rIns="0" tIns="0" bIns="0">
            <a:spAutoFit/>
          </a:bodyPr>
          <a:lstStyle/>
          <a:p>
            <a:pPr algn="l">
              <a:lnSpc>
                <a:spcPct val="115000"/>
              </a:lnSpc>
            </a:pPr>
            <a:r>
              <a:rPr sz="1100" b="1">
                <a:solidFill>
                  <a:srgbClr val="0F2A4F"/>
                </a:solidFill>
                <a:latin typeface="Helvetica Neue"/>
                <a:ea typeface="Helvetica Neue"/>
                <a:cs typeface="Helvetica Neue"/>
              </a:rPr>
              <a:t>Lift Test</a:t>
            </a:r>
          </a:p>
        </p:txBody>
      </p:sp>
      <p:sp>
        <p:nvSpPr>
          <p:cNvPr id="15" name="TextBox 14"/>
          <p:cNvSpPr txBox="1"/>
          <p:nvPr/>
        </p:nvSpPr>
        <p:spPr>
          <a:xfrm>
            <a:off x="3520440" y="1737360"/>
            <a:ext cx="2423160" cy="502920"/>
          </a:xfrm>
          <a:prstGeom prst="rect">
            <a:avLst/>
          </a:prstGeom>
          <a:noFill/>
        </p:spPr>
        <p:txBody>
          <a:bodyPr wrap="square" anchor="t" lIns="0" rIns="0" tIns="0" bIns="0">
            <a:spAutoFit/>
          </a:bodyPr>
          <a:lstStyle/>
          <a:p>
            <a:pPr algn="l">
              <a:lnSpc>
                <a:spcPct val="140000"/>
              </a:lnSpc>
            </a:pPr>
            <a:r>
              <a:rPr sz="900" b="0">
                <a:solidFill>
                  <a:srgbClr val="1A1A1A"/>
                </a:solidFill>
                <a:latin typeface="Hiragino Sans"/>
                <a:ea typeface="Hiragino Sans"/>
                <a:cs typeface="Hiragino Sans"/>
              </a:rPr>
              <a:t>Conversion / Brand / Search Lift. Incremental効果測定</a:t>
            </a:r>
          </a:p>
        </p:txBody>
      </p:sp>
      <p:sp>
        <p:nvSpPr>
          <p:cNvPr id="16" name="Rounded Rectangle 15"/>
          <p:cNvSpPr/>
          <p:nvPr/>
        </p:nvSpPr>
        <p:spPr>
          <a:xfrm>
            <a:off x="6126480" y="1325880"/>
            <a:ext cx="2697480" cy="9601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0" y="1325880"/>
            <a:ext cx="73152" cy="9601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60" y="1417320"/>
            <a:ext cx="2423160" cy="320040"/>
          </a:xfrm>
          <a:prstGeom prst="rect">
            <a:avLst/>
          </a:prstGeom>
          <a:noFill/>
        </p:spPr>
        <p:txBody>
          <a:bodyPr wrap="square" anchor="t" lIns="0" rIns="0" tIns="0" bIns="0">
            <a:spAutoFit/>
          </a:bodyPr>
          <a:lstStyle/>
          <a:p>
            <a:pPr algn="l">
              <a:lnSpc>
                <a:spcPct val="115000"/>
              </a:lnSpc>
            </a:pPr>
            <a:r>
              <a:rPr sz="1100" b="1">
                <a:solidFill>
                  <a:srgbClr val="0F2A4F"/>
                </a:solidFill>
                <a:latin typeface="Helvetica Neue"/>
                <a:ea typeface="Helvetica Neue"/>
                <a:cs typeface="Helvetica Neue"/>
              </a:rPr>
              <a:t>Meridian</a:t>
            </a:r>
          </a:p>
        </p:txBody>
      </p:sp>
      <p:sp>
        <p:nvSpPr>
          <p:cNvPr id="19" name="TextBox 18"/>
          <p:cNvSpPr txBox="1"/>
          <p:nvPr/>
        </p:nvSpPr>
        <p:spPr>
          <a:xfrm>
            <a:off x="6309360" y="1737360"/>
            <a:ext cx="2423160" cy="502920"/>
          </a:xfrm>
          <a:prstGeom prst="rect">
            <a:avLst/>
          </a:prstGeom>
          <a:noFill/>
        </p:spPr>
        <p:txBody>
          <a:bodyPr wrap="square" anchor="t" lIns="0" rIns="0" tIns="0" bIns="0">
            <a:spAutoFit/>
          </a:bodyPr>
          <a:lstStyle/>
          <a:p>
            <a:pPr algn="l">
              <a:lnSpc>
                <a:spcPct val="140000"/>
              </a:lnSpc>
            </a:pPr>
            <a:r>
              <a:rPr sz="900" b="0">
                <a:solidFill>
                  <a:srgbClr val="1A1A1A"/>
                </a:solidFill>
                <a:latin typeface="Hiragino Sans"/>
                <a:ea typeface="Hiragino Sans"/>
                <a:cs typeface="Hiragino Sans"/>
              </a:rPr>
              <a:t>Google MMM (2024 OSS). Python/Bayesian</a:t>
            </a:r>
          </a:p>
        </p:txBody>
      </p:sp>
      <p:sp>
        <p:nvSpPr>
          <p:cNvPr id="20" name="Rounded Rectangle 19"/>
          <p:cNvSpPr/>
          <p:nvPr/>
        </p:nvSpPr>
        <p:spPr>
          <a:xfrm>
            <a:off x="8915400" y="1325880"/>
            <a:ext cx="2697480" cy="9601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915400" y="1325880"/>
            <a:ext cx="73152" cy="9601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98280" y="1417320"/>
            <a:ext cx="2423160" cy="320040"/>
          </a:xfrm>
          <a:prstGeom prst="rect">
            <a:avLst/>
          </a:prstGeom>
          <a:noFill/>
        </p:spPr>
        <p:txBody>
          <a:bodyPr wrap="square" anchor="t" lIns="0" rIns="0" tIns="0" bIns="0">
            <a:spAutoFit/>
          </a:bodyPr>
          <a:lstStyle/>
          <a:p>
            <a:pPr algn="l">
              <a:lnSpc>
                <a:spcPct val="115000"/>
              </a:lnSpc>
            </a:pPr>
            <a:r>
              <a:rPr sz="1100" b="1">
                <a:solidFill>
                  <a:srgbClr val="0F2A4F"/>
                </a:solidFill>
                <a:latin typeface="Helvetica Neue"/>
                <a:ea typeface="Helvetica Neue"/>
                <a:cs typeface="Helvetica Neue"/>
              </a:rPr>
              <a:t>MMM</a:t>
            </a:r>
          </a:p>
        </p:txBody>
      </p:sp>
      <p:sp>
        <p:nvSpPr>
          <p:cNvPr id="23" name="TextBox 22"/>
          <p:cNvSpPr txBox="1"/>
          <p:nvPr/>
        </p:nvSpPr>
        <p:spPr>
          <a:xfrm>
            <a:off x="9098280" y="1737360"/>
            <a:ext cx="2423160" cy="502920"/>
          </a:xfrm>
          <a:prstGeom prst="rect">
            <a:avLst/>
          </a:prstGeom>
          <a:noFill/>
        </p:spPr>
        <p:txBody>
          <a:bodyPr wrap="square" anchor="t" lIns="0" rIns="0" tIns="0" bIns="0">
            <a:spAutoFit/>
          </a:bodyPr>
          <a:lstStyle/>
          <a:p>
            <a:pPr algn="l">
              <a:lnSpc>
                <a:spcPct val="140000"/>
              </a:lnSpc>
            </a:pPr>
            <a:r>
              <a:rPr sz="900" b="0">
                <a:solidFill>
                  <a:srgbClr val="1A1A1A"/>
                </a:solidFill>
                <a:latin typeface="Hiragino Sans"/>
                <a:ea typeface="Hiragino Sans"/>
                <a:cs typeface="Hiragino Sans"/>
              </a:rPr>
              <a:t>Media Mix Modeling. 統計モデルで媒体貢献推定</a:t>
            </a:r>
          </a:p>
        </p:txBody>
      </p:sp>
      <p:sp>
        <p:nvSpPr>
          <p:cNvPr id="24" name="Rounded Rectangle 23"/>
          <p:cNvSpPr/>
          <p:nvPr/>
        </p:nvSpPr>
        <p:spPr>
          <a:xfrm>
            <a:off x="548640" y="2377440"/>
            <a:ext cx="2697480" cy="9601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2377440"/>
            <a:ext cx="73152" cy="9601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2468880"/>
            <a:ext cx="2423160" cy="320040"/>
          </a:xfrm>
          <a:prstGeom prst="rect">
            <a:avLst/>
          </a:prstGeom>
          <a:noFill/>
        </p:spPr>
        <p:txBody>
          <a:bodyPr wrap="square" anchor="t" lIns="0" rIns="0" tIns="0" bIns="0">
            <a:spAutoFit/>
          </a:bodyPr>
          <a:lstStyle/>
          <a:p>
            <a:pPr algn="l">
              <a:lnSpc>
                <a:spcPct val="115000"/>
              </a:lnSpc>
            </a:pPr>
            <a:r>
              <a:rPr sz="1100" b="1">
                <a:solidFill>
                  <a:srgbClr val="0F2A4F"/>
                </a:solidFill>
                <a:latin typeface="Helvetica Neue"/>
                <a:ea typeface="Helvetica Neue"/>
                <a:cs typeface="Helvetica Neue"/>
              </a:rPr>
              <a:t>PMax</a:t>
            </a:r>
          </a:p>
        </p:txBody>
      </p:sp>
      <p:sp>
        <p:nvSpPr>
          <p:cNvPr id="27" name="TextBox 26"/>
          <p:cNvSpPr txBox="1"/>
          <p:nvPr/>
        </p:nvSpPr>
        <p:spPr>
          <a:xfrm>
            <a:off x="731520" y="2788920"/>
            <a:ext cx="2423160" cy="502920"/>
          </a:xfrm>
          <a:prstGeom prst="rect">
            <a:avLst/>
          </a:prstGeom>
          <a:noFill/>
        </p:spPr>
        <p:txBody>
          <a:bodyPr wrap="square" anchor="t" lIns="0" rIns="0" tIns="0" bIns="0">
            <a:spAutoFit/>
          </a:bodyPr>
          <a:lstStyle/>
          <a:p>
            <a:pPr algn="l">
              <a:lnSpc>
                <a:spcPct val="140000"/>
              </a:lnSpc>
            </a:pPr>
            <a:r>
              <a:rPr sz="900" b="0">
                <a:solidFill>
                  <a:srgbClr val="1A1A1A"/>
                </a:solidFill>
                <a:latin typeface="Hiragino Sans"/>
                <a:ea typeface="Hiragino Sans"/>
                <a:cs typeface="Hiragino Sans"/>
              </a:rPr>
              <a:t>Performance Max. Google統合AI配信</a:t>
            </a:r>
          </a:p>
        </p:txBody>
      </p:sp>
      <p:sp>
        <p:nvSpPr>
          <p:cNvPr id="28" name="Rounded Rectangle 27"/>
          <p:cNvSpPr/>
          <p:nvPr/>
        </p:nvSpPr>
        <p:spPr>
          <a:xfrm>
            <a:off x="3337560" y="2377440"/>
            <a:ext cx="2697480" cy="9601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337560" y="2377440"/>
            <a:ext cx="73152" cy="9601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520440" y="2468880"/>
            <a:ext cx="2423160" cy="320040"/>
          </a:xfrm>
          <a:prstGeom prst="rect">
            <a:avLst/>
          </a:prstGeom>
          <a:noFill/>
        </p:spPr>
        <p:txBody>
          <a:bodyPr wrap="square" anchor="t" lIns="0" rIns="0" tIns="0" bIns="0">
            <a:spAutoFit/>
          </a:bodyPr>
          <a:lstStyle/>
          <a:p>
            <a:pPr algn="l">
              <a:lnSpc>
                <a:spcPct val="115000"/>
              </a:lnSpc>
            </a:pPr>
            <a:r>
              <a:rPr sz="1100" b="1">
                <a:solidFill>
                  <a:srgbClr val="0F2A4F"/>
                </a:solidFill>
                <a:latin typeface="Helvetica Neue"/>
                <a:ea typeface="Helvetica Neue"/>
                <a:cs typeface="Helvetica Neue"/>
              </a:rPr>
              <a:t>Privacy Sandbox</a:t>
            </a:r>
          </a:p>
        </p:txBody>
      </p:sp>
      <p:sp>
        <p:nvSpPr>
          <p:cNvPr id="31" name="TextBox 30"/>
          <p:cNvSpPr txBox="1"/>
          <p:nvPr/>
        </p:nvSpPr>
        <p:spPr>
          <a:xfrm>
            <a:off x="3520440" y="2788920"/>
            <a:ext cx="2423160" cy="502920"/>
          </a:xfrm>
          <a:prstGeom prst="rect">
            <a:avLst/>
          </a:prstGeom>
          <a:noFill/>
        </p:spPr>
        <p:txBody>
          <a:bodyPr wrap="square" anchor="t" lIns="0" rIns="0" tIns="0" bIns="0">
            <a:spAutoFit/>
          </a:bodyPr>
          <a:lstStyle/>
          <a:p>
            <a:pPr algn="l">
              <a:lnSpc>
                <a:spcPct val="140000"/>
              </a:lnSpc>
            </a:pPr>
            <a:r>
              <a:rPr sz="900" b="0">
                <a:solidFill>
                  <a:srgbClr val="1A1A1A"/>
                </a:solidFill>
                <a:latin typeface="Hiragino Sans"/>
                <a:ea typeface="Hiragino Sans"/>
                <a:cs typeface="Hiragino Sans"/>
              </a:rPr>
              <a:t>Google Cookie代替案. 2025/10/17 大半廃止</a:t>
            </a:r>
          </a:p>
        </p:txBody>
      </p:sp>
      <p:sp>
        <p:nvSpPr>
          <p:cNvPr id="32" name="Rounded Rectangle 31"/>
          <p:cNvSpPr/>
          <p:nvPr/>
        </p:nvSpPr>
        <p:spPr>
          <a:xfrm>
            <a:off x="6126480" y="2377440"/>
            <a:ext cx="2697480" cy="9601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26480" y="2377440"/>
            <a:ext cx="73152" cy="9601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09360" y="2468880"/>
            <a:ext cx="2423160" cy="320040"/>
          </a:xfrm>
          <a:prstGeom prst="rect">
            <a:avLst/>
          </a:prstGeom>
          <a:noFill/>
        </p:spPr>
        <p:txBody>
          <a:bodyPr wrap="square" anchor="t" lIns="0" rIns="0" tIns="0" bIns="0">
            <a:spAutoFit/>
          </a:bodyPr>
          <a:lstStyle/>
          <a:p>
            <a:pPr algn="l">
              <a:lnSpc>
                <a:spcPct val="115000"/>
              </a:lnSpc>
            </a:pPr>
            <a:r>
              <a:rPr sz="1100" b="1">
                <a:solidFill>
                  <a:srgbClr val="0F2A4F"/>
                </a:solidFill>
                <a:latin typeface="Helvetica Neue"/>
                <a:ea typeface="Helvetica Neue"/>
                <a:cs typeface="Helvetica Neue"/>
              </a:rPr>
              <a:t>Robyn</a:t>
            </a:r>
          </a:p>
        </p:txBody>
      </p:sp>
      <p:sp>
        <p:nvSpPr>
          <p:cNvPr id="35" name="TextBox 34"/>
          <p:cNvSpPr txBox="1"/>
          <p:nvPr/>
        </p:nvSpPr>
        <p:spPr>
          <a:xfrm>
            <a:off x="6309360" y="2788920"/>
            <a:ext cx="2423160" cy="502920"/>
          </a:xfrm>
          <a:prstGeom prst="rect">
            <a:avLst/>
          </a:prstGeom>
          <a:noFill/>
        </p:spPr>
        <p:txBody>
          <a:bodyPr wrap="square" anchor="t" lIns="0" rIns="0" tIns="0" bIns="0">
            <a:spAutoFit/>
          </a:bodyPr>
          <a:lstStyle/>
          <a:p>
            <a:pPr algn="l">
              <a:lnSpc>
                <a:spcPct val="140000"/>
              </a:lnSpc>
            </a:pPr>
            <a:r>
              <a:rPr sz="900" b="0">
                <a:solidFill>
                  <a:srgbClr val="1A1A1A"/>
                </a:solidFill>
                <a:latin typeface="Hiragino Sans"/>
                <a:ea typeface="Hiragino Sans"/>
                <a:cs typeface="Hiragino Sans"/>
              </a:rPr>
              <a:t>Meta MMM (2023 OSS). R/Ridge回帰</a:t>
            </a:r>
          </a:p>
        </p:txBody>
      </p:sp>
      <p:sp>
        <p:nvSpPr>
          <p:cNvPr id="36" name="Rounded Rectangle 35"/>
          <p:cNvSpPr/>
          <p:nvPr/>
        </p:nvSpPr>
        <p:spPr>
          <a:xfrm>
            <a:off x="8915400" y="2377440"/>
            <a:ext cx="2697480" cy="9601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915400" y="2377440"/>
            <a:ext cx="73152" cy="9601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98280" y="2468880"/>
            <a:ext cx="2423160" cy="320040"/>
          </a:xfrm>
          <a:prstGeom prst="rect">
            <a:avLst/>
          </a:prstGeom>
          <a:noFill/>
        </p:spPr>
        <p:txBody>
          <a:bodyPr wrap="square" anchor="t" lIns="0" rIns="0" tIns="0" bIns="0">
            <a:spAutoFit/>
          </a:bodyPr>
          <a:lstStyle/>
          <a:p>
            <a:pPr algn="l">
              <a:lnSpc>
                <a:spcPct val="115000"/>
              </a:lnSpc>
            </a:pPr>
            <a:r>
              <a:rPr sz="1100" b="1">
                <a:solidFill>
                  <a:srgbClr val="0F2A4F"/>
                </a:solidFill>
                <a:latin typeface="Helvetica Neue"/>
                <a:ea typeface="Helvetica Neue"/>
                <a:cs typeface="Helvetica Neue"/>
              </a:rPr>
              <a:t>SGTM</a:t>
            </a:r>
          </a:p>
        </p:txBody>
      </p:sp>
      <p:sp>
        <p:nvSpPr>
          <p:cNvPr id="39" name="TextBox 38"/>
          <p:cNvSpPr txBox="1"/>
          <p:nvPr/>
        </p:nvSpPr>
        <p:spPr>
          <a:xfrm>
            <a:off x="9098280" y="2788920"/>
            <a:ext cx="2423160" cy="502920"/>
          </a:xfrm>
          <a:prstGeom prst="rect">
            <a:avLst/>
          </a:prstGeom>
          <a:noFill/>
        </p:spPr>
        <p:txBody>
          <a:bodyPr wrap="square" anchor="t" lIns="0" rIns="0" tIns="0" bIns="0">
            <a:spAutoFit/>
          </a:bodyPr>
          <a:lstStyle/>
          <a:p>
            <a:pPr algn="l">
              <a:lnSpc>
                <a:spcPct val="140000"/>
              </a:lnSpc>
            </a:pPr>
            <a:r>
              <a:rPr sz="900" b="0">
                <a:solidFill>
                  <a:srgbClr val="1A1A1A"/>
                </a:solidFill>
                <a:latin typeface="Hiragino Sans"/>
                <a:ea typeface="Hiragino Sans"/>
                <a:cs typeface="Hiragino Sans"/>
              </a:rPr>
              <a:t>Server-side GTM. 計測タグをサーバーで処理</a:t>
            </a:r>
          </a:p>
        </p:txBody>
      </p:sp>
      <p:sp>
        <p:nvSpPr>
          <p:cNvPr id="40" name="Rounded Rectangle 39"/>
          <p:cNvSpPr/>
          <p:nvPr/>
        </p:nvSpPr>
        <p:spPr>
          <a:xfrm>
            <a:off x="548640" y="3429000"/>
            <a:ext cx="2697480" cy="9601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 y="3429000"/>
            <a:ext cx="73152" cy="9601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1520" y="3520440"/>
            <a:ext cx="2423160" cy="320040"/>
          </a:xfrm>
          <a:prstGeom prst="rect">
            <a:avLst/>
          </a:prstGeom>
          <a:noFill/>
        </p:spPr>
        <p:txBody>
          <a:bodyPr wrap="square" anchor="t" lIns="0" rIns="0" tIns="0" bIns="0">
            <a:spAutoFit/>
          </a:bodyPr>
          <a:lstStyle/>
          <a:p>
            <a:pPr algn="l">
              <a:lnSpc>
                <a:spcPct val="115000"/>
              </a:lnSpc>
            </a:pPr>
            <a:r>
              <a:rPr sz="1100" b="1">
                <a:solidFill>
                  <a:srgbClr val="0F2A4F"/>
                </a:solidFill>
                <a:latin typeface="Helvetica Neue"/>
                <a:ea typeface="Helvetica Neue"/>
                <a:cs typeface="Helvetica Neue"/>
              </a:rPr>
              <a:t>Smart+</a:t>
            </a:r>
          </a:p>
        </p:txBody>
      </p:sp>
      <p:sp>
        <p:nvSpPr>
          <p:cNvPr id="43" name="TextBox 42"/>
          <p:cNvSpPr txBox="1"/>
          <p:nvPr/>
        </p:nvSpPr>
        <p:spPr>
          <a:xfrm>
            <a:off x="731520" y="3840480"/>
            <a:ext cx="2423160" cy="502920"/>
          </a:xfrm>
          <a:prstGeom prst="rect">
            <a:avLst/>
          </a:prstGeom>
          <a:noFill/>
        </p:spPr>
        <p:txBody>
          <a:bodyPr wrap="square" anchor="t" lIns="0" rIns="0" tIns="0" bIns="0">
            <a:spAutoFit/>
          </a:bodyPr>
          <a:lstStyle/>
          <a:p>
            <a:pPr algn="l">
              <a:lnSpc>
                <a:spcPct val="140000"/>
              </a:lnSpc>
            </a:pPr>
            <a:r>
              <a:rPr sz="900" b="0">
                <a:solidFill>
                  <a:srgbClr val="1A1A1A"/>
                </a:solidFill>
                <a:latin typeface="Hiragino Sans"/>
                <a:ea typeface="Hiragino Sans"/>
                <a:cs typeface="Hiragino Sans"/>
              </a:rPr>
              <a:t>TikTok完全自動化キャンペーン (2024/10)</a:t>
            </a:r>
          </a:p>
        </p:txBody>
      </p:sp>
      <p:sp>
        <p:nvSpPr>
          <p:cNvPr id="44" name="Rounded Rectangle 43"/>
          <p:cNvSpPr/>
          <p:nvPr/>
        </p:nvSpPr>
        <p:spPr>
          <a:xfrm>
            <a:off x="3337560" y="3429000"/>
            <a:ext cx="2697480" cy="9601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3337560" y="3429000"/>
            <a:ext cx="73152" cy="9601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520440" y="3520440"/>
            <a:ext cx="2423160" cy="320040"/>
          </a:xfrm>
          <a:prstGeom prst="rect">
            <a:avLst/>
          </a:prstGeom>
          <a:noFill/>
        </p:spPr>
        <p:txBody>
          <a:bodyPr wrap="square" anchor="t" lIns="0" rIns="0" tIns="0" bIns="0">
            <a:spAutoFit/>
          </a:bodyPr>
          <a:lstStyle/>
          <a:p>
            <a:pPr algn="l">
              <a:lnSpc>
                <a:spcPct val="115000"/>
              </a:lnSpc>
            </a:pPr>
            <a:r>
              <a:rPr sz="1100" b="1">
                <a:solidFill>
                  <a:srgbClr val="0F2A4F"/>
                </a:solidFill>
                <a:latin typeface="Helvetica Neue"/>
                <a:ea typeface="Helvetica Neue"/>
                <a:cs typeface="Helvetica Neue"/>
              </a:rPr>
              <a:t>Symphony</a:t>
            </a:r>
          </a:p>
        </p:txBody>
      </p:sp>
      <p:sp>
        <p:nvSpPr>
          <p:cNvPr id="47" name="TextBox 46"/>
          <p:cNvSpPr txBox="1"/>
          <p:nvPr/>
        </p:nvSpPr>
        <p:spPr>
          <a:xfrm>
            <a:off x="3520440" y="3840480"/>
            <a:ext cx="2423160" cy="502920"/>
          </a:xfrm>
          <a:prstGeom prst="rect">
            <a:avLst/>
          </a:prstGeom>
          <a:noFill/>
        </p:spPr>
        <p:txBody>
          <a:bodyPr wrap="square" anchor="t" lIns="0" rIns="0" tIns="0" bIns="0">
            <a:spAutoFit/>
          </a:bodyPr>
          <a:lstStyle/>
          <a:p>
            <a:pPr algn="l">
              <a:lnSpc>
                <a:spcPct val="140000"/>
              </a:lnSpc>
            </a:pPr>
            <a:r>
              <a:rPr sz="900" b="0">
                <a:solidFill>
                  <a:srgbClr val="1A1A1A"/>
                </a:solidFill>
                <a:latin typeface="Hiragino Sans"/>
                <a:ea typeface="Hiragino Sans"/>
                <a:cs typeface="Hiragino Sans"/>
              </a:rPr>
              <a:t>TikTok生成AIスイート (Creative Studio)</a:t>
            </a:r>
          </a:p>
        </p:txBody>
      </p:sp>
      <p:sp>
        <p:nvSpPr>
          <p:cNvPr id="48" name="Rounded Rectangle 47"/>
          <p:cNvSpPr/>
          <p:nvPr/>
        </p:nvSpPr>
        <p:spPr>
          <a:xfrm>
            <a:off x="6126480" y="3429000"/>
            <a:ext cx="2697480" cy="9601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6126480" y="3429000"/>
            <a:ext cx="73152" cy="9601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09360" y="3520440"/>
            <a:ext cx="2423160" cy="320040"/>
          </a:xfrm>
          <a:prstGeom prst="rect">
            <a:avLst/>
          </a:prstGeom>
          <a:noFill/>
        </p:spPr>
        <p:txBody>
          <a:bodyPr wrap="square" anchor="t" lIns="0" rIns="0" tIns="0" bIns="0">
            <a:spAutoFit/>
          </a:bodyPr>
          <a:lstStyle/>
          <a:p>
            <a:pPr algn="l">
              <a:lnSpc>
                <a:spcPct val="115000"/>
              </a:lnSpc>
            </a:pPr>
            <a:r>
              <a:rPr sz="1100" b="1">
                <a:solidFill>
                  <a:srgbClr val="0F2A4F"/>
                </a:solidFill>
                <a:latin typeface="Helvetica Neue"/>
                <a:ea typeface="Helvetica Neue"/>
                <a:cs typeface="Helvetica Neue"/>
              </a:rPr>
              <a:t>Spark Ads</a:t>
            </a:r>
          </a:p>
        </p:txBody>
      </p:sp>
      <p:sp>
        <p:nvSpPr>
          <p:cNvPr id="51" name="TextBox 50"/>
          <p:cNvSpPr txBox="1"/>
          <p:nvPr/>
        </p:nvSpPr>
        <p:spPr>
          <a:xfrm>
            <a:off x="6309360" y="3840480"/>
            <a:ext cx="2423160" cy="502920"/>
          </a:xfrm>
          <a:prstGeom prst="rect">
            <a:avLst/>
          </a:prstGeom>
          <a:noFill/>
        </p:spPr>
        <p:txBody>
          <a:bodyPr wrap="square" anchor="t" lIns="0" rIns="0" tIns="0" bIns="0">
            <a:spAutoFit/>
          </a:bodyPr>
          <a:lstStyle/>
          <a:p>
            <a:pPr algn="l">
              <a:lnSpc>
                <a:spcPct val="140000"/>
              </a:lnSpc>
            </a:pPr>
            <a:r>
              <a:rPr sz="900" b="0">
                <a:solidFill>
                  <a:srgbClr val="1A1A1A"/>
                </a:solidFill>
                <a:latin typeface="Hiragino Sans"/>
                <a:ea typeface="Hiragino Sans"/>
                <a:cs typeface="Hiragino Sans"/>
              </a:rPr>
              <a:t>TikTok UGC型広告. オーガニック投稿を広告化</a:t>
            </a:r>
          </a:p>
        </p:txBody>
      </p:sp>
      <p:sp>
        <p:nvSpPr>
          <p:cNvPr id="52" name="Rounded Rectangle 51"/>
          <p:cNvSpPr/>
          <p:nvPr/>
        </p:nvSpPr>
        <p:spPr>
          <a:xfrm>
            <a:off x="8915400" y="3429000"/>
            <a:ext cx="2697480" cy="9601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8915400" y="3429000"/>
            <a:ext cx="73152" cy="9601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098280" y="3520440"/>
            <a:ext cx="2423160" cy="320040"/>
          </a:xfrm>
          <a:prstGeom prst="rect">
            <a:avLst/>
          </a:prstGeom>
          <a:noFill/>
        </p:spPr>
        <p:txBody>
          <a:bodyPr wrap="square" anchor="t" lIns="0" rIns="0" tIns="0" bIns="0">
            <a:spAutoFit/>
          </a:bodyPr>
          <a:lstStyle/>
          <a:p>
            <a:pPr algn="l">
              <a:lnSpc>
                <a:spcPct val="115000"/>
              </a:lnSpc>
            </a:pPr>
            <a:r>
              <a:rPr sz="1100" b="1">
                <a:solidFill>
                  <a:srgbClr val="0F2A4F"/>
                </a:solidFill>
                <a:latin typeface="Helvetica Neue"/>
                <a:ea typeface="Helvetica Neue"/>
                <a:cs typeface="Helvetica Neue"/>
              </a:rPr>
              <a:t>Talk Head View</a:t>
            </a:r>
          </a:p>
        </p:txBody>
      </p:sp>
      <p:sp>
        <p:nvSpPr>
          <p:cNvPr id="55" name="TextBox 54"/>
          <p:cNvSpPr txBox="1"/>
          <p:nvPr/>
        </p:nvSpPr>
        <p:spPr>
          <a:xfrm>
            <a:off x="9098280" y="3840480"/>
            <a:ext cx="2423160" cy="502920"/>
          </a:xfrm>
          <a:prstGeom prst="rect">
            <a:avLst/>
          </a:prstGeom>
          <a:noFill/>
        </p:spPr>
        <p:txBody>
          <a:bodyPr wrap="square" anchor="t" lIns="0" rIns="0" tIns="0" bIns="0">
            <a:spAutoFit/>
          </a:bodyPr>
          <a:lstStyle/>
          <a:p>
            <a:pPr algn="l">
              <a:lnSpc>
                <a:spcPct val="140000"/>
              </a:lnSpc>
            </a:pPr>
            <a:r>
              <a:rPr sz="900" b="0">
                <a:solidFill>
                  <a:srgbClr val="1A1A1A"/>
                </a:solidFill>
                <a:latin typeface="Hiragino Sans"/>
                <a:ea typeface="Hiragino Sans"/>
                <a:cs typeface="Hiragino Sans"/>
              </a:rPr>
              <a:t>LINE予約型動画広告. ホーム最上部</a:t>
            </a:r>
          </a:p>
        </p:txBody>
      </p:sp>
      <p:sp>
        <p:nvSpPr>
          <p:cNvPr id="56" name="TextBox 55"/>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主要ツール比較 : AI生成系</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コピー / 画像 / 動画 のおすすめ</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P235 / 250</a:t>
            </a:r>
          </a:p>
        </p:txBody>
      </p:sp>
      <p:sp>
        <p:nvSpPr>
          <p:cNvPr id="8" name="Rectangle 7"/>
          <p:cNvSpPr/>
          <p:nvPr/>
        </p:nvSpPr>
        <p:spPr>
          <a:xfrm>
            <a:off x="548640" y="1371600"/>
            <a:ext cx="11109960" cy="45720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481328"/>
            <a:ext cx="1508760" cy="274320"/>
          </a:xfrm>
          <a:prstGeom prst="rect">
            <a:avLst/>
          </a:prstGeom>
          <a:noFill/>
        </p:spPr>
        <p:txBody>
          <a:bodyPr wrap="square" anchor="t" lIns="0" rIns="0" tIns="0" bIns="0">
            <a:spAutoFit/>
          </a:bodyPr>
          <a:lstStyle/>
          <a:p>
            <a:pPr algn="l">
              <a:lnSpc>
                <a:spcPct val="115000"/>
              </a:lnSpc>
            </a:pPr>
            <a:r>
              <a:rPr sz="1100" b="1">
                <a:solidFill>
                  <a:srgbClr val="FFFFFF"/>
                </a:solidFill>
                <a:latin typeface="Hiragino Sans"/>
                <a:ea typeface="Hiragino Sans"/>
                <a:cs typeface="Hiragino Sans"/>
              </a:rPr>
              <a:t>カテゴリ</a:t>
            </a:r>
          </a:p>
        </p:txBody>
      </p:sp>
      <p:sp>
        <p:nvSpPr>
          <p:cNvPr id="10" name="TextBox 9"/>
          <p:cNvSpPr txBox="1"/>
          <p:nvPr/>
        </p:nvSpPr>
        <p:spPr>
          <a:xfrm>
            <a:off x="2423160" y="1481328"/>
            <a:ext cx="3886200" cy="274320"/>
          </a:xfrm>
          <a:prstGeom prst="rect">
            <a:avLst/>
          </a:prstGeom>
          <a:noFill/>
        </p:spPr>
        <p:txBody>
          <a:bodyPr wrap="square" anchor="t" lIns="0" rIns="0" tIns="0" bIns="0">
            <a:spAutoFit/>
          </a:bodyPr>
          <a:lstStyle/>
          <a:p>
            <a:pPr algn="l">
              <a:lnSpc>
                <a:spcPct val="115000"/>
              </a:lnSpc>
            </a:pPr>
            <a:r>
              <a:rPr sz="1100" b="1">
                <a:solidFill>
                  <a:srgbClr val="FFFFFF"/>
                </a:solidFill>
                <a:latin typeface="Hiragino Sans"/>
                <a:ea typeface="Hiragino Sans"/>
                <a:cs typeface="Hiragino Sans"/>
              </a:rPr>
              <a:t>ツール</a:t>
            </a:r>
          </a:p>
        </p:txBody>
      </p:sp>
      <p:sp>
        <p:nvSpPr>
          <p:cNvPr id="11" name="TextBox 10"/>
          <p:cNvSpPr txBox="1"/>
          <p:nvPr/>
        </p:nvSpPr>
        <p:spPr>
          <a:xfrm>
            <a:off x="6537960" y="1481328"/>
            <a:ext cx="2057400" cy="274320"/>
          </a:xfrm>
          <a:prstGeom prst="rect">
            <a:avLst/>
          </a:prstGeom>
          <a:noFill/>
        </p:spPr>
        <p:txBody>
          <a:bodyPr wrap="square" anchor="t" lIns="0" rIns="0" tIns="0" bIns="0">
            <a:spAutoFit/>
          </a:bodyPr>
          <a:lstStyle/>
          <a:p>
            <a:pPr algn="l">
              <a:lnSpc>
                <a:spcPct val="115000"/>
              </a:lnSpc>
            </a:pPr>
            <a:r>
              <a:rPr sz="1100" b="1">
                <a:solidFill>
                  <a:srgbClr val="FFFFFF"/>
                </a:solidFill>
                <a:latin typeface="Hiragino Sans"/>
                <a:ea typeface="Hiragino Sans"/>
                <a:cs typeface="Hiragino Sans"/>
              </a:rPr>
              <a:t>月額(目安)</a:t>
            </a:r>
          </a:p>
        </p:txBody>
      </p:sp>
      <p:sp>
        <p:nvSpPr>
          <p:cNvPr id="12" name="TextBox 11"/>
          <p:cNvSpPr txBox="1"/>
          <p:nvPr/>
        </p:nvSpPr>
        <p:spPr>
          <a:xfrm>
            <a:off x="8823960" y="1481328"/>
            <a:ext cx="2834640" cy="274320"/>
          </a:xfrm>
          <a:prstGeom prst="rect">
            <a:avLst/>
          </a:prstGeom>
          <a:noFill/>
        </p:spPr>
        <p:txBody>
          <a:bodyPr wrap="square" anchor="t" lIns="0" rIns="0" tIns="0" bIns="0">
            <a:spAutoFit/>
          </a:bodyPr>
          <a:lstStyle/>
          <a:p>
            <a:pPr algn="l">
              <a:lnSpc>
                <a:spcPct val="115000"/>
              </a:lnSpc>
            </a:pPr>
            <a:r>
              <a:rPr sz="1100" b="1">
                <a:solidFill>
                  <a:srgbClr val="FFFFFF"/>
                </a:solidFill>
                <a:latin typeface="Hiragino Sans"/>
                <a:ea typeface="Hiragino Sans"/>
                <a:cs typeface="Hiragino Sans"/>
              </a:rPr>
              <a:t>用途</a:t>
            </a:r>
          </a:p>
        </p:txBody>
      </p:sp>
      <p:sp>
        <p:nvSpPr>
          <p:cNvPr id="13" name="Rectangle 12"/>
          <p:cNvSpPr/>
          <p:nvPr/>
        </p:nvSpPr>
        <p:spPr>
          <a:xfrm>
            <a:off x="548640" y="1828800"/>
            <a:ext cx="11109960" cy="365760"/>
          </a:xfrm>
          <a:prstGeom prst="rect">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920240"/>
            <a:ext cx="1508760" cy="274320"/>
          </a:xfrm>
          <a:prstGeom prst="rect">
            <a:avLst/>
          </a:prstGeom>
          <a:noFill/>
        </p:spPr>
        <p:txBody>
          <a:bodyPr wrap="square" anchor="t" lIns="0" rIns="0" tIns="0" bIns="0">
            <a:spAutoFit/>
          </a:bodyPr>
          <a:lstStyle/>
          <a:p>
            <a:pPr algn="l">
              <a:lnSpc>
                <a:spcPct val="115000"/>
              </a:lnSpc>
            </a:pPr>
            <a:r>
              <a:rPr sz="1000" b="1">
                <a:solidFill>
                  <a:srgbClr val="0F2A4F"/>
                </a:solidFill>
                <a:latin typeface="Hiragino Sans"/>
                <a:ea typeface="Hiragino Sans"/>
                <a:cs typeface="Hiragino Sans"/>
              </a:rPr>
              <a:t>コピー</a:t>
            </a:r>
          </a:p>
        </p:txBody>
      </p:sp>
      <p:sp>
        <p:nvSpPr>
          <p:cNvPr id="15" name="TextBox 14"/>
          <p:cNvSpPr txBox="1"/>
          <p:nvPr/>
        </p:nvSpPr>
        <p:spPr>
          <a:xfrm>
            <a:off x="2423160" y="1920240"/>
            <a:ext cx="388620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elvetica Neue"/>
                <a:ea typeface="Helvetica Neue"/>
                <a:cs typeface="Helvetica Neue"/>
              </a:rPr>
              <a:t>ChatGPT (GPT-5/o4)</a:t>
            </a:r>
          </a:p>
        </p:txBody>
      </p:sp>
      <p:sp>
        <p:nvSpPr>
          <p:cNvPr id="16" name="TextBox 15"/>
          <p:cNvSpPr txBox="1"/>
          <p:nvPr/>
        </p:nvSpPr>
        <p:spPr>
          <a:xfrm>
            <a:off x="6537960" y="1920240"/>
            <a:ext cx="2057400" cy="274320"/>
          </a:xfrm>
          <a:prstGeom prst="rect">
            <a:avLst/>
          </a:prstGeom>
          <a:noFill/>
        </p:spPr>
        <p:txBody>
          <a:bodyPr wrap="square" anchor="t" lIns="0" rIns="0" tIns="0" bIns="0">
            <a:spAutoFit/>
          </a:bodyPr>
          <a:lstStyle/>
          <a:p>
            <a:pPr algn="l">
              <a:lnSpc>
                <a:spcPct val="115000"/>
              </a:lnSpc>
            </a:pPr>
            <a:r>
              <a:rPr sz="1000" b="0">
                <a:solidFill>
                  <a:srgbClr val="E87722"/>
                </a:solidFill>
                <a:latin typeface="Helvetica Neue"/>
                <a:ea typeface="Helvetica Neue"/>
                <a:cs typeface="Helvetica Neue"/>
              </a:rPr>
              <a:t>$20</a:t>
            </a:r>
          </a:p>
        </p:txBody>
      </p:sp>
      <p:sp>
        <p:nvSpPr>
          <p:cNvPr id="17" name="TextBox 16"/>
          <p:cNvSpPr txBox="1"/>
          <p:nvPr/>
        </p:nvSpPr>
        <p:spPr>
          <a:xfrm>
            <a:off x="8823960" y="1920240"/>
            <a:ext cx="283464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汎用 / 広告コピー</a:t>
            </a:r>
          </a:p>
        </p:txBody>
      </p:sp>
      <p:sp>
        <p:nvSpPr>
          <p:cNvPr id="18" name="Rectangle 17"/>
          <p:cNvSpPr/>
          <p:nvPr/>
        </p:nvSpPr>
        <p:spPr>
          <a:xfrm>
            <a:off x="548640" y="2194560"/>
            <a:ext cx="11109960" cy="365760"/>
          </a:xfrm>
          <a:prstGeom prst="rect">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86000"/>
            <a:ext cx="1508760" cy="274320"/>
          </a:xfrm>
          <a:prstGeom prst="rect">
            <a:avLst/>
          </a:prstGeom>
          <a:noFill/>
        </p:spPr>
        <p:txBody>
          <a:bodyPr wrap="square" anchor="t" lIns="0" rIns="0" tIns="0" bIns="0">
            <a:spAutoFit/>
          </a:bodyPr>
          <a:lstStyle/>
          <a:p>
            <a:pPr algn="l">
              <a:lnSpc>
                <a:spcPct val="115000"/>
              </a:lnSpc>
            </a:pPr>
            <a:r>
              <a:rPr sz="1000" b="1">
                <a:solidFill>
                  <a:srgbClr val="0F2A4F"/>
                </a:solidFill>
                <a:latin typeface="Hiragino Sans"/>
                <a:ea typeface="Hiragino Sans"/>
                <a:cs typeface="Hiragino Sans"/>
              </a:rPr>
              <a:t>コピー</a:t>
            </a:r>
          </a:p>
        </p:txBody>
      </p:sp>
      <p:sp>
        <p:nvSpPr>
          <p:cNvPr id="20" name="TextBox 19"/>
          <p:cNvSpPr txBox="1"/>
          <p:nvPr/>
        </p:nvSpPr>
        <p:spPr>
          <a:xfrm>
            <a:off x="2423160" y="2286000"/>
            <a:ext cx="388620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elvetica Neue"/>
                <a:ea typeface="Helvetica Neue"/>
                <a:cs typeface="Helvetica Neue"/>
              </a:rPr>
              <a:t>Claude (Opus 4.7/Sonnet 4.6)</a:t>
            </a:r>
          </a:p>
        </p:txBody>
      </p:sp>
      <p:sp>
        <p:nvSpPr>
          <p:cNvPr id="21" name="TextBox 20"/>
          <p:cNvSpPr txBox="1"/>
          <p:nvPr/>
        </p:nvSpPr>
        <p:spPr>
          <a:xfrm>
            <a:off x="6537960" y="2286000"/>
            <a:ext cx="2057400" cy="274320"/>
          </a:xfrm>
          <a:prstGeom prst="rect">
            <a:avLst/>
          </a:prstGeom>
          <a:noFill/>
        </p:spPr>
        <p:txBody>
          <a:bodyPr wrap="square" anchor="t" lIns="0" rIns="0" tIns="0" bIns="0">
            <a:spAutoFit/>
          </a:bodyPr>
          <a:lstStyle/>
          <a:p>
            <a:pPr algn="l">
              <a:lnSpc>
                <a:spcPct val="115000"/>
              </a:lnSpc>
            </a:pPr>
            <a:r>
              <a:rPr sz="1000" b="0">
                <a:solidFill>
                  <a:srgbClr val="E87722"/>
                </a:solidFill>
                <a:latin typeface="Helvetica Neue"/>
                <a:ea typeface="Helvetica Neue"/>
                <a:cs typeface="Helvetica Neue"/>
              </a:rPr>
              <a:t>$20</a:t>
            </a:r>
          </a:p>
        </p:txBody>
      </p:sp>
      <p:sp>
        <p:nvSpPr>
          <p:cNvPr id="22" name="TextBox 21"/>
          <p:cNvSpPr txBox="1"/>
          <p:nvPr/>
        </p:nvSpPr>
        <p:spPr>
          <a:xfrm>
            <a:off x="8823960" y="2286000"/>
            <a:ext cx="283464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長文/分析/Computer Use</a:t>
            </a:r>
          </a:p>
        </p:txBody>
      </p:sp>
      <p:sp>
        <p:nvSpPr>
          <p:cNvPr id="23" name="Rectangle 22"/>
          <p:cNvSpPr/>
          <p:nvPr/>
        </p:nvSpPr>
        <p:spPr>
          <a:xfrm>
            <a:off x="548640" y="2560320"/>
            <a:ext cx="11109960" cy="365760"/>
          </a:xfrm>
          <a:prstGeom prst="rect">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2651760"/>
            <a:ext cx="1508760" cy="274320"/>
          </a:xfrm>
          <a:prstGeom prst="rect">
            <a:avLst/>
          </a:prstGeom>
          <a:noFill/>
        </p:spPr>
        <p:txBody>
          <a:bodyPr wrap="square" anchor="t" lIns="0" rIns="0" tIns="0" bIns="0">
            <a:spAutoFit/>
          </a:bodyPr>
          <a:lstStyle/>
          <a:p>
            <a:pPr algn="l">
              <a:lnSpc>
                <a:spcPct val="115000"/>
              </a:lnSpc>
            </a:pPr>
            <a:r>
              <a:rPr sz="1000" b="1">
                <a:solidFill>
                  <a:srgbClr val="0F2A4F"/>
                </a:solidFill>
                <a:latin typeface="Hiragino Sans"/>
                <a:ea typeface="Hiragino Sans"/>
                <a:cs typeface="Hiragino Sans"/>
              </a:rPr>
              <a:t>コピー</a:t>
            </a:r>
          </a:p>
        </p:txBody>
      </p:sp>
      <p:sp>
        <p:nvSpPr>
          <p:cNvPr id="25" name="TextBox 24"/>
          <p:cNvSpPr txBox="1"/>
          <p:nvPr/>
        </p:nvSpPr>
        <p:spPr>
          <a:xfrm>
            <a:off x="2423160" y="2651760"/>
            <a:ext cx="388620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elvetica Neue"/>
                <a:ea typeface="Helvetica Neue"/>
                <a:cs typeface="Helvetica Neue"/>
              </a:rPr>
              <a:t>Gemini (2.5 Ultra/Pro)</a:t>
            </a:r>
          </a:p>
        </p:txBody>
      </p:sp>
      <p:sp>
        <p:nvSpPr>
          <p:cNvPr id="26" name="TextBox 25"/>
          <p:cNvSpPr txBox="1"/>
          <p:nvPr/>
        </p:nvSpPr>
        <p:spPr>
          <a:xfrm>
            <a:off x="6537960" y="2651760"/>
            <a:ext cx="2057400" cy="274320"/>
          </a:xfrm>
          <a:prstGeom prst="rect">
            <a:avLst/>
          </a:prstGeom>
          <a:noFill/>
        </p:spPr>
        <p:txBody>
          <a:bodyPr wrap="square" anchor="t" lIns="0" rIns="0" tIns="0" bIns="0">
            <a:spAutoFit/>
          </a:bodyPr>
          <a:lstStyle/>
          <a:p>
            <a:pPr algn="l">
              <a:lnSpc>
                <a:spcPct val="115000"/>
              </a:lnSpc>
            </a:pPr>
            <a:r>
              <a:rPr sz="1000" b="0">
                <a:solidFill>
                  <a:srgbClr val="E87722"/>
                </a:solidFill>
                <a:latin typeface="Helvetica Neue"/>
                <a:ea typeface="Helvetica Neue"/>
                <a:cs typeface="Helvetica Neue"/>
              </a:rPr>
              <a:t>$20</a:t>
            </a:r>
          </a:p>
        </p:txBody>
      </p:sp>
      <p:sp>
        <p:nvSpPr>
          <p:cNvPr id="27" name="TextBox 26"/>
          <p:cNvSpPr txBox="1"/>
          <p:nvPr/>
        </p:nvSpPr>
        <p:spPr>
          <a:xfrm>
            <a:off x="8823960" y="2651760"/>
            <a:ext cx="283464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Workspace連携 / Google Ads連携</a:t>
            </a:r>
          </a:p>
        </p:txBody>
      </p:sp>
      <p:sp>
        <p:nvSpPr>
          <p:cNvPr id="28" name="Rectangle 27"/>
          <p:cNvSpPr/>
          <p:nvPr/>
        </p:nvSpPr>
        <p:spPr>
          <a:xfrm>
            <a:off x="548640" y="2926080"/>
            <a:ext cx="11109960" cy="365760"/>
          </a:xfrm>
          <a:prstGeom prst="rect">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3017520"/>
            <a:ext cx="1508760" cy="274320"/>
          </a:xfrm>
          <a:prstGeom prst="rect">
            <a:avLst/>
          </a:prstGeom>
          <a:noFill/>
        </p:spPr>
        <p:txBody>
          <a:bodyPr wrap="square" anchor="t" lIns="0" rIns="0" tIns="0" bIns="0">
            <a:spAutoFit/>
          </a:bodyPr>
          <a:lstStyle/>
          <a:p>
            <a:pPr algn="l">
              <a:lnSpc>
                <a:spcPct val="115000"/>
              </a:lnSpc>
            </a:pPr>
            <a:r>
              <a:rPr sz="1000" b="1">
                <a:solidFill>
                  <a:srgbClr val="0F2A4F"/>
                </a:solidFill>
                <a:latin typeface="Hiragino Sans"/>
                <a:ea typeface="Hiragino Sans"/>
                <a:cs typeface="Hiragino Sans"/>
              </a:rPr>
              <a:t>コピー</a:t>
            </a:r>
          </a:p>
        </p:txBody>
      </p:sp>
      <p:sp>
        <p:nvSpPr>
          <p:cNvPr id="30" name="TextBox 29"/>
          <p:cNvSpPr txBox="1"/>
          <p:nvPr/>
        </p:nvSpPr>
        <p:spPr>
          <a:xfrm>
            <a:off x="2423160" y="3017520"/>
            <a:ext cx="388620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elvetica Neue"/>
                <a:ea typeface="Helvetica Neue"/>
                <a:cs typeface="Helvetica Neue"/>
              </a:rPr>
              <a:t>Jasper</a:t>
            </a:r>
          </a:p>
        </p:txBody>
      </p:sp>
      <p:sp>
        <p:nvSpPr>
          <p:cNvPr id="31" name="TextBox 30"/>
          <p:cNvSpPr txBox="1"/>
          <p:nvPr/>
        </p:nvSpPr>
        <p:spPr>
          <a:xfrm>
            <a:off x="6537960" y="3017520"/>
            <a:ext cx="2057400" cy="274320"/>
          </a:xfrm>
          <a:prstGeom prst="rect">
            <a:avLst/>
          </a:prstGeom>
          <a:noFill/>
        </p:spPr>
        <p:txBody>
          <a:bodyPr wrap="square" anchor="t" lIns="0" rIns="0" tIns="0" bIns="0">
            <a:spAutoFit/>
          </a:bodyPr>
          <a:lstStyle/>
          <a:p>
            <a:pPr algn="l">
              <a:lnSpc>
                <a:spcPct val="115000"/>
              </a:lnSpc>
            </a:pPr>
            <a:r>
              <a:rPr sz="1000" b="0">
                <a:solidFill>
                  <a:srgbClr val="E87722"/>
                </a:solidFill>
                <a:latin typeface="Helvetica Neue"/>
                <a:ea typeface="Helvetica Neue"/>
                <a:cs typeface="Helvetica Neue"/>
              </a:rPr>
              <a:t>$49〜</a:t>
            </a:r>
          </a:p>
        </p:txBody>
      </p:sp>
      <p:sp>
        <p:nvSpPr>
          <p:cNvPr id="32" name="TextBox 31"/>
          <p:cNvSpPr txBox="1"/>
          <p:nvPr/>
        </p:nvSpPr>
        <p:spPr>
          <a:xfrm>
            <a:off x="8823960" y="3017520"/>
            <a:ext cx="283464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ブランドボイス保持</a:t>
            </a:r>
          </a:p>
        </p:txBody>
      </p:sp>
      <p:sp>
        <p:nvSpPr>
          <p:cNvPr id="33" name="Rectangle 32"/>
          <p:cNvSpPr/>
          <p:nvPr/>
        </p:nvSpPr>
        <p:spPr>
          <a:xfrm>
            <a:off x="548640" y="3291840"/>
            <a:ext cx="11109960" cy="365760"/>
          </a:xfrm>
          <a:prstGeom prst="rect">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3383280"/>
            <a:ext cx="1508760" cy="274320"/>
          </a:xfrm>
          <a:prstGeom prst="rect">
            <a:avLst/>
          </a:prstGeom>
          <a:noFill/>
        </p:spPr>
        <p:txBody>
          <a:bodyPr wrap="square" anchor="t" lIns="0" rIns="0" tIns="0" bIns="0">
            <a:spAutoFit/>
          </a:bodyPr>
          <a:lstStyle/>
          <a:p>
            <a:pPr algn="l">
              <a:lnSpc>
                <a:spcPct val="115000"/>
              </a:lnSpc>
            </a:pPr>
            <a:r>
              <a:rPr sz="1000" b="1">
                <a:solidFill>
                  <a:srgbClr val="0F2A4F"/>
                </a:solidFill>
                <a:latin typeface="Hiragino Sans"/>
                <a:ea typeface="Hiragino Sans"/>
                <a:cs typeface="Hiragino Sans"/>
              </a:rPr>
              <a:t>コピー</a:t>
            </a:r>
          </a:p>
        </p:txBody>
      </p:sp>
      <p:sp>
        <p:nvSpPr>
          <p:cNvPr id="35" name="TextBox 34"/>
          <p:cNvSpPr txBox="1"/>
          <p:nvPr/>
        </p:nvSpPr>
        <p:spPr>
          <a:xfrm>
            <a:off x="2423160" y="3383280"/>
            <a:ext cx="388620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elvetica Neue"/>
                <a:ea typeface="Helvetica Neue"/>
                <a:cs typeface="Helvetica Neue"/>
              </a:rPr>
              <a:t>Anyword</a:t>
            </a:r>
          </a:p>
        </p:txBody>
      </p:sp>
      <p:sp>
        <p:nvSpPr>
          <p:cNvPr id="36" name="TextBox 35"/>
          <p:cNvSpPr txBox="1"/>
          <p:nvPr/>
        </p:nvSpPr>
        <p:spPr>
          <a:xfrm>
            <a:off x="6537960" y="3383280"/>
            <a:ext cx="2057400" cy="274320"/>
          </a:xfrm>
          <a:prstGeom prst="rect">
            <a:avLst/>
          </a:prstGeom>
          <a:noFill/>
        </p:spPr>
        <p:txBody>
          <a:bodyPr wrap="square" anchor="t" lIns="0" rIns="0" tIns="0" bIns="0">
            <a:spAutoFit/>
          </a:bodyPr>
          <a:lstStyle/>
          <a:p>
            <a:pPr algn="l">
              <a:lnSpc>
                <a:spcPct val="115000"/>
              </a:lnSpc>
            </a:pPr>
            <a:r>
              <a:rPr sz="1000" b="0">
                <a:solidFill>
                  <a:srgbClr val="E87722"/>
                </a:solidFill>
                <a:latin typeface="Helvetica Neue"/>
                <a:ea typeface="Helvetica Neue"/>
                <a:cs typeface="Helvetica Neue"/>
              </a:rPr>
              <a:t>$49〜</a:t>
            </a:r>
          </a:p>
        </p:txBody>
      </p:sp>
      <p:sp>
        <p:nvSpPr>
          <p:cNvPr id="37" name="TextBox 36"/>
          <p:cNvSpPr txBox="1"/>
          <p:nvPr/>
        </p:nvSpPr>
        <p:spPr>
          <a:xfrm>
            <a:off x="8823960" y="3383280"/>
            <a:ext cx="283464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予測スコア+量産</a:t>
            </a:r>
          </a:p>
        </p:txBody>
      </p:sp>
      <p:sp>
        <p:nvSpPr>
          <p:cNvPr id="38" name="Rectangle 37"/>
          <p:cNvSpPr/>
          <p:nvPr/>
        </p:nvSpPr>
        <p:spPr>
          <a:xfrm>
            <a:off x="548640" y="3657600"/>
            <a:ext cx="11109960" cy="365760"/>
          </a:xfrm>
          <a:prstGeom prst="rect">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85800" y="3749040"/>
            <a:ext cx="1508760" cy="274320"/>
          </a:xfrm>
          <a:prstGeom prst="rect">
            <a:avLst/>
          </a:prstGeom>
          <a:noFill/>
        </p:spPr>
        <p:txBody>
          <a:bodyPr wrap="square" anchor="t" lIns="0" rIns="0" tIns="0" bIns="0">
            <a:spAutoFit/>
          </a:bodyPr>
          <a:lstStyle/>
          <a:p>
            <a:pPr algn="l">
              <a:lnSpc>
                <a:spcPct val="115000"/>
              </a:lnSpc>
            </a:pPr>
            <a:r>
              <a:rPr sz="1000" b="1">
                <a:solidFill>
                  <a:srgbClr val="0F2A4F"/>
                </a:solidFill>
                <a:latin typeface="Hiragino Sans"/>
                <a:ea typeface="Hiragino Sans"/>
                <a:cs typeface="Hiragino Sans"/>
              </a:rPr>
              <a:t>画像</a:t>
            </a:r>
          </a:p>
        </p:txBody>
      </p:sp>
      <p:sp>
        <p:nvSpPr>
          <p:cNvPr id="40" name="TextBox 39"/>
          <p:cNvSpPr txBox="1"/>
          <p:nvPr/>
        </p:nvSpPr>
        <p:spPr>
          <a:xfrm>
            <a:off x="2423160" y="3749040"/>
            <a:ext cx="388620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elvetica Neue"/>
                <a:ea typeface="Helvetica Neue"/>
                <a:cs typeface="Helvetica Neue"/>
              </a:rPr>
              <a:t>Midjourney v7</a:t>
            </a:r>
          </a:p>
        </p:txBody>
      </p:sp>
      <p:sp>
        <p:nvSpPr>
          <p:cNvPr id="41" name="TextBox 40"/>
          <p:cNvSpPr txBox="1"/>
          <p:nvPr/>
        </p:nvSpPr>
        <p:spPr>
          <a:xfrm>
            <a:off x="6537960" y="3749040"/>
            <a:ext cx="2057400" cy="274320"/>
          </a:xfrm>
          <a:prstGeom prst="rect">
            <a:avLst/>
          </a:prstGeom>
          <a:noFill/>
        </p:spPr>
        <p:txBody>
          <a:bodyPr wrap="square" anchor="t" lIns="0" rIns="0" tIns="0" bIns="0">
            <a:spAutoFit/>
          </a:bodyPr>
          <a:lstStyle/>
          <a:p>
            <a:pPr algn="l">
              <a:lnSpc>
                <a:spcPct val="115000"/>
              </a:lnSpc>
            </a:pPr>
            <a:r>
              <a:rPr sz="1000" b="0">
                <a:solidFill>
                  <a:srgbClr val="E87722"/>
                </a:solidFill>
                <a:latin typeface="Helvetica Neue"/>
                <a:ea typeface="Helvetica Neue"/>
                <a:cs typeface="Helvetica Neue"/>
              </a:rPr>
              <a:t>$10〜120</a:t>
            </a:r>
          </a:p>
        </p:txBody>
      </p:sp>
      <p:sp>
        <p:nvSpPr>
          <p:cNvPr id="42" name="TextBox 41"/>
          <p:cNvSpPr txBox="1"/>
          <p:nvPr/>
        </p:nvSpPr>
        <p:spPr>
          <a:xfrm>
            <a:off x="8823960" y="3749040"/>
            <a:ext cx="283464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高品質汎用</a:t>
            </a:r>
          </a:p>
        </p:txBody>
      </p:sp>
      <p:sp>
        <p:nvSpPr>
          <p:cNvPr id="43" name="Rectangle 42"/>
          <p:cNvSpPr/>
          <p:nvPr/>
        </p:nvSpPr>
        <p:spPr>
          <a:xfrm>
            <a:off x="548640" y="4023360"/>
            <a:ext cx="11109960" cy="365760"/>
          </a:xfrm>
          <a:prstGeom prst="rect">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85800" y="4114800"/>
            <a:ext cx="1508760" cy="274320"/>
          </a:xfrm>
          <a:prstGeom prst="rect">
            <a:avLst/>
          </a:prstGeom>
          <a:noFill/>
        </p:spPr>
        <p:txBody>
          <a:bodyPr wrap="square" anchor="t" lIns="0" rIns="0" tIns="0" bIns="0">
            <a:spAutoFit/>
          </a:bodyPr>
          <a:lstStyle/>
          <a:p>
            <a:pPr algn="l">
              <a:lnSpc>
                <a:spcPct val="115000"/>
              </a:lnSpc>
            </a:pPr>
            <a:r>
              <a:rPr sz="1000" b="1">
                <a:solidFill>
                  <a:srgbClr val="0F2A4F"/>
                </a:solidFill>
                <a:latin typeface="Hiragino Sans"/>
                <a:ea typeface="Hiragino Sans"/>
                <a:cs typeface="Hiragino Sans"/>
              </a:rPr>
              <a:t>画像</a:t>
            </a:r>
          </a:p>
        </p:txBody>
      </p:sp>
      <p:sp>
        <p:nvSpPr>
          <p:cNvPr id="45" name="TextBox 44"/>
          <p:cNvSpPr txBox="1"/>
          <p:nvPr/>
        </p:nvSpPr>
        <p:spPr>
          <a:xfrm>
            <a:off x="2423160" y="4114800"/>
            <a:ext cx="388620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elvetica Neue"/>
                <a:ea typeface="Helvetica Neue"/>
                <a:cs typeface="Helvetica Neue"/>
              </a:rPr>
              <a:t>DALL-E (ChatGPT内)</a:t>
            </a:r>
          </a:p>
        </p:txBody>
      </p:sp>
      <p:sp>
        <p:nvSpPr>
          <p:cNvPr id="46" name="TextBox 45"/>
          <p:cNvSpPr txBox="1"/>
          <p:nvPr/>
        </p:nvSpPr>
        <p:spPr>
          <a:xfrm>
            <a:off x="6537960" y="4114800"/>
            <a:ext cx="2057400" cy="274320"/>
          </a:xfrm>
          <a:prstGeom prst="rect">
            <a:avLst/>
          </a:prstGeom>
          <a:noFill/>
        </p:spPr>
        <p:txBody>
          <a:bodyPr wrap="square" anchor="t" lIns="0" rIns="0" tIns="0" bIns="0">
            <a:spAutoFit/>
          </a:bodyPr>
          <a:lstStyle/>
          <a:p>
            <a:pPr algn="l">
              <a:lnSpc>
                <a:spcPct val="115000"/>
              </a:lnSpc>
            </a:pPr>
            <a:r>
              <a:rPr sz="1000" b="0">
                <a:solidFill>
                  <a:srgbClr val="E87722"/>
                </a:solidFill>
                <a:latin typeface="Helvetica Neue"/>
                <a:ea typeface="Helvetica Neue"/>
                <a:cs typeface="Helvetica Neue"/>
              </a:rPr>
              <a:t>$20</a:t>
            </a:r>
          </a:p>
        </p:txBody>
      </p:sp>
      <p:sp>
        <p:nvSpPr>
          <p:cNvPr id="47" name="TextBox 46"/>
          <p:cNvSpPr txBox="1"/>
          <p:nvPr/>
        </p:nvSpPr>
        <p:spPr>
          <a:xfrm>
            <a:off x="8823960" y="4114800"/>
            <a:ext cx="283464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ChatGPTで会話的</a:t>
            </a:r>
          </a:p>
        </p:txBody>
      </p:sp>
      <p:sp>
        <p:nvSpPr>
          <p:cNvPr id="48" name="Rectangle 47"/>
          <p:cNvSpPr/>
          <p:nvPr/>
        </p:nvSpPr>
        <p:spPr>
          <a:xfrm>
            <a:off x="548640" y="4389120"/>
            <a:ext cx="11109960" cy="365760"/>
          </a:xfrm>
          <a:prstGeom prst="rect">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85800" y="4480560"/>
            <a:ext cx="1508760" cy="274320"/>
          </a:xfrm>
          <a:prstGeom prst="rect">
            <a:avLst/>
          </a:prstGeom>
          <a:noFill/>
        </p:spPr>
        <p:txBody>
          <a:bodyPr wrap="square" anchor="t" lIns="0" rIns="0" tIns="0" bIns="0">
            <a:spAutoFit/>
          </a:bodyPr>
          <a:lstStyle/>
          <a:p>
            <a:pPr algn="l">
              <a:lnSpc>
                <a:spcPct val="115000"/>
              </a:lnSpc>
            </a:pPr>
            <a:r>
              <a:rPr sz="1000" b="1">
                <a:solidFill>
                  <a:srgbClr val="0F2A4F"/>
                </a:solidFill>
                <a:latin typeface="Hiragino Sans"/>
                <a:ea typeface="Hiragino Sans"/>
                <a:cs typeface="Hiragino Sans"/>
              </a:rPr>
              <a:t>画像</a:t>
            </a:r>
          </a:p>
        </p:txBody>
      </p:sp>
      <p:sp>
        <p:nvSpPr>
          <p:cNvPr id="50" name="TextBox 49"/>
          <p:cNvSpPr txBox="1"/>
          <p:nvPr/>
        </p:nvSpPr>
        <p:spPr>
          <a:xfrm>
            <a:off x="2423160" y="4480560"/>
            <a:ext cx="388620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elvetica Neue"/>
                <a:ea typeface="Helvetica Neue"/>
                <a:cs typeface="Helvetica Neue"/>
              </a:rPr>
              <a:t>Adobe Firefly</a:t>
            </a:r>
          </a:p>
        </p:txBody>
      </p:sp>
      <p:sp>
        <p:nvSpPr>
          <p:cNvPr id="51" name="TextBox 50"/>
          <p:cNvSpPr txBox="1"/>
          <p:nvPr/>
        </p:nvSpPr>
        <p:spPr>
          <a:xfrm>
            <a:off x="6537960" y="4480560"/>
            <a:ext cx="2057400" cy="274320"/>
          </a:xfrm>
          <a:prstGeom prst="rect">
            <a:avLst/>
          </a:prstGeom>
          <a:noFill/>
        </p:spPr>
        <p:txBody>
          <a:bodyPr wrap="square" anchor="t" lIns="0" rIns="0" tIns="0" bIns="0">
            <a:spAutoFit/>
          </a:bodyPr>
          <a:lstStyle/>
          <a:p>
            <a:pPr algn="l">
              <a:lnSpc>
                <a:spcPct val="115000"/>
              </a:lnSpc>
            </a:pPr>
            <a:r>
              <a:rPr sz="1000" b="0">
                <a:solidFill>
                  <a:srgbClr val="E87722"/>
                </a:solidFill>
                <a:latin typeface="Helvetica Neue"/>
                <a:ea typeface="Helvetica Neue"/>
                <a:cs typeface="Helvetica Neue"/>
              </a:rPr>
              <a:t>$10〜</a:t>
            </a:r>
          </a:p>
        </p:txBody>
      </p:sp>
      <p:sp>
        <p:nvSpPr>
          <p:cNvPr id="52" name="TextBox 51"/>
          <p:cNvSpPr txBox="1"/>
          <p:nvPr/>
        </p:nvSpPr>
        <p:spPr>
          <a:xfrm>
            <a:off x="8823960" y="4480560"/>
            <a:ext cx="283464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商用利用安心</a:t>
            </a:r>
          </a:p>
        </p:txBody>
      </p:sp>
      <p:sp>
        <p:nvSpPr>
          <p:cNvPr id="53" name="Rectangle 52"/>
          <p:cNvSpPr/>
          <p:nvPr/>
        </p:nvSpPr>
        <p:spPr>
          <a:xfrm>
            <a:off x="548640" y="4754880"/>
            <a:ext cx="11109960" cy="365760"/>
          </a:xfrm>
          <a:prstGeom prst="rect">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85800" y="4846320"/>
            <a:ext cx="1508760" cy="274320"/>
          </a:xfrm>
          <a:prstGeom prst="rect">
            <a:avLst/>
          </a:prstGeom>
          <a:noFill/>
        </p:spPr>
        <p:txBody>
          <a:bodyPr wrap="square" anchor="t" lIns="0" rIns="0" tIns="0" bIns="0">
            <a:spAutoFit/>
          </a:bodyPr>
          <a:lstStyle/>
          <a:p>
            <a:pPr algn="l">
              <a:lnSpc>
                <a:spcPct val="115000"/>
              </a:lnSpc>
            </a:pPr>
            <a:r>
              <a:rPr sz="1000" b="1">
                <a:solidFill>
                  <a:srgbClr val="0F2A4F"/>
                </a:solidFill>
                <a:latin typeface="Hiragino Sans"/>
                <a:ea typeface="Hiragino Sans"/>
                <a:cs typeface="Hiragino Sans"/>
              </a:rPr>
              <a:t>動画</a:t>
            </a:r>
          </a:p>
        </p:txBody>
      </p:sp>
      <p:sp>
        <p:nvSpPr>
          <p:cNvPr id="55" name="TextBox 54"/>
          <p:cNvSpPr txBox="1"/>
          <p:nvPr/>
        </p:nvSpPr>
        <p:spPr>
          <a:xfrm>
            <a:off x="2423160" y="4846320"/>
            <a:ext cx="388620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elvetica Neue"/>
                <a:ea typeface="Helvetica Neue"/>
                <a:cs typeface="Helvetica Neue"/>
              </a:rPr>
              <a:t>Sora 2 (ChatGPT Pro)</a:t>
            </a:r>
          </a:p>
        </p:txBody>
      </p:sp>
      <p:sp>
        <p:nvSpPr>
          <p:cNvPr id="56" name="TextBox 55"/>
          <p:cNvSpPr txBox="1"/>
          <p:nvPr/>
        </p:nvSpPr>
        <p:spPr>
          <a:xfrm>
            <a:off x="6537960" y="4846320"/>
            <a:ext cx="2057400" cy="274320"/>
          </a:xfrm>
          <a:prstGeom prst="rect">
            <a:avLst/>
          </a:prstGeom>
          <a:noFill/>
        </p:spPr>
        <p:txBody>
          <a:bodyPr wrap="square" anchor="t" lIns="0" rIns="0" tIns="0" bIns="0">
            <a:spAutoFit/>
          </a:bodyPr>
          <a:lstStyle/>
          <a:p>
            <a:pPr algn="l">
              <a:lnSpc>
                <a:spcPct val="115000"/>
              </a:lnSpc>
            </a:pPr>
            <a:r>
              <a:rPr sz="1000" b="0">
                <a:solidFill>
                  <a:srgbClr val="E87722"/>
                </a:solidFill>
                <a:latin typeface="Helvetica Neue"/>
                <a:ea typeface="Helvetica Neue"/>
                <a:cs typeface="Helvetica Neue"/>
              </a:rPr>
              <a:t>$200</a:t>
            </a:r>
          </a:p>
        </p:txBody>
      </p:sp>
      <p:sp>
        <p:nvSpPr>
          <p:cNvPr id="57" name="TextBox 56"/>
          <p:cNvSpPr txBox="1"/>
          <p:nvPr/>
        </p:nvSpPr>
        <p:spPr>
          <a:xfrm>
            <a:off x="8823960" y="4846320"/>
            <a:ext cx="283464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高品質60秒対応</a:t>
            </a:r>
          </a:p>
        </p:txBody>
      </p:sp>
      <p:sp>
        <p:nvSpPr>
          <p:cNvPr id="58" name="Rectangle 57"/>
          <p:cNvSpPr/>
          <p:nvPr/>
        </p:nvSpPr>
        <p:spPr>
          <a:xfrm>
            <a:off x="548640" y="5120640"/>
            <a:ext cx="11109960" cy="365760"/>
          </a:xfrm>
          <a:prstGeom prst="rect">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85800" y="5212080"/>
            <a:ext cx="1508760" cy="274320"/>
          </a:xfrm>
          <a:prstGeom prst="rect">
            <a:avLst/>
          </a:prstGeom>
          <a:noFill/>
        </p:spPr>
        <p:txBody>
          <a:bodyPr wrap="square" anchor="t" lIns="0" rIns="0" tIns="0" bIns="0">
            <a:spAutoFit/>
          </a:bodyPr>
          <a:lstStyle/>
          <a:p>
            <a:pPr algn="l">
              <a:lnSpc>
                <a:spcPct val="115000"/>
              </a:lnSpc>
            </a:pPr>
            <a:r>
              <a:rPr sz="1000" b="1">
                <a:solidFill>
                  <a:srgbClr val="0F2A4F"/>
                </a:solidFill>
                <a:latin typeface="Hiragino Sans"/>
                <a:ea typeface="Hiragino Sans"/>
                <a:cs typeface="Hiragino Sans"/>
              </a:rPr>
              <a:t>動画</a:t>
            </a:r>
          </a:p>
        </p:txBody>
      </p:sp>
      <p:sp>
        <p:nvSpPr>
          <p:cNvPr id="60" name="TextBox 59"/>
          <p:cNvSpPr txBox="1"/>
          <p:nvPr/>
        </p:nvSpPr>
        <p:spPr>
          <a:xfrm>
            <a:off x="2423160" y="5212080"/>
            <a:ext cx="388620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elvetica Neue"/>
                <a:ea typeface="Helvetica Neue"/>
                <a:cs typeface="Helvetica Neue"/>
              </a:rPr>
              <a:t>Veo 3 (Vertex AI)</a:t>
            </a:r>
          </a:p>
        </p:txBody>
      </p:sp>
      <p:sp>
        <p:nvSpPr>
          <p:cNvPr id="61" name="TextBox 60"/>
          <p:cNvSpPr txBox="1"/>
          <p:nvPr/>
        </p:nvSpPr>
        <p:spPr>
          <a:xfrm>
            <a:off x="6537960" y="5212080"/>
            <a:ext cx="2057400" cy="274320"/>
          </a:xfrm>
          <a:prstGeom prst="rect">
            <a:avLst/>
          </a:prstGeom>
          <a:noFill/>
        </p:spPr>
        <p:txBody>
          <a:bodyPr wrap="square" anchor="t" lIns="0" rIns="0" tIns="0" bIns="0">
            <a:spAutoFit/>
          </a:bodyPr>
          <a:lstStyle/>
          <a:p>
            <a:pPr algn="l">
              <a:lnSpc>
                <a:spcPct val="115000"/>
              </a:lnSpc>
            </a:pPr>
            <a:r>
              <a:rPr sz="1000" b="0">
                <a:solidFill>
                  <a:srgbClr val="E87722"/>
                </a:solidFill>
                <a:latin typeface="Helvetica Neue"/>
                <a:ea typeface="Helvetica Neue"/>
                <a:cs typeface="Helvetica Neue"/>
              </a:rPr>
              <a:t>従量課金</a:t>
            </a:r>
          </a:p>
        </p:txBody>
      </p:sp>
      <p:sp>
        <p:nvSpPr>
          <p:cNvPr id="62" name="TextBox 61"/>
          <p:cNvSpPr txBox="1"/>
          <p:nvPr/>
        </p:nvSpPr>
        <p:spPr>
          <a:xfrm>
            <a:off x="8823960" y="5212080"/>
            <a:ext cx="283464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Google連携</a:t>
            </a:r>
          </a:p>
        </p:txBody>
      </p:sp>
      <p:sp>
        <p:nvSpPr>
          <p:cNvPr id="63" name="Rectangle 62"/>
          <p:cNvSpPr/>
          <p:nvPr/>
        </p:nvSpPr>
        <p:spPr>
          <a:xfrm>
            <a:off x="548640" y="5486400"/>
            <a:ext cx="11109960" cy="365760"/>
          </a:xfrm>
          <a:prstGeom prst="rect">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85800" y="5577840"/>
            <a:ext cx="1508760" cy="274320"/>
          </a:xfrm>
          <a:prstGeom prst="rect">
            <a:avLst/>
          </a:prstGeom>
          <a:noFill/>
        </p:spPr>
        <p:txBody>
          <a:bodyPr wrap="square" anchor="t" lIns="0" rIns="0" tIns="0" bIns="0">
            <a:spAutoFit/>
          </a:bodyPr>
          <a:lstStyle/>
          <a:p>
            <a:pPr algn="l">
              <a:lnSpc>
                <a:spcPct val="115000"/>
              </a:lnSpc>
            </a:pPr>
            <a:r>
              <a:rPr sz="1000" b="1">
                <a:solidFill>
                  <a:srgbClr val="0F2A4F"/>
                </a:solidFill>
                <a:latin typeface="Hiragino Sans"/>
                <a:ea typeface="Hiragino Sans"/>
                <a:cs typeface="Hiragino Sans"/>
              </a:rPr>
              <a:t>動画</a:t>
            </a:r>
          </a:p>
        </p:txBody>
      </p:sp>
      <p:sp>
        <p:nvSpPr>
          <p:cNvPr id="65" name="TextBox 64"/>
          <p:cNvSpPr txBox="1"/>
          <p:nvPr/>
        </p:nvSpPr>
        <p:spPr>
          <a:xfrm>
            <a:off x="2423160" y="5577840"/>
            <a:ext cx="388620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elvetica Neue"/>
                <a:ea typeface="Helvetica Neue"/>
                <a:cs typeface="Helvetica Neue"/>
              </a:rPr>
              <a:t>Runway Gen-4</a:t>
            </a:r>
          </a:p>
        </p:txBody>
      </p:sp>
      <p:sp>
        <p:nvSpPr>
          <p:cNvPr id="66" name="TextBox 65"/>
          <p:cNvSpPr txBox="1"/>
          <p:nvPr/>
        </p:nvSpPr>
        <p:spPr>
          <a:xfrm>
            <a:off x="6537960" y="5577840"/>
            <a:ext cx="2057400" cy="274320"/>
          </a:xfrm>
          <a:prstGeom prst="rect">
            <a:avLst/>
          </a:prstGeom>
          <a:noFill/>
        </p:spPr>
        <p:txBody>
          <a:bodyPr wrap="square" anchor="t" lIns="0" rIns="0" tIns="0" bIns="0">
            <a:spAutoFit/>
          </a:bodyPr>
          <a:lstStyle/>
          <a:p>
            <a:pPr algn="l">
              <a:lnSpc>
                <a:spcPct val="115000"/>
              </a:lnSpc>
            </a:pPr>
            <a:r>
              <a:rPr sz="1000" b="0">
                <a:solidFill>
                  <a:srgbClr val="E87722"/>
                </a:solidFill>
                <a:latin typeface="Helvetica Neue"/>
                <a:ea typeface="Helvetica Neue"/>
                <a:cs typeface="Helvetica Neue"/>
              </a:rPr>
              <a:t>$15〜95</a:t>
            </a:r>
          </a:p>
        </p:txBody>
      </p:sp>
      <p:sp>
        <p:nvSpPr>
          <p:cNvPr id="67" name="TextBox 66"/>
          <p:cNvSpPr txBox="1"/>
          <p:nvPr/>
        </p:nvSpPr>
        <p:spPr>
          <a:xfrm>
            <a:off x="8823960" y="5577840"/>
            <a:ext cx="283464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細かい制御</a:t>
            </a:r>
          </a:p>
        </p:txBody>
      </p:sp>
      <p:sp>
        <p:nvSpPr>
          <p:cNvPr id="68" name="Rectangle 67"/>
          <p:cNvSpPr/>
          <p:nvPr/>
        </p:nvSpPr>
        <p:spPr>
          <a:xfrm>
            <a:off x="548640" y="5852160"/>
            <a:ext cx="11109960" cy="365760"/>
          </a:xfrm>
          <a:prstGeom prst="rect">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85800" y="5943600"/>
            <a:ext cx="1508760" cy="274320"/>
          </a:xfrm>
          <a:prstGeom prst="rect">
            <a:avLst/>
          </a:prstGeom>
          <a:noFill/>
        </p:spPr>
        <p:txBody>
          <a:bodyPr wrap="square" anchor="t" lIns="0" rIns="0" tIns="0" bIns="0">
            <a:spAutoFit/>
          </a:bodyPr>
          <a:lstStyle/>
          <a:p>
            <a:pPr algn="l">
              <a:lnSpc>
                <a:spcPct val="115000"/>
              </a:lnSpc>
            </a:pPr>
            <a:r>
              <a:rPr sz="1000" b="1">
                <a:solidFill>
                  <a:srgbClr val="0F2A4F"/>
                </a:solidFill>
                <a:latin typeface="Hiragino Sans"/>
                <a:ea typeface="Hiragino Sans"/>
                <a:cs typeface="Hiragino Sans"/>
              </a:rPr>
              <a:t>動画</a:t>
            </a:r>
          </a:p>
        </p:txBody>
      </p:sp>
      <p:sp>
        <p:nvSpPr>
          <p:cNvPr id="70" name="TextBox 69"/>
          <p:cNvSpPr txBox="1"/>
          <p:nvPr/>
        </p:nvSpPr>
        <p:spPr>
          <a:xfrm>
            <a:off x="2423160" y="5943600"/>
            <a:ext cx="388620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elvetica Neue"/>
                <a:ea typeface="Helvetica Neue"/>
                <a:cs typeface="Helvetica Neue"/>
              </a:rPr>
              <a:t>Luma Dream Machine</a:t>
            </a:r>
          </a:p>
        </p:txBody>
      </p:sp>
      <p:sp>
        <p:nvSpPr>
          <p:cNvPr id="71" name="TextBox 70"/>
          <p:cNvSpPr txBox="1"/>
          <p:nvPr/>
        </p:nvSpPr>
        <p:spPr>
          <a:xfrm>
            <a:off x="6537960" y="5943600"/>
            <a:ext cx="2057400" cy="274320"/>
          </a:xfrm>
          <a:prstGeom prst="rect">
            <a:avLst/>
          </a:prstGeom>
          <a:noFill/>
        </p:spPr>
        <p:txBody>
          <a:bodyPr wrap="square" anchor="t" lIns="0" rIns="0" tIns="0" bIns="0">
            <a:spAutoFit/>
          </a:bodyPr>
          <a:lstStyle/>
          <a:p>
            <a:pPr algn="l">
              <a:lnSpc>
                <a:spcPct val="115000"/>
              </a:lnSpc>
            </a:pPr>
            <a:r>
              <a:rPr sz="1000" b="0">
                <a:solidFill>
                  <a:srgbClr val="E87722"/>
                </a:solidFill>
                <a:latin typeface="Helvetica Neue"/>
                <a:ea typeface="Helvetica Neue"/>
                <a:cs typeface="Helvetica Neue"/>
              </a:rPr>
              <a:t>$10〜100</a:t>
            </a:r>
          </a:p>
        </p:txBody>
      </p:sp>
      <p:sp>
        <p:nvSpPr>
          <p:cNvPr id="72" name="TextBox 71"/>
          <p:cNvSpPr txBox="1"/>
          <p:nvPr/>
        </p:nvSpPr>
        <p:spPr>
          <a:xfrm>
            <a:off x="8823960" y="5943600"/>
            <a:ext cx="283464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コスパ高速</a:t>
            </a:r>
          </a:p>
        </p:txBody>
      </p:sp>
      <p:sp>
        <p:nvSpPr>
          <p:cNvPr id="73" name="TextBox 72"/>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主要ツール比較 : 運用系</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媒体運用支援ツール</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P236 / 250</a:t>
            </a:r>
          </a:p>
        </p:txBody>
      </p:sp>
      <p:sp>
        <p:nvSpPr>
          <p:cNvPr id="8" name="Rectangle 7"/>
          <p:cNvSpPr/>
          <p:nvPr/>
        </p:nvSpPr>
        <p:spPr>
          <a:xfrm>
            <a:off x="548640" y="1371600"/>
            <a:ext cx="11109960" cy="45720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481328"/>
            <a:ext cx="1508760" cy="274320"/>
          </a:xfrm>
          <a:prstGeom prst="rect">
            <a:avLst/>
          </a:prstGeom>
          <a:noFill/>
        </p:spPr>
        <p:txBody>
          <a:bodyPr wrap="square" anchor="t" lIns="0" rIns="0" tIns="0" bIns="0">
            <a:spAutoFit/>
          </a:bodyPr>
          <a:lstStyle/>
          <a:p>
            <a:pPr algn="l">
              <a:lnSpc>
                <a:spcPct val="115000"/>
              </a:lnSpc>
            </a:pPr>
            <a:r>
              <a:rPr sz="1100" b="1">
                <a:solidFill>
                  <a:srgbClr val="FFFFFF"/>
                </a:solidFill>
                <a:latin typeface="Hiragino Sans"/>
                <a:ea typeface="Hiragino Sans"/>
                <a:cs typeface="Hiragino Sans"/>
              </a:rPr>
              <a:t>カテゴリ</a:t>
            </a:r>
          </a:p>
        </p:txBody>
      </p:sp>
      <p:sp>
        <p:nvSpPr>
          <p:cNvPr id="10" name="TextBox 9"/>
          <p:cNvSpPr txBox="1"/>
          <p:nvPr/>
        </p:nvSpPr>
        <p:spPr>
          <a:xfrm>
            <a:off x="2423160" y="1481328"/>
            <a:ext cx="3886200" cy="274320"/>
          </a:xfrm>
          <a:prstGeom prst="rect">
            <a:avLst/>
          </a:prstGeom>
          <a:noFill/>
        </p:spPr>
        <p:txBody>
          <a:bodyPr wrap="square" anchor="t" lIns="0" rIns="0" tIns="0" bIns="0">
            <a:spAutoFit/>
          </a:bodyPr>
          <a:lstStyle/>
          <a:p>
            <a:pPr algn="l">
              <a:lnSpc>
                <a:spcPct val="115000"/>
              </a:lnSpc>
            </a:pPr>
            <a:r>
              <a:rPr sz="1100" b="1">
                <a:solidFill>
                  <a:srgbClr val="FFFFFF"/>
                </a:solidFill>
                <a:latin typeface="Hiragino Sans"/>
                <a:ea typeface="Hiragino Sans"/>
                <a:cs typeface="Hiragino Sans"/>
              </a:rPr>
              <a:t>ツール</a:t>
            </a:r>
          </a:p>
        </p:txBody>
      </p:sp>
      <p:sp>
        <p:nvSpPr>
          <p:cNvPr id="11" name="TextBox 10"/>
          <p:cNvSpPr txBox="1"/>
          <p:nvPr/>
        </p:nvSpPr>
        <p:spPr>
          <a:xfrm>
            <a:off x="6537960" y="1481328"/>
            <a:ext cx="2057400" cy="274320"/>
          </a:xfrm>
          <a:prstGeom prst="rect">
            <a:avLst/>
          </a:prstGeom>
          <a:noFill/>
        </p:spPr>
        <p:txBody>
          <a:bodyPr wrap="square" anchor="t" lIns="0" rIns="0" tIns="0" bIns="0">
            <a:spAutoFit/>
          </a:bodyPr>
          <a:lstStyle/>
          <a:p>
            <a:pPr algn="l">
              <a:lnSpc>
                <a:spcPct val="115000"/>
              </a:lnSpc>
            </a:pPr>
            <a:r>
              <a:rPr sz="1100" b="1">
                <a:solidFill>
                  <a:srgbClr val="FFFFFF"/>
                </a:solidFill>
                <a:latin typeface="Hiragino Sans"/>
                <a:ea typeface="Hiragino Sans"/>
                <a:cs typeface="Hiragino Sans"/>
              </a:rPr>
              <a:t>月額(目安)</a:t>
            </a:r>
          </a:p>
        </p:txBody>
      </p:sp>
      <p:sp>
        <p:nvSpPr>
          <p:cNvPr id="12" name="TextBox 11"/>
          <p:cNvSpPr txBox="1"/>
          <p:nvPr/>
        </p:nvSpPr>
        <p:spPr>
          <a:xfrm>
            <a:off x="8823960" y="1481328"/>
            <a:ext cx="2834640" cy="274320"/>
          </a:xfrm>
          <a:prstGeom prst="rect">
            <a:avLst/>
          </a:prstGeom>
          <a:noFill/>
        </p:spPr>
        <p:txBody>
          <a:bodyPr wrap="square" anchor="t" lIns="0" rIns="0" tIns="0" bIns="0">
            <a:spAutoFit/>
          </a:bodyPr>
          <a:lstStyle/>
          <a:p>
            <a:pPr algn="l">
              <a:lnSpc>
                <a:spcPct val="115000"/>
              </a:lnSpc>
            </a:pPr>
            <a:r>
              <a:rPr sz="1100" b="1">
                <a:solidFill>
                  <a:srgbClr val="FFFFFF"/>
                </a:solidFill>
                <a:latin typeface="Hiragino Sans"/>
                <a:ea typeface="Hiragino Sans"/>
                <a:cs typeface="Hiragino Sans"/>
              </a:rPr>
              <a:t>用途</a:t>
            </a:r>
          </a:p>
        </p:txBody>
      </p:sp>
      <p:sp>
        <p:nvSpPr>
          <p:cNvPr id="13" name="Rectangle 12"/>
          <p:cNvSpPr/>
          <p:nvPr/>
        </p:nvSpPr>
        <p:spPr>
          <a:xfrm>
            <a:off x="548640" y="1828800"/>
            <a:ext cx="11109960" cy="365760"/>
          </a:xfrm>
          <a:prstGeom prst="rect">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920240"/>
            <a:ext cx="1508760" cy="274320"/>
          </a:xfrm>
          <a:prstGeom prst="rect">
            <a:avLst/>
          </a:prstGeom>
          <a:noFill/>
        </p:spPr>
        <p:txBody>
          <a:bodyPr wrap="square" anchor="t" lIns="0" rIns="0" tIns="0" bIns="0">
            <a:spAutoFit/>
          </a:bodyPr>
          <a:lstStyle/>
          <a:p>
            <a:pPr algn="l">
              <a:lnSpc>
                <a:spcPct val="115000"/>
              </a:lnSpc>
            </a:pPr>
            <a:r>
              <a:rPr sz="1000" b="1">
                <a:solidFill>
                  <a:srgbClr val="0F2A4F"/>
                </a:solidFill>
                <a:latin typeface="Hiragino Sans"/>
                <a:ea typeface="Hiragino Sans"/>
                <a:cs typeface="Hiragino Sans"/>
              </a:rPr>
              <a:t>運用統合</a:t>
            </a:r>
          </a:p>
        </p:txBody>
      </p:sp>
      <p:sp>
        <p:nvSpPr>
          <p:cNvPr id="15" name="TextBox 14"/>
          <p:cNvSpPr txBox="1"/>
          <p:nvPr/>
        </p:nvSpPr>
        <p:spPr>
          <a:xfrm>
            <a:off x="2423160" y="1920240"/>
            <a:ext cx="388620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elvetica Neue"/>
                <a:ea typeface="Helvetica Neue"/>
                <a:cs typeface="Helvetica Neue"/>
              </a:rPr>
              <a:t>Skai (旧Kenshoo)</a:t>
            </a:r>
          </a:p>
        </p:txBody>
      </p:sp>
      <p:sp>
        <p:nvSpPr>
          <p:cNvPr id="16" name="TextBox 15"/>
          <p:cNvSpPr txBox="1"/>
          <p:nvPr/>
        </p:nvSpPr>
        <p:spPr>
          <a:xfrm>
            <a:off x="6537960" y="1920240"/>
            <a:ext cx="2057400" cy="274320"/>
          </a:xfrm>
          <a:prstGeom prst="rect">
            <a:avLst/>
          </a:prstGeom>
          <a:noFill/>
        </p:spPr>
        <p:txBody>
          <a:bodyPr wrap="square" anchor="t" lIns="0" rIns="0" tIns="0" bIns="0">
            <a:spAutoFit/>
          </a:bodyPr>
          <a:lstStyle/>
          <a:p>
            <a:pPr algn="l">
              <a:lnSpc>
                <a:spcPct val="115000"/>
              </a:lnSpc>
            </a:pPr>
            <a:r>
              <a:rPr sz="1000" b="0">
                <a:solidFill>
                  <a:srgbClr val="E87722"/>
                </a:solidFill>
                <a:latin typeface="Helvetica Neue"/>
                <a:ea typeface="Helvetica Neue"/>
                <a:cs typeface="Helvetica Neue"/>
              </a:rPr>
              <a:t>Enterprise</a:t>
            </a:r>
          </a:p>
        </p:txBody>
      </p:sp>
      <p:sp>
        <p:nvSpPr>
          <p:cNvPr id="17" name="TextBox 16"/>
          <p:cNvSpPr txBox="1"/>
          <p:nvPr/>
        </p:nvSpPr>
        <p:spPr>
          <a:xfrm>
            <a:off x="8823960" y="1920240"/>
            <a:ext cx="283464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全媒体一元管理 / 大型代理店</a:t>
            </a:r>
          </a:p>
        </p:txBody>
      </p:sp>
      <p:sp>
        <p:nvSpPr>
          <p:cNvPr id="18" name="Rectangle 17"/>
          <p:cNvSpPr/>
          <p:nvPr/>
        </p:nvSpPr>
        <p:spPr>
          <a:xfrm>
            <a:off x="548640" y="2194560"/>
            <a:ext cx="11109960" cy="365760"/>
          </a:xfrm>
          <a:prstGeom prst="rect">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86000"/>
            <a:ext cx="1508760" cy="274320"/>
          </a:xfrm>
          <a:prstGeom prst="rect">
            <a:avLst/>
          </a:prstGeom>
          <a:noFill/>
        </p:spPr>
        <p:txBody>
          <a:bodyPr wrap="square" anchor="t" lIns="0" rIns="0" tIns="0" bIns="0">
            <a:spAutoFit/>
          </a:bodyPr>
          <a:lstStyle/>
          <a:p>
            <a:pPr algn="l">
              <a:lnSpc>
                <a:spcPct val="115000"/>
              </a:lnSpc>
            </a:pPr>
            <a:r>
              <a:rPr sz="1000" b="1">
                <a:solidFill>
                  <a:srgbClr val="0F2A4F"/>
                </a:solidFill>
                <a:latin typeface="Hiragino Sans"/>
                <a:ea typeface="Hiragino Sans"/>
                <a:cs typeface="Hiragino Sans"/>
              </a:rPr>
              <a:t>運用統合</a:t>
            </a:r>
          </a:p>
        </p:txBody>
      </p:sp>
      <p:sp>
        <p:nvSpPr>
          <p:cNvPr id="20" name="TextBox 19"/>
          <p:cNvSpPr txBox="1"/>
          <p:nvPr/>
        </p:nvSpPr>
        <p:spPr>
          <a:xfrm>
            <a:off x="2423160" y="2286000"/>
            <a:ext cx="388620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elvetica Neue"/>
                <a:ea typeface="Helvetica Neue"/>
                <a:cs typeface="Helvetica Neue"/>
              </a:rPr>
              <a:t>Marin Software</a:t>
            </a:r>
          </a:p>
        </p:txBody>
      </p:sp>
      <p:sp>
        <p:nvSpPr>
          <p:cNvPr id="21" name="TextBox 20"/>
          <p:cNvSpPr txBox="1"/>
          <p:nvPr/>
        </p:nvSpPr>
        <p:spPr>
          <a:xfrm>
            <a:off x="6537960" y="2286000"/>
            <a:ext cx="2057400" cy="274320"/>
          </a:xfrm>
          <a:prstGeom prst="rect">
            <a:avLst/>
          </a:prstGeom>
          <a:noFill/>
        </p:spPr>
        <p:txBody>
          <a:bodyPr wrap="square" anchor="t" lIns="0" rIns="0" tIns="0" bIns="0">
            <a:spAutoFit/>
          </a:bodyPr>
          <a:lstStyle/>
          <a:p>
            <a:pPr algn="l">
              <a:lnSpc>
                <a:spcPct val="115000"/>
              </a:lnSpc>
            </a:pPr>
            <a:r>
              <a:rPr sz="1000" b="0">
                <a:solidFill>
                  <a:srgbClr val="E87722"/>
                </a:solidFill>
                <a:latin typeface="Helvetica Neue"/>
                <a:ea typeface="Helvetica Neue"/>
                <a:cs typeface="Helvetica Neue"/>
              </a:rPr>
              <a:t>中堅</a:t>
            </a:r>
          </a:p>
        </p:txBody>
      </p:sp>
      <p:sp>
        <p:nvSpPr>
          <p:cNvPr id="22" name="TextBox 21"/>
          <p:cNvSpPr txBox="1"/>
          <p:nvPr/>
        </p:nvSpPr>
        <p:spPr>
          <a:xfrm>
            <a:off x="8823960" y="2286000"/>
            <a:ext cx="283464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Search特化</a:t>
            </a:r>
          </a:p>
        </p:txBody>
      </p:sp>
      <p:sp>
        <p:nvSpPr>
          <p:cNvPr id="23" name="Rectangle 22"/>
          <p:cNvSpPr/>
          <p:nvPr/>
        </p:nvSpPr>
        <p:spPr>
          <a:xfrm>
            <a:off x="548640" y="2560320"/>
            <a:ext cx="11109960" cy="365760"/>
          </a:xfrm>
          <a:prstGeom prst="rect">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2651760"/>
            <a:ext cx="1508760" cy="274320"/>
          </a:xfrm>
          <a:prstGeom prst="rect">
            <a:avLst/>
          </a:prstGeom>
          <a:noFill/>
        </p:spPr>
        <p:txBody>
          <a:bodyPr wrap="square" anchor="t" lIns="0" rIns="0" tIns="0" bIns="0">
            <a:spAutoFit/>
          </a:bodyPr>
          <a:lstStyle/>
          <a:p>
            <a:pPr algn="l">
              <a:lnSpc>
                <a:spcPct val="115000"/>
              </a:lnSpc>
            </a:pPr>
            <a:r>
              <a:rPr sz="1000" b="1">
                <a:solidFill>
                  <a:srgbClr val="0F2A4F"/>
                </a:solidFill>
                <a:latin typeface="Hiragino Sans"/>
                <a:ea typeface="Hiragino Sans"/>
                <a:cs typeface="Hiragino Sans"/>
              </a:rPr>
              <a:t>運用統合</a:t>
            </a:r>
          </a:p>
        </p:txBody>
      </p:sp>
      <p:sp>
        <p:nvSpPr>
          <p:cNvPr id="25" name="TextBox 24"/>
          <p:cNvSpPr txBox="1"/>
          <p:nvPr/>
        </p:nvSpPr>
        <p:spPr>
          <a:xfrm>
            <a:off x="2423160" y="2651760"/>
            <a:ext cx="388620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elvetica Neue"/>
                <a:ea typeface="Helvetica Neue"/>
                <a:cs typeface="Helvetica Neue"/>
              </a:rPr>
              <a:t>Optmyzr</a:t>
            </a:r>
          </a:p>
        </p:txBody>
      </p:sp>
      <p:sp>
        <p:nvSpPr>
          <p:cNvPr id="26" name="TextBox 25"/>
          <p:cNvSpPr txBox="1"/>
          <p:nvPr/>
        </p:nvSpPr>
        <p:spPr>
          <a:xfrm>
            <a:off x="6537960" y="2651760"/>
            <a:ext cx="2057400" cy="274320"/>
          </a:xfrm>
          <a:prstGeom prst="rect">
            <a:avLst/>
          </a:prstGeom>
          <a:noFill/>
        </p:spPr>
        <p:txBody>
          <a:bodyPr wrap="square" anchor="t" lIns="0" rIns="0" tIns="0" bIns="0">
            <a:spAutoFit/>
          </a:bodyPr>
          <a:lstStyle/>
          <a:p>
            <a:pPr algn="l">
              <a:lnSpc>
                <a:spcPct val="115000"/>
              </a:lnSpc>
            </a:pPr>
            <a:r>
              <a:rPr sz="1000" b="0">
                <a:solidFill>
                  <a:srgbClr val="E87722"/>
                </a:solidFill>
                <a:latin typeface="Helvetica Neue"/>
                <a:ea typeface="Helvetica Neue"/>
                <a:cs typeface="Helvetica Neue"/>
              </a:rPr>
              <a:t>$208〜</a:t>
            </a:r>
          </a:p>
        </p:txBody>
      </p:sp>
      <p:sp>
        <p:nvSpPr>
          <p:cNvPr id="27" name="TextBox 26"/>
          <p:cNvSpPr txBox="1"/>
          <p:nvPr/>
        </p:nvSpPr>
        <p:spPr>
          <a:xfrm>
            <a:off x="8823960" y="2651760"/>
            <a:ext cx="283464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PMax深いインサイト</a:t>
            </a:r>
          </a:p>
        </p:txBody>
      </p:sp>
      <p:sp>
        <p:nvSpPr>
          <p:cNvPr id="28" name="Rectangle 27"/>
          <p:cNvSpPr/>
          <p:nvPr/>
        </p:nvSpPr>
        <p:spPr>
          <a:xfrm>
            <a:off x="548640" y="2926080"/>
            <a:ext cx="11109960" cy="365760"/>
          </a:xfrm>
          <a:prstGeom prst="rect">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3017520"/>
            <a:ext cx="1508760" cy="274320"/>
          </a:xfrm>
          <a:prstGeom prst="rect">
            <a:avLst/>
          </a:prstGeom>
          <a:noFill/>
        </p:spPr>
        <p:txBody>
          <a:bodyPr wrap="square" anchor="t" lIns="0" rIns="0" tIns="0" bIns="0">
            <a:spAutoFit/>
          </a:bodyPr>
          <a:lstStyle/>
          <a:p>
            <a:pPr algn="l">
              <a:lnSpc>
                <a:spcPct val="115000"/>
              </a:lnSpc>
            </a:pPr>
            <a:r>
              <a:rPr sz="1000" b="1">
                <a:solidFill>
                  <a:srgbClr val="0F2A4F"/>
                </a:solidFill>
                <a:latin typeface="Hiragino Sans"/>
                <a:ea typeface="Hiragino Sans"/>
                <a:cs typeface="Hiragino Sans"/>
              </a:rPr>
              <a:t>Google Ads</a:t>
            </a:r>
          </a:p>
        </p:txBody>
      </p:sp>
      <p:sp>
        <p:nvSpPr>
          <p:cNvPr id="30" name="TextBox 29"/>
          <p:cNvSpPr txBox="1"/>
          <p:nvPr/>
        </p:nvSpPr>
        <p:spPr>
          <a:xfrm>
            <a:off x="2423160" y="3017520"/>
            <a:ext cx="388620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elvetica Neue"/>
                <a:ea typeface="Helvetica Neue"/>
                <a:cs typeface="Helvetica Neue"/>
              </a:rPr>
              <a:t>Adalysis</a:t>
            </a:r>
          </a:p>
        </p:txBody>
      </p:sp>
      <p:sp>
        <p:nvSpPr>
          <p:cNvPr id="31" name="TextBox 30"/>
          <p:cNvSpPr txBox="1"/>
          <p:nvPr/>
        </p:nvSpPr>
        <p:spPr>
          <a:xfrm>
            <a:off x="6537960" y="3017520"/>
            <a:ext cx="2057400" cy="274320"/>
          </a:xfrm>
          <a:prstGeom prst="rect">
            <a:avLst/>
          </a:prstGeom>
          <a:noFill/>
        </p:spPr>
        <p:txBody>
          <a:bodyPr wrap="square" anchor="t" lIns="0" rIns="0" tIns="0" bIns="0">
            <a:spAutoFit/>
          </a:bodyPr>
          <a:lstStyle/>
          <a:p>
            <a:pPr algn="l">
              <a:lnSpc>
                <a:spcPct val="115000"/>
              </a:lnSpc>
            </a:pPr>
            <a:r>
              <a:rPr sz="1000" b="0">
                <a:solidFill>
                  <a:srgbClr val="E87722"/>
                </a:solidFill>
                <a:latin typeface="Helvetica Neue"/>
                <a:ea typeface="Helvetica Neue"/>
                <a:cs typeface="Helvetica Neue"/>
              </a:rPr>
              <a:t>$99〜</a:t>
            </a:r>
          </a:p>
        </p:txBody>
      </p:sp>
      <p:sp>
        <p:nvSpPr>
          <p:cNvPr id="32" name="TextBox 31"/>
          <p:cNvSpPr txBox="1"/>
          <p:nvPr/>
        </p:nvSpPr>
        <p:spPr>
          <a:xfrm>
            <a:off x="8823960" y="3017520"/>
            <a:ext cx="283464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Negative KW提案</a:t>
            </a:r>
          </a:p>
        </p:txBody>
      </p:sp>
      <p:sp>
        <p:nvSpPr>
          <p:cNvPr id="33" name="Rectangle 32"/>
          <p:cNvSpPr/>
          <p:nvPr/>
        </p:nvSpPr>
        <p:spPr>
          <a:xfrm>
            <a:off x="548640" y="3291840"/>
            <a:ext cx="11109960" cy="365760"/>
          </a:xfrm>
          <a:prstGeom prst="rect">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3383280"/>
            <a:ext cx="1508760" cy="274320"/>
          </a:xfrm>
          <a:prstGeom prst="rect">
            <a:avLst/>
          </a:prstGeom>
          <a:noFill/>
        </p:spPr>
        <p:txBody>
          <a:bodyPr wrap="square" anchor="t" lIns="0" rIns="0" tIns="0" bIns="0">
            <a:spAutoFit/>
          </a:bodyPr>
          <a:lstStyle/>
          <a:p>
            <a:pPr algn="l">
              <a:lnSpc>
                <a:spcPct val="115000"/>
              </a:lnSpc>
            </a:pPr>
            <a:r>
              <a:rPr sz="1000" b="1">
                <a:solidFill>
                  <a:srgbClr val="0F2A4F"/>
                </a:solidFill>
                <a:latin typeface="Hiragino Sans"/>
                <a:ea typeface="Hiragino Sans"/>
                <a:cs typeface="Hiragino Sans"/>
              </a:rPr>
              <a:t>広告生成</a:t>
            </a:r>
          </a:p>
        </p:txBody>
      </p:sp>
      <p:sp>
        <p:nvSpPr>
          <p:cNvPr id="35" name="TextBox 34"/>
          <p:cNvSpPr txBox="1"/>
          <p:nvPr/>
        </p:nvSpPr>
        <p:spPr>
          <a:xfrm>
            <a:off x="2423160" y="3383280"/>
            <a:ext cx="388620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elvetica Neue"/>
                <a:ea typeface="Helvetica Neue"/>
                <a:cs typeface="Helvetica Neue"/>
              </a:rPr>
              <a:t>AdCreative.ai</a:t>
            </a:r>
          </a:p>
        </p:txBody>
      </p:sp>
      <p:sp>
        <p:nvSpPr>
          <p:cNvPr id="36" name="TextBox 35"/>
          <p:cNvSpPr txBox="1"/>
          <p:nvPr/>
        </p:nvSpPr>
        <p:spPr>
          <a:xfrm>
            <a:off x="6537960" y="3383280"/>
            <a:ext cx="2057400" cy="274320"/>
          </a:xfrm>
          <a:prstGeom prst="rect">
            <a:avLst/>
          </a:prstGeom>
          <a:noFill/>
        </p:spPr>
        <p:txBody>
          <a:bodyPr wrap="square" anchor="t" lIns="0" rIns="0" tIns="0" bIns="0">
            <a:spAutoFit/>
          </a:bodyPr>
          <a:lstStyle/>
          <a:p>
            <a:pPr algn="l">
              <a:lnSpc>
                <a:spcPct val="115000"/>
              </a:lnSpc>
            </a:pPr>
            <a:r>
              <a:rPr sz="1000" b="0">
                <a:solidFill>
                  <a:srgbClr val="E87722"/>
                </a:solidFill>
                <a:latin typeface="Helvetica Neue"/>
                <a:ea typeface="Helvetica Neue"/>
                <a:cs typeface="Helvetica Neue"/>
              </a:rPr>
              <a:t>$29〜249</a:t>
            </a:r>
          </a:p>
        </p:txBody>
      </p:sp>
      <p:sp>
        <p:nvSpPr>
          <p:cNvPr id="37" name="TextBox 36"/>
          <p:cNvSpPr txBox="1"/>
          <p:nvPr/>
        </p:nvSpPr>
        <p:spPr>
          <a:xfrm>
            <a:off x="8823960" y="3383280"/>
            <a:ext cx="283464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10秒で広告生成</a:t>
            </a:r>
          </a:p>
        </p:txBody>
      </p:sp>
      <p:sp>
        <p:nvSpPr>
          <p:cNvPr id="38" name="Rectangle 37"/>
          <p:cNvSpPr/>
          <p:nvPr/>
        </p:nvSpPr>
        <p:spPr>
          <a:xfrm>
            <a:off x="548640" y="3657600"/>
            <a:ext cx="11109960" cy="365760"/>
          </a:xfrm>
          <a:prstGeom prst="rect">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85800" y="3749040"/>
            <a:ext cx="1508760" cy="274320"/>
          </a:xfrm>
          <a:prstGeom prst="rect">
            <a:avLst/>
          </a:prstGeom>
          <a:noFill/>
        </p:spPr>
        <p:txBody>
          <a:bodyPr wrap="square" anchor="t" lIns="0" rIns="0" tIns="0" bIns="0">
            <a:spAutoFit/>
          </a:bodyPr>
          <a:lstStyle/>
          <a:p>
            <a:pPr algn="l">
              <a:lnSpc>
                <a:spcPct val="115000"/>
              </a:lnSpc>
            </a:pPr>
            <a:r>
              <a:rPr sz="1000" b="1">
                <a:solidFill>
                  <a:srgbClr val="0F2A4F"/>
                </a:solidFill>
                <a:latin typeface="Hiragino Sans"/>
                <a:ea typeface="Hiragino Sans"/>
                <a:cs typeface="Hiragino Sans"/>
              </a:rPr>
              <a:t>広告生成</a:t>
            </a:r>
          </a:p>
        </p:txBody>
      </p:sp>
      <p:sp>
        <p:nvSpPr>
          <p:cNvPr id="40" name="TextBox 39"/>
          <p:cNvSpPr txBox="1"/>
          <p:nvPr/>
        </p:nvSpPr>
        <p:spPr>
          <a:xfrm>
            <a:off x="2423160" y="3749040"/>
            <a:ext cx="388620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elvetica Neue"/>
                <a:ea typeface="Helvetica Neue"/>
                <a:cs typeface="Helvetica Neue"/>
              </a:rPr>
              <a:t>Omneky</a:t>
            </a:r>
          </a:p>
        </p:txBody>
      </p:sp>
      <p:sp>
        <p:nvSpPr>
          <p:cNvPr id="41" name="TextBox 40"/>
          <p:cNvSpPr txBox="1"/>
          <p:nvPr/>
        </p:nvSpPr>
        <p:spPr>
          <a:xfrm>
            <a:off x="6537960" y="3749040"/>
            <a:ext cx="2057400" cy="274320"/>
          </a:xfrm>
          <a:prstGeom prst="rect">
            <a:avLst/>
          </a:prstGeom>
          <a:noFill/>
        </p:spPr>
        <p:txBody>
          <a:bodyPr wrap="square" anchor="t" lIns="0" rIns="0" tIns="0" bIns="0">
            <a:spAutoFit/>
          </a:bodyPr>
          <a:lstStyle/>
          <a:p>
            <a:pPr algn="l">
              <a:lnSpc>
                <a:spcPct val="115000"/>
              </a:lnSpc>
            </a:pPr>
            <a:r>
              <a:rPr sz="1000" b="0">
                <a:solidFill>
                  <a:srgbClr val="E87722"/>
                </a:solidFill>
                <a:latin typeface="Helvetica Neue"/>
                <a:ea typeface="Helvetica Neue"/>
                <a:cs typeface="Helvetica Neue"/>
              </a:rPr>
              <a:t>$199〜</a:t>
            </a:r>
          </a:p>
        </p:txBody>
      </p:sp>
      <p:sp>
        <p:nvSpPr>
          <p:cNvPr id="42" name="TextBox 41"/>
          <p:cNvSpPr txBox="1"/>
          <p:nvPr/>
        </p:nvSpPr>
        <p:spPr>
          <a:xfrm>
            <a:off x="8823960" y="3749040"/>
            <a:ext cx="283464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クリエイティブ自動生成+配信</a:t>
            </a:r>
          </a:p>
        </p:txBody>
      </p:sp>
      <p:sp>
        <p:nvSpPr>
          <p:cNvPr id="43" name="Rectangle 42"/>
          <p:cNvSpPr/>
          <p:nvPr/>
        </p:nvSpPr>
        <p:spPr>
          <a:xfrm>
            <a:off x="548640" y="4023360"/>
            <a:ext cx="11109960" cy="365760"/>
          </a:xfrm>
          <a:prstGeom prst="rect">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85800" y="4114800"/>
            <a:ext cx="1508760" cy="274320"/>
          </a:xfrm>
          <a:prstGeom prst="rect">
            <a:avLst/>
          </a:prstGeom>
          <a:noFill/>
        </p:spPr>
        <p:txBody>
          <a:bodyPr wrap="square" anchor="t" lIns="0" rIns="0" tIns="0" bIns="0">
            <a:spAutoFit/>
          </a:bodyPr>
          <a:lstStyle/>
          <a:p>
            <a:pPr algn="l">
              <a:lnSpc>
                <a:spcPct val="115000"/>
              </a:lnSpc>
            </a:pPr>
            <a:r>
              <a:rPr sz="1000" b="1">
                <a:solidFill>
                  <a:srgbClr val="0F2A4F"/>
                </a:solidFill>
                <a:latin typeface="Hiragino Sans"/>
                <a:ea typeface="Hiragino Sans"/>
                <a:cs typeface="Hiragino Sans"/>
              </a:rPr>
              <a:t>広告生成</a:t>
            </a:r>
          </a:p>
        </p:txBody>
      </p:sp>
      <p:sp>
        <p:nvSpPr>
          <p:cNvPr id="45" name="TextBox 44"/>
          <p:cNvSpPr txBox="1"/>
          <p:nvPr/>
        </p:nvSpPr>
        <p:spPr>
          <a:xfrm>
            <a:off x="2423160" y="4114800"/>
            <a:ext cx="388620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elvetica Neue"/>
                <a:ea typeface="Helvetica Neue"/>
                <a:cs typeface="Helvetica Neue"/>
              </a:rPr>
              <a:t>Smartly.io</a:t>
            </a:r>
          </a:p>
        </p:txBody>
      </p:sp>
      <p:sp>
        <p:nvSpPr>
          <p:cNvPr id="46" name="TextBox 45"/>
          <p:cNvSpPr txBox="1"/>
          <p:nvPr/>
        </p:nvSpPr>
        <p:spPr>
          <a:xfrm>
            <a:off x="6537960" y="4114800"/>
            <a:ext cx="2057400" cy="274320"/>
          </a:xfrm>
          <a:prstGeom prst="rect">
            <a:avLst/>
          </a:prstGeom>
          <a:noFill/>
        </p:spPr>
        <p:txBody>
          <a:bodyPr wrap="square" anchor="t" lIns="0" rIns="0" tIns="0" bIns="0">
            <a:spAutoFit/>
          </a:bodyPr>
          <a:lstStyle/>
          <a:p>
            <a:pPr algn="l">
              <a:lnSpc>
                <a:spcPct val="115000"/>
              </a:lnSpc>
            </a:pPr>
            <a:r>
              <a:rPr sz="1000" b="0">
                <a:solidFill>
                  <a:srgbClr val="E87722"/>
                </a:solidFill>
                <a:latin typeface="Helvetica Neue"/>
                <a:ea typeface="Helvetica Neue"/>
                <a:cs typeface="Helvetica Neue"/>
              </a:rPr>
              <a:t>Enterprise</a:t>
            </a:r>
          </a:p>
        </p:txBody>
      </p:sp>
      <p:sp>
        <p:nvSpPr>
          <p:cNvPr id="47" name="TextBox 46"/>
          <p:cNvSpPr txBox="1"/>
          <p:nvPr/>
        </p:nvSpPr>
        <p:spPr>
          <a:xfrm>
            <a:off x="8823960" y="4114800"/>
            <a:ext cx="283464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Meta統合</a:t>
            </a:r>
          </a:p>
        </p:txBody>
      </p:sp>
      <p:sp>
        <p:nvSpPr>
          <p:cNvPr id="48" name="Rectangle 47"/>
          <p:cNvSpPr/>
          <p:nvPr/>
        </p:nvSpPr>
        <p:spPr>
          <a:xfrm>
            <a:off x="548640" y="4389120"/>
            <a:ext cx="11109960" cy="365760"/>
          </a:xfrm>
          <a:prstGeom prst="rect">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85800" y="4480560"/>
            <a:ext cx="1508760" cy="274320"/>
          </a:xfrm>
          <a:prstGeom prst="rect">
            <a:avLst/>
          </a:prstGeom>
          <a:noFill/>
        </p:spPr>
        <p:txBody>
          <a:bodyPr wrap="square" anchor="t" lIns="0" rIns="0" tIns="0" bIns="0">
            <a:spAutoFit/>
          </a:bodyPr>
          <a:lstStyle/>
          <a:p>
            <a:pPr algn="l">
              <a:lnSpc>
                <a:spcPct val="115000"/>
              </a:lnSpc>
            </a:pPr>
            <a:r>
              <a:rPr sz="1000" b="1">
                <a:solidFill>
                  <a:srgbClr val="0F2A4F"/>
                </a:solidFill>
                <a:latin typeface="Hiragino Sans"/>
                <a:ea typeface="Hiragino Sans"/>
                <a:cs typeface="Hiragino Sans"/>
              </a:rPr>
              <a:t>計測予測</a:t>
            </a:r>
          </a:p>
        </p:txBody>
      </p:sp>
      <p:sp>
        <p:nvSpPr>
          <p:cNvPr id="50" name="TextBox 49"/>
          <p:cNvSpPr txBox="1"/>
          <p:nvPr/>
        </p:nvSpPr>
        <p:spPr>
          <a:xfrm>
            <a:off x="2423160" y="4480560"/>
            <a:ext cx="388620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elvetica Neue"/>
                <a:ea typeface="Helvetica Neue"/>
                <a:cs typeface="Helvetica Neue"/>
              </a:rPr>
              <a:t>Vidmob</a:t>
            </a:r>
          </a:p>
        </p:txBody>
      </p:sp>
      <p:sp>
        <p:nvSpPr>
          <p:cNvPr id="51" name="TextBox 50"/>
          <p:cNvSpPr txBox="1"/>
          <p:nvPr/>
        </p:nvSpPr>
        <p:spPr>
          <a:xfrm>
            <a:off x="6537960" y="4480560"/>
            <a:ext cx="2057400" cy="274320"/>
          </a:xfrm>
          <a:prstGeom prst="rect">
            <a:avLst/>
          </a:prstGeom>
          <a:noFill/>
        </p:spPr>
        <p:txBody>
          <a:bodyPr wrap="square" anchor="t" lIns="0" rIns="0" tIns="0" bIns="0">
            <a:spAutoFit/>
          </a:bodyPr>
          <a:lstStyle/>
          <a:p>
            <a:pPr algn="l">
              <a:lnSpc>
                <a:spcPct val="115000"/>
              </a:lnSpc>
            </a:pPr>
            <a:r>
              <a:rPr sz="1000" b="0">
                <a:solidFill>
                  <a:srgbClr val="E87722"/>
                </a:solidFill>
                <a:latin typeface="Helvetica Neue"/>
                <a:ea typeface="Helvetica Neue"/>
                <a:cs typeface="Helvetica Neue"/>
              </a:rPr>
              <a:t>Enterprise</a:t>
            </a:r>
          </a:p>
        </p:txBody>
      </p:sp>
      <p:sp>
        <p:nvSpPr>
          <p:cNvPr id="52" name="TextBox 51"/>
          <p:cNvSpPr txBox="1"/>
          <p:nvPr/>
        </p:nvSpPr>
        <p:spPr>
          <a:xfrm>
            <a:off x="8823960" y="4480560"/>
            <a:ext cx="283464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動画スコアリング</a:t>
            </a:r>
          </a:p>
        </p:txBody>
      </p:sp>
      <p:sp>
        <p:nvSpPr>
          <p:cNvPr id="53" name="Rectangle 52"/>
          <p:cNvSpPr/>
          <p:nvPr/>
        </p:nvSpPr>
        <p:spPr>
          <a:xfrm>
            <a:off x="548640" y="4754880"/>
            <a:ext cx="11109960" cy="365760"/>
          </a:xfrm>
          <a:prstGeom prst="rect">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85800" y="4846320"/>
            <a:ext cx="1508760" cy="274320"/>
          </a:xfrm>
          <a:prstGeom prst="rect">
            <a:avLst/>
          </a:prstGeom>
          <a:noFill/>
        </p:spPr>
        <p:txBody>
          <a:bodyPr wrap="square" anchor="t" lIns="0" rIns="0" tIns="0" bIns="0">
            <a:spAutoFit/>
          </a:bodyPr>
          <a:lstStyle/>
          <a:p>
            <a:pPr algn="l">
              <a:lnSpc>
                <a:spcPct val="115000"/>
              </a:lnSpc>
            </a:pPr>
            <a:r>
              <a:rPr sz="1000" b="1">
                <a:solidFill>
                  <a:srgbClr val="0F2A4F"/>
                </a:solidFill>
                <a:latin typeface="Hiragino Sans"/>
                <a:ea typeface="Hiragino Sans"/>
                <a:cs typeface="Hiragino Sans"/>
              </a:rPr>
              <a:t>Agent</a:t>
            </a:r>
          </a:p>
        </p:txBody>
      </p:sp>
      <p:sp>
        <p:nvSpPr>
          <p:cNvPr id="55" name="TextBox 54"/>
          <p:cNvSpPr txBox="1"/>
          <p:nvPr/>
        </p:nvSpPr>
        <p:spPr>
          <a:xfrm>
            <a:off x="2423160" y="4846320"/>
            <a:ext cx="388620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elvetica Neue"/>
                <a:ea typeface="Helvetica Neue"/>
                <a:cs typeface="Helvetica Neue"/>
              </a:rPr>
              <a:t>Claude Computer Use</a:t>
            </a:r>
          </a:p>
        </p:txBody>
      </p:sp>
      <p:sp>
        <p:nvSpPr>
          <p:cNvPr id="56" name="TextBox 55"/>
          <p:cNvSpPr txBox="1"/>
          <p:nvPr/>
        </p:nvSpPr>
        <p:spPr>
          <a:xfrm>
            <a:off x="6537960" y="4846320"/>
            <a:ext cx="2057400" cy="274320"/>
          </a:xfrm>
          <a:prstGeom prst="rect">
            <a:avLst/>
          </a:prstGeom>
          <a:noFill/>
        </p:spPr>
        <p:txBody>
          <a:bodyPr wrap="square" anchor="t" lIns="0" rIns="0" tIns="0" bIns="0">
            <a:spAutoFit/>
          </a:bodyPr>
          <a:lstStyle/>
          <a:p>
            <a:pPr algn="l">
              <a:lnSpc>
                <a:spcPct val="115000"/>
              </a:lnSpc>
            </a:pPr>
            <a:r>
              <a:rPr sz="1000" b="0">
                <a:solidFill>
                  <a:srgbClr val="E87722"/>
                </a:solidFill>
                <a:latin typeface="Helvetica Neue"/>
                <a:ea typeface="Helvetica Neue"/>
                <a:cs typeface="Helvetica Neue"/>
              </a:rPr>
              <a:t>Pro $20</a:t>
            </a:r>
          </a:p>
        </p:txBody>
      </p:sp>
      <p:sp>
        <p:nvSpPr>
          <p:cNvPr id="57" name="TextBox 56"/>
          <p:cNvSpPr txBox="1"/>
          <p:nvPr/>
        </p:nvSpPr>
        <p:spPr>
          <a:xfrm>
            <a:off x="8823960" y="4846320"/>
            <a:ext cx="283464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管理画面操作</a:t>
            </a:r>
          </a:p>
        </p:txBody>
      </p:sp>
      <p:sp>
        <p:nvSpPr>
          <p:cNvPr id="58" name="Rectangle 57"/>
          <p:cNvSpPr/>
          <p:nvPr/>
        </p:nvSpPr>
        <p:spPr>
          <a:xfrm>
            <a:off x="548640" y="5120640"/>
            <a:ext cx="11109960" cy="365760"/>
          </a:xfrm>
          <a:prstGeom prst="rect">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85800" y="5212080"/>
            <a:ext cx="1508760" cy="274320"/>
          </a:xfrm>
          <a:prstGeom prst="rect">
            <a:avLst/>
          </a:prstGeom>
          <a:noFill/>
        </p:spPr>
        <p:txBody>
          <a:bodyPr wrap="square" anchor="t" lIns="0" rIns="0" tIns="0" bIns="0">
            <a:spAutoFit/>
          </a:bodyPr>
          <a:lstStyle/>
          <a:p>
            <a:pPr algn="l">
              <a:lnSpc>
                <a:spcPct val="115000"/>
              </a:lnSpc>
            </a:pPr>
            <a:r>
              <a:rPr sz="1000" b="1">
                <a:solidFill>
                  <a:srgbClr val="0F2A4F"/>
                </a:solidFill>
                <a:latin typeface="Hiragino Sans"/>
                <a:ea typeface="Hiragino Sans"/>
                <a:cs typeface="Hiragino Sans"/>
              </a:rPr>
              <a:t>Agent</a:t>
            </a:r>
          </a:p>
        </p:txBody>
      </p:sp>
      <p:sp>
        <p:nvSpPr>
          <p:cNvPr id="60" name="TextBox 59"/>
          <p:cNvSpPr txBox="1"/>
          <p:nvPr/>
        </p:nvSpPr>
        <p:spPr>
          <a:xfrm>
            <a:off x="2423160" y="5212080"/>
            <a:ext cx="388620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elvetica Neue"/>
                <a:ea typeface="Helvetica Neue"/>
                <a:cs typeface="Helvetica Neue"/>
              </a:rPr>
              <a:t>OpenAI Operator</a:t>
            </a:r>
          </a:p>
        </p:txBody>
      </p:sp>
      <p:sp>
        <p:nvSpPr>
          <p:cNvPr id="61" name="TextBox 60"/>
          <p:cNvSpPr txBox="1"/>
          <p:nvPr/>
        </p:nvSpPr>
        <p:spPr>
          <a:xfrm>
            <a:off x="6537960" y="5212080"/>
            <a:ext cx="2057400" cy="274320"/>
          </a:xfrm>
          <a:prstGeom prst="rect">
            <a:avLst/>
          </a:prstGeom>
          <a:noFill/>
        </p:spPr>
        <p:txBody>
          <a:bodyPr wrap="square" anchor="t" lIns="0" rIns="0" tIns="0" bIns="0">
            <a:spAutoFit/>
          </a:bodyPr>
          <a:lstStyle/>
          <a:p>
            <a:pPr algn="l">
              <a:lnSpc>
                <a:spcPct val="115000"/>
              </a:lnSpc>
            </a:pPr>
            <a:r>
              <a:rPr sz="1000" b="0">
                <a:solidFill>
                  <a:srgbClr val="E87722"/>
                </a:solidFill>
                <a:latin typeface="Helvetica Neue"/>
                <a:ea typeface="Helvetica Neue"/>
                <a:cs typeface="Helvetica Neue"/>
              </a:rPr>
              <a:t>Pro $200</a:t>
            </a:r>
          </a:p>
        </p:txBody>
      </p:sp>
      <p:sp>
        <p:nvSpPr>
          <p:cNvPr id="62" name="TextBox 61"/>
          <p:cNvSpPr txBox="1"/>
          <p:nvPr/>
        </p:nvSpPr>
        <p:spPr>
          <a:xfrm>
            <a:off x="8823960" y="5212080"/>
            <a:ext cx="283464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Webタスク完遂</a:t>
            </a:r>
          </a:p>
        </p:txBody>
      </p:sp>
      <p:sp>
        <p:nvSpPr>
          <p:cNvPr id="63" name="Rectangle 62"/>
          <p:cNvSpPr/>
          <p:nvPr/>
        </p:nvSpPr>
        <p:spPr>
          <a:xfrm>
            <a:off x="548640" y="5486400"/>
            <a:ext cx="11109960" cy="365760"/>
          </a:xfrm>
          <a:prstGeom prst="rect">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85800" y="5577840"/>
            <a:ext cx="1508760" cy="274320"/>
          </a:xfrm>
          <a:prstGeom prst="rect">
            <a:avLst/>
          </a:prstGeom>
          <a:noFill/>
        </p:spPr>
        <p:txBody>
          <a:bodyPr wrap="square" anchor="t" lIns="0" rIns="0" tIns="0" bIns="0">
            <a:spAutoFit/>
          </a:bodyPr>
          <a:lstStyle/>
          <a:p>
            <a:pPr algn="l">
              <a:lnSpc>
                <a:spcPct val="115000"/>
              </a:lnSpc>
            </a:pPr>
            <a:r>
              <a:rPr sz="1000" b="1">
                <a:solidFill>
                  <a:srgbClr val="0F2A4F"/>
                </a:solidFill>
                <a:latin typeface="Hiragino Sans"/>
                <a:ea typeface="Hiragino Sans"/>
                <a:cs typeface="Hiragino Sans"/>
              </a:rPr>
              <a:t>Agent</a:t>
            </a:r>
          </a:p>
        </p:txBody>
      </p:sp>
      <p:sp>
        <p:nvSpPr>
          <p:cNvPr id="65" name="TextBox 64"/>
          <p:cNvSpPr txBox="1"/>
          <p:nvPr/>
        </p:nvSpPr>
        <p:spPr>
          <a:xfrm>
            <a:off x="2423160" y="5577840"/>
            <a:ext cx="388620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elvetica Neue"/>
                <a:ea typeface="Helvetica Neue"/>
                <a:cs typeface="Helvetica Neue"/>
              </a:rPr>
              <a:t>Microsoft 365 Copilot</a:t>
            </a:r>
          </a:p>
        </p:txBody>
      </p:sp>
      <p:sp>
        <p:nvSpPr>
          <p:cNvPr id="66" name="TextBox 65"/>
          <p:cNvSpPr txBox="1"/>
          <p:nvPr/>
        </p:nvSpPr>
        <p:spPr>
          <a:xfrm>
            <a:off x="6537960" y="5577840"/>
            <a:ext cx="2057400" cy="274320"/>
          </a:xfrm>
          <a:prstGeom prst="rect">
            <a:avLst/>
          </a:prstGeom>
          <a:noFill/>
        </p:spPr>
        <p:txBody>
          <a:bodyPr wrap="square" anchor="t" lIns="0" rIns="0" tIns="0" bIns="0">
            <a:spAutoFit/>
          </a:bodyPr>
          <a:lstStyle/>
          <a:p>
            <a:pPr algn="l">
              <a:lnSpc>
                <a:spcPct val="115000"/>
              </a:lnSpc>
            </a:pPr>
            <a:r>
              <a:rPr sz="1000" b="0">
                <a:solidFill>
                  <a:srgbClr val="E87722"/>
                </a:solidFill>
                <a:latin typeface="Helvetica Neue"/>
                <a:ea typeface="Helvetica Neue"/>
                <a:cs typeface="Helvetica Neue"/>
              </a:rPr>
              <a:t>$30</a:t>
            </a:r>
          </a:p>
        </p:txBody>
      </p:sp>
      <p:sp>
        <p:nvSpPr>
          <p:cNvPr id="67" name="TextBox 66"/>
          <p:cNvSpPr txBox="1"/>
          <p:nvPr/>
        </p:nvSpPr>
        <p:spPr>
          <a:xfrm>
            <a:off x="8823960" y="5577840"/>
            <a:ext cx="283464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Office内AI</a:t>
            </a:r>
          </a:p>
        </p:txBody>
      </p:sp>
      <p:sp>
        <p:nvSpPr>
          <p:cNvPr id="68" name="TextBox 67"/>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主要ツール比較 : 計測系</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計測・分析・MMM ツール</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P237 / 250</a:t>
            </a:r>
          </a:p>
        </p:txBody>
      </p:sp>
      <p:sp>
        <p:nvSpPr>
          <p:cNvPr id="8" name="Rectangle 7"/>
          <p:cNvSpPr/>
          <p:nvPr/>
        </p:nvSpPr>
        <p:spPr>
          <a:xfrm>
            <a:off x="548640" y="1371600"/>
            <a:ext cx="11109960" cy="45720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481328"/>
            <a:ext cx="1508760" cy="274320"/>
          </a:xfrm>
          <a:prstGeom prst="rect">
            <a:avLst/>
          </a:prstGeom>
          <a:noFill/>
        </p:spPr>
        <p:txBody>
          <a:bodyPr wrap="square" anchor="t" lIns="0" rIns="0" tIns="0" bIns="0">
            <a:spAutoFit/>
          </a:bodyPr>
          <a:lstStyle/>
          <a:p>
            <a:pPr algn="l">
              <a:lnSpc>
                <a:spcPct val="115000"/>
              </a:lnSpc>
            </a:pPr>
            <a:r>
              <a:rPr sz="1100" b="1">
                <a:solidFill>
                  <a:srgbClr val="FFFFFF"/>
                </a:solidFill>
                <a:latin typeface="Hiragino Sans"/>
                <a:ea typeface="Hiragino Sans"/>
                <a:cs typeface="Hiragino Sans"/>
              </a:rPr>
              <a:t>カテゴリ</a:t>
            </a:r>
          </a:p>
        </p:txBody>
      </p:sp>
      <p:sp>
        <p:nvSpPr>
          <p:cNvPr id="10" name="TextBox 9"/>
          <p:cNvSpPr txBox="1"/>
          <p:nvPr/>
        </p:nvSpPr>
        <p:spPr>
          <a:xfrm>
            <a:off x="2423160" y="1481328"/>
            <a:ext cx="3886200" cy="274320"/>
          </a:xfrm>
          <a:prstGeom prst="rect">
            <a:avLst/>
          </a:prstGeom>
          <a:noFill/>
        </p:spPr>
        <p:txBody>
          <a:bodyPr wrap="square" anchor="t" lIns="0" rIns="0" tIns="0" bIns="0">
            <a:spAutoFit/>
          </a:bodyPr>
          <a:lstStyle/>
          <a:p>
            <a:pPr algn="l">
              <a:lnSpc>
                <a:spcPct val="115000"/>
              </a:lnSpc>
            </a:pPr>
            <a:r>
              <a:rPr sz="1100" b="1">
                <a:solidFill>
                  <a:srgbClr val="FFFFFF"/>
                </a:solidFill>
                <a:latin typeface="Hiragino Sans"/>
                <a:ea typeface="Hiragino Sans"/>
                <a:cs typeface="Hiragino Sans"/>
              </a:rPr>
              <a:t>ツール</a:t>
            </a:r>
          </a:p>
        </p:txBody>
      </p:sp>
      <p:sp>
        <p:nvSpPr>
          <p:cNvPr id="11" name="TextBox 10"/>
          <p:cNvSpPr txBox="1"/>
          <p:nvPr/>
        </p:nvSpPr>
        <p:spPr>
          <a:xfrm>
            <a:off x="6537960" y="1481328"/>
            <a:ext cx="2057400" cy="274320"/>
          </a:xfrm>
          <a:prstGeom prst="rect">
            <a:avLst/>
          </a:prstGeom>
          <a:noFill/>
        </p:spPr>
        <p:txBody>
          <a:bodyPr wrap="square" anchor="t" lIns="0" rIns="0" tIns="0" bIns="0">
            <a:spAutoFit/>
          </a:bodyPr>
          <a:lstStyle/>
          <a:p>
            <a:pPr algn="l">
              <a:lnSpc>
                <a:spcPct val="115000"/>
              </a:lnSpc>
            </a:pPr>
            <a:r>
              <a:rPr sz="1100" b="1">
                <a:solidFill>
                  <a:srgbClr val="FFFFFF"/>
                </a:solidFill>
                <a:latin typeface="Hiragino Sans"/>
                <a:ea typeface="Hiragino Sans"/>
                <a:cs typeface="Hiragino Sans"/>
              </a:rPr>
              <a:t>月額(目安)</a:t>
            </a:r>
          </a:p>
        </p:txBody>
      </p:sp>
      <p:sp>
        <p:nvSpPr>
          <p:cNvPr id="12" name="TextBox 11"/>
          <p:cNvSpPr txBox="1"/>
          <p:nvPr/>
        </p:nvSpPr>
        <p:spPr>
          <a:xfrm>
            <a:off x="8823960" y="1481328"/>
            <a:ext cx="2834640" cy="274320"/>
          </a:xfrm>
          <a:prstGeom prst="rect">
            <a:avLst/>
          </a:prstGeom>
          <a:noFill/>
        </p:spPr>
        <p:txBody>
          <a:bodyPr wrap="square" anchor="t" lIns="0" rIns="0" tIns="0" bIns="0">
            <a:spAutoFit/>
          </a:bodyPr>
          <a:lstStyle/>
          <a:p>
            <a:pPr algn="l">
              <a:lnSpc>
                <a:spcPct val="115000"/>
              </a:lnSpc>
            </a:pPr>
            <a:r>
              <a:rPr sz="1100" b="1">
                <a:solidFill>
                  <a:srgbClr val="FFFFFF"/>
                </a:solidFill>
                <a:latin typeface="Hiragino Sans"/>
                <a:ea typeface="Hiragino Sans"/>
                <a:cs typeface="Hiragino Sans"/>
              </a:rPr>
              <a:t>用途</a:t>
            </a:r>
          </a:p>
        </p:txBody>
      </p:sp>
      <p:sp>
        <p:nvSpPr>
          <p:cNvPr id="13" name="Rectangle 12"/>
          <p:cNvSpPr/>
          <p:nvPr/>
        </p:nvSpPr>
        <p:spPr>
          <a:xfrm>
            <a:off x="548640" y="1828800"/>
            <a:ext cx="11109960" cy="365760"/>
          </a:xfrm>
          <a:prstGeom prst="rect">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920240"/>
            <a:ext cx="1508760" cy="274320"/>
          </a:xfrm>
          <a:prstGeom prst="rect">
            <a:avLst/>
          </a:prstGeom>
          <a:noFill/>
        </p:spPr>
        <p:txBody>
          <a:bodyPr wrap="square" anchor="t" lIns="0" rIns="0" tIns="0" bIns="0">
            <a:spAutoFit/>
          </a:bodyPr>
          <a:lstStyle/>
          <a:p>
            <a:pPr algn="l">
              <a:lnSpc>
                <a:spcPct val="115000"/>
              </a:lnSpc>
            </a:pPr>
            <a:r>
              <a:rPr sz="1000" b="1">
                <a:solidFill>
                  <a:srgbClr val="0F2A4F"/>
                </a:solidFill>
                <a:latin typeface="Hiragino Sans"/>
                <a:ea typeface="Hiragino Sans"/>
                <a:cs typeface="Hiragino Sans"/>
              </a:rPr>
              <a:t>分析</a:t>
            </a:r>
          </a:p>
        </p:txBody>
      </p:sp>
      <p:sp>
        <p:nvSpPr>
          <p:cNvPr id="15" name="TextBox 14"/>
          <p:cNvSpPr txBox="1"/>
          <p:nvPr/>
        </p:nvSpPr>
        <p:spPr>
          <a:xfrm>
            <a:off x="2423160" y="1920240"/>
            <a:ext cx="388620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elvetica Neue"/>
                <a:ea typeface="Helvetica Neue"/>
                <a:cs typeface="Helvetica Neue"/>
              </a:rPr>
              <a:t>GA4</a:t>
            </a:r>
          </a:p>
        </p:txBody>
      </p:sp>
      <p:sp>
        <p:nvSpPr>
          <p:cNvPr id="16" name="TextBox 15"/>
          <p:cNvSpPr txBox="1"/>
          <p:nvPr/>
        </p:nvSpPr>
        <p:spPr>
          <a:xfrm>
            <a:off x="6537960" y="1920240"/>
            <a:ext cx="2057400" cy="274320"/>
          </a:xfrm>
          <a:prstGeom prst="rect">
            <a:avLst/>
          </a:prstGeom>
          <a:noFill/>
        </p:spPr>
        <p:txBody>
          <a:bodyPr wrap="square" anchor="t" lIns="0" rIns="0" tIns="0" bIns="0">
            <a:spAutoFit/>
          </a:bodyPr>
          <a:lstStyle/>
          <a:p>
            <a:pPr algn="l">
              <a:lnSpc>
                <a:spcPct val="115000"/>
              </a:lnSpc>
            </a:pPr>
            <a:r>
              <a:rPr sz="1000" b="0">
                <a:solidFill>
                  <a:srgbClr val="E87722"/>
                </a:solidFill>
                <a:latin typeface="Helvetica Neue"/>
                <a:ea typeface="Helvetica Neue"/>
                <a:cs typeface="Helvetica Neue"/>
              </a:rPr>
              <a:t>無料</a:t>
            </a:r>
          </a:p>
        </p:txBody>
      </p:sp>
      <p:sp>
        <p:nvSpPr>
          <p:cNvPr id="17" name="TextBox 16"/>
          <p:cNvSpPr txBox="1"/>
          <p:nvPr/>
        </p:nvSpPr>
        <p:spPr>
          <a:xfrm>
            <a:off x="8823960" y="1920240"/>
            <a:ext cx="283464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標準アクセス解析</a:t>
            </a:r>
          </a:p>
        </p:txBody>
      </p:sp>
      <p:sp>
        <p:nvSpPr>
          <p:cNvPr id="18" name="Rectangle 17"/>
          <p:cNvSpPr/>
          <p:nvPr/>
        </p:nvSpPr>
        <p:spPr>
          <a:xfrm>
            <a:off x="548640" y="2194560"/>
            <a:ext cx="11109960" cy="365760"/>
          </a:xfrm>
          <a:prstGeom prst="rect">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86000"/>
            <a:ext cx="1508760" cy="274320"/>
          </a:xfrm>
          <a:prstGeom prst="rect">
            <a:avLst/>
          </a:prstGeom>
          <a:noFill/>
        </p:spPr>
        <p:txBody>
          <a:bodyPr wrap="square" anchor="t" lIns="0" rIns="0" tIns="0" bIns="0">
            <a:spAutoFit/>
          </a:bodyPr>
          <a:lstStyle/>
          <a:p>
            <a:pPr algn="l">
              <a:lnSpc>
                <a:spcPct val="115000"/>
              </a:lnSpc>
            </a:pPr>
            <a:r>
              <a:rPr sz="1000" b="1">
                <a:solidFill>
                  <a:srgbClr val="0F2A4F"/>
                </a:solidFill>
                <a:latin typeface="Hiragino Sans"/>
                <a:ea typeface="Hiragino Sans"/>
                <a:cs typeface="Hiragino Sans"/>
              </a:rPr>
              <a:t>分析</a:t>
            </a:r>
          </a:p>
        </p:txBody>
      </p:sp>
      <p:sp>
        <p:nvSpPr>
          <p:cNvPr id="20" name="TextBox 19"/>
          <p:cNvSpPr txBox="1"/>
          <p:nvPr/>
        </p:nvSpPr>
        <p:spPr>
          <a:xfrm>
            <a:off x="2423160" y="2286000"/>
            <a:ext cx="388620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elvetica Neue"/>
                <a:ea typeface="Helvetica Neue"/>
                <a:cs typeface="Helvetica Neue"/>
              </a:rPr>
              <a:t>Looker Studio</a:t>
            </a:r>
          </a:p>
        </p:txBody>
      </p:sp>
      <p:sp>
        <p:nvSpPr>
          <p:cNvPr id="21" name="TextBox 20"/>
          <p:cNvSpPr txBox="1"/>
          <p:nvPr/>
        </p:nvSpPr>
        <p:spPr>
          <a:xfrm>
            <a:off x="6537960" y="2286000"/>
            <a:ext cx="2057400" cy="274320"/>
          </a:xfrm>
          <a:prstGeom prst="rect">
            <a:avLst/>
          </a:prstGeom>
          <a:noFill/>
        </p:spPr>
        <p:txBody>
          <a:bodyPr wrap="square" anchor="t" lIns="0" rIns="0" tIns="0" bIns="0">
            <a:spAutoFit/>
          </a:bodyPr>
          <a:lstStyle/>
          <a:p>
            <a:pPr algn="l">
              <a:lnSpc>
                <a:spcPct val="115000"/>
              </a:lnSpc>
            </a:pPr>
            <a:r>
              <a:rPr sz="1000" b="0">
                <a:solidFill>
                  <a:srgbClr val="E87722"/>
                </a:solidFill>
                <a:latin typeface="Helvetica Neue"/>
                <a:ea typeface="Helvetica Neue"/>
                <a:cs typeface="Helvetica Neue"/>
              </a:rPr>
              <a:t>無料</a:t>
            </a:r>
          </a:p>
        </p:txBody>
      </p:sp>
      <p:sp>
        <p:nvSpPr>
          <p:cNvPr id="22" name="TextBox 21"/>
          <p:cNvSpPr txBox="1"/>
          <p:nvPr/>
        </p:nvSpPr>
        <p:spPr>
          <a:xfrm>
            <a:off x="8823960" y="2286000"/>
            <a:ext cx="283464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BIダッシュボード</a:t>
            </a:r>
          </a:p>
        </p:txBody>
      </p:sp>
      <p:sp>
        <p:nvSpPr>
          <p:cNvPr id="23" name="Rectangle 22"/>
          <p:cNvSpPr/>
          <p:nvPr/>
        </p:nvSpPr>
        <p:spPr>
          <a:xfrm>
            <a:off x="548640" y="2560320"/>
            <a:ext cx="11109960" cy="365760"/>
          </a:xfrm>
          <a:prstGeom prst="rect">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2651760"/>
            <a:ext cx="1508760" cy="274320"/>
          </a:xfrm>
          <a:prstGeom prst="rect">
            <a:avLst/>
          </a:prstGeom>
          <a:noFill/>
        </p:spPr>
        <p:txBody>
          <a:bodyPr wrap="square" anchor="t" lIns="0" rIns="0" tIns="0" bIns="0">
            <a:spAutoFit/>
          </a:bodyPr>
          <a:lstStyle/>
          <a:p>
            <a:pPr algn="l">
              <a:lnSpc>
                <a:spcPct val="115000"/>
              </a:lnSpc>
            </a:pPr>
            <a:r>
              <a:rPr sz="1000" b="1">
                <a:solidFill>
                  <a:srgbClr val="0F2A4F"/>
                </a:solidFill>
                <a:latin typeface="Hiragino Sans"/>
                <a:ea typeface="Hiragino Sans"/>
                <a:cs typeface="Hiragino Sans"/>
              </a:rPr>
              <a:t>分析</a:t>
            </a:r>
          </a:p>
        </p:txBody>
      </p:sp>
      <p:sp>
        <p:nvSpPr>
          <p:cNvPr id="25" name="TextBox 24"/>
          <p:cNvSpPr txBox="1"/>
          <p:nvPr/>
        </p:nvSpPr>
        <p:spPr>
          <a:xfrm>
            <a:off x="2423160" y="2651760"/>
            <a:ext cx="388620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elvetica Neue"/>
                <a:ea typeface="Helvetica Neue"/>
                <a:cs typeface="Helvetica Neue"/>
              </a:rPr>
              <a:t>BigQuery</a:t>
            </a:r>
          </a:p>
        </p:txBody>
      </p:sp>
      <p:sp>
        <p:nvSpPr>
          <p:cNvPr id="26" name="TextBox 25"/>
          <p:cNvSpPr txBox="1"/>
          <p:nvPr/>
        </p:nvSpPr>
        <p:spPr>
          <a:xfrm>
            <a:off x="6537960" y="2651760"/>
            <a:ext cx="2057400" cy="274320"/>
          </a:xfrm>
          <a:prstGeom prst="rect">
            <a:avLst/>
          </a:prstGeom>
          <a:noFill/>
        </p:spPr>
        <p:txBody>
          <a:bodyPr wrap="square" anchor="t" lIns="0" rIns="0" tIns="0" bIns="0">
            <a:spAutoFit/>
          </a:bodyPr>
          <a:lstStyle/>
          <a:p>
            <a:pPr algn="l">
              <a:lnSpc>
                <a:spcPct val="115000"/>
              </a:lnSpc>
            </a:pPr>
            <a:r>
              <a:rPr sz="1000" b="0">
                <a:solidFill>
                  <a:srgbClr val="E87722"/>
                </a:solidFill>
                <a:latin typeface="Helvetica Neue"/>
                <a:ea typeface="Helvetica Neue"/>
                <a:cs typeface="Helvetica Neue"/>
              </a:rPr>
              <a:t>従量課金</a:t>
            </a:r>
          </a:p>
        </p:txBody>
      </p:sp>
      <p:sp>
        <p:nvSpPr>
          <p:cNvPr id="27" name="TextBox 26"/>
          <p:cNvSpPr txBox="1"/>
          <p:nvPr/>
        </p:nvSpPr>
        <p:spPr>
          <a:xfrm>
            <a:off x="8823960" y="2651760"/>
            <a:ext cx="283464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GA4データ深掘り</a:t>
            </a:r>
          </a:p>
        </p:txBody>
      </p:sp>
      <p:sp>
        <p:nvSpPr>
          <p:cNvPr id="28" name="Rectangle 27"/>
          <p:cNvSpPr/>
          <p:nvPr/>
        </p:nvSpPr>
        <p:spPr>
          <a:xfrm>
            <a:off x="548640" y="2926080"/>
            <a:ext cx="11109960" cy="365760"/>
          </a:xfrm>
          <a:prstGeom prst="rect">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3017520"/>
            <a:ext cx="1508760" cy="274320"/>
          </a:xfrm>
          <a:prstGeom prst="rect">
            <a:avLst/>
          </a:prstGeom>
          <a:noFill/>
        </p:spPr>
        <p:txBody>
          <a:bodyPr wrap="square" anchor="t" lIns="0" rIns="0" tIns="0" bIns="0">
            <a:spAutoFit/>
          </a:bodyPr>
          <a:lstStyle/>
          <a:p>
            <a:pPr algn="l">
              <a:lnSpc>
                <a:spcPct val="115000"/>
              </a:lnSpc>
            </a:pPr>
            <a:r>
              <a:rPr sz="1000" b="1">
                <a:solidFill>
                  <a:srgbClr val="0F2A4F"/>
                </a:solidFill>
                <a:latin typeface="Hiragino Sans"/>
                <a:ea typeface="Hiragino Sans"/>
                <a:cs typeface="Hiragino Sans"/>
              </a:rPr>
              <a:t>分析</a:t>
            </a:r>
          </a:p>
        </p:txBody>
      </p:sp>
      <p:sp>
        <p:nvSpPr>
          <p:cNvPr id="30" name="TextBox 29"/>
          <p:cNvSpPr txBox="1"/>
          <p:nvPr/>
        </p:nvSpPr>
        <p:spPr>
          <a:xfrm>
            <a:off x="2423160" y="3017520"/>
            <a:ext cx="388620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elvetica Neue"/>
                <a:ea typeface="Helvetica Neue"/>
                <a:cs typeface="Helvetica Neue"/>
              </a:rPr>
              <a:t>Adobe Analytics</a:t>
            </a:r>
          </a:p>
        </p:txBody>
      </p:sp>
      <p:sp>
        <p:nvSpPr>
          <p:cNvPr id="31" name="TextBox 30"/>
          <p:cNvSpPr txBox="1"/>
          <p:nvPr/>
        </p:nvSpPr>
        <p:spPr>
          <a:xfrm>
            <a:off x="6537960" y="3017520"/>
            <a:ext cx="2057400" cy="274320"/>
          </a:xfrm>
          <a:prstGeom prst="rect">
            <a:avLst/>
          </a:prstGeom>
          <a:noFill/>
        </p:spPr>
        <p:txBody>
          <a:bodyPr wrap="square" anchor="t" lIns="0" rIns="0" tIns="0" bIns="0">
            <a:spAutoFit/>
          </a:bodyPr>
          <a:lstStyle/>
          <a:p>
            <a:pPr algn="l">
              <a:lnSpc>
                <a:spcPct val="115000"/>
              </a:lnSpc>
            </a:pPr>
            <a:r>
              <a:rPr sz="1000" b="0">
                <a:solidFill>
                  <a:srgbClr val="E87722"/>
                </a:solidFill>
                <a:latin typeface="Helvetica Neue"/>
                <a:ea typeface="Helvetica Neue"/>
                <a:cs typeface="Helvetica Neue"/>
              </a:rPr>
              <a:t>Enterprise</a:t>
            </a:r>
          </a:p>
        </p:txBody>
      </p:sp>
      <p:sp>
        <p:nvSpPr>
          <p:cNvPr id="32" name="TextBox 31"/>
          <p:cNvSpPr txBox="1"/>
          <p:nvPr/>
        </p:nvSpPr>
        <p:spPr>
          <a:xfrm>
            <a:off x="8823960" y="3017520"/>
            <a:ext cx="283464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エンタープライズ向け</a:t>
            </a:r>
          </a:p>
        </p:txBody>
      </p:sp>
      <p:sp>
        <p:nvSpPr>
          <p:cNvPr id="33" name="Rectangle 32"/>
          <p:cNvSpPr/>
          <p:nvPr/>
        </p:nvSpPr>
        <p:spPr>
          <a:xfrm>
            <a:off x="548640" y="3291840"/>
            <a:ext cx="11109960" cy="365760"/>
          </a:xfrm>
          <a:prstGeom prst="rect">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3383280"/>
            <a:ext cx="1508760" cy="274320"/>
          </a:xfrm>
          <a:prstGeom prst="rect">
            <a:avLst/>
          </a:prstGeom>
          <a:noFill/>
        </p:spPr>
        <p:txBody>
          <a:bodyPr wrap="square" anchor="t" lIns="0" rIns="0" tIns="0" bIns="0">
            <a:spAutoFit/>
          </a:bodyPr>
          <a:lstStyle/>
          <a:p>
            <a:pPr algn="l">
              <a:lnSpc>
                <a:spcPct val="115000"/>
              </a:lnSpc>
            </a:pPr>
            <a:r>
              <a:rPr sz="1000" b="1">
                <a:solidFill>
                  <a:srgbClr val="0F2A4F"/>
                </a:solidFill>
                <a:latin typeface="Hiragino Sans"/>
                <a:ea typeface="Hiragino Sans"/>
                <a:cs typeface="Hiragino Sans"/>
              </a:rPr>
              <a:t>CMP</a:t>
            </a:r>
          </a:p>
        </p:txBody>
      </p:sp>
      <p:sp>
        <p:nvSpPr>
          <p:cNvPr id="35" name="TextBox 34"/>
          <p:cNvSpPr txBox="1"/>
          <p:nvPr/>
        </p:nvSpPr>
        <p:spPr>
          <a:xfrm>
            <a:off x="2423160" y="3383280"/>
            <a:ext cx="388620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elvetica Neue"/>
                <a:ea typeface="Helvetica Neue"/>
                <a:cs typeface="Helvetica Neue"/>
              </a:rPr>
              <a:t>Cookiebot</a:t>
            </a:r>
          </a:p>
        </p:txBody>
      </p:sp>
      <p:sp>
        <p:nvSpPr>
          <p:cNvPr id="36" name="TextBox 35"/>
          <p:cNvSpPr txBox="1"/>
          <p:nvPr/>
        </p:nvSpPr>
        <p:spPr>
          <a:xfrm>
            <a:off x="6537960" y="3383280"/>
            <a:ext cx="2057400" cy="274320"/>
          </a:xfrm>
          <a:prstGeom prst="rect">
            <a:avLst/>
          </a:prstGeom>
          <a:noFill/>
        </p:spPr>
        <p:txBody>
          <a:bodyPr wrap="square" anchor="t" lIns="0" rIns="0" tIns="0" bIns="0">
            <a:spAutoFit/>
          </a:bodyPr>
          <a:lstStyle/>
          <a:p>
            <a:pPr algn="l">
              <a:lnSpc>
                <a:spcPct val="115000"/>
              </a:lnSpc>
            </a:pPr>
            <a:r>
              <a:rPr sz="1000" b="0">
                <a:solidFill>
                  <a:srgbClr val="E87722"/>
                </a:solidFill>
                <a:latin typeface="Helvetica Neue"/>
                <a:ea typeface="Helvetica Neue"/>
                <a:cs typeface="Helvetica Neue"/>
              </a:rPr>
              <a:t>€9〜</a:t>
            </a:r>
          </a:p>
        </p:txBody>
      </p:sp>
      <p:sp>
        <p:nvSpPr>
          <p:cNvPr id="37" name="TextBox 36"/>
          <p:cNvSpPr txBox="1"/>
          <p:nvPr/>
        </p:nvSpPr>
        <p:spPr>
          <a:xfrm>
            <a:off x="8823960" y="3383280"/>
            <a:ext cx="283464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中小〜中堅向けCMP</a:t>
            </a:r>
          </a:p>
        </p:txBody>
      </p:sp>
      <p:sp>
        <p:nvSpPr>
          <p:cNvPr id="38" name="Rectangle 37"/>
          <p:cNvSpPr/>
          <p:nvPr/>
        </p:nvSpPr>
        <p:spPr>
          <a:xfrm>
            <a:off x="548640" y="3657600"/>
            <a:ext cx="11109960" cy="365760"/>
          </a:xfrm>
          <a:prstGeom prst="rect">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85800" y="3749040"/>
            <a:ext cx="1508760" cy="274320"/>
          </a:xfrm>
          <a:prstGeom prst="rect">
            <a:avLst/>
          </a:prstGeom>
          <a:noFill/>
        </p:spPr>
        <p:txBody>
          <a:bodyPr wrap="square" anchor="t" lIns="0" rIns="0" tIns="0" bIns="0">
            <a:spAutoFit/>
          </a:bodyPr>
          <a:lstStyle/>
          <a:p>
            <a:pPr algn="l">
              <a:lnSpc>
                <a:spcPct val="115000"/>
              </a:lnSpc>
            </a:pPr>
            <a:r>
              <a:rPr sz="1000" b="1">
                <a:solidFill>
                  <a:srgbClr val="0F2A4F"/>
                </a:solidFill>
                <a:latin typeface="Hiragino Sans"/>
                <a:ea typeface="Hiragino Sans"/>
                <a:cs typeface="Hiragino Sans"/>
              </a:rPr>
              <a:t>CMP</a:t>
            </a:r>
          </a:p>
        </p:txBody>
      </p:sp>
      <p:sp>
        <p:nvSpPr>
          <p:cNvPr id="40" name="TextBox 39"/>
          <p:cNvSpPr txBox="1"/>
          <p:nvPr/>
        </p:nvSpPr>
        <p:spPr>
          <a:xfrm>
            <a:off x="2423160" y="3749040"/>
            <a:ext cx="388620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elvetica Neue"/>
                <a:ea typeface="Helvetica Neue"/>
                <a:cs typeface="Helvetica Neue"/>
              </a:rPr>
              <a:t>OneTrust</a:t>
            </a:r>
          </a:p>
        </p:txBody>
      </p:sp>
      <p:sp>
        <p:nvSpPr>
          <p:cNvPr id="41" name="TextBox 40"/>
          <p:cNvSpPr txBox="1"/>
          <p:nvPr/>
        </p:nvSpPr>
        <p:spPr>
          <a:xfrm>
            <a:off x="6537960" y="3749040"/>
            <a:ext cx="2057400" cy="274320"/>
          </a:xfrm>
          <a:prstGeom prst="rect">
            <a:avLst/>
          </a:prstGeom>
          <a:noFill/>
        </p:spPr>
        <p:txBody>
          <a:bodyPr wrap="square" anchor="t" lIns="0" rIns="0" tIns="0" bIns="0">
            <a:spAutoFit/>
          </a:bodyPr>
          <a:lstStyle/>
          <a:p>
            <a:pPr algn="l">
              <a:lnSpc>
                <a:spcPct val="115000"/>
              </a:lnSpc>
            </a:pPr>
            <a:r>
              <a:rPr sz="1000" b="0">
                <a:solidFill>
                  <a:srgbClr val="E87722"/>
                </a:solidFill>
                <a:latin typeface="Helvetica Neue"/>
                <a:ea typeface="Helvetica Neue"/>
                <a:cs typeface="Helvetica Neue"/>
              </a:rPr>
              <a:t>Enterprise</a:t>
            </a:r>
          </a:p>
        </p:txBody>
      </p:sp>
      <p:sp>
        <p:nvSpPr>
          <p:cNvPr id="42" name="TextBox 41"/>
          <p:cNvSpPr txBox="1"/>
          <p:nvPr/>
        </p:nvSpPr>
        <p:spPr>
          <a:xfrm>
            <a:off x="8823960" y="3749040"/>
            <a:ext cx="283464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エンタープライズCMP</a:t>
            </a:r>
          </a:p>
        </p:txBody>
      </p:sp>
      <p:sp>
        <p:nvSpPr>
          <p:cNvPr id="43" name="Rectangle 42"/>
          <p:cNvSpPr/>
          <p:nvPr/>
        </p:nvSpPr>
        <p:spPr>
          <a:xfrm>
            <a:off x="548640" y="4023360"/>
            <a:ext cx="11109960" cy="365760"/>
          </a:xfrm>
          <a:prstGeom prst="rect">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85800" y="4114800"/>
            <a:ext cx="1508760" cy="274320"/>
          </a:xfrm>
          <a:prstGeom prst="rect">
            <a:avLst/>
          </a:prstGeom>
          <a:noFill/>
        </p:spPr>
        <p:txBody>
          <a:bodyPr wrap="square" anchor="t" lIns="0" rIns="0" tIns="0" bIns="0">
            <a:spAutoFit/>
          </a:bodyPr>
          <a:lstStyle/>
          <a:p>
            <a:pPr algn="l">
              <a:lnSpc>
                <a:spcPct val="115000"/>
              </a:lnSpc>
            </a:pPr>
            <a:r>
              <a:rPr sz="1000" b="1">
                <a:solidFill>
                  <a:srgbClr val="0F2A4F"/>
                </a:solidFill>
                <a:latin typeface="Hiragino Sans"/>
                <a:ea typeface="Hiragino Sans"/>
                <a:cs typeface="Hiragino Sans"/>
              </a:rPr>
              <a:t>CMP</a:t>
            </a:r>
          </a:p>
        </p:txBody>
      </p:sp>
      <p:sp>
        <p:nvSpPr>
          <p:cNvPr id="45" name="TextBox 44"/>
          <p:cNvSpPr txBox="1"/>
          <p:nvPr/>
        </p:nvSpPr>
        <p:spPr>
          <a:xfrm>
            <a:off x="2423160" y="4114800"/>
            <a:ext cx="388620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elvetica Neue"/>
                <a:ea typeface="Helvetica Neue"/>
                <a:cs typeface="Helvetica Neue"/>
              </a:rPr>
              <a:t>usercentrics</a:t>
            </a:r>
          </a:p>
        </p:txBody>
      </p:sp>
      <p:sp>
        <p:nvSpPr>
          <p:cNvPr id="46" name="TextBox 45"/>
          <p:cNvSpPr txBox="1"/>
          <p:nvPr/>
        </p:nvSpPr>
        <p:spPr>
          <a:xfrm>
            <a:off x="6537960" y="4114800"/>
            <a:ext cx="2057400" cy="274320"/>
          </a:xfrm>
          <a:prstGeom prst="rect">
            <a:avLst/>
          </a:prstGeom>
          <a:noFill/>
        </p:spPr>
        <p:txBody>
          <a:bodyPr wrap="square" anchor="t" lIns="0" rIns="0" tIns="0" bIns="0">
            <a:spAutoFit/>
          </a:bodyPr>
          <a:lstStyle/>
          <a:p>
            <a:pPr algn="l">
              <a:lnSpc>
                <a:spcPct val="115000"/>
              </a:lnSpc>
            </a:pPr>
            <a:r>
              <a:rPr sz="1000" b="0">
                <a:solidFill>
                  <a:srgbClr val="E87722"/>
                </a:solidFill>
                <a:latin typeface="Helvetica Neue"/>
                <a:ea typeface="Helvetica Neue"/>
                <a:cs typeface="Helvetica Neue"/>
              </a:rPr>
              <a:t>€39〜</a:t>
            </a:r>
          </a:p>
        </p:txBody>
      </p:sp>
      <p:sp>
        <p:nvSpPr>
          <p:cNvPr id="47" name="TextBox 46"/>
          <p:cNvSpPr txBox="1"/>
          <p:nvPr/>
        </p:nvSpPr>
        <p:spPr>
          <a:xfrm>
            <a:off x="8823960" y="4114800"/>
            <a:ext cx="283464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ドイツ系GDPR完全準拠</a:t>
            </a:r>
          </a:p>
        </p:txBody>
      </p:sp>
      <p:sp>
        <p:nvSpPr>
          <p:cNvPr id="48" name="Rectangle 47"/>
          <p:cNvSpPr/>
          <p:nvPr/>
        </p:nvSpPr>
        <p:spPr>
          <a:xfrm>
            <a:off x="548640" y="4389120"/>
            <a:ext cx="11109960" cy="365760"/>
          </a:xfrm>
          <a:prstGeom prst="rect">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85800" y="4480560"/>
            <a:ext cx="1508760" cy="274320"/>
          </a:xfrm>
          <a:prstGeom prst="rect">
            <a:avLst/>
          </a:prstGeom>
          <a:noFill/>
        </p:spPr>
        <p:txBody>
          <a:bodyPr wrap="square" anchor="t" lIns="0" rIns="0" tIns="0" bIns="0">
            <a:spAutoFit/>
          </a:bodyPr>
          <a:lstStyle/>
          <a:p>
            <a:pPr algn="l">
              <a:lnSpc>
                <a:spcPct val="115000"/>
              </a:lnSpc>
            </a:pPr>
            <a:r>
              <a:rPr sz="1000" b="1">
                <a:solidFill>
                  <a:srgbClr val="0F2A4F"/>
                </a:solidFill>
                <a:latin typeface="Hiragino Sans"/>
                <a:ea typeface="Hiragino Sans"/>
                <a:cs typeface="Hiragino Sans"/>
              </a:rPr>
              <a:t>SGTM</a:t>
            </a:r>
          </a:p>
        </p:txBody>
      </p:sp>
      <p:sp>
        <p:nvSpPr>
          <p:cNvPr id="50" name="TextBox 49"/>
          <p:cNvSpPr txBox="1"/>
          <p:nvPr/>
        </p:nvSpPr>
        <p:spPr>
          <a:xfrm>
            <a:off x="2423160" y="4480560"/>
            <a:ext cx="388620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elvetica Neue"/>
                <a:ea typeface="Helvetica Neue"/>
                <a:cs typeface="Helvetica Neue"/>
              </a:rPr>
              <a:t>Cloudflare Workers</a:t>
            </a:r>
          </a:p>
        </p:txBody>
      </p:sp>
      <p:sp>
        <p:nvSpPr>
          <p:cNvPr id="51" name="TextBox 50"/>
          <p:cNvSpPr txBox="1"/>
          <p:nvPr/>
        </p:nvSpPr>
        <p:spPr>
          <a:xfrm>
            <a:off x="6537960" y="4480560"/>
            <a:ext cx="2057400" cy="274320"/>
          </a:xfrm>
          <a:prstGeom prst="rect">
            <a:avLst/>
          </a:prstGeom>
          <a:noFill/>
        </p:spPr>
        <p:txBody>
          <a:bodyPr wrap="square" anchor="t" lIns="0" rIns="0" tIns="0" bIns="0">
            <a:spAutoFit/>
          </a:bodyPr>
          <a:lstStyle/>
          <a:p>
            <a:pPr algn="l">
              <a:lnSpc>
                <a:spcPct val="115000"/>
              </a:lnSpc>
            </a:pPr>
            <a:r>
              <a:rPr sz="1000" b="0">
                <a:solidFill>
                  <a:srgbClr val="E87722"/>
                </a:solidFill>
                <a:latin typeface="Helvetica Neue"/>
                <a:ea typeface="Helvetica Neue"/>
                <a:cs typeface="Helvetica Neue"/>
              </a:rPr>
              <a:t>数百円〜</a:t>
            </a:r>
          </a:p>
        </p:txBody>
      </p:sp>
      <p:sp>
        <p:nvSpPr>
          <p:cNvPr id="52" name="TextBox 51"/>
          <p:cNvSpPr txBox="1"/>
          <p:nvPr/>
        </p:nvSpPr>
        <p:spPr>
          <a:xfrm>
            <a:off x="8823960" y="4480560"/>
            <a:ext cx="283464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コスパ最強</a:t>
            </a:r>
          </a:p>
        </p:txBody>
      </p:sp>
      <p:sp>
        <p:nvSpPr>
          <p:cNvPr id="53" name="Rectangle 52"/>
          <p:cNvSpPr/>
          <p:nvPr/>
        </p:nvSpPr>
        <p:spPr>
          <a:xfrm>
            <a:off x="548640" y="4754880"/>
            <a:ext cx="11109960" cy="365760"/>
          </a:xfrm>
          <a:prstGeom prst="rect">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85800" y="4846320"/>
            <a:ext cx="1508760" cy="274320"/>
          </a:xfrm>
          <a:prstGeom prst="rect">
            <a:avLst/>
          </a:prstGeom>
          <a:noFill/>
        </p:spPr>
        <p:txBody>
          <a:bodyPr wrap="square" anchor="t" lIns="0" rIns="0" tIns="0" bIns="0">
            <a:spAutoFit/>
          </a:bodyPr>
          <a:lstStyle/>
          <a:p>
            <a:pPr algn="l">
              <a:lnSpc>
                <a:spcPct val="115000"/>
              </a:lnSpc>
            </a:pPr>
            <a:r>
              <a:rPr sz="1000" b="1">
                <a:solidFill>
                  <a:srgbClr val="0F2A4F"/>
                </a:solidFill>
                <a:latin typeface="Hiragino Sans"/>
                <a:ea typeface="Hiragino Sans"/>
                <a:cs typeface="Hiragino Sans"/>
              </a:rPr>
              <a:t>SGTM</a:t>
            </a:r>
          </a:p>
        </p:txBody>
      </p:sp>
      <p:sp>
        <p:nvSpPr>
          <p:cNvPr id="55" name="TextBox 54"/>
          <p:cNvSpPr txBox="1"/>
          <p:nvPr/>
        </p:nvSpPr>
        <p:spPr>
          <a:xfrm>
            <a:off x="2423160" y="4846320"/>
            <a:ext cx="388620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elvetica Neue"/>
                <a:ea typeface="Helvetica Neue"/>
                <a:cs typeface="Helvetica Neue"/>
              </a:rPr>
              <a:t>Google Cloud Run</a:t>
            </a:r>
          </a:p>
        </p:txBody>
      </p:sp>
      <p:sp>
        <p:nvSpPr>
          <p:cNvPr id="56" name="TextBox 55"/>
          <p:cNvSpPr txBox="1"/>
          <p:nvPr/>
        </p:nvSpPr>
        <p:spPr>
          <a:xfrm>
            <a:off x="6537960" y="4846320"/>
            <a:ext cx="2057400" cy="274320"/>
          </a:xfrm>
          <a:prstGeom prst="rect">
            <a:avLst/>
          </a:prstGeom>
          <a:noFill/>
        </p:spPr>
        <p:txBody>
          <a:bodyPr wrap="square" anchor="t" lIns="0" rIns="0" tIns="0" bIns="0">
            <a:spAutoFit/>
          </a:bodyPr>
          <a:lstStyle/>
          <a:p>
            <a:pPr algn="l">
              <a:lnSpc>
                <a:spcPct val="115000"/>
              </a:lnSpc>
            </a:pPr>
            <a:r>
              <a:rPr sz="1000" b="0">
                <a:solidFill>
                  <a:srgbClr val="E87722"/>
                </a:solidFill>
                <a:latin typeface="Helvetica Neue"/>
                <a:ea typeface="Helvetica Neue"/>
                <a:cs typeface="Helvetica Neue"/>
              </a:rPr>
              <a:t>$120〜</a:t>
            </a:r>
          </a:p>
        </p:txBody>
      </p:sp>
      <p:sp>
        <p:nvSpPr>
          <p:cNvPr id="57" name="TextBox 56"/>
          <p:cNvSpPr txBox="1"/>
          <p:nvPr/>
        </p:nvSpPr>
        <p:spPr>
          <a:xfrm>
            <a:off x="8823960" y="4846320"/>
            <a:ext cx="283464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公式推奨</a:t>
            </a:r>
          </a:p>
        </p:txBody>
      </p:sp>
      <p:sp>
        <p:nvSpPr>
          <p:cNvPr id="58" name="Rectangle 57"/>
          <p:cNvSpPr/>
          <p:nvPr/>
        </p:nvSpPr>
        <p:spPr>
          <a:xfrm>
            <a:off x="548640" y="5120640"/>
            <a:ext cx="11109960" cy="365760"/>
          </a:xfrm>
          <a:prstGeom prst="rect">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85800" y="5212080"/>
            <a:ext cx="1508760" cy="274320"/>
          </a:xfrm>
          <a:prstGeom prst="rect">
            <a:avLst/>
          </a:prstGeom>
          <a:noFill/>
        </p:spPr>
        <p:txBody>
          <a:bodyPr wrap="square" anchor="t" lIns="0" rIns="0" tIns="0" bIns="0">
            <a:spAutoFit/>
          </a:bodyPr>
          <a:lstStyle/>
          <a:p>
            <a:pPr algn="l">
              <a:lnSpc>
                <a:spcPct val="115000"/>
              </a:lnSpc>
            </a:pPr>
            <a:r>
              <a:rPr sz="1000" b="1">
                <a:solidFill>
                  <a:srgbClr val="0F2A4F"/>
                </a:solidFill>
                <a:latin typeface="Hiragino Sans"/>
                <a:ea typeface="Hiragino Sans"/>
                <a:cs typeface="Hiragino Sans"/>
              </a:rPr>
              <a:t>SGTM</a:t>
            </a:r>
          </a:p>
        </p:txBody>
      </p:sp>
      <p:sp>
        <p:nvSpPr>
          <p:cNvPr id="60" name="TextBox 59"/>
          <p:cNvSpPr txBox="1"/>
          <p:nvPr/>
        </p:nvSpPr>
        <p:spPr>
          <a:xfrm>
            <a:off x="2423160" y="5212080"/>
            <a:ext cx="388620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elvetica Neue"/>
                <a:ea typeface="Helvetica Neue"/>
                <a:cs typeface="Helvetica Neue"/>
              </a:rPr>
              <a:t>Stape.io</a:t>
            </a:r>
          </a:p>
        </p:txBody>
      </p:sp>
      <p:sp>
        <p:nvSpPr>
          <p:cNvPr id="61" name="TextBox 60"/>
          <p:cNvSpPr txBox="1"/>
          <p:nvPr/>
        </p:nvSpPr>
        <p:spPr>
          <a:xfrm>
            <a:off x="6537960" y="5212080"/>
            <a:ext cx="2057400" cy="274320"/>
          </a:xfrm>
          <a:prstGeom prst="rect">
            <a:avLst/>
          </a:prstGeom>
          <a:noFill/>
        </p:spPr>
        <p:txBody>
          <a:bodyPr wrap="square" anchor="t" lIns="0" rIns="0" tIns="0" bIns="0">
            <a:spAutoFit/>
          </a:bodyPr>
          <a:lstStyle/>
          <a:p>
            <a:pPr algn="l">
              <a:lnSpc>
                <a:spcPct val="115000"/>
              </a:lnSpc>
            </a:pPr>
            <a:r>
              <a:rPr sz="1000" b="0">
                <a:solidFill>
                  <a:srgbClr val="E87722"/>
                </a:solidFill>
                <a:latin typeface="Helvetica Neue"/>
                <a:ea typeface="Helvetica Neue"/>
                <a:cs typeface="Helvetica Neue"/>
              </a:rPr>
              <a:t>$20〜200</a:t>
            </a:r>
          </a:p>
        </p:txBody>
      </p:sp>
      <p:sp>
        <p:nvSpPr>
          <p:cNvPr id="62" name="TextBox 61"/>
          <p:cNvSpPr txBox="1"/>
          <p:nvPr/>
        </p:nvSpPr>
        <p:spPr>
          <a:xfrm>
            <a:off x="8823960" y="5212080"/>
            <a:ext cx="283464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マネージドSGTM</a:t>
            </a:r>
          </a:p>
        </p:txBody>
      </p:sp>
      <p:sp>
        <p:nvSpPr>
          <p:cNvPr id="63" name="Rectangle 62"/>
          <p:cNvSpPr/>
          <p:nvPr/>
        </p:nvSpPr>
        <p:spPr>
          <a:xfrm>
            <a:off x="548640" y="5486400"/>
            <a:ext cx="11109960" cy="365760"/>
          </a:xfrm>
          <a:prstGeom prst="rect">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85800" y="5577840"/>
            <a:ext cx="1508760" cy="274320"/>
          </a:xfrm>
          <a:prstGeom prst="rect">
            <a:avLst/>
          </a:prstGeom>
          <a:noFill/>
        </p:spPr>
        <p:txBody>
          <a:bodyPr wrap="square" anchor="t" lIns="0" rIns="0" tIns="0" bIns="0">
            <a:spAutoFit/>
          </a:bodyPr>
          <a:lstStyle/>
          <a:p>
            <a:pPr algn="l">
              <a:lnSpc>
                <a:spcPct val="115000"/>
              </a:lnSpc>
            </a:pPr>
            <a:r>
              <a:rPr sz="1000" b="1">
                <a:solidFill>
                  <a:srgbClr val="0F2A4F"/>
                </a:solidFill>
                <a:latin typeface="Hiragino Sans"/>
                <a:ea typeface="Hiragino Sans"/>
                <a:cs typeface="Hiragino Sans"/>
              </a:rPr>
              <a:t>MMM</a:t>
            </a:r>
          </a:p>
        </p:txBody>
      </p:sp>
      <p:sp>
        <p:nvSpPr>
          <p:cNvPr id="65" name="TextBox 64"/>
          <p:cNvSpPr txBox="1"/>
          <p:nvPr/>
        </p:nvSpPr>
        <p:spPr>
          <a:xfrm>
            <a:off x="2423160" y="5577840"/>
            <a:ext cx="388620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elvetica Neue"/>
                <a:ea typeface="Helvetica Neue"/>
                <a:cs typeface="Helvetica Neue"/>
              </a:rPr>
              <a:t>Meta Robyn (OSS)</a:t>
            </a:r>
          </a:p>
        </p:txBody>
      </p:sp>
      <p:sp>
        <p:nvSpPr>
          <p:cNvPr id="66" name="TextBox 65"/>
          <p:cNvSpPr txBox="1"/>
          <p:nvPr/>
        </p:nvSpPr>
        <p:spPr>
          <a:xfrm>
            <a:off x="6537960" y="5577840"/>
            <a:ext cx="2057400" cy="274320"/>
          </a:xfrm>
          <a:prstGeom prst="rect">
            <a:avLst/>
          </a:prstGeom>
          <a:noFill/>
        </p:spPr>
        <p:txBody>
          <a:bodyPr wrap="square" anchor="t" lIns="0" rIns="0" tIns="0" bIns="0">
            <a:spAutoFit/>
          </a:bodyPr>
          <a:lstStyle/>
          <a:p>
            <a:pPr algn="l">
              <a:lnSpc>
                <a:spcPct val="115000"/>
              </a:lnSpc>
            </a:pPr>
            <a:r>
              <a:rPr sz="1000" b="0">
                <a:solidFill>
                  <a:srgbClr val="E87722"/>
                </a:solidFill>
                <a:latin typeface="Helvetica Neue"/>
                <a:ea typeface="Helvetica Neue"/>
                <a:cs typeface="Helvetica Neue"/>
              </a:rPr>
              <a:t>無料</a:t>
            </a:r>
          </a:p>
        </p:txBody>
      </p:sp>
      <p:sp>
        <p:nvSpPr>
          <p:cNvPr id="67" name="TextBox 66"/>
          <p:cNvSpPr txBox="1"/>
          <p:nvPr/>
        </p:nvSpPr>
        <p:spPr>
          <a:xfrm>
            <a:off x="8823960" y="5577840"/>
            <a:ext cx="283464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R/Ridge回帰</a:t>
            </a:r>
          </a:p>
        </p:txBody>
      </p:sp>
      <p:sp>
        <p:nvSpPr>
          <p:cNvPr id="68" name="Rectangle 67"/>
          <p:cNvSpPr/>
          <p:nvPr/>
        </p:nvSpPr>
        <p:spPr>
          <a:xfrm>
            <a:off x="548640" y="5852160"/>
            <a:ext cx="11109960" cy="365760"/>
          </a:xfrm>
          <a:prstGeom prst="rect">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85800" y="5943600"/>
            <a:ext cx="1508760" cy="274320"/>
          </a:xfrm>
          <a:prstGeom prst="rect">
            <a:avLst/>
          </a:prstGeom>
          <a:noFill/>
        </p:spPr>
        <p:txBody>
          <a:bodyPr wrap="square" anchor="t" lIns="0" rIns="0" tIns="0" bIns="0">
            <a:spAutoFit/>
          </a:bodyPr>
          <a:lstStyle/>
          <a:p>
            <a:pPr algn="l">
              <a:lnSpc>
                <a:spcPct val="115000"/>
              </a:lnSpc>
            </a:pPr>
            <a:r>
              <a:rPr sz="1000" b="1">
                <a:solidFill>
                  <a:srgbClr val="0F2A4F"/>
                </a:solidFill>
                <a:latin typeface="Hiragino Sans"/>
                <a:ea typeface="Hiragino Sans"/>
                <a:cs typeface="Hiragino Sans"/>
              </a:rPr>
              <a:t>MMM</a:t>
            </a:r>
          </a:p>
        </p:txBody>
      </p:sp>
      <p:sp>
        <p:nvSpPr>
          <p:cNvPr id="70" name="TextBox 69"/>
          <p:cNvSpPr txBox="1"/>
          <p:nvPr/>
        </p:nvSpPr>
        <p:spPr>
          <a:xfrm>
            <a:off x="2423160" y="5943600"/>
            <a:ext cx="388620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elvetica Neue"/>
                <a:ea typeface="Helvetica Neue"/>
                <a:cs typeface="Helvetica Neue"/>
              </a:rPr>
              <a:t>Google Meridian (OSS)</a:t>
            </a:r>
          </a:p>
        </p:txBody>
      </p:sp>
      <p:sp>
        <p:nvSpPr>
          <p:cNvPr id="71" name="TextBox 70"/>
          <p:cNvSpPr txBox="1"/>
          <p:nvPr/>
        </p:nvSpPr>
        <p:spPr>
          <a:xfrm>
            <a:off x="6537960" y="5943600"/>
            <a:ext cx="2057400" cy="274320"/>
          </a:xfrm>
          <a:prstGeom prst="rect">
            <a:avLst/>
          </a:prstGeom>
          <a:noFill/>
        </p:spPr>
        <p:txBody>
          <a:bodyPr wrap="square" anchor="t" lIns="0" rIns="0" tIns="0" bIns="0">
            <a:spAutoFit/>
          </a:bodyPr>
          <a:lstStyle/>
          <a:p>
            <a:pPr algn="l">
              <a:lnSpc>
                <a:spcPct val="115000"/>
              </a:lnSpc>
            </a:pPr>
            <a:r>
              <a:rPr sz="1000" b="0">
                <a:solidFill>
                  <a:srgbClr val="E87722"/>
                </a:solidFill>
                <a:latin typeface="Helvetica Neue"/>
                <a:ea typeface="Helvetica Neue"/>
                <a:cs typeface="Helvetica Neue"/>
              </a:rPr>
              <a:t>無料</a:t>
            </a:r>
          </a:p>
        </p:txBody>
      </p:sp>
      <p:sp>
        <p:nvSpPr>
          <p:cNvPr id="72" name="TextBox 71"/>
          <p:cNvSpPr txBox="1"/>
          <p:nvPr/>
        </p:nvSpPr>
        <p:spPr>
          <a:xfrm>
            <a:off x="8823960" y="5943600"/>
            <a:ext cx="283464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Python/Bayesian</a:t>
            </a:r>
          </a:p>
        </p:txBody>
      </p:sp>
      <p:sp>
        <p:nvSpPr>
          <p:cNvPr id="73" name="TextBox 72"/>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情報源リスト : 英語サイト</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週次でチェックすべき媒体</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P238 / 250</a:t>
            </a:r>
          </a:p>
        </p:txBody>
      </p:sp>
      <p:sp>
        <p:nvSpPr>
          <p:cNvPr id="8" name="Rounded Rectangle 7"/>
          <p:cNvSpPr/>
          <p:nvPr/>
        </p:nvSpPr>
        <p:spPr>
          <a:xfrm>
            <a:off x="548640" y="1417320"/>
            <a:ext cx="5440680" cy="1143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114300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508760"/>
            <a:ext cx="5074920" cy="32004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Search Engine Land</a:t>
            </a:r>
          </a:p>
        </p:txBody>
      </p:sp>
      <p:sp>
        <p:nvSpPr>
          <p:cNvPr id="11" name="TextBox 10"/>
          <p:cNvSpPr txBox="1"/>
          <p:nvPr/>
        </p:nvSpPr>
        <p:spPr>
          <a:xfrm>
            <a:off x="777240" y="1783080"/>
            <a:ext cx="5074920" cy="274320"/>
          </a:xfrm>
          <a:prstGeom prst="rect">
            <a:avLst/>
          </a:prstGeom>
          <a:noFill/>
        </p:spPr>
        <p:txBody>
          <a:bodyPr wrap="square" anchor="t" lIns="0" rIns="0" tIns="0" bIns="0">
            <a:spAutoFit/>
          </a:bodyPr>
          <a:lstStyle/>
          <a:p>
            <a:pPr algn="l">
              <a:lnSpc>
                <a:spcPct val="115000"/>
              </a:lnSpc>
            </a:pPr>
            <a:r>
              <a:rPr sz="900" b="1">
                <a:solidFill>
                  <a:srgbClr val="B85E1A"/>
                </a:solidFill>
                <a:latin typeface="Helvetica Neue"/>
                <a:ea typeface="Helvetica Neue"/>
                <a:cs typeface="Helvetica Neue"/>
              </a:rPr>
              <a:t>searchengineland.com</a:t>
            </a:r>
          </a:p>
        </p:txBody>
      </p:sp>
      <p:sp>
        <p:nvSpPr>
          <p:cNvPr id="12" name="TextBox 11"/>
          <p:cNvSpPr txBox="1"/>
          <p:nvPr/>
        </p:nvSpPr>
        <p:spPr>
          <a:xfrm>
            <a:off x="777240" y="2057400"/>
            <a:ext cx="5074920" cy="457200"/>
          </a:xfrm>
          <a:prstGeom prst="rect">
            <a:avLst/>
          </a:prstGeom>
          <a:noFill/>
        </p:spPr>
        <p:txBody>
          <a:bodyPr wrap="square" anchor="t" lIns="0" rIns="0" tIns="0" bIns="0">
            <a:spAutoFit/>
          </a:bodyPr>
          <a:lstStyle/>
          <a:p>
            <a:pPr algn="l">
              <a:lnSpc>
                <a:spcPct val="150000"/>
              </a:lnSpc>
            </a:pPr>
            <a:r>
              <a:rPr sz="900" b="0">
                <a:solidFill>
                  <a:srgbClr val="1A1A1A"/>
                </a:solidFill>
                <a:latin typeface="Hiragino Sans"/>
                <a:ea typeface="Hiragino Sans"/>
                <a:cs typeface="Hiragino Sans"/>
              </a:rPr>
              <a:t>Google Ads / SEO の総合ニュース</a:t>
            </a:r>
          </a:p>
          <a:p>
            <a:pPr algn="l">
              <a:lnSpc>
                <a:spcPct val="150000"/>
              </a:lnSpc>
            </a:pPr>
            <a:r>
              <a:rPr sz="900" b="0">
                <a:solidFill>
                  <a:srgbClr val="1A1A1A"/>
                </a:solidFill>
                <a:latin typeface="Hiragino Sans"/>
                <a:ea typeface="Hiragino Sans"/>
                <a:cs typeface="Hiragino Sans"/>
              </a:rPr>
              <a:t>DDA / AI Max / PMax 詳細解説</a:t>
            </a:r>
          </a:p>
        </p:txBody>
      </p:sp>
      <p:sp>
        <p:nvSpPr>
          <p:cNvPr id="13" name="Rounded Rectangle 12"/>
          <p:cNvSpPr/>
          <p:nvPr/>
        </p:nvSpPr>
        <p:spPr>
          <a:xfrm>
            <a:off x="6172200" y="1417320"/>
            <a:ext cx="5440680" cy="1143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1417320"/>
            <a:ext cx="91440" cy="114300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508760"/>
            <a:ext cx="5074920" cy="32004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Marketing Land</a:t>
            </a:r>
          </a:p>
        </p:txBody>
      </p:sp>
      <p:sp>
        <p:nvSpPr>
          <p:cNvPr id="16" name="TextBox 15"/>
          <p:cNvSpPr txBox="1"/>
          <p:nvPr/>
        </p:nvSpPr>
        <p:spPr>
          <a:xfrm>
            <a:off x="6400800" y="1783080"/>
            <a:ext cx="5074920" cy="274320"/>
          </a:xfrm>
          <a:prstGeom prst="rect">
            <a:avLst/>
          </a:prstGeom>
          <a:noFill/>
        </p:spPr>
        <p:txBody>
          <a:bodyPr wrap="square" anchor="t" lIns="0" rIns="0" tIns="0" bIns="0">
            <a:spAutoFit/>
          </a:bodyPr>
          <a:lstStyle/>
          <a:p>
            <a:pPr algn="l">
              <a:lnSpc>
                <a:spcPct val="115000"/>
              </a:lnSpc>
            </a:pPr>
            <a:r>
              <a:rPr sz="900" b="1">
                <a:solidFill>
                  <a:srgbClr val="B85E1A"/>
                </a:solidFill>
                <a:latin typeface="Helvetica Neue"/>
                <a:ea typeface="Helvetica Neue"/>
                <a:cs typeface="Helvetica Neue"/>
              </a:rPr>
              <a:t>martech.org</a:t>
            </a:r>
          </a:p>
        </p:txBody>
      </p:sp>
      <p:sp>
        <p:nvSpPr>
          <p:cNvPr id="17" name="TextBox 16"/>
          <p:cNvSpPr txBox="1"/>
          <p:nvPr/>
        </p:nvSpPr>
        <p:spPr>
          <a:xfrm>
            <a:off x="6400800" y="2057400"/>
            <a:ext cx="5074920" cy="457200"/>
          </a:xfrm>
          <a:prstGeom prst="rect">
            <a:avLst/>
          </a:prstGeom>
          <a:noFill/>
        </p:spPr>
        <p:txBody>
          <a:bodyPr wrap="square" anchor="t" lIns="0" rIns="0" tIns="0" bIns="0">
            <a:spAutoFit/>
          </a:bodyPr>
          <a:lstStyle/>
          <a:p>
            <a:pPr algn="l">
              <a:lnSpc>
                <a:spcPct val="150000"/>
              </a:lnSpc>
            </a:pPr>
            <a:r>
              <a:rPr sz="900" b="0">
                <a:solidFill>
                  <a:srgbClr val="1A1A1A"/>
                </a:solidFill>
                <a:latin typeface="Hiragino Sans"/>
                <a:ea typeface="Hiragino Sans"/>
                <a:cs typeface="Hiragino Sans"/>
              </a:rPr>
              <a:t>Marketing Tech 全般</a:t>
            </a:r>
          </a:p>
          <a:p>
            <a:pPr algn="l">
              <a:lnSpc>
                <a:spcPct val="150000"/>
              </a:lnSpc>
            </a:pPr>
            <a:r>
              <a:rPr sz="900" b="0">
                <a:solidFill>
                  <a:srgbClr val="1A1A1A"/>
                </a:solidFill>
                <a:latin typeface="Hiragino Sans"/>
                <a:ea typeface="Hiragino Sans"/>
                <a:cs typeface="Hiragino Sans"/>
              </a:rPr>
              <a:t>大手媒体ニュース統合</a:t>
            </a:r>
          </a:p>
        </p:txBody>
      </p:sp>
      <p:sp>
        <p:nvSpPr>
          <p:cNvPr id="18" name="Rounded Rectangle 17"/>
          <p:cNvSpPr/>
          <p:nvPr/>
        </p:nvSpPr>
        <p:spPr>
          <a:xfrm>
            <a:off x="548640" y="2651760"/>
            <a:ext cx="5440680" cy="1143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2651760"/>
            <a:ext cx="91440" cy="114300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2743200"/>
            <a:ext cx="5074920" cy="32004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AdAge</a:t>
            </a:r>
          </a:p>
        </p:txBody>
      </p:sp>
      <p:sp>
        <p:nvSpPr>
          <p:cNvPr id="21" name="TextBox 20"/>
          <p:cNvSpPr txBox="1"/>
          <p:nvPr/>
        </p:nvSpPr>
        <p:spPr>
          <a:xfrm>
            <a:off x="777240" y="3017520"/>
            <a:ext cx="5074920" cy="274320"/>
          </a:xfrm>
          <a:prstGeom prst="rect">
            <a:avLst/>
          </a:prstGeom>
          <a:noFill/>
        </p:spPr>
        <p:txBody>
          <a:bodyPr wrap="square" anchor="t" lIns="0" rIns="0" tIns="0" bIns="0">
            <a:spAutoFit/>
          </a:bodyPr>
          <a:lstStyle/>
          <a:p>
            <a:pPr algn="l">
              <a:lnSpc>
                <a:spcPct val="115000"/>
              </a:lnSpc>
            </a:pPr>
            <a:r>
              <a:rPr sz="900" b="1">
                <a:solidFill>
                  <a:srgbClr val="B85E1A"/>
                </a:solidFill>
                <a:latin typeface="Helvetica Neue"/>
                <a:ea typeface="Helvetica Neue"/>
                <a:cs typeface="Helvetica Neue"/>
              </a:rPr>
              <a:t>adage.com</a:t>
            </a:r>
          </a:p>
        </p:txBody>
      </p:sp>
      <p:sp>
        <p:nvSpPr>
          <p:cNvPr id="22" name="TextBox 21"/>
          <p:cNvSpPr txBox="1"/>
          <p:nvPr/>
        </p:nvSpPr>
        <p:spPr>
          <a:xfrm>
            <a:off x="777240" y="3291840"/>
            <a:ext cx="5074920" cy="457200"/>
          </a:xfrm>
          <a:prstGeom prst="rect">
            <a:avLst/>
          </a:prstGeom>
          <a:noFill/>
        </p:spPr>
        <p:txBody>
          <a:bodyPr wrap="square" anchor="t" lIns="0" rIns="0" tIns="0" bIns="0">
            <a:spAutoFit/>
          </a:bodyPr>
          <a:lstStyle/>
          <a:p>
            <a:pPr algn="l">
              <a:lnSpc>
                <a:spcPct val="150000"/>
              </a:lnSpc>
            </a:pPr>
            <a:r>
              <a:rPr sz="900" b="0">
                <a:solidFill>
                  <a:srgbClr val="1A1A1A"/>
                </a:solidFill>
                <a:latin typeface="Hiragino Sans"/>
                <a:ea typeface="Hiragino Sans"/>
                <a:cs typeface="Hiragino Sans"/>
              </a:rPr>
              <a:t>広告業界ビジネスニュース</a:t>
            </a:r>
          </a:p>
          <a:p>
            <a:pPr algn="l">
              <a:lnSpc>
                <a:spcPct val="150000"/>
              </a:lnSpc>
            </a:pPr>
            <a:r>
              <a:rPr sz="900" b="0">
                <a:solidFill>
                  <a:srgbClr val="1A1A1A"/>
                </a:solidFill>
                <a:latin typeface="Hiragino Sans"/>
                <a:ea typeface="Hiragino Sans"/>
                <a:cs typeface="Hiragino Sans"/>
              </a:rPr>
              <a:t>代理店動向 / マーケット情報</a:t>
            </a:r>
          </a:p>
        </p:txBody>
      </p:sp>
      <p:sp>
        <p:nvSpPr>
          <p:cNvPr id="23" name="Rounded Rectangle 22"/>
          <p:cNvSpPr/>
          <p:nvPr/>
        </p:nvSpPr>
        <p:spPr>
          <a:xfrm>
            <a:off x="6172200" y="2651760"/>
            <a:ext cx="5440680" cy="1143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72200" y="2651760"/>
            <a:ext cx="91440" cy="114300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0" y="2743200"/>
            <a:ext cx="5074920" cy="32004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Adweek</a:t>
            </a:r>
          </a:p>
        </p:txBody>
      </p:sp>
      <p:sp>
        <p:nvSpPr>
          <p:cNvPr id="26" name="TextBox 25"/>
          <p:cNvSpPr txBox="1"/>
          <p:nvPr/>
        </p:nvSpPr>
        <p:spPr>
          <a:xfrm>
            <a:off x="6400800" y="3017520"/>
            <a:ext cx="5074920" cy="274320"/>
          </a:xfrm>
          <a:prstGeom prst="rect">
            <a:avLst/>
          </a:prstGeom>
          <a:noFill/>
        </p:spPr>
        <p:txBody>
          <a:bodyPr wrap="square" anchor="t" lIns="0" rIns="0" tIns="0" bIns="0">
            <a:spAutoFit/>
          </a:bodyPr>
          <a:lstStyle/>
          <a:p>
            <a:pPr algn="l">
              <a:lnSpc>
                <a:spcPct val="115000"/>
              </a:lnSpc>
            </a:pPr>
            <a:r>
              <a:rPr sz="900" b="1">
                <a:solidFill>
                  <a:srgbClr val="B85E1A"/>
                </a:solidFill>
                <a:latin typeface="Helvetica Neue"/>
                <a:ea typeface="Helvetica Neue"/>
                <a:cs typeface="Helvetica Neue"/>
              </a:rPr>
              <a:t>adweek.com</a:t>
            </a:r>
          </a:p>
        </p:txBody>
      </p:sp>
      <p:sp>
        <p:nvSpPr>
          <p:cNvPr id="27" name="TextBox 26"/>
          <p:cNvSpPr txBox="1"/>
          <p:nvPr/>
        </p:nvSpPr>
        <p:spPr>
          <a:xfrm>
            <a:off x="6400800" y="3291840"/>
            <a:ext cx="5074920" cy="457200"/>
          </a:xfrm>
          <a:prstGeom prst="rect">
            <a:avLst/>
          </a:prstGeom>
          <a:noFill/>
        </p:spPr>
        <p:txBody>
          <a:bodyPr wrap="square" anchor="t" lIns="0" rIns="0" tIns="0" bIns="0">
            <a:spAutoFit/>
          </a:bodyPr>
          <a:lstStyle/>
          <a:p>
            <a:pPr algn="l">
              <a:lnSpc>
                <a:spcPct val="150000"/>
              </a:lnSpc>
            </a:pPr>
            <a:r>
              <a:rPr sz="900" b="0">
                <a:solidFill>
                  <a:srgbClr val="1A1A1A"/>
                </a:solidFill>
                <a:latin typeface="Hiragino Sans"/>
                <a:ea typeface="Hiragino Sans"/>
                <a:cs typeface="Hiragino Sans"/>
              </a:rPr>
              <a:t>広告クリエイティブ + 業界</a:t>
            </a:r>
          </a:p>
          <a:p>
            <a:pPr algn="l">
              <a:lnSpc>
                <a:spcPct val="150000"/>
              </a:lnSpc>
            </a:pPr>
            <a:r>
              <a:rPr sz="900" b="0">
                <a:solidFill>
                  <a:srgbClr val="1A1A1A"/>
                </a:solidFill>
                <a:latin typeface="Hiragino Sans"/>
                <a:ea typeface="Hiragino Sans"/>
                <a:cs typeface="Hiragino Sans"/>
              </a:rPr>
              <a:t>ブランディングニュース中心</a:t>
            </a:r>
          </a:p>
        </p:txBody>
      </p:sp>
      <p:sp>
        <p:nvSpPr>
          <p:cNvPr id="28" name="Rounded Rectangle 27"/>
          <p:cNvSpPr/>
          <p:nvPr/>
        </p:nvSpPr>
        <p:spPr>
          <a:xfrm>
            <a:off x="548640" y="3886200"/>
            <a:ext cx="5440680" cy="1143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3886200"/>
            <a:ext cx="91440" cy="114300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3977640"/>
            <a:ext cx="5074920" cy="32004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Digiday</a:t>
            </a:r>
          </a:p>
        </p:txBody>
      </p:sp>
      <p:sp>
        <p:nvSpPr>
          <p:cNvPr id="31" name="TextBox 30"/>
          <p:cNvSpPr txBox="1"/>
          <p:nvPr/>
        </p:nvSpPr>
        <p:spPr>
          <a:xfrm>
            <a:off x="777240" y="4251960"/>
            <a:ext cx="5074920" cy="274320"/>
          </a:xfrm>
          <a:prstGeom prst="rect">
            <a:avLst/>
          </a:prstGeom>
          <a:noFill/>
        </p:spPr>
        <p:txBody>
          <a:bodyPr wrap="square" anchor="t" lIns="0" rIns="0" tIns="0" bIns="0">
            <a:spAutoFit/>
          </a:bodyPr>
          <a:lstStyle/>
          <a:p>
            <a:pPr algn="l">
              <a:lnSpc>
                <a:spcPct val="115000"/>
              </a:lnSpc>
            </a:pPr>
            <a:r>
              <a:rPr sz="900" b="1">
                <a:solidFill>
                  <a:srgbClr val="B85E1A"/>
                </a:solidFill>
                <a:latin typeface="Helvetica Neue"/>
                <a:ea typeface="Helvetica Neue"/>
                <a:cs typeface="Helvetica Neue"/>
              </a:rPr>
              <a:t>digiday.com</a:t>
            </a:r>
          </a:p>
        </p:txBody>
      </p:sp>
      <p:sp>
        <p:nvSpPr>
          <p:cNvPr id="32" name="TextBox 31"/>
          <p:cNvSpPr txBox="1"/>
          <p:nvPr/>
        </p:nvSpPr>
        <p:spPr>
          <a:xfrm>
            <a:off x="777240" y="4526280"/>
            <a:ext cx="5074920" cy="457200"/>
          </a:xfrm>
          <a:prstGeom prst="rect">
            <a:avLst/>
          </a:prstGeom>
          <a:noFill/>
        </p:spPr>
        <p:txBody>
          <a:bodyPr wrap="square" anchor="t" lIns="0" rIns="0" tIns="0" bIns="0">
            <a:spAutoFit/>
          </a:bodyPr>
          <a:lstStyle/>
          <a:p>
            <a:pPr algn="l">
              <a:lnSpc>
                <a:spcPct val="150000"/>
              </a:lnSpc>
            </a:pPr>
            <a:r>
              <a:rPr sz="900" b="0">
                <a:solidFill>
                  <a:srgbClr val="1A1A1A"/>
                </a:solidFill>
                <a:latin typeface="Hiragino Sans"/>
                <a:ea typeface="Hiragino Sans"/>
                <a:cs typeface="Hiragino Sans"/>
              </a:rPr>
              <a:t>DSP / Programmatic / リテールメディア</a:t>
            </a:r>
          </a:p>
          <a:p>
            <a:pPr algn="l">
              <a:lnSpc>
                <a:spcPct val="150000"/>
              </a:lnSpc>
            </a:pPr>
            <a:r>
              <a:rPr sz="900" b="0">
                <a:solidFill>
                  <a:srgbClr val="1A1A1A"/>
                </a:solidFill>
                <a:latin typeface="Hiragino Sans"/>
                <a:ea typeface="Hiragino Sans"/>
                <a:cs typeface="Hiragino Sans"/>
              </a:rPr>
              <a:t>業界深掘り記事多い</a:t>
            </a:r>
          </a:p>
        </p:txBody>
      </p:sp>
      <p:sp>
        <p:nvSpPr>
          <p:cNvPr id="33" name="Rounded Rectangle 32"/>
          <p:cNvSpPr/>
          <p:nvPr/>
        </p:nvSpPr>
        <p:spPr>
          <a:xfrm>
            <a:off x="6172200" y="3886200"/>
            <a:ext cx="5440680" cy="1143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172200" y="3886200"/>
            <a:ext cx="91440" cy="114300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0" y="3977640"/>
            <a:ext cx="5074920" cy="32004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Social Media Today</a:t>
            </a:r>
          </a:p>
        </p:txBody>
      </p:sp>
      <p:sp>
        <p:nvSpPr>
          <p:cNvPr id="36" name="TextBox 35"/>
          <p:cNvSpPr txBox="1"/>
          <p:nvPr/>
        </p:nvSpPr>
        <p:spPr>
          <a:xfrm>
            <a:off x="6400800" y="4251960"/>
            <a:ext cx="5074920" cy="274320"/>
          </a:xfrm>
          <a:prstGeom prst="rect">
            <a:avLst/>
          </a:prstGeom>
          <a:noFill/>
        </p:spPr>
        <p:txBody>
          <a:bodyPr wrap="square" anchor="t" lIns="0" rIns="0" tIns="0" bIns="0">
            <a:spAutoFit/>
          </a:bodyPr>
          <a:lstStyle/>
          <a:p>
            <a:pPr algn="l">
              <a:lnSpc>
                <a:spcPct val="115000"/>
              </a:lnSpc>
            </a:pPr>
            <a:r>
              <a:rPr sz="900" b="1">
                <a:solidFill>
                  <a:srgbClr val="B85E1A"/>
                </a:solidFill>
                <a:latin typeface="Helvetica Neue"/>
                <a:ea typeface="Helvetica Neue"/>
                <a:cs typeface="Helvetica Neue"/>
              </a:rPr>
              <a:t>socialmediatoday.com</a:t>
            </a:r>
          </a:p>
        </p:txBody>
      </p:sp>
      <p:sp>
        <p:nvSpPr>
          <p:cNvPr id="37" name="TextBox 36"/>
          <p:cNvSpPr txBox="1"/>
          <p:nvPr/>
        </p:nvSpPr>
        <p:spPr>
          <a:xfrm>
            <a:off x="6400800" y="4526280"/>
            <a:ext cx="5074920" cy="457200"/>
          </a:xfrm>
          <a:prstGeom prst="rect">
            <a:avLst/>
          </a:prstGeom>
          <a:noFill/>
        </p:spPr>
        <p:txBody>
          <a:bodyPr wrap="square" anchor="t" lIns="0" rIns="0" tIns="0" bIns="0">
            <a:spAutoFit/>
          </a:bodyPr>
          <a:lstStyle/>
          <a:p>
            <a:pPr algn="l">
              <a:lnSpc>
                <a:spcPct val="150000"/>
              </a:lnSpc>
            </a:pPr>
            <a:r>
              <a:rPr sz="900" b="0">
                <a:solidFill>
                  <a:srgbClr val="1A1A1A"/>
                </a:solidFill>
                <a:latin typeface="Hiragino Sans"/>
                <a:ea typeface="Hiragino Sans"/>
                <a:cs typeface="Hiragino Sans"/>
              </a:rPr>
              <a:t>Meta / TikTok / X / LinkedIn</a:t>
            </a:r>
          </a:p>
          <a:p>
            <a:pPr algn="l">
              <a:lnSpc>
                <a:spcPct val="150000"/>
              </a:lnSpc>
            </a:pPr>
            <a:r>
              <a:rPr sz="900" b="0">
                <a:solidFill>
                  <a:srgbClr val="1A1A1A"/>
                </a:solidFill>
                <a:latin typeface="Hiragino Sans"/>
                <a:ea typeface="Hiragino Sans"/>
                <a:cs typeface="Hiragino Sans"/>
              </a:rPr>
              <a:t>媒体アップデート速報</a:t>
            </a:r>
          </a:p>
        </p:txBody>
      </p:sp>
      <p:sp>
        <p:nvSpPr>
          <p:cNvPr id="38" name="Rounded Rectangle 37"/>
          <p:cNvSpPr/>
          <p:nvPr/>
        </p:nvSpPr>
        <p:spPr>
          <a:xfrm>
            <a:off x="548640" y="5120640"/>
            <a:ext cx="5440680" cy="1143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48640" y="5120640"/>
            <a:ext cx="91440" cy="114300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77240" y="5212080"/>
            <a:ext cx="5074920" cy="32004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Think with Google</a:t>
            </a:r>
          </a:p>
        </p:txBody>
      </p:sp>
      <p:sp>
        <p:nvSpPr>
          <p:cNvPr id="41" name="TextBox 40"/>
          <p:cNvSpPr txBox="1"/>
          <p:nvPr/>
        </p:nvSpPr>
        <p:spPr>
          <a:xfrm>
            <a:off x="777240" y="5486400"/>
            <a:ext cx="5074920" cy="274320"/>
          </a:xfrm>
          <a:prstGeom prst="rect">
            <a:avLst/>
          </a:prstGeom>
          <a:noFill/>
        </p:spPr>
        <p:txBody>
          <a:bodyPr wrap="square" anchor="t" lIns="0" rIns="0" tIns="0" bIns="0">
            <a:spAutoFit/>
          </a:bodyPr>
          <a:lstStyle/>
          <a:p>
            <a:pPr algn="l">
              <a:lnSpc>
                <a:spcPct val="115000"/>
              </a:lnSpc>
            </a:pPr>
            <a:r>
              <a:rPr sz="900" b="1">
                <a:solidFill>
                  <a:srgbClr val="B85E1A"/>
                </a:solidFill>
                <a:latin typeface="Helvetica Neue"/>
                <a:ea typeface="Helvetica Neue"/>
                <a:cs typeface="Helvetica Neue"/>
              </a:rPr>
              <a:t>thinkwithgoogle.com</a:t>
            </a:r>
          </a:p>
        </p:txBody>
      </p:sp>
      <p:sp>
        <p:nvSpPr>
          <p:cNvPr id="42" name="TextBox 41"/>
          <p:cNvSpPr txBox="1"/>
          <p:nvPr/>
        </p:nvSpPr>
        <p:spPr>
          <a:xfrm>
            <a:off x="777240" y="5760720"/>
            <a:ext cx="5074920" cy="457200"/>
          </a:xfrm>
          <a:prstGeom prst="rect">
            <a:avLst/>
          </a:prstGeom>
          <a:noFill/>
        </p:spPr>
        <p:txBody>
          <a:bodyPr wrap="square" anchor="t" lIns="0" rIns="0" tIns="0" bIns="0">
            <a:spAutoFit/>
          </a:bodyPr>
          <a:lstStyle/>
          <a:p>
            <a:pPr algn="l">
              <a:lnSpc>
                <a:spcPct val="150000"/>
              </a:lnSpc>
            </a:pPr>
            <a:r>
              <a:rPr sz="900" b="0">
                <a:solidFill>
                  <a:srgbClr val="1A1A1A"/>
                </a:solidFill>
                <a:latin typeface="Hiragino Sans"/>
                <a:ea typeface="Hiragino Sans"/>
                <a:cs typeface="Hiragino Sans"/>
              </a:rPr>
              <a:t>Google公式マーケティングブログ</a:t>
            </a:r>
          </a:p>
          <a:p>
            <a:pPr algn="l">
              <a:lnSpc>
                <a:spcPct val="150000"/>
              </a:lnSpc>
            </a:pPr>
            <a:r>
              <a:rPr sz="900" b="0">
                <a:solidFill>
                  <a:srgbClr val="1A1A1A"/>
                </a:solidFill>
                <a:latin typeface="Hiragino Sans"/>
                <a:ea typeface="Hiragino Sans"/>
                <a:cs typeface="Hiragino Sans"/>
              </a:rPr>
              <a:t>データ + ベストプラクティス</a:t>
            </a:r>
          </a:p>
        </p:txBody>
      </p:sp>
      <p:sp>
        <p:nvSpPr>
          <p:cNvPr id="43" name="Rounded Rectangle 42"/>
          <p:cNvSpPr/>
          <p:nvPr/>
        </p:nvSpPr>
        <p:spPr>
          <a:xfrm>
            <a:off x="6172200" y="5120640"/>
            <a:ext cx="5440680" cy="1143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172200" y="5120640"/>
            <a:ext cx="91440" cy="114300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00800" y="5212080"/>
            <a:ext cx="5074920" cy="32004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Meta for Business</a:t>
            </a:r>
          </a:p>
        </p:txBody>
      </p:sp>
      <p:sp>
        <p:nvSpPr>
          <p:cNvPr id="46" name="TextBox 45"/>
          <p:cNvSpPr txBox="1"/>
          <p:nvPr/>
        </p:nvSpPr>
        <p:spPr>
          <a:xfrm>
            <a:off x="6400800" y="5486400"/>
            <a:ext cx="5074920" cy="274320"/>
          </a:xfrm>
          <a:prstGeom prst="rect">
            <a:avLst/>
          </a:prstGeom>
          <a:noFill/>
        </p:spPr>
        <p:txBody>
          <a:bodyPr wrap="square" anchor="t" lIns="0" rIns="0" tIns="0" bIns="0">
            <a:spAutoFit/>
          </a:bodyPr>
          <a:lstStyle/>
          <a:p>
            <a:pPr algn="l">
              <a:lnSpc>
                <a:spcPct val="115000"/>
              </a:lnSpc>
            </a:pPr>
            <a:r>
              <a:rPr sz="900" b="1">
                <a:solidFill>
                  <a:srgbClr val="B85E1A"/>
                </a:solidFill>
                <a:latin typeface="Helvetica Neue"/>
                <a:ea typeface="Helvetica Neue"/>
                <a:cs typeface="Helvetica Neue"/>
              </a:rPr>
              <a:t>facebook.com/business</a:t>
            </a:r>
          </a:p>
        </p:txBody>
      </p:sp>
      <p:sp>
        <p:nvSpPr>
          <p:cNvPr id="47" name="TextBox 46"/>
          <p:cNvSpPr txBox="1"/>
          <p:nvPr/>
        </p:nvSpPr>
        <p:spPr>
          <a:xfrm>
            <a:off x="6400800" y="5760720"/>
            <a:ext cx="5074920" cy="457200"/>
          </a:xfrm>
          <a:prstGeom prst="rect">
            <a:avLst/>
          </a:prstGeom>
          <a:noFill/>
        </p:spPr>
        <p:txBody>
          <a:bodyPr wrap="square" anchor="t" lIns="0" rIns="0" tIns="0" bIns="0">
            <a:spAutoFit/>
          </a:bodyPr>
          <a:lstStyle/>
          <a:p>
            <a:pPr algn="l">
              <a:lnSpc>
                <a:spcPct val="150000"/>
              </a:lnSpc>
            </a:pPr>
            <a:r>
              <a:rPr sz="900" b="0">
                <a:solidFill>
                  <a:srgbClr val="1A1A1A"/>
                </a:solidFill>
                <a:latin typeface="Hiragino Sans"/>
                <a:ea typeface="Hiragino Sans"/>
                <a:cs typeface="Hiragino Sans"/>
              </a:rPr>
              <a:t>Meta公式アップデート</a:t>
            </a:r>
          </a:p>
          <a:p>
            <a:pPr algn="l">
              <a:lnSpc>
                <a:spcPct val="150000"/>
              </a:lnSpc>
            </a:pPr>
            <a:r>
              <a:rPr sz="900" b="0">
                <a:solidFill>
                  <a:srgbClr val="1A1A1A"/>
                </a:solidFill>
                <a:latin typeface="Hiragino Sans"/>
                <a:ea typeface="Hiragino Sans"/>
                <a:cs typeface="Hiragino Sans"/>
              </a:rPr>
              <a:t>Advantage+ / Andromeda 等</a:t>
            </a:r>
          </a:p>
        </p:txBody>
      </p:sp>
      <p:sp>
        <p:nvSpPr>
          <p:cNvPr id="48" name="TextBox 47"/>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情報源リスト : 日本語サイト</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日本市場特化のキャッチアップ媒体</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P239 / 250</a:t>
            </a:r>
          </a:p>
        </p:txBody>
      </p:sp>
      <p:sp>
        <p:nvSpPr>
          <p:cNvPr id="8" name="Rounded Rectangle 7"/>
          <p:cNvSpPr/>
          <p:nvPr/>
        </p:nvSpPr>
        <p:spPr>
          <a:xfrm>
            <a:off x="548640" y="1417320"/>
            <a:ext cx="5440680" cy="1143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114300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508760"/>
            <a:ext cx="5074920" cy="32004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日経XTREND</a:t>
            </a:r>
          </a:p>
        </p:txBody>
      </p:sp>
      <p:sp>
        <p:nvSpPr>
          <p:cNvPr id="11" name="TextBox 10"/>
          <p:cNvSpPr txBox="1"/>
          <p:nvPr/>
        </p:nvSpPr>
        <p:spPr>
          <a:xfrm>
            <a:off x="777240" y="1783080"/>
            <a:ext cx="5074920" cy="274320"/>
          </a:xfrm>
          <a:prstGeom prst="rect">
            <a:avLst/>
          </a:prstGeom>
          <a:noFill/>
        </p:spPr>
        <p:txBody>
          <a:bodyPr wrap="square" anchor="t" lIns="0" rIns="0" tIns="0" bIns="0">
            <a:spAutoFit/>
          </a:bodyPr>
          <a:lstStyle/>
          <a:p>
            <a:pPr algn="l">
              <a:lnSpc>
                <a:spcPct val="115000"/>
              </a:lnSpc>
            </a:pPr>
            <a:r>
              <a:rPr sz="900" b="1">
                <a:solidFill>
                  <a:srgbClr val="B85E1A"/>
                </a:solidFill>
                <a:latin typeface="Helvetica Neue"/>
                <a:ea typeface="Helvetica Neue"/>
                <a:cs typeface="Helvetica Neue"/>
              </a:rPr>
              <a:t>xtrend.nikkei.com</a:t>
            </a:r>
          </a:p>
        </p:txBody>
      </p:sp>
      <p:sp>
        <p:nvSpPr>
          <p:cNvPr id="12" name="TextBox 11"/>
          <p:cNvSpPr txBox="1"/>
          <p:nvPr/>
        </p:nvSpPr>
        <p:spPr>
          <a:xfrm>
            <a:off x="777240" y="2057400"/>
            <a:ext cx="5074920" cy="457200"/>
          </a:xfrm>
          <a:prstGeom prst="rect">
            <a:avLst/>
          </a:prstGeom>
          <a:noFill/>
        </p:spPr>
        <p:txBody>
          <a:bodyPr wrap="square" anchor="t" lIns="0" rIns="0" tIns="0" bIns="0">
            <a:spAutoFit/>
          </a:bodyPr>
          <a:lstStyle/>
          <a:p>
            <a:pPr algn="l">
              <a:lnSpc>
                <a:spcPct val="150000"/>
              </a:lnSpc>
            </a:pPr>
            <a:r>
              <a:rPr sz="900" b="0">
                <a:solidFill>
                  <a:srgbClr val="1A1A1A"/>
                </a:solidFill>
                <a:latin typeface="Hiragino Sans"/>
                <a:ea typeface="Hiragino Sans"/>
                <a:cs typeface="Hiragino Sans"/>
              </a:rPr>
              <a:t>日本マーケティング総合</a:t>
            </a:r>
          </a:p>
          <a:p>
            <a:pPr algn="l">
              <a:lnSpc>
                <a:spcPct val="150000"/>
              </a:lnSpc>
            </a:pPr>
            <a:r>
              <a:rPr sz="900" b="0">
                <a:solidFill>
                  <a:srgbClr val="1A1A1A"/>
                </a:solidFill>
                <a:latin typeface="Hiragino Sans"/>
                <a:ea typeface="Hiragino Sans"/>
                <a:cs typeface="Hiragino Sans"/>
              </a:rPr>
              <a:t>LINEヤフー統合等の深掘り解説</a:t>
            </a:r>
          </a:p>
        </p:txBody>
      </p:sp>
      <p:sp>
        <p:nvSpPr>
          <p:cNvPr id="13" name="Rounded Rectangle 12"/>
          <p:cNvSpPr/>
          <p:nvPr/>
        </p:nvSpPr>
        <p:spPr>
          <a:xfrm>
            <a:off x="6172200" y="1417320"/>
            <a:ext cx="5440680" cy="1143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1417320"/>
            <a:ext cx="91440" cy="114300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508760"/>
            <a:ext cx="5074920" cy="32004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MarkeZine</a:t>
            </a:r>
          </a:p>
        </p:txBody>
      </p:sp>
      <p:sp>
        <p:nvSpPr>
          <p:cNvPr id="16" name="TextBox 15"/>
          <p:cNvSpPr txBox="1"/>
          <p:nvPr/>
        </p:nvSpPr>
        <p:spPr>
          <a:xfrm>
            <a:off x="6400800" y="1783080"/>
            <a:ext cx="5074920" cy="274320"/>
          </a:xfrm>
          <a:prstGeom prst="rect">
            <a:avLst/>
          </a:prstGeom>
          <a:noFill/>
        </p:spPr>
        <p:txBody>
          <a:bodyPr wrap="square" anchor="t" lIns="0" rIns="0" tIns="0" bIns="0">
            <a:spAutoFit/>
          </a:bodyPr>
          <a:lstStyle/>
          <a:p>
            <a:pPr algn="l">
              <a:lnSpc>
                <a:spcPct val="115000"/>
              </a:lnSpc>
            </a:pPr>
            <a:r>
              <a:rPr sz="900" b="1">
                <a:solidFill>
                  <a:srgbClr val="B85E1A"/>
                </a:solidFill>
                <a:latin typeface="Helvetica Neue"/>
                <a:ea typeface="Helvetica Neue"/>
                <a:cs typeface="Helvetica Neue"/>
              </a:rPr>
              <a:t>markezine.jp</a:t>
            </a:r>
          </a:p>
        </p:txBody>
      </p:sp>
      <p:sp>
        <p:nvSpPr>
          <p:cNvPr id="17" name="TextBox 16"/>
          <p:cNvSpPr txBox="1"/>
          <p:nvPr/>
        </p:nvSpPr>
        <p:spPr>
          <a:xfrm>
            <a:off x="6400800" y="2057400"/>
            <a:ext cx="5074920" cy="457200"/>
          </a:xfrm>
          <a:prstGeom prst="rect">
            <a:avLst/>
          </a:prstGeom>
          <a:noFill/>
        </p:spPr>
        <p:txBody>
          <a:bodyPr wrap="square" anchor="t" lIns="0" rIns="0" tIns="0" bIns="0">
            <a:spAutoFit/>
          </a:bodyPr>
          <a:lstStyle/>
          <a:p>
            <a:pPr algn="l">
              <a:lnSpc>
                <a:spcPct val="150000"/>
              </a:lnSpc>
            </a:pPr>
            <a:r>
              <a:rPr sz="900" b="0">
                <a:solidFill>
                  <a:srgbClr val="1A1A1A"/>
                </a:solidFill>
                <a:latin typeface="Hiragino Sans"/>
                <a:ea typeface="Hiragino Sans"/>
                <a:cs typeface="Hiragino Sans"/>
              </a:rPr>
              <a:t>業界ニュース + 事例</a:t>
            </a:r>
          </a:p>
          <a:p>
            <a:pPr algn="l">
              <a:lnSpc>
                <a:spcPct val="150000"/>
              </a:lnSpc>
            </a:pPr>
            <a:r>
              <a:rPr sz="900" b="0">
                <a:solidFill>
                  <a:srgbClr val="1A1A1A"/>
                </a:solidFill>
                <a:latin typeface="Hiragino Sans"/>
                <a:ea typeface="Hiragino Sans"/>
                <a:cs typeface="Hiragino Sans"/>
              </a:rPr>
              <a:t>副業・代理店動向</a:t>
            </a:r>
          </a:p>
        </p:txBody>
      </p:sp>
      <p:sp>
        <p:nvSpPr>
          <p:cNvPr id="18" name="Rounded Rectangle 17"/>
          <p:cNvSpPr/>
          <p:nvPr/>
        </p:nvSpPr>
        <p:spPr>
          <a:xfrm>
            <a:off x="548640" y="2651760"/>
            <a:ext cx="5440680" cy="1143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2651760"/>
            <a:ext cx="91440" cy="114300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2743200"/>
            <a:ext cx="5074920" cy="32004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Web担当者Forum</a:t>
            </a:r>
          </a:p>
        </p:txBody>
      </p:sp>
      <p:sp>
        <p:nvSpPr>
          <p:cNvPr id="21" name="TextBox 20"/>
          <p:cNvSpPr txBox="1"/>
          <p:nvPr/>
        </p:nvSpPr>
        <p:spPr>
          <a:xfrm>
            <a:off x="777240" y="3017520"/>
            <a:ext cx="5074920" cy="274320"/>
          </a:xfrm>
          <a:prstGeom prst="rect">
            <a:avLst/>
          </a:prstGeom>
          <a:noFill/>
        </p:spPr>
        <p:txBody>
          <a:bodyPr wrap="square" anchor="t" lIns="0" rIns="0" tIns="0" bIns="0">
            <a:spAutoFit/>
          </a:bodyPr>
          <a:lstStyle/>
          <a:p>
            <a:pPr algn="l">
              <a:lnSpc>
                <a:spcPct val="115000"/>
              </a:lnSpc>
            </a:pPr>
            <a:r>
              <a:rPr sz="900" b="1">
                <a:solidFill>
                  <a:srgbClr val="B85E1A"/>
                </a:solidFill>
                <a:latin typeface="Helvetica Neue"/>
                <a:ea typeface="Helvetica Neue"/>
                <a:cs typeface="Helvetica Neue"/>
              </a:rPr>
              <a:t>webtan.impress.co.jp</a:t>
            </a:r>
          </a:p>
        </p:txBody>
      </p:sp>
      <p:sp>
        <p:nvSpPr>
          <p:cNvPr id="22" name="TextBox 21"/>
          <p:cNvSpPr txBox="1"/>
          <p:nvPr/>
        </p:nvSpPr>
        <p:spPr>
          <a:xfrm>
            <a:off x="777240" y="3291840"/>
            <a:ext cx="5074920" cy="457200"/>
          </a:xfrm>
          <a:prstGeom prst="rect">
            <a:avLst/>
          </a:prstGeom>
          <a:noFill/>
        </p:spPr>
        <p:txBody>
          <a:bodyPr wrap="square" anchor="t" lIns="0" rIns="0" tIns="0" bIns="0">
            <a:spAutoFit/>
          </a:bodyPr>
          <a:lstStyle/>
          <a:p>
            <a:pPr algn="l">
              <a:lnSpc>
                <a:spcPct val="150000"/>
              </a:lnSpc>
            </a:pPr>
            <a:r>
              <a:rPr sz="900" b="0">
                <a:solidFill>
                  <a:srgbClr val="1A1A1A"/>
                </a:solidFill>
                <a:latin typeface="Hiragino Sans"/>
                <a:ea typeface="Hiragino Sans"/>
                <a:cs typeface="Hiragino Sans"/>
              </a:rPr>
              <a:t>Web マーケティング全般</a:t>
            </a:r>
          </a:p>
          <a:p>
            <a:pPr algn="l">
              <a:lnSpc>
                <a:spcPct val="150000"/>
              </a:lnSpc>
            </a:pPr>
            <a:r>
              <a:rPr sz="900" b="0">
                <a:solidFill>
                  <a:srgbClr val="1A1A1A"/>
                </a:solidFill>
                <a:latin typeface="Hiragino Sans"/>
                <a:ea typeface="Hiragino Sans"/>
                <a:cs typeface="Hiragino Sans"/>
              </a:rPr>
              <a:t>初心者向け解説豊富</a:t>
            </a:r>
          </a:p>
        </p:txBody>
      </p:sp>
      <p:sp>
        <p:nvSpPr>
          <p:cNvPr id="23" name="Rounded Rectangle 22"/>
          <p:cNvSpPr/>
          <p:nvPr/>
        </p:nvSpPr>
        <p:spPr>
          <a:xfrm>
            <a:off x="6172200" y="2651760"/>
            <a:ext cx="5440680" cy="1143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72200" y="2651760"/>
            <a:ext cx="91440" cy="114300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0" y="2743200"/>
            <a:ext cx="5074920" cy="32004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ITmedia マーケティング</a:t>
            </a:r>
          </a:p>
        </p:txBody>
      </p:sp>
      <p:sp>
        <p:nvSpPr>
          <p:cNvPr id="26" name="TextBox 25"/>
          <p:cNvSpPr txBox="1"/>
          <p:nvPr/>
        </p:nvSpPr>
        <p:spPr>
          <a:xfrm>
            <a:off x="6400800" y="3017520"/>
            <a:ext cx="5074920" cy="274320"/>
          </a:xfrm>
          <a:prstGeom prst="rect">
            <a:avLst/>
          </a:prstGeom>
          <a:noFill/>
        </p:spPr>
        <p:txBody>
          <a:bodyPr wrap="square" anchor="t" lIns="0" rIns="0" tIns="0" bIns="0">
            <a:spAutoFit/>
          </a:bodyPr>
          <a:lstStyle/>
          <a:p>
            <a:pPr algn="l">
              <a:lnSpc>
                <a:spcPct val="115000"/>
              </a:lnSpc>
            </a:pPr>
            <a:r>
              <a:rPr sz="900" b="1">
                <a:solidFill>
                  <a:srgbClr val="B85E1A"/>
                </a:solidFill>
                <a:latin typeface="Helvetica Neue"/>
                <a:ea typeface="Helvetica Neue"/>
                <a:cs typeface="Helvetica Neue"/>
              </a:rPr>
              <a:t>marketing.itmedia.co.jp</a:t>
            </a:r>
          </a:p>
        </p:txBody>
      </p:sp>
      <p:sp>
        <p:nvSpPr>
          <p:cNvPr id="27" name="TextBox 26"/>
          <p:cNvSpPr txBox="1"/>
          <p:nvPr/>
        </p:nvSpPr>
        <p:spPr>
          <a:xfrm>
            <a:off x="6400800" y="3291840"/>
            <a:ext cx="5074920" cy="457200"/>
          </a:xfrm>
          <a:prstGeom prst="rect">
            <a:avLst/>
          </a:prstGeom>
          <a:noFill/>
        </p:spPr>
        <p:txBody>
          <a:bodyPr wrap="square" anchor="t" lIns="0" rIns="0" tIns="0" bIns="0">
            <a:spAutoFit/>
          </a:bodyPr>
          <a:lstStyle/>
          <a:p>
            <a:pPr algn="l">
              <a:lnSpc>
                <a:spcPct val="150000"/>
              </a:lnSpc>
            </a:pPr>
            <a:r>
              <a:rPr sz="900" b="0">
                <a:solidFill>
                  <a:srgbClr val="1A1A1A"/>
                </a:solidFill>
                <a:latin typeface="Hiragino Sans"/>
                <a:ea typeface="Hiragino Sans"/>
                <a:cs typeface="Hiragino Sans"/>
              </a:rPr>
              <a:t>B2B + Tech系マーケ</a:t>
            </a:r>
          </a:p>
          <a:p>
            <a:pPr algn="l">
              <a:lnSpc>
                <a:spcPct val="150000"/>
              </a:lnSpc>
            </a:pPr>
            <a:r>
              <a:rPr sz="900" b="0">
                <a:solidFill>
                  <a:srgbClr val="1A1A1A"/>
                </a:solidFill>
                <a:latin typeface="Hiragino Sans"/>
                <a:ea typeface="Hiragino Sans"/>
                <a:cs typeface="Hiragino Sans"/>
              </a:rPr>
              <a:t>DX / SaaS 領域強い</a:t>
            </a:r>
          </a:p>
        </p:txBody>
      </p:sp>
      <p:sp>
        <p:nvSpPr>
          <p:cNvPr id="28" name="Rounded Rectangle 27"/>
          <p:cNvSpPr/>
          <p:nvPr/>
        </p:nvSpPr>
        <p:spPr>
          <a:xfrm>
            <a:off x="548640" y="3886200"/>
            <a:ext cx="5440680" cy="1143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3886200"/>
            <a:ext cx="91440" cy="114300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3977640"/>
            <a:ext cx="5074920" cy="32004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AdverTimes</a:t>
            </a:r>
          </a:p>
        </p:txBody>
      </p:sp>
      <p:sp>
        <p:nvSpPr>
          <p:cNvPr id="31" name="TextBox 30"/>
          <p:cNvSpPr txBox="1"/>
          <p:nvPr/>
        </p:nvSpPr>
        <p:spPr>
          <a:xfrm>
            <a:off x="777240" y="4251960"/>
            <a:ext cx="5074920" cy="274320"/>
          </a:xfrm>
          <a:prstGeom prst="rect">
            <a:avLst/>
          </a:prstGeom>
          <a:noFill/>
        </p:spPr>
        <p:txBody>
          <a:bodyPr wrap="square" anchor="t" lIns="0" rIns="0" tIns="0" bIns="0">
            <a:spAutoFit/>
          </a:bodyPr>
          <a:lstStyle/>
          <a:p>
            <a:pPr algn="l">
              <a:lnSpc>
                <a:spcPct val="115000"/>
              </a:lnSpc>
            </a:pPr>
            <a:r>
              <a:rPr sz="900" b="1">
                <a:solidFill>
                  <a:srgbClr val="B85E1A"/>
                </a:solidFill>
                <a:latin typeface="Helvetica Neue"/>
                <a:ea typeface="Helvetica Neue"/>
                <a:cs typeface="Helvetica Neue"/>
              </a:rPr>
              <a:t>advertimes.com</a:t>
            </a:r>
          </a:p>
        </p:txBody>
      </p:sp>
      <p:sp>
        <p:nvSpPr>
          <p:cNvPr id="32" name="TextBox 31"/>
          <p:cNvSpPr txBox="1"/>
          <p:nvPr/>
        </p:nvSpPr>
        <p:spPr>
          <a:xfrm>
            <a:off x="777240" y="4526280"/>
            <a:ext cx="5074920" cy="457200"/>
          </a:xfrm>
          <a:prstGeom prst="rect">
            <a:avLst/>
          </a:prstGeom>
          <a:noFill/>
        </p:spPr>
        <p:txBody>
          <a:bodyPr wrap="square" anchor="t" lIns="0" rIns="0" tIns="0" bIns="0">
            <a:spAutoFit/>
          </a:bodyPr>
          <a:lstStyle/>
          <a:p>
            <a:pPr algn="l">
              <a:lnSpc>
                <a:spcPct val="150000"/>
              </a:lnSpc>
            </a:pPr>
            <a:r>
              <a:rPr sz="900" b="0">
                <a:solidFill>
                  <a:srgbClr val="1A1A1A"/>
                </a:solidFill>
                <a:latin typeface="Hiragino Sans"/>
                <a:ea typeface="Hiragino Sans"/>
                <a:cs typeface="Hiragino Sans"/>
              </a:rPr>
              <a:t>宣伝会議系媒体</a:t>
            </a:r>
          </a:p>
          <a:p>
            <a:pPr algn="l">
              <a:lnSpc>
                <a:spcPct val="150000"/>
              </a:lnSpc>
            </a:pPr>
            <a:r>
              <a:rPr sz="900" b="0">
                <a:solidFill>
                  <a:srgbClr val="1A1A1A"/>
                </a:solidFill>
                <a:latin typeface="Hiragino Sans"/>
                <a:ea typeface="Hiragino Sans"/>
                <a:cs typeface="Hiragino Sans"/>
              </a:rPr>
              <a:t>ブランディング + 代理店</a:t>
            </a:r>
          </a:p>
        </p:txBody>
      </p:sp>
      <p:sp>
        <p:nvSpPr>
          <p:cNvPr id="33" name="Rounded Rectangle 32"/>
          <p:cNvSpPr/>
          <p:nvPr/>
        </p:nvSpPr>
        <p:spPr>
          <a:xfrm>
            <a:off x="6172200" y="3886200"/>
            <a:ext cx="5440680" cy="1143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172200" y="3886200"/>
            <a:ext cx="91440" cy="114300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0" y="3977640"/>
            <a:ext cx="5074920" cy="32004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MERCI</a:t>
            </a:r>
          </a:p>
        </p:txBody>
      </p:sp>
      <p:sp>
        <p:nvSpPr>
          <p:cNvPr id="36" name="TextBox 35"/>
          <p:cNvSpPr txBox="1"/>
          <p:nvPr/>
        </p:nvSpPr>
        <p:spPr>
          <a:xfrm>
            <a:off x="6400800" y="4251960"/>
            <a:ext cx="5074920" cy="274320"/>
          </a:xfrm>
          <a:prstGeom prst="rect">
            <a:avLst/>
          </a:prstGeom>
          <a:noFill/>
        </p:spPr>
        <p:txBody>
          <a:bodyPr wrap="square" anchor="t" lIns="0" rIns="0" tIns="0" bIns="0">
            <a:spAutoFit/>
          </a:bodyPr>
          <a:lstStyle/>
          <a:p>
            <a:pPr algn="l">
              <a:lnSpc>
                <a:spcPct val="115000"/>
              </a:lnSpc>
            </a:pPr>
            <a:r>
              <a:rPr sz="900" b="1">
                <a:solidFill>
                  <a:srgbClr val="B85E1A"/>
                </a:solidFill>
                <a:latin typeface="Helvetica Neue"/>
                <a:ea typeface="Helvetica Neue"/>
                <a:cs typeface="Helvetica Neue"/>
              </a:rPr>
              <a:t>marketingnative.jp</a:t>
            </a:r>
          </a:p>
        </p:txBody>
      </p:sp>
      <p:sp>
        <p:nvSpPr>
          <p:cNvPr id="37" name="TextBox 36"/>
          <p:cNvSpPr txBox="1"/>
          <p:nvPr/>
        </p:nvSpPr>
        <p:spPr>
          <a:xfrm>
            <a:off x="6400800" y="4526280"/>
            <a:ext cx="5074920" cy="457200"/>
          </a:xfrm>
          <a:prstGeom prst="rect">
            <a:avLst/>
          </a:prstGeom>
          <a:noFill/>
        </p:spPr>
        <p:txBody>
          <a:bodyPr wrap="square" anchor="t" lIns="0" rIns="0" tIns="0" bIns="0">
            <a:spAutoFit/>
          </a:bodyPr>
          <a:lstStyle/>
          <a:p>
            <a:pPr algn="l">
              <a:lnSpc>
                <a:spcPct val="150000"/>
              </a:lnSpc>
            </a:pPr>
            <a:r>
              <a:rPr sz="900" b="0">
                <a:solidFill>
                  <a:srgbClr val="1A1A1A"/>
                </a:solidFill>
                <a:latin typeface="Hiragino Sans"/>
                <a:ea typeface="Hiragino Sans"/>
                <a:cs typeface="Hiragino Sans"/>
              </a:rPr>
              <a:t>クリエイター視点の業界記事</a:t>
            </a:r>
          </a:p>
          <a:p>
            <a:pPr algn="l">
              <a:lnSpc>
                <a:spcPct val="150000"/>
              </a:lnSpc>
            </a:pPr>
            <a:r>
              <a:rPr sz="900" b="0">
                <a:solidFill>
                  <a:srgbClr val="1A1A1A"/>
                </a:solidFill>
                <a:latin typeface="Hiragino Sans"/>
                <a:ea typeface="Hiragino Sans"/>
                <a:cs typeface="Hiragino Sans"/>
              </a:rPr>
              <a:t>若手向け</a:t>
            </a:r>
          </a:p>
        </p:txBody>
      </p:sp>
      <p:sp>
        <p:nvSpPr>
          <p:cNvPr id="38" name="Rounded Rectangle 37"/>
          <p:cNvSpPr/>
          <p:nvPr/>
        </p:nvSpPr>
        <p:spPr>
          <a:xfrm>
            <a:off x="548640" y="5120640"/>
            <a:ext cx="5440680" cy="1143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48640" y="5120640"/>
            <a:ext cx="91440" cy="114300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77240" y="5212080"/>
            <a:ext cx="5074920" cy="32004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CARTA HOLDINGS</a:t>
            </a:r>
          </a:p>
        </p:txBody>
      </p:sp>
      <p:sp>
        <p:nvSpPr>
          <p:cNvPr id="41" name="TextBox 40"/>
          <p:cNvSpPr txBox="1"/>
          <p:nvPr/>
        </p:nvSpPr>
        <p:spPr>
          <a:xfrm>
            <a:off x="777240" y="5486400"/>
            <a:ext cx="5074920" cy="274320"/>
          </a:xfrm>
          <a:prstGeom prst="rect">
            <a:avLst/>
          </a:prstGeom>
          <a:noFill/>
        </p:spPr>
        <p:txBody>
          <a:bodyPr wrap="square" anchor="t" lIns="0" rIns="0" tIns="0" bIns="0">
            <a:spAutoFit/>
          </a:bodyPr>
          <a:lstStyle/>
          <a:p>
            <a:pPr algn="l">
              <a:lnSpc>
                <a:spcPct val="115000"/>
              </a:lnSpc>
            </a:pPr>
            <a:r>
              <a:rPr sz="900" b="1">
                <a:solidFill>
                  <a:srgbClr val="B85E1A"/>
                </a:solidFill>
                <a:latin typeface="Helvetica Neue"/>
                <a:ea typeface="Helvetica Neue"/>
                <a:cs typeface="Helvetica Neue"/>
              </a:rPr>
              <a:t>cartaholdings.co.jp</a:t>
            </a:r>
          </a:p>
        </p:txBody>
      </p:sp>
      <p:sp>
        <p:nvSpPr>
          <p:cNvPr id="42" name="TextBox 41"/>
          <p:cNvSpPr txBox="1"/>
          <p:nvPr/>
        </p:nvSpPr>
        <p:spPr>
          <a:xfrm>
            <a:off x="777240" y="5760720"/>
            <a:ext cx="5074920" cy="457200"/>
          </a:xfrm>
          <a:prstGeom prst="rect">
            <a:avLst/>
          </a:prstGeom>
          <a:noFill/>
        </p:spPr>
        <p:txBody>
          <a:bodyPr wrap="square" anchor="t" lIns="0" rIns="0" tIns="0" bIns="0">
            <a:spAutoFit/>
          </a:bodyPr>
          <a:lstStyle/>
          <a:p>
            <a:pPr algn="l">
              <a:lnSpc>
                <a:spcPct val="150000"/>
              </a:lnSpc>
            </a:pPr>
            <a:r>
              <a:rPr sz="900" b="0">
                <a:solidFill>
                  <a:srgbClr val="1A1A1A"/>
                </a:solidFill>
                <a:latin typeface="Hiragino Sans"/>
                <a:ea typeface="Hiragino Sans"/>
                <a:cs typeface="Hiragino Sans"/>
              </a:rPr>
              <a:t>デジタル広告統計</a:t>
            </a:r>
          </a:p>
          <a:p>
            <a:pPr algn="l">
              <a:lnSpc>
                <a:spcPct val="150000"/>
              </a:lnSpc>
            </a:pPr>
            <a:r>
              <a:rPr sz="900" b="0">
                <a:solidFill>
                  <a:srgbClr val="1A1A1A"/>
                </a:solidFill>
                <a:latin typeface="Hiragino Sans"/>
                <a:ea typeface="Hiragino Sans"/>
                <a:cs typeface="Hiragino Sans"/>
              </a:rPr>
              <a:t>業界調査レポート</a:t>
            </a:r>
          </a:p>
        </p:txBody>
      </p:sp>
      <p:sp>
        <p:nvSpPr>
          <p:cNvPr id="43" name="Rounded Rectangle 42"/>
          <p:cNvSpPr/>
          <p:nvPr/>
        </p:nvSpPr>
        <p:spPr>
          <a:xfrm>
            <a:off x="6172200" y="5120640"/>
            <a:ext cx="5440680" cy="1143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172200" y="5120640"/>
            <a:ext cx="91440" cy="114300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00800" y="5212080"/>
            <a:ext cx="5074920" cy="32004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電通報</a:t>
            </a:r>
          </a:p>
        </p:txBody>
      </p:sp>
      <p:sp>
        <p:nvSpPr>
          <p:cNvPr id="46" name="TextBox 45"/>
          <p:cNvSpPr txBox="1"/>
          <p:nvPr/>
        </p:nvSpPr>
        <p:spPr>
          <a:xfrm>
            <a:off x="6400800" y="5486400"/>
            <a:ext cx="5074920" cy="274320"/>
          </a:xfrm>
          <a:prstGeom prst="rect">
            <a:avLst/>
          </a:prstGeom>
          <a:noFill/>
        </p:spPr>
        <p:txBody>
          <a:bodyPr wrap="square" anchor="t" lIns="0" rIns="0" tIns="0" bIns="0">
            <a:spAutoFit/>
          </a:bodyPr>
          <a:lstStyle/>
          <a:p>
            <a:pPr algn="l">
              <a:lnSpc>
                <a:spcPct val="115000"/>
              </a:lnSpc>
            </a:pPr>
            <a:r>
              <a:rPr sz="900" b="1">
                <a:solidFill>
                  <a:srgbClr val="B85E1A"/>
                </a:solidFill>
                <a:latin typeface="Helvetica Neue"/>
                <a:ea typeface="Helvetica Neue"/>
                <a:cs typeface="Helvetica Neue"/>
              </a:rPr>
              <a:t>dentsu-ho.com</a:t>
            </a:r>
          </a:p>
        </p:txBody>
      </p:sp>
      <p:sp>
        <p:nvSpPr>
          <p:cNvPr id="47" name="TextBox 46"/>
          <p:cNvSpPr txBox="1"/>
          <p:nvPr/>
        </p:nvSpPr>
        <p:spPr>
          <a:xfrm>
            <a:off x="6400800" y="5760720"/>
            <a:ext cx="5074920" cy="457200"/>
          </a:xfrm>
          <a:prstGeom prst="rect">
            <a:avLst/>
          </a:prstGeom>
          <a:noFill/>
        </p:spPr>
        <p:txBody>
          <a:bodyPr wrap="square" anchor="t" lIns="0" rIns="0" tIns="0" bIns="0">
            <a:spAutoFit/>
          </a:bodyPr>
          <a:lstStyle/>
          <a:p>
            <a:pPr algn="l">
              <a:lnSpc>
                <a:spcPct val="150000"/>
              </a:lnSpc>
            </a:pPr>
            <a:r>
              <a:rPr sz="900" b="0">
                <a:solidFill>
                  <a:srgbClr val="1A1A1A"/>
                </a:solidFill>
                <a:latin typeface="Hiragino Sans"/>
                <a:ea typeface="Hiragino Sans"/>
                <a:cs typeface="Hiragino Sans"/>
              </a:rPr>
              <a:t>電通公式メディア</a:t>
            </a:r>
          </a:p>
          <a:p>
            <a:pPr algn="l">
              <a:lnSpc>
                <a:spcPct val="150000"/>
              </a:lnSpc>
            </a:pPr>
            <a:r>
              <a:rPr sz="900" b="0">
                <a:solidFill>
                  <a:srgbClr val="1A1A1A"/>
                </a:solidFill>
                <a:latin typeface="Hiragino Sans"/>
                <a:ea typeface="Hiragino Sans"/>
                <a:cs typeface="Hiragino Sans"/>
              </a:rPr>
              <a:t>年次広告費レポート</a:t>
            </a:r>
          </a:p>
        </p:txBody>
      </p:sp>
      <p:sp>
        <p:nvSpPr>
          <p:cNvPr id="48" name="TextBox 47"/>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プロンプト集 : 即利用可能な5本</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Part 5-B のテンプレ + 短縮版</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P240 / 250</a:t>
            </a:r>
          </a:p>
        </p:txBody>
      </p:sp>
      <p:sp>
        <p:nvSpPr>
          <p:cNvPr id="8" name="Rounded Rectangle 7"/>
          <p:cNvSpPr/>
          <p:nvPr/>
        </p:nvSpPr>
        <p:spPr>
          <a:xfrm>
            <a:off x="548640" y="1417320"/>
            <a:ext cx="11109960" cy="9144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137160" cy="91440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554480"/>
            <a:ext cx="548640" cy="548640"/>
          </a:xfrm>
          <a:prstGeom prst="rect">
            <a:avLst/>
          </a:prstGeom>
          <a:noFill/>
        </p:spPr>
        <p:txBody>
          <a:bodyPr wrap="square" anchor="t" lIns="0" rIns="0" tIns="0" bIns="0">
            <a:spAutoFit/>
          </a:bodyPr>
          <a:lstStyle/>
          <a:p>
            <a:pPr algn="l">
              <a:lnSpc>
                <a:spcPct val="115000"/>
              </a:lnSpc>
            </a:pPr>
            <a:r>
              <a:rPr sz="2400" b="1">
                <a:solidFill>
                  <a:srgbClr val="E87722"/>
                </a:solidFill>
                <a:latin typeface="Helvetica Neue"/>
                <a:ea typeface="Helvetica Neue"/>
                <a:cs typeface="Helvetica Neue"/>
              </a:rPr>
              <a:t>#1</a:t>
            </a:r>
          </a:p>
        </p:txBody>
      </p:sp>
      <p:sp>
        <p:nvSpPr>
          <p:cNvPr id="11" name="TextBox 10"/>
          <p:cNvSpPr txBox="1"/>
          <p:nvPr/>
        </p:nvSpPr>
        <p:spPr>
          <a:xfrm>
            <a:off x="1554480" y="1554480"/>
            <a:ext cx="10058400" cy="36576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戦略立案</a:t>
            </a:r>
          </a:p>
        </p:txBody>
      </p:sp>
      <p:sp>
        <p:nvSpPr>
          <p:cNvPr id="12" name="TextBox 11"/>
          <p:cNvSpPr txBox="1"/>
          <p:nvPr/>
        </p:nvSpPr>
        <p:spPr>
          <a:xfrm>
            <a:off x="1554480" y="1920240"/>
            <a:ext cx="10058400" cy="36576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新規案件の戦略を AI と作る (Part 5-B P199)</a:t>
            </a:r>
          </a:p>
        </p:txBody>
      </p:sp>
      <p:sp>
        <p:nvSpPr>
          <p:cNvPr id="13" name="Rounded Rectangle 12"/>
          <p:cNvSpPr/>
          <p:nvPr/>
        </p:nvSpPr>
        <p:spPr>
          <a:xfrm>
            <a:off x="548640" y="2468880"/>
            <a:ext cx="11109960" cy="9144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2468880"/>
            <a:ext cx="137160" cy="91440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2606040"/>
            <a:ext cx="548640" cy="548640"/>
          </a:xfrm>
          <a:prstGeom prst="rect">
            <a:avLst/>
          </a:prstGeom>
          <a:noFill/>
        </p:spPr>
        <p:txBody>
          <a:bodyPr wrap="square" anchor="t" lIns="0" rIns="0" tIns="0" bIns="0">
            <a:spAutoFit/>
          </a:bodyPr>
          <a:lstStyle/>
          <a:p>
            <a:pPr algn="l">
              <a:lnSpc>
                <a:spcPct val="115000"/>
              </a:lnSpc>
            </a:pPr>
            <a:r>
              <a:rPr sz="2400" b="1">
                <a:solidFill>
                  <a:srgbClr val="E87722"/>
                </a:solidFill>
                <a:latin typeface="Helvetica Neue"/>
                <a:ea typeface="Helvetica Neue"/>
                <a:cs typeface="Helvetica Neue"/>
              </a:rPr>
              <a:t>#2</a:t>
            </a:r>
          </a:p>
        </p:txBody>
      </p:sp>
      <p:sp>
        <p:nvSpPr>
          <p:cNvPr id="16" name="TextBox 15"/>
          <p:cNvSpPr txBox="1"/>
          <p:nvPr/>
        </p:nvSpPr>
        <p:spPr>
          <a:xfrm>
            <a:off x="1554480" y="2606040"/>
            <a:ext cx="10058400" cy="36576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クリエイティブブリーフ</a:t>
            </a:r>
          </a:p>
        </p:txBody>
      </p:sp>
      <p:sp>
        <p:nvSpPr>
          <p:cNvPr id="17" name="TextBox 16"/>
          <p:cNvSpPr txBox="1"/>
          <p:nvPr/>
        </p:nvSpPr>
        <p:spPr>
          <a:xfrm>
            <a:off x="1554480" y="2971800"/>
            <a:ext cx="10058400" cy="36576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Midjourney / Sora 用ブリーフ生成 (Part 5-B P200)</a:t>
            </a:r>
          </a:p>
        </p:txBody>
      </p:sp>
      <p:sp>
        <p:nvSpPr>
          <p:cNvPr id="18" name="Rounded Rectangle 17"/>
          <p:cNvSpPr/>
          <p:nvPr/>
        </p:nvSpPr>
        <p:spPr>
          <a:xfrm>
            <a:off x="548640" y="3520440"/>
            <a:ext cx="11109960" cy="9144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520440"/>
            <a:ext cx="137160" cy="91440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3657600"/>
            <a:ext cx="548640" cy="548640"/>
          </a:xfrm>
          <a:prstGeom prst="rect">
            <a:avLst/>
          </a:prstGeom>
          <a:noFill/>
        </p:spPr>
        <p:txBody>
          <a:bodyPr wrap="square" anchor="t" lIns="0" rIns="0" tIns="0" bIns="0">
            <a:spAutoFit/>
          </a:bodyPr>
          <a:lstStyle/>
          <a:p>
            <a:pPr algn="l">
              <a:lnSpc>
                <a:spcPct val="115000"/>
              </a:lnSpc>
            </a:pPr>
            <a:r>
              <a:rPr sz="2400" b="1">
                <a:solidFill>
                  <a:srgbClr val="E87722"/>
                </a:solidFill>
                <a:latin typeface="Helvetica Neue"/>
                <a:ea typeface="Helvetica Neue"/>
                <a:cs typeface="Helvetica Neue"/>
              </a:rPr>
              <a:t>#3</a:t>
            </a:r>
          </a:p>
        </p:txBody>
      </p:sp>
      <p:sp>
        <p:nvSpPr>
          <p:cNvPr id="21" name="TextBox 20"/>
          <p:cNvSpPr txBox="1"/>
          <p:nvPr/>
        </p:nvSpPr>
        <p:spPr>
          <a:xfrm>
            <a:off x="1554480" y="3657600"/>
            <a:ext cx="10058400" cy="36576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月次レポート要約</a:t>
            </a:r>
          </a:p>
        </p:txBody>
      </p:sp>
      <p:sp>
        <p:nvSpPr>
          <p:cNvPr id="22" name="TextBox 21"/>
          <p:cNvSpPr txBox="1"/>
          <p:nvPr/>
        </p:nvSpPr>
        <p:spPr>
          <a:xfrm>
            <a:off x="1554480" y="4023360"/>
            <a:ext cx="10058400" cy="36576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数字データから自然言語要約 (Part 5-B P201)</a:t>
            </a:r>
          </a:p>
        </p:txBody>
      </p:sp>
      <p:sp>
        <p:nvSpPr>
          <p:cNvPr id="23" name="Rounded Rectangle 22"/>
          <p:cNvSpPr/>
          <p:nvPr/>
        </p:nvSpPr>
        <p:spPr>
          <a:xfrm>
            <a:off x="548640" y="4572000"/>
            <a:ext cx="11109960" cy="9144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4572000"/>
            <a:ext cx="137160" cy="91440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8680" y="4709160"/>
            <a:ext cx="548640" cy="548640"/>
          </a:xfrm>
          <a:prstGeom prst="rect">
            <a:avLst/>
          </a:prstGeom>
          <a:noFill/>
        </p:spPr>
        <p:txBody>
          <a:bodyPr wrap="square" anchor="t" lIns="0" rIns="0" tIns="0" bIns="0">
            <a:spAutoFit/>
          </a:bodyPr>
          <a:lstStyle/>
          <a:p>
            <a:pPr algn="l">
              <a:lnSpc>
                <a:spcPct val="115000"/>
              </a:lnSpc>
            </a:pPr>
            <a:r>
              <a:rPr sz="2400" b="1">
                <a:solidFill>
                  <a:srgbClr val="E87722"/>
                </a:solidFill>
                <a:latin typeface="Helvetica Neue"/>
                <a:ea typeface="Helvetica Neue"/>
                <a:cs typeface="Helvetica Neue"/>
              </a:rPr>
              <a:t>#4</a:t>
            </a:r>
          </a:p>
        </p:txBody>
      </p:sp>
      <p:sp>
        <p:nvSpPr>
          <p:cNvPr id="26" name="TextBox 25"/>
          <p:cNvSpPr txBox="1"/>
          <p:nvPr/>
        </p:nvSpPr>
        <p:spPr>
          <a:xfrm>
            <a:off x="1554480" y="4709160"/>
            <a:ext cx="10058400" cy="36576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Negative KW 提案</a:t>
            </a:r>
          </a:p>
        </p:txBody>
      </p:sp>
      <p:sp>
        <p:nvSpPr>
          <p:cNvPr id="27" name="TextBox 26"/>
          <p:cNvSpPr txBox="1"/>
          <p:nvPr/>
        </p:nvSpPr>
        <p:spPr>
          <a:xfrm>
            <a:off x="1554480" y="5074920"/>
            <a:ext cx="10058400" cy="36576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Search Terms 分析 (Part 5-B P202)</a:t>
            </a:r>
          </a:p>
        </p:txBody>
      </p:sp>
      <p:sp>
        <p:nvSpPr>
          <p:cNvPr id="28" name="Rounded Rectangle 27"/>
          <p:cNvSpPr/>
          <p:nvPr/>
        </p:nvSpPr>
        <p:spPr>
          <a:xfrm>
            <a:off x="548640" y="5623560"/>
            <a:ext cx="11109960" cy="9144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5623560"/>
            <a:ext cx="137160" cy="91440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8680" y="5760720"/>
            <a:ext cx="548640" cy="548640"/>
          </a:xfrm>
          <a:prstGeom prst="rect">
            <a:avLst/>
          </a:prstGeom>
          <a:noFill/>
        </p:spPr>
        <p:txBody>
          <a:bodyPr wrap="square" anchor="t" lIns="0" rIns="0" tIns="0" bIns="0">
            <a:spAutoFit/>
          </a:bodyPr>
          <a:lstStyle/>
          <a:p>
            <a:pPr algn="l">
              <a:lnSpc>
                <a:spcPct val="115000"/>
              </a:lnSpc>
            </a:pPr>
            <a:r>
              <a:rPr sz="2400" b="1">
                <a:solidFill>
                  <a:srgbClr val="E87722"/>
                </a:solidFill>
                <a:latin typeface="Helvetica Neue"/>
                <a:ea typeface="Helvetica Neue"/>
                <a:cs typeface="Helvetica Neue"/>
              </a:rPr>
              <a:t>#5</a:t>
            </a:r>
          </a:p>
        </p:txBody>
      </p:sp>
      <p:sp>
        <p:nvSpPr>
          <p:cNvPr id="31" name="TextBox 30"/>
          <p:cNvSpPr txBox="1"/>
          <p:nvPr/>
        </p:nvSpPr>
        <p:spPr>
          <a:xfrm>
            <a:off x="1554480" y="5760720"/>
            <a:ext cx="10058400" cy="365760"/>
          </a:xfrm>
          <a:prstGeom prst="rect">
            <a:avLst/>
          </a:prstGeom>
          <a:noFill/>
        </p:spPr>
        <p:txBody>
          <a:bodyPr wrap="square" anchor="t" lIns="0" rIns="0" tIns="0" bIns="0">
            <a:spAutoFit/>
          </a:bodyPr>
          <a:lstStyle/>
          <a:p>
            <a:pPr algn="l">
              <a:lnSpc>
                <a:spcPct val="115000"/>
              </a:lnSpc>
            </a:pPr>
            <a:r>
              <a:rPr sz="1400" b="1">
                <a:solidFill>
                  <a:srgbClr val="0F2A4F"/>
                </a:solidFill>
                <a:latin typeface="Hiragino Sans"/>
                <a:ea typeface="Hiragino Sans"/>
                <a:cs typeface="Hiragino Sans"/>
              </a:rPr>
              <a:t>競合LP分析</a:t>
            </a:r>
          </a:p>
        </p:txBody>
      </p:sp>
      <p:sp>
        <p:nvSpPr>
          <p:cNvPr id="32" name="TextBox 31"/>
          <p:cNvSpPr txBox="1"/>
          <p:nvPr/>
        </p:nvSpPr>
        <p:spPr>
          <a:xfrm>
            <a:off x="1554480" y="6126480"/>
            <a:ext cx="10058400" cy="36576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競合5サイトを Claude に貼って共通要素+差別化要素抽出</a:t>
            </a:r>
          </a:p>
        </p:txBody>
      </p:sp>
      <p:sp>
        <p:nvSpPr>
          <p:cNvPr id="33" name="TextBox 32"/>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クライアント FAQ (1/2)</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副業代行で頻出される質問+回答</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P241 / 250</a:t>
            </a:r>
          </a:p>
        </p:txBody>
      </p:sp>
      <p:sp>
        <p:nvSpPr>
          <p:cNvPr id="8" name="Rounded Rectangle 7"/>
          <p:cNvSpPr/>
          <p:nvPr/>
        </p:nvSpPr>
        <p:spPr>
          <a:xfrm>
            <a:off x="548640" y="1371600"/>
            <a:ext cx="11109960" cy="9601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71600"/>
            <a:ext cx="91440" cy="9601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90472"/>
            <a:ext cx="10515600" cy="36576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Q. なぜ Last Click ROI ではダメ?</a:t>
            </a:r>
          </a:p>
        </p:txBody>
      </p:sp>
      <p:sp>
        <p:nvSpPr>
          <p:cNvPr id="11" name="TextBox 10"/>
          <p:cNvSpPr txBox="1"/>
          <p:nvPr/>
        </p:nvSpPr>
        <p:spPr>
          <a:xfrm>
            <a:off x="777240" y="1874520"/>
            <a:ext cx="10515600" cy="457200"/>
          </a:xfrm>
          <a:prstGeom prst="rect">
            <a:avLst/>
          </a:prstGeom>
          <a:noFill/>
        </p:spPr>
        <p:txBody>
          <a:bodyPr wrap="square" anchor="t" lIns="0" rIns="0" tIns="0" bIns="0">
            <a:spAutoFit/>
          </a:bodyPr>
          <a:lstStyle/>
          <a:p>
            <a:pPr algn="l">
              <a:lnSpc>
                <a:spcPct val="155000"/>
              </a:lnSpc>
            </a:pPr>
            <a:r>
              <a:rPr sz="1000" b="0">
                <a:solidFill>
                  <a:srgbClr val="1A1A1A"/>
                </a:solidFill>
                <a:latin typeface="Hiragino Sans"/>
                <a:ea typeface="Hiragino Sans"/>
                <a:cs typeface="Hiragino Sans"/>
              </a:rPr>
              <a:t>A. AI配信の貢献を過小評価するため。DDA + Incremental ROAS で見るのが2026標準</a:t>
            </a:r>
          </a:p>
        </p:txBody>
      </p:sp>
      <p:sp>
        <p:nvSpPr>
          <p:cNvPr id="12" name="Rounded Rectangle 11"/>
          <p:cNvSpPr/>
          <p:nvPr/>
        </p:nvSpPr>
        <p:spPr>
          <a:xfrm>
            <a:off x="548640" y="2377440"/>
            <a:ext cx="11109960" cy="9601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377440"/>
            <a:ext cx="91440" cy="9601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496312"/>
            <a:ext cx="10515600" cy="36576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Q. PMax は何が良いのか?</a:t>
            </a:r>
          </a:p>
        </p:txBody>
      </p:sp>
      <p:sp>
        <p:nvSpPr>
          <p:cNvPr id="15" name="TextBox 14"/>
          <p:cNvSpPr txBox="1"/>
          <p:nvPr/>
        </p:nvSpPr>
        <p:spPr>
          <a:xfrm>
            <a:off x="777240" y="2880360"/>
            <a:ext cx="10515600" cy="457200"/>
          </a:xfrm>
          <a:prstGeom prst="rect">
            <a:avLst/>
          </a:prstGeom>
          <a:noFill/>
        </p:spPr>
        <p:txBody>
          <a:bodyPr wrap="square" anchor="t" lIns="0" rIns="0" tIns="0" bIns="0">
            <a:spAutoFit/>
          </a:bodyPr>
          <a:lstStyle/>
          <a:p>
            <a:pPr algn="l">
              <a:lnSpc>
                <a:spcPct val="155000"/>
              </a:lnSpc>
            </a:pPr>
            <a:r>
              <a:rPr sz="1000" b="0">
                <a:solidFill>
                  <a:srgbClr val="1A1A1A"/>
                </a:solidFill>
                <a:latin typeface="Hiragino Sans"/>
                <a:ea typeface="Hiragino Sans"/>
                <a:cs typeface="Hiragino Sans"/>
              </a:rPr>
              <a:t>A. 全在庫横断のAI最適化。手動運用より配信効率が高く、運用工数も削減</a:t>
            </a:r>
          </a:p>
        </p:txBody>
      </p:sp>
      <p:sp>
        <p:nvSpPr>
          <p:cNvPr id="16" name="Rounded Rectangle 15"/>
          <p:cNvSpPr/>
          <p:nvPr/>
        </p:nvSpPr>
        <p:spPr>
          <a:xfrm>
            <a:off x="548640" y="3383280"/>
            <a:ext cx="11109960" cy="9601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383280"/>
            <a:ext cx="91440" cy="9601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3502152"/>
            <a:ext cx="10515600" cy="36576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Q. Cookie廃止になったのでは?</a:t>
            </a:r>
          </a:p>
        </p:txBody>
      </p:sp>
      <p:sp>
        <p:nvSpPr>
          <p:cNvPr id="19" name="TextBox 18"/>
          <p:cNvSpPr txBox="1"/>
          <p:nvPr/>
        </p:nvSpPr>
        <p:spPr>
          <a:xfrm>
            <a:off x="777240" y="3886200"/>
            <a:ext cx="10515600" cy="457200"/>
          </a:xfrm>
          <a:prstGeom prst="rect">
            <a:avLst/>
          </a:prstGeom>
          <a:noFill/>
        </p:spPr>
        <p:txBody>
          <a:bodyPr wrap="square" anchor="t" lIns="0" rIns="0" tIns="0" bIns="0">
            <a:spAutoFit/>
          </a:bodyPr>
          <a:lstStyle/>
          <a:p>
            <a:pPr algn="l">
              <a:lnSpc>
                <a:spcPct val="155000"/>
              </a:lnSpc>
            </a:pPr>
            <a:r>
              <a:rPr sz="1000" b="0">
                <a:solidFill>
                  <a:srgbClr val="1A1A1A"/>
                </a:solidFill>
                <a:latin typeface="Hiragino Sans"/>
                <a:ea typeface="Hiragino Sans"/>
                <a:cs typeface="Hiragino Sans"/>
              </a:rPr>
              <a:t>A. 2024/07撤回 + 2025/10 Privacy Sandbox 終了で Chromeに無期限残存</a:t>
            </a:r>
          </a:p>
        </p:txBody>
      </p:sp>
      <p:sp>
        <p:nvSpPr>
          <p:cNvPr id="20" name="Rounded Rectangle 19"/>
          <p:cNvSpPr/>
          <p:nvPr/>
        </p:nvSpPr>
        <p:spPr>
          <a:xfrm>
            <a:off x="548640" y="4389120"/>
            <a:ext cx="11109960" cy="9601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389120"/>
            <a:ext cx="91440" cy="9601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507992"/>
            <a:ext cx="10515600" cy="36576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Q. AI生成した広告は問題ない?</a:t>
            </a:r>
          </a:p>
        </p:txBody>
      </p:sp>
      <p:sp>
        <p:nvSpPr>
          <p:cNvPr id="23" name="TextBox 22"/>
          <p:cNvSpPr txBox="1"/>
          <p:nvPr/>
        </p:nvSpPr>
        <p:spPr>
          <a:xfrm>
            <a:off x="777240" y="4892040"/>
            <a:ext cx="10515600" cy="457200"/>
          </a:xfrm>
          <a:prstGeom prst="rect">
            <a:avLst/>
          </a:prstGeom>
          <a:noFill/>
        </p:spPr>
        <p:txBody>
          <a:bodyPr wrap="square" anchor="t" lIns="0" rIns="0" tIns="0" bIns="0">
            <a:spAutoFit/>
          </a:bodyPr>
          <a:lstStyle/>
          <a:p>
            <a:pPr algn="l">
              <a:lnSpc>
                <a:spcPct val="155000"/>
              </a:lnSpc>
            </a:pPr>
            <a:r>
              <a:rPr sz="1000" b="0">
                <a:solidFill>
                  <a:srgbClr val="1A1A1A"/>
                </a:solidFill>
                <a:latin typeface="Hiragino Sans"/>
                <a:ea typeface="Hiragino Sans"/>
                <a:cs typeface="Hiragino Sans"/>
              </a:rPr>
              <a:t>A. 商用利用OKツール (Firefly等) なら安心。実在人物・既存IPは禁止</a:t>
            </a:r>
          </a:p>
        </p:txBody>
      </p:sp>
      <p:sp>
        <p:nvSpPr>
          <p:cNvPr id="24" name="Rounded Rectangle 23"/>
          <p:cNvSpPr/>
          <p:nvPr/>
        </p:nvSpPr>
        <p:spPr>
          <a:xfrm>
            <a:off x="548640" y="5394960"/>
            <a:ext cx="11109960" cy="9601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5394960"/>
            <a:ext cx="91440" cy="9601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5513832"/>
            <a:ext cx="10515600" cy="36576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Q. 月予算 30万円でも代行依頼できる?</a:t>
            </a:r>
          </a:p>
        </p:txBody>
      </p:sp>
      <p:sp>
        <p:nvSpPr>
          <p:cNvPr id="27" name="TextBox 26"/>
          <p:cNvSpPr txBox="1"/>
          <p:nvPr/>
        </p:nvSpPr>
        <p:spPr>
          <a:xfrm>
            <a:off x="777240" y="5897880"/>
            <a:ext cx="10515600" cy="457200"/>
          </a:xfrm>
          <a:prstGeom prst="rect">
            <a:avLst/>
          </a:prstGeom>
          <a:noFill/>
        </p:spPr>
        <p:txBody>
          <a:bodyPr wrap="square" anchor="t" lIns="0" rIns="0" tIns="0" bIns="0">
            <a:spAutoFit/>
          </a:bodyPr>
          <a:lstStyle/>
          <a:p>
            <a:pPr algn="l">
              <a:lnSpc>
                <a:spcPct val="155000"/>
              </a:lnSpc>
            </a:pPr>
            <a:r>
              <a:rPr sz="1000" b="0">
                <a:solidFill>
                  <a:srgbClr val="1A1A1A"/>
                </a:solidFill>
                <a:latin typeface="Hiragino Sans"/>
                <a:ea typeface="Hiragino Sans"/>
                <a:cs typeface="Hiragino Sans"/>
              </a:rPr>
              <a:t>A. はい。SMB Tier (代行料3-5万円固定) で対応可能</a:t>
            </a:r>
          </a:p>
        </p:txBody>
      </p:sp>
      <p:sp>
        <p:nvSpPr>
          <p:cNvPr id="28" name="TextBox 27"/>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クライアント FAQ (2/2)</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応用編</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P242 / 250</a:t>
            </a:r>
          </a:p>
        </p:txBody>
      </p:sp>
      <p:sp>
        <p:nvSpPr>
          <p:cNvPr id="8" name="Rounded Rectangle 7"/>
          <p:cNvSpPr/>
          <p:nvPr/>
        </p:nvSpPr>
        <p:spPr>
          <a:xfrm>
            <a:off x="548640" y="1371600"/>
            <a:ext cx="11109960" cy="9601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71600"/>
            <a:ext cx="91440" cy="9601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90472"/>
            <a:ext cx="10515600" cy="36576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Q. ステマ規制って何?</a:t>
            </a:r>
          </a:p>
        </p:txBody>
      </p:sp>
      <p:sp>
        <p:nvSpPr>
          <p:cNvPr id="11" name="TextBox 10"/>
          <p:cNvSpPr txBox="1"/>
          <p:nvPr/>
        </p:nvSpPr>
        <p:spPr>
          <a:xfrm>
            <a:off x="777240" y="1874520"/>
            <a:ext cx="10515600" cy="457200"/>
          </a:xfrm>
          <a:prstGeom prst="rect">
            <a:avLst/>
          </a:prstGeom>
          <a:noFill/>
        </p:spPr>
        <p:txBody>
          <a:bodyPr wrap="square" anchor="t" lIns="0" rIns="0" tIns="0" bIns="0">
            <a:spAutoFit/>
          </a:bodyPr>
          <a:lstStyle/>
          <a:p>
            <a:pPr algn="l">
              <a:lnSpc>
                <a:spcPct val="155000"/>
              </a:lnSpc>
            </a:pPr>
            <a:r>
              <a:rPr sz="1000" b="0">
                <a:solidFill>
                  <a:srgbClr val="1A1A1A"/>
                </a:solidFill>
                <a:latin typeface="Hiragino Sans"/>
                <a:ea typeface="Hiragino Sans"/>
                <a:cs typeface="Hiragino Sans"/>
              </a:rPr>
              <a:t>A. 2023/10/01施行. 事業者の表示で広告判別困難なものが規制対象. PR表記必須</a:t>
            </a:r>
          </a:p>
        </p:txBody>
      </p:sp>
      <p:sp>
        <p:nvSpPr>
          <p:cNvPr id="12" name="Rounded Rectangle 11"/>
          <p:cNvSpPr/>
          <p:nvPr/>
        </p:nvSpPr>
        <p:spPr>
          <a:xfrm>
            <a:off x="548640" y="2377440"/>
            <a:ext cx="11109960" cy="9601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377440"/>
            <a:ext cx="91440" cy="9601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496312"/>
            <a:ext cx="10515600" cy="36576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Q. Lift Test と A/Bテスト の違いは?</a:t>
            </a:r>
          </a:p>
        </p:txBody>
      </p:sp>
      <p:sp>
        <p:nvSpPr>
          <p:cNvPr id="15" name="TextBox 14"/>
          <p:cNvSpPr txBox="1"/>
          <p:nvPr/>
        </p:nvSpPr>
        <p:spPr>
          <a:xfrm>
            <a:off x="777240" y="2880360"/>
            <a:ext cx="10515600" cy="457200"/>
          </a:xfrm>
          <a:prstGeom prst="rect">
            <a:avLst/>
          </a:prstGeom>
          <a:noFill/>
        </p:spPr>
        <p:txBody>
          <a:bodyPr wrap="square" anchor="t" lIns="0" rIns="0" tIns="0" bIns="0">
            <a:spAutoFit/>
          </a:bodyPr>
          <a:lstStyle/>
          <a:p>
            <a:pPr algn="l">
              <a:lnSpc>
                <a:spcPct val="155000"/>
              </a:lnSpc>
            </a:pPr>
            <a:r>
              <a:rPr sz="1000" b="0">
                <a:solidFill>
                  <a:srgbClr val="1A1A1A"/>
                </a:solidFill>
                <a:latin typeface="Hiragino Sans"/>
                <a:ea typeface="Hiragino Sans"/>
                <a:cs typeface="Hiragino Sans"/>
              </a:rPr>
              <a:t>A. A/Bテスト=配信内バリエーション比較. Lift Test=広告接触vs非接触のCV率比較</a:t>
            </a:r>
          </a:p>
        </p:txBody>
      </p:sp>
      <p:sp>
        <p:nvSpPr>
          <p:cNvPr id="16" name="Rounded Rectangle 15"/>
          <p:cNvSpPr/>
          <p:nvPr/>
        </p:nvSpPr>
        <p:spPr>
          <a:xfrm>
            <a:off x="548640" y="3383280"/>
            <a:ext cx="11109960" cy="9601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383280"/>
            <a:ext cx="91440" cy="9601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3502152"/>
            <a:ext cx="10515600" cy="36576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Q. LINEヤフー広告 = いつから?</a:t>
            </a:r>
          </a:p>
        </p:txBody>
      </p:sp>
      <p:sp>
        <p:nvSpPr>
          <p:cNvPr id="19" name="TextBox 18"/>
          <p:cNvSpPr txBox="1"/>
          <p:nvPr/>
        </p:nvSpPr>
        <p:spPr>
          <a:xfrm>
            <a:off x="777240" y="3886200"/>
            <a:ext cx="10515600" cy="457200"/>
          </a:xfrm>
          <a:prstGeom prst="rect">
            <a:avLst/>
          </a:prstGeom>
          <a:noFill/>
        </p:spPr>
        <p:txBody>
          <a:bodyPr wrap="square" anchor="t" lIns="0" rIns="0" tIns="0" bIns="0">
            <a:spAutoFit/>
          </a:bodyPr>
          <a:lstStyle/>
          <a:p>
            <a:pPr algn="l">
              <a:lnSpc>
                <a:spcPct val="155000"/>
              </a:lnSpc>
            </a:pPr>
            <a:r>
              <a:rPr sz="1000" b="0">
                <a:solidFill>
                  <a:srgbClr val="1A1A1A"/>
                </a:solidFill>
                <a:latin typeface="Hiragino Sans"/>
                <a:ea typeface="Hiragino Sans"/>
                <a:cs typeface="Hiragino Sans"/>
              </a:rPr>
              <a:t>A. 2026年春から統合スタート. 既存Yahoo!広告ユーザーは自動移行</a:t>
            </a:r>
          </a:p>
        </p:txBody>
      </p:sp>
      <p:sp>
        <p:nvSpPr>
          <p:cNvPr id="20" name="Rounded Rectangle 19"/>
          <p:cNvSpPr/>
          <p:nvPr/>
        </p:nvSpPr>
        <p:spPr>
          <a:xfrm>
            <a:off x="548640" y="4389120"/>
            <a:ext cx="11109960" cy="9601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389120"/>
            <a:ext cx="91440" cy="9601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507992"/>
            <a:ext cx="10515600" cy="36576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Q. TikTok Shop ってどう活用?</a:t>
            </a:r>
          </a:p>
        </p:txBody>
      </p:sp>
      <p:sp>
        <p:nvSpPr>
          <p:cNvPr id="23" name="TextBox 22"/>
          <p:cNvSpPr txBox="1"/>
          <p:nvPr/>
        </p:nvSpPr>
        <p:spPr>
          <a:xfrm>
            <a:off x="777240" y="4892040"/>
            <a:ext cx="10515600" cy="457200"/>
          </a:xfrm>
          <a:prstGeom prst="rect">
            <a:avLst/>
          </a:prstGeom>
          <a:noFill/>
        </p:spPr>
        <p:txBody>
          <a:bodyPr wrap="square" anchor="t" lIns="0" rIns="0" tIns="0" bIns="0">
            <a:spAutoFit/>
          </a:bodyPr>
          <a:lstStyle/>
          <a:p>
            <a:pPr algn="l">
              <a:lnSpc>
                <a:spcPct val="155000"/>
              </a:lnSpc>
            </a:pPr>
            <a:r>
              <a:rPr sz="1000" b="0">
                <a:solidFill>
                  <a:srgbClr val="1A1A1A"/>
                </a:solidFill>
                <a:latin typeface="Hiragino Sans"/>
                <a:ea typeface="Hiragino Sans"/>
                <a:cs typeface="Hiragino Sans"/>
              </a:rPr>
              <a:t>A. 2025/06 日本ローンチ. EC案件は Shop Ads で動画→購入直結が可能</a:t>
            </a:r>
          </a:p>
        </p:txBody>
      </p:sp>
      <p:sp>
        <p:nvSpPr>
          <p:cNvPr id="24" name="Rounded Rectangle 23"/>
          <p:cNvSpPr/>
          <p:nvPr/>
        </p:nvSpPr>
        <p:spPr>
          <a:xfrm>
            <a:off x="548640" y="5394960"/>
            <a:ext cx="11109960" cy="9601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5394960"/>
            <a:ext cx="91440" cy="9601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5513832"/>
            <a:ext cx="10515600" cy="36576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Q. AIエージェント運用は安全?</a:t>
            </a:r>
          </a:p>
        </p:txBody>
      </p:sp>
      <p:sp>
        <p:nvSpPr>
          <p:cNvPr id="27" name="TextBox 26"/>
          <p:cNvSpPr txBox="1"/>
          <p:nvPr/>
        </p:nvSpPr>
        <p:spPr>
          <a:xfrm>
            <a:off x="777240" y="5897880"/>
            <a:ext cx="10515600" cy="457200"/>
          </a:xfrm>
          <a:prstGeom prst="rect">
            <a:avLst/>
          </a:prstGeom>
          <a:noFill/>
        </p:spPr>
        <p:txBody>
          <a:bodyPr wrap="square" anchor="t" lIns="0" rIns="0" tIns="0" bIns="0">
            <a:spAutoFit/>
          </a:bodyPr>
          <a:lstStyle/>
          <a:p>
            <a:pPr algn="l">
              <a:lnSpc>
                <a:spcPct val="155000"/>
              </a:lnSpc>
            </a:pPr>
            <a:r>
              <a:rPr sz="1000" b="0">
                <a:solidFill>
                  <a:srgbClr val="1A1A1A"/>
                </a:solidFill>
                <a:latin typeface="Hiragino Sans"/>
                <a:ea typeface="Hiragino Sans"/>
                <a:cs typeface="Hiragino Sans"/>
              </a:rPr>
              <a:t>A. L1観察 + L2提案は実用段階. L3実行 (予算変更等) は人間承認必須</a:t>
            </a:r>
          </a:p>
        </p:txBody>
      </p:sp>
      <p:sp>
        <p:nvSpPr>
          <p:cNvPr id="28" name="TextBox 27"/>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副業復帰チェックリスト</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学んだことの自分用 30項目チェック</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P243 / 250</a:t>
            </a:r>
          </a:p>
        </p:txBody>
      </p:sp>
      <p:sp>
        <p:nvSpPr>
          <p:cNvPr id="8" name="Rounded Rectangle 7"/>
          <p:cNvSpPr/>
          <p:nvPr/>
        </p:nvSpPr>
        <p:spPr>
          <a:xfrm>
            <a:off x="548640" y="1417320"/>
            <a:ext cx="3611880" cy="4572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508760"/>
            <a:ext cx="274320" cy="274320"/>
          </a:xfrm>
          <a:prstGeom prst="rect">
            <a:avLst/>
          </a:prstGeom>
          <a:noFill/>
        </p:spPr>
        <p:txBody>
          <a:bodyPr wrap="square" anchor="t" lIns="0" rIns="0" tIns="0" bIns="0">
            <a:spAutoFit/>
          </a:bodyPr>
          <a:lstStyle/>
          <a:p>
            <a:pPr algn="l">
              <a:lnSpc>
                <a:spcPct val="115000"/>
              </a:lnSpc>
            </a:pPr>
            <a:r>
              <a:rPr sz="1400" b="0">
                <a:solidFill>
                  <a:srgbClr val="E87722"/>
                </a:solidFill>
                <a:latin typeface="Hiragino Sans"/>
                <a:ea typeface="Hiragino Sans"/>
                <a:cs typeface="Hiragino Sans"/>
              </a:rPr>
              <a:t>☐</a:t>
            </a:r>
          </a:p>
        </p:txBody>
      </p:sp>
      <p:sp>
        <p:nvSpPr>
          <p:cNvPr id="10" name="TextBox 9"/>
          <p:cNvSpPr txBox="1"/>
          <p:nvPr/>
        </p:nvSpPr>
        <p:spPr>
          <a:xfrm>
            <a:off x="960120" y="1554480"/>
            <a:ext cx="3108960" cy="274320"/>
          </a:xfrm>
          <a:prstGeom prst="rect">
            <a:avLst/>
          </a:prstGeom>
          <a:noFill/>
        </p:spPr>
        <p:txBody>
          <a:bodyPr wrap="square" anchor="t" lIns="0" rIns="0" tIns="0" bIns="0">
            <a:spAutoFit/>
          </a:bodyPr>
          <a:lstStyle/>
          <a:p>
            <a:pPr algn="l">
              <a:lnSpc>
                <a:spcPct val="140000"/>
              </a:lnSpc>
            </a:pPr>
            <a:r>
              <a:rPr sz="800" b="0">
                <a:solidFill>
                  <a:srgbClr val="1A1A1A"/>
                </a:solidFill>
                <a:latin typeface="Hiragino Sans"/>
                <a:ea typeface="Hiragino Sans"/>
                <a:cs typeface="Hiragino Sans"/>
              </a:rPr>
              <a:t>Cookie 廃止撤回 (2024/07) + Privacy Sandbox 終了 (2025/10) を理解</a:t>
            </a:r>
          </a:p>
        </p:txBody>
      </p:sp>
      <p:sp>
        <p:nvSpPr>
          <p:cNvPr id="11" name="Rounded Rectangle 10"/>
          <p:cNvSpPr/>
          <p:nvPr/>
        </p:nvSpPr>
        <p:spPr>
          <a:xfrm>
            <a:off x="4251960" y="1417320"/>
            <a:ext cx="3611880" cy="4572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0" y="1508760"/>
            <a:ext cx="274320" cy="274320"/>
          </a:xfrm>
          <a:prstGeom prst="rect">
            <a:avLst/>
          </a:prstGeom>
          <a:noFill/>
        </p:spPr>
        <p:txBody>
          <a:bodyPr wrap="square" anchor="t" lIns="0" rIns="0" tIns="0" bIns="0">
            <a:spAutoFit/>
          </a:bodyPr>
          <a:lstStyle/>
          <a:p>
            <a:pPr algn="l">
              <a:lnSpc>
                <a:spcPct val="115000"/>
              </a:lnSpc>
            </a:pPr>
            <a:r>
              <a:rPr sz="1400" b="0">
                <a:solidFill>
                  <a:srgbClr val="E87722"/>
                </a:solidFill>
                <a:latin typeface="Hiragino Sans"/>
                <a:ea typeface="Hiragino Sans"/>
                <a:cs typeface="Hiragino Sans"/>
              </a:rPr>
              <a:t>☐</a:t>
            </a:r>
          </a:p>
        </p:txBody>
      </p:sp>
      <p:sp>
        <p:nvSpPr>
          <p:cNvPr id="13" name="TextBox 12"/>
          <p:cNvSpPr txBox="1"/>
          <p:nvPr/>
        </p:nvSpPr>
        <p:spPr>
          <a:xfrm>
            <a:off x="4663440" y="1554480"/>
            <a:ext cx="3108960" cy="274320"/>
          </a:xfrm>
          <a:prstGeom prst="rect">
            <a:avLst/>
          </a:prstGeom>
          <a:noFill/>
        </p:spPr>
        <p:txBody>
          <a:bodyPr wrap="square" anchor="t" lIns="0" rIns="0" tIns="0" bIns="0">
            <a:spAutoFit/>
          </a:bodyPr>
          <a:lstStyle/>
          <a:p>
            <a:pPr algn="l">
              <a:lnSpc>
                <a:spcPct val="140000"/>
              </a:lnSpc>
            </a:pPr>
            <a:r>
              <a:rPr sz="800" b="0">
                <a:solidFill>
                  <a:srgbClr val="1A1A1A"/>
                </a:solidFill>
                <a:latin typeface="Hiragino Sans"/>
                <a:ea typeface="Hiragino Sans"/>
                <a:cs typeface="Hiragino Sans"/>
              </a:rPr>
              <a:t>GA4 イベントベース計測の思想 を理解</a:t>
            </a:r>
          </a:p>
        </p:txBody>
      </p:sp>
      <p:sp>
        <p:nvSpPr>
          <p:cNvPr id="14" name="Rounded Rectangle 13"/>
          <p:cNvSpPr/>
          <p:nvPr/>
        </p:nvSpPr>
        <p:spPr>
          <a:xfrm>
            <a:off x="7955280" y="1417320"/>
            <a:ext cx="3611880" cy="4572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92440" y="1508760"/>
            <a:ext cx="274320" cy="274320"/>
          </a:xfrm>
          <a:prstGeom prst="rect">
            <a:avLst/>
          </a:prstGeom>
          <a:noFill/>
        </p:spPr>
        <p:txBody>
          <a:bodyPr wrap="square" anchor="t" lIns="0" rIns="0" tIns="0" bIns="0">
            <a:spAutoFit/>
          </a:bodyPr>
          <a:lstStyle/>
          <a:p>
            <a:pPr algn="l">
              <a:lnSpc>
                <a:spcPct val="115000"/>
              </a:lnSpc>
            </a:pPr>
            <a:r>
              <a:rPr sz="1400" b="0">
                <a:solidFill>
                  <a:srgbClr val="E87722"/>
                </a:solidFill>
                <a:latin typeface="Hiragino Sans"/>
                <a:ea typeface="Hiragino Sans"/>
                <a:cs typeface="Hiragino Sans"/>
              </a:rPr>
              <a:t>☐</a:t>
            </a:r>
          </a:p>
        </p:txBody>
      </p:sp>
      <p:sp>
        <p:nvSpPr>
          <p:cNvPr id="16" name="TextBox 15"/>
          <p:cNvSpPr txBox="1"/>
          <p:nvPr/>
        </p:nvSpPr>
        <p:spPr>
          <a:xfrm>
            <a:off x="8366760" y="1554480"/>
            <a:ext cx="3108960" cy="274320"/>
          </a:xfrm>
          <a:prstGeom prst="rect">
            <a:avLst/>
          </a:prstGeom>
          <a:noFill/>
        </p:spPr>
        <p:txBody>
          <a:bodyPr wrap="square" anchor="t" lIns="0" rIns="0" tIns="0" bIns="0">
            <a:spAutoFit/>
          </a:bodyPr>
          <a:lstStyle/>
          <a:p>
            <a:pPr algn="l">
              <a:lnSpc>
                <a:spcPct val="140000"/>
              </a:lnSpc>
            </a:pPr>
            <a:r>
              <a:rPr sz="800" b="0">
                <a:solidFill>
                  <a:srgbClr val="1A1A1A"/>
                </a:solidFill>
                <a:latin typeface="Hiragino Sans"/>
                <a:ea typeface="Hiragino Sans"/>
                <a:cs typeface="Hiragino Sans"/>
              </a:rPr>
              <a:t>SGTM + CAPI のハイブリッド構成 を実装可能</a:t>
            </a:r>
          </a:p>
        </p:txBody>
      </p:sp>
      <p:sp>
        <p:nvSpPr>
          <p:cNvPr id="17" name="Rounded Rectangle 16"/>
          <p:cNvSpPr/>
          <p:nvPr/>
        </p:nvSpPr>
        <p:spPr>
          <a:xfrm>
            <a:off x="548640" y="1920240"/>
            <a:ext cx="3611880" cy="4572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011680"/>
            <a:ext cx="274320" cy="274320"/>
          </a:xfrm>
          <a:prstGeom prst="rect">
            <a:avLst/>
          </a:prstGeom>
          <a:noFill/>
        </p:spPr>
        <p:txBody>
          <a:bodyPr wrap="square" anchor="t" lIns="0" rIns="0" tIns="0" bIns="0">
            <a:spAutoFit/>
          </a:bodyPr>
          <a:lstStyle/>
          <a:p>
            <a:pPr algn="l">
              <a:lnSpc>
                <a:spcPct val="115000"/>
              </a:lnSpc>
            </a:pPr>
            <a:r>
              <a:rPr sz="1400" b="0">
                <a:solidFill>
                  <a:srgbClr val="E87722"/>
                </a:solidFill>
                <a:latin typeface="Hiragino Sans"/>
                <a:ea typeface="Hiragino Sans"/>
                <a:cs typeface="Hiragino Sans"/>
              </a:rPr>
              <a:t>☐</a:t>
            </a:r>
          </a:p>
        </p:txBody>
      </p:sp>
      <p:sp>
        <p:nvSpPr>
          <p:cNvPr id="19" name="TextBox 18"/>
          <p:cNvSpPr txBox="1"/>
          <p:nvPr/>
        </p:nvSpPr>
        <p:spPr>
          <a:xfrm>
            <a:off x="960120" y="2057400"/>
            <a:ext cx="3108960" cy="274320"/>
          </a:xfrm>
          <a:prstGeom prst="rect">
            <a:avLst/>
          </a:prstGeom>
          <a:noFill/>
        </p:spPr>
        <p:txBody>
          <a:bodyPr wrap="square" anchor="t" lIns="0" rIns="0" tIns="0" bIns="0">
            <a:spAutoFit/>
          </a:bodyPr>
          <a:lstStyle/>
          <a:p>
            <a:pPr algn="l">
              <a:lnSpc>
                <a:spcPct val="140000"/>
              </a:lnSpc>
            </a:pPr>
            <a:r>
              <a:rPr sz="800" b="0">
                <a:solidFill>
                  <a:srgbClr val="1A1A1A"/>
                </a:solidFill>
                <a:latin typeface="Hiragino Sans"/>
                <a:ea typeface="Hiragino Sans"/>
                <a:cs typeface="Hiragino Sans"/>
              </a:rPr>
              <a:t>Enhanced Conversions 設定 + Customer Match 連携</a:t>
            </a:r>
          </a:p>
        </p:txBody>
      </p:sp>
      <p:sp>
        <p:nvSpPr>
          <p:cNvPr id="20" name="Rounded Rectangle 19"/>
          <p:cNvSpPr/>
          <p:nvPr/>
        </p:nvSpPr>
        <p:spPr>
          <a:xfrm>
            <a:off x="4251960" y="1920240"/>
            <a:ext cx="3611880" cy="4572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89120" y="2011680"/>
            <a:ext cx="274320" cy="274320"/>
          </a:xfrm>
          <a:prstGeom prst="rect">
            <a:avLst/>
          </a:prstGeom>
          <a:noFill/>
        </p:spPr>
        <p:txBody>
          <a:bodyPr wrap="square" anchor="t" lIns="0" rIns="0" tIns="0" bIns="0">
            <a:spAutoFit/>
          </a:bodyPr>
          <a:lstStyle/>
          <a:p>
            <a:pPr algn="l">
              <a:lnSpc>
                <a:spcPct val="115000"/>
              </a:lnSpc>
            </a:pPr>
            <a:r>
              <a:rPr sz="1400" b="0">
                <a:solidFill>
                  <a:srgbClr val="E87722"/>
                </a:solidFill>
                <a:latin typeface="Hiragino Sans"/>
                <a:ea typeface="Hiragino Sans"/>
                <a:cs typeface="Hiragino Sans"/>
              </a:rPr>
              <a:t>☐</a:t>
            </a:r>
          </a:p>
        </p:txBody>
      </p:sp>
      <p:sp>
        <p:nvSpPr>
          <p:cNvPr id="22" name="TextBox 21"/>
          <p:cNvSpPr txBox="1"/>
          <p:nvPr/>
        </p:nvSpPr>
        <p:spPr>
          <a:xfrm>
            <a:off x="4663440" y="2057400"/>
            <a:ext cx="3108960" cy="274320"/>
          </a:xfrm>
          <a:prstGeom prst="rect">
            <a:avLst/>
          </a:prstGeom>
          <a:noFill/>
        </p:spPr>
        <p:txBody>
          <a:bodyPr wrap="square" anchor="t" lIns="0" rIns="0" tIns="0" bIns="0">
            <a:spAutoFit/>
          </a:bodyPr>
          <a:lstStyle/>
          <a:p>
            <a:pPr algn="l">
              <a:lnSpc>
                <a:spcPct val="140000"/>
              </a:lnSpc>
            </a:pPr>
            <a:r>
              <a:rPr sz="800" b="0">
                <a:solidFill>
                  <a:srgbClr val="1A1A1A"/>
                </a:solidFill>
                <a:latin typeface="Hiragino Sans"/>
                <a:ea typeface="Hiragino Sans"/>
                <a:cs typeface="Hiragino Sans"/>
              </a:rPr>
              <a:t>Consent Mode v2 + CMP 導入手順 を把握</a:t>
            </a:r>
          </a:p>
        </p:txBody>
      </p:sp>
      <p:sp>
        <p:nvSpPr>
          <p:cNvPr id="23" name="Rounded Rectangle 22"/>
          <p:cNvSpPr/>
          <p:nvPr/>
        </p:nvSpPr>
        <p:spPr>
          <a:xfrm>
            <a:off x="7955280" y="1920240"/>
            <a:ext cx="3611880" cy="4572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92440" y="2011680"/>
            <a:ext cx="274320" cy="274320"/>
          </a:xfrm>
          <a:prstGeom prst="rect">
            <a:avLst/>
          </a:prstGeom>
          <a:noFill/>
        </p:spPr>
        <p:txBody>
          <a:bodyPr wrap="square" anchor="t" lIns="0" rIns="0" tIns="0" bIns="0">
            <a:spAutoFit/>
          </a:bodyPr>
          <a:lstStyle/>
          <a:p>
            <a:pPr algn="l">
              <a:lnSpc>
                <a:spcPct val="115000"/>
              </a:lnSpc>
            </a:pPr>
            <a:r>
              <a:rPr sz="1400" b="0">
                <a:solidFill>
                  <a:srgbClr val="E87722"/>
                </a:solidFill>
                <a:latin typeface="Hiragino Sans"/>
                <a:ea typeface="Hiragino Sans"/>
                <a:cs typeface="Hiragino Sans"/>
              </a:rPr>
              <a:t>☐</a:t>
            </a:r>
          </a:p>
        </p:txBody>
      </p:sp>
      <p:sp>
        <p:nvSpPr>
          <p:cNvPr id="25" name="TextBox 24"/>
          <p:cNvSpPr txBox="1"/>
          <p:nvPr/>
        </p:nvSpPr>
        <p:spPr>
          <a:xfrm>
            <a:off x="8366760" y="2057400"/>
            <a:ext cx="3108960" cy="274320"/>
          </a:xfrm>
          <a:prstGeom prst="rect">
            <a:avLst/>
          </a:prstGeom>
          <a:noFill/>
        </p:spPr>
        <p:txBody>
          <a:bodyPr wrap="square" anchor="t" lIns="0" rIns="0" tIns="0" bIns="0">
            <a:spAutoFit/>
          </a:bodyPr>
          <a:lstStyle/>
          <a:p>
            <a:pPr algn="l">
              <a:lnSpc>
                <a:spcPct val="140000"/>
              </a:lnSpc>
            </a:pPr>
            <a:r>
              <a:rPr sz="800" b="0">
                <a:solidFill>
                  <a:srgbClr val="1A1A1A"/>
                </a:solidFill>
                <a:latin typeface="Hiragino Sans"/>
                <a:ea typeface="Hiragino Sans"/>
                <a:cs typeface="Hiragino Sans"/>
              </a:rPr>
              <a:t>PMax の統制術 (Audience Signal / Negative / Brand Exclusions) を理解</a:t>
            </a:r>
          </a:p>
        </p:txBody>
      </p:sp>
      <p:sp>
        <p:nvSpPr>
          <p:cNvPr id="26" name="Rounded Rectangle 25"/>
          <p:cNvSpPr/>
          <p:nvPr/>
        </p:nvSpPr>
        <p:spPr>
          <a:xfrm>
            <a:off x="548640" y="2423160"/>
            <a:ext cx="3611880" cy="4572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2514600"/>
            <a:ext cx="274320" cy="274320"/>
          </a:xfrm>
          <a:prstGeom prst="rect">
            <a:avLst/>
          </a:prstGeom>
          <a:noFill/>
        </p:spPr>
        <p:txBody>
          <a:bodyPr wrap="square" anchor="t" lIns="0" rIns="0" tIns="0" bIns="0">
            <a:spAutoFit/>
          </a:bodyPr>
          <a:lstStyle/>
          <a:p>
            <a:pPr algn="l">
              <a:lnSpc>
                <a:spcPct val="115000"/>
              </a:lnSpc>
            </a:pPr>
            <a:r>
              <a:rPr sz="1400" b="0">
                <a:solidFill>
                  <a:srgbClr val="E87722"/>
                </a:solidFill>
                <a:latin typeface="Hiragino Sans"/>
                <a:ea typeface="Hiragino Sans"/>
                <a:cs typeface="Hiragino Sans"/>
              </a:rPr>
              <a:t>☐</a:t>
            </a:r>
          </a:p>
        </p:txBody>
      </p:sp>
      <p:sp>
        <p:nvSpPr>
          <p:cNvPr id="28" name="TextBox 27"/>
          <p:cNvSpPr txBox="1"/>
          <p:nvPr/>
        </p:nvSpPr>
        <p:spPr>
          <a:xfrm>
            <a:off x="960120" y="2560320"/>
            <a:ext cx="3108960" cy="274320"/>
          </a:xfrm>
          <a:prstGeom prst="rect">
            <a:avLst/>
          </a:prstGeom>
          <a:noFill/>
        </p:spPr>
        <p:txBody>
          <a:bodyPr wrap="square" anchor="t" lIns="0" rIns="0" tIns="0" bIns="0">
            <a:spAutoFit/>
          </a:bodyPr>
          <a:lstStyle/>
          <a:p>
            <a:pPr algn="l">
              <a:lnSpc>
                <a:spcPct val="140000"/>
              </a:lnSpc>
            </a:pPr>
            <a:r>
              <a:rPr sz="800" b="0">
                <a:solidFill>
                  <a:srgbClr val="1A1A1A"/>
                </a:solidFill>
                <a:latin typeface="Hiragino Sans"/>
                <a:ea typeface="Hiragino Sans"/>
                <a:cs typeface="Hiragino Sans"/>
              </a:rPr>
              <a:t>Advantage+ Sales (旧ASC) リブランドを把握</a:t>
            </a:r>
          </a:p>
        </p:txBody>
      </p:sp>
      <p:sp>
        <p:nvSpPr>
          <p:cNvPr id="29" name="Rounded Rectangle 28"/>
          <p:cNvSpPr/>
          <p:nvPr/>
        </p:nvSpPr>
        <p:spPr>
          <a:xfrm>
            <a:off x="4251960" y="2423160"/>
            <a:ext cx="3611880" cy="4572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389120" y="2514600"/>
            <a:ext cx="274320" cy="274320"/>
          </a:xfrm>
          <a:prstGeom prst="rect">
            <a:avLst/>
          </a:prstGeom>
          <a:noFill/>
        </p:spPr>
        <p:txBody>
          <a:bodyPr wrap="square" anchor="t" lIns="0" rIns="0" tIns="0" bIns="0">
            <a:spAutoFit/>
          </a:bodyPr>
          <a:lstStyle/>
          <a:p>
            <a:pPr algn="l">
              <a:lnSpc>
                <a:spcPct val="115000"/>
              </a:lnSpc>
            </a:pPr>
            <a:r>
              <a:rPr sz="1400" b="0">
                <a:solidFill>
                  <a:srgbClr val="E87722"/>
                </a:solidFill>
                <a:latin typeface="Hiragino Sans"/>
                <a:ea typeface="Hiragino Sans"/>
                <a:cs typeface="Hiragino Sans"/>
              </a:rPr>
              <a:t>☐</a:t>
            </a:r>
          </a:p>
        </p:txBody>
      </p:sp>
      <p:sp>
        <p:nvSpPr>
          <p:cNvPr id="31" name="TextBox 30"/>
          <p:cNvSpPr txBox="1"/>
          <p:nvPr/>
        </p:nvSpPr>
        <p:spPr>
          <a:xfrm>
            <a:off x="4663440" y="2560320"/>
            <a:ext cx="3108960" cy="274320"/>
          </a:xfrm>
          <a:prstGeom prst="rect">
            <a:avLst/>
          </a:prstGeom>
          <a:noFill/>
        </p:spPr>
        <p:txBody>
          <a:bodyPr wrap="square" anchor="t" lIns="0" rIns="0" tIns="0" bIns="0">
            <a:spAutoFit/>
          </a:bodyPr>
          <a:lstStyle/>
          <a:p>
            <a:pPr algn="l">
              <a:lnSpc>
                <a:spcPct val="140000"/>
              </a:lnSpc>
            </a:pPr>
            <a:r>
              <a:rPr sz="800" b="0">
                <a:solidFill>
                  <a:srgbClr val="1A1A1A"/>
                </a:solidFill>
                <a:latin typeface="Hiragino Sans"/>
                <a:ea typeface="Hiragino Sans"/>
                <a:cs typeface="Hiragino Sans"/>
              </a:rPr>
              <a:t>Andromeda 配信ML世代を理解</a:t>
            </a:r>
          </a:p>
        </p:txBody>
      </p:sp>
      <p:sp>
        <p:nvSpPr>
          <p:cNvPr id="32" name="Rounded Rectangle 31"/>
          <p:cNvSpPr/>
          <p:nvPr/>
        </p:nvSpPr>
        <p:spPr>
          <a:xfrm>
            <a:off x="7955280" y="2423160"/>
            <a:ext cx="3611880" cy="4572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92440" y="2514600"/>
            <a:ext cx="274320" cy="274320"/>
          </a:xfrm>
          <a:prstGeom prst="rect">
            <a:avLst/>
          </a:prstGeom>
          <a:noFill/>
        </p:spPr>
        <p:txBody>
          <a:bodyPr wrap="square" anchor="t" lIns="0" rIns="0" tIns="0" bIns="0">
            <a:spAutoFit/>
          </a:bodyPr>
          <a:lstStyle/>
          <a:p>
            <a:pPr algn="l">
              <a:lnSpc>
                <a:spcPct val="115000"/>
              </a:lnSpc>
            </a:pPr>
            <a:r>
              <a:rPr sz="1400" b="0">
                <a:solidFill>
                  <a:srgbClr val="E87722"/>
                </a:solidFill>
                <a:latin typeface="Hiragino Sans"/>
                <a:ea typeface="Hiragino Sans"/>
                <a:cs typeface="Hiragino Sans"/>
              </a:rPr>
              <a:t>☐</a:t>
            </a:r>
          </a:p>
        </p:txBody>
      </p:sp>
      <p:sp>
        <p:nvSpPr>
          <p:cNvPr id="34" name="TextBox 33"/>
          <p:cNvSpPr txBox="1"/>
          <p:nvPr/>
        </p:nvSpPr>
        <p:spPr>
          <a:xfrm>
            <a:off x="8366760" y="2560320"/>
            <a:ext cx="3108960" cy="274320"/>
          </a:xfrm>
          <a:prstGeom prst="rect">
            <a:avLst/>
          </a:prstGeom>
          <a:noFill/>
        </p:spPr>
        <p:txBody>
          <a:bodyPr wrap="square" anchor="t" lIns="0" rIns="0" tIns="0" bIns="0">
            <a:spAutoFit/>
          </a:bodyPr>
          <a:lstStyle/>
          <a:p>
            <a:pPr algn="l">
              <a:lnSpc>
                <a:spcPct val="140000"/>
              </a:lnSpc>
            </a:pPr>
            <a:r>
              <a:rPr sz="800" b="0">
                <a:solidFill>
                  <a:srgbClr val="1A1A1A"/>
                </a:solidFill>
                <a:latin typeface="Hiragino Sans"/>
                <a:ea typeface="Hiragino Sans"/>
                <a:cs typeface="Hiragino Sans"/>
              </a:rPr>
              <a:t>TikTok Smart+ + Symphony Creative Studio の活用法</a:t>
            </a:r>
          </a:p>
        </p:txBody>
      </p:sp>
      <p:sp>
        <p:nvSpPr>
          <p:cNvPr id="35" name="Rounded Rectangle 34"/>
          <p:cNvSpPr/>
          <p:nvPr/>
        </p:nvSpPr>
        <p:spPr>
          <a:xfrm>
            <a:off x="548640" y="2926080"/>
            <a:ext cx="3611880" cy="4572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5800" y="3017520"/>
            <a:ext cx="274320" cy="274320"/>
          </a:xfrm>
          <a:prstGeom prst="rect">
            <a:avLst/>
          </a:prstGeom>
          <a:noFill/>
        </p:spPr>
        <p:txBody>
          <a:bodyPr wrap="square" anchor="t" lIns="0" rIns="0" tIns="0" bIns="0">
            <a:spAutoFit/>
          </a:bodyPr>
          <a:lstStyle/>
          <a:p>
            <a:pPr algn="l">
              <a:lnSpc>
                <a:spcPct val="115000"/>
              </a:lnSpc>
            </a:pPr>
            <a:r>
              <a:rPr sz="1400" b="0">
                <a:solidFill>
                  <a:srgbClr val="E87722"/>
                </a:solidFill>
                <a:latin typeface="Hiragino Sans"/>
                <a:ea typeface="Hiragino Sans"/>
                <a:cs typeface="Hiragino Sans"/>
              </a:rPr>
              <a:t>☐</a:t>
            </a:r>
          </a:p>
        </p:txBody>
      </p:sp>
      <p:sp>
        <p:nvSpPr>
          <p:cNvPr id="37" name="TextBox 36"/>
          <p:cNvSpPr txBox="1"/>
          <p:nvPr/>
        </p:nvSpPr>
        <p:spPr>
          <a:xfrm>
            <a:off x="960120" y="3063240"/>
            <a:ext cx="3108960" cy="274320"/>
          </a:xfrm>
          <a:prstGeom prst="rect">
            <a:avLst/>
          </a:prstGeom>
          <a:noFill/>
        </p:spPr>
        <p:txBody>
          <a:bodyPr wrap="square" anchor="t" lIns="0" rIns="0" tIns="0" bIns="0">
            <a:spAutoFit/>
          </a:bodyPr>
          <a:lstStyle/>
          <a:p>
            <a:pPr algn="l">
              <a:lnSpc>
                <a:spcPct val="140000"/>
              </a:lnSpc>
            </a:pPr>
            <a:r>
              <a:rPr sz="800" b="0">
                <a:solidFill>
                  <a:srgbClr val="1A1A1A"/>
                </a:solidFill>
                <a:latin typeface="Hiragino Sans"/>
                <a:ea typeface="Hiragino Sans"/>
                <a:cs typeface="Hiragino Sans"/>
              </a:rPr>
              <a:t>AI Max for Search (2025/05) の機能と DSA置換予定</a:t>
            </a:r>
          </a:p>
        </p:txBody>
      </p:sp>
      <p:sp>
        <p:nvSpPr>
          <p:cNvPr id="38" name="Rounded Rectangle 37"/>
          <p:cNvSpPr/>
          <p:nvPr/>
        </p:nvSpPr>
        <p:spPr>
          <a:xfrm>
            <a:off x="4251960" y="2926080"/>
            <a:ext cx="3611880" cy="4572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89120" y="3017520"/>
            <a:ext cx="274320" cy="274320"/>
          </a:xfrm>
          <a:prstGeom prst="rect">
            <a:avLst/>
          </a:prstGeom>
          <a:noFill/>
        </p:spPr>
        <p:txBody>
          <a:bodyPr wrap="square" anchor="t" lIns="0" rIns="0" tIns="0" bIns="0">
            <a:spAutoFit/>
          </a:bodyPr>
          <a:lstStyle/>
          <a:p>
            <a:pPr algn="l">
              <a:lnSpc>
                <a:spcPct val="115000"/>
              </a:lnSpc>
            </a:pPr>
            <a:r>
              <a:rPr sz="1400" b="0">
                <a:solidFill>
                  <a:srgbClr val="E87722"/>
                </a:solidFill>
                <a:latin typeface="Hiragino Sans"/>
                <a:ea typeface="Hiragino Sans"/>
                <a:cs typeface="Hiragino Sans"/>
              </a:rPr>
              <a:t>☐</a:t>
            </a:r>
          </a:p>
        </p:txBody>
      </p:sp>
      <p:sp>
        <p:nvSpPr>
          <p:cNvPr id="40" name="TextBox 39"/>
          <p:cNvSpPr txBox="1"/>
          <p:nvPr/>
        </p:nvSpPr>
        <p:spPr>
          <a:xfrm>
            <a:off x="4663440" y="3063240"/>
            <a:ext cx="3108960" cy="274320"/>
          </a:xfrm>
          <a:prstGeom prst="rect">
            <a:avLst/>
          </a:prstGeom>
          <a:noFill/>
        </p:spPr>
        <p:txBody>
          <a:bodyPr wrap="square" anchor="t" lIns="0" rIns="0" tIns="0" bIns="0">
            <a:spAutoFit/>
          </a:bodyPr>
          <a:lstStyle/>
          <a:p>
            <a:pPr algn="l">
              <a:lnSpc>
                <a:spcPct val="140000"/>
              </a:lnSpc>
            </a:pPr>
            <a:r>
              <a:rPr sz="800" b="0">
                <a:solidFill>
                  <a:srgbClr val="1A1A1A"/>
                </a:solidFill>
                <a:latin typeface="Hiragino Sans"/>
                <a:ea typeface="Hiragino Sans"/>
                <a:cs typeface="Hiragino Sans"/>
              </a:rPr>
              <a:t>DDA (Data-Driven Attribution) を全媒体で標準採用</a:t>
            </a:r>
          </a:p>
        </p:txBody>
      </p:sp>
      <p:sp>
        <p:nvSpPr>
          <p:cNvPr id="41" name="Rounded Rectangle 40"/>
          <p:cNvSpPr/>
          <p:nvPr/>
        </p:nvSpPr>
        <p:spPr>
          <a:xfrm>
            <a:off x="7955280" y="2926080"/>
            <a:ext cx="3611880" cy="4572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092440" y="3017520"/>
            <a:ext cx="274320" cy="274320"/>
          </a:xfrm>
          <a:prstGeom prst="rect">
            <a:avLst/>
          </a:prstGeom>
          <a:noFill/>
        </p:spPr>
        <p:txBody>
          <a:bodyPr wrap="square" anchor="t" lIns="0" rIns="0" tIns="0" bIns="0">
            <a:spAutoFit/>
          </a:bodyPr>
          <a:lstStyle/>
          <a:p>
            <a:pPr algn="l">
              <a:lnSpc>
                <a:spcPct val="115000"/>
              </a:lnSpc>
            </a:pPr>
            <a:r>
              <a:rPr sz="1400" b="0">
                <a:solidFill>
                  <a:srgbClr val="E87722"/>
                </a:solidFill>
                <a:latin typeface="Hiragino Sans"/>
                <a:ea typeface="Hiragino Sans"/>
                <a:cs typeface="Hiragino Sans"/>
              </a:rPr>
              <a:t>☐</a:t>
            </a:r>
          </a:p>
        </p:txBody>
      </p:sp>
      <p:sp>
        <p:nvSpPr>
          <p:cNvPr id="43" name="TextBox 42"/>
          <p:cNvSpPr txBox="1"/>
          <p:nvPr/>
        </p:nvSpPr>
        <p:spPr>
          <a:xfrm>
            <a:off x="8366760" y="3063240"/>
            <a:ext cx="3108960" cy="274320"/>
          </a:xfrm>
          <a:prstGeom prst="rect">
            <a:avLst/>
          </a:prstGeom>
          <a:noFill/>
        </p:spPr>
        <p:txBody>
          <a:bodyPr wrap="square" anchor="t" lIns="0" rIns="0" tIns="0" bIns="0">
            <a:spAutoFit/>
          </a:bodyPr>
          <a:lstStyle/>
          <a:p>
            <a:pPr algn="l">
              <a:lnSpc>
                <a:spcPct val="140000"/>
              </a:lnSpc>
            </a:pPr>
            <a:r>
              <a:rPr sz="800" b="0">
                <a:solidFill>
                  <a:srgbClr val="1A1A1A"/>
                </a:solidFill>
                <a:latin typeface="Hiragino Sans"/>
                <a:ea typeface="Hiragino Sans"/>
                <a:cs typeface="Hiragino Sans"/>
              </a:rPr>
              <a:t>Conversion Lift Test を月次で提案可能</a:t>
            </a:r>
          </a:p>
        </p:txBody>
      </p:sp>
      <p:sp>
        <p:nvSpPr>
          <p:cNvPr id="44" name="Rounded Rectangle 43"/>
          <p:cNvSpPr/>
          <p:nvPr/>
        </p:nvSpPr>
        <p:spPr>
          <a:xfrm>
            <a:off x="548640" y="3429000"/>
            <a:ext cx="3611880" cy="4572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85800" y="3520440"/>
            <a:ext cx="274320" cy="274320"/>
          </a:xfrm>
          <a:prstGeom prst="rect">
            <a:avLst/>
          </a:prstGeom>
          <a:noFill/>
        </p:spPr>
        <p:txBody>
          <a:bodyPr wrap="square" anchor="t" lIns="0" rIns="0" tIns="0" bIns="0">
            <a:spAutoFit/>
          </a:bodyPr>
          <a:lstStyle/>
          <a:p>
            <a:pPr algn="l">
              <a:lnSpc>
                <a:spcPct val="115000"/>
              </a:lnSpc>
            </a:pPr>
            <a:r>
              <a:rPr sz="1400" b="0">
                <a:solidFill>
                  <a:srgbClr val="E87722"/>
                </a:solidFill>
                <a:latin typeface="Hiragino Sans"/>
                <a:ea typeface="Hiragino Sans"/>
                <a:cs typeface="Hiragino Sans"/>
              </a:rPr>
              <a:t>☐</a:t>
            </a:r>
          </a:p>
        </p:txBody>
      </p:sp>
      <p:sp>
        <p:nvSpPr>
          <p:cNvPr id="46" name="TextBox 45"/>
          <p:cNvSpPr txBox="1"/>
          <p:nvPr/>
        </p:nvSpPr>
        <p:spPr>
          <a:xfrm>
            <a:off x="960120" y="3566160"/>
            <a:ext cx="3108960" cy="274320"/>
          </a:xfrm>
          <a:prstGeom prst="rect">
            <a:avLst/>
          </a:prstGeom>
          <a:noFill/>
        </p:spPr>
        <p:txBody>
          <a:bodyPr wrap="square" anchor="t" lIns="0" rIns="0" tIns="0" bIns="0">
            <a:spAutoFit/>
          </a:bodyPr>
          <a:lstStyle/>
          <a:p>
            <a:pPr algn="l">
              <a:lnSpc>
                <a:spcPct val="140000"/>
              </a:lnSpc>
            </a:pPr>
            <a:r>
              <a:rPr sz="800" b="0">
                <a:solidFill>
                  <a:srgbClr val="1A1A1A"/>
                </a:solidFill>
                <a:latin typeface="Hiragino Sans"/>
                <a:ea typeface="Hiragino Sans"/>
                <a:cs typeface="Hiragino Sans"/>
              </a:rPr>
              <a:t>Brand Lift Study の4指標を説明可能</a:t>
            </a:r>
          </a:p>
        </p:txBody>
      </p:sp>
      <p:sp>
        <p:nvSpPr>
          <p:cNvPr id="47" name="Rounded Rectangle 46"/>
          <p:cNvSpPr/>
          <p:nvPr/>
        </p:nvSpPr>
        <p:spPr>
          <a:xfrm>
            <a:off x="4251960" y="3429000"/>
            <a:ext cx="3611880" cy="4572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389120" y="3520440"/>
            <a:ext cx="274320" cy="274320"/>
          </a:xfrm>
          <a:prstGeom prst="rect">
            <a:avLst/>
          </a:prstGeom>
          <a:noFill/>
        </p:spPr>
        <p:txBody>
          <a:bodyPr wrap="square" anchor="t" lIns="0" rIns="0" tIns="0" bIns="0">
            <a:spAutoFit/>
          </a:bodyPr>
          <a:lstStyle/>
          <a:p>
            <a:pPr algn="l">
              <a:lnSpc>
                <a:spcPct val="115000"/>
              </a:lnSpc>
            </a:pPr>
            <a:r>
              <a:rPr sz="1400" b="0">
                <a:solidFill>
                  <a:srgbClr val="E87722"/>
                </a:solidFill>
                <a:latin typeface="Hiragino Sans"/>
                <a:ea typeface="Hiragino Sans"/>
                <a:cs typeface="Hiragino Sans"/>
              </a:rPr>
              <a:t>☐</a:t>
            </a:r>
          </a:p>
        </p:txBody>
      </p:sp>
      <p:sp>
        <p:nvSpPr>
          <p:cNvPr id="49" name="TextBox 48"/>
          <p:cNvSpPr txBox="1"/>
          <p:nvPr/>
        </p:nvSpPr>
        <p:spPr>
          <a:xfrm>
            <a:off x="4663440" y="3566160"/>
            <a:ext cx="3108960" cy="274320"/>
          </a:xfrm>
          <a:prstGeom prst="rect">
            <a:avLst/>
          </a:prstGeom>
          <a:noFill/>
        </p:spPr>
        <p:txBody>
          <a:bodyPr wrap="square" anchor="t" lIns="0" rIns="0" tIns="0" bIns="0">
            <a:spAutoFit/>
          </a:bodyPr>
          <a:lstStyle/>
          <a:p>
            <a:pPr algn="l">
              <a:lnSpc>
                <a:spcPct val="140000"/>
              </a:lnSpc>
            </a:pPr>
            <a:r>
              <a:rPr sz="800" b="0">
                <a:solidFill>
                  <a:srgbClr val="1A1A1A"/>
                </a:solidFill>
                <a:latin typeface="Hiragino Sans"/>
                <a:ea typeface="Hiragino Sans"/>
                <a:cs typeface="Hiragino Sans"/>
              </a:rPr>
              <a:t>MMM (Robyn / Meridian) の概要を説明可能</a:t>
            </a:r>
          </a:p>
        </p:txBody>
      </p:sp>
      <p:sp>
        <p:nvSpPr>
          <p:cNvPr id="50" name="Rounded Rectangle 49"/>
          <p:cNvSpPr/>
          <p:nvPr/>
        </p:nvSpPr>
        <p:spPr>
          <a:xfrm>
            <a:off x="7955280" y="3429000"/>
            <a:ext cx="3611880" cy="4572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092440" y="3520440"/>
            <a:ext cx="274320" cy="274320"/>
          </a:xfrm>
          <a:prstGeom prst="rect">
            <a:avLst/>
          </a:prstGeom>
          <a:noFill/>
        </p:spPr>
        <p:txBody>
          <a:bodyPr wrap="square" anchor="t" lIns="0" rIns="0" tIns="0" bIns="0">
            <a:spAutoFit/>
          </a:bodyPr>
          <a:lstStyle/>
          <a:p>
            <a:pPr algn="l">
              <a:lnSpc>
                <a:spcPct val="115000"/>
              </a:lnSpc>
            </a:pPr>
            <a:r>
              <a:rPr sz="1400" b="0">
                <a:solidFill>
                  <a:srgbClr val="E87722"/>
                </a:solidFill>
                <a:latin typeface="Hiragino Sans"/>
                <a:ea typeface="Hiragino Sans"/>
                <a:cs typeface="Hiragino Sans"/>
              </a:rPr>
              <a:t>☐</a:t>
            </a:r>
          </a:p>
        </p:txBody>
      </p:sp>
      <p:sp>
        <p:nvSpPr>
          <p:cNvPr id="52" name="TextBox 51"/>
          <p:cNvSpPr txBox="1"/>
          <p:nvPr/>
        </p:nvSpPr>
        <p:spPr>
          <a:xfrm>
            <a:off x="8366760" y="3566160"/>
            <a:ext cx="3108960" cy="274320"/>
          </a:xfrm>
          <a:prstGeom prst="rect">
            <a:avLst/>
          </a:prstGeom>
          <a:noFill/>
        </p:spPr>
        <p:txBody>
          <a:bodyPr wrap="square" anchor="t" lIns="0" rIns="0" tIns="0" bIns="0">
            <a:spAutoFit/>
          </a:bodyPr>
          <a:lstStyle/>
          <a:p>
            <a:pPr algn="l">
              <a:lnSpc>
                <a:spcPct val="140000"/>
              </a:lnSpc>
            </a:pPr>
            <a:r>
              <a:rPr sz="800" b="0">
                <a:solidFill>
                  <a:srgbClr val="1A1A1A"/>
                </a:solidFill>
                <a:latin typeface="Hiragino Sans"/>
                <a:ea typeface="Hiragino Sans"/>
                <a:cs typeface="Hiragino Sans"/>
              </a:rPr>
              <a:t>ChatGPT/Claude/Gemini の使い分け を理解</a:t>
            </a:r>
          </a:p>
        </p:txBody>
      </p:sp>
      <p:sp>
        <p:nvSpPr>
          <p:cNvPr id="53" name="Rounded Rectangle 52"/>
          <p:cNvSpPr/>
          <p:nvPr/>
        </p:nvSpPr>
        <p:spPr>
          <a:xfrm>
            <a:off x="548640" y="3931920"/>
            <a:ext cx="3611880" cy="4572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85800" y="4023360"/>
            <a:ext cx="274320" cy="274320"/>
          </a:xfrm>
          <a:prstGeom prst="rect">
            <a:avLst/>
          </a:prstGeom>
          <a:noFill/>
        </p:spPr>
        <p:txBody>
          <a:bodyPr wrap="square" anchor="t" lIns="0" rIns="0" tIns="0" bIns="0">
            <a:spAutoFit/>
          </a:bodyPr>
          <a:lstStyle/>
          <a:p>
            <a:pPr algn="l">
              <a:lnSpc>
                <a:spcPct val="115000"/>
              </a:lnSpc>
            </a:pPr>
            <a:r>
              <a:rPr sz="1400" b="0">
                <a:solidFill>
                  <a:srgbClr val="E87722"/>
                </a:solidFill>
                <a:latin typeface="Hiragino Sans"/>
                <a:ea typeface="Hiragino Sans"/>
                <a:cs typeface="Hiragino Sans"/>
              </a:rPr>
              <a:t>☐</a:t>
            </a:r>
          </a:p>
        </p:txBody>
      </p:sp>
      <p:sp>
        <p:nvSpPr>
          <p:cNvPr id="55" name="TextBox 54"/>
          <p:cNvSpPr txBox="1"/>
          <p:nvPr/>
        </p:nvSpPr>
        <p:spPr>
          <a:xfrm>
            <a:off x="960120" y="4069080"/>
            <a:ext cx="3108960" cy="274320"/>
          </a:xfrm>
          <a:prstGeom prst="rect">
            <a:avLst/>
          </a:prstGeom>
          <a:noFill/>
        </p:spPr>
        <p:txBody>
          <a:bodyPr wrap="square" anchor="t" lIns="0" rIns="0" tIns="0" bIns="0">
            <a:spAutoFit/>
          </a:bodyPr>
          <a:lstStyle/>
          <a:p>
            <a:pPr algn="l">
              <a:lnSpc>
                <a:spcPct val="140000"/>
              </a:lnSpc>
            </a:pPr>
            <a:r>
              <a:rPr sz="800" b="0">
                <a:solidFill>
                  <a:srgbClr val="1A1A1A"/>
                </a:solidFill>
                <a:latin typeface="Hiragino Sans"/>
                <a:ea typeface="Hiragino Sans"/>
                <a:cs typeface="Hiragino Sans"/>
              </a:rPr>
              <a:t>Midjourney + Sora 2 で 1案件分のクリエイティブ量産可</a:t>
            </a:r>
          </a:p>
        </p:txBody>
      </p:sp>
      <p:sp>
        <p:nvSpPr>
          <p:cNvPr id="56" name="Rounded Rectangle 55"/>
          <p:cNvSpPr/>
          <p:nvPr/>
        </p:nvSpPr>
        <p:spPr>
          <a:xfrm>
            <a:off x="4251960" y="3931920"/>
            <a:ext cx="3611880" cy="4572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389120" y="4023360"/>
            <a:ext cx="274320" cy="274320"/>
          </a:xfrm>
          <a:prstGeom prst="rect">
            <a:avLst/>
          </a:prstGeom>
          <a:noFill/>
        </p:spPr>
        <p:txBody>
          <a:bodyPr wrap="square" anchor="t" lIns="0" rIns="0" tIns="0" bIns="0">
            <a:spAutoFit/>
          </a:bodyPr>
          <a:lstStyle/>
          <a:p>
            <a:pPr algn="l">
              <a:lnSpc>
                <a:spcPct val="115000"/>
              </a:lnSpc>
            </a:pPr>
            <a:r>
              <a:rPr sz="1400" b="0">
                <a:solidFill>
                  <a:srgbClr val="E87722"/>
                </a:solidFill>
                <a:latin typeface="Hiragino Sans"/>
                <a:ea typeface="Hiragino Sans"/>
                <a:cs typeface="Hiragino Sans"/>
              </a:rPr>
              <a:t>☐</a:t>
            </a:r>
          </a:p>
        </p:txBody>
      </p:sp>
      <p:sp>
        <p:nvSpPr>
          <p:cNvPr id="58" name="TextBox 57"/>
          <p:cNvSpPr txBox="1"/>
          <p:nvPr/>
        </p:nvSpPr>
        <p:spPr>
          <a:xfrm>
            <a:off x="4663440" y="4069080"/>
            <a:ext cx="3108960" cy="274320"/>
          </a:xfrm>
          <a:prstGeom prst="rect">
            <a:avLst/>
          </a:prstGeom>
          <a:noFill/>
        </p:spPr>
        <p:txBody>
          <a:bodyPr wrap="square" anchor="t" lIns="0" rIns="0" tIns="0" bIns="0">
            <a:spAutoFit/>
          </a:bodyPr>
          <a:lstStyle/>
          <a:p>
            <a:pPr algn="l">
              <a:lnSpc>
                <a:spcPct val="140000"/>
              </a:lnSpc>
            </a:pPr>
            <a:r>
              <a:rPr sz="800" b="0">
                <a:solidFill>
                  <a:srgbClr val="1A1A1A"/>
                </a:solidFill>
                <a:latin typeface="Hiragino Sans"/>
                <a:ea typeface="Hiragino Sans"/>
                <a:cs typeface="Hiragino Sans"/>
              </a:rPr>
              <a:t>Symphony Creative Studio で TikTok 動画自動生成</a:t>
            </a:r>
          </a:p>
        </p:txBody>
      </p:sp>
      <p:sp>
        <p:nvSpPr>
          <p:cNvPr id="59" name="Rounded Rectangle 58"/>
          <p:cNvSpPr/>
          <p:nvPr/>
        </p:nvSpPr>
        <p:spPr>
          <a:xfrm>
            <a:off x="7955280" y="3931920"/>
            <a:ext cx="3611880" cy="4572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092440" y="4023360"/>
            <a:ext cx="274320" cy="274320"/>
          </a:xfrm>
          <a:prstGeom prst="rect">
            <a:avLst/>
          </a:prstGeom>
          <a:noFill/>
        </p:spPr>
        <p:txBody>
          <a:bodyPr wrap="square" anchor="t" lIns="0" rIns="0" tIns="0" bIns="0">
            <a:spAutoFit/>
          </a:bodyPr>
          <a:lstStyle/>
          <a:p>
            <a:pPr algn="l">
              <a:lnSpc>
                <a:spcPct val="115000"/>
              </a:lnSpc>
            </a:pPr>
            <a:r>
              <a:rPr sz="1400" b="0">
                <a:solidFill>
                  <a:srgbClr val="E87722"/>
                </a:solidFill>
                <a:latin typeface="Hiragino Sans"/>
                <a:ea typeface="Hiragino Sans"/>
                <a:cs typeface="Hiragino Sans"/>
              </a:rPr>
              <a:t>☐</a:t>
            </a:r>
          </a:p>
        </p:txBody>
      </p:sp>
      <p:sp>
        <p:nvSpPr>
          <p:cNvPr id="61" name="TextBox 60"/>
          <p:cNvSpPr txBox="1"/>
          <p:nvPr/>
        </p:nvSpPr>
        <p:spPr>
          <a:xfrm>
            <a:off x="8366760" y="4069080"/>
            <a:ext cx="3108960" cy="274320"/>
          </a:xfrm>
          <a:prstGeom prst="rect">
            <a:avLst/>
          </a:prstGeom>
          <a:noFill/>
        </p:spPr>
        <p:txBody>
          <a:bodyPr wrap="square" anchor="t" lIns="0" rIns="0" tIns="0" bIns="0">
            <a:spAutoFit/>
          </a:bodyPr>
          <a:lstStyle/>
          <a:p>
            <a:pPr algn="l">
              <a:lnSpc>
                <a:spcPct val="140000"/>
              </a:lnSpc>
            </a:pPr>
            <a:r>
              <a:rPr sz="800" b="0">
                <a:solidFill>
                  <a:srgbClr val="1A1A1A"/>
                </a:solidFill>
                <a:latin typeface="Hiragino Sans"/>
                <a:ea typeface="Hiragino Sans"/>
                <a:cs typeface="Hiragino Sans"/>
              </a:rPr>
              <a:t>Agent型運用 (Claude Computer Use等) の3レイヤー理解</a:t>
            </a:r>
          </a:p>
        </p:txBody>
      </p:sp>
      <p:sp>
        <p:nvSpPr>
          <p:cNvPr id="62" name="Rounded Rectangle 61"/>
          <p:cNvSpPr/>
          <p:nvPr/>
        </p:nvSpPr>
        <p:spPr>
          <a:xfrm>
            <a:off x="548640" y="4434840"/>
            <a:ext cx="3611880" cy="4572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85800" y="4526280"/>
            <a:ext cx="274320" cy="274320"/>
          </a:xfrm>
          <a:prstGeom prst="rect">
            <a:avLst/>
          </a:prstGeom>
          <a:noFill/>
        </p:spPr>
        <p:txBody>
          <a:bodyPr wrap="square" anchor="t" lIns="0" rIns="0" tIns="0" bIns="0">
            <a:spAutoFit/>
          </a:bodyPr>
          <a:lstStyle/>
          <a:p>
            <a:pPr algn="l">
              <a:lnSpc>
                <a:spcPct val="115000"/>
              </a:lnSpc>
            </a:pPr>
            <a:r>
              <a:rPr sz="1400" b="0">
                <a:solidFill>
                  <a:srgbClr val="E87722"/>
                </a:solidFill>
                <a:latin typeface="Hiragino Sans"/>
                <a:ea typeface="Hiragino Sans"/>
                <a:cs typeface="Hiragino Sans"/>
              </a:rPr>
              <a:t>☐</a:t>
            </a:r>
          </a:p>
        </p:txBody>
      </p:sp>
      <p:sp>
        <p:nvSpPr>
          <p:cNvPr id="64" name="TextBox 63"/>
          <p:cNvSpPr txBox="1"/>
          <p:nvPr/>
        </p:nvSpPr>
        <p:spPr>
          <a:xfrm>
            <a:off x="960120" y="4572000"/>
            <a:ext cx="3108960" cy="274320"/>
          </a:xfrm>
          <a:prstGeom prst="rect">
            <a:avLst/>
          </a:prstGeom>
          <a:noFill/>
        </p:spPr>
        <p:txBody>
          <a:bodyPr wrap="square" anchor="t" lIns="0" rIns="0" tIns="0" bIns="0">
            <a:spAutoFit/>
          </a:bodyPr>
          <a:lstStyle/>
          <a:p>
            <a:pPr algn="l">
              <a:lnSpc>
                <a:spcPct val="140000"/>
              </a:lnSpc>
            </a:pPr>
            <a:r>
              <a:rPr sz="800" b="0">
                <a:solidFill>
                  <a:srgbClr val="1A1A1A"/>
                </a:solidFill>
                <a:latin typeface="Hiragino Sans"/>
                <a:ea typeface="Hiragino Sans"/>
                <a:cs typeface="Hiragino Sans"/>
              </a:rPr>
              <a:t>AI Analytics (GA4 Insights / Conversational) を活用可</a:t>
            </a:r>
          </a:p>
        </p:txBody>
      </p:sp>
      <p:sp>
        <p:nvSpPr>
          <p:cNvPr id="65" name="Rounded Rectangle 64"/>
          <p:cNvSpPr/>
          <p:nvPr/>
        </p:nvSpPr>
        <p:spPr>
          <a:xfrm>
            <a:off x="4251960" y="4434840"/>
            <a:ext cx="3611880" cy="4572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4389120" y="4526280"/>
            <a:ext cx="274320" cy="274320"/>
          </a:xfrm>
          <a:prstGeom prst="rect">
            <a:avLst/>
          </a:prstGeom>
          <a:noFill/>
        </p:spPr>
        <p:txBody>
          <a:bodyPr wrap="square" anchor="t" lIns="0" rIns="0" tIns="0" bIns="0">
            <a:spAutoFit/>
          </a:bodyPr>
          <a:lstStyle/>
          <a:p>
            <a:pPr algn="l">
              <a:lnSpc>
                <a:spcPct val="115000"/>
              </a:lnSpc>
            </a:pPr>
            <a:r>
              <a:rPr sz="1400" b="0">
                <a:solidFill>
                  <a:srgbClr val="E87722"/>
                </a:solidFill>
                <a:latin typeface="Hiragino Sans"/>
                <a:ea typeface="Hiragino Sans"/>
                <a:cs typeface="Hiragino Sans"/>
              </a:rPr>
              <a:t>☐</a:t>
            </a:r>
          </a:p>
        </p:txBody>
      </p:sp>
      <p:sp>
        <p:nvSpPr>
          <p:cNvPr id="67" name="TextBox 66"/>
          <p:cNvSpPr txBox="1"/>
          <p:nvPr/>
        </p:nvSpPr>
        <p:spPr>
          <a:xfrm>
            <a:off x="4663440" y="4572000"/>
            <a:ext cx="3108960" cy="274320"/>
          </a:xfrm>
          <a:prstGeom prst="rect">
            <a:avLst/>
          </a:prstGeom>
          <a:noFill/>
        </p:spPr>
        <p:txBody>
          <a:bodyPr wrap="square" anchor="t" lIns="0" rIns="0" tIns="0" bIns="0">
            <a:spAutoFit/>
          </a:bodyPr>
          <a:lstStyle/>
          <a:p>
            <a:pPr algn="l">
              <a:lnSpc>
                <a:spcPct val="140000"/>
              </a:lnSpc>
            </a:pPr>
            <a:r>
              <a:rPr sz="800" b="0">
                <a:solidFill>
                  <a:srgbClr val="1A1A1A"/>
                </a:solidFill>
                <a:latin typeface="Hiragino Sans"/>
                <a:ea typeface="Hiragino Sans"/>
                <a:cs typeface="Hiragino Sans"/>
              </a:rPr>
              <a:t>プロンプトテンプレ (戦略/ブリーフ/レポート/Neg KW) を保有</a:t>
            </a:r>
          </a:p>
        </p:txBody>
      </p:sp>
      <p:sp>
        <p:nvSpPr>
          <p:cNvPr id="68" name="Rounded Rectangle 67"/>
          <p:cNvSpPr/>
          <p:nvPr/>
        </p:nvSpPr>
        <p:spPr>
          <a:xfrm>
            <a:off x="7955280" y="4434840"/>
            <a:ext cx="3611880" cy="4572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092440" y="4526280"/>
            <a:ext cx="274320" cy="274320"/>
          </a:xfrm>
          <a:prstGeom prst="rect">
            <a:avLst/>
          </a:prstGeom>
          <a:noFill/>
        </p:spPr>
        <p:txBody>
          <a:bodyPr wrap="square" anchor="t" lIns="0" rIns="0" tIns="0" bIns="0">
            <a:spAutoFit/>
          </a:bodyPr>
          <a:lstStyle/>
          <a:p>
            <a:pPr algn="l">
              <a:lnSpc>
                <a:spcPct val="115000"/>
              </a:lnSpc>
            </a:pPr>
            <a:r>
              <a:rPr sz="1400" b="0">
                <a:solidFill>
                  <a:srgbClr val="E87722"/>
                </a:solidFill>
                <a:latin typeface="Hiragino Sans"/>
                <a:ea typeface="Hiragino Sans"/>
                <a:cs typeface="Hiragino Sans"/>
              </a:rPr>
              <a:t>☐</a:t>
            </a:r>
          </a:p>
        </p:txBody>
      </p:sp>
      <p:sp>
        <p:nvSpPr>
          <p:cNvPr id="70" name="TextBox 69"/>
          <p:cNvSpPr txBox="1"/>
          <p:nvPr/>
        </p:nvSpPr>
        <p:spPr>
          <a:xfrm>
            <a:off x="8366760" y="4572000"/>
            <a:ext cx="3108960" cy="274320"/>
          </a:xfrm>
          <a:prstGeom prst="rect">
            <a:avLst/>
          </a:prstGeom>
          <a:noFill/>
        </p:spPr>
        <p:txBody>
          <a:bodyPr wrap="square" anchor="t" lIns="0" rIns="0" tIns="0" bIns="0">
            <a:spAutoFit/>
          </a:bodyPr>
          <a:lstStyle/>
          <a:p>
            <a:pPr algn="l">
              <a:lnSpc>
                <a:spcPct val="140000"/>
              </a:lnSpc>
            </a:pPr>
            <a:r>
              <a:rPr sz="800" b="0">
                <a:solidFill>
                  <a:srgbClr val="1A1A1A"/>
                </a:solidFill>
                <a:latin typeface="Hiragino Sans"/>
                <a:ea typeface="Hiragino Sans"/>
                <a:cs typeface="Hiragino Sans"/>
              </a:rPr>
              <a:t>ステマ規制 (2023/10/01) の事業者責任を理解</a:t>
            </a:r>
          </a:p>
        </p:txBody>
      </p:sp>
      <p:sp>
        <p:nvSpPr>
          <p:cNvPr id="71" name="Rounded Rectangle 70"/>
          <p:cNvSpPr/>
          <p:nvPr/>
        </p:nvSpPr>
        <p:spPr>
          <a:xfrm>
            <a:off x="548640" y="4937760"/>
            <a:ext cx="3611880" cy="4572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85800" y="5029200"/>
            <a:ext cx="274320" cy="274320"/>
          </a:xfrm>
          <a:prstGeom prst="rect">
            <a:avLst/>
          </a:prstGeom>
          <a:noFill/>
        </p:spPr>
        <p:txBody>
          <a:bodyPr wrap="square" anchor="t" lIns="0" rIns="0" tIns="0" bIns="0">
            <a:spAutoFit/>
          </a:bodyPr>
          <a:lstStyle/>
          <a:p>
            <a:pPr algn="l">
              <a:lnSpc>
                <a:spcPct val="115000"/>
              </a:lnSpc>
            </a:pPr>
            <a:r>
              <a:rPr sz="1400" b="0">
                <a:solidFill>
                  <a:srgbClr val="E87722"/>
                </a:solidFill>
                <a:latin typeface="Hiragino Sans"/>
                <a:ea typeface="Hiragino Sans"/>
                <a:cs typeface="Hiragino Sans"/>
              </a:rPr>
              <a:t>☐</a:t>
            </a:r>
          </a:p>
        </p:txBody>
      </p:sp>
      <p:sp>
        <p:nvSpPr>
          <p:cNvPr id="73" name="TextBox 72"/>
          <p:cNvSpPr txBox="1"/>
          <p:nvPr/>
        </p:nvSpPr>
        <p:spPr>
          <a:xfrm>
            <a:off x="960120" y="5074920"/>
            <a:ext cx="3108960" cy="274320"/>
          </a:xfrm>
          <a:prstGeom prst="rect">
            <a:avLst/>
          </a:prstGeom>
          <a:noFill/>
        </p:spPr>
        <p:txBody>
          <a:bodyPr wrap="square" anchor="t" lIns="0" rIns="0" tIns="0" bIns="0">
            <a:spAutoFit/>
          </a:bodyPr>
          <a:lstStyle/>
          <a:p>
            <a:pPr algn="l">
              <a:lnSpc>
                <a:spcPct val="140000"/>
              </a:lnSpc>
            </a:pPr>
            <a:r>
              <a:rPr sz="800" b="0">
                <a:solidFill>
                  <a:srgbClr val="1A1A1A"/>
                </a:solidFill>
                <a:latin typeface="Hiragino Sans"/>
                <a:ea typeface="Hiragino Sans"/>
                <a:cs typeface="Hiragino Sans"/>
              </a:rPr>
              <a:t>EU DSA (2024/02/17) と日本配信時の影響を把握</a:t>
            </a:r>
          </a:p>
        </p:txBody>
      </p:sp>
      <p:sp>
        <p:nvSpPr>
          <p:cNvPr id="74" name="Rounded Rectangle 73"/>
          <p:cNvSpPr/>
          <p:nvPr/>
        </p:nvSpPr>
        <p:spPr>
          <a:xfrm>
            <a:off x="4251960" y="4937760"/>
            <a:ext cx="3611880" cy="4572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4389120" y="5029200"/>
            <a:ext cx="274320" cy="274320"/>
          </a:xfrm>
          <a:prstGeom prst="rect">
            <a:avLst/>
          </a:prstGeom>
          <a:noFill/>
        </p:spPr>
        <p:txBody>
          <a:bodyPr wrap="square" anchor="t" lIns="0" rIns="0" tIns="0" bIns="0">
            <a:spAutoFit/>
          </a:bodyPr>
          <a:lstStyle/>
          <a:p>
            <a:pPr algn="l">
              <a:lnSpc>
                <a:spcPct val="115000"/>
              </a:lnSpc>
            </a:pPr>
            <a:r>
              <a:rPr sz="1400" b="0">
                <a:solidFill>
                  <a:srgbClr val="E87722"/>
                </a:solidFill>
                <a:latin typeface="Hiragino Sans"/>
                <a:ea typeface="Hiragino Sans"/>
                <a:cs typeface="Hiragino Sans"/>
              </a:rPr>
              <a:t>☐</a:t>
            </a:r>
          </a:p>
        </p:txBody>
      </p:sp>
      <p:sp>
        <p:nvSpPr>
          <p:cNvPr id="76" name="TextBox 75"/>
          <p:cNvSpPr txBox="1"/>
          <p:nvPr/>
        </p:nvSpPr>
        <p:spPr>
          <a:xfrm>
            <a:off x="4663440" y="5074920"/>
            <a:ext cx="3108960" cy="274320"/>
          </a:xfrm>
          <a:prstGeom prst="rect">
            <a:avLst/>
          </a:prstGeom>
          <a:noFill/>
        </p:spPr>
        <p:txBody>
          <a:bodyPr wrap="square" anchor="t" lIns="0" rIns="0" tIns="0" bIns="0">
            <a:spAutoFit/>
          </a:bodyPr>
          <a:lstStyle/>
          <a:p>
            <a:pPr algn="l">
              <a:lnSpc>
                <a:spcPct val="140000"/>
              </a:lnSpc>
            </a:pPr>
            <a:r>
              <a:rPr sz="800" b="0">
                <a:solidFill>
                  <a:srgbClr val="1A1A1A"/>
                </a:solidFill>
                <a:latin typeface="Hiragino Sans"/>
                <a:ea typeface="Hiragino Sans"/>
                <a:cs typeface="Hiragino Sans"/>
              </a:rPr>
              <a:t>LINEヤフー広告統合 (2026春) のクライアント説明可</a:t>
            </a:r>
          </a:p>
        </p:txBody>
      </p:sp>
      <p:sp>
        <p:nvSpPr>
          <p:cNvPr id="77" name="Rounded Rectangle 76"/>
          <p:cNvSpPr/>
          <p:nvPr/>
        </p:nvSpPr>
        <p:spPr>
          <a:xfrm>
            <a:off x="7955280" y="4937760"/>
            <a:ext cx="3611880" cy="4572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8092440" y="5029200"/>
            <a:ext cx="274320" cy="274320"/>
          </a:xfrm>
          <a:prstGeom prst="rect">
            <a:avLst/>
          </a:prstGeom>
          <a:noFill/>
        </p:spPr>
        <p:txBody>
          <a:bodyPr wrap="square" anchor="t" lIns="0" rIns="0" tIns="0" bIns="0">
            <a:spAutoFit/>
          </a:bodyPr>
          <a:lstStyle/>
          <a:p>
            <a:pPr algn="l">
              <a:lnSpc>
                <a:spcPct val="115000"/>
              </a:lnSpc>
            </a:pPr>
            <a:r>
              <a:rPr sz="1400" b="0">
                <a:solidFill>
                  <a:srgbClr val="E87722"/>
                </a:solidFill>
                <a:latin typeface="Hiragino Sans"/>
                <a:ea typeface="Hiragino Sans"/>
                <a:cs typeface="Hiragino Sans"/>
              </a:rPr>
              <a:t>☐</a:t>
            </a:r>
          </a:p>
        </p:txBody>
      </p:sp>
      <p:sp>
        <p:nvSpPr>
          <p:cNvPr id="79" name="TextBox 78"/>
          <p:cNvSpPr txBox="1"/>
          <p:nvPr/>
        </p:nvSpPr>
        <p:spPr>
          <a:xfrm>
            <a:off x="8366760" y="5074920"/>
            <a:ext cx="3108960" cy="274320"/>
          </a:xfrm>
          <a:prstGeom prst="rect">
            <a:avLst/>
          </a:prstGeom>
          <a:noFill/>
        </p:spPr>
        <p:txBody>
          <a:bodyPr wrap="square" anchor="t" lIns="0" rIns="0" tIns="0" bIns="0">
            <a:spAutoFit/>
          </a:bodyPr>
          <a:lstStyle/>
          <a:p>
            <a:pPr algn="l">
              <a:lnSpc>
                <a:spcPct val="140000"/>
              </a:lnSpc>
            </a:pPr>
            <a:r>
              <a:rPr sz="800" b="0">
                <a:solidFill>
                  <a:srgbClr val="1A1A1A"/>
                </a:solidFill>
                <a:latin typeface="Hiragino Sans"/>
                <a:ea typeface="Hiragino Sans"/>
                <a:cs typeface="Hiragino Sans"/>
              </a:rPr>
              <a:t>Tier 1 (SMB) で月3-5万円の代行料設定可能</a:t>
            </a:r>
          </a:p>
        </p:txBody>
      </p:sp>
      <p:sp>
        <p:nvSpPr>
          <p:cNvPr id="80" name="Rounded Rectangle 79"/>
          <p:cNvSpPr/>
          <p:nvPr/>
        </p:nvSpPr>
        <p:spPr>
          <a:xfrm>
            <a:off x="548640" y="5440680"/>
            <a:ext cx="3611880" cy="4572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685800" y="5532120"/>
            <a:ext cx="274320" cy="274320"/>
          </a:xfrm>
          <a:prstGeom prst="rect">
            <a:avLst/>
          </a:prstGeom>
          <a:noFill/>
        </p:spPr>
        <p:txBody>
          <a:bodyPr wrap="square" anchor="t" lIns="0" rIns="0" tIns="0" bIns="0">
            <a:spAutoFit/>
          </a:bodyPr>
          <a:lstStyle/>
          <a:p>
            <a:pPr algn="l">
              <a:lnSpc>
                <a:spcPct val="115000"/>
              </a:lnSpc>
            </a:pPr>
            <a:r>
              <a:rPr sz="1400" b="0">
                <a:solidFill>
                  <a:srgbClr val="E87722"/>
                </a:solidFill>
                <a:latin typeface="Hiragino Sans"/>
                <a:ea typeface="Hiragino Sans"/>
                <a:cs typeface="Hiragino Sans"/>
              </a:rPr>
              <a:t>☐</a:t>
            </a:r>
          </a:p>
        </p:txBody>
      </p:sp>
      <p:sp>
        <p:nvSpPr>
          <p:cNvPr id="82" name="TextBox 81"/>
          <p:cNvSpPr txBox="1"/>
          <p:nvPr/>
        </p:nvSpPr>
        <p:spPr>
          <a:xfrm>
            <a:off x="960120" y="5577840"/>
            <a:ext cx="3108960" cy="274320"/>
          </a:xfrm>
          <a:prstGeom prst="rect">
            <a:avLst/>
          </a:prstGeom>
          <a:noFill/>
        </p:spPr>
        <p:txBody>
          <a:bodyPr wrap="square" anchor="t" lIns="0" rIns="0" tIns="0" bIns="0">
            <a:spAutoFit/>
          </a:bodyPr>
          <a:lstStyle/>
          <a:p>
            <a:pPr algn="l">
              <a:lnSpc>
                <a:spcPct val="140000"/>
              </a:lnSpc>
            </a:pPr>
            <a:r>
              <a:rPr sz="800" b="0">
                <a:solidFill>
                  <a:srgbClr val="1A1A1A"/>
                </a:solidFill>
                <a:latin typeface="Hiragino Sans"/>
                <a:ea typeface="Hiragino Sans"/>
                <a:cs typeface="Hiragino Sans"/>
              </a:rPr>
              <a:t>30日プラン (Day0-3 / 3-5 / 5-7 / Wk2-4) で進行可能</a:t>
            </a:r>
          </a:p>
        </p:txBody>
      </p:sp>
      <p:sp>
        <p:nvSpPr>
          <p:cNvPr id="83" name="Rounded Rectangle 82"/>
          <p:cNvSpPr/>
          <p:nvPr/>
        </p:nvSpPr>
        <p:spPr>
          <a:xfrm>
            <a:off x="4251960" y="5440680"/>
            <a:ext cx="3611880" cy="4572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4389120" y="5532120"/>
            <a:ext cx="274320" cy="274320"/>
          </a:xfrm>
          <a:prstGeom prst="rect">
            <a:avLst/>
          </a:prstGeom>
          <a:noFill/>
        </p:spPr>
        <p:txBody>
          <a:bodyPr wrap="square" anchor="t" lIns="0" rIns="0" tIns="0" bIns="0">
            <a:spAutoFit/>
          </a:bodyPr>
          <a:lstStyle/>
          <a:p>
            <a:pPr algn="l">
              <a:lnSpc>
                <a:spcPct val="115000"/>
              </a:lnSpc>
            </a:pPr>
            <a:r>
              <a:rPr sz="1400" b="0">
                <a:solidFill>
                  <a:srgbClr val="E87722"/>
                </a:solidFill>
                <a:latin typeface="Hiragino Sans"/>
                <a:ea typeface="Hiragino Sans"/>
                <a:cs typeface="Hiragino Sans"/>
              </a:rPr>
              <a:t>☐</a:t>
            </a:r>
          </a:p>
        </p:txBody>
      </p:sp>
      <p:sp>
        <p:nvSpPr>
          <p:cNvPr id="85" name="TextBox 84"/>
          <p:cNvSpPr txBox="1"/>
          <p:nvPr/>
        </p:nvSpPr>
        <p:spPr>
          <a:xfrm>
            <a:off x="4663440" y="5577840"/>
            <a:ext cx="3108960" cy="274320"/>
          </a:xfrm>
          <a:prstGeom prst="rect">
            <a:avLst/>
          </a:prstGeom>
          <a:noFill/>
        </p:spPr>
        <p:txBody>
          <a:bodyPr wrap="square" anchor="t" lIns="0" rIns="0" tIns="0" bIns="0">
            <a:spAutoFit/>
          </a:bodyPr>
          <a:lstStyle/>
          <a:p>
            <a:pPr algn="l">
              <a:lnSpc>
                <a:spcPct val="140000"/>
              </a:lnSpc>
            </a:pPr>
            <a:r>
              <a:rPr sz="800" b="0">
                <a:solidFill>
                  <a:srgbClr val="1A1A1A"/>
                </a:solidFill>
                <a:latin typeface="Hiragino Sans"/>
                <a:ea typeface="Hiragino Sans"/>
                <a:cs typeface="Hiragino Sans"/>
              </a:rPr>
              <a:t>L3 (HP制作+広告運用初月10万円) を96時間納品可能</a:t>
            </a:r>
          </a:p>
        </p:txBody>
      </p:sp>
      <p:sp>
        <p:nvSpPr>
          <p:cNvPr id="86" name="Rounded Rectangle 85"/>
          <p:cNvSpPr/>
          <p:nvPr/>
        </p:nvSpPr>
        <p:spPr>
          <a:xfrm>
            <a:off x="7955280" y="5440680"/>
            <a:ext cx="3611880" cy="4572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8092440" y="5532120"/>
            <a:ext cx="274320" cy="274320"/>
          </a:xfrm>
          <a:prstGeom prst="rect">
            <a:avLst/>
          </a:prstGeom>
          <a:noFill/>
        </p:spPr>
        <p:txBody>
          <a:bodyPr wrap="square" anchor="t" lIns="0" rIns="0" tIns="0" bIns="0">
            <a:spAutoFit/>
          </a:bodyPr>
          <a:lstStyle/>
          <a:p>
            <a:pPr algn="l">
              <a:lnSpc>
                <a:spcPct val="115000"/>
              </a:lnSpc>
            </a:pPr>
            <a:r>
              <a:rPr sz="1400" b="0">
                <a:solidFill>
                  <a:srgbClr val="E87722"/>
                </a:solidFill>
                <a:latin typeface="Hiragino Sans"/>
                <a:ea typeface="Hiragino Sans"/>
                <a:cs typeface="Hiragino Sans"/>
              </a:rPr>
              <a:t>☐</a:t>
            </a:r>
          </a:p>
        </p:txBody>
      </p:sp>
      <p:sp>
        <p:nvSpPr>
          <p:cNvPr id="88" name="TextBox 87"/>
          <p:cNvSpPr txBox="1"/>
          <p:nvPr/>
        </p:nvSpPr>
        <p:spPr>
          <a:xfrm>
            <a:off x="8366760" y="5577840"/>
            <a:ext cx="3108960" cy="274320"/>
          </a:xfrm>
          <a:prstGeom prst="rect">
            <a:avLst/>
          </a:prstGeom>
          <a:noFill/>
        </p:spPr>
        <p:txBody>
          <a:bodyPr wrap="square" anchor="t" lIns="0" rIns="0" tIns="0" bIns="0">
            <a:spAutoFit/>
          </a:bodyPr>
          <a:lstStyle/>
          <a:p>
            <a:pPr algn="l">
              <a:lnSpc>
                <a:spcPct val="140000"/>
              </a:lnSpc>
            </a:pPr>
            <a:r>
              <a:rPr sz="800" b="0">
                <a:solidFill>
                  <a:srgbClr val="1A1A1A"/>
                </a:solidFill>
                <a:latin typeface="Hiragino Sans"/>
                <a:ea typeface="Hiragino Sans"/>
                <a:cs typeface="Hiragino Sans"/>
              </a:rPr>
              <a:t>BigQuery + Looker Studio でレポート効率化</a:t>
            </a:r>
          </a:p>
        </p:txBody>
      </p:sp>
      <p:sp>
        <p:nvSpPr>
          <p:cNvPr id="89" name="Rounded Rectangle 88"/>
          <p:cNvSpPr/>
          <p:nvPr/>
        </p:nvSpPr>
        <p:spPr>
          <a:xfrm>
            <a:off x="548640" y="5943600"/>
            <a:ext cx="3611880" cy="4572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685800" y="6035040"/>
            <a:ext cx="274320" cy="274320"/>
          </a:xfrm>
          <a:prstGeom prst="rect">
            <a:avLst/>
          </a:prstGeom>
          <a:noFill/>
        </p:spPr>
        <p:txBody>
          <a:bodyPr wrap="square" anchor="t" lIns="0" rIns="0" tIns="0" bIns="0">
            <a:spAutoFit/>
          </a:bodyPr>
          <a:lstStyle/>
          <a:p>
            <a:pPr algn="l">
              <a:lnSpc>
                <a:spcPct val="115000"/>
              </a:lnSpc>
            </a:pPr>
            <a:r>
              <a:rPr sz="1400" b="0">
                <a:solidFill>
                  <a:srgbClr val="E87722"/>
                </a:solidFill>
                <a:latin typeface="Hiragino Sans"/>
                <a:ea typeface="Hiragino Sans"/>
                <a:cs typeface="Hiragino Sans"/>
              </a:rPr>
              <a:t>☐</a:t>
            </a:r>
          </a:p>
        </p:txBody>
      </p:sp>
      <p:sp>
        <p:nvSpPr>
          <p:cNvPr id="91" name="TextBox 90"/>
          <p:cNvSpPr txBox="1"/>
          <p:nvPr/>
        </p:nvSpPr>
        <p:spPr>
          <a:xfrm>
            <a:off x="960120" y="6080760"/>
            <a:ext cx="3108960" cy="274320"/>
          </a:xfrm>
          <a:prstGeom prst="rect">
            <a:avLst/>
          </a:prstGeom>
          <a:noFill/>
        </p:spPr>
        <p:txBody>
          <a:bodyPr wrap="square" anchor="t" lIns="0" rIns="0" tIns="0" bIns="0">
            <a:spAutoFit/>
          </a:bodyPr>
          <a:lstStyle/>
          <a:p>
            <a:pPr algn="l">
              <a:lnSpc>
                <a:spcPct val="140000"/>
              </a:lnSpc>
            </a:pPr>
            <a:r>
              <a:rPr sz="800" b="0">
                <a:solidFill>
                  <a:srgbClr val="1A1A1A"/>
                </a:solidFill>
                <a:latin typeface="Hiragino Sans"/>
                <a:ea typeface="Hiragino Sans"/>
                <a:cs typeface="Hiragino Sans"/>
              </a:rPr>
              <a:t>業界情報源 (英語/日本語) を週次でチェック</a:t>
            </a:r>
          </a:p>
        </p:txBody>
      </p:sp>
      <p:sp>
        <p:nvSpPr>
          <p:cNvPr id="92" name="Rounded Rectangle 91"/>
          <p:cNvSpPr/>
          <p:nvPr/>
        </p:nvSpPr>
        <p:spPr>
          <a:xfrm>
            <a:off x="4251960" y="5943600"/>
            <a:ext cx="3611880" cy="4572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4389120" y="6035040"/>
            <a:ext cx="274320" cy="274320"/>
          </a:xfrm>
          <a:prstGeom prst="rect">
            <a:avLst/>
          </a:prstGeom>
          <a:noFill/>
        </p:spPr>
        <p:txBody>
          <a:bodyPr wrap="square" anchor="t" lIns="0" rIns="0" tIns="0" bIns="0">
            <a:spAutoFit/>
          </a:bodyPr>
          <a:lstStyle/>
          <a:p>
            <a:pPr algn="l">
              <a:lnSpc>
                <a:spcPct val="115000"/>
              </a:lnSpc>
            </a:pPr>
            <a:r>
              <a:rPr sz="1400" b="0">
                <a:solidFill>
                  <a:srgbClr val="E87722"/>
                </a:solidFill>
                <a:latin typeface="Hiragino Sans"/>
                <a:ea typeface="Hiragino Sans"/>
                <a:cs typeface="Hiragino Sans"/>
              </a:rPr>
              <a:t>☐</a:t>
            </a:r>
          </a:p>
        </p:txBody>
      </p:sp>
      <p:sp>
        <p:nvSpPr>
          <p:cNvPr id="94" name="TextBox 93"/>
          <p:cNvSpPr txBox="1"/>
          <p:nvPr/>
        </p:nvSpPr>
        <p:spPr>
          <a:xfrm>
            <a:off x="4663440" y="6080760"/>
            <a:ext cx="3108960" cy="274320"/>
          </a:xfrm>
          <a:prstGeom prst="rect">
            <a:avLst/>
          </a:prstGeom>
          <a:noFill/>
        </p:spPr>
        <p:txBody>
          <a:bodyPr wrap="square" anchor="t" lIns="0" rIns="0" tIns="0" bIns="0">
            <a:spAutoFit/>
          </a:bodyPr>
          <a:lstStyle/>
          <a:p>
            <a:pPr algn="l">
              <a:lnSpc>
                <a:spcPct val="140000"/>
              </a:lnSpc>
            </a:pPr>
            <a:r>
              <a:rPr sz="800" b="0">
                <a:solidFill>
                  <a:srgbClr val="1A1A1A"/>
                </a:solidFill>
                <a:latin typeface="Hiragino Sans"/>
                <a:ea typeface="Hiragino Sans"/>
                <a:cs typeface="Hiragino Sans"/>
              </a:rPr>
              <a:t>Lift Test 結果から Incremental ROAS を提示可能</a:t>
            </a:r>
          </a:p>
        </p:txBody>
      </p:sp>
      <p:sp>
        <p:nvSpPr>
          <p:cNvPr id="95" name="Rounded Rectangle 94"/>
          <p:cNvSpPr/>
          <p:nvPr/>
        </p:nvSpPr>
        <p:spPr>
          <a:xfrm>
            <a:off x="7955280" y="5943600"/>
            <a:ext cx="3611880" cy="4572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8092440" y="6035040"/>
            <a:ext cx="274320" cy="274320"/>
          </a:xfrm>
          <a:prstGeom prst="rect">
            <a:avLst/>
          </a:prstGeom>
          <a:noFill/>
        </p:spPr>
        <p:txBody>
          <a:bodyPr wrap="square" anchor="t" lIns="0" rIns="0" tIns="0" bIns="0">
            <a:spAutoFit/>
          </a:bodyPr>
          <a:lstStyle/>
          <a:p>
            <a:pPr algn="l">
              <a:lnSpc>
                <a:spcPct val="115000"/>
              </a:lnSpc>
            </a:pPr>
            <a:r>
              <a:rPr sz="1400" b="0">
                <a:solidFill>
                  <a:srgbClr val="E87722"/>
                </a:solidFill>
                <a:latin typeface="Hiragino Sans"/>
                <a:ea typeface="Hiragino Sans"/>
                <a:cs typeface="Hiragino Sans"/>
              </a:rPr>
              <a:t>☐</a:t>
            </a:r>
          </a:p>
        </p:txBody>
      </p:sp>
      <p:sp>
        <p:nvSpPr>
          <p:cNvPr id="97" name="TextBox 96"/>
          <p:cNvSpPr txBox="1"/>
          <p:nvPr/>
        </p:nvSpPr>
        <p:spPr>
          <a:xfrm>
            <a:off x="8366760" y="6080760"/>
            <a:ext cx="3108960" cy="274320"/>
          </a:xfrm>
          <a:prstGeom prst="rect">
            <a:avLst/>
          </a:prstGeom>
          <a:noFill/>
        </p:spPr>
        <p:txBody>
          <a:bodyPr wrap="square" anchor="t" lIns="0" rIns="0" tIns="0" bIns="0">
            <a:spAutoFit/>
          </a:bodyPr>
          <a:lstStyle/>
          <a:p>
            <a:pPr algn="l">
              <a:lnSpc>
                <a:spcPct val="140000"/>
              </a:lnSpc>
            </a:pPr>
            <a:r>
              <a:rPr sz="800" b="0">
                <a:solidFill>
                  <a:srgbClr val="1A1A1A"/>
                </a:solidFill>
                <a:latin typeface="Hiragino Sans"/>
                <a:ea typeface="Hiragino Sans"/>
                <a:cs typeface="Hiragino Sans"/>
              </a:rPr>
              <a:t>1人で月10-15案件並行 が可能なワークフロー確立</a:t>
            </a:r>
          </a:p>
        </p:txBody>
      </p:sp>
      <p:sp>
        <p:nvSpPr>
          <p:cNvPr id="98" name="TextBox 97"/>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AI ツール / サブスク 月額一覧</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副業代行で必須 + 任意のサブスク</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P244 / 250</a:t>
            </a:r>
          </a:p>
        </p:txBody>
      </p:sp>
      <p:sp>
        <p:nvSpPr>
          <p:cNvPr id="8" name="TextBox 7"/>
          <p:cNvSpPr txBox="1"/>
          <p:nvPr/>
        </p:nvSpPr>
        <p:spPr>
          <a:xfrm>
            <a:off x="548640" y="1417320"/>
            <a:ext cx="5486400" cy="365760"/>
          </a:xfrm>
          <a:prstGeom prst="rect">
            <a:avLst/>
          </a:prstGeom>
          <a:noFill/>
        </p:spPr>
        <p:txBody>
          <a:bodyPr wrap="square" anchor="t" lIns="0" rIns="0" tIns="0" bIns="0">
            <a:spAutoFit/>
          </a:bodyPr>
          <a:lstStyle/>
          <a:p>
            <a:pPr algn="l">
              <a:lnSpc>
                <a:spcPct val="115000"/>
              </a:lnSpc>
            </a:pPr>
            <a:r>
              <a:rPr sz="1300" b="1">
                <a:solidFill>
                  <a:srgbClr val="E87722"/>
                </a:solidFill>
                <a:latin typeface="Hiragino Sans"/>
                <a:ea typeface="Hiragino Sans"/>
                <a:cs typeface="Hiragino Sans"/>
              </a:rPr>
              <a:t>✓ 必須サブスク (推定月額 US$70)</a:t>
            </a:r>
          </a:p>
        </p:txBody>
      </p:sp>
      <p:sp>
        <p:nvSpPr>
          <p:cNvPr id="9" name="Rectangle 8"/>
          <p:cNvSpPr/>
          <p:nvPr/>
        </p:nvSpPr>
        <p:spPr>
          <a:xfrm>
            <a:off x="548640" y="1783080"/>
            <a:ext cx="548640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1965960"/>
            <a:ext cx="5486400" cy="502920"/>
          </a:xfrm>
          <a:prstGeom prst="roundRect">
            <a:avLst>
              <a:gd name="adj" fmla="val 6000"/>
            </a:avLst>
          </a:prstGeom>
          <a:solidFill>
            <a:srgbClr val="FFF3E6"/>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039112"/>
            <a:ext cx="256032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elvetica Neue"/>
                <a:ea typeface="Helvetica Neue"/>
                <a:cs typeface="Helvetica Neue"/>
              </a:rPr>
              <a:t>ChatGPT Plus</a:t>
            </a:r>
          </a:p>
        </p:txBody>
      </p:sp>
      <p:sp>
        <p:nvSpPr>
          <p:cNvPr id="12" name="TextBox 11"/>
          <p:cNvSpPr txBox="1"/>
          <p:nvPr/>
        </p:nvSpPr>
        <p:spPr>
          <a:xfrm>
            <a:off x="3383280" y="2057400"/>
            <a:ext cx="137160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elvetica Neue"/>
                <a:ea typeface="Helvetica Neue"/>
                <a:cs typeface="Helvetica Neue"/>
              </a:rPr>
              <a:t>$20/月</a:t>
            </a:r>
          </a:p>
        </p:txBody>
      </p:sp>
      <p:sp>
        <p:nvSpPr>
          <p:cNvPr id="13" name="TextBox 12"/>
          <p:cNvSpPr txBox="1"/>
          <p:nvPr/>
        </p:nvSpPr>
        <p:spPr>
          <a:xfrm>
            <a:off x="731520" y="2258568"/>
            <a:ext cx="5029200" cy="228600"/>
          </a:xfrm>
          <a:prstGeom prst="rect">
            <a:avLst/>
          </a:prstGeom>
          <a:noFill/>
        </p:spPr>
        <p:txBody>
          <a:bodyPr wrap="square" anchor="t" lIns="0" rIns="0" tIns="0" bIns="0">
            <a:spAutoFit/>
          </a:bodyPr>
          <a:lstStyle/>
          <a:p>
            <a:pPr algn="l">
              <a:lnSpc>
                <a:spcPct val="115000"/>
              </a:lnSpc>
            </a:pPr>
            <a:r>
              <a:rPr sz="900" b="0">
                <a:solidFill>
                  <a:srgbClr val="5A6A80"/>
                </a:solidFill>
                <a:latin typeface="Hiragino Sans"/>
                <a:ea typeface="Hiragino Sans"/>
                <a:cs typeface="Hiragino Sans"/>
              </a:rPr>
              <a:t>コピー / 分析 / DALL-E</a:t>
            </a:r>
          </a:p>
        </p:txBody>
      </p:sp>
      <p:sp>
        <p:nvSpPr>
          <p:cNvPr id="14" name="Rounded Rectangle 13"/>
          <p:cNvSpPr/>
          <p:nvPr/>
        </p:nvSpPr>
        <p:spPr>
          <a:xfrm>
            <a:off x="548640" y="2514600"/>
            <a:ext cx="5486400" cy="502920"/>
          </a:xfrm>
          <a:prstGeom prst="roundRect">
            <a:avLst>
              <a:gd name="adj" fmla="val 6000"/>
            </a:avLst>
          </a:prstGeom>
          <a:solidFill>
            <a:srgbClr val="FFF3E6"/>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2587752"/>
            <a:ext cx="256032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elvetica Neue"/>
                <a:ea typeface="Helvetica Neue"/>
                <a:cs typeface="Helvetica Neue"/>
              </a:rPr>
              <a:t>Claude Pro</a:t>
            </a:r>
          </a:p>
        </p:txBody>
      </p:sp>
      <p:sp>
        <p:nvSpPr>
          <p:cNvPr id="16" name="TextBox 15"/>
          <p:cNvSpPr txBox="1"/>
          <p:nvPr/>
        </p:nvSpPr>
        <p:spPr>
          <a:xfrm>
            <a:off x="3383280" y="2606040"/>
            <a:ext cx="137160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elvetica Neue"/>
                <a:ea typeface="Helvetica Neue"/>
                <a:cs typeface="Helvetica Neue"/>
              </a:rPr>
              <a:t>$20/月</a:t>
            </a:r>
          </a:p>
        </p:txBody>
      </p:sp>
      <p:sp>
        <p:nvSpPr>
          <p:cNvPr id="17" name="TextBox 16"/>
          <p:cNvSpPr txBox="1"/>
          <p:nvPr/>
        </p:nvSpPr>
        <p:spPr>
          <a:xfrm>
            <a:off x="731520" y="2807208"/>
            <a:ext cx="5029200" cy="228600"/>
          </a:xfrm>
          <a:prstGeom prst="rect">
            <a:avLst/>
          </a:prstGeom>
          <a:noFill/>
        </p:spPr>
        <p:txBody>
          <a:bodyPr wrap="square" anchor="t" lIns="0" rIns="0" tIns="0" bIns="0">
            <a:spAutoFit/>
          </a:bodyPr>
          <a:lstStyle/>
          <a:p>
            <a:pPr algn="l">
              <a:lnSpc>
                <a:spcPct val="115000"/>
              </a:lnSpc>
            </a:pPr>
            <a:r>
              <a:rPr sz="900" b="0">
                <a:solidFill>
                  <a:srgbClr val="5A6A80"/>
                </a:solidFill>
                <a:latin typeface="Hiragino Sans"/>
                <a:ea typeface="Hiragino Sans"/>
                <a:cs typeface="Hiragino Sans"/>
              </a:rPr>
              <a:t>Computer Use / 長文</a:t>
            </a:r>
          </a:p>
        </p:txBody>
      </p:sp>
      <p:sp>
        <p:nvSpPr>
          <p:cNvPr id="18" name="Rounded Rectangle 17"/>
          <p:cNvSpPr/>
          <p:nvPr/>
        </p:nvSpPr>
        <p:spPr>
          <a:xfrm>
            <a:off x="548640" y="3063240"/>
            <a:ext cx="5486400" cy="502920"/>
          </a:xfrm>
          <a:prstGeom prst="roundRect">
            <a:avLst>
              <a:gd name="adj" fmla="val 6000"/>
            </a:avLst>
          </a:prstGeom>
          <a:solidFill>
            <a:srgbClr val="FFF3E6"/>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3136392"/>
            <a:ext cx="256032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elvetica Neue"/>
                <a:ea typeface="Helvetica Neue"/>
                <a:cs typeface="Helvetica Neue"/>
              </a:rPr>
              <a:t>Midjourney Standard</a:t>
            </a:r>
          </a:p>
        </p:txBody>
      </p:sp>
      <p:sp>
        <p:nvSpPr>
          <p:cNvPr id="20" name="TextBox 19"/>
          <p:cNvSpPr txBox="1"/>
          <p:nvPr/>
        </p:nvSpPr>
        <p:spPr>
          <a:xfrm>
            <a:off x="3383280" y="3154680"/>
            <a:ext cx="137160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elvetica Neue"/>
                <a:ea typeface="Helvetica Neue"/>
                <a:cs typeface="Helvetica Neue"/>
              </a:rPr>
              <a:t>$30/月</a:t>
            </a:r>
          </a:p>
        </p:txBody>
      </p:sp>
      <p:sp>
        <p:nvSpPr>
          <p:cNvPr id="21" name="TextBox 20"/>
          <p:cNvSpPr txBox="1"/>
          <p:nvPr/>
        </p:nvSpPr>
        <p:spPr>
          <a:xfrm>
            <a:off x="731520" y="3355848"/>
            <a:ext cx="5029200" cy="228600"/>
          </a:xfrm>
          <a:prstGeom prst="rect">
            <a:avLst/>
          </a:prstGeom>
          <a:noFill/>
        </p:spPr>
        <p:txBody>
          <a:bodyPr wrap="square" anchor="t" lIns="0" rIns="0" tIns="0" bIns="0">
            <a:spAutoFit/>
          </a:bodyPr>
          <a:lstStyle/>
          <a:p>
            <a:pPr algn="l">
              <a:lnSpc>
                <a:spcPct val="115000"/>
              </a:lnSpc>
            </a:pPr>
            <a:r>
              <a:rPr sz="900" b="0">
                <a:solidFill>
                  <a:srgbClr val="5A6A80"/>
                </a:solidFill>
                <a:latin typeface="Hiragino Sans"/>
                <a:ea typeface="Hiragino Sans"/>
                <a:cs typeface="Hiragino Sans"/>
              </a:rPr>
              <a:t>画像量産</a:t>
            </a:r>
          </a:p>
        </p:txBody>
      </p:sp>
      <p:sp>
        <p:nvSpPr>
          <p:cNvPr id="22" name="Rounded Rectangle 21"/>
          <p:cNvSpPr/>
          <p:nvPr/>
        </p:nvSpPr>
        <p:spPr>
          <a:xfrm>
            <a:off x="548640" y="3611880"/>
            <a:ext cx="5486400" cy="502920"/>
          </a:xfrm>
          <a:prstGeom prst="roundRect">
            <a:avLst>
              <a:gd name="adj" fmla="val 6000"/>
            </a:avLst>
          </a:prstGeom>
          <a:solidFill>
            <a:srgbClr val="FFF3E6"/>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685032"/>
            <a:ext cx="256032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elvetica Neue"/>
                <a:ea typeface="Helvetica Neue"/>
                <a:cs typeface="Helvetica Neue"/>
              </a:rPr>
              <a:t>Cookiebot 等 CMP</a:t>
            </a:r>
          </a:p>
        </p:txBody>
      </p:sp>
      <p:sp>
        <p:nvSpPr>
          <p:cNvPr id="24" name="TextBox 23"/>
          <p:cNvSpPr txBox="1"/>
          <p:nvPr/>
        </p:nvSpPr>
        <p:spPr>
          <a:xfrm>
            <a:off x="3383280" y="3703320"/>
            <a:ext cx="137160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elvetica Neue"/>
                <a:ea typeface="Helvetica Neue"/>
                <a:cs typeface="Helvetica Neue"/>
              </a:rPr>
              <a:t>€9〜/月</a:t>
            </a:r>
          </a:p>
        </p:txBody>
      </p:sp>
      <p:sp>
        <p:nvSpPr>
          <p:cNvPr id="25" name="TextBox 24"/>
          <p:cNvSpPr txBox="1"/>
          <p:nvPr/>
        </p:nvSpPr>
        <p:spPr>
          <a:xfrm>
            <a:off x="731520" y="3904488"/>
            <a:ext cx="5029200" cy="228600"/>
          </a:xfrm>
          <a:prstGeom prst="rect">
            <a:avLst/>
          </a:prstGeom>
          <a:noFill/>
        </p:spPr>
        <p:txBody>
          <a:bodyPr wrap="square" anchor="t" lIns="0" rIns="0" tIns="0" bIns="0">
            <a:spAutoFit/>
          </a:bodyPr>
          <a:lstStyle/>
          <a:p>
            <a:pPr algn="l">
              <a:lnSpc>
                <a:spcPct val="115000"/>
              </a:lnSpc>
            </a:pPr>
            <a:r>
              <a:rPr sz="900" b="0">
                <a:solidFill>
                  <a:srgbClr val="5A6A80"/>
                </a:solidFill>
                <a:latin typeface="Hiragino Sans"/>
                <a:ea typeface="Hiragino Sans"/>
                <a:cs typeface="Hiragino Sans"/>
              </a:rPr>
              <a:t>Consent Mode v2 (クライアント側)</a:t>
            </a:r>
          </a:p>
        </p:txBody>
      </p:sp>
      <p:sp>
        <p:nvSpPr>
          <p:cNvPr id="26" name="TextBox 25"/>
          <p:cNvSpPr txBox="1"/>
          <p:nvPr/>
        </p:nvSpPr>
        <p:spPr>
          <a:xfrm>
            <a:off x="6400800" y="1417320"/>
            <a:ext cx="548640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 任意サブスク (案件規模で判断)</a:t>
            </a:r>
          </a:p>
        </p:txBody>
      </p:sp>
      <p:sp>
        <p:nvSpPr>
          <p:cNvPr id="27" name="Rectangle 26"/>
          <p:cNvSpPr/>
          <p:nvPr/>
        </p:nvSpPr>
        <p:spPr>
          <a:xfrm>
            <a:off x="6400800" y="1783080"/>
            <a:ext cx="525780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400800" y="1965960"/>
            <a:ext cx="5257800" cy="50292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0" y="2039112"/>
            <a:ext cx="256032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elvetica Neue"/>
                <a:ea typeface="Helvetica Neue"/>
                <a:cs typeface="Helvetica Neue"/>
              </a:rPr>
              <a:t>ChatGPT Pro (Sora 2)</a:t>
            </a:r>
          </a:p>
        </p:txBody>
      </p:sp>
      <p:sp>
        <p:nvSpPr>
          <p:cNvPr id="30" name="TextBox 29"/>
          <p:cNvSpPr txBox="1"/>
          <p:nvPr/>
        </p:nvSpPr>
        <p:spPr>
          <a:xfrm>
            <a:off x="9326880" y="2057400"/>
            <a:ext cx="137160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elvetica Neue"/>
                <a:ea typeface="Helvetica Neue"/>
                <a:cs typeface="Helvetica Neue"/>
              </a:rPr>
              <a:t>$200/月</a:t>
            </a:r>
          </a:p>
        </p:txBody>
      </p:sp>
      <p:sp>
        <p:nvSpPr>
          <p:cNvPr id="31" name="TextBox 30"/>
          <p:cNvSpPr txBox="1"/>
          <p:nvPr/>
        </p:nvSpPr>
        <p:spPr>
          <a:xfrm>
            <a:off x="6583680" y="2258568"/>
            <a:ext cx="4846320" cy="228600"/>
          </a:xfrm>
          <a:prstGeom prst="rect">
            <a:avLst/>
          </a:prstGeom>
          <a:noFill/>
        </p:spPr>
        <p:txBody>
          <a:bodyPr wrap="square" anchor="t" lIns="0" rIns="0" tIns="0" bIns="0">
            <a:spAutoFit/>
          </a:bodyPr>
          <a:lstStyle/>
          <a:p>
            <a:pPr algn="l">
              <a:lnSpc>
                <a:spcPct val="115000"/>
              </a:lnSpc>
            </a:pPr>
            <a:r>
              <a:rPr sz="900" b="0">
                <a:solidFill>
                  <a:srgbClr val="5A6A80"/>
                </a:solidFill>
                <a:latin typeface="Hiragino Sans"/>
                <a:ea typeface="Hiragino Sans"/>
                <a:cs typeface="Hiragino Sans"/>
              </a:rPr>
              <a:t>動画量産月のみ</a:t>
            </a:r>
          </a:p>
        </p:txBody>
      </p:sp>
      <p:sp>
        <p:nvSpPr>
          <p:cNvPr id="32" name="Rounded Rectangle 31"/>
          <p:cNvSpPr/>
          <p:nvPr/>
        </p:nvSpPr>
        <p:spPr>
          <a:xfrm>
            <a:off x="6400800" y="2514600"/>
            <a:ext cx="5257800" cy="50292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83680" y="2587752"/>
            <a:ext cx="256032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elvetica Neue"/>
                <a:ea typeface="Helvetica Neue"/>
                <a:cs typeface="Helvetica Neue"/>
              </a:rPr>
              <a:t>Adobe CC + Firefly</a:t>
            </a:r>
          </a:p>
        </p:txBody>
      </p:sp>
      <p:sp>
        <p:nvSpPr>
          <p:cNvPr id="34" name="TextBox 33"/>
          <p:cNvSpPr txBox="1"/>
          <p:nvPr/>
        </p:nvSpPr>
        <p:spPr>
          <a:xfrm>
            <a:off x="9326880" y="2606040"/>
            <a:ext cx="137160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elvetica Neue"/>
                <a:ea typeface="Helvetica Neue"/>
                <a:cs typeface="Helvetica Neue"/>
              </a:rPr>
              <a:t>$60/月</a:t>
            </a:r>
          </a:p>
        </p:txBody>
      </p:sp>
      <p:sp>
        <p:nvSpPr>
          <p:cNvPr id="35" name="TextBox 34"/>
          <p:cNvSpPr txBox="1"/>
          <p:nvPr/>
        </p:nvSpPr>
        <p:spPr>
          <a:xfrm>
            <a:off x="6583680" y="2807208"/>
            <a:ext cx="4846320" cy="228600"/>
          </a:xfrm>
          <a:prstGeom prst="rect">
            <a:avLst/>
          </a:prstGeom>
          <a:noFill/>
        </p:spPr>
        <p:txBody>
          <a:bodyPr wrap="square" anchor="t" lIns="0" rIns="0" tIns="0" bIns="0">
            <a:spAutoFit/>
          </a:bodyPr>
          <a:lstStyle/>
          <a:p>
            <a:pPr algn="l">
              <a:lnSpc>
                <a:spcPct val="115000"/>
              </a:lnSpc>
            </a:pPr>
            <a:r>
              <a:rPr sz="900" b="0">
                <a:solidFill>
                  <a:srgbClr val="5A6A80"/>
                </a:solidFill>
                <a:latin typeface="Hiragino Sans"/>
                <a:ea typeface="Hiragino Sans"/>
                <a:cs typeface="Hiragino Sans"/>
              </a:rPr>
              <a:t>高単価案件用</a:t>
            </a:r>
          </a:p>
        </p:txBody>
      </p:sp>
      <p:sp>
        <p:nvSpPr>
          <p:cNvPr id="36" name="Rounded Rectangle 35"/>
          <p:cNvSpPr/>
          <p:nvPr/>
        </p:nvSpPr>
        <p:spPr>
          <a:xfrm>
            <a:off x="6400800" y="3063240"/>
            <a:ext cx="5257800" cy="50292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83680" y="3136392"/>
            <a:ext cx="256032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elvetica Neue"/>
                <a:ea typeface="Helvetica Neue"/>
                <a:cs typeface="Helvetica Neue"/>
              </a:rPr>
              <a:t>Optmyzr</a:t>
            </a:r>
          </a:p>
        </p:txBody>
      </p:sp>
      <p:sp>
        <p:nvSpPr>
          <p:cNvPr id="38" name="TextBox 37"/>
          <p:cNvSpPr txBox="1"/>
          <p:nvPr/>
        </p:nvSpPr>
        <p:spPr>
          <a:xfrm>
            <a:off x="9326880" y="3154680"/>
            <a:ext cx="137160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elvetica Neue"/>
                <a:ea typeface="Helvetica Neue"/>
                <a:cs typeface="Helvetica Neue"/>
              </a:rPr>
              <a:t>$208/月</a:t>
            </a:r>
          </a:p>
        </p:txBody>
      </p:sp>
      <p:sp>
        <p:nvSpPr>
          <p:cNvPr id="39" name="TextBox 38"/>
          <p:cNvSpPr txBox="1"/>
          <p:nvPr/>
        </p:nvSpPr>
        <p:spPr>
          <a:xfrm>
            <a:off x="6583680" y="3355848"/>
            <a:ext cx="4846320" cy="228600"/>
          </a:xfrm>
          <a:prstGeom prst="rect">
            <a:avLst/>
          </a:prstGeom>
          <a:noFill/>
        </p:spPr>
        <p:txBody>
          <a:bodyPr wrap="square" anchor="t" lIns="0" rIns="0" tIns="0" bIns="0">
            <a:spAutoFit/>
          </a:bodyPr>
          <a:lstStyle/>
          <a:p>
            <a:pPr algn="l">
              <a:lnSpc>
                <a:spcPct val="115000"/>
              </a:lnSpc>
            </a:pPr>
            <a:r>
              <a:rPr sz="900" b="0">
                <a:solidFill>
                  <a:srgbClr val="5A6A80"/>
                </a:solidFill>
                <a:latin typeface="Hiragino Sans"/>
                <a:ea typeface="Hiragino Sans"/>
                <a:cs typeface="Hiragino Sans"/>
              </a:rPr>
              <a:t>月20案件以上</a:t>
            </a:r>
          </a:p>
        </p:txBody>
      </p:sp>
      <p:sp>
        <p:nvSpPr>
          <p:cNvPr id="40" name="Rounded Rectangle 39"/>
          <p:cNvSpPr/>
          <p:nvPr/>
        </p:nvSpPr>
        <p:spPr>
          <a:xfrm>
            <a:off x="6400800" y="3611880"/>
            <a:ext cx="5257800" cy="50292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83680" y="3685032"/>
            <a:ext cx="256032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elvetica Neue"/>
                <a:ea typeface="Helvetica Neue"/>
                <a:cs typeface="Helvetica Neue"/>
              </a:rPr>
              <a:t>Adalysis</a:t>
            </a:r>
          </a:p>
        </p:txBody>
      </p:sp>
      <p:sp>
        <p:nvSpPr>
          <p:cNvPr id="42" name="TextBox 41"/>
          <p:cNvSpPr txBox="1"/>
          <p:nvPr/>
        </p:nvSpPr>
        <p:spPr>
          <a:xfrm>
            <a:off x="9326880" y="3703320"/>
            <a:ext cx="137160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elvetica Neue"/>
                <a:ea typeface="Helvetica Neue"/>
                <a:cs typeface="Helvetica Neue"/>
              </a:rPr>
              <a:t>$99/月</a:t>
            </a:r>
          </a:p>
        </p:txBody>
      </p:sp>
      <p:sp>
        <p:nvSpPr>
          <p:cNvPr id="43" name="TextBox 42"/>
          <p:cNvSpPr txBox="1"/>
          <p:nvPr/>
        </p:nvSpPr>
        <p:spPr>
          <a:xfrm>
            <a:off x="6583680" y="3904488"/>
            <a:ext cx="4846320" cy="228600"/>
          </a:xfrm>
          <a:prstGeom prst="rect">
            <a:avLst/>
          </a:prstGeom>
          <a:noFill/>
        </p:spPr>
        <p:txBody>
          <a:bodyPr wrap="square" anchor="t" lIns="0" rIns="0" tIns="0" bIns="0">
            <a:spAutoFit/>
          </a:bodyPr>
          <a:lstStyle/>
          <a:p>
            <a:pPr algn="l">
              <a:lnSpc>
                <a:spcPct val="115000"/>
              </a:lnSpc>
            </a:pPr>
            <a:r>
              <a:rPr sz="900" b="0">
                <a:solidFill>
                  <a:srgbClr val="5A6A80"/>
                </a:solidFill>
                <a:latin typeface="Hiragino Sans"/>
                <a:ea typeface="Hiragino Sans"/>
                <a:cs typeface="Hiragino Sans"/>
              </a:rPr>
              <a:t>Google Ads 中心</a:t>
            </a:r>
          </a:p>
        </p:txBody>
      </p:sp>
      <p:sp>
        <p:nvSpPr>
          <p:cNvPr id="44" name="Rounded Rectangle 43"/>
          <p:cNvSpPr/>
          <p:nvPr/>
        </p:nvSpPr>
        <p:spPr>
          <a:xfrm>
            <a:off x="6400800" y="4160520"/>
            <a:ext cx="5257800" cy="50292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583680" y="4233672"/>
            <a:ext cx="256032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elvetica Neue"/>
                <a:ea typeface="Helvetica Neue"/>
                <a:cs typeface="Helvetica Neue"/>
              </a:rPr>
              <a:t>AdCreative.ai</a:t>
            </a:r>
          </a:p>
        </p:txBody>
      </p:sp>
      <p:sp>
        <p:nvSpPr>
          <p:cNvPr id="46" name="TextBox 45"/>
          <p:cNvSpPr txBox="1"/>
          <p:nvPr/>
        </p:nvSpPr>
        <p:spPr>
          <a:xfrm>
            <a:off x="9326880" y="4251960"/>
            <a:ext cx="137160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elvetica Neue"/>
                <a:ea typeface="Helvetica Neue"/>
                <a:cs typeface="Helvetica Neue"/>
              </a:rPr>
              <a:t>$29〜</a:t>
            </a:r>
          </a:p>
        </p:txBody>
      </p:sp>
      <p:sp>
        <p:nvSpPr>
          <p:cNvPr id="47" name="TextBox 46"/>
          <p:cNvSpPr txBox="1"/>
          <p:nvPr/>
        </p:nvSpPr>
        <p:spPr>
          <a:xfrm>
            <a:off x="6583680" y="4453128"/>
            <a:ext cx="4846320" cy="228600"/>
          </a:xfrm>
          <a:prstGeom prst="rect">
            <a:avLst/>
          </a:prstGeom>
          <a:noFill/>
        </p:spPr>
        <p:txBody>
          <a:bodyPr wrap="square" anchor="t" lIns="0" rIns="0" tIns="0" bIns="0">
            <a:spAutoFit/>
          </a:bodyPr>
          <a:lstStyle/>
          <a:p>
            <a:pPr algn="l">
              <a:lnSpc>
                <a:spcPct val="115000"/>
              </a:lnSpc>
            </a:pPr>
            <a:r>
              <a:rPr sz="900" b="0">
                <a:solidFill>
                  <a:srgbClr val="5A6A80"/>
                </a:solidFill>
                <a:latin typeface="Hiragino Sans"/>
                <a:ea typeface="Hiragino Sans"/>
                <a:cs typeface="Hiragino Sans"/>
              </a:rPr>
              <a:t>中規模以上</a:t>
            </a:r>
          </a:p>
        </p:txBody>
      </p:sp>
      <p:sp>
        <p:nvSpPr>
          <p:cNvPr id="48" name="Rounded Rectangle 47"/>
          <p:cNvSpPr/>
          <p:nvPr/>
        </p:nvSpPr>
        <p:spPr>
          <a:xfrm>
            <a:off x="548640" y="4937760"/>
            <a:ext cx="11109960" cy="141732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77240" y="5074920"/>
            <a:ext cx="10058400" cy="320040"/>
          </a:xfrm>
          <a:prstGeom prst="rect">
            <a:avLst/>
          </a:prstGeom>
          <a:noFill/>
        </p:spPr>
        <p:txBody>
          <a:bodyPr wrap="square" anchor="t" lIns="0" rIns="0" tIns="0" bIns="0">
            <a:spAutoFit/>
          </a:bodyPr>
          <a:lstStyle/>
          <a:p>
            <a:pPr algn="l">
              <a:lnSpc>
                <a:spcPct val="115000"/>
              </a:lnSpc>
            </a:pPr>
            <a:r>
              <a:rPr sz="1200" b="1">
                <a:solidFill>
                  <a:srgbClr val="E87722"/>
                </a:solidFill>
                <a:latin typeface="Hiragino Sans"/>
                <a:ea typeface="Hiragino Sans"/>
                <a:cs typeface="Hiragino Sans"/>
              </a:rPr>
              <a:t>💰 副業代行のサブスク総額目安</a:t>
            </a:r>
          </a:p>
        </p:txBody>
      </p:sp>
      <p:sp>
        <p:nvSpPr>
          <p:cNvPr id="50" name="TextBox 49"/>
          <p:cNvSpPr txBox="1"/>
          <p:nvPr/>
        </p:nvSpPr>
        <p:spPr>
          <a:xfrm>
            <a:off x="777240" y="5394960"/>
            <a:ext cx="10972800" cy="914400"/>
          </a:xfrm>
          <a:prstGeom prst="rect">
            <a:avLst/>
          </a:prstGeom>
          <a:noFill/>
        </p:spPr>
        <p:txBody>
          <a:bodyPr wrap="square" anchor="t" lIns="0" rIns="0" tIns="0" bIns="0">
            <a:spAutoFit/>
          </a:bodyPr>
          <a:lstStyle/>
          <a:p>
            <a:pPr algn="l">
              <a:lnSpc>
                <a:spcPct val="155000"/>
              </a:lnSpc>
            </a:pPr>
            <a:r>
              <a:rPr sz="1100" b="0">
                <a:solidFill>
                  <a:srgbClr val="FFFFFF"/>
                </a:solidFill>
                <a:latin typeface="Hiragino Sans"/>
                <a:ea typeface="Hiragino Sans"/>
                <a:cs typeface="Hiragino Sans"/>
              </a:rPr>
              <a:t>• ミニマム (月3-5案件) : 必須のみ = 月 US$70 程度 (約11,000円)</a:t>
            </a:r>
          </a:p>
          <a:p>
            <a:pPr algn="l">
              <a:lnSpc>
                <a:spcPct val="155000"/>
              </a:lnSpc>
            </a:pPr>
            <a:r>
              <a:rPr sz="1100" b="0">
                <a:solidFill>
                  <a:srgbClr val="FFFFFF"/>
                </a:solidFill>
                <a:latin typeface="Hiragino Sans"/>
                <a:ea typeface="Hiragino Sans"/>
                <a:cs typeface="Hiragino Sans"/>
              </a:rPr>
              <a:t>• 中規模 (月10-15案件) : 必須 + Optmyzr/Adalysis = 月 US$170-300 (約26,000-46,000円)</a:t>
            </a:r>
          </a:p>
          <a:p>
            <a:pPr algn="l">
              <a:lnSpc>
                <a:spcPct val="155000"/>
              </a:lnSpc>
            </a:pPr>
            <a:r>
              <a:rPr sz="1100" b="0">
                <a:solidFill>
                  <a:srgbClr val="FFFFFF"/>
                </a:solidFill>
                <a:latin typeface="Hiragino Sans"/>
                <a:ea typeface="Hiragino Sans"/>
                <a:cs typeface="Hiragino Sans"/>
              </a:rPr>
              <a:t>• フル装備 (月15案件以上 + 動画) : 月 US$400-500 (約60,000-75,000円)</a:t>
            </a:r>
          </a:p>
          <a:p>
            <a:pPr algn="l">
              <a:lnSpc>
                <a:spcPct val="155000"/>
              </a:lnSpc>
            </a:pPr>
            <a:r>
              <a:rPr sz="1100" b="0">
                <a:solidFill>
                  <a:srgbClr val="FFFFFF"/>
                </a:solidFill>
                <a:latin typeface="Hiragino Sans"/>
                <a:ea typeface="Hiragino Sans"/>
                <a:cs typeface="Hiragino Sans"/>
              </a:rPr>
              <a:t>• 1案件あたりサブスクコスト = ミニマムで2,000-3,000円程度。代行料3-5万円で十分ペイ</a:t>
            </a:r>
          </a:p>
        </p:txBody>
      </p:sp>
      <p:sp>
        <p:nvSpPr>
          <p:cNvPr id="51" name="TextBox 50"/>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731520"/>
            <a:ext cx="10058400" cy="914400"/>
          </a:xfrm>
          <a:prstGeom prst="rect">
            <a:avLst/>
          </a:prstGeom>
          <a:noFill/>
        </p:spPr>
        <p:txBody>
          <a:bodyPr wrap="square" anchor="t" lIns="0" rIns="0" tIns="0" bIns="0">
            <a:spAutoFit/>
          </a:bodyPr>
          <a:lstStyle/>
          <a:p>
            <a:pPr algn="ctr">
              <a:lnSpc>
                <a:spcPct val="115000"/>
              </a:lnSpc>
            </a:pPr>
            <a:r>
              <a:rPr sz="4800" b="1">
                <a:solidFill>
                  <a:srgbClr val="E87722"/>
                </a:solidFill>
                <a:latin typeface="Helvetica Neue"/>
                <a:ea typeface="Helvetica Neue"/>
                <a:cs typeface="Helvetica Neue"/>
              </a:rPr>
              <a:t>🎉 完成</a:t>
            </a:r>
          </a:p>
        </p:txBody>
      </p:sp>
      <p:sp>
        <p:nvSpPr>
          <p:cNvPr id="5" name="TextBox 4"/>
          <p:cNvSpPr txBox="1"/>
          <p:nvPr/>
        </p:nvSpPr>
        <p:spPr>
          <a:xfrm>
            <a:off x="914400" y="1691640"/>
            <a:ext cx="10058400" cy="640080"/>
          </a:xfrm>
          <a:prstGeom prst="rect">
            <a:avLst/>
          </a:prstGeom>
          <a:noFill/>
        </p:spPr>
        <p:txBody>
          <a:bodyPr wrap="square" anchor="t" lIns="0" rIns="0" tIns="0" bIns="0">
            <a:spAutoFit/>
          </a:bodyPr>
          <a:lstStyle/>
          <a:p>
            <a:pPr algn="ctr">
              <a:lnSpc>
                <a:spcPct val="115000"/>
              </a:lnSpc>
            </a:pPr>
            <a:r>
              <a:rPr sz="2800" b="1">
                <a:solidFill>
                  <a:srgbClr val="FFFFFF"/>
                </a:solidFill>
                <a:latin typeface="Hiragino Sans"/>
                <a:ea typeface="Hiragino Sans"/>
                <a:cs typeface="Hiragino Sans"/>
              </a:rPr>
              <a:t>Digital Marketing Catch-Up 2023 → 2026</a:t>
            </a:r>
          </a:p>
        </p:txBody>
      </p:sp>
      <p:sp>
        <p:nvSpPr>
          <p:cNvPr id="6" name="Rectangle 5"/>
          <p:cNvSpPr/>
          <p:nvPr/>
        </p:nvSpPr>
        <p:spPr>
          <a:xfrm>
            <a:off x="1828800" y="2468880"/>
            <a:ext cx="850392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2788920"/>
            <a:ext cx="2697480" cy="1417320"/>
          </a:xfrm>
          <a:prstGeom prst="roundRect">
            <a:avLst>
              <a:gd name="adj" fmla="val 6000"/>
            </a:avLst>
          </a:prstGeom>
          <a:solidFill>
            <a:srgbClr val="0A16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2788920"/>
            <a:ext cx="91440" cy="14173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3017520"/>
            <a:ext cx="2697480" cy="640080"/>
          </a:xfrm>
          <a:prstGeom prst="rect">
            <a:avLst/>
          </a:prstGeom>
          <a:noFill/>
        </p:spPr>
        <p:txBody>
          <a:bodyPr wrap="square" anchor="t" lIns="0" rIns="0" tIns="0" bIns="0">
            <a:spAutoFit/>
          </a:bodyPr>
          <a:lstStyle/>
          <a:p>
            <a:pPr algn="ctr">
              <a:lnSpc>
                <a:spcPct val="115000"/>
              </a:lnSpc>
            </a:pPr>
            <a:r>
              <a:rPr sz="3600" b="1">
                <a:solidFill>
                  <a:srgbClr val="FFFFFF"/>
                </a:solidFill>
                <a:latin typeface="Helvetica Neue"/>
                <a:ea typeface="Helvetica Neue"/>
                <a:cs typeface="Helvetica Neue"/>
              </a:rPr>
              <a:t>245p</a:t>
            </a:r>
          </a:p>
        </p:txBody>
      </p:sp>
      <p:sp>
        <p:nvSpPr>
          <p:cNvPr id="10" name="TextBox 9"/>
          <p:cNvSpPr txBox="1"/>
          <p:nvPr/>
        </p:nvSpPr>
        <p:spPr>
          <a:xfrm>
            <a:off x="548640" y="3703320"/>
            <a:ext cx="2697480" cy="365760"/>
          </a:xfrm>
          <a:prstGeom prst="rect">
            <a:avLst/>
          </a:prstGeom>
          <a:noFill/>
        </p:spPr>
        <p:txBody>
          <a:bodyPr wrap="square" anchor="t" lIns="0" rIns="0" tIns="0" bIns="0">
            <a:spAutoFit/>
          </a:bodyPr>
          <a:lstStyle/>
          <a:p>
            <a:pPr algn="ctr">
              <a:lnSpc>
                <a:spcPct val="115000"/>
              </a:lnSpc>
            </a:pPr>
            <a:r>
              <a:rPr sz="1200" b="0">
                <a:solidFill>
                  <a:srgbClr val="D7DDE8"/>
                </a:solidFill>
                <a:latin typeface="Hiragino Sans"/>
                <a:ea typeface="Hiragino Sans"/>
                <a:cs typeface="Hiragino Sans"/>
              </a:rPr>
              <a:t>総ページ数</a:t>
            </a:r>
          </a:p>
        </p:txBody>
      </p:sp>
      <p:sp>
        <p:nvSpPr>
          <p:cNvPr id="11" name="Rounded Rectangle 10"/>
          <p:cNvSpPr/>
          <p:nvPr/>
        </p:nvSpPr>
        <p:spPr>
          <a:xfrm>
            <a:off x="3337560" y="2788920"/>
            <a:ext cx="2697480" cy="1417320"/>
          </a:xfrm>
          <a:prstGeom prst="roundRect">
            <a:avLst>
              <a:gd name="adj" fmla="val 6000"/>
            </a:avLst>
          </a:prstGeom>
          <a:solidFill>
            <a:srgbClr val="0A16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37560" y="2788920"/>
            <a:ext cx="91440" cy="14173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37560" y="3017520"/>
            <a:ext cx="2697480" cy="640080"/>
          </a:xfrm>
          <a:prstGeom prst="rect">
            <a:avLst/>
          </a:prstGeom>
          <a:noFill/>
        </p:spPr>
        <p:txBody>
          <a:bodyPr wrap="square" anchor="t" lIns="0" rIns="0" tIns="0" bIns="0">
            <a:spAutoFit/>
          </a:bodyPr>
          <a:lstStyle/>
          <a:p>
            <a:pPr algn="ctr">
              <a:lnSpc>
                <a:spcPct val="115000"/>
              </a:lnSpc>
            </a:pPr>
            <a:r>
              <a:rPr sz="3600" b="1">
                <a:solidFill>
                  <a:srgbClr val="FFFFFF"/>
                </a:solidFill>
                <a:latin typeface="Helvetica Neue"/>
                <a:ea typeface="Helvetica Neue"/>
                <a:cs typeface="Helvetica Neue"/>
              </a:rPr>
              <a:t>8 Part</a:t>
            </a:r>
          </a:p>
        </p:txBody>
      </p:sp>
      <p:sp>
        <p:nvSpPr>
          <p:cNvPr id="14" name="TextBox 13"/>
          <p:cNvSpPr txBox="1"/>
          <p:nvPr/>
        </p:nvSpPr>
        <p:spPr>
          <a:xfrm>
            <a:off x="3337560" y="3703320"/>
            <a:ext cx="2697480" cy="365760"/>
          </a:xfrm>
          <a:prstGeom prst="rect">
            <a:avLst/>
          </a:prstGeom>
          <a:noFill/>
        </p:spPr>
        <p:txBody>
          <a:bodyPr wrap="square" anchor="t" lIns="0" rIns="0" tIns="0" bIns="0">
            <a:spAutoFit/>
          </a:bodyPr>
          <a:lstStyle/>
          <a:p>
            <a:pPr algn="ctr">
              <a:lnSpc>
                <a:spcPct val="115000"/>
              </a:lnSpc>
            </a:pPr>
            <a:r>
              <a:rPr sz="1200" b="0">
                <a:solidFill>
                  <a:srgbClr val="D7DDE8"/>
                </a:solidFill>
                <a:latin typeface="Hiragino Sans"/>
                <a:ea typeface="Hiragino Sans"/>
                <a:cs typeface="Hiragino Sans"/>
              </a:rPr>
              <a:t>章構成</a:t>
            </a:r>
          </a:p>
        </p:txBody>
      </p:sp>
      <p:sp>
        <p:nvSpPr>
          <p:cNvPr id="15" name="Rounded Rectangle 14"/>
          <p:cNvSpPr/>
          <p:nvPr/>
        </p:nvSpPr>
        <p:spPr>
          <a:xfrm>
            <a:off x="6126480" y="2788920"/>
            <a:ext cx="2697480" cy="1417320"/>
          </a:xfrm>
          <a:prstGeom prst="roundRect">
            <a:avLst>
              <a:gd name="adj" fmla="val 6000"/>
            </a:avLst>
          </a:prstGeom>
          <a:solidFill>
            <a:srgbClr val="0A16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26480" y="2788920"/>
            <a:ext cx="91440" cy="14173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26480" y="3017520"/>
            <a:ext cx="2697480" cy="640080"/>
          </a:xfrm>
          <a:prstGeom prst="rect">
            <a:avLst/>
          </a:prstGeom>
          <a:noFill/>
        </p:spPr>
        <p:txBody>
          <a:bodyPr wrap="square" anchor="t" lIns="0" rIns="0" tIns="0" bIns="0">
            <a:spAutoFit/>
          </a:bodyPr>
          <a:lstStyle/>
          <a:p>
            <a:pPr algn="ctr">
              <a:lnSpc>
                <a:spcPct val="115000"/>
              </a:lnSpc>
            </a:pPr>
            <a:r>
              <a:rPr sz="3600" b="1">
                <a:solidFill>
                  <a:srgbClr val="FFFFFF"/>
                </a:solidFill>
                <a:latin typeface="Helvetica Neue"/>
                <a:ea typeface="Helvetica Neue"/>
                <a:cs typeface="Helvetica Neue"/>
              </a:rPr>
              <a:t>9媒体</a:t>
            </a:r>
          </a:p>
        </p:txBody>
      </p:sp>
      <p:sp>
        <p:nvSpPr>
          <p:cNvPr id="18" name="TextBox 17"/>
          <p:cNvSpPr txBox="1"/>
          <p:nvPr/>
        </p:nvSpPr>
        <p:spPr>
          <a:xfrm>
            <a:off x="6126480" y="3703320"/>
            <a:ext cx="2697480" cy="365760"/>
          </a:xfrm>
          <a:prstGeom prst="rect">
            <a:avLst/>
          </a:prstGeom>
          <a:noFill/>
        </p:spPr>
        <p:txBody>
          <a:bodyPr wrap="square" anchor="t" lIns="0" rIns="0" tIns="0" bIns="0">
            <a:spAutoFit/>
          </a:bodyPr>
          <a:lstStyle/>
          <a:p>
            <a:pPr algn="ctr">
              <a:lnSpc>
                <a:spcPct val="115000"/>
              </a:lnSpc>
            </a:pPr>
            <a:r>
              <a:rPr sz="1200" b="0">
                <a:solidFill>
                  <a:srgbClr val="D7DDE8"/>
                </a:solidFill>
                <a:latin typeface="Hiragino Sans"/>
                <a:ea typeface="Hiragino Sans"/>
                <a:cs typeface="Hiragino Sans"/>
              </a:rPr>
              <a:t>媒体別カバー</a:t>
            </a:r>
          </a:p>
        </p:txBody>
      </p:sp>
      <p:sp>
        <p:nvSpPr>
          <p:cNvPr id="19" name="Rounded Rectangle 18"/>
          <p:cNvSpPr/>
          <p:nvPr/>
        </p:nvSpPr>
        <p:spPr>
          <a:xfrm>
            <a:off x="8915400" y="2788920"/>
            <a:ext cx="2697480" cy="1417320"/>
          </a:xfrm>
          <a:prstGeom prst="roundRect">
            <a:avLst>
              <a:gd name="adj" fmla="val 6000"/>
            </a:avLst>
          </a:prstGeom>
          <a:solidFill>
            <a:srgbClr val="0A16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915400" y="2788920"/>
            <a:ext cx="91440" cy="14173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15400" y="3017520"/>
            <a:ext cx="2697480" cy="640080"/>
          </a:xfrm>
          <a:prstGeom prst="rect">
            <a:avLst/>
          </a:prstGeom>
          <a:noFill/>
        </p:spPr>
        <p:txBody>
          <a:bodyPr wrap="square" anchor="t" lIns="0" rIns="0" tIns="0" bIns="0">
            <a:spAutoFit/>
          </a:bodyPr>
          <a:lstStyle/>
          <a:p>
            <a:pPr algn="ctr">
              <a:lnSpc>
                <a:spcPct val="115000"/>
              </a:lnSpc>
            </a:pPr>
            <a:r>
              <a:rPr sz="3600" b="1">
                <a:solidFill>
                  <a:srgbClr val="FFFFFF"/>
                </a:solidFill>
                <a:latin typeface="Helvetica Neue"/>
                <a:ea typeface="Helvetica Neue"/>
                <a:cs typeface="Helvetica Neue"/>
              </a:rPr>
              <a:t>2.5年</a:t>
            </a:r>
          </a:p>
        </p:txBody>
      </p:sp>
      <p:sp>
        <p:nvSpPr>
          <p:cNvPr id="22" name="TextBox 21"/>
          <p:cNvSpPr txBox="1"/>
          <p:nvPr/>
        </p:nvSpPr>
        <p:spPr>
          <a:xfrm>
            <a:off x="8915400" y="3703320"/>
            <a:ext cx="2697480" cy="365760"/>
          </a:xfrm>
          <a:prstGeom prst="rect">
            <a:avLst/>
          </a:prstGeom>
          <a:noFill/>
        </p:spPr>
        <p:txBody>
          <a:bodyPr wrap="square" anchor="t" lIns="0" rIns="0" tIns="0" bIns="0">
            <a:spAutoFit/>
          </a:bodyPr>
          <a:lstStyle/>
          <a:p>
            <a:pPr algn="ctr">
              <a:lnSpc>
                <a:spcPct val="115000"/>
              </a:lnSpc>
            </a:pPr>
            <a:r>
              <a:rPr sz="1200" b="0">
                <a:solidFill>
                  <a:srgbClr val="D7DDE8"/>
                </a:solidFill>
                <a:latin typeface="Hiragino Sans"/>
                <a:ea typeface="Hiragino Sans"/>
                <a:cs typeface="Hiragino Sans"/>
              </a:rPr>
              <a:t>ブランク埋め</a:t>
            </a:r>
          </a:p>
        </p:txBody>
      </p:sp>
      <p:sp>
        <p:nvSpPr>
          <p:cNvPr id="23" name="Rounded Rectangle 22"/>
          <p:cNvSpPr/>
          <p:nvPr/>
        </p:nvSpPr>
        <p:spPr>
          <a:xfrm>
            <a:off x="914400" y="4572000"/>
            <a:ext cx="10360152" cy="1371600"/>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4754880"/>
            <a:ext cx="10360152" cy="411480"/>
          </a:xfrm>
          <a:prstGeom prst="rect">
            <a:avLst/>
          </a:prstGeom>
          <a:noFill/>
        </p:spPr>
        <p:txBody>
          <a:bodyPr wrap="square" anchor="t" lIns="0" rIns="0" tIns="0" bIns="0">
            <a:spAutoFit/>
          </a:bodyPr>
          <a:lstStyle/>
          <a:p>
            <a:pPr algn="ctr">
              <a:lnSpc>
                <a:spcPct val="115000"/>
              </a:lnSpc>
            </a:pPr>
            <a:r>
              <a:rPr sz="2000" b="1">
                <a:solidFill>
                  <a:srgbClr val="FFFFFF"/>
                </a:solidFill>
                <a:latin typeface="Hiragino Sans"/>
                <a:ea typeface="Hiragino Sans"/>
                <a:cs typeface="Hiragino Sans"/>
              </a:rPr>
              <a:t>副業復帰の準備が整いました</a:t>
            </a:r>
          </a:p>
        </p:txBody>
      </p:sp>
      <p:sp>
        <p:nvSpPr>
          <p:cNvPr id="25" name="TextBox 24"/>
          <p:cNvSpPr txBox="1"/>
          <p:nvPr/>
        </p:nvSpPr>
        <p:spPr>
          <a:xfrm>
            <a:off x="914400" y="5166360"/>
            <a:ext cx="10360152" cy="777240"/>
          </a:xfrm>
          <a:prstGeom prst="rect">
            <a:avLst/>
          </a:prstGeom>
          <a:noFill/>
        </p:spPr>
        <p:txBody>
          <a:bodyPr wrap="square" anchor="t" lIns="0" rIns="0" tIns="0" bIns="0">
            <a:spAutoFit/>
          </a:bodyPr>
          <a:lstStyle/>
          <a:p>
            <a:pPr algn="ctr">
              <a:lnSpc>
                <a:spcPct val="155000"/>
              </a:lnSpc>
            </a:pPr>
            <a:r>
              <a:rPr sz="1200" b="0">
                <a:solidFill>
                  <a:srgbClr val="FFFFFF"/>
                </a:solidFill>
                <a:latin typeface="Hiragino Sans"/>
                <a:ea typeface="Hiragino Sans"/>
                <a:cs typeface="Hiragino Sans"/>
              </a:rPr>
              <a:t>Part 6 鉄板運用メソッド + Part 7 BSA L3 実装ガイドで</a:t>
            </a:r>
          </a:p>
          <a:p>
            <a:pPr algn="ctr">
              <a:lnSpc>
                <a:spcPct val="155000"/>
              </a:lnSpc>
            </a:pPr>
            <a:r>
              <a:rPr sz="1200" b="0">
                <a:solidFill>
                  <a:srgbClr val="FFFFFF"/>
                </a:solidFill>
                <a:latin typeface="Hiragino Sans"/>
                <a:ea typeface="Hiragino Sans"/>
                <a:cs typeface="Hiragino Sans"/>
              </a:rPr>
              <a:t>新規案件を即受注 → 30日完遂可能</a:t>
            </a:r>
          </a:p>
        </p:txBody>
      </p:sp>
      <p:sp>
        <p:nvSpPr>
          <p:cNvPr id="26" name="TextBox 25"/>
          <p:cNvSpPr txBox="1"/>
          <p:nvPr/>
        </p:nvSpPr>
        <p:spPr>
          <a:xfrm>
            <a:off x="914400" y="6126480"/>
            <a:ext cx="10360152" cy="274320"/>
          </a:xfrm>
          <a:prstGeom prst="rect">
            <a:avLst/>
          </a:prstGeom>
          <a:noFill/>
        </p:spPr>
        <p:txBody>
          <a:bodyPr wrap="square" anchor="t" lIns="0" rIns="0" tIns="0" bIns="0">
            <a:spAutoFit/>
          </a:bodyPr>
          <a:lstStyle/>
          <a:p>
            <a:pPr algn="ctr">
              <a:lnSpc>
                <a:spcPct val="115000"/>
              </a:lnSpc>
            </a:pPr>
            <a:r>
              <a:rPr sz="1000" b="0">
                <a:solidFill>
                  <a:srgbClr val="D7DDE8"/>
                </a:solidFill>
                <a:latin typeface="Hiragino Sans"/>
                <a:ea typeface="Hiragino Sans"/>
                <a:cs typeface="Hiragino Sans"/>
              </a:rPr>
              <a:t>Created : 2026-04-25  /  工藤陸 (内部資料)</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