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" cy="49377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PART 5 / AI活用事例集 — 後半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運用自動化 + 予測 + Agent型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 で運用を加速する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Smart Bidding 進化 + Andromeda + Smart+ + Agent型 + プロンプトテンプレ集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914400"/>
            <a:ext cx="1828800" cy="640080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0" y="1078992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20p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657600"/>
            <a:ext cx="914400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媒体内AI運用 (Smart Bidding / Advantage+ / Smart+) を理解し、外部運用ツールで補強。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予測モデル (LTV / Audience) で意思決定を前倒し、Agent型広告運用で運用工数を圧縮。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プロンプトテンプレで日次の業務を仕組み化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120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 章内の主要トピック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440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AI 運用 TL;DR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71500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Smart Bidding 進化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98932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Andromeda + Lattice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626364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Smart+ + Symphony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653796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外部運用ツール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440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予測LTV / Audiences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71500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クリエイティブ予測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98932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AI Analytics 統合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26364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🔥 Agent型運用 概念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653796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Claude Computer 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5440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OpenAI Operator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571500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Copilot / Gemini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598932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プロンプトテンプレ ×3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626364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AI 1日ワークフロー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653796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Part 5 まとめ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AI 運用 5つのインパクト (TL;DR)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現場の運用業務がどう変わったか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P187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111099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109728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08760"/>
            <a:ext cx="731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490472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媒体内AI (PMax/Advantage+/Smart+) が運用主役に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82880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アカウント構造設計 → AIに任せる → 検証 のサイクル。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手動入札・キーワード細分化の時代は終わり、運用者の仕事は『AIを導く』へ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13432"/>
            <a:ext cx="111099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313432"/>
            <a:ext cx="109728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496312"/>
            <a:ext cx="731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2478024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外部運用ツールが省人化を加速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816352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Skai / Marin / Optmyzr で複数媒体を一元管理。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Negative Keyword 提案 / 予算最適化 / 入札戦略提案を AI が自動化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00984"/>
            <a:ext cx="111099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300984"/>
            <a:ext cx="109728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483864"/>
            <a:ext cx="731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465576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予測モデル (LTV / Predictive Audiences) で前倒し意思決定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380390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GA4 Predictive Audiences / Customer Match の LTV重み付けで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『高LTV見込み』を予測 → 配信前から優先ターゲット指定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88536"/>
            <a:ext cx="111099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288536"/>
            <a:ext cx="109728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471416"/>
            <a:ext cx="731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45312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🔥 Agent型広告運用が登場 (2025-2026)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479145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Claude Computer Use / OpenAI Operator / Copilot が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管理画面を直接操作 → ヒューマン承認のチェックポイントだけ残す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276088"/>
            <a:ext cx="111099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276088"/>
            <a:ext cx="109728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458968"/>
            <a:ext cx="731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5440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副業運用代行は『プロンプト+判断』に集約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5779008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実装はAIに任せ、戦略・判断・クライアント説明 が人間の主戦場。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1人で月10-20クライアント対応も現実的に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Smart Bidding (Google) の進化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tCPA/tROAS から Value-based + AI Max まで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P188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6974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26974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81912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Maximize Conversions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6596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CV件数最大化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377440"/>
            <a:ext cx="24231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予算内でCV数最大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初期学習に向く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417320"/>
            <a:ext cx="26974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417320"/>
            <a:ext cx="26974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581912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Target CPA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196596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目標CPA固定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377440"/>
            <a:ext cx="24231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CPA基準で安定運用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中堅キャンペーン主流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417320"/>
            <a:ext cx="26974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417320"/>
            <a:ext cx="26974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581912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Maximize Conv.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196596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CV値最大化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377440"/>
            <a:ext cx="24231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売上 / LTV 重視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VBB前提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1417320"/>
            <a:ext cx="26974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5400" y="1417320"/>
            <a:ext cx="26974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0" y="1581912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Target ROAS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196596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目標ROAS固定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2377440"/>
            <a:ext cx="24231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EC / 高単価商材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VBB必須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703320"/>
            <a:ext cx="11109960" cy="265176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3840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副業代行の入札戦略選定フロー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160520"/>
            <a:ext cx="109728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1. 学習開始 = Maximize Conversions (1-2週間でCV30件以上目標)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2. CPA安定後 = Target CPA に切替 (設定CPAは現状CPAの ±20%以内)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3. 売上重視のEC = Maximize Conv. Value → Target ROAS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4. AI Max for Search 併用 = Target ROAS + AI Max が最強構成 (2025/05~)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5. 予算変動は 学習リセット要因 → 月内変動 ±20%以内に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6. Bid Strategy は手動より AI に任せる前提 — 手動入札は特殊用途のみ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Meta Andromeda + Advantage+ (運用視点)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配信MLが桁違いに賢くなった2024-2026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P189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Andromeda (2024末) : Ads Retrieval モデル複雑度 10,000x、Quality +8%。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Lattice + Andromeda 統合で Advantage+ の効果が増幅された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運用視点での影響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834640"/>
            <a:ext cx="36118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06324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細分化 → 統合へ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20440"/>
            <a:ext cx="32461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広告セット細分化はNG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2-3 ad set + Advantage+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学習データ集約が効く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283464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2834640"/>
            <a:ext cx="36118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06324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クリエイティブ多様性が鍵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520440"/>
            <a:ext cx="32461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AI が組合せ最適化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素材数 = 学習材料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Midjourney等で量産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283464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2834640"/>
            <a:ext cx="36118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306324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人間の介在減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520440"/>
            <a:ext cx="32461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ターゲ・配信面・入札全自動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人間は『目標設定+検証』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運用工数50%以上削減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846320"/>
            <a:ext cx="11109960" cy="150876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983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副業代行 : Andromeda時代のキャンペーン構造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30352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1キャンペーン × 2-3 ad set + Advantage+ Sales (旧ASC) が基本構成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クリエイティブ : 訴求軸ごとに5-10案、合計20-30本/月の素材を投入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Audience Signal : Customer Match (CRM) を必ず投入、AI学習加速の核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検証 : Conversion Lift Test を月次実施 (Incremental ROAS で説明)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TikTok Smart+ + Symphony (運用視点)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完全自動化キャンペーン + AI生成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P190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Smart+ (2024/10) : 4タイプ (Web/Catalog/App/Lead) で完全自動化。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Symphony Creative Studio で AI クリエイティブ生成も TikTok 内で完結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運用視点での影響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834640"/>
            <a:ext cx="36118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06324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AI で配信完全自動化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20440"/>
            <a:ext cx="32461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Targeting / Creative / Bid を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Smart+ がフル自動。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運用工数大幅削減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283464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2834640"/>
            <a:ext cx="36118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06324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Symphony で素材も自動生成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520440"/>
            <a:ext cx="32461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Image to Video / Avatars /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AI Dubbing で動画量産。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外部ツール代替可能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283464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2834640"/>
            <a:ext cx="36118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306324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Spark Ads + UGC 統合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520440"/>
            <a:ext cx="32461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Creator投稿を Smart+ に投入。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UGC感のある広告が標準。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中小ブランドでも実現可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846320"/>
            <a:ext cx="11109960" cy="150876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983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副業代行 : Smart+ 時代の TikTok 構成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30352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Smart+ Web (CV) + Spark Ads (Creator) のミックス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素材 : Symphony Creative Studio で月20-30本量産 (撮影最小限)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計測 : Pixel + Events API ハイブリッド (EMQ 8/10以上)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検証 : Brand Lift / Conversion Lift で Incremental効果を測定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外部運用ツール : Skai / Marin / Optmyzr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複数媒体一元管理 + AI最適化提案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P191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26974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81912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Skai (旧Kenshoo)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Enterprise / 大型代理店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2331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全媒体一元管理</a:t>
            </a:r>
          </a:p>
          <a:p>
            <a:pPr algn="ctr">
              <a:lnSpc>
                <a:spcPct val="16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AI最適化提案</a:t>
            </a:r>
          </a:p>
          <a:p>
            <a:pPr algn="ctr">
              <a:lnSpc>
                <a:spcPct val="16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Walmart Connect等</a:t>
            </a:r>
          </a:p>
          <a:p>
            <a:pPr algn="ctr">
              <a:lnSpc>
                <a:spcPct val="16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リテールメディア対応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41732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417320"/>
            <a:ext cx="26974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581912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Marin Software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中堅〜大手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423160"/>
            <a:ext cx="2331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Search特化が強み</a:t>
            </a:r>
          </a:p>
          <a:p>
            <a:pPr algn="ctr">
              <a:lnSpc>
                <a:spcPct val="16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Bidding/Budget最適化</a:t>
            </a:r>
          </a:p>
          <a:p>
            <a:pPr algn="ctr">
              <a:lnSpc>
                <a:spcPct val="16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API連携豊富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41732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417320"/>
            <a:ext cx="26974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581912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Optmyzr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中小〜中堅 / $208/月〜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423160"/>
            <a:ext cx="2331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Google/Meta/Microsoft</a:t>
            </a:r>
          </a:p>
          <a:p>
            <a:pPr algn="ctr">
              <a:lnSpc>
                <a:spcPct val="16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PMax深いインサイト</a:t>
            </a:r>
          </a:p>
          <a:p>
            <a:pPr algn="ctr">
              <a:lnSpc>
                <a:spcPct val="16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Workout (タスク自動化)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141732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5400" y="1417320"/>
            <a:ext cx="26974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1581912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Adalysis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中小 / $99/月〜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423160"/>
            <a:ext cx="2331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Google Ads特化</a:t>
            </a:r>
          </a:p>
          <a:p>
            <a:pPr algn="ctr">
              <a:lnSpc>
                <a:spcPct val="16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Negative KW提案強い</a:t>
            </a:r>
          </a:p>
          <a:p>
            <a:pPr algn="ctr">
              <a:lnSpc>
                <a:spcPct val="16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副業代行スイートスポット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069080"/>
            <a:ext cx="11109960" cy="228600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2062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💡 副業代行で外部ツールを使う判断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526280"/>
            <a:ext cx="1097280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月10案件以下 = 媒体管理画面で十分 (外部ツール不要)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月10案件以上 + Google中心 = Adalysis $99/月で工数削減開始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月20案件以上 + 複数媒体 = Optmyzr $208/月でPMax+メタ統合管理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月50案件以上の代理店 = Skai / Marin (エンタープライズ)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ROI試算 : 月5-10時間の工数削減なら月$100程度のツールは即ペイ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予測 LTV / Predictive Audiences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高LTV顧客を『配信前』に特定する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P192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6118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36118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81912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GA4 Predictive Audiences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Google公式 / 無料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324612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Likely 7-day Purchasers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Likely 7-day Churners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Predicted Revenue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Top Spenders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Google Adsへimport可能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417320"/>
            <a:ext cx="36118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417320"/>
            <a:ext cx="36118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581912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Meta Lookalike (Value-based)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96596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Meta公式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423160"/>
            <a:ext cx="324612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Customer Match を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LTV重み付けでアップロード。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高LTV顧客に類似した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新規ユーザーを優先配信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417320"/>
            <a:ext cx="36118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417320"/>
            <a:ext cx="3611880" cy="777240"/>
          </a:xfrm>
          <a:prstGeom prst="rect">
            <a:avLst/>
          </a:prstGeom>
          <a:solidFill>
            <a:srgbClr val="2B4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581912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カスタムMLモデル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96596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BigQuery ML / Vertex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423160"/>
            <a:ext cx="324612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1PD + GA4 + 売上データで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独自LTV予測モデル構築。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副業代行 : 月予算500万以上で検討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97680"/>
            <a:ext cx="11109960" cy="205740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4348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副業代行で予測モデルを活用するシナリオ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754880"/>
            <a:ext cx="10972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全クライアント : GA4 Predictive Audiences は無料で即利用可、Google Ads import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EC / D2C : Meta Lookalike (Value-based) で高LTV類似に偏重配信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月予算300万以上 : Customer Match に LTV重みを付けて Lookalike実装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月予算1,000万以上 : BigQuery ML でカスタムLTVモデル構築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クリエイティブ予測 (Creative Intelligence)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配信前にクリエイティブの効果を予測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P193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6118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36118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81912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Vidmob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Meta公式パートナー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324612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動画クリエイティブ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スコアリング + 改善提案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Meta Advantage+ Creative補強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417320"/>
            <a:ext cx="36118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417320"/>
            <a:ext cx="36118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581912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Anyword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96596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コピー予測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423160"/>
            <a:ext cx="324612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広告コピーに予測スコア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配信前にABテスト代替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副業代行で活用増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417320"/>
            <a:ext cx="36118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417320"/>
            <a:ext cx="36118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581912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Vidlytic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96596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TikTok向け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423160"/>
            <a:ext cx="324612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TikTok動画スコアリング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Trend連動分析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中堅〜大手向け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97680"/>
            <a:ext cx="11109960" cy="205740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4348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💡 クリエイティブ予測の使いどころ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754880"/>
            <a:ext cx="10972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中小予算 = 不要、媒体ML (Smart+/Advantage+) で十分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月予算500万以上 + 動画中心 = Vidmob で動画スコアリング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コピー量産時 = Anyword でA/Bテスト代替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ただし配信前予測 + 配信後実績 のフィードバックループが重要 (予測≠実績)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AI Analytics 統合 (Part 4 リキャップ)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GA4 / Looker / Adobe Sensei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P194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26974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81912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GA4 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自動異常検知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23317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MLが日次データ異常を検知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『なぜ』を自然言語で解説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41732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417320"/>
            <a:ext cx="26974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581912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Looker Studio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Gemini連携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423160"/>
            <a:ext cx="23317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クエリ自動生成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ダッシュボード自動作成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41732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417320"/>
            <a:ext cx="26974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581912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Conversational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自然言語分析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423160"/>
            <a:ext cx="23317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『今月の売上は?』等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質問→自動回答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141732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5400" y="1417320"/>
            <a:ext cx="26974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1581912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Adobe Sensei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Marketo統合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423160"/>
            <a:ext cx="23317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顧客ジャーニー予測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エンタープライズ向け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886200"/>
            <a:ext cx="11109960" cy="246888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0233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副業代行 : AI Analytics の統合ワークフロー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343400"/>
            <a:ext cx="1097280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1. 月次レポート = Conversational Analytics で要約 → Looker Studio で可視化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2. 異常検知 = GA4 Insights を月次レポートに添付 → 自然言語の解釈付き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3. クライアント窓口 = Looker Studio を共有 → クライアントが自分で深掘り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4. レポート作成時間 = 従来5時間 → 1時間 (8割削減事例)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5. AI Analytics 駆使する人 = 1人で月10-20クライアントの月次レポート対応可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6. クライアント側の質問対応 = ダッシュボードに任せる → 人間は戦略提案のみ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🔥 Agent型広告運用 (2025-2026)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AIが広告管理画面を直接操作する時代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P195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118872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554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新パラダイム : AI が管理画面を見て・クリックして・タスク完遂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874519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Claude Computer Use / OpenAI Operator / Microsoft Copilot for Ads / Gemini Workspace。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従来の API連携・自動化スクリプトを超え、人間と同じUI操作が可能に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97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Agent型運用の3レイヤー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08960"/>
            <a:ext cx="36118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108960"/>
            <a:ext cx="3611880" cy="5029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27832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L1 : 観察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49040"/>
            <a:ext cx="3246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管理画面のスクショ取得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レポートの自動分析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108960"/>
            <a:ext cx="36118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3108960"/>
            <a:ext cx="3611880" cy="5029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3227832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L2 : 提案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749040"/>
            <a:ext cx="3246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改善案を自然言語で生成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人間が判断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108960"/>
            <a:ext cx="36118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3108960"/>
            <a:ext cx="3611880" cy="5029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3227832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L3 : 実行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749040"/>
            <a:ext cx="3246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実際にクリック・入力で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変更を実装 (要承認)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937760"/>
            <a:ext cx="11109960" cy="141732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0749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副業代行で Agent型を活用する段階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3949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2026年 = L1 (観察) + L2 (提案) は実用段階。L3 (実行) は人間承認必須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月次レポート作成・ベンチマーク分析・Negative KW提案 等は AI Agent が完遂可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配信変更 (予算・入札・配信停止等) は人間がボタン押す運用が当面標準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Agent : Claude Computer Use (Anthropic)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デスクトップ・ブラウザ操作を自然言語で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P196 / 250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Claude Computer Use の機能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91440" cy="14173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スクリーンショット取得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現在の画面状態を理解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5074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管理画面・レポートの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読み取り・解釈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28800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828800"/>
            <a:ext cx="91440" cy="14173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6596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マウス/キーボード操作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331720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クリック・入力・スクロール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51760"/>
            <a:ext cx="5074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Google Ads / Meta Ads等の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設定変更を実行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383280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383280"/>
            <a:ext cx="91440" cy="14173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52044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マルチステップタスク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886200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複数ステップを順次実行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206240"/>
            <a:ext cx="5074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『PMaxの予算を10%削減』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『新しいネガKW追加』等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83280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3383280"/>
            <a:ext cx="91440" cy="14173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52044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CSV/データ操作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886200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ファイル読み書き対応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206240"/>
            <a:ext cx="5074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レポートCSVを Claude に渡し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分析→次のアクション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937760"/>
            <a:ext cx="11109960" cy="141732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0749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💡 副業代行のシナリオ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3949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月次レポート作成 = Claude に管理画面を見せ、レポート要約を生成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Negative KW提案 = Search Terms Reportを渡して『無駄クエリ』抽出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Optiscore 提案レビュー = 提案内容を Claude に評価させる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⚠ 配信変更系は人間承認チェックポイント必須、自動実行は危険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Agent : OpenAI Operator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Web ブラウザを操作する ChatGPT エージェント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P197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OpenAI Operator (2025/01 リリース) : ChatGPT Pro 加入者向け、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ブラウザを操作して Web タスクを自律的に完遂する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広告運用代行のユースケース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834640"/>
            <a:ext cx="26974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レポート自動取得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74720"/>
            <a:ext cx="2331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Google Ads / Meta Ads等から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月次レポートをCSV取得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283464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2834640"/>
            <a:ext cx="26974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306324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競合リサーチ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474720"/>
            <a:ext cx="2331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競合LP / 広告ライブラリの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自動巡回・スクショ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83464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2834640"/>
            <a:ext cx="26974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306324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クリエイティブベンチマーク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474720"/>
            <a:ext cx="2331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TikTok Creative Center 等から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Top Ads 自動収集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283464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5400" y="2834640"/>
            <a:ext cx="26974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306324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簡易設定変更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474720"/>
            <a:ext cx="2331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予算停止・キャンペーンON/OFF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等の単純操作 (要承認)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846320"/>
            <a:ext cx="11109960" cy="150876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983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OpenAI Operator vs Claude Computer 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30352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Operator : Web タスク特化、UIシンプル、ChatGPT Pro $200/月で利用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Claude Computer Use : ローカル + Webの両方、API/SDK経由が中心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副業代行 : Operator は ChatGPT既契約者の追加機能として最初の選択肢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高度な自動化はクライアント案件ごとに API/SDK で構築検討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Agent : Microsoft Copilot / Gemini 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Office / Workspace 内の AI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P198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61188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36118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81912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Microsoft 365 Copilot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$30/月/ユーザー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3246120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Excel / PowerPoint / Outlook /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Teams 内で AI Agent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レポート作成 / 分析 /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メール作成 を補助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副業代行 : Office中心の人向け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417320"/>
            <a:ext cx="361188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417320"/>
            <a:ext cx="36118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581912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Microsoft Advertising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96596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Bing Ads内蔵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423160"/>
            <a:ext cx="3246120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Bing Ads (Microsoft広告) 内蔵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Conversational Campaign Builder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提案 + 実装の半自動化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417320"/>
            <a:ext cx="361188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417320"/>
            <a:ext cx="36118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581912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Gemini in Workspace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96596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Google One AI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423160"/>
            <a:ext cx="3246120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Gmail / Docs / Sheets / Slides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Conversational Analytics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Google Adsとの連携強化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80560"/>
            <a:ext cx="11109960" cy="1874519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6177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💡 副業代行で Agent ツールの選択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93776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Office 365 環境 = Microsoft Copilot で Excel/PowerPoint レポート効率化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Google Workspace 環境 = Gemini in Workspace でドキュメント作成効率化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媒体側 = Gemini in Google Ads / Conversational Campaign Builder を活用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副業代行スイートスポット : Workspace + Gemini で月次レポート自動化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ROI : 月レポート工数を 5時間→1時間 削減で月Pro契約 $20-30 は即ペイ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プロンプトテンプレ : 戦略立案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新規案件のキャンペーン戦略を AI と作る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P199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49834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137160" cy="49834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54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📝 プロンプトテンプレ : 新規案件のキャンペーン戦略立案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20240"/>
            <a:ext cx="10972800" cy="4434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あなたは経験豊富な広告運用ストラテジストです。以下の条件で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新規クライアントの広告運用戦略を立案してください。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【クライアント情報】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・業種 : {業種}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・商材 : {商品/サービス概要}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・LP : {LP URL}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・ターゲット : {年齢/性別/属性}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・月予算 : {予算金額}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・KGI/目標 : {売上目標 / リード目標 等}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・既存運用状況 : {現在の媒体・パフォーマンス}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【出力フォーマット】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1. 推奨媒体構成 (媒体名 + 配信目的 + 予算配分%)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2. キャンペーン構造 (媒体別の キャンペーン → 広告セット 設計)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3. オーディエンス戦略 (1PD活用 / Lookalike / ターゲティング)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4. クリエイティブ方針 (訴求軸 3-5案 + 制作本数目安)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5. 計測設計 (CV定義 / Tag / DDA / 検証手法)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6. 30日プランの主要マイルストーン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プロンプトテンプレ : クリエイティブブリーフ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AI 生成用のブリーフを構造化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P200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49834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137160" cy="49834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54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📝 プロンプトテンプレ : 広告クリエイティブブリーフ生成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20240"/>
            <a:ext cx="10972800" cy="4434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あなたは広告クリエイティブディレクターです。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以下の情報を元に、Midjourney / Sora 用のクリエイティブブリーフを作成してください。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【商品情報】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・商品名 : {商品名}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・特徴/USP : {差別化ポイント 3つ}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・ターゲット : {年齢/性別/状況/関心}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・トーン : {カジュアル / 信頼感 / ユーモア / 高級感 等}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【出力】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1. 訴求軸 5案 (各々 1行で)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2. 訴求軸ごとに以下を生成 :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   - キャプション (見出し10案)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   - 説明文 (3案)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   - Midjourneyプロンプト (英語、--ar 9:16, --v 7)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   - Soraプロンプト (英語、シーン構成3-5秒)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   - 想定NG事項 (媒体審査で落ちる可能性)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プロンプトテンプレ : 月次レポート要約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数字データから自然言語の要約を生成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P201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49834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137160" cy="49834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54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📝 プロンプトテンプレ : 月次レポートの要約 + 提案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20240"/>
            <a:ext cx="10972800" cy="4434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あなたは広告運用代行のシニアアナリストです。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以下の月次パフォーマンスデータを元に、クライアント向けレポートを作成してください。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【データ (CSV/表を貼付)】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{Google Ads / Meta Ads / GA4 のデータ}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【前月実績】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{前月の数値}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【出力フォーマット】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1. エグゼクティブサマリー (3行 / 数字付き)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2. 媒体別パフォーマンス (前月比 + コメント)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3. 良かった点 (3つ + 数字)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4. 課題と改善ポイント (3つ + アクション)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5. 来月の提案 (具体的アクション 3つ + 期待効果)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【トーン】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・クライアント (経営者層) 向け、専門用語は最小限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・誇張・憶測なし、数字根拠を必ず明示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・改善ポイントはネガティブにならないよう前向きに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プロンプトテンプレ : Negative KW 提案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Search Terms から無駄クエリを抽出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P202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49834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137160" cy="49834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54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📝 プロンプトテンプレ : Negative Keyword 提案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20240"/>
            <a:ext cx="10972800" cy="4434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あなたは広告運用のSEM専門家です。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以下の Search Terms Report を分析し、追加すべき Negative Keyword を提案してください。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【商材】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・業種 : {業種}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・サービス : {サービス概要}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・ターゲット顧客 : {属性 / 状況}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【Search Terms Report (CSV貼付)】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{search_term, impressions, clicks, conversions, cost}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【判断基準】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・100クリック以上で CV=0 のクエリ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・明らかに意図と外れたクエリ (例: 競合名・無関係用語)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・予算消化の上位だが効率悪いクエリ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【出力】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1. 即追加すべきNegative KW (リスト 10-30件)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2. 追加根拠 (各KWに1行 : なぜ無駄と判断したか)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Menlo"/>
                <a:ea typeface="Menlo"/>
                <a:cs typeface="Menlo"/>
              </a:rPr>
              <a:t>3. 検証要 (微妙なクエリ、Phrase/Exact化検討等)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AI 副業代行の1日ワークフロー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朝〜夜の標準的な業務フロー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P203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2697480" cy="36576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90472"/>
            <a:ext cx="2423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朝 8:00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87452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ダッシュボード確認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148840"/>
            <a:ext cx="2423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GA4 / Looker Studio で</a:t>
            </a:r>
          </a:p>
          <a:p>
            <a:pPr algn="ctr">
              <a:lnSpc>
                <a:spcPct val="14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AI Insights 異常検知</a:t>
            </a:r>
          </a:p>
          <a:p>
            <a:pPr algn="ctr">
              <a:lnSpc>
                <a:spcPct val="14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+ 前日CV確認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41732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417320"/>
            <a:ext cx="2697480" cy="36576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490472"/>
            <a:ext cx="2423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9:00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187452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Negative KW分析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148840"/>
            <a:ext cx="2423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Claude/ChatGPT で</a:t>
            </a:r>
          </a:p>
          <a:p>
            <a:pPr algn="ctr">
              <a:lnSpc>
                <a:spcPct val="14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Search Terms 分析</a:t>
            </a:r>
          </a:p>
          <a:p>
            <a:pPr algn="ctr">
              <a:lnSpc>
                <a:spcPct val="14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→ 即追加 (5-10件)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41732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417320"/>
            <a:ext cx="2697480" cy="36576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490472"/>
            <a:ext cx="2423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10-12:00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187452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クリエイティブ量産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148840"/>
            <a:ext cx="2423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Midjourney / Sora で</a:t>
            </a:r>
          </a:p>
          <a:p>
            <a:pPr algn="ctr">
              <a:lnSpc>
                <a:spcPct val="14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2-3 案件分の素材生成</a:t>
            </a:r>
          </a:p>
          <a:p>
            <a:pPr algn="ctr">
              <a:lnSpc>
                <a:spcPct val="14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+ Symphony 連携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141732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5400" y="1417320"/>
            <a:ext cx="2697480" cy="36576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0" y="1490472"/>
            <a:ext cx="2423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13:00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187452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媒体管理画面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2148840"/>
            <a:ext cx="2423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Optiscore提案レビュー</a:t>
            </a:r>
          </a:p>
          <a:p>
            <a:pPr algn="ctr">
              <a:lnSpc>
                <a:spcPct val="14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+ クリエイティブ追加</a:t>
            </a:r>
          </a:p>
          <a:p>
            <a:pPr algn="ctr">
              <a:lnSpc>
                <a:spcPct val="14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+ 入札微調整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297180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2971800"/>
            <a:ext cx="2697480" cy="36576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3044952"/>
            <a:ext cx="2423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14-15:00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342900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クライアント対応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3703320"/>
            <a:ext cx="2423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Conversational Analytics</a:t>
            </a:r>
          </a:p>
          <a:p>
            <a:pPr algn="ctr">
              <a:lnSpc>
                <a:spcPct val="14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質問回答 / 報告</a:t>
            </a:r>
          </a:p>
          <a:p>
            <a:pPr algn="ctr">
              <a:lnSpc>
                <a:spcPct val="14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+ 提案準備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37560" y="297180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337560" y="2971800"/>
            <a:ext cx="2697480" cy="36576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0" y="3044952"/>
            <a:ext cx="2423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16:00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42900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新規案件 戦略立案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3703320"/>
            <a:ext cx="2423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Claude で戦略テンプレ</a:t>
            </a:r>
          </a:p>
          <a:p>
            <a:pPr algn="ctr">
              <a:lnSpc>
                <a:spcPct val="14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→ クライアント承認待ち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297180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26480" y="2971800"/>
            <a:ext cx="2697480" cy="36576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3044952"/>
            <a:ext cx="2423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17-18:00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342900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月次レポート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3703320"/>
            <a:ext cx="2423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AI Insights 要約 +</a:t>
            </a:r>
          </a:p>
          <a:p>
            <a:pPr algn="ctr">
              <a:lnSpc>
                <a:spcPct val="14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Looker Studio 自動更新</a:t>
            </a:r>
          </a:p>
          <a:p>
            <a:pPr algn="ctr">
              <a:lnSpc>
                <a:spcPct val="14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→ メール送付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15400" y="297180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915400" y="2971800"/>
            <a:ext cx="2697480" cy="36576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52560" y="3044952"/>
            <a:ext cx="2423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19:00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0" y="342900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翌日準備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0" y="3703320"/>
            <a:ext cx="2423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Asana タスク確認</a:t>
            </a:r>
          </a:p>
          <a:p>
            <a:pPr algn="ctr">
              <a:lnSpc>
                <a:spcPct val="14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月次目標進捗確認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4526280"/>
            <a:ext cx="11109960" cy="182880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46634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1日で何案件対応できるか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" y="4983480"/>
            <a:ext cx="109728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AI 駆使前 = 1人で 月3-5クライアント (フル業務)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AI 駆使後 = 1人で 月10-20クライアント (戦略 + 判断 + クライアント窓口に集中)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月次レポート工数 = 5時間/案件 → 1時間/案件 (8割削減)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クリエイティブ制作工数 = デザイナー外注週次 → AI 即時生成 (日次量産)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ボトルネック = AIで完遂できない『戦略判断』『クライアント窓口』『契約管理』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Part 5 (AI活用 40p) 完了 → Part 6 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AI 章のまとめ + 次は鉄板運用メソッド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P204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137160" cy="8686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9047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48132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AI クリエイティブ生成 (5-A)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182880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コピー / 画像 / 動画 / 媒体ネイティブ生成 まで完備</a:t>
            </a:r>
          </a:p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副業代行のクリエイティブコスト 数十万円 → 数千円に圧縮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31720"/>
            <a:ext cx="1110996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331720"/>
            <a:ext cx="137160" cy="8686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45059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44144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AI 運用自動化 + 予測 (5-B 前半)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7889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媒体内AI (PMax/Advantage+/Smart+) + 外部運用ツール + 予測LTV</a:t>
            </a:r>
          </a:p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運用工数50%以上削減 + 意思決定の前倒し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291840"/>
            <a:ext cx="1110996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291840"/>
            <a:ext cx="137160" cy="8686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41071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40156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Agent型広告運用 + プロンプトテンプレ (5-B 後半)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374904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Claude Computer Use / Operator / Copilot で管理画面操作も自動化</a:t>
            </a:r>
          </a:p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1人で月10-20クライアント対応が現実的に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34840"/>
            <a:ext cx="11109960" cy="192024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57200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NEXT →  Part 6  鉄板運用メソッド 2026年版 (15p)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2920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Part 6 で扱うトピック (15p) :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アカウント構造の現代版 (Hub &amp; Spoke)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入札戦略選定フロー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クリエイティブ本数・バリエーション設計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Learning Phase 突破手順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予算配分フレーム / 検証設計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月次レポート標準 / クライアント説明スクリプト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AI 運用 pitfalls (補足)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Agent型運用の注意点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P205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91440" cy="15544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6304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4630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Agent型に丸投げ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965960"/>
            <a:ext cx="507492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057400"/>
            <a:ext cx="5074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予算系・配信系の自動変更は事故リスク → 人間承認チェックポイント必須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32588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325880"/>
            <a:ext cx="91440" cy="15544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6304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14630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プロンプトテンプレの使い回し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965960"/>
            <a:ext cx="507492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057400"/>
            <a:ext cx="5074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業種・案件で必要な情報が違う → クライアント別にカスタマイズ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01752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017520"/>
            <a:ext cx="91440" cy="15544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15468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1546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AI生成レポートの数字未検証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657600"/>
            <a:ext cx="507492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749040"/>
            <a:ext cx="5074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AIが数字を間違えるケース → 必ず管理画面と突き合わせ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01752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3017520"/>
            <a:ext cx="91440" cy="15544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15468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31546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外部ツール過剰投資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657600"/>
            <a:ext cx="507492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749040"/>
            <a:ext cx="5074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ツール契約の月額が嵩む → 案件規模に応じて選択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70916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709160"/>
            <a:ext cx="91440" cy="15544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8463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48463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AI Analytics 過信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349240"/>
            <a:ext cx="507492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440680"/>
            <a:ext cx="5074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AI解釈は仮説、必ず人間判断 → クライアントには『仮説』として共有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470916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72200" y="4709160"/>
            <a:ext cx="91440" cy="15544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48463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80" y="48463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プロンプト設計を磨かない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5349240"/>
            <a:ext cx="507492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5440680"/>
            <a:ext cx="5074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AI出力品質が低下 → 月1回はプロンプトテンプレ見直し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